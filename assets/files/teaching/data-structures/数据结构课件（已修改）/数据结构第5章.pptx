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41"/>
  </p:handoutMasterIdLst>
  <p:sldIdLst>
    <p:sldId id="15714907" r:id="rId4"/>
    <p:sldId id="15714962" r:id="rId6"/>
    <p:sldId id="15714992" r:id="rId7"/>
    <p:sldId id="15714993" r:id="rId8"/>
    <p:sldId id="15714994" r:id="rId9"/>
    <p:sldId id="15714995" r:id="rId10"/>
    <p:sldId id="15714996" r:id="rId11"/>
    <p:sldId id="15714997" r:id="rId12"/>
    <p:sldId id="15714998" r:id="rId13"/>
    <p:sldId id="15714978" r:id="rId14"/>
    <p:sldId id="15714999" r:id="rId15"/>
    <p:sldId id="15715000" r:id="rId16"/>
    <p:sldId id="15715001" r:id="rId17"/>
    <p:sldId id="15715002" r:id="rId18"/>
    <p:sldId id="15715003" r:id="rId19"/>
    <p:sldId id="15715004" r:id="rId20"/>
    <p:sldId id="15715005" r:id="rId21"/>
    <p:sldId id="15715025" r:id="rId22"/>
    <p:sldId id="15715026" r:id="rId23"/>
    <p:sldId id="15715027" r:id="rId24"/>
    <p:sldId id="15715028" r:id="rId25"/>
    <p:sldId id="15715029" r:id="rId26"/>
    <p:sldId id="15715030" r:id="rId27"/>
    <p:sldId id="15715031" r:id="rId28"/>
    <p:sldId id="15715032" r:id="rId29"/>
    <p:sldId id="15715033" r:id="rId30"/>
    <p:sldId id="15715034" r:id="rId31"/>
    <p:sldId id="15715035" r:id="rId32"/>
    <p:sldId id="15715054" r:id="rId33"/>
    <p:sldId id="15715055" r:id="rId34"/>
    <p:sldId id="15715056" r:id="rId35"/>
    <p:sldId id="15715057" r:id="rId36"/>
    <p:sldId id="15715058" r:id="rId37"/>
    <p:sldId id="15715059" r:id="rId38"/>
    <p:sldId id="15715060" r:id="rId39"/>
    <p:sldId id="15715061" r:id="rId40"/>
    <p:sldId id="15715062" r:id="rId41"/>
    <p:sldId id="15715071" r:id="rId42"/>
    <p:sldId id="15715072" r:id="rId43"/>
    <p:sldId id="15715073" r:id="rId44"/>
    <p:sldId id="15715074" r:id="rId45"/>
    <p:sldId id="15715075" r:id="rId46"/>
    <p:sldId id="15715076" r:id="rId47"/>
    <p:sldId id="15715077" r:id="rId48"/>
    <p:sldId id="15715078" r:id="rId49"/>
    <p:sldId id="15715079" r:id="rId50"/>
    <p:sldId id="15715080" r:id="rId51"/>
    <p:sldId id="15715081" r:id="rId52"/>
    <p:sldId id="15715082" r:id="rId53"/>
    <p:sldId id="15715083" r:id="rId54"/>
    <p:sldId id="15715084" r:id="rId55"/>
    <p:sldId id="15715085" r:id="rId56"/>
    <p:sldId id="15715086" r:id="rId57"/>
    <p:sldId id="15715087" r:id="rId58"/>
    <p:sldId id="15715088" r:id="rId59"/>
    <p:sldId id="15715089" r:id="rId60"/>
    <p:sldId id="15715090" r:id="rId61"/>
    <p:sldId id="15715091" r:id="rId62"/>
    <p:sldId id="15715092" r:id="rId63"/>
    <p:sldId id="15715093" r:id="rId64"/>
    <p:sldId id="15715094" r:id="rId65"/>
    <p:sldId id="15715095" r:id="rId66"/>
    <p:sldId id="15715096" r:id="rId67"/>
    <p:sldId id="15715097" r:id="rId68"/>
    <p:sldId id="15715098" r:id="rId69"/>
    <p:sldId id="15715099" r:id="rId70"/>
    <p:sldId id="15715100" r:id="rId71"/>
    <p:sldId id="15715101" r:id="rId72"/>
    <p:sldId id="15715102" r:id="rId73"/>
    <p:sldId id="15715103" r:id="rId74"/>
    <p:sldId id="15715104" r:id="rId75"/>
    <p:sldId id="15715105" r:id="rId76"/>
    <p:sldId id="15715106" r:id="rId77"/>
    <p:sldId id="15715107" r:id="rId78"/>
    <p:sldId id="15715109" r:id="rId79"/>
    <p:sldId id="15715108" r:id="rId80"/>
    <p:sldId id="15715136" r:id="rId81"/>
    <p:sldId id="15715110" r:id="rId82"/>
    <p:sldId id="15715137" r:id="rId83"/>
    <p:sldId id="15715138" r:id="rId84"/>
    <p:sldId id="15715139" r:id="rId85"/>
    <p:sldId id="15715140" r:id="rId86"/>
    <p:sldId id="15715141" r:id="rId87"/>
    <p:sldId id="15715142" r:id="rId88"/>
    <p:sldId id="15715143" r:id="rId89"/>
    <p:sldId id="15715144" r:id="rId90"/>
    <p:sldId id="15715145" r:id="rId91"/>
    <p:sldId id="15715146" r:id="rId92"/>
    <p:sldId id="15715147" r:id="rId93"/>
    <p:sldId id="15715148" r:id="rId94"/>
    <p:sldId id="15715149" r:id="rId95"/>
    <p:sldId id="15715150" r:id="rId96"/>
    <p:sldId id="15715151" r:id="rId97"/>
    <p:sldId id="15715152" r:id="rId98"/>
    <p:sldId id="15715153" r:id="rId99"/>
    <p:sldId id="15715154" r:id="rId100"/>
    <p:sldId id="15715155" r:id="rId101"/>
    <p:sldId id="15715156" r:id="rId102"/>
    <p:sldId id="15715157" r:id="rId103"/>
    <p:sldId id="15715158" r:id="rId104"/>
    <p:sldId id="15715159" r:id="rId105"/>
    <p:sldId id="15715160" r:id="rId106"/>
    <p:sldId id="15715161" r:id="rId107"/>
    <p:sldId id="15715162" r:id="rId108"/>
    <p:sldId id="15715163" r:id="rId109"/>
    <p:sldId id="15715169" r:id="rId110"/>
    <p:sldId id="15715170" r:id="rId111"/>
    <p:sldId id="15715171" r:id="rId112"/>
    <p:sldId id="15715172" r:id="rId113"/>
    <p:sldId id="15715173" r:id="rId114"/>
    <p:sldId id="15715174" r:id="rId115"/>
    <p:sldId id="15715175" r:id="rId116"/>
    <p:sldId id="15715176" r:id="rId117"/>
    <p:sldId id="15715177" r:id="rId118"/>
    <p:sldId id="15715178" r:id="rId119"/>
    <p:sldId id="15715179" r:id="rId120"/>
    <p:sldId id="15715180" r:id="rId121"/>
    <p:sldId id="15715181" r:id="rId122"/>
    <p:sldId id="15715182" r:id="rId123"/>
    <p:sldId id="15715183" r:id="rId124"/>
    <p:sldId id="15715184" r:id="rId125"/>
    <p:sldId id="15715185" r:id="rId126"/>
    <p:sldId id="15715186" r:id="rId127"/>
    <p:sldId id="15715187" r:id="rId128"/>
    <p:sldId id="15715164" r:id="rId129"/>
    <p:sldId id="15715211" r:id="rId130"/>
    <p:sldId id="15715212" r:id="rId131"/>
    <p:sldId id="15715213" r:id="rId132"/>
    <p:sldId id="15715214" r:id="rId133"/>
    <p:sldId id="15715215" r:id="rId134"/>
    <p:sldId id="15715216" r:id="rId135"/>
    <p:sldId id="15715217" r:id="rId136"/>
    <p:sldId id="15715218" r:id="rId137"/>
    <p:sldId id="15715219" r:id="rId138"/>
    <p:sldId id="15715220" r:id="rId139"/>
    <p:sldId id="15714906" r:id="rId140"/>
  </p:sldIdLst>
  <p:sldSz cx="12192000" cy="6858000"/>
  <p:notesSz cx="6858000" cy="9144000"/>
  <p:custDataLst>
    <p:tags r:id="rId1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0973" initials="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5A9E"/>
    <a:srgbClr val="ADA19D"/>
    <a:srgbClr val="F0ECF2"/>
    <a:srgbClr val="494958"/>
    <a:srgbClr val="484C58"/>
    <a:srgbClr val="A8A8A8"/>
    <a:srgbClr val="015B9F"/>
    <a:srgbClr val="029188"/>
    <a:srgbClr val="0493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4" autoAdjust="0"/>
    <p:restoredTop sz="94660"/>
  </p:normalViewPr>
  <p:slideViewPr>
    <p:cSldViewPr snapToGrid="0">
      <p:cViewPr varScale="1">
        <p:scale>
          <a:sx n="62" d="100"/>
          <a:sy n="62" d="100"/>
        </p:scale>
        <p:origin x="704" y="40"/>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6" Type="http://schemas.openxmlformats.org/officeDocument/2006/relationships/tags" Target="tags/tag13.xml"/><Relationship Id="rId145" Type="http://schemas.openxmlformats.org/officeDocument/2006/relationships/commentAuthors" Target="commentAuthors.xml"/><Relationship Id="rId144" Type="http://schemas.openxmlformats.org/officeDocument/2006/relationships/tableStyles" Target="tableStyles.xml"/><Relationship Id="rId143" Type="http://schemas.openxmlformats.org/officeDocument/2006/relationships/viewProps" Target="viewProps.xml"/><Relationship Id="rId142" Type="http://schemas.openxmlformats.org/officeDocument/2006/relationships/presProps" Target="presProps.xml"/><Relationship Id="rId141" Type="http://schemas.openxmlformats.org/officeDocument/2006/relationships/handoutMaster" Target="handoutMasters/handoutMaster1.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OPPOSans B"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image" Target="../media/image5.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3.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3.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tags" Target="../tags/tag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image" Target="../media/image3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3.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8.xml"/><Relationship Id="rId2" Type="http://schemas.openxmlformats.org/officeDocument/2006/relationships/image" Target="../media/image32.wmf"/><Relationship Id="rId1" Type="http://schemas.openxmlformats.org/officeDocument/2006/relationships/oleObject" Target="../embeddings/oleObject4.bin"/></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xml"/><Relationship Id="rId2" Type="http://schemas.openxmlformats.org/officeDocument/2006/relationships/image" Target="../media/image33.png"/><Relationship Id="rId1" Type="http://schemas.openxmlformats.org/officeDocument/2006/relationships/tags" Target="../tags/tag9.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33.png"/></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5.bin"/></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479425" y="276225"/>
            <a:ext cx="4099560" cy="46037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lvl="0" algn="ctr"/>
            <a:r>
              <a:rPr lang="zh-CN" altLang="en-US" dirty="0">
                <a:sym typeface="+mn-ea"/>
              </a:rPr>
              <a:t>节选自第五章《图》</a:t>
            </a:r>
            <a:endParaRPr lang="zh-CN" altLang="en-US" dirty="0">
              <a:sym typeface="+mn-ea"/>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课程性质：专业</a:t>
              </a:r>
              <a:r>
                <a:rPr lang="zh-CN" altLang="en-US" sz="2000" spc="300" dirty="0" smtClean="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必修课</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2" name="文本框 283"/>
          <p:cNvSpPr txBox="1"/>
          <p:nvPr/>
        </p:nvSpPr>
        <p:spPr>
          <a:xfrm>
            <a:off x="3673475" y="1739900"/>
            <a:ext cx="5038725" cy="119888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第</a:t>
            </a:r>
            <a:r>
              <a:rPr kumimoji="0" lang="en-US" altLang="zh-CN" sz="7200" b="1"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5</a:t>
            </a:r>
            <a:r>
              <a:rPr kumimoji="0" lang="zh-CN" altLang="en-US" sz="7200" b="1"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章 图</a:t>
            </a:r>
            <a:endParaRPr kumimoji="0" lang="zh-CN" altLang="en-US" sz="7200" b="1"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4" name="文本框 3"/>
          <p:cNvSpPr txBox="1"/>
          <p:nvPr/>
        </p:nvSpPr>
        <p:spPr>
          <a:xfrm>
            <a:off x="9050655" y="276225"/>
            <a:ext cx="2301240" cy="460375"/>
          </a:xfrm>
          <a:prstGeom prst="rect">
            <a:avLst/>
          </a:prstGeom>
          <a:noFill/>
        </p:spPr>
        <p:txBody>
          <a:bodyPr wrap="square" rtlCol="0">
            <a:spAutoFit/>
          </a:bodyPr>
          <a:p>
            <a:r>
              <a:rPr lang="zh-CN" altLang="en-US" sz="2400" b="1" spc="1000" noProof="0" dirty="0" smtClean="0">
                <a:ln>
                  <a:noFill/>
                </a:ln>
                <a:solidFill>
                  <a:srgbClr val="005A9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spc="1000" noProof="0" dirty="0" smtClean="0">
                <a:ln>
                  <a:noFill/>
                </a:ln>
                <a:solidFill>
                  <a:srgbClr val="005A9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Graph</a:t>
            </a:r>
            <a:r>
              <a:rPr lang="zh-CN" altLang="en-US" sz="2400" b="1" spc="1000" noProof="0" dirty="0" smtClean="0">
                <a:ln>
                  <a:noFill/>
                </a:ln>
                <a:solidFill>
                  <a:srgbClr val="005A9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spc="1000" noProof="0" dirty="0" smtClean="0">
              <a:ln>
                <a:noFill/>
              </a:ln>
              <a:solidFill>
                <a:srgbClr val="005A9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图的结构定义</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内容占位符 2"/>
          <p:cNvSpPr>
            <a:spLocks noGrp="1"/>
          </p:cNvSpPr>
          <p:nvPr>
            <p:ph idx="1"/>
          </p:nvPr>
        </p:nvSpPr>
        <p:spPr>
          <a:xfrm>
            <a:off x="730885" y="1409065"/>
            <a:ext cx="10270490" cy="2133600"/>
          </a:xfrm>
        </p:spPr>
        <p:txBody>
          <a:bodyPr vert="horz" wrap="square" lIns="91440" tIns="45720" rIns="91440" bIns="45720" anchor="t">
            <a:noAutofit/>
          </a:bodyPr>
          <a:p>
            <a:pPr>
              <a:lnSpc>
                <a:spcPct val="125000"/>
              </a:lnSpc>
            </a:pPr>
            <a:r>
              <a:rPr lang="zh-CN"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图是由一个</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顶点集 </a:t>
            </a:r>
            <a:r>
              <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 </a:t>
            </a:r>
            <a:r>
              <a:rPr lang="zh-CN"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和一个</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边集 </a:t>
            </a:r>
            <a:r>
              <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a:t>
            </a:r>
            <a:r>
              <a:rPr lang="zh-CN"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构成的数据结构。</a:t>
            </a:r>
            <a:endPar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buNone/>
            </a:pP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Graph = (V , R )</a:t>
            </a:r>
            <a:endPar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5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图相关的名词和术语：</a:t>
            </a:r>
            <a:r>
              <a:rPr lang="zh-CN" altLang="en-US" sz="2000" b="1"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b="1"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b="1"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171" name="Rectangle 3"/>
          <p:cNvSpPr>
            <a:spLocks noGrp="1"/>
          </p:cNvSpPr>
          <p:nvPr>
            <p:ph idx="1"/>
          </p:nvPr>
        </p:nvSpPr>
        <p:spPr>
          <a:xfrm>
            <a:off x="579755" y="1120775"/>
            <a:ext cx="10515600" cy="4351655"/>
          </a:xfrm>
        </p:spPr>
        <p:txBody>
          <a:bodyPr vert="horz" wrap="square" lIns="91440" tIns="45720" rIns="91440" bIns="45720" anchor="t">
            <a:normAutofit fontScale="25000"/>
          </a:bodyPr>
          <a:p>
            <a:pPr fontAlgn="auto">
              <a:lnSpc>
                <a:spcPct val="125000"/>
              </a:lnSpc>
            </a:pPr>
            <a:r>
              <a:rPr lang="zh-CN" altLang="en-US" sz="9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有向图</a:t>
            </a:r>
            <a:r>
              <a:rPr lang="zh-CN" altLang="en-US" sz="9600" dirty="0">
                <a:latin typeface="微软雅黑" panose="020B0503020204020204" pitchFamily="34" charset="-122"/>
                <a:ea typeface="微软雅黑" panose="020B0503020204020204" pitchFamily="34" charset="-122"/>
                <a:cs typeface="微软雅黑" panose="020B0503020204020204" pitchFamily="34" charset="-122"/>
              </a:rPr>
              <a:t>：图中的每条边都有方向的图。</a:t>
            </a:r>
            <a:endParaRPr lang="en-US" altLang="zh-CN" sz="96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边的两个顶点有次序关系，有向边</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称为从顶点</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到顶点</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的一条</a:t>
            </a:r>
            <a:r>
              <a:rPr lang="zh-CN" altLang="en-US" sz="8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弧</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称为</a:t>
            </a:r>
            <a:r>
              <a:rPr lang="zh-CN" altLang="en-US" sz="8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弧尾</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（或始点），</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称为</a:t>
            </a:r>
            <a:r>
              <a:rPr lang="zh-CN" altLang="en-US" sz="8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弧头</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（或终点）；</a:t>
            </a:r>
            <a:endParaRPr lang="en-US" altLang="zh-CN" sz="8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有向图中弧</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和弧</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 u</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表示不同的二条边。</a:t>
            </a:r>
            <a:endParaRPr lang="en-US" altLang="zh-CN"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9600" dirty="0">
                <a:latin typeface="微软雅黑" panose="020B0503020204020204" pitchFamily="34" charset="-122"/>
                <a:ea typeface="微软雅黑" panose="020B0503020204020204" pitchFamily="34" charset="-122"/>
                <a:cs typeface="微软雅黑" panose="020B0503020204020204" pitchFamily="34" charset="-122"/>
              </a:rPr>
              <a:t>例如右图</a:t>
            </a:r>
            <a:r>
              <a:rPr lang="en-US" altLang="zh-CN" sz="96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9600" dirty="0">
                <a:latin typeface="微软雅黑" panose="020B0503020204020204" pitchFamily="34" charset="-122"/>
                <a:ea typeface="微软雅黑" panose="020B0503020204020204" pitchFamily="34" charset="-122"/>
                <a:cs typeface="微软雅黑" panose="020B0503020204020204" pitchFamily="34" charset="-122"/>
              </a:rPr>
              <a:t>是有向图，</a:t>
            </a:r>
            <a:r>
              <a:rPr lang="en-US" altLang="zh-CN" sz="96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9600" i="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96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9600" i="1" dirty="0">
                <a:latin typeface="微软雅黑" panose="020B0503020204020204" pitchFamily="34" charset="-122"/>
                <a:ea typeface="微软雅黑" panose="020B0503020204020204" pitchFamily="34" charset="-122"/>
                <a:cs typeface="微软雅黑" panose="020B0503020204020204" pitchFamily="34" charset="-122"/>
              </a:rPr>
              <a:t>, E</a:t>
            </a: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96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96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96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其中： </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     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1={ v1 , v2, v3, v4, v5} </a:t>
            </a:r>
            <a:endParaRPr lang="en-US" altLang="zh-CN"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     E</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1={&lt;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1 ,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2&gt;,&lt;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3&gt;, &lt;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4&gt;, </a:t>
            </a:r>
            <a:endParaRPr lang="en-US" altLang="zh-CN"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            &lt;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4,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1 &gt;, &lt;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4,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2&gt;,&lt;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4,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5&gt;, &lt;</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5 , </a:t>
            </a:r>
            <a:r>
              <a:rPr lang="en-US" altLang="zh-CN" sz="8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3&gt;} </a:t>
            </a:r>
            <a:endParaRPr lang="en-US" altLang="zh-CN"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112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12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r>
              <a:rPr lang="en-US" altLang="zh-CN" dirty="0"/>
              <a:t>      </a:t>
            </a:r>
            <a:r>
              <a:rPr lang="en-US" altLang="zh-CN" sz="1800" i="1" baseline="-25000" dirty="0"/>
              <a:t> </a:t>
            </a:r>
            <a:endParaRPr lang="en-US" altLang="zh-CN" sz="1800" dirty="0"/>
          </a:p>
        </p:txBody>
      </p:sp>
      <p:pic>
        <p:nvPicPr>
          <p:cNvPr id="7173" name="Picture 22"/>
          <p:cNvPicPr>
            <a:picLocks noChangeAspect="1"/>
          </p:cNvPicPr>
          <p:nvPr/>
        </p:nvPicPr>
        <p:blipFill>
          <a:blip r:embed="rId1"/>
          <a:stretch>
            <a:fillRect/>
          </a:stretch>
        </p:blipFill>
        <p:spPr>
          <a:xfrm>
            <a:off x="7623810" y="4011930"/>
            <a:ext cx="3073400" cy="1737995"/>
          </a:xfrm>
          <a:prstGeom prst="rect">
            <a:avLst/>
          </a:prstGeom>
          <a:noFill/>
          <a:ln w="3175">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195" name="Rectangle 3"/>
          <p:cNvSpPr>
            <a:spLocks noGrp="1"/>
          </p:cNvSpPr>
          <p:nvPr>
            <p:ph idx="1"/>
          </p:nvPr>
        </p:nvSpPr>
        <p:spPr>
          <a:xfrm>
            <a:off x="723265" y="1253490"/>
            <a:ext cx="10515600" cy="4351655"/>
          </a:xfrm>
        </p:spPr>
        <p:txBody>
          <a:bodyPr vert="horz" wrap="square" lIns="91440" tIns="45720" rIns="91440" bIns="45720" anchor="t">
            <a:noAutofit/>
          </a:bodyPr>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无向图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：图中的每条边没有方向的图。</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边的两个顶点没有次序关系，无向图用边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表示对称弧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在无向图中弧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表示相同的边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例如右图</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是无向图，</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24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其中： </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E</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 </a:t>
            </a:r>
            <a:r>
              <a:rPr lang="en-US" altLang="zh-CN" sz="2000" i="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 </a:t>
            </a:r>
            <a:endPar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196" name="Picture 20"/>
          <p:cNvPicPr>
            <a:picLocks noChangeAspect="1"/>
          </p:cNvPicPr>
          <p:nvPr/>
        </p:nvPicPr>
        <p:blipFill>
          <a:blip r:embed="rId1"/>
          <a:stretch>
            <a:fillRect/>
          </a:stretch>
        </p:blipFill>
        <p:spPr>
          <a:xfrm>
            <a:off x="7225665" y="3928745"/>
            <a:ext cx="2964180" cy="1676400"/>
          </a:xfrm>
          <a:prstGeom prst="rect">
            <a:avLst/>
          </a:prstGeom>
          <a:noFill/>
          <a:ln w="317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219" name="Rectangle 3"/>
          <p:cNvSpPr>
            <a:spLocks noGrp="1"/>
          </p:cNvSpPr>
          <p:nvPr>
            <p:ph idx="1"/>
          </p:nvPr>
        </p:nvSpPr>
        <p:spPr>
          <a:xfrm>
            <a:off x="498475" y="1091565"/>
            <a:ext cx="10515600" cy="4351655"/>
          </a:xfrm>
        </p:spPr>
        <p:txBody>
          <a:bodyPr vert="horz" wrap="square" lIns="91440" tIns="45720" rIns="91440" bIns="45720" anchor="t"/>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权</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若图中的边或弧上附加有数量信息，如用于表示从一个顶点到另一个顶点的距离、耗费的代价、所需的时间、次数等，这种可反映边或弧某种特征的数据称为权。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有向网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：带权的有向图。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无向网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：带权的无向图。</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例如下图分别为有向网和无向网</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220" name="Picture 33"/>
          <p:cNvPicPr>
            <a:picLocks noChangeAspect="1"/>
          </p:cNvPicPr>
          <p:nvPr/>
        </p:nvPicPr>
        <p:blipFill>
          <a:blip r:embed="rId1"/>
          <a:stretch>
            <a:fillRect/>
          </a:stretch>
        </p:blipFill>
        <p:spPr>
          <a:xfrm>
            <a:off x="2233295" y="4271010"/>
            <a:ext cx="7724775" cy="2457450"/>
          </a:xfrm>
          <a:prstGeom prst="rect">
            <a:avLst/>
          </a:prstGeom>
          <a:noFill/>
          <a:ln w="317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243" name="Rectangle 3"/>
          <p:cNvSpPr>
            <a:spLocks noGrp="1"/>
          </p:cNvSpPr>
          <p:nvPr>
            <p:ph idx="1"/>
          </p:nvPr>
        </p:nvSpPr>
        <p:spPr>
          <a:xfrm>
            <a:off x="537845" y="962025"/>
            <a:ext cx="10515600" cy="4351655"/>
          </a:xfrm>
        </p:spPr>
        <p:txBody>
          <a:bodyPr vert="horz" wrap="square" lIns="91440" tIns="45720" rIns="91440" bIns="45720" anchor="t">
            <a:noAutofit/>
          </a:bodyPr>
          <a:p>
            <a:pPr fontAlgn="auto">
              <a:lnSpc>
                <a:spcPct val="125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假设图中有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个顶点，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条边，则</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完全图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：含有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e=n(n-1)/2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条边的无向图。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有向完全图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：含有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e=n(n-1)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条弧的有向图。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若边或弧的个数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e&lt;nlogn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，则称作</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稀疏图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，否则称作</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稠密图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邻接</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假若顶点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之间存在一条边，则称顶点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w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互为邻接点。</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关联</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相关联。</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圈：图中连接同一个顶点的边叫圈。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平行边：图中两个顶点之间若有两条或两条以上的边，称这些边为平行边。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简单图：没有圈也没有平行边的图。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267" name="Rectangle 3"/>
          <p:cNvSpPr>
            <a:spLocks noGrp="1"/>
          </p:cNvSpPr>
          <p:nvPr>
            <p:ph idx="1"/>
          </p:nvPr>
        </p:nvSpPr>
        <p:spPr>
          <a:xfrm>
            <a:off x="578485" y="1253490"/>
            <a:ext cx="10515600" cy="4351338"/>
          </a:xfrm>
        </p:spPr>
        <p:txBody>
          <a:bodyPr vert="horz" wrap="square" lIns="91440" tIns="45720" rIns="91440" bIns="45720" anchor="t">
            <a:noAutofit/>
          </a:bodyPr>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顶点的度：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和顶点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关联的边的数目定义为点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的度，记为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d(v)</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i="1"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顶点的出度：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在有向图中， 以顶点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为弧尾的弧的数目，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记为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i="1"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i="1"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顶点的入度：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在有向图中，以顶点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为弧头的弧的数目，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记为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d-(v) </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i="1"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顶点的度：</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i="1"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i="1"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例如在图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d(v4)=3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v5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d(v5)=2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；而在图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的入度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d-(v4)= 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v4</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的出度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 ( v4)=3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v4</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291" name="Rectangle 3"/>
          <p:cNvSpPr>
            <a:spLocks noGrp="1"/>
          </p:cNvSpPr>
          <p:nvPr>
            <p:ph idx="1"/>
          </p:nvPr>
        </p:nvSpPr>
        <p:spPr>
          <a:xfrm>
            <a:off x="393065" y="1252855"/>
            <a:ext cx="10515600" cy="4351655"/>
          </a:xfrm>
        </p:spPr>
        <p:txBody>
          <a:bodyPr vert="horz" wrap="square" lIns="91440" tIns="45720" rIns="91440" bIns="45720" anchor="t"/>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路径：</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从顶点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到顶点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的路径是指一个顶点序列</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 …, V</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路径长度：</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路径上边的数目。</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简单路径：</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序列中顶点不重复出现的路径。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简单回路：</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序列中第一个顶点和最后一个顶点相同的路径。</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子图：</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及</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G1=(V1, E1)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是两个图，若满足</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且</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，则称</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子图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，记为</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生成子图：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若</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且</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，则称</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生成子图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292" name="Picture 4"/>
          <p:cNvPicPr>
            <a:picLocks noChangeAspect="1"/>
          </p:cNvPicPr>
          <p:nvPr/>
        </p:nvPicPr>
        <p:blipFill>
          <a:blip r:embed="rId1"/>
          <a:stretch>
            <a:fillRect/>
          </a:stretch>
        </p:blipFill>
        <p:spPr>
          <a:xfrm>
            <a:off x="7440930" y="3778885"/>
            <a:ext cx="228600" cy="228600"/>
          </a:xfrm>
          <a:prstGeom prst="rect">
            <a:avLst/>
          </a:prstGeom>
          <a:noFill/>
          <a:ln w="3175">
            <a:noFill/>
          </a:ln>
        </p:spPr>
      </p:pic>
      <p:pic>
        <p:nvPicPr>
          <p:cNvPr id="3" name="Picture 4"/>
          <p:cNvPicPr>
            <a:picLocks noChangeAspect="1"/>
          </p:cNvPicPr>
          <p:nvPr/>
        </p:nvPicPr>
        <p:blipFill>
          <a:blip r:embed="rId1"/>
          <a:stretch>
            <a:fillRect/>
          </a:stretch>
        </p:blipFill>
        <p:spPr>
          <a:xfrm>
            <a:off x="8621395" y="3778885"/>
            <a:ext cx="228600" cy="228600"/>
          </a:xfrm>
          <a:prstGeom prst="rect">
            <a:avLst/>
          </a:prstGeom>
          <a:noFill/>
          <a:ln w="3175">
            <a:noFill/>
          </a:ln>
        </p:spPr>
      </p:pic>
      <p:pic>
        <p:nvPicPr>
          <p:cNvPr id="4" name="Picture 4"/>
          <p:cNvPicPr>
            <a:picLocks noChangeAspect="1"/>
          </p:cNvPicPr>
          <p:nvPr/>
        </p:nvPicPr>
        <p:blipFill>
          <a:blip r:embed="rId1"/>
          <a:stretch>
            <a:fillRect/>
          </a:stretch>
        </p:blipFill>
        <p:spPr>
          <a:xfrm>
            <a:off x="3193415" y="4252595"/>
            <a:ext cx="228600" cy="228600"/>
          </a:xfrm>
          <a:prstGeom prst="rect">
            <a:avLst/>
          </a:prstGeom>
          <a:noFill/>
          <a:ln w="3175">
            <a:noFill/>
          </a:ln>
        </p:spPr>
      </p:pic>
      <p:pic>
        <p:nvPicPr>
          <p:cNvPr id="5" name="Picture 4"/>
          <p:cNvPicPr>
            <a:picLocks noChangeAspect="1"/>
          </p:cNvPicPr>
          <p:nvPr/>
        </p:nvPicPr>
        <p:blipFill>
          <a:blip r:embed="rId1"/>
          <a:stretch>
            <a:fillRect/>
          </a:stretch>
        </p:blipFill>
        <p:spPr>
          <a:xfrm>
            <a:off x="2922905" y="4838065"/>
            <a:ext cx="228600" cy="228600"/>
          </a:xfrm>
          <a:prstGeom prst="rect">
            <a:avLst/>
          </a:prstGeom>
          <a:noFill/>
          <a:ln w="3175">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名词和术语</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315" name="Rectangle 3"/>
          <p:cNvSpPr>
            <a:spLocks noGrp="1"/>
          </p:cNvSpPr>
          <p:nvPr>
            <p:ph idx="1"/>
          </p:nvPr>
        </p:nvSpPr>
        <p:spPr>
          <a:xfrm>
            <a:off x="618490" y="1252855"/>
            <a:ext cx="10515600" cy="4351655"/>
          </a:xfrm>
        </p:spPr>
        <p:txBody>
          <a:bodyPr vert="horz" wrap="square" lIns="91440" tIns="45720" rIns="91440" bIns="45720" anchor="t">
            <a:noAutofit/>
          </a:bodyPr>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连通</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：若存在从顶点</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的路径，则称</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是连通的。</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连通图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：无向图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中的任意两个顶点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都是连通的。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连通分量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：若无向图为非连通图，则图中各个极大连通子图称作此图的连通分量。</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强连通图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：有向图</a:t>
            </a:r>
            <a:r>
              <a:rPr lang="zh-CN" altLang="en-US" sz="2000" b="1" kern="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中</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的每一对顶点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都存在从</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和从</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的路径。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强连通分量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：强连通图中的极大强连通子图。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生成树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：一个连通图</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的生成树是一个极小连通生成子图，它含有图中全部顶点， 但只有足以构成一棵树的</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条边。</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有向树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：如果一个有向图恰有一个顶点的入度为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，其余顶点的入度均为</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，则是一棵有向树。</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 </a:t>
            </a:r>
            <a:r>
              <a:rPr lang="zh-CN" altLang="en-US" sz="3600" b="1" dirty="0" smtClean="0">
                <a:solidFill>
                  <a:schemeClr val="bg1"/>
                </a:solidFill>
                <a:latin typeface="微软雅黑" panose="020B0503020204020204" pitchFamily="34" charset="-122"/>
                <a:ea typeface="微软雅黑" panose="020B0503020204020204" pitchFamily="34" charset="-122"/>
              </a:rPr>
              <a:t>图的存储结构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邻接矩阵表示法</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4339" name="Rectangle 3"/>
          <p:cNvSpPr>
            <a:spLocks noGrp="1"/>
          </p:cNvSpPr>
          <p:nvPr>
            <p:ph idx="1"/>
          </p:nvPr>
        </p:nvSpPr>
        <p:spPr>
          <a:xfrm>
            <a:off x="620395" y="1252855"/>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常用的有如下四种表示方法：</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一、邻接矩阵表示法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二、邻接表表示法</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三、有向图的十字链表表示法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四、无向图的邻接多重表表示法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5.2.1 </a:t>
            </a:r>
            <a:r>
              <a:rPr lang="zh-CN" altLang="en-US" sz="3600" b="1" dirty="0" smtClean="0">
                <a:solidFill>
                  <a:schemeClr val="bg1"/>
                </a:solidFill>
                <a:latin typeface="微软雅黑" panose="020B0503020204020204" pitchFamily="34" charset="-122"/>
                <a:ea typeface="微软雅黑" panose="020B0503020204020204" pitchFamily="34" charset="-122"/>
              </a:rPr>
              <a:t>邻接矩阵表示法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邻接矩阵表示法</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29" name="Rectangle 3"/>
          <p:cNvSpPr>
            <a:spLocks noGrp="1" noChangeArrowheads="1"/>
          </p:cNvSpPr>
          <p:nvPr>
            <p:ph type="body" sz="half" idx="1"/>
          </p:nvPr>
        </p:nvSpPr>
        <p:spPr>
          <a:xfrm>
            <a:off x="824230" y="1174115"/>
            <a:ext cx="10332085" cy="2209800"/>
          </a:xfrm>
        </p:spPr>
        <p:txBody>
          <a:bodyPr vert="horz" wrap="square" lIns="91440" tIns="45720" rIns="91440" bIns="45720" numCol="1" anchor="t" anchorCtr="0" compatLnSpc="1">
            <a:noAutofit/>
          </a:bodyPr>
          <a:p>
            <a:pPr marL="342900" marR="0" lvl="0" indent="0" algn="l" defTabSz="914400" rtl="0" fontAlgn="base">
              <a:lnSpc>
                <a:spcPct val="125000"/>
              </a:lnSpc>
              <a:spcBef>
                <a:spcPts val="0"/>
              </a:spcBef>
              <a:spcAft>
                <a:spcPct val="0"/>
              </a:spcAft>
              <a:buClrTx/>
              <a:buSzTx/>
              <a:buFontTx/>
              <a:buChar char="•"/>
              <a:defRPr/>
            </a:pP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定义：矩阵的元素邻接矩阵</a:t>
            </a:r>
            <a:r>
              <a:rPr kumimoji="0" lang="en-US" altLang="zh-CN" sz="2400" b="1"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a:t>
            </a:r>
            <a:r>
              <a:rPr kumimoji="0" lang="en-US" altLang="zh-CN" sz="2400" b="0" i="1" u="none" strike="noStrike" kern="0" cap="none" spc="0" normalizeH="0" baseline="-250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1"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a:t>
            </a:r>
            <a:r>
              <a:rPr kumimoji="0" lang="en-US" altLang="zh-CN" sz="2400" b="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ij</a:t>
            </a:r>
            <a:r>
              <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b="0" i="1"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n×n</a:t>
            </a:r>
            <a:r>
              <a:rPr kumimoji="0" lang="en-US" altLang="zh-CN" sz="2400" b="0"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a:t>
            </a:r>
            <a:r>
              <a:rPr kumimoji="0" lang="en-US" altLang="zh-CN" sz="2400" b="0"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 </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阶方阵（</a:t>
            </a:r>
            <a:r>
              <a:rPr kumimoji="0" lang="en-US" altLang="zh-CN" sz="2400" b="0" i="1"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en-US" altLang="zh-CN" sz="2400" b="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1"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en-US" altLang="zh-CN" sz="2400" b="0"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的二维数组</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fontAlgn="base">
              <a:lnSpc>
                <a:spcPct val="125000"/>
              </a:lnSpc>
              <a:spcBef>
                <a:spcPts val="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其中</a:t>
            </a:r>
            <a:endParaRPr kumimoji="0" lang="en-US" altLang="zh-CN"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fontAlgn="base">
              <a:lnSpc>
                <a:spcPct val="125000"/>
              </a:lnSpc>
              <a:spcBef>
                <a:spcPts val="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fontAlgn="base">
              <a:lnSpc>
                <a:spcPct val="125000"/>
              </a:lnSpc>
              <a:spcBef>
                <a:spcPts val="0"/>
              </a:spcBef>
              <a:spcAft>
                <a:spcPct val="0"/>
              </a:spcAft>
              <a:buClrTx/>
              <a:buSzTx/>
              <a:buFontTx/>
              <a:buNone/>
              <a:defRPr/>
            </a:pP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a:t>
            </a:r>
            <a:r>
              <a:rPr kumimoji="0" lang="en-US" altLang="zh-CN"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endParaRPr kumimoji="0" lang="en-US" altLang="zh-CN"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364" name="对象 2"/>
          <p:cNvGraphicFramePr>
            <a:graphicFrameLocks noChangeAspect="1"/>
          </p:cNvGraphicFramePr>
          <p:nvPr/>
        </p:nvGraphicFramePr>
        <p:xfrm>
          <a:off x="3150870" y="1896745"/>
          <a:ext cx="5889625" cy="1143000"/>
        </p:xfrm>
        <a:graphic>
          <a:graphicData uri="http://schemas.openxmlformats.org/presentationml/2006/ole">
            <mc:AlternateContent xmlns:mc="http://schemas.openxmlformats.org/markup-compatibility/2006">
              <mc:Choice xmlns:v="urn:schemas-microsoft-com:vml" Requires="v">
                <p:oleObj spid="_x0000_s3077" name="" r:id="rId1" imgW="2616200" imgH="508000" progId="Equation.3">
                  <p:embed/>
                </p:oleObj>
              </mc:Choice>
              <mc:Fallback>
                <p:oleObj name="" r:id="rId1" imgW="2616200" imgH="508000" progId="Equation.3">
                  <p:embed/>
                  <p:pic>
                    <p:nvPicPr>
                      <p:cNvPr id="0" name="图片 3076"/>
                      <p:cNvPicPr/>
                      <p:nvPr/>
                    </p:nvPicPr>
                    <p:blipFill>
                      <a:blip r:embed="rId2"/>
                      <a:stretch>
                        <a:fillRect/>
                      </a:stretch>
                    </p:blipFill>
                    <p:spPr>
                      <a:xfrm>
                        <a:off x="3150870" y="1896745"/>
                        <a:ext cx="5889625" cy="1143000"/>
                      </a:xfrm>
                      <a:prstGeom prst="rect">
                        <a:avLst/>
                      </a:prstGeom>
                      <a:noFill/>
                      <a:ln w="38100">
                        <a:noFill/>
                        <a:miter/>
                      </a:ln>
                    </p:spPr>
                  </p:pic>
                </p:oleObj>
              </mc:Fallback>
            </mc:AlternateContent>
          </a:graphicData>
        </a:graphic>
      </p:graphicFrame>
      <p:pic>
        <p:nvPicPr>
          <p:cNvPr id="15365" name="Picture 22"/>
          <p:cNvPicPr>
            <a:picLocks noChangeAspect="1"/>
          </p:cNvPicPr>
          <p:nvPr/>
        </p:nvPicPr>
        <p:blipFill>
          <a:blip r:embed="rId3"/>
          <a:stretch>
            <a:fillRect/>
          </a:stretch>
        </p:blipFill>
        <p:spPr>
          <a:xfrm>
            <a:off x="950595" y="4077335"/>
            <a:ext cx="2590800" cy="1465580"/>
          </a:xfrm>
          <a:prstGeom prst="rect">
            <a:avLst/>
          </a:prstGeom>
          <a:noFill/>
          <a:ln w="3175">
            <a:noFill/>
          </a:ln>
        </p:spPr>
      </p:pic>
      <p:graphicFrame>
        <p:nvGraphicFramePr>
          <p:cNvPr id="10" name="内容占位符 3"/>
          <p:cNvGraphicFramePr>
            <a:graphicFrameLocks noGrp="1"/>
          </p:cNvGraphicFramePr>
          <p:nvPr>
            <p:custDataLst>
              <p:tags r:id="rId4"/>
            </p:custDataLst>
          </p:nvPr>
        </p:nvGraphicFramePr>
        <p:xfrm>
          <a:off x="4793615" y="3966210"/>
          <a:ext cx="914400" cy="1854200"/>
        </p:xfrm>
        <a:graphic>
          <a:graphicData uri="http://schemas.openxmlformats.org/drawingml/2006/table">
            <a:tbl>
              <a:tblPr firstRow="1" bandRow="1">
                <a:tableStyleId>{5C22544A-7EE6-4342-B048-85BDC9FD1C3A}</a:tableStyleId>
              </a:tblPr>
              <a:tblGrid>
                <a:gridCol w="457200"/>
                <a:gridCol w="457200"/>
              </a:tblGrid>
              <a:tr h="370840">
                <a:tc>
                  <a:txBody>
                    <a:bodyPr/>
                    <a:p>
                      <a:r>
                        <a:rPr lang="en-US" altLang="zh-CN" dirty="0" smtClean="0"/>
                        <a:t>0</a:t>
                      </a:r>
                      <a:endParaRPr lang="zh-CN" altLang="en-US" dirty="0"/>
                    </a:p>
                  </a:txBody>
                  <a:tcPr/>
                </a:tc>
                <a:tc>
                  <a:txBody>
                    <a:bodyPr/>
                    <a:p>
                      <a:r>
                        <a:rPr lang="en-US" altLang="zh-CN" dirty="0" smtClean="0"/>
                        <a:t>v1</a:t>
                      </a:r>
                      <a:endParaRPr lang="zh-CN" altLang="en-US" dirty="0"/>
                    </a:p>
                  </a:txBody>
                  <a:tcPr/>
                </a:tc>
              </a:tr>
              <a:tr h="370840">
                <a:tc>
                  <a:txBody>
                    <a:bodyPr/>
                    <a:p>
                      <a:r>
                        <a:rPr lang="en-US" altLang="zh-CN" dirty="0" smtClean="0"/>
                        <a:t>1</a:t>
                      </a:r>
                      <a:endParaRPr lang="zh-CN" altLang="en-US" dirty="0"/>
                    </a:p>
                  </a:txBody>
                  <a:tcPr/>
                </a:tc>
                <a:tc>
                  <a:txBody>
                    <a:bodyPr/>
                    <a:p>
                      <a:r>
                        <a:rPr lang="en-US" altLang="zh-CN" dirty="0" smtClean="0"/>
                        <a:t>v2</a:t>
                      </a:r>
                      <a:endParaRPr lang="zh-CN" altLang="en-US" dirty="0"/>
                    </a:p>
                  </a:txBody>
                  <a:tcPr/>
                </a:tc>
              </a:tr>
              <a:tr h="370840">
                <a:tc>
                  <a:txBody>
                    <a:bodyPr/>
                    <a:p>
                      <a:r>
                        <a:rPr lang="en-US" altLang="zh-CN" dirty="0" smtClean="0"/>
                        <a:t>2</a:t>
                      </a:r>
                      <a:endParaRPr lang="zh-CN" altLang="en-US" dirty="0"/>
                    </a:p>
                  </a:txBody>
                  <a:tcPr/>
                </a:tc>
                <a:tc>
                  <a:txBody>
                    <a:bodyPr/>
                    <a:p>
                      <a:r>
                        <a:rPr lang="en-US" altLang="zh-CN" dirty="0" smtClean="0"/>
                        <a:t>v3</a:t>
                      </a:r>
                      <a:endParaRPr lang="zh-CN" altLang="en-US" dirty="0"/>
                    </a:p>
                  </a:txBody>
                  <a:tcPr/>
                </a:tc>
              </a:tr>
              <a:tr h="370840">
                <a:tc>
                  <a:txBody>
                    <a:bodyPr/>
                    <a:p>
                      <a:r>
                        <a:rPr lang="en-US" altLang="zh-CN" dirty="0" smtClean="0"/>
                        <a:t>3</a:t>
                      </a:r>
                      <a:endParaRPr lang="zh-CN" altLang="en-US" dirty="0"/>
                    </a:p>
                  </a:txBody>
                  <a:tcPr/>
                </a:tc>
                <a:tc>
                  <a:txBody>
                    <a:bodyPr/>
                    <a:p>
                      <a:r>
                        <a:rPr lang="en-US" altLang="zh-CN" dirty="0" smtClean="0"/>
                        <a:t>v4</a:t>
                      </a:r>
                      <a:endParaRPr lang="zh-CN" altLang="en-US" dirty="0"/>
                    </a:p>
                  </a:txBody>
                  <a:tcPr/>
                </a:tc>
              </a:tr>
              <a:tr h="370840">
                <a:tc>
                  <a:txBody>
                    <a:bodyPr/>
                    <a:p>
                      <a:r>
                        <a:rPr lang="en-US" altLang="zh-CN" dirty="0" smtClean="0"/>
                        <a:t>4</a:t>
                      </a:r>
                      <a:endParaRPr lang="zh-CN" altLang="en-US" dirty="0"/>
                    </a:p>
                  </a:txBody>
                  <a:tcPr/>
                </a:tc>
                <a:tc>
                  <a:txBody>
                    <a:bodyPr/>
                    <a:p>
                      <a:r>
                        <a:rPr lang="en-US" altLang="zh-CN" dirty="0" smtClean="0"/>
                        <a:t>v5</a:t>
                      </a:r>
                      <a:endParaRPr lang="zh-CN" altLang="en-US" dirty="0"/>
                    </a:p>
                  </a:txBody>
                  <a:tcPr/>
                </a:tc>
              </a:tr>
            </a:tbl>
          </a:graphicData>
        </a:graphic>
      </p:graphicFrame>
      <p:cxnSp>
        <p:nvCxnSpPr>
          <p:cNvPr id="13340" name="直接连接符 10"/>
          <p:cNvCxnSpPr/>
          <p:nvPr/>
        </p:nvCxnSpPr>
        <p:spPr>
          <a:xfrm>
            <a:off x="5250815" y="3966210"/>
            <a:ext cx="457200" cy="0"/>
          </a:xfrm>
          <a:prstGeom prst="line">
            <a:avLst/>
          </a:prstGeom>
          <a:ln w="3175" cap="flat" cmpd="sng">
            <a:solidFill>
              <a:schemeClr val="tx2"/>
            </a:solidFill>
            <a:prstDash val="solid"/>
            <a:headEnd type="none" w="med" len="med"/>
            <a:tailEnd type="none" w="med" len="med"/>
          </a:ln>
        </p:spPr>
      </p:cxnSp>
      <p:cxnSp>
        <p:nvCxnSpPr>
          <p:cNvPr id="13341" name="直接连接符 11"/>
          <p:cNvCxnSpPr/>
          <p:nvPr/>
        </p:nvCxnSpPr>
        <p:spPr>
          <a:xfrm>
            <a:off x="5250815" y="3966210"/>
            <a:ext cx="0" cy="1854200"/>
          </a:xfrm>
          <a:prstGeom prst="line">
            <a:avLst/>
          </a:prstGeom>
          <a:ln w="3175" cap="flat" cmpd="sng">
            <a:solidFill>
              <a:schemeClr val="tx2"/>
            </a:solidFill>
            <a:prstDash val="solid"/>
            <a:headEnd type="none" w="med" len="med"/>
            <a:tailEnd type="none" w="med" len="med"/>
          </a:ln>
        </p:spPr>
      </p:cxnSp>
      <p:cxnSp>
        <p:nvCxnSpPr>
          <p:cNvPr id="13342" name="直接连接符 12"/>
          <p:cNvCxnSpPr/>
          <p:nvPr/>
        </p:nvCxnSpPr>
        <p:spPr>
          <a:xfrm>
            <a:off x="5708015" y="3966210"/>
            <a:ext cx="0" cy="1854200"/>
          </a:xfrm>
          <a:prstGeom prst="line">
            <a:avLst/>
          </a:prstGeom>
          <a:ln w="3175" cap="flat" cmpd="sng">
            <a:solidFill>
              <a:schemeClr val="tx2"/>
            </a:solidFill>
            <a:prstDash val="solid"/>
            <a:headEnd type="none" w="med" len="med"/>
            <a:tailEnd type="none" w="med" len="med"/>
          </a:ln>
        </p:spPr>
      </p:cxnSp>
      <p:cxnSp>
        <p:nvCxnSpPr>
          <p:cNvPr id="13343" name="直接连接符 13"/>
          <p:cNvCxnSpPr/>
          <p:nvPr/>
        </p:nvCxnSpPr>
        <p:spPr>
          <a:xfrm>
            <a:off x="5250815" y="5820410"/>
            <a:ext cx="457200" cy="0"/>
          </a:xfrm>
          <a:prstGeom prst="line">
            <a:avLst/>
          </a:prstGeom>
          <a:ln w="3175" cap="flat" cmpd="sng">
            <a:solidFill>
              <a:schemeClr val="tx2"/>
            </a:solidFill>
            <a:prstDash val="solid"/>
            <a:headEnd type="none" w="med" len="med"/>
            <a:tailEnd type="none" w="med" len="med"/>
          </a:ln>
        </p:spPr>
      </p:cxnSp>
      <p:cxnSp>
        <p:nvCxnSpPr>
          <p:cNvPr id="13344" name="直接连接符 14"/>
          <p:cNvCxnSpPr/>
          <p:nvPr/>
        </p:nvCxnSpPr>
        <p:spPr>
          <a:xfrm>
            <a:off x="5250815" y="4347210"/>
            <a:ext cx="457200" cy="0"/>
          </a:xfrm>
          <a:prstGeom prst="line">
            <a:avLst/>
          </a:prstGeom>
          <a:ln w="3175" cap="flat" cmpd="sng">
            <a:solidFill>
              <a:schemeClr val="tx2"/>
            </a:solidFill>
            <a:prstDash val="solid"/>
            <a:headEnd type="none" w="med" len="med"/>
            <a:tailEnd type="none" w="med" len="med"/>
          </a:ln>
        </p:spPr>
      </p:cxnSp>
      <p:cxnSp>
        <p:nvCxnSpPr>
          <p:cNvPr id="13345" name="直接连接符 15"/>
          <p:cNvCxnSpPr/>
          <p:nvPr/>
        </p:nvCxnSpPr>
        <p:spPr>
          <a:xfrm>
            <a:off x="5250815" y="4728210"/>
            <a:ext cx="457200" cy="0"/>
          </a:xfrm>
          <a:prstGeom prst="line">
            <a:avLst/>
          </a:prstGeom>
          <a:ln w="3175" cap="flat" cmpd="sng">
            <a:solidFill>
              <a:schemeClr val="tx2"/>
            </a:solidFill>
            <a:prstDash val="solid"/>
            <a:headEnd type="none" w="med" len="med"/>
            <a:tailEnd type="none" w="med" len="med"/>
          </a:ln>
        </p:spPr>
      </p:cxnSp>
      <p:cxnSp>
        <p:nvCxnSpPr>
          <p:cNvPr id="13346" name="直接连接符 16"/>
          <p:cNvCxnSpPr/>
          <p:nvPr/>
        </p:nvCxnSpPr>
        <p:spPr>
          <a:xfrm>
            <a:off x="5250815" y="5033010"/>
            <a:ext cx="457200" cy="0"/>
          </a:xfrm>
          <a:prstGeom prst="line">
            <a:avLst/>
          </a:prstGeom>
          <a:ln w="3175" cap="flat" cmpd="sng">
            <a:solidFill>
              <a:schemeClr val="tx2"/>
            </a:solidFill>
            <a:prstDash val="solid"/>
            <a:headEnd type="none" w="med" len="med"/>
            <a:tailEnd type="none" w="med" len="med"/>
          </a:ln>
        </p:spPr>
      </p:cxnSp>
      <p:cxnSp>
        <p:nvCxnSpPr>
          <p:cNvPr id="13347" name="直接连接符 17"/>
          <p:cNvCxnSpPr/>
          <p:nvPr/>
        </p:nvCxnSpPr>
        <p:spPr>
          <a:xfrm>
            <a:off x="5250815" y="5414010"/>
            <a:ext cx="457200" cy="0"/>
          </a:xfrm>
          <a:prstGeom prst="line">
            <a:avLst/>
          </a:prstGeom>
          <a:ln w="3175" cap="flat" cmpd="sng">
            <a:solidFill>
              <a:schemeClr val="tx2"/>
            </a:solidFill>
            <a:prstDash val="solid"/>
            <a:headEnd type="none" w="med" len="med"/>
            <a:tailEnd type="none" w="med" len="med"/>
          </a:ln>
        </p:spPr>
      </p:cxnSp>
      <p:graphicFrame>
        <p:nvGraphicFramePr>
          <p:cNvPr id="13319" name="对象 5"/>
          <p:cNvGraphicFramePr>
            <a:graphicFrameLocks noChangeAspect="1"/>
          </p:cNvGraphicFramePr>
          <p:nvPr/>
        </p:nvGraphicFramePr>
        <p:xfrm>
          <a:off x="7371715" y="3739515"/>
          <a:ext cx="2514600" cy="2141855"/>
        </p:xfrm>
        <a:graphic>
          <a:graphicData uri="http://schemas.openxmlformats.org/presentationml/2006/ole">
            <mc:AlternateContent xmlns:mc="http://schemas.openxmlformats.org/markup-compatibility/2006">
              <mc:Choice xmlns:v="urn:schemas-microsoft-com:vml" Requires="v">
                <p:oleObj spid="_x0000_s3076" name="" r:id="rId5" imgW="1981200" imgH="1689100" progId="Visio.Drawing.11">
                  <p:embed/>
                </p:oleObj>
              </mc:Choice>
              <mc:Fallback>
                <p:oleObj name="" r:id="rId5" imgW="1981200" imgH="1689100" progId="Visio.Drawing.11">
                  <p:embed/>
                  <p:pic>
                    <p:nvPicPr>
                      <p:cNvPr id="0" name="图片 3075"/>
                      <p:cNvPicPr/>
                      <p:nvPr/>
                    </p:nvPicPr>
                    <p:blipFill>
                      <a:blip r:embed="rId6"/>
                      <a:stretch>
                        <a:fillRect/>
                      </a:stretch>
                    </p:blipFill>
                    <p:spPr>
                      <a:xfrm>
                        <a:off x="7371715" y="3739515"/>
                        <a:ext cx="2514600" cy="21418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340"/>
                                        </p:tgtEl>
                                        <p:attrNameLst>
                                          <p:attrName>style.visibility</p:attrName>
                                        </p:attrNameLst>
                                      </p:cBhvr>
                                      <p:to>
                                        <p:strVal val="visible"/>
                                      </p:to>
                                    </p:set>
                                    <p:animEffect transition="in" filter="fade">
                                      <p:cBhvr>
                                        <p:cTn id="12" dur="1000"/>
                                        <p:tgtEl>
                                          <p:spTgt spid="13340"/>
                                        </p:tgtEl>
                                      </p:cBhvr>
                                    </p:animEffect>
                                    <p:anim calcmode="lin" valueType="num">
                                      <p:cBhvr>
                                        <p:cTn id="13" dur="1000" fill="hold"/>
                                        <p:tgtEl>
                                          <p:spTgt spid="13340"/>
                                        </p:tgtEl>
                                        <p:attrNameLst>
                                          <p:attrName>ppt_x</p:attrName>
                                        </p:attrNameLst>
                                      </p:cBhvr>
                                      <p:tavLst>
                                        <p:tav tm="0">
                                          <p:val>
                                            <p:strVal val="#ppt_x"/>
                                          </p:val>
                                        </p:tav>
                                        <p:tav tm="100000">
                                          <p:val>
                                            <p:strVal val="#ppt_x"/>
                                          </p:val>
                                        </p:tav>
                                      </p:tavLst>
                                    </p:anim>
                                    <p:anim calcmode="lin" valueType="num">
                                      <p:cBhvr>
                                        <p:cTn id="14" dur="1000" fill="hold"/>
                                        <p:tgtEl>
                                          <p:spTgt spid="1334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341"/>
                                        </p:tgtEl>
                                        <p:attrNameLst>
                                          <p:attrName>style.visibility</p:attrName>
                                        </p:attrNameLst>
                                      </p:cBhvr>
                                      <p:to>
                                        <p:strVal val="visible"/>
                                      </p:to>
                                    </p:set>
                                    <p:animEffect transition="in" filter="fade">
                                      <p:cBhvr>
                                        <p:cTn id="17" dur="1000"/>
                                        <p:tgtEl>
                                          <p:spTgt spid="13341"/>
                                        </p:tgtEl>
                                      </p:cBhvr>
                                    </p:animEffect>
                                    <p:anim calcmode="lin" valueType="num">
                                      <p:cBhvr>
                                        <p:cTn id="18" dur="1000" fill="hold"/>
                                        <p:tgtEl>
                                          <p:spTgt spid="13341"/>
                                        </p:tgtEl>
                                        <p:attrNameLst>
                                          <p:attrName>ppt_x</p:attrName>
                                        </p:attrNameLst>
                                      </p:cBhvr>
                                      <p:tavLst>
                                        <p:tav tm="0">
                                          <p:val>
                                            <p:strVal val="#ppt_x"/>
                                          </p:val>
                                        </p:tav>
                                        <p:tav tm="100000">
                                          <p:val>
                                            <p:strVal val="#ppt_x"/>
                                          </p:val>
                                        </p:tav>
                                      </p:tavLst>
                                    </p:anim>
                                    <p:anim calcmode="lin" valueType="num">
                                      <p:cBhvr>
                                        <p:cTn id="19" dur="1000" fill="hold"/>
                                        <p:tgtEl>
                                          <p:spTgt spid="1334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342"/>
                                        </p:tgtEl>
                                        <p:attrNameLst>
                                          <p:attrName>style.visibility</p:attrName>
                                        </p:attrNameLst>
                                      </p:cBhvr>
                                      <p:to>
                                        <p:strVal val="visible"/>
                                      </p:to>
                                    </p:set>
                                    <p:animEffect transition="in" filter="fade">
                                      <p:cBhvr>
                                        <p:cTn id="22" dur="1000"/>
                                        <p:tgtEl>
                                          <p:spTgt spid="13342"/>
                                        </p:tgtEl>
                                      </p:cBhvr>
                                    </p:animEffect>
                                    <p:anim calcmode="lin" valueType="num">
                                      <p:cBhvr>
                                        <p:cTn id="23" dur="1000" fill="hold"/>
                                        <p:tgtEl>
                                          <p:spTgt spid="13342"/>
                                        </p:tgtEl>
                                        <p:attrNameLst>
                                          <p:attrName>ppt_x</p:attrName>
                                        </p:attrNameLst>
                                      </p:cBhvr>
                                      <p:tavLst>
                                        <p:tav tm="0">
                                          <p:val>
                                            <p:strVal val="#ppt_x"/>
                                          </p:val>
                                        </p:tav>
                                        <p:tav tm="100000">
                                          <p:val>
                                            <p:strVal val="#ppt_x"/>
                                          </p:val>
                                        </p:tav>
                                      </p:tavLst>
                                    </p:anim>
                                    <p:anim calcmode="lin" valueType="num">
                                      <p:cBhvr>
                                        <p:cTn id="24" dur="1000" fill="hold"/>
                                        <p:tgtEl>
                                          <p:spTgt spid="1334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343"/>
                                        </p:tgtEl>
                                        <p:attrNameLst>
                                          <p:attrName>style.visibility</p:attrName>
                                        </p:attrNameLst>
                                      </p:cBhvr>
                                      <p:to>
                                        <p:strVal val="visible"/>
                                      </p:to>
                                    </p:set>
                                    <p:animEffect transition="in" filter="fade">
                                      <p:cBhvr>
                                        <p:cTn id="27" dur="1000"/>
                                        <p:tgtEl>
                                          <p:spTgt spid="13343"/>
                                        </p:tgtEl>
                                      </p:cBhvr>
                                    </p:animEffect>
                                    <p:anim calcmode="lin" valueType="num">
                                      <p:cBhvr>
                                        <p:cTn id="28" dur="1000" fill="hold"/>
                                        <p:tgtEl>
                                          <p:spTgt spid="13343"/>
                                        </p:tgtEl>
                                        <p:attrNameLst>
                                          <p:attrName>ppt_x</p:attrName>
                                        </p:attrNameLst>
                                      </p:cBhvr>
                                      <p:tavLst>
                                        <p:tav tm="0">
                                          <p:val>
                                            <p:strVal val="#ppt_x"/>
                                          </p:val>
                                        </p:tav>
                                        <p:tav tm="100000">
                                          <p:val>
                                            <p:strVal val="#ppt_x"/>
                                          </p:val>
                                        </p:tav>
                                      </p:tavLst>
                                    </p:anim>
                                    <p:anim calcmode="lin" valueType="num">
                                      <p:cBhvr>
                                        <p:cTn id="29" dur="1000" fill="hold"/>
                                        <p:tgtEl>
                                          <p:spTgt spid="1334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3344"/>
                                        </p:tgtEl>
                                        <p:attrNameLst>
                                          <p:attrName>style.visibility</p:attrName>
                                        </p:attrNameLst>
                                      </p:cBhvr>
                                      <p:to>
                                        <p:strVal val="visible"/>
                                      </p:to>
                                    </p:set>
                                    <p:animEffect transition="in" filter="fade">
                                      <p:cBhvr>
                                        <p:cTn id="32" dur="1000"/>
                                        <p:tgtEl>
                                          <p:spTgt spid="13344"/>
                                        </p:tgtEl>
                                      </p:cBhvr>
                                    </p:animEffect>
                                    <p:anim calcmode="lin" valueType="num">
                                      <p:cBhvr>
                                        <p:cTn id="33" dur="1000" fill="hold"/>
                                        <p:tgtEl>
                                          <p:spTgt spid="13344"/>
                                        </p:tgtEl>
                                        <p:attrNameLst>
                                          <p:attrName>ppt_x</p:attrName>
                                        </p:attrNameLst>
                                      </p:cBhvr>
                                      <p:tavLst>
                                        <p:tav tm="0">
                                          <p:val>
                                            <p:strVal val="#ppt_x"/>
                                          </p:val>
                                        </p:tav>
                                        <p:tav tm="100000">
                                          <p:val>
                                            <p:strVal val="#ppt_x"/>
                                          </p:val>
                                        </p:tav>
                                      </p:tavLst>
                                    </p:anim>
                                    <p:anim calcmode="lin" valueType="num">
                                      <p:cBhvr>
                                        <p:cTn id="34" dur="1000" fill="hold"/>
                                        <p:tgtEl>
                                          <p:spTgt spid="1334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3345"/>
                                        </p:tgtEl>
                                        <p:attrNameLst>
                                          <p:attrName>style.visibility</p:attrName>
                                        </p:attrNameLst>
                                      </p:cBhvr>
                                      <p:to>
                                        <p:strVal val="visible"/>
                                      </p:to>
                                    </p:set>
                                    <p:animEffect transition="in" filter="fade">
                                      <p:cBhvr>
                                        <p:cTn id="37" dur="1000"/>
                                        <p:tgtEl>
                                          <p:spTgt spid="13345"/>
                                        </p:tgtEl>
                                      </p:cBhvr>
                                    </p:animEffect>
                                    <p:anim calcmode="lin" valueType="num">
                                      <p:cBhvr>
                                        <p:cTn id="38" dur="1000" fill="hold"/>
                                        <p:tgtEl>
                                          <p:spTgt spid="13345"/>
                                        </p:tgtEl>
                                        <p:attrNameLst>
                                          <p:attrName>ppt_x</p:attrName>
                                        </p:attrNameLst>
                                      </p:cBhvr>
                                      <p:tavLst>
                                        <p:tav tm="0">
                                          <p:val>
                                            <p:strVal val="#ppt_x"/>
                                          </p:val>
                                        </p:tav>
                                        <p:tav tm="100000">
                                          <p:val>
                                            <p:strVal val="#ppt_x"/>
                                          </p:val>
                                        </p:tav>
                                      </p:tavLst>
                                    </p:anim>
                                    <p:anim calcmode="lin" valueType="num">
                                      <p:cBhvr>
                                        <p:cTn id="39" dur="1000" fill="hold"/>
                                        <p:tgtEl>
                                          <p:spTgt spid="1334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3346"/>
                                        </p:tgtEl>
                                        <p:attrNameLst>
                                          <p:attrName>style.visibility</p:attrName>
                                        </p:attrNameLst>
                                      </p:cBhvr>
                                      <p:to>
                                        <p:strVal val="visible"/>
                                      </p:to>
                                    </p:set>
                                    <p:animEffect transition="in" filter="fade">
                                      <p:cBhvr>
                                        <p:cTn id="42" dur="1000"/>
                                        <p:tgtEl>
                                          <p:spTgt spid="13346"/>
                                        </p:tgtEl>
                                      </p:cBhvr>
                                    </p:animEffect>
                                    <p:anim calcmode="lin" valueType="num">
                                      <p:cBhvr>
                                        <p:cTn id="43" dur="1000" fill="hold"/>
                                        <p:tgtEl>
                                          <p:spTgt spid="13346"/>
                                        </p:tgtEl>
                                        <p:attrNameLst>
                                          <p:attrName>ppt_x</p:attrName>
                                        </p:attrNameLst>
                                      </p:cBhvr>
                                      <p:tavLst>
                                        <p:tav tm="0">
                                          <p:val>
                                            <p:strVal val="#ppt_x"/>
                                          </p:val>
                                        </p:tav>
                                        <p:tav tm="100000">
                                          <p:val>
                                            <p:strVal val="#ppt_x"/>
                                          </p:val>
                                        </p:tav>
                                      </p:tavLst>
                                    </p:anim>
                                    <p:anim calcmode="lin" valueType="num">
                                      <p:cBhvr>
                                        <p:cTn id="44" dur="1000" fill="hold"/>
                                        <p:tgtEl>
                                          <p:spTgt spid="1334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3347"/>
                                        </p:tgtEl>
                                        <p:attrNameLst>
                                          <p:attrName>style.visibility</p:attrName>
                                        </p:attrNameLst>
                                      </p:cBhvr>
                                      <p:to>
                                        <p:strVal val="visible"/>
                                      </p:to>
                                    </p:set>
                                    <p:animEffect transition="in" filter="fade">
                                      <p:cBhvr>
                                        <p:cTn id="47" dur="1000"/>
                                        <p:tgtEl>
                                          <p:spTgt spid="13347"/>
                                        </p:tgtEl>
                                      </p:cBhvr>
                                    </p:animEffect>
                                    <p:anim calcmode="lin" valueType="num">
                                      <p:cBhvr>
                                        <p:cTn id="48" dur="1000" fill="hold"/>
                                        <p:tgtEl>
                                          <p:spTgt spid="13347"/>
                                        </p:tgtEl>
                                        <p:attrNameLst>
                                          <p:attrName>ppt_x</p:attrName>
                                        </p:attrNameLst>
                                      </p:cBhvr>
                                      <p:tavLst>
                                        <p:tav tm="0">
                                          <p:val>
                                            <p:strVal val="#ppt_x"/>
                                          </p:val>
                                        </p:tav>
                                        <p:tav tm="100000">
                                          <p:val>
                                            <p:strVal val="#ppt_x"/>
                                          </p:val>
                                        </p:tav>
                                      </p:tavLst>
                                    </p:anim>
                                    <p:anim calcmode="lin" valueType="num">
                                      <p:cBhvr>
                                        <p:cTn id="49" dur="1000" fill="hold"/>
                                        <p:tgtEl>
                                          <p:spTgt spid="13347"/>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3319"/>
                                        </p:tgtEl>
                                        <p:attrNameLst>
                                          <p:attrName>style.visibility</p:attrName>
                                        </p:attrNameLst>
                                      </p:cBhvr>
                                      <p:to>
                                        <p:strVal val="visible"/>
                                      </p:to>
                                    </p:set>
                                    <p:animEffect transition="in" filter="fade">
                                      <p:cBhvr>
                                        <p:cTn id="54" dur="500"/>
                                        <p:tgtEl>
                                          <p:spTgt spid="13319"/>
                                        </p:tgtEl>
                                      </p:cBhvr>
                                    </p:animEffect>
                                    <p:anim calcmode="lin" valueType="num">
                                      <p:cBhvr>
                                        <p:cTn id="55" dur="500" fill="hold"/>
                                        <p:tgtEl>
                                          <p:spTgt spid="13319"/>
                                        </p:tgtEl>
                                        <p:attrNameLst>
                                          <p:attrName>ppt_x</p:attrName>
                                        </p:attrNameLst>
                                      </p:cBhvr>
                                      <p:tavLst>
                                        <p:tav tm="0">
                                          <p:val>
                                            <p:strVal val="#ppt_x"/>
                                          </p:val>
                                        </p:tav>
                                        <p:tav tm="100000">
                                          <p:val>
                                            <p:strVal val="#ppt_x"/>
                                          </p:val>
                                        </p:tav>
                                      </p:tavLst>
                                    </p:anim>
                                    <p:anim calcmode="lin" valueType="num">
                                      <p:cBhvr>
                                        <p:cTn id="56" dur="500" fill="hold"/>
                                        <p:tgtEl>
                                          <p:spTgt spid="133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405506" y="106886"/>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邻接矩阵表示法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邻接矩阵表示法</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16388" name="Picture 20"/>
          <p:cNvPicPr>
            <a:picLocks noChangeAspect="1"/>
          </p:cNvPicPr>
          <p:nvPr/>
        </p:nvPicPr>
        <p:blipFill>
          <a:blip r:embed="rId1"/>
          <a:stretch>
            <a:fillRect/>
          </a:stretch>
        </p:blipFill>
        <p:spPr>
          <a:xfrm>
            <a:off x="1390650" y="2028825"/>
            <a:ext cx="2964180" cy="1676400"/>
          </a:xfrm>
          <a:prstGeom prst="rect">
            <a:avLst/>
          </a:prstGeom>
          <a:noFill/>
          <a:ln w="3175">
            <a:noFill/>
          </a:ln>
        </p:spPr>
      </p:pic>
      <p:graphicFrame>
        <p:nvGraphicFramePr>
          <p:cNvPr id="3" name="内容占位符 3"/>
          <p:cNvGraphicFramePr>
            <a:graphicFrameLocks noGrp="1"/>
          </p:cNvGraphicFramePr>
          <p:nvPr>
            <p:custDataLst>
              <p:tags r:id="rId2"/>
            </p:custDataLst>
          </p:nvPr>
        </p:nvGraphicFramePr>
        <p:xfrm>
          <a:off x="5367020" y="1939925"/>
          <a:ext cx="914400" cy="1854200"/>
        </p:xfrm>
        <a:graphic>
          <a:graphicData uri="http://schemas.openxmlformats.org/drawingml/2006/table">
            <a:tbl>
              <a:tblPr firstRow="1" bandRow="1">
                <a:tableStyleId>{5C22544A-7EE6-4342-B048-85BDC9FD1C3A}</a:tableStyleId>
              </a:tblPr>
              <a:tblGrid>
                <a:gridCol w="457200"/>
                <a:gridCol w="457200"/>
              </a:tblGrid>
              <a:tr h="370840">
                <a:tc>
                  <a:txBody>
                    <a:bodyPr/>
                    <a:p>
                      <a:r>
                        <a:rPr lang="en-US" altLang="zh-CN" dirty="0" smtClean="0"/>
                        <a:t>0</a:t>
                      </a:r>
                      <a:endParaRPr lang="zh-CN" altLang="en-US" dirty="0"/>
                    </a:p>
                  </a:txBody>
                  <a:tcPr/>
                </a:tc>
                <a:tc>
                  <a:txBody>
                    <a:bodyPr/>
                    <a:p>
                      <a:r>
                        <a:rPr lang="en-US" altLang="zh-CN" dirty="0" smtClean="0"/>
                        <a:t>v1</a:t>
                      </a:r>
                      <a:endParaRPr lang="zh-CN" altLang="en-US" dirty="0"/>
                    </a:p>
                  </a:txBody>
                  <a:tcPr/>
                </a:tc>
              </a:tr>
              <a:tr h="370840">
                <a:tc>
                  <a:txBody>
                    <a:bodyPr/>
                    <a:p>
                      <a:r>
                        <a:rPr lang="en-US" altLang="zh-CN" dirty="0" smtClean="0"/>
                        <a:t>1</a:t>
                      </a:r>
                      <a:endParaRPr lang="zh-CN" altLang="en-US" dirty="0"/>
                    </a:p>
                  </a:txBody>
                  <a:tcPr/>
                </a:tc>
                <a:tc>
                  <a:txBody>
                    <a:bodyPr/>
                    <a:p>
                      <a:r>
                        <a:rPr lang="en-US" altLang="zh-CN" dirty="0" smtClean="0"/>
                        <a:t>v2</a:t>
                      </a:r>
                      <a:endParaRPr lang="zh-CN" altLang="en-US" dirty="0"/>
                    </a:p>
                  </a:txBody>
                  <a:tcPr/>
                </a:tc>
              </a:tr>
              <a:tr h="370840">
                <a:tc>
                  <a:txBody>
                    <a:bodyPr/>
                    <a:p>
                      <a:r>
                        <a:rPr lang="en-US" altLang="zh-CN" dirty="0" smtClean="0"/>
                        <a:t>2</a:t>
                      </a:r>
                      <a:endParaRPr lang="zh-CN" altLang="en-US" dirty="0"/>
                    </a:p>
                  </a:txBody>
                  <a:tcPr/>
                </a:tc>
                <a:tc>
                  <a:txBody>
                    <a:bodyPr/>
                    <a:p>
                      <a:r>
                        <a:rPr lang="en-US" altLang="zh-CN" dirty="0" smtClean="0"/>
                        <a:t>v3</a:t>
                      </a:r>
                      <a:endParaRPr lang="zh-CN" altLang="en-US" dirty="0"/>
                    </a:p>
                  </a:txBody>
                  <a:tcPr/>
                </a:tc>
              </a:tr>
              <a:tr h="370840">
                <a:tc>
                  <a:txBody>
                    <a:bodyPr/>
                    <a:p>
                      <a:r>
                        <a:rPr lang="en-US" altLang="zh-CN" dirty="0" smtClean="0"/>
                        <a:t>3</a:t>
                      </a:r>
                      <a:endParaRPr lang="zh-CN" altLang="en-US" dirty="0"/>
                    </a:p>
                  </a:txBody>
                  <a:tcPr/>
                </a:tc>
                <a:tc>
                  <a:txBody>
                    <a:bodyPr/>
                    <a:p>
                      <a:r>
                        <a:rPr lang="en-US" altLang="zh-CN" dirty="0" smtClean="0"/>
                        <a:t>v4</a:t>
                      </a:r>
                      <a:endParaRPr lang="zh-CN" altLang="en-US" dirty="0"/>
                    </a:p>
                  </a:txBody>
                  <a:tcPr/>
                </a:tc>
              </a:tr>
              <a:tr h="370840">
                <a:tc>
                  <a:txBody>
                    <a:bodyPr/>
                    <a:p>
                      <a:r>
                        <a:rPr lang="en-US" altLang="zh-CN" dirty="0" smtClean="0"/>
                        <a:t>4</a:t>
                      </a:r>
                      <a:endParaRPr lang="zh-CN" altLang="en-US" dirty="0"/>
                    </a:p>
                  </a:txBody>
                  <a:tcPr/>
                </a:tc>
                <a:tc>
                  <a:txBody>
                    <a:bodyPr/>
                    <a:p>
                      <a:r>
                        <a:rPr lang="en-US" altLang="zh-CN" dirty="0" smtClean="0"/>
                        <a:t>v5</a:t>
                      </a:r>
                      <a:endParaRPr lang="zh-CN" altLang="en-US" dirty="0"/>
                    </a:p>
                  </a:txBody>
                  <a:tcPr/>
                </a:tc>
              </a:tr>
            </a:tbl>
          </a:graphicData>
        </a:graphic>
      </p:graphicFrame>
      <p:cxnSp>
        <p:nvCxnSpPr>
          <p:cNvPr id="14362" name="直接连接符 6"/>
          <p:cNvCxnSpPr/>
          <p:nvPr/>
        </p:nvCxnSpPr>
        <p:spPr>
          <a:xfrm>
            <a:off x="5824220" y="1939925"/>
            <a:ext cx="457200" cy="0"/>
          </a:xfrm>
          <a:prstGeom prst="line">
            <a:avLst/>
          </a:prstGeom>
          <a:ln w="3175" cap="flat" cmpd="sng">
            <a:solidFill>
              <a:schemeClr val="tx2"/>
            </a:solidFill>
            <a:prstDash val="solid"/>
            <a:headEnd type="none" w="med" len="med"/>
            <a:tailEnd type="none" w="med" len="med"/>
          </a:ln>
        </p:spPr>
      </p:cxnSp>
      <p:cxnSp>
        <p:nvCxnSpPr>
          <p:cNvPr id="14363" name="直接连接符 7"/>
          <p:cNvCxnSpPr/>
          <p:nvPr/>
        </p:nvCxnSpPr>
        <p:spPr>
          <a:xfrm>
            <a:off x="5824220" y="1939925"/>
            <a:ext cx="0" cy="1854200"/>
          </a:xfrm>
          <a:prstGeom prst="line">
            <a:avLst/>
          </a:prstGeom>
          <a:ln w="3175" cap="flat" cmpd="sng">
            <a:solidFill>
              <a:schemeClr val="tx2"/>
            </a:solidFill>
            <a:prstDash val="solid"/>
            <a:headEnd type="none" w="med" len="med"/>
            <a:tailEnd type="none" w="med" len="med"/>
          </a:ln>
        </p:spPr>
      </p:cxnSp>
      <p:cxnSp>
        <p:nvCxnSpPr>
          <p:cNvPr id="14364" name="直接连接符 8"/>
          <p:cNvCxnSpPr/>
          <p:nvPr/>
        </p:nvCxnSpPr>
        <p:spPr>
          <a:xfrm>
            <a:off x="6281420" y="1939925"/>
            <a:ext cx="0" cy="1854200"/>
          </a:xfrm>
          <a:prstGeom prst="line">
            <a:avLst/>
          </a:prstGeom>
          <a:ln w="3175" cap="flat" cmpd="sng">
            <a:solidFill>
              <a:schemeClr val="tx2"/>
            </a:solidFill>
            <a:prstDash val="solid"/>
            <a:headEnd type="none" w="med" len="med"/>
            <a:tailEnd type="none" w="med" len="med"/>
          </a:ln>
        </p:spPr>
      </p:cxnSp>
      <p:cxnSp>
        <p:nvCxnSpPr>
          <p:cNvPr id="14365" name="直接连接符 9"/>
          <p:cNvCxnSpPr/>
          <p:nvPr/>
        </p:nvCxnSpPr>
        <p:spPr>
          <a:xfrm>
            <a:off x="5824220" y="3794125"/>
            <a:ext cx="457200" cy="0"/>
          </a:xfrm>
          <a:prstGeom prst="line">
            <a:avLst/>
          </a:prstGeom>
          <a:ln w="3175" cap="flat" cmpd="sng">
            <a:solidFill>
              <a:schemeClr val="tx2"/>
            </a:solidFill>
            <a:prstDash val="solid"/>
            <a:headEnd type="none" w="med" len="med"/>
            <a:tailEnd type="none" w="med" len="med"/>
          </a:ln>
        </p:spPr>
      </p:cxnSp>
      <p:cxnSp>
        <p:nvCxnSpPr>
          <p:cNvPr id="14366" name="直接连接符 10"/>
          <p:cNvCxnSpPr/>
          <p:nvPr/>
        </p:nvCxnSpPr>
        <p:spPr>
          <a:xfrm>
            <a:off x="5824220" y="2320925"/>
            <a:ext cx="457200" cy="0"/>
          </a:xfrm>
          <a:prstGeom prst="line">
            <a:avLst/>
          </a:prstGeom>
          <a:ln w="3175" cap="flat" cmpd="sng">
            <a:solidFill>
              <a:schemeClr val="tx2"/>
            </a:solidFill>
            <a:prstDash val="solid"/>
            <a:headEnd type="none" w="med" len="med"/>
            <a:tailEnd type="none" w="med" len="med"/>
          </a:ln>
        </p:spPr>
      </p:cxnSp>
      <p:cxnSp>
        <p:nvCxnSpPr>
          <p:cNvPr id="14367" name="直接连接符 11"/>
          <p:cNvCxnSpPr/>
          <p:nvPr/>
        </p:nvCxnSpPr>
        <p:spPr>
          <a:xfrm>
            <a:off x="5824220" y="2701925"/>
            <a:ext cx="457200" cy="0"/>
          </a:xfrm>
          <a:prstGeom prst="line">
            <a:avLst/>
          </a:prstGeom>
          <a:ln w="3175" cap="flat" cmpd="sng">
            <a:solidFill>
              <a:schemeClr val="tx2"/>
            </a:solidFill>
            <a:prstDash val="solid"/>
            <a:headEnd type="none" w="med" len="med"/>
            <a:tailEnd type="none" w="med" len="med"/>
          </a:ln>
        </p:spPr>
      </p:cxnSp>
      <p:cxnSp>
        <p:nvCxnSpPr>
          <p:cNvPr id="14368" name="直接连接符 12"/>
          <p:cNvCxnSpPr/>
          <p:nvPr/>
        </p:nvCxnSpPr>
        <p:spPr>
          <a:xfrm>
            <a:off x="5824220" y="3006725"/>
            <a:ext cx="457200" cy="0"/>
          </a:xfrm>
          <a:prstGeom prst="line">
            <a:avLst/>
          </a:prstGeom>
          <a:ln w="3175" cap="flat" cmpd="sng">
            <a:solidFill>
              <a:schemeClr val="tx2"/>
            </a:solidFill>
            <a:prstDash val="solid"/>
            <a:headEnd type="none" w="med" len="med"/>
            <a:tailEnd type="none" w="med" len="med"/>
          </a:ln>
        </p:spPr>
      </p:cxnSp>
      <p:cxnSp>
        <p:nvCxnSpPr>
          <p:cNvPr id="14369" name="直接连接符 13"/>
          <p:cNvCxnSpPr/>
          <p:nvPr/>
        </p:nvCxnSpPr>
        <p:spPr>
          <a:xfrm>
            <a:off x="5824220" y="3387725"/>
            <a:ext cx="457200" cy="0"/>
          </a:xfrm>
          <a:prstGeom prst="line">
            <a:avLst/>
          </a:prstGeom>
          <a:ln w="3175" cap="flat" cmpd="sng">
            <a:solidFill>
              <a:schemeClr val="tx2"/>
            </a:solidFill>
            <a:prstDash val="solid"/>
            <a:headEnd type="none" w="med" len="med"/>
            <a:tailEnd type="none" w="med" len="med"/>
          </a:ln>
        </p:spPr>
      </p:cxnSp>
      <p:pic>
        <p:nvPicPr>
          <p:cNvPr id="14341" name="Picture 18"/>
          <p:cNvPicPr>
            <a:picLocks noChangeAspect="1"/>
          </p:cNvPicPr>
          <p:nvPr/>
        </p:nvPicPr>
        <p:blipFill>
          <a:blip r:embed="rId3"/>
          <a:stretch>
            <a:fillRect/>
          </a:stretch>
        </p:blipFill>
        <p:spPr>
          <a:xfrm>
            <a:off x="7294245" y="1632585"/>
            <a:ext cx="2895600" cy="2468880"/>
          </a:xfrm>
          <a:prstGeom prst="rect">
            <a:avLst/>
          </a:prstGeom>
          <a:noFill/>
          <a:ln w="3175">
            <a:noFill/>
          </a:ln>
        </p:spPr>
      </p:pic>
      <p:sp>
        <p:nvSpPr>
          <p:cNvPr id="8" name="Rectangle 3"/>
          <p:cNvSpPr>
            <a:spLocks noGrp="1" noChangeArrowheads="1"/>
          </p:cNvSpPr>
          <p:nvPr>
            <p:ph type="body" sz="half" idx="1"/>
          </p:nvPr>
        </p:nvSpPr>
        <p:spPr>
          <a:xfrm>
            <a:off x="1007745" y="1089660"/>
            <a:ext cx="9725025" cy="4876800"/>
          </a:xfrm>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例</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2</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有向图的邻接矩阵为非对称矩阵，而无向图的邻接矩阵为对称矩阵。</a:t>
            </a:r>
            <a:endParaRPr kumimoji="0" lang="zh-CN" altLang="en-US" sz="24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4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362"/>
                                        </p:tgtEl>
                                        <p:attrNameLst>
                                          <p:attrName>style.visibility</p:attrName>
                                        </p:attrNameLst>
                                      </p:cBhvr>
                                      <p:to>
                                        <p:strVal val="visible"/>
                                      </p:to>
                                    </p:set>
                                    <p:animEffect transition="in" filter="fade">
                                      <p:cBhvr>
                                        <p:cTn id="12" dur="500"/>
                                        <p:tgtEl>
                                          <p:spTgt spid="14362"/>
                                        </p:tgtEl>
                                      </p:cBhvr>
                                    </p:animEffect>
                                    <p:anim calcmode="lin" valueType="num">
                                      <p:cBhvr>
                                        <p:cTn id="13" dur="500" fill="hold"/>
                                        <p:tgtEl>
                                          <p:spTgt spid="14362"/>
                                        </p:tgtEl>
                                        <p:attrNameLst>
                                          <p:attrName>ppt_x</p:attrName>
                                        </p:attrNameLst>
                                      </p:cBhvr>
                                      <p:tavLst>
                                        <p:tav tm="0">
                                          <p:val>
                                            <p:strVal val="#ppt_x"/>
                                          </p:val>
                                        </p:tav>
                                        <p:tav tm="100000">
                                          <p:val>
                                            <p:strVal val="#ppt_x"/>
                                          </p:val>
                                        </p:tav>
                                      </p:tavLst>
                                    </p:anim>
                                    <p:anim calcmode="lin" valueType="num">
                                      <p:cBhvr>
                                        <p:cTn id="14" dur="500" fill="hold"/>
                                        <p:tgtEl>
                                          <p:spTgt spid="1436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363"/>
                                        </p:tgtEl>
                                        <p:attrNameLst>
                                          <p:attrName>style.visibility</p:attrName>
                                        </p:attrNameLst>
                                      </p:cBhvr>
                                      <p:to>
                                        <p:strVal val="visible"/>
                                      </p:to>
                                    </p:set>
                                    <p:animEffect transition="in" filter="fade">
                                      <p:cBhvr>
                                        <p:cTn id="17" dur="500"/>
                                        <p:tgtEl>
                                          <p:spTgt spid="14363"/>
                                        </p:tgtEl>
                                      </p:cBhvr>
                                    </p:animEffect>
                                    <p:anim calcmode="lin" valueType="num">
                                      <p:cBhvr>
                                        <p:cTn id="18" dur="500" fill="hold"/>
                                        <p:tgtEl>
                                          <p:spTgt spid="14363"/>
                                        </p:tgtEl>
                                        <p:attrNameLst>
                                          <p:attrName>ppt_x</p:attrName>
                                        </p:attrNameLst>
                                      </p:cBhvr>
                                      <p:tavLst>
                                        <p:tav tm="0">
                                          <p:val>
                                            <p:strVal val="#ppt_x"/>
                                          </p:val>
                                        </p:tav>
                                        <p:tav tm="100000">
                                          <p:val>
                                            <p:strVal val="#ppt_x"/>
                                          </p:val>
                                        </p:tav>
                                      </p:tavLst>
                                    </p:anim>
                                    <p:anim calcmode="lin" valueType="num">
                                      <p:cBhvr>
                                        <p:cTn id="19" dur="500" fill="hold"/>
                                        <p:tgtEl>
                                          <p:spTgt spid="14363"/>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4364"/>
                                        </p:tgtEl>
                                        <p:attrNameLst>
                                          <p:attrName>style.visibility</p:attrName>
                                        </p:attrNameLst>
                                      </p:cBhvr>
                                      <p:to>
                                        <p:strVal val="visible"/>
                                      </p:to>
                                    </p:set>
                                    <p:animEffect transition="in" filter="fade">
                                      <p:cBhvr>
                                        <p:cTn id="22" dur="500"/>
                                        <p:tgtEl>
                                          <p:spTgt spid="14364"/>
                                        </p:tgtEl>
                                      </p:cBhvr>
                                    </p:animEffect>
                                    <p:anim calcmode="lin" valueType="num">
                                      <p:cBhvr>
                                        <p:cTn id="23" dur="500" fill="hold"/>
                                        <p:tgtEl>
                                          <p:spTgt spid="14364"/>
                                        </p:tgtEl>
                                        <p:attrNameLst>
                                          <p:attrName>ppt_x</p:attrName>
                                        </p:attrNameLst>
                                      </p:cBhvr>
                                      <p:tavLst>
                                        <p:tav tm="0">
                                          <p:val>
                                            <p:strVal val="#ppt_x"/>
                                          </p:val>
                                        </p:tav>
                                        <p:tav tm="100000">
                                          <p:val>
                                            <p:strVal val="#ppt_x"/>
                                          </p:val>
                                        </p:tav>
                                      </p:tavLst>
                                    </p:anim>
                                    <p:anim calcmode="lin" valueType="num">
                                      <p:cBhvr>
                                        <p:cTn id="24" dur="500" fill="hold"/>
                                        <p:tgtEl>
                                          <p:spTgt spid="1436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365"/>
                                        </p:tgtEl>
                                        <p:attrNameLst>
                                          <p:attrName>style.visibility</p:attrName>
                                        </p:attrNameLst>
                                      </p:cBhvr>
                                      <p:to>
                                        <p:strVal val="visible"/>
                                      </p:to>
                                    </p:set>
                                    <p:animEffect transition="in" filter="fade">
                                      <p:cBhvr>
                                        <p:cTn id="27" dur="500"/>
                                        <p:tgtEl>
                                          <p:spTgt spid="14365"/>
                                        </p:tgtEl>
                                      </p:cBhvr>
                                    </p:animEffect>
                                    <p:anim calcmode="lin" valueType="num">
                                      <p:cBhvr>
                                        <p:cTn id="28" dur="500" fill="hold"/>
                                        <p:tgtEl>
                                          <p:spTgt spid="14365"/>
                                        </p:tgtEl>
                                        <p:attrNameLst>
                                          <p:attrName>ppt_x</p:attrName>
                                        </p:attrNameLst>
                                      </p:cBhvr>
                                      <p:tavLst>
                                        <p:tav tm="0">
                                          <p:val>
                                            <p:strVal val="#ppt_x"/>
                                          </p:val>
                                        </p:tav>
                                        <p:tav tm="100000">
                                          <p:val>
                                            <p:strVal val="#ppt_x"/>
                                          </p:val>
                                        </p:tav>
                                      </p:tavLst>
                                    </p:anim>
                                    <p:anim calcmode="lin" valueType="num">
                                      <p:cBhvr>
                                        <p:cTn id="29" dur="500" fill="hold"/>
                                        <p:tgtEl>
                                          <p:spTgt spid="1436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366"/>
                                        </p:tgtEl>
                                        <p:attrNameLst>
                                          <p:attrName>style.visibility</p:attrName>
                                        </p:attrNameLst>
                                      </p:cBhvr>
                                      <p:to>
                                        <p:strVal val="visible"/>
                                      </p:to>
                                    </p:set>
                                    <p:animEffect transition="in" filter="fade">
                                      <p:cBhvr>
                                        <p:cTn id="32" dur="500"/>
                                        <p:tgtEl>
                                          <p:spTgt spid="14366"/>
                                        </p:tgtEl>
                                      </p:cBhvr>
                                    </p:animEffect>
                                    <p:anim calcmode="lin" valueType="num">
                                      <p:cBhvr>
                                        <p:cTn id="33" dur="500" fill="hold"/>
                                        <p:tgtEl>
                                          <p:spTgt spid="14366"/>
                                        </p:tgtEl>
                                        <p:attrNameLst>
                                          <p:attrName>ppt_x</p:attrName>
                                        </p:attrNameLst>
                                      </p:cBhvr>
                                      <p:tavLst>
                                        <p:tav tm="0">
                                          <p:val>
                                            <p:strVal val="#ppt_x"/>
                                          </p:val>
                                        </p:tav>
                                        <p:tav tm="100000">
                                          <p:val>
                                            <p:strVal val="#ppt_x"/>
                                          </p:val>
                                        </p:tav>
                                      </p:tavLst>
                                    </p:anim>
                                    <p:anim calcmode="lin" valueType="num">
                                      <p:cBhvr>
                                        <p:cTn id="34" dur="500" fill="hold"/>
                                        <p:tgtEl>
                                          <p:spTgt spid="1436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4367"/>
                                        </p:tgtEl>
                                        <p:attrNameLst>
                                          <p:attrName>style.visibility</p:attrName>
                                        </p:attrNameLst>
                                      </p:cBhvr>
                                      <p:to>
                                        <p:strVal val="visible"/>
                                      </p:to>
                                    </p:set>
                                    <p:animEffect transition="in" filter="fade">
                                      <p:cBhvr>
                                        <p:cTn id="37" dur="500"/>
                                        <p:tgtEl>
                                          <p:spTgt spid="14367"/>
                                        </p:tgtEl>
                                      </p:cBhvr>
                                    </p:animEffect>
                                    <p:anim calcmode="lin" valueType="num">
                                      <p:cBhvr>
                                        <p:cTn id="38" dur="500" fill="hold"/>
                                        <p:tgtEl>
                                          <p:spTgt spid="14367"/>
                                        </p:tgtEl>
                                        <p:attrNameLst>
                                          <p:attrName>ppt_x</p:attrName>
                                        </p:attrNameLst>
                                      </p:cBhvr>
                                      <p:tavLst>
                                        <p:tav tm="0">
                                          <p:val>
                                            <p:strVal val="#ppt_x"/>
                                          </p:val>
                                        </p:tav>
                                        <p:tav tm="100000">
                                          <p:val>
                                            <p:strVal val="#ppt_x"/>
                                          </p:val>
                                        </p:tav>
                                      </p:tavLst>
                                    </p:anim>
                                    <p:anim calcmode="lin" valueType="num">
                                      <p:cBhvr>
                                        <p:cTn id="39" dur="500" fill="hold"/>
                                        <p:tgtEl>
                                          <p:spTgt spid="1436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4368"/>
                                        </p:tgtEl>
                                        <p:attrNameLst>
                                          <p:attrName>style.visibility</p:attrName>
                                        </p:attrNameLst>
                                      </p:cBhvr>
                                      <p:to>
                                        <p:strVal val="visible"/>
                                      </p:to>
                                    </p:set>
                                    <p:animEffect transition="in" filter="fade">
                                      <p:cBhvr>
                                        <p:cTn id="42" dur="500"/>
                                        <p:tgtEl>
                                          <p:spTgt spid="14368"/>
                                        </p:tgtEl>
                                      </p:cBhvr>
                                    </p:animEffect>
                                    <p:anim calcmode="lin" valueType="num">
                                      <p:cBhvr>
                                        <p:cTn id="43" dur="500" fill="hold"/>
                                        <p:tgtEl>
                                          <p:spTgt spid="14368"/>
                                        </p:tgtEl>
                                        <p:attrNameLst>
                                          <p:attrName>ppt_x</p:attrName>
                                        </p:attrNameLst>
                                      </p:cBhvr>
                                      <p:tavLst>
                                        <p:tav tm="0">
                                          <p:val>
                                            <p:strVal val="#ppt_x"/>
                                          </p:val>
                                        </p:tav>
                                        <p:tav tm="100000">
                                          <p:val>
                                            <p:strVal val="#ppt_x"/>
                                          </p:val>
                                        </p:tav>
                                      </p:tavLst>
                                    </p:anim>
                                    <p:anim calcmode="lin" valueType="num">
                                      <p:cBhvr>
                                        <p:cTn id="44" dur="500" fill="hold"/>
                                        <p:tgtEl>
                                          <p:spTgt spid="1436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4369"/>
                                        </p:tgtEl>
                                        <p:attrNameLst>
                                          <p:attrName>style.visibility</p:attrName>
                                        </p:attrNameLst>
                                      </p:cBhvr>
                                      <p:to>
                                        <p:strVal val="visible"/>
                                      </p:to>
                                    </p:set>
                                    <p:animEffect transition="in" filter="fade">
                                      <p:cBhvr>
                                        <p:cTn id="47" dur="500"/>
                                        <p:tgtEl>
                                          <p:spTgt spid="14369"/>
                                        </p:tgtEl>
                                      </p:cBhvr>
                                    </p:animEffect>
                                    <p:anim calcmode="lin" valueType="num">
                                      <p:cBhvr>
                                        <p:cTn id="48" dur="500" fill="hold"/>
                                        <p:tgtEl>
                                          <p:spTgt spid="14369"/>
                                        </p:tgtEl>
                                        <p:attrNameLst>
                                          <p:attrName>ppt_x</p:attrName>
                                        </p:attrNameLst>
                                      </p:cBhvr>
                                      <p:tavLst>
                                        <p:tav tm="0">
                                          <p:val>
                                            <p:strVal val="#ppt_x"/>
                                          </p:val>
                                        </p:tav>
                                        <p:tav tm="100000">
                                          <p:val>
                                            <p:strVal val="#ppt_x"/>
                                          </p:val>
                                        </p:tav>
                                      </p:tavLst>
                                    </p:anim>
                                    <p:anim calcmode="lin" valueType="num">
                                      <p:cBhvr>
                                        <p:cTn id="49" dur="500" fill="hold"/>
                                        <p:tgtEl>
                                          <p:spTgt spid="1436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4341"/>
                                        </p:tgtEl>
                                        <p:attrNameLst>
                                          <p:attrName>style.visibility</p:attrName>
                                        </p:attrNameLst>
                                      </p:cBhvr>
                                      <p:to>
                                        <p:strVal val="visible"/>
                                      </p:to>
                                    </p:set>
                                    <p:animEffect transition="in" filter="fade">
                                      <p:cBhvr>
                                        <p:cTn id="54" dur="500"/>
                                        <p:tgtEl>
                                          <p:spTgt spid="14341"/>
                                        </p:tgtEl>
                                      </p:cBhvr>
                                    </p:animEffect>
                                    <p:anim calcmode="lin" valueType="num">
                                      <p:cBhvr>
                                        <p:cTn id="55" dur="500" fill="hold"/>
                                        <p:tgtEl>
                                          <p:spTgt spid="14341"/>
                                        </p:tgtEl>
                                        <p:attrNameLst>
                                          <p:attrName>ppt_x</p:attrName>
                                        </p:attrNameLst>
                                      </p:cBhvr>
                                      <p:tavLst>
                                        <p:tav tm="0">
                                          <p:val>
                                            <p:strVal val="#ppt_x"/>
                                          </p:val>
                                        </p:tav>
                                        <p:tav tm="100000">
                                          <p:val>
                                            <p:strVal val="#ppt_x"/>
                                          </p:val>
                                        </p:tav>
                                      </p:tavLst>
                                    </p:anim>
                                    <p:anim calcmode="lin" valueType="num">
                                      <p:cBhvr>
                                        <p:cTn id="56" dur="500" fill="hold"/>
                                        <p:tgtEl>
                                          <p:spTgt spid="14341"/>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8">
                                            <p:txEl>
                                              <p:charRg st="10" end="41"/>
                                            </p:txEl>
                                          </p:spTgt>
                                        </p:tgtEl>
                                        <p:attrNameLst>
                                          <p:attrName>style.visibility</p:attrName>
                                        </p:attrNameLst>
                                      </p:cBhvr>
                                      <p:to>
                                        <p:strVal val="visible"/>
                                      </p:to>
                                    </p:set>
                                    <p:animEffect transition="in" filter="fade">
                                      <p:cBhvr>
                                        <p:cTn id="61" dur="1000"/>
                                        <p:tgtEl>
                                          <p:spTgt spid="8">
                                            <p:txEl>
                                              <p:charRg st="10" end="41"/>
                                            </p:txEl>
                                          </p:spTgt>
                                        </p:tgtEl>
                                      </p:cBhvr>
                                    </p:animEffect>
                                    <p:anim calcmode="lin" valueType="num">
                                      <p:cBhvr>
                                        <p:cTn id="62" dur="1000" fill="hold"/>
                                        <p:tgtEl>
                                          <p:spTgt spid="8">
                                            <p:txEl>
                                              <p:charRg st="10" end="41"/>
                                            </p:txEl>
                                          </p:spTgt>
                                        </p:tgtEl>
                                        <p:attrNameLst>
                                          <p:attrName>ppt_x</p:attrName>
                                        </p:attrNameLst>
                                      </p:cBhvr>
                                      <p:tavLst>
                                        <p:tav tm="0">
                                          <p:val>
                                            <p:strVal val="#ppt_x"/>
                                          </p:val>
                                        </p:tav>
                                        <p:tav tm="100000">
                                          <p:val>
                                            <p:strVal val="#ppt_x"/>
                                          </p:val>
                                        </p:tav>
                                      </p:tavLst>
                                    </p:anim>
                                    <p:anim calcmode="lin" valueType="num">
                                      <p:cBhvr>
                                        <p:cTn id="63" dur="1000" fill="hold"/>
                                        <p:tgtEl>
                                          <p:spTgt spid="8">
                                            <p:txEl>
                                              <p:charRg st="10" end="4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46671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邻接矩阵表示法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邻接矩阵表示法</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7410" name="Rectangle 2"/>
          <p:cNvSpPr/>
          <p:nvPr/>
        </p:nvSpPr>
        <p:spPr>
          <a:xfrm>
            <a:off x="2252980" y="1193800"/>
            <a:ext cx="7391400" cy="4800600"/>
          </a:xfrm>
          <a:prstGeom prst="rect">
            <a:avLst/>
          </a:prstGeom>
          <a:solidFill>
            <a:srgbClr val="808080"/>
          </a:solidFill>
          <a:ln w="3175">
            <a:noFill/>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endParaRPr lang="zh-CN" altLang="en-US" sz="1800" dirty="0">
              <a:solidFill>
                <a:srgbClr val="000066"/>
              </a:solidFill>
              <a:latin typeface="Consolas" panose="020B0609020204030204" pitchFamily="49" charset="0"/>
            </a:endParaRPr>
          </a:p>
        </p:txBody>
      </p:sp>
      <p:sp>
        <p:nvSpPr>
          <p:cNvPr id="17412" name="Rectangle 4"/>
          <p:cNvSpPr/>
          <p:nvPr/>
        </p:nvSpPr>
        <p:spPr>
          <a:xfrm>
            <a:off x="2171700" y="939800"/>
            <a:ext cx="7848600" cy="5410200"/>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enum GraphStyle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图的类型</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DG,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有向图</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DN,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有向网</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UDG,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无向图</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UDN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无向网</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#define MAX_VERTEX_NUM 20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最大顶点个数</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ALGraph</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图的基本操作</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private: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numVertices;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顶点个数</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numEdges;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边或弧的条数</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GraphStyle style;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图的类型</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VertexType vertices[MAX_VERTEX_NUM]; //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顶点信息，对无权图，</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用1或0表示相邻否；对带权图，则为权值类型，方便起见，设权为整型</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int adjMatrix[MAX_VERTEX_NUM][MAX_VERTEX_NUM];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边(弧)信息</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508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邻接矩阵表示法</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 name="文本框 1"/>
          <p:cNvSpPr txBox="1"/>
          <p:nvPr/>
        </p:nvSpPr>
        <p:spPr>
          <a:xfrm>
            <a:off x="405765" y="106680"/>
            <a:ext cx="5454650" cy="645160"/>
          </a:xfrm>
          <a:prstGeom prst="rect">
            <a:avLst/>
          </a:prstGeom>
          <a:noFill/>
        </p:spPr>
        <p:txBody>
          <a:bodyPr wrap="square" rtlCol="0">
            <a:spAutoFit/>
          </a:bodyPr>
          <a:p>
            <a:r>
              <a:rPr lang="zh-CN" altLang="en-US" sz="3600" b="1" dirty="0" smtClean="0">
                <a:solidFill>
                  <a:schemeClr val="bg1"/>
                </a:solidFill>
                <a:latin typeface="微软雅黑" panose="020B0503020204020204" pitchFamily="34" charset="-122"/>
                <a:ea typeface="微软雅黑" panose="020B0503020204020204" pitchFamily="34" charset="-122"/>
              </a:rPr>
              <a:t>邻接矩阵表示法的优缺点</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6387" name="Rectangle 3"/>
          <p:cNvSpPr>
            <a:spLocks noGrp="1" noChangeArrowheads="1"/>
          </p:cNvSpPr>
          <p:nvPr/>
        </p:nvSpPr>
        <p:spPr>
          <a:xfrm>
            <a:off x="699135" y="1271270"/>
            <a:ext cx="11003280" cy="31242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vl6pPr marL="2514600" indent="-228600" algn="l" rtl="0" fontAlgn="base">
              <a:spcBef>
                <a:spcPct val="20000"/>
              </a:spcBef>
              <a:spcAft>
                <a:spcPct val="0"/>
              </a:spcAft>
              <a:buChar char="»"/>
              <a:defRPr sz="2400">
                <a:solidFill>
                  <a:schemeClr val="tx1"/>
                </a:solidFill>
                <a:latin typeface="+mn-lt"/>
                <a:ea typeface="+mn-ea"/>
              </a:defRPr>
            </a:lvl6pPr>
            <a:lvl7pPr marL="2971800" indent="-228600" algn="l" rtl="0" fontAlgn="base">
              <a:spcBef>
                <a:spcPct val="20000"/>
              </a:spcBef>
              <a:spcAft>
                <a:spcPct val="0"/>
              </a:spcAft>
              <a:buChar char="»"/>
              <a:defRPr sz="2400">
                <a:solidFill>
                  <a:schemeClr val="tx1"/>
                </a:solidFill>
                <a:latin typeface="+mn-lt"/>
                <a:ea typeface="+mn-ea"/>
              </a:defRPr>
            </a:lvl7pPr>
            <a:lvl8pPr marL="3429000" indent="-228600" algn="l" rtl="0" fontAlgn="base">
              <a:spcBef>
                <a:spcPct val="20000"/>
              </a:spcBef>
              <a:spcAft>
                <a:spcPct val="0"/>
              </a:spcAft>
              <a:buChar char="»"/>
              <a:defRPr sz="2400">
                <a:solidFill>
                  <a:schemeClr val="tx1"/>
                </a:solidFill>
                <a:latin typeface="+mn-lt"/>
                <a:ea typeface="+mn-ea"/>
              </a:defRPr>
            </a:lvl8pPr>
            <a:lvl9pPr marL="3886200" indent="-228600" algn="l" rtl="0" fontAlgn="base">
              <a:spcBef>
                <a:spcPct val="20000"/>
              </a:spcBef>
              <a:spcAft>
                <a:spcPct val="0"/>
              </a:spcAft>
              <a:buChar char="»"/>
              <a:defRPr sz="2400">
                <a:solidFill>
                  <a:schemeClr val="tx1"/>
                </a:solidFill>
                <a:latin typeface="+mn-lt"/>
                <a:ea typeface="+mn-ea"/>
              </a:defRPr>
            </a:lvl9pPr>
          </a:lstStyle>
          <a:p>
            <a:pPr marL="342900" marR="0" lvl="0" indent="-342900" algn="l" defTabSz="914400" rtl="0" eaLnBrk="1" hangingPunct="1">
              <a:lnSpc>
                <a:spcPct val="125000"/>
              </a:lnSpc>
              <a:spcBef>
                <a:spcPts val="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一个邻接矩阵需要的存储空间是</a:t>
            </a:r>
            <a:r>
              <a:rPr kumimoji="0" lang="en-US" altLang="zh-CN" sz="2000" b="1" i="1"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O</a:t>
            </a:r>
            <a:r>
              <a:rPr kumimoji="0" lang="en-US" altLang="zh-CN"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1" i="1"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en-US" altLang="zh-CN" sz="2000" b="1" i="1" u="none" strike="noStrike" kern="0" cap="none" spc="0" normalizeH="0" baseline="3000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en-US" altLang="zh-CN"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（需存放</a:t>
            </a:r>
            <a:r>
              <a:rPr kumimoji="0" lang="en-US" altLang="zh-CN" sz="2000" b="1" i="1" u="none" strike="noStrike" kern="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个顶点和</a:t>
            </a:r>
            <a:r>
              <a:rPr kumimoji="0" lang="en-US" altLang="zh-CN" sz="2000" b="1" i="1" u="none" strike="noStrike" kern="0" cap="none" spc="0" normalizeH="0" baseline="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en-US" altLang="zh-CN" sz="2000" b="1" i="1" u="none" strike="noStrike" kern="0" cap="none" spc="0" normalizeH="0" baseline="30000" noProof="0" dirty="0" smtClean="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条边的信息量）。</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hangingPunct="1">
              <a:lnSpc>
                <a:spcPct val="125000"/>
              </a:lnSpc>
              <a:spcBef>
                <a:spcPts val="0"/>
              </a:spcBef>
              <a:spcAft>
                <a:spcPct val="0"/>
              </a:spcAft>
              <a:buClrTx/>
              <a:buSzTx/>
              <a:buFontTx/>
              <a:buChar char="•"/>
              <a:defRPr/>
            </a:pP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hangingPunct="1">
              <a:lnSpc>
                <a:spcPct val="125000"/>
              </a:lnSpc>
              <a:spcBef>
                <a:spcPts val="0"/>
              </a:spcBef>
              <a:spcAft>
                <a:spcPct val="0"/>
              </a:spcAft>
              <a:buClrTx/>
              <a:buSzTx/>
              <a:buFontTx/>
              <a:buChar char="•"/>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显然，邻接矩阵的存储空间与其边或弧的数目无关，因此这种存储结构适用于</a:t>
            </a:r>
            <a:r>
              <a:rPr kumimoji="0" lang="zh-CN" altLang="en-US" sz="20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稠密图</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，但对于</a:t>
            </a:r>
            <a:r>
              <a:rPr kumimoji="0" lang="zh-CN" altLang="en-US" sz="20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稀疏图</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而言，存储密度较低。</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hangingPunct="1">
              <a:lnSpc>
                <a:spcPct val="125000"/>
              </a:lnSpc>
              <a:spcBef>
                <a:spcPts val="0"/>
              </a:spcBef>
              <a:spcAft>
                <a:spcPct val="0"/>
              </a:spcAft>
              <a:buClrTx/>
              <a:buSzTx/>
              <a:buFontTx/>
              <a:buChar char="•"/>
              <a:defRPr/>
            </a:pP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1" hangingPunct="1">
              <a:lnSpc>
                <a:spcPct val="125000"/>
              </a:lnSpc>
              <a:spcBef>
                <a:spcPts val="0"/>
              </a:spcBef>
              <a:spcAft>
                <a:spcPct val="0"/>
              </a:spcAft>
              <a:buClrTx/>
              <a:buSzTx/>
              <a:buFontTx/>
              <a:buChar char="•"/>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邻接矩阵可以较方便地求各邻接点的位置，但不宜于顶点的插入和删除操作。</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5.2.2 </a:t>
            </a:r>
            <a:r>
              <a:rPr lang="zh-CN" altLang="en-US" sz="3600" b="1" dirty="0" smtClean="0">
                <a:solidFill>
                  <a:schemeClr val="bg1"/>
                </a:solidFill>
                <a:latin typeface="微软雅黑" panose="020B0503020204020204" pitchFamily="34" charset="-122"/>
                <a:ea typeface="微软雅黑" panose="020B0503020204020204" pitchFamily="34" charset="-122"/>
              </a:rPr>
              <a:t>邻接表表示法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0483" name="Rectangle 3"/>
          <p:cNvSpPr>
            <a:spLocks noGrp="1"/>
          </p:cNvSpPr>
          <p:nvPr>
            <p:ph idx="1"/>
          </p:nvPr>
        </p:nvSpPr>
        <p:spPr>
          <a:xfrm>
            <a:off x="745490" y="964565"/>
            <a:ext cx="10515600" cy="4351655"/>
          </a:xfrm>
        </p:spPr>
        <p:txBody>
          <a:bodyPr vert="horz" wrap="square" lIns="91440" tIns="45720" rIns="91440" bIns="45720" anchor="t">
            <a:noAutofit/>
          </a:bodyPr>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邻接表是图的一种</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链式存储结构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。在邻接表表示法中，对图中每个顶点建立一个邻接表（一般采用单链表结构），第</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个邻接表中的每个结点表示与顶点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相关联的边（对有向图是以顶点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为尾的弧）。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每个边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弧结点由</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个域组成，其中，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adjVertex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表示与顶点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邻接的点在图中的位置；</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weight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表示该边或弧的权值，如果不是网，可以省略该数据项；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next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指针指示下一条边或弧的结点。</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此外，每个链表上附设一个表头结点，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的数据信息，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edgeList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指向链表中的第一个结点。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0484" name="Picture 6"/>
          <p:cNvPicPr>
            <a:picLocks noChangeAspect="1"/>
          </p:cNvPicPr>
          <p:nvPr/>
        </p:nvPicPr>
        <p:blipFill>
          <a:blip r:embed="rId1"/>
          <a:stretch>
            <a:fillRect/>
          </a:stretch>
        </p:blipFill>
        <p:spPr>
          <a:xfrm>
            <a:off x="3945890" y="3218815"/>
            <a:ext cx="4114800" cy="666750"/>
          </a:xfrm>
          <a:prstGeom prst="rect">
            <a:avLst/>
          </a:prstGeom>
          <a:noFill/>
          <a:ln w="3175">
            <a:noFill/>
          </a:ln>
        </p:spPr>
      </p:pic>
      <p:pic>
        <p:nvPicPr>
          <p:cNvPr id="20485" name="Picture 7"/>
          <p:cNvPicPr>
            <a:picLocks noChangeAspect="1"/>
          </p:cNvPicPr>
          <p:nvPr/>
        </p:nvPicPr>
        <p:blipFill>
          <a:blip r:embed="rId2"/>
          <a:stretch>
            <a:fillRect/>
          </a:stretch>
        </p:blipFill>
        <p:spPr>
          <a:xfrm>
            <a:off x="4671695" y="4801235"/>
            <a:ext cx="2847975" cy="600075"/>
          </a:xfrm>
          <a:prstGeom prst="rect">
            <a:avLst/>
          </a:prstGeom>
          <a:noFill/>
          <a:ln w="3175">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无向网的邻接表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529705" y="646366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602222" y="6489826"/>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1510" name="Text Box 60"/>
          <p:cNvSpPr txBox="1"/>
          <p:nvPr/>
        </p:nvSpPr>
        <p:spPr>
          <a:xfrm>
            <a:off x="912495" y="1293495"/>
            <a:ext cx="4419600" cy="86169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例如：右图无向网</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的邻接表如下图所示。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1508" name="Picture 80"/>
          <p:cNvPicPr>
            <a:picLocks noChangeAspect="1"/>
          </p:cNvPicPr>
          <p:nvPr/>
        </p:nvPicPr>
        <p:blipFill>
          <a:blip r:embed="rId1"/>
          <a:stretch>
            <a:fillRect/>
          </a:stretch>
        </p:blipFill>
        <p:spPr>
          <a:xfrm>
            <a:off x="7218045" y="1042670"/>
            <a:ext cx="2971800" cy="1771650"/>
          </a:xfrm>
          <a:prstGeom prst="rect">
            <a:avLst/>
          </a:prstGeom>
          <a:noFill/>
          <a:ln w="3175">
            <a:noFill/>
          </a:ln>
        </p:spPr>
      </p:pic>
      <p:pic>
        <p:nvPicPr>
          <p:cNvPr id="178181" name="Picture 81"/>
          <p:cNvPicPr>
            <a:picLocks noChangeAspect="1"/>
          </p:cNvPicPr>
          <p:nvPr/>
        </p:nvPicPr>
        <p:blipFill>
          <a:blip r:embed="rId2"/>
          <a:stretch>
            <a:fillRect/>
          </a:stretch>
        </p:blipFill>
        <p:spPr>
          <a:xfrm>
            <a:off x="1685925" y="2927985"/>
            <a:ext cx="8820150" cy="2495550"/>
          </a:xfrm>
          <a:prstGeom prst="rect">
            <a:avLst/>
          </a:prstGeom>
          <a:noFill/>
          <a:ln w="3175">
            <a:noFill/>
          </a:ln>
        </p:spPr>
      </p:pic>
      <p:pic>
        <p:nvPicPr>
          <p:cNvPr id="3" name="Picture 7"/>
          <p:cNvPicPr>
            <a:picLocks noChangeAspect="1"/>
          </p:cNvPicPr>
          <p:nvPr/>
        </p:nvPicPr>
        <p:blipFill>
          <a:blip r:embed="rId3"/>
          <a:stretch>
            <a:fillRect/>
          </a:stretch>
        </p:blipFill>
        <p:spPr>
          <a:xfrm>
            <a:off x="2969895" y="5417185"/>
            <a:ext cx="2590800" cy="457200"/>
          </a:xfrm>
          <a:prstGeom prst="rect">
            <a:avLst/>
          </a:prstGeom>
          <a:solidFill>
            <a:srgbClr val="92D050"/>
          </a:solidFill>
          <a:ln w="28575" cap="flat" cmpd="sng">
            <a:solidFill>
              <a:srgbClr val="FF0000"/>
            </a:solidFill>
            <a:prstDash val="solid"/>
            <a:miter/>
            <a:headEnd type="none" w="med" len="med"/>
            <a:tailEnd type="none" w="med" len="med"/>
          </a:ln>
        </p:spPr>
      </p:pic>
      <p:sp>
        <p:nvSpPr>
          <p:cNvPr id="178184" name="Line 8"/>
          <p:cNvSpPr/>
          <p:nvPr/>
        </p:nvSpPr>
        <p:spPr>
          <a:xfrm flipV="1">
            <a:off x="3960495" y="5112385"/>
            <a:ext cx="304800" cy="304800"/>
          </a:xfrm>
          <a:prstGeom prst="line">
            <a:avLst/>
          </a:prstGeom>
          <a:ln w="3175" cap="flat" cmpd="sng">
            <a:solidFill>
              <a:schemeClr val="tx1"/>
            </a:solidFill>
            <a:prstDash val="solid"/>
            <a:headEnd type="none" w="med" len="med"/>
            <a:tailEnd type="triangle" w="med" len="med"/>
          </a:ln>
        </p:spPr>
      </p:sp>
      <p:pic>
        <p:nvPicPr>
          <p:cNvPr id="178185" name="Picture 6"/>
          <p:cNvPicPr>
            <a:picLocks noChangeAspect="1"/>
          </p:cNvPicPr>
          <p:nvPr/>
        </p:nvPicPr>
        <p:blipFill>
          <a:blip r:embed="rId4"/>
          <a:stretch>
            <a:fillRect/>
          </a:stretch>
        </p:blipFill>
        <p:spPr>
          <a:xfrm>
            <a:off x="5789295" y="5442585"/>
            <a:ext cx="2895600" cy="457200"/>
          </a:xfrm>
          <a:prstGeom prst="rect">
            <a:avLst/>
          </a:prstGeom>
          <a:noFill/>
          <a:ln w="38100" cap="flat" cmpd="sng">
            <a:solidFill>
              <a:srgbClr val="FF5050"/>
            </a:solidFill>
            <a:prstDash val="solid"/>
            <a:miter/>
            <a:headEnd type="none" w="med" len="med"/>
            <a:tailEnd type="none" w="med" len="med"/>
          </a:ln>
        </p:spPr>
      </p:pic>
      <p:sp>
        <p:nvSpPr>
          <p:cNvPr id="178186" name="Line 10"/>
          <p:cNvSpPr/>
          <p:nvPr/>
        </p:nvSpPr>
        <p:spPr>
          <a:xfrm flipH="1" flipV="1">
            <a:off x="5713095" y="5137785"/>
            <a:ext cx="228600" cy="304800"/>
          </a:xfrm>
          <a:prstGeom prst="line">
            <a:avLst/>
          </a:prstGeom>
          <a:ln w="3175" cap="flat" cmpd="sng">
            <a:solidFill>
              <a:schemeClr val="tx1"/>
            </a:solidFill>
            <a:prstDash val="solid"/>
            <a:headEnd type="none" w="med" len="med"/>
            <a:tailEnd type="triangle" w="med" len="med"/>
          </a:ln>
        </p:spPr>
      </p:sp>
      <p:sp>
        <p:nvSpPr>
          <p:cNvPr id="178187" name="Line 11"/>
          <p:cNvSpPr/>
          <p:nvPr/>
        </p:nvSpPr>
        <p:spPr>
          <a:xfrm flipH="1" flipV="1">
            <a:off x="6170295" y="5137785"/>
            <a:ext cx="914400" cy="285750"/>
          </a:xfrm>
          <a:prstGeom prst="line">
            <a:avLst/>
          </a:prstGeom>
          <a:ln w="3175" cap="flat" cmpd="sng">
            <a:solidFill>
              <a:schemeClr val="tx1"/>
            </a:solidFill>
            <a:prstDash val="solid"/>
            <a:headEnd type="none" w="med" len="med"/>
            <a:tailEnd type="triangle" w="med" len="med"/>
          </a:ln>
        </p:spPr>
      </p:sp>
      <p:sp>
        <p:nvSpPr>
          <p:cNvPr id="12" name="Line 11"/>
          <p:cNvSpPr/>
          <p:nvPr/>
        </p:nvSpPr>
        <p:spPr>
          <a:xfrm flipH="1" flipV="1">
            <a:off x="6779895" y="5099685"/>
            <a:ext cx="1371600" cy="323850"/>
          </a:xfrm>
          <a:prstGeom prst="line">
            <a:avLst/>
          </a:prstGeom>
          <a:ln w="3175" cap="flat" cmpd="sng">
            <a:solidFill>
              <a:schemeClr val="tx1"/>
            </a:solidFill>
            <a:prstDash val="solid"/>
            <a:headEnd type="none" w="med" len="med"/>
            <a:tailEnd type="triangle" w="med" len="med"/>
          </a:ln>
        </p:spPr>
      </p:sp>
      <p:sp>
        <p:nvSpPr>
          <p:cNvPr id="4" name="Line 8"/>
          <p:cNvSpPr/>
          <p:nvPr/>
        </p:nvSpPr>
        <p:spPr>
          <a:xfrm flipV="1">
            <a:off x="4646295" y="5169535"/>
            <a:ext cx="228600" cy="247650"/>
          </a:xfrm>
          <a:prstGeom prst="line">
            <a:avLst/>
          </a:prstGeom>
          <a:ln w="3175" cap="flat" cmpd="sng">
            <a:solidFill>
              <a:schemeClr val="tx1"/>
            </a:solidFill>
            <a:prstDash val="solid"/>
            <a:headEnd type="none" w="med" len="med"/>
            <a:tailEnd type="triangle" w="med" len="med"/>
          </a:ln>
        </p:spPr>
      </p:sp>
      <p:sp>
        <p:nvSpPr>
          <p:cNvPr id="8" name="TextBox 1"/>
          <p:cNvSpPr txBox="1"/>
          <p:nvPr/>
        </p:nvSpPr>
        <p:spPr>
          <a:xfrm>
            <a:off x="3274695" y="5950585"/>
            <a:ext cx="2057400" cy="370205"/>
          </a:xfrm>
          <a:prstGeom prst="rect">
            <a:avLst/>
          </a:prstGeom>
          <a:solidFill>
            <a:srgbClr val="FDF58D"/>
          </a:solid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FF0000"/>
                </a:solidFill>
                <a:latin typeface="Consolas" panose="020B0609020204030204" pitchFamily="49" charset="0"/>
              </a:rPr>
              <a:t>VertexNode</a:t>
            </a:r>
            <a:endParaRPr lang="zh-CN" altLang="en-US" sz="1800" b="1" dirty="0">
              <a:solidFill>
                <a:srgbClr val="FF0000"/>
              </a:solidFill>
              <a:latin typeface="Consolas" panose="020B0609020204030204" pitchFamily="49" charset="0"/>
            </a:endParaRPr>
          </a:p>
        </p:txBody>
      </p:sp>
      <p:sp>
        <p:nvSpPr>
          <p:cNvPr id="15" name="TextBox 14"/>
          <p:cNvSpPr txBox="1"/>
          <p:nvPr/>
        </p:nvSpPr>
        <p:spPr>
          <a:xfrm>
            <a:off x="6157595" y="5985510"/>
            <a:ext cx="2057400" cy="370205"/>
          </a:xfrm>
          <a:prstGeom prst="rect">
            <a:avLst/>
          </a:prstGeom>
          <a:solidFill>
            <a:srgbClr val="FDF58D"/>
          </a:solid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FF0000"/>
                </a:solidFill>
                <a:latin typeface="Consolas" panose="020B0609020204030204" pitchFamily="49" charset="0"/>
              </a:rPr>
              <a:t>EdgeNode</a:t>
            </a:r>
            <a:endParaRPr lang="zh-CN" altLang="en-US" sz="1800" b="1" dirty="0">
              <a:solidFill>
                <a:srgbClr val="FF0000"/>
              </a:solidFill>
              <a:latin typeface="Consolas" panose="020B0609020204030204" pitchFamily="49" charset="0"/>
            </a:endParaRPr>
          </a:p>
        </p:txBody>
      </p:sp>
      <p:sp>
        <p:nvSpPr>
          <p:cNvPr id="2" name="文本框 1"/>
          <p:cNvSpPr txBox="1"/>
          <p:nvPr/>
        </p:nvSpPr>
        <p:spPr>
          <a:xfrm>
            <a:off x="1551305" y="6473825"/>
            <a:ext cx="2266950" cy="368300"/>
          </a:xfrm>
          <a:prstGeom prst="rect">
            <a:avLst/>
          </a:prstGeom>
          <a:noFill/>
        </p:spPr>
        <p:txBody>
          <a:bodyPr wrap="square" rtlCol="0">
            <a:spAutoFit/>
          </a:bodyPr>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817983" y="6473951"/>
            <a:ext cx="2042456"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181"/>
                                        </p:tgtEl>
                                        <p:attrNameLst>
                                          <p:attrName>style.visibility</p:attrName>
                                        </p:attrNameLst>
                                      </p:cBhvr>
                                      <p:to>
                                        <p:strVal val="visible"/>
                                      </p:to>
                                    </p:set>
                                    <p:anim calcmode="lin" valueType="num">
                                      <p:cBhvr additive="base">
                                        <p:cTn id="7" dur="500" fill="hold"/>
                                        <p:tgtEl>
                                          <p:spTgt spid="178181"/>
                                        </p:tgtEl>
                                        <p:attrNameLst>
                                          <p:attrName>ppt_x</p:attrName>
                                        </p:attrNameLst>
                                      </p:cBhvr>
                                      <p:tavLst>
                                        <p:tav tm="0">
                                          <p:val>
                                            <p:strVal val="#ppt_x"/>
                                          </p:val>
                                        </p:tav>
                                        <p:tav tm="100000">
                                          <p:val>
                                            <p:strVal val="#ppt_x"/>
                                          </p:val>
                                        </p:tav>
                                      </p:tavLst>
                                    </p:anim>
                                    <p:anim calcmode="lin" valueType="num">
                                      <p:cBhvr additive="base">
                                        <p:cTn id="8" dur="500" fill="hold"/>
                                        <p:tgtEl>
                                          <p:spTgt spid="17818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78184"/>
                                        </p:tgtEl>
                                        <p:attrNameLst>
                                          <p:attrName>style.visibility</p:attrName>
                                        </p:attrNameLst>
                                      </p:cBhvr>
                                      <p:to>
                                        <p:strVal val="visible"/>
                                      </p:to>
                                    </p:set>
                                    <p:anim calcmode="lin" valueType="num">
                                      <p:cBhvr additive="base">
                                        <p:cTn id="17" dur="500" fill="hold"/>
                                        <p:tgtEl>
                                          <p:spTgt spid="178184"/>
                                        </p:tgtEl>
                                        <p:attrNameLst>
                                          <p:attrName>ppt_x</p:attrName>
                                        </p:attrNameLst>
                                      </p:cBhvr>
                                      <p:tavLst>
                                        <p:tav tm="0">
                                          <p:val>
                                            <p:strVal val="#ppt_x"/>
                                          </p:val>
                                        </p:tav>
                                        <p:tav tm="100000">
                                          <p:val>
                                            <p:strVal val="#ppt_x"/>
                                          </p:val>
                                        </p:tav>
                                      </p:tavLst>
                                    </p:anim>
                                    <p:anim calcmode="lin" valueType="num">
                                      <p:cBhvr additive="base">
                                        <p:cTn id="18" dur="500" fill="hold"/>
                                        <p:tgtEl>
                                          <p:spTgt spid="17818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78185"/>
                                        </p:tgtEl>
                                        <p:attrNameLst>
                                          <p:attrName>style.visibility</p:attrName>
                                        </p:attrNameLst>
                                      </p:cBhvr>
                                      <p:to>
                                        <p:strVal val="visible"/>
                                      </p:to>
                                    </p:set>
                                    <p:anim calcmode="lin" valueType="num">
                                      <p:cBhvr additive="base">
                                        <p:cTn id="22" dur="500" fill="hold"/>
                                        <p:tgtEl>
                                          <p:spTgt spid="178185"/>
                                        </p:tgtEl>
                                        <p:attrNameLst>
                                          <p:attrName>ppt_x</p:attrName>
                                        </p:attrNameLst>
                                      </p:cBhvr>
                                      <p:tavLst>
                                        <p:tav tm="0">
                                          <p:val>
                                            <p:strVal val="#ppt_x"/>
                                          </p:val>
                                        </p:tav>
                                        <p:tav tm="100000">
                                          <p:val>
                                            <p:strVal val="#ppt_x"/>
                                          </p:val>
                                        </p:tav>
                                      </p:tavLst>
                                    </p:anim>
                                    <p:anim calcmode="lin" valueType="num">
                                      <p:cBhvr additive="base">
                                        <p:cTn id="23" dur="500" fill="hold"/>
                                        <p:tgtEl>
                                          <p:spTgt spid="178185"/>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78186"/>
                                        </p:tgtEl>
                                        <p:attrNameLst>
                                          <p:attrName>style.visibility</p:attrName>
                                        </p:attrNameLst>
                                      </p:cBhvr>
                                      <p:to>
                                        <p:strVal val="visible"/>
                                      </p:to>
                                    </p:set>
                                    <p:anim calcmode="lin" valueType="num">
                                      <p:cBhvr additive="base">
                                        <p:cTn id="27" dur="500" fill="hold"/>
                                        <p:tgtEl>
                                          <p:spTgt spid="178186"/>
                                        </p:tgtEl>
                                        <p:attrNameLst>
                                          <p:attrName>ppt_x</p:attrName>
                                        </p:attrNameLst>
                                      </p:cBhvr>
                                      <p:tavLst>
                                        <p:tav tm="0">
                                          <p:val>
                                            <p:strVal val="#ppt_x"/>
                                          </p:val>
                                        </p:tav>
                                        <p:tav tm="100000">
                                          <p:val>
                                            <p:strVal val="#ppt_x"/>
                                          </p:val>
                                        </p:tav>
                                      </p:tavLst>
                                    </p:anim>
                                    <p:anim calcmode="lin" valueType="num">
                                      <p:cBhvr additive="base">
                                        <p:cTn id="28" dur="500" fill="hold"/>
                                        <p:tgtEl>
                                          <p:spTgt spid="178186"/>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178187"/>
                                        </p:tgtEl>
                                        <p:attrNameLst>
                                          <p:attrName>style.visibility</p:attrName>
                                        </p:attrNameLst>
                                      </p:cBhvr>
                                      <p:to>
                                        <p:strVal val="visible"/>
                                      </p:to>
                                    </p:set>
                                    <p:anim calcmode="lin" valueType="num">
                                      <p:cBhvr additive="base">
                                        <p:cTn id="32" dur="500" fill="hold"/>
                                        <p:tgtEl>
                                          <p:spTgt spid="178187"/>
                                        </p:tgtEl>
                                        <p:attrNameLst>
                                          <p:attrName>ppt_x</p:attrName>
                                        </p:attrNameLst>
                                      </p:cBhvr>
                                      <p:tavLst>
                                        <p:tav tm="0">
                                          <p:val>
                                            <p:strVal val="#ppt_x"/>
                                          </p:val>
                                        </p:tav>
                                        <p:tav tm="100000">
                                          <p:val>
                                            <p:strVal val="#ppt_x"/>
                                          </p:val>
                                        </p:tav>
                                      </p:tavLst>
                                    </p:anim>
                                    <p:anim calcmode="lin" valueType="num">
                                      <p:cBhvr additive="base">
                                        <p:cTn id="33" dur="500" fill="hold"/>
                                        <p:tgtEl>
                                          <p:spTgt spid="178187"/>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42" presetClass="entr" presetSubtype="0"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1000"/>
                                        <p:tgtEl>
                                          <p:spTgt spid="8"/>
                                        </p:tgtEl>
                                      </p:cBhvr>
                                    </p:animEffect>
                                    <p:anim calcmode="lin" valueType="num">
                                      <p:cBhvr>
                                        <p:cTn id="48" dur="1000" fill="hold"/>
                                        <p:tgtEl>
                                          <p:spTgt spid="8"/>
                                        </p:tgtEl>
                                        <p:attrNameLst>
                                          <p:attrName>ppt_x</p:attrName>
                                        </p:attrNameLst>
                                      </p:cBhvr>
                                      <p:tavLst>
                                        <p:tav tm="0">
                                          <p:val>
                                            <p:strVal val="#ppt_x"/>
                                          </p:val>
                                        </p:tav>
                                        <p:tav tm="100000">
                                          <p:val>
                                            <p:strVal val="#ppt_x"/>
                                          </p:val>
                                        </p:tav>
                                      </p:tavLst>
                                    </p:anim>
                                    <p:anim calcmode="lin" valueType="num">
                                      <p:cBhvr>
                                        <p:cTn id="49" dur="1000" fill="hold"/>
                                        <p:tgtEl>
                                          <p:spTgt spid="8"/>
                                        </p:tgtEl>
                                        <p:attrNameLst>
                                          <p:attrName>ppt_y</p:attrName>
                                        </p:attrNameLst>
                                      </p:cBhvr>
                                      <p:tavLst>
                                        <p:tav tm="0">
                                          <p:val>
                                            <p:strVal val="#ppt_y+.1"/>
                                          </p:val>
                                        </p:tav>
                                        <p:tav tm="100000">
                                          <p:val>
                                            <p:strVal val="#ppt_y"/>
                                          </p:val>
                                        </p:tav>
                                      </p:tavLst>
                                    </p:anim>
                                  </p:childTnLst>
                                </p:cTn>
                              </p:par>
                            </p:childTnLst>
                          </p:cTn>
                        </p:par>
                        <p:par>
                          <p:cTn id="50" fill="hold">
                            <p:stCondLst>
                              <p:cond delay="5000"/>
                            </p:stCondLst>
                            <p:childTnLst>
                              <p:par>
                                <p:cTn id="51" presetID="42" presetClass="entr" presetSubtype="0"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1000"/>
                                        <p:tgtEl>
                                          <p:spTgt spid="15"/>
                                        </p:tgtEl>
                                      </p:cBhvr>
                                    </p:animEffect>
                                    <p:anim calcmode="lin" valueType="num">
                                      <p:cBhvr>
                                        <p:cTn id="54" dur="1000" fill="hold"/>
                                        <p:tgtEl>
                                          <p:spTgt spid="15"/>
                                        </p:tgtEl>
                                        <p:attrNameLst>
                                          <p:attrName>ppt_x</p:attrName>
                                        </p:attrNameLst>
                                      </p:cBhvr>
                                      <p:tavLst>
                                        <p:tav tm="0">
                                          <p:val>
                                            <p:strVal val="#ppt_x"/>
                                          </p:val>
                                        </p:tav>
                                        <p:tav tm="100000">
                                          <p:val>
                                            <p:strVal val="#ppt_x"/>
                                          </p:val>
                                        </p:tav>
                                      </p:tavLst>
                                    </p:anim>
                                    <p:anim calcmode="lin" valueType="num">
                                      <p:cBhvr>
                                        <p:cTn id="5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5"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3" name="Picture 3"/>
          <p:cNvPicPr>
            <a:picLocks noChangeAspect="1"/>
          </p:cNvPicPr>
          <p:nvPr/>
        </p:nvPicPr>
        <p:blipFill>
          <a:blip r:embed="rId1"/>
          <a:stretch>
            <a:fillRect/>
          </a:stretch>
        </p:blipFill>
        <p:spPr>
          <a:xfrm>
            <a:off x="1330325" y="3021965"/>
            <a:ext cx="9067800" cy="2479675"/>
          </a:xfrm>
          <a:prstGeom prst="rect">
            <a:avLst/>
          </a:prstGeom>
          <a:noFill/>
          <a:ln w="3175">
            <a:noFill/>
          </a:ln>
        </p:spPr>
      </p:pic>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有向网的邻接表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4880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2532" name="Text Box 60"/>
          <p:cNvSpPr txBox="1"/>
          <p:nvPr/>
        </p:nvSpPr>
        <p:spPr>
          <a:xfrm>
            <a:off x="997585" y="1290955"/>
            <a:ext cx="4358005" cy="86169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例如：右图有向网</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i="1"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的邻接表如下图所示。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2535" name="Picture 6"/>
          <p:cNvPicPr>
            <a:picLocks noChangeAspect="1"/>
          </p:cNvPicPr>
          <p:nvPr/>
        </p:nvPicPr>
        <p:blipFill>
          <a:blip r:embed="rId2"/>
          <a:stretch>
            <a:fillRect/>
          </a:stretch>
        </p:blipFill>
        <p:spPr>
          <a:xfrm>
            <a:off x="7077710" y="1105535"/>
            <a:ext cx="2974340" cy="1775460"/>
          </a:xfrm>
          <a:prstGeom prst="rect">
            <a:avLst/>
          </a:prstGeom>
          <a:noFill/>
          <a:ln w="3175">
            <a:noFill/>
          </a:ln>
        </p:spPr>
      </p:pic>
      <p:pic>
        <p:nvPicPr>
          <p:cNvPr id="179208" name="Picture 7"/>
          <p:cNvPicPr>
            <a:picLocks noChangeAspect="1"/>
          </p:cNvPicPr>
          <p:nvPr/>
        </p:nvPicPr>
        <p:blipFill>
          <a:blip r:embed="rId3"/>
          <a:stretch>
            <a:fillRect/>
          </a:stretch>
        </p:blipFill>
        <p:spPr>
          <a:xfrm>
            <a:off x="2688590" y="5476240"/>
            <a:ext cx="2590800" cy="457200"/>
          </a:xfrm>
          <a:prstGeom prst="rect">
            <a:avLst/>
          </a:prstGeom>
          <a:noFill/>
          <a:ln w="38100" cap="flat" cmpd="sng">
            <a:solidFill>
              <a:srgbClr val="FF0000"/>
            </a:solidFill>
            <a:prstDash val="solid"/>
            <a:miter/>
            <a:headEnd type="none" w="med" len="med"/>
            <a:tailEnd type="none" w="med" len="med"/>
          </a:ln>
        </p:spPr>
      </p:pic>
      <p:sp>
        <p:nvSpPr>
          <p:cNvPr id="179209" name="Line 9"/>
          <p:cNvSpPr/>
          <p:nvPr/>
        </p:nvSpPr>
        <p:spPr>
          <a:xfrm flipV="1">
            <a:off x="3602990" y="5247640"/>
            <a:ext cx="304800" cy="304800"/>
          </a:xfrm>
          <a:prstGeom prst="line">
            <a:avLst/>
          </a:prstGeom>
          <a:ln w="3175" cap="flat" cmpd="sng">
            <a:solidFill>
              <a:schemeClr val="tx1"/>
            </a:solidFill>
            <a:prstDash val="solid"/>
            <a:headEnd type="none" w="med" len="med"/>
            <a:tailEnd type="triangle" w="med" len="med"/>
          </a:ln>
        </p:spPr>
      </p:sp>
      <p:pic>
        <p:nvPicPr>
          <p:cNvPr id="179210" name="Picture 6"/>
          <p:cNvPicPr>
            <a:picLocks noChangeAspect="1"/>
          </p:cNvPicPr>
          <p:nvPr/>
        </p:nvPicPr>
        <p:blipFill>
          <a:blip r:embed="rId4"/>
          <a:stretch>
            <a:fillRect/>
          </a:stretch>
        </p:blipFill>
        <p:spPr>
          <a:xfrm>
            <a:off x="5507990" y="5476240"/>
            <a:ext cx="2895600" cy="457200"/>
          </a:xfrm>
          <a:prstGeom prst="rect">
            <a:avLst/>
          </a:prstGeom>
          <a:noFill/>
          <a:ln w="38100" cap="flat" cmpd="sng">
            <a:solidFill>
              <a:srgbClr val="FF0000"/>
            </a:solidFill>
            <a:prstDash val="solid"/>
            <a:miter/>
            <a:headEnd type="none" w="med" len="med"/>
            <a:tailEnd type="none" w="med" len="med"/>
          </a:ln>
        </p:spPr>
      </p:pic>
      <p:sp>
        <p:nvSpPr>
          <p:cNvPr id="179211" name="Line 11"/>
          <p:cNvSpPr/>
          <p:nvPr/>
        </p:nvSpPr>
        <p:spPr>
          <a:xfrm flipH="1" flipV="1">
            <a:off x="5355590" y="5171440"/>
            <a:ext cx="419100" cy="304800"/>
          </a:xfrm>
          <a:prstGeom prst="line">
            <a:avLst/>
          </a:prstGeom>
          <a:ln w="3175" cap="flat" cmpd="sng">
            <a:solidFill>
              <a:schemeClr val="tx1"/>
            </a:solidFill>
            <a:prstDash val="solid"/>
            <a:headEnd type="none" w="med" len="med"/>
            <a:tailEnd type="triangle" w="med" len="med"/>
          </a:ln>
        </p:spPr>
      </p:sp>
      <p:sp>
        <p:nvSpPr>
          <p:cNvPr id="179212" name="Line 12"/>
          <p:cNvSpPr/>
          <p:nvPr/>
        </p:nvSpPr>
        <p:spPr>
          <a:xfrm flipH="1" flipV="1">
            <a:off x="5965190" y="5171440"/>
            <a:ext cx="838200" cy="304800"/>
          </a:xfrm>
          <a:prstGeom prst="line">
            <a:avLst/>
          </a:prstGeom>
          <a:ln w="3175" cap="flat" cmpd="sng">
            <a:solidFill>
              <a:schemeClr val="tx1"/>
            </a:solidFill>
            <a:prstDash val="solid"/>
            <a:headEnd type="none" w="med" len="med"/>
            <a:tailEnd type="triangle" w="med" len="med"/>
          </a:ln>
        </p:spPr>
      </p:sp>
      <p:sp>
        <p:nvSpPr>
          <p:cNvPr id="3" name="Line 9"/>
          <p:cNvSpPr/>
          <p:nvPr/>
        </p:nvSpPr>
        <p:spPr>
          <a:xfrm flipV="1">
            <a:off x="4288790" y="5260340"/>
            <a:ext cx="304800" cy="304800"/>
          </a:xfrm>
          <a:prstGeom prst="line">
            <a:avLst/>
          </a:prstGeom>
          <a:ln w="3175" cap="flat" cmpd="sng">
            <a:solidFill>
              <a:schemeClr val="tx1"/>
            </a:solidFill>
            <a:prstDash val="solid"/>
            <a:headEnd type="none" w="med" len="med"/>
            <a:tailEnd type="triangle" w="med" len="med"/>
          </a:ln>
        </p:spPr>
      </p:sp>
      <p:sp>
        <p:nvSpPr>
          <p:cNvPr id="14" name="Line 12"/>
          <p:cNvSpPr/>
          <p:nvPr/>
        </p:nvSpPr>
        <p:spPr>
          <a:xfrm flipH="1" flipV="1">
            <a:off x="6635115" y="5171440"/>
            <a:ext cx="1158875" cy="346075"/>
          </a:xfrm>
          <a:prstGeom prst="line">
            <a:avLst/>
          </a:prstGeom>
          <a:ln w="3175" cap="flat" cmpd="sng">
            <a:solidFill>
              <a:schemeClr val="tx1"/>
            </a:solidFill>
            <a:prstDash val="solid"/>
            <a:headEnd type="none" w="med" len="med"/>
            <a:tailEnd type="triangle" w="med" len="med"/>
          </a:ln>
        </p:spPr>
      </p:sp>
      <p:sp>
        <p:nvSpPr>
          <p:cNvPr id="15" name="TextBox 14"/>
          <p:cNvSpPr txBox="1"/>
          <p:nvPr/>
        </p:nvSpPr>
        <p:spPr>
          <a:xfrm>
            <a:off x="2955290" y="6029325"/>
            <a:ext cx="2057400" cy="370205"/>
          </a:xfrm>
          <a:prstGeom prst="rect">
            <a:avLst/>
          </a:prstGeom>
          <a:solidFill>
            <a:srgbClr val="FDF58D"/>
          </a:solid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FF0000"/>
                </a:solidFill>
                <a:latin typeface="Consolas" panose="020B0609020204030204" pitchFamily="49" charset="0"/>
              </a:rPr>
              <a:t>VertexNode</a:t>
            </a:r>
            <a:endParaRPr lang="zh-CN" altLang="en-US" sz="1800" b="1" dirty="0">
              <a:solidFill>
                <a:srgbClr val="FF0000"/>
              </a:solidFill>
              <a:latin typeface="Consolas" panose="020B0609020204030204" pitchFamily="49" charset="0"/>
            </a:endParaRPr>
          </a:p>
        </p:txBody>
      </p:sp>
      <p:sp>
        <p:nvSpPr>
          <p:cNvPr id="16" name="TextBox 15"/>
          <p:cNvSpPr txBox="1"/>
          <p:nvPr/>
        </p:nvSpPr>
        <p:spPr>
          <a:xfrm>
            <a:off x="5997575" y="6029960"/>
            <a:ext cx="2057400" cy="370205"/>
          </a:xfrm>
          <a:prstGeom prst="rect">
            <a:avLst/>
          </a:prstGeom>
          <a:solidFill>
            <a:srgbClr val="FDF58D"/>
          </a:solid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FF0000"/>
                </a:solidFill>
                <a:latin typeface="Consolas" panose="020B0609020204030204" pitchFamily="49" charset="0"/>
              </a:rPr>
              <a:t>EdgeNode</a:t>
            </a:r>
            <a:endParaRPr lang="zh-CN" altLang="en-US" sz="1800" b="1" dirty="0">
              <a:solidFill>
                <a:srgbClr val="FF0000"/>
              </a:solidFill>
              <a:latin typeface="Consolas" panose="020B0609020204030204" pitchFamily="49"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9208"/>
                                        </p:tgtEl>
                                        <p:attrNameLst>
                                          <p:attrName>style.visibility</p:attrName>
                                        </p:attrNameLst>
                                      </p:cBhvr>
                                      <p:to>
                                        <p:strVal val="visible"/>
                                      </p:to>
                                    </p:set>
                                    <p:anim calcmode="lin" valueType="num">
                                      <p:cBhvr additive="base">
                                        <p:cTn id="7" dur="500" fill="hold"/>
                                        <p:tgtEl>
                                          <p:spTgt spid="179208"/>
                                        </p:tgtEl>
                                        <p:attrNameLst>
                                          <p:attrName>ppt_x</p:attrName>
                                        </p:attrNameLst>
                                      </p:cBhvr>
                                      <p:tavLst>
                                        <p:tav tm="0">
                                          <p:val>
                                            <p:strVal val="#ppt_x"/>
                                          </p:val>
                                        </p:tav>
                                        <p:tav tm="100000">
                                          <p:val>
                                            <p:strVal val="#ppt_x"/>
                                          </p:val>
                                        </p:tav>
                                      </p:tavLst>
                                    </p:anim>
                                    <p:anim calcmode="lin" valueType="num">
                                      <p:cBhvr additive="base">
                                        <p:cTn id="8" dur="500" fill="hold"/>
                                        <p:tgtEl>
                                          <p:spTgt spid="17920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79209"/>
                                        </p:tgtEl>
                                        <p:attrNameLst>
                                          <p:attrName>style.visibility</p:attrName>
                                        </p:attrNameLst>
                                      </p:cBhvr>
                                      <p:to>
                                        <p:strVal val="visible"/>
                                      </p:to>
                                    </p:set>
                                    <p:anim calcmode="lin" valueType="num">
                                      <p:cBhvr additive="base">
                                        <p:cTn id="12" dur="500" fill="hold"/>
                                        <p:tgtEl>
                                          <p:spTgt spid="179209"/>
                                        </p:tgtEl>
                                        <p:attrNameLst>
                                          <p:attrName>ppt_x</p:attrName>
                                        </p:attrNameLst>
                                      </p:cBhvr>
                                      <p:tavLst>
                                        <p:tav tm="0">
                                          <p:val>
                                            <p:strVal val="#ppt_x"/>
                                          </p:val>
                                        </p:tav>
                                        <p:tav tm="100000">
                                          <p:val>
                                            <p:strVal val="#ppt_x"/>
                                          </p:val>
                                        </p:tav>
                                      </p:tavLst>
                                    </p:anim>
                                    <p:anim calcmode="lin" valueType="num">
                                      <p:cBhvr additive="base">
                                        <p:cTn id="13" dur="500" fill="hold"/>
                                        <p:tgtEl>
                                          <p:spTgt spid="17920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79210"/>
                                        </p:tgtEl>
                                        <p:attrNameLst>
                                          <p:attrName>style.visibility</p:attrName>
                                        </p:attrNameLst>
                                      </p:cBhvr>
                                      <p:to>
                                        <p:strVal val="visible"/>
                                      </p:to>
                                    </p:set>
                                    <p:anim calcmode="lin" valueType="num">
                                      <p:cBhvr additive="base">
                                        <p:cTn id="17" dur="500" fill="hold"/>
                                        <p:tgtEl>
                                          <p:spTgt spid="179210"/>
                                        </p:tgtEl>
                                        <p:attrNameLst>
                                          <p:attrName>ppt_x</p:attrName>
                                        </p:attrNameLst>
                                      </p:cBhvr>
                                      <p:tavLst>
                                        <p:tav tm="0">
                                          <p:val>
                                            <p:strVal val="#ppt_x"/>
                                          </p:val>
                                        </p:tav>
                                        <p:tav tm="100000">
                                          <p:val>
                                            <p:strVal val="#ppt_x"/>
                                          </p:val>
                                        </p:tav>
                                      </p:tavLst>
                                    </p:anim>
                                    <p:anim calcmode="lin" valueType="num">
                                      <p:cBhvr additive="base">
                                        <p:cTn id="18" dur="500" fill="hold"/>
                                        <p:tgtEl>
                                          <p:spTgt spid="17921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79211"/>
                                        </p:tgtEl>
                                        <p:attrNameLst>
                                          <p:attrName>style.visibility</p:attrName>
                                        </p:attrNameLst>
                                      </p:cBhvr>
                                      <p:to>
                                        <p:strVal val="visible"/>
                                      </p:to>
                                    </p:set>
                                    <p:anim calcmode="lin" valueType="num">
                                      <p:cBhvr additive="base">
                                        <p:cTn id="22" dur="500" fill="hold"/>
                                        <p:tgtEl>
                                          <p:spTgt spid="179211"/>
                                        </p:tgtEl>
                                        <p:attrNameLst>
                                          <p:attrName>ppt_x</p:attrName>
                                        </p:attrNameLst>
                                      </p:cBhvr>
                                      <p:tavLst>
                                        <p:tav tm="0">
                                          <p:val>
                                            <p:strVal val="#ppt_x"/>
                                          </p:val>
                                        </p:tav>
                                        <p:tav tm="100000">
                                          <p:val>
                                            <p:strVal val="#ppt_x"/>
                                          </p:val>
                                        </p:tav>
                                      </p:tavLst>
                                    </p:anim>
                                    <p:anim calcmode="lin" valueType="num">
                                      <p:cBhvr additive="base">
                                        <p:cTn id="23" dur="500" fill="hold"/>
                                        <p:tgtEl>
                                          <p:spTgt spid="17921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79212"/>
                                        </p:tgtEl>
                                        <p:attrNameLst>
                                          <p:attrName>style.visibility</p:attrName>
                                        </p:attrNameLst>
                                      </p:cBhvr>
                                      <p:to>
                                        <p:strVal val="visible"/>
                                      </p:to>
                                    </p:set>
                                    <p:anim calcmode="lin" valueType="num">
                                      <p:cBhvr additive="base">
                                        <p:cTn id="27" dur="500" fill="hold"/>
                                        <p:tgtEl>
                                          <p:spTgt spid="179212"/>
                                        </p:tgtEl>
                                        <p:attrNameLst>
                                          <p:attrName>ppt_x</p:attrName>
                                        </p:attrNameLst>
                                      </p:cBhvr>
                                      <p:tavLst>
                                        <p:tav tm="0">
                                          <p:val>
                                            <p:strVal val="#ppt_x"/>
                                          </p:val>
                                        </p:tav>
                                        <p:tav tm="100000">
                                          <p:val>
                                            <p:strVal val="#ppt_x"/>
                                          </p:val>
                                        </p:tav>
                                      </p:tavLst>
                                    </p:anim>
                                    <p:anim calcmode="lin" valueType="num">
                                      <p:cBhvr additive="base">
                                        <p:cTn id="28" dur="500" fill="hold"/>
                                        <p:tgtEl>
                                          <p:spTgt spid="17921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ppt_x"/>
                                          </p:val>
                                        </p:tav>
                                        <p:tav tm="100000">
                                          <p:val>
                                            <p:strVal val="#ppt_x"/>
                                          </p:val>
                                        </p:tav>
                                      </p:tavLst>
                                    </p:anim>
                                    <p:anim calcmode="lin" valueType="num">
                                      <p:cBhvr additive="base">
                                        <p:cTn id="33" dur="500" fill="hold"/>
                                        <p:tgtEl>
                                          <p:spTgt spid="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42"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par>
                          <p:cTn id="45" fill="hold">
                            <p:stCondLst>
                              <p:cond delay="4500"/>
                            </p:stCondLst>
                            <p:childTnLst>
                              <p:par>
                                <p:cTn id="46" presetID="42"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anim calcmode="lin" valueType="num">
                                      <p:cBhvr>
                                        <p:cTn id="49" dur="1000" fill="hold"/>
                                        <p:tgtEl>
                                          <p:spTgt spid="16"/>
                                        </p:tgtEl>
                                        <p:attrNameLst>
                                          <p:attrName>ppt_x</p:attrName>
                                        </p:attrNameLst>
                                      </p:cBhvr>
                                      <p:tavLst>
                                        <p:tav tm="0">
                                          <p:val>
                                            <p:strVal val="#ppt_x"/>
                                          </p:val>
                                        </p:tav>
                                        <p:tav tm="100000">
                                          <p:val>
                                            <p:strVal val="#ppt_x"/>
                                          </p:val>
                                        </p:tav>
                                      </p:tavLst>
                                    </p:anim>
                                    <p:anim calcmode="lin" valueType="num">
                                      <p:cBhvr>
                                        <p:cTn id="5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959929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邻接表表结点（边</a:t>
            </a:r>
            <a:r>
              <a:rPr lang="en-US" altLang="zh-CN" sz="3600" b="1" dirty="0" smtClean="0">
                <a:solidFill>
                  <a:schemeClr val="bg1"/>
                </a:solidFill>
                <a:latin typeface="微软雅黑" panose="020B0503020204020204" pitchFamily="34" charset="-122"/>
                <a:ea typeface="微软雅黑" panose="020B0503020204020204" pitchFamily="34" charset="-122"/>
              </a:rPr>
              <a:t>/</a:t>
            </a:r>
            <a:r>
              <a:rPr lang="zh-CN" altLang="en-US" sz="3600" b="1" dirty="0" smtClean="0">
                <a:solidFill>
                  <a:schemeClr val="bg1"/>
                </a:solidFill>
                <a:latin typeface="微软雅黑" panose="020B0503020204020204" pitchFamily="34" charset="-122"/>
                <a:ea typeface="微软雅黑" panose="020B0503020204020204" pitchFamily="34" charset="-122"/>
              </a:rPr>
              <a:t>弧结点的存储结构）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3555" name="Rectangle 6"/>
          <p:cNvSpPr/>
          <p:nvPr>
            <p:ph idx="1"/>
          </p:nvPr>
        </p:nvSpPr>
        <p:spPr>
          <a:xfrm>
            <a:off x="1981200" y="1260475"/>
            <a:ext cx="8229600" cy="44958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定义邻接表的表结点</a:t>
            </a:r>
            <a:r>
              <a:rPr lang="zh-CN" altLang="en-US" sz="1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(边/弧结点</a:t>
            </a:r>
            <a:r>
              <a:rPr lang="en-US" altLang="zh-CN" sz="1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EdgeNode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EdgeNode(int=-1, int=0); </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默认参数的构造函数</a:t>
            </a:r>
            <a:endPar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adjVertex;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该边或弧关联的顶点在图中的序号</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weight; //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该边或弧的权值</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*next; //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指向下一条边或弧的指针</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741870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EdgeNode</a:t>
            </a:r>
            <a:r>
              <a:rPr lang="zh-CN" altLang="en-US" sz="3600" b="1" dirty="0" smtClean="0">
                <a:solidFill>
                  <a:schemeClr val="bg1"/>
                </a:solidFill>
                <a:latin typeface="微软雅黑" panose="020B0503020204020204" pitchFamily="34" charset="-122"/>
                <a:ea typeface="微软雅黑" panose="020B0503020204020204" pitchFamily="34" charset="-122"/>
              </a:rPr>
              <a:t>构造函数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4579" name="Rectangle 6"/>
          <p:cNvSpPr/>
          <p:nvPr>
            <p:ph idx="1"/>
          </p:nvPr>
        </p:nvSpPr>
        <p:spPr>
          <a:xfrm>
            <a:off x="1182053" y="1828165"/>
            <a:ext cx="9827895" cy="28194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marL="0" indent="0" eaLnBrk="1" hangingPunct="1">
              <a:lnSpc>
                <a:spcPct val="14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构造这个顶点的邻接表（用参数初始化表对数据成员初始化）</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4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为邻接顶点的序号；参数</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为边的权值，默认权值为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45000"/>
              </a:lnSpc>
              <a:spcBef>
                <a:spcPct val="0"/>
              </a:spcBef>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4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EdgeNode::EdgeNode(int a, int w):adjVertex(a), weight(w), next(NULL){ }</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757745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邻接表头结点的存储结构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5603" name="Rectangle 6"/>
          <p:cNvSpPr/>
          <p:nvPr>
            <p:ph idx="1"/>
          </p:nvPr>
        </p:nvSpPr>
        <p:spPr>
          <a:xfrm>
            <a:off x="1866900" y="1146175"/>
            <a:ext cx="8458200" cy="50038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eaLnBrk="1" hangingPunct="1">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定义邻接表的头结点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VertexNode</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void ClearEdgeList();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删除这个顶点的邻接表</a:t>
            </a:r>
            <a:endParaRPr lang="zh-CN" altLang="en-US"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bool AppendEdge(int, int=0); </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在这个顶点的邻接表中加入一条边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bool RemoveEdge(int);</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在这个顶点的邻接表中删除一条边</a:t>
            </a:r>
            <a:endParaRPr lang="zh-CN" altLang="en-US"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VertexType data;    //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顶点的数据信息</a:t>
            </a:r>
            <a:endParaRPr lang="zh-CN" altLang="en-US"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*edgeList;//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指向第一条依附该顶点的边的指针</a:t>
            </a:r>
            <a:endParaRPr lang="zh-CN" altLang="en-US" sz="1800"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图的邻接表存储结构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6626" name="Rectangle 3"/>
          <p:cNvSpPr>
            <a:spLocks noGrp="1"/>
          </p:cNvSpPr>
          <p:nvPr>
            <p:ph idx="1"/>
          </p:nvPr>
        </p:nvSpPr>
        <p:spPr>
          <a:xfrm>
            <a:off x="1981200" y="1019175"/>
            <a:ext cx="8229600" cy="5257800"/>
          </a:xfrm>
          <a:solidFill>
            <a:schemeClr val="accent1">
              <a:lumMod val="20000"/>
              <a:lumOff val="80000"/>
            </a:schemeClr>
          </a:solidFill>
        </p:spPr>
        <p:txBody>
          <a:bodyPr vert="horz" wrap="square" lIns="91440" tIns="45720" rIns="91440" bIns="45720" anchor="t">
            <a:normAutofit fontScale="90000"/>
          </a:bodyPr>
          <a:p>
            <a:pPr algn="l" fontAlgn="auto">
              <a:lnSpc>
                <a:spcPct val="90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//图的邻接表定义</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//VertexType是顶点的数据类型，如果VertexType不是简单的数据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//类型，在定义VertexType时，必须重载= =运算符，用于判断两个</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//顶点数据是否相等。</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Template&lt;class VertexType &gt;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Class ALGraph</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private: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VertexNode&lt;VertexType&gt; *vertices;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numVertices;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numEdges;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maxVertices;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GraphStyle style;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ClearEdgeList</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7651" name="Rectangle 6"/>
          <p:cNvSpPr/>
          <p:nvPr>
            <p:ph type="body" idx="4294967295"/>
          </p:nvPr>
        </p:nvSpPr>
        <p:spPr>
          <a:xfrm>
            <a:off x="1149350" y="977265"/>
            <a:ext cx="10263505" cy="534162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algn="l" fontAlgn="auto">
              <a:lnSpc>
                <a:spcPct val="90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//删除这个顶点的邻接表。清空这个顶点的邻接表中的各结//点，并把头结点的edgeList值设为空。</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void VertexNode&lt;VertexType&gt;::ClearEdgeList()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EdgeNode *p, *q;</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p=edgeList;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while(p!=NULL)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q=p-&gt;next;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delete p;</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p=q;</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edgeList=NULL;</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AppendEdge</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5603" name="Rectangle 6"/>
          <p:cNvSpPr>
            <a:spLocks noGrp="1" noChangeArrowheads="1"/>
          </p:cNvSpPr>
          <p:nvPr>
            <p:ph type="body" idx="1"/>
          </p:nvPr>
        </p:nvSpPr>
        <p:spPr bwMode="auto">
          <a:xfrm>
            <a:off x="337185" y="858520"/>
            <a:ext cx="11517630" cy="5636895"/>
          </a:xfrm>
          <a:solidFill>
            <a:schemeClr val="accent1">
              <a:lumMod val="20000"/>
              <a:lumOff val="80000"/>
            </a:schemeClr>
          </a:solidFill>
          <a:ln w="3175">
            <a:solidFill>
              <a:schemeClr val="tx2"/>
            </a:solidFill>
            <a:miter lim="800000"/>
          </a:ln>
        </p:spPr>
        <p:txBody>
          <a:bodyPr vert="horz" wrap="square" lIns="91440" tIns="45720" rIns="91440" bIns="45720" numCol="1" anchor="t" anchorCtr="0" compatLnSpc="1">
            <a:noAutofit/>
          </a:bodyPr>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//在这个顶点的邻接表的最后加入一条边，若邻接表中已存在该边，则返回false。参数v为邻接顶点序号，wgh为加入边的权值</a:t>
            </a:r>
            <a:endParaRPr kumimoji="0" lang="en-US" altLang="zh-CN" sz="1600" i="0" u="none" strike="noStrike"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template&lt;class VertexType&gt;</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t>
            </a:r>
            <a:r>
              <a:rPr kumimoji="0" lang="en-US" altLang="zh-CN" sz="1600" i="0"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VertexNode&lt;VertexType&gt;</a:t>
            </a: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::AppendEdge(int v, int wgh)</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EdgeNode *p=edgeList;</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EdgeNode *q=NULL;</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while(p!=NULL){</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if(p-&gt;adjVertex==v)</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q=p;</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p=p-&gt;next;</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//while</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p=new EdgeNode(v, wgh); // 在邻接表的最后加上一条边</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if(q==NULL)</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edgeList=p；</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else</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q-&gt;next=p; </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R="0" lvl="0" algn="l" defTabSz="914400" rtl="0" fontAlgn="auto">
              <a:lnSpc>
                <a:spcPct val="70000"/>
              </a:lnSpc>
              <a:spcBef>
                <a:spcPts val="1000"/>
              </a:spcBef>
              <a:buClrTx/>
              <a:buSzTx/>
              <a:buFontTx/>
              <a:buNone/>
            </a:pPr>
            <a:r>
              <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600" i="0" u="none" strike="noStrike" cap="none" spc="0" normalizeH="0" baseline="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RemoveEdge</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7651" name="Rectangle 6"/>
          <p:cNvSpPr>
            <a:spLocks noGrp="1" noChangeArrowheads="1"/>
          </p:cNvSpPr>
          <p:nvPr>
            <p:ph type="body" idx="1"/>
          </p:nvPr>
        </p:nvSpPr>
        <p:spPr bwMode="auto">
          <a:xfrm>
            <a:off x="1714500" y="1078865"/>
            <a:ext cx="8763000" cy="5174615"/>
          </a:xfrm>
          <a:solidFill>
            <a:schemeClr val="accent1">
              <a:lumMod val="20000"/>
              <a:lumOff val="80000"/>
            </a:schemeClr>
          </a:solidFill>
          <a:ln w="3175">
            <a:solidFill>
              <a:schemeClr val="tx2"/>
            </a:solidFill>
            <a:miter lim="800000"/>
          </a:ln>
        </p:spPr>
        <p:txBody>
          <a:bodyPr vert="horz" wrap="square" lIns="91440" tIns="45720" rIns="91440" bIns="45720" numCol="1" anchor="t" anchorCtr="0" compatLnSpc="1">
            <a:normAutofit lnSpcReduction="10000"/>
          </a:bodyPr>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在这个顶点的邻接表中删除一条边。在邻接表中若发现这条边，则删除该边的表结点。</a:t>
            </a:r>
            <a:r>
              <a:rPr kumimoji="0" lang="en-US" altLang="zh-CN"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参数</a:t>
            </a:r>
            <a:r>
              <a:rPr kumimoji="0" lang="en-US" altLang="zh-CN"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a:t>
            </a:r>
            <a:r>
              <a:rPr kumimoji="0" lang="zh-CN" altLang="en-US"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为要删除边的邻接顶点序号</a:t>
            </a:r>
            <a:endParaRPr kumimoji="0" lang="zh-CN" altLang="en-US" sz="180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template &lt;class </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VertexType</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&gt;</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bool</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1800" i="0" u="sng"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VertexNode</a:t>
            </a:r>
            <a:r>
              <a:rPr kumimoji="0" lang="en-US" altLang="zh-CN" sz="1800" i="0" u="sng"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&lt;</a:t>
            </a:r>
            <a:r>
              <a:rPr kumimoji="0" lang="en-US" altLang="zh-CN" sz="1800" i="0" u="sng"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VertexType</a:t>
            </a:r>
            <a:r>
              <a:rPr kumimoji="0" lang="en-US" altLang="zh-CN" sz="1800" i="0" u="sng"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&gt;</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RemoveEdge</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v)</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EdgeNode</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*p=</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edgeList</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EdgeNode</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*q=NULL; </a:t>
            </a:r>
            <a:r>
              <a:rPr lang="en-US" altLang="zh-CN" sz="1800" kern="0" noProof="0" dirty="0" smtClean="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1800" kern="0" noProof="0" dirty="0" smtClean="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遍历邻接表，如果发现这条边，则删除</a:t>
            </a:r>
            <a:endParaRPr kumimoji="0" lang="zh-CN" altLang="en-US" sz="18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while(p!=NULL){</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if(p-&gt;</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adjVertex</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==v){</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if(p==</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edgeList</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1800" i="0" u="none" strike="noStrike" kern="0" cap="none" spc="0" normalizeH="0" baseline="0" noProof="0" dirty="0" err="1" smtClean="0">
                <a:ln>
                  <a:noFill/>
                </a:ln>
                <a:solidFill>
                  <a:schemeClr val="tx1"/>
                </a:solidFill>
                <a:effectLst/>
                <a:uLnTx/>
                <a:uFillTx/>
                <a:latin typeface="Times New Roman" panose="02020603050405020304" pitchFamily="18" charset="0"/>
                <a:ea typeface="+mn-ea"/>
                <a:cs typeface="Times New Roman" panose="02020603050405020304" pitchFamily="18" charset="0"/>
              </a:rPr>
              <a:t>edgeList</a:t>
            </a: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=p-&gt;next;</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else  q-&gt;next=p-&gt;next;</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delete p;</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return true; }//if</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q=p;</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p=p-&gt;next;    }//while</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return false;</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0" algn="l" defTabSz="914400" rtl="0" fontAlgn="base">
              <a:lnSpc>
                <a:spcPct val="125000"/>
              </a:lnSpc>
              <a:spcBef>
                <a:spcPct val="0"/>
              </a:spcBef>
              <a:spcAft>
                <a:spcPct val="0"/>
              </a:spcAft>
              <a:buClrTx/>
              <a:buSzTx/>
              <a:buFontTx/>
              <a:buNone/>
              <a:defRPr/>
            </a:pPr>
            <a:r>
              <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1800"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69226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图的邻接表类（存储结构</a:t>
            </a:r>
            <a:r>
              <a:rPr lang="en-US" altLang="zh-CN" sz="3600" b="1" dirty="0" smtClean="0">
                <a:solidFill>
                  <a:schemeClr val="bg1"/>
                </a:solidFill>
                <a:latin typeface="微软雅黑" panose="020B0503020204020204" pitchFamily="34" charset="-122"/>
                <a:ea typeface="微软雅黑" panose="020B0503020204020204" pitchFamily="34" charset="-122"/>
              </a:rPr>
              <a:t>)</a:t>
            </a:r>
            <a:endParaRPr lang="en-US" altLang="zh-CN"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0723" name="Rectangle 6"/>
          <p:cNvSpPr/>
          <p:nvPr>
            <p:ph type="body" idx="4294967295"/>
          </p:nvPr>
        </p:nvSpPr>
        <p:spPr>
          <a:xfrm>
            <a:off x="1981200" y="1057275"/>
            <a:ext cx="8533130" cy="51816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20000"/>
          </a:bodyPr>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VertexType是顶点的数据类型，如果VertexType不是简单的// 数据类型，在定义VertexType时，必须重载==运算符，用于// 判断两个顶点数据是否相等</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spcBef>
                <a:spcPct val="0"/>
              </a:spcBef>
              <a:buNone/>
            </a:pP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fontAlgn="auto">
              <a:lnSpc>
                <a:spcPct val="125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algn="l" fontAlgn="auto">
              <a:lnSpc>
                <a:spcPct val="125000"/>
              </a:lnSpc>
              <a:spcBef>
                <a:spcPts val="1000"/>
              </a:spcBef>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class ALGraph</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algn="l" fontAlgn="auto">
              <a:lnSpc>
                <a:spcPct val="125000"/>
              </a:lnSpc>
              <a:spcBef>
                <a:spcPts val="1000"/>
              </a:spcBef>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algn="l" fontAlgn="auto">
              <a:lnSpc>
                <a:spcPct val="125000"/>
              </a:lnSpc>
              <a:spcBef>
                <a:spcPts val="1000"/>
              </a:spcBef>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public:</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algn="l" fontAlgn="auto">
              <a:lnSpc>
                <a:spcPct val="125000"/>
              </a:lnSpc>
              <a:spcBef>
                <a:spcPts val="1000"/>
              </a:spcBef>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enum GraphStyle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图的类型</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DG,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有向图</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DN,</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有向网</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UDG,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无向图</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UDN</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无向网</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25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spcBef>
                <a:spcPct val="0"/>
              </a:spcBef>
              <a:buNone/>
            </a:pPr>
            <a:endParaRPr lang="en-US" altLang="zh-CN" sz="20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图的邻接表类</a:t>
            </a:r>
            <a:r>
              <a:rPr lang="en-US" altLang="zh-CN" sz="3600" b="1" dirty="0" smtClean="0">
                <a:solidFill>
                  <a:schemeClr val="bg1"/>
                </a:solidFill>
                <a:latin typeface="微软雅黑" panose="020B0503020204020204" pitchFamily="34" charset="-122"/>
                <a:ea typeface="微软雅黑" panose="020B0503020204020204" pitchFamily="34" charset="-122"/>
              </a:rPr>
              <a:t>(</a:t>
            </a:r>
            <a:r>
              <a:rPr lang="zh-CN" altLang="en-US" sz="3600" b="1" dirty="0" smtClean="0">
                <a:solidFill>
                  <a:schemeClr val="bg1"/>
                </a:solidFill>
                <a:latin typeface="微软雅黑" panose="020B0503020204020204" pitchFamily="34" charset="-122"/>
                <a:ea typeface="微软雅黑" panose="020B0503020204020204" pitchFamily="34" charset="-122"/>
              </a:rPr>
              <a:t>续 </a:t>
            </a:r>
            <a:r>
              <a:rPr lang="en-US" altLang="zh-CN" sz="3600" b="1" dirty="0" smtClean="0">
                <a:solidFill>
                  <a:schemeClr val="bg1"/>
                </a:solidFill>
                <a:latin typeface="微软雅黑" panose="020B0503020204020204" pitchFamily="34" charset="-122"/>
                <a:ea typeface="微软雅黑" panose="020B0503020204020204" pitchFamily="34" charset="-122"/>
              </a:rPr>
              <a:t>1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1747" name="Rectangle 6"/>
          <p:cNvSpPr/>
          <p:nvPr>
            <p:ph type="body" idx="4294967295"/>
          </p:nvPr>
        </p:nvSpPr>
        <p:spPr>
          <a:xfrm>
            <a:off x="1714500" y="1155700"/>
            <a:ext cx="8763000" cy="51054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ALGraph(int = 0, GraphStyle = UDG);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构造函数，默认图的类型为无向图</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~ALGraph();</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LocateVertex(const VertexType&amp;);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根据顶点的数据，找到顶点在顶点表中的序号</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inline int GetNumVertices();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取得图中的顶点数目</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GetVertex(int, VertexType&amp;);</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根据序号，取得顶点的数据</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SetVertex(int, const VertexType&amp;);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根据序号，设置顶点的数据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InsertVertex(const VertexType&amp;);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插入一个顶点</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DeleteVertex(const VertexType&amp;);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删除一个顶点</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Insertedge(const VertexType&amp;, const VertexType&amp;, int = 0);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插入一条边</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Deleteedge(const VertexType&amp;, const VertexType&amp;);   </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10000"/>
              </a:lnSpc>
              <a:spcBef>
                <a:spcPct val="0"/>
              </a:spcBef>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删除一条边</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77057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图的邻接表类（续 </a:t>
            </a:r>
            <a:r>
              <a:rPr lang="en-US" altLang="zh-CN" sz="3600" b="1" dirty="0" smtClean="0">
                <a:solidFill>
                  <a:schemeClr val="bg1"/>
                </a:solidFill>
                <a:latin typeface="微软雅黑" panose="020B0503020204020204" pitchFamily="34" charset="-122"/>
                <a:ea typeface="微软雅黑" panose="020B0503020204020204" pitchFamily="34" charset="-122"/>
              </a:rPr>
              <a:t>2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2771" name="Rectangle 6"/>
          <p:cNvSpPr/>
          <p:nvPr>
            <p:ph type="body" idx="4294967295"/>
          </p:nvPr>
        </p:nvSpPr>
        <p:spPr>
          <a:xfrm>
            <a:off x="1981200" y="1460500"/>
            <a:ext cx="8229600" cy="44958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20000"/>
          </a:bodyPr>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GetFirstAdjVex(int);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根据序号，取得顶点的第一个邻接顶点的序号</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GetNextAdjVex(int v, int w);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根据序号，取得v(相对于w)的下一个邻接顶点序号</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bool Getedge(int, int,edgeNode*&amp;);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根据顶点序号，取得两顶点之间的边</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inline int GetNumedges();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取得图中的边数</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DFSTraverse(void (*Visit)(const VertexType&amp;));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深度优先遍历图</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BFSTraverse(void (*Visit)(const VertexType&amp;));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广度优先遍历图</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854202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图的邻接表类（续 </a:t>
            </a:r>
            <a:r>
              <a:rPr lang="en-US" altLang="zh-CN" sz="3600" b="1" dirty="0" smtClean="0">
                <a:solidFill>
                  <a:schemeClr val="bg1"/>
                </a:solidFill>
                <a:latin typeface="微软雅黑" panose="020B0503020204020204" pitchFamily="34" charset="-122"/>
                <a:ea typeface="微软雅黑" panose="020B0503020204020204" pitchFamily="34" charset="-122"/>
              </a:rPr>
              <a:t>3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3795" name="Rectangle 6"/>
          <p:cNvSpPr>
            <a:spLocks noGrp="1"/>
          </p:cNvSpPr>
          <p:nvPr>
            <p:ph type="body" idx="4294967295"/>
          </p:nvPr>
        </p:nvSpPr>
        <p:spPr>
          <a:xfrm>
            <a:off x="1981200" y="1514475"/>
            <a:ext cx="8229600" cy="42672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private:</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DFS(void (*Visit)(const VertexType&amp;), int);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从一个顶点出发深度优先遍历图</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VertexNode&lt;VertexType&gt; *vertices;</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顶点表</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numVertices;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顶点个数</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numedges;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边数</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maxVertices;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最多可存放的顶点个数</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GraphStyle style;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图的类型</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bool *visited; </a:t>
            </a:r>
            <a:r>
              <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 在遍历时存放是否访问过的标志</a:t>
            </a:r>
            <a:endParaRPr lang="en-US" altLang="zh-CN"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algn="l">
              <a:lnSpc>
                <a:spcPct val="110000"/>
              </a:lnSpc>
              <a:buClrTx/>
              <a:buSzTx/>
              <a:buNone/>
            </a:pPr>
            <a:r>
              <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有向网的邻接表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4820" name="Text Box 60"/>
          <p:cNvSpPr txBox="1"/>
          <p:nvPr/>
        </p:nvSpPr>
        <p:spPr>
          <a:xfrm>
            <a:off x="812165" y="1222375"/>
            <a:ext cx="4414520" cy="83121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例如：右图有向网N1的邻接表如下图所示</a:t>
            </a:r>
            <a:r>
              <a:rPr lang="zh-CN" altLang="en-US"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kern="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4823" name="Picture 6"/>
          <p:cNvPicPr>
            <a:picLocks noChangeAspect="1"/>
          </p:cNvPicPr>
          <p:nvPr/>
        </p:nvPicPr>
        <p:blipFill>
          <a:blip r:embed="rId1"/>
          <a:stretch>
            <a:fillRect/>
          </a:stretch>
        </p:blipFill>
        <p:spPr>
          <a:xfrm>
            <a:off x="8047355" y="1222375"/>
            <a:ext cx="2620645" cy="1564005"/>
          </a:xfrm>
          <a:prstGeom prst="rect">
            <a:avLst/>
          </a:prstGeom>
          <a:noFill/>
          <a:ln w="3175">
            <a:noFill/>
          </a:ln>
        </p:spPr>
      </p:pic>
      <p:pic>
        <p:nvPicPr>
          <p:cNvPr id="34821" name="Picture 3"/>
          <p:cNvPicPr>
            <a:picLocks noChangeAspect="1"/>
          </p:cNvPicPr>
          <p:nvPr/>
        </p:nvPicPr>
        <p:blipFill>
          <a:blip r:embed="rId2"/>
          <a:stretch>
            <a:fillRect/>
          </a:stretch>
        </p:blipFill>
        <p:spPr>
          <a:xfrm>
            <a:off x="1758950" y="3321050"/>
            <a:ext cx="9067800" cy="2581275"/>
          </a:xfrm>
          <a:prstGeom prst="rect">
            <a:avLst/>
          </a:prstGeom>
          <a:noFill/>
          <a:ln w="3175">
            <a:noFill/>
          </a:ln>
        </p:spPr>
      </p:pic>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4673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邻接表表示法的优缺点</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5843" name="Rectangle 3"/>
          <p:cNvSpPr>
            <a:spLocks noGrp="1"/>
          </p:cNvSpPr>
          <p:nvPr>
            <p:ph idx="1"/>
          </p:nvPr>
        </p:nvSpPr>
        <p:spPr>
          <a:xfrm>
            <a:off x="838200" y="1253490"/>
            <a:ext cx="10515600" cy="4351655"/>
          </a:xfrm>
        </p:spPr>
        <p:txBody>
          <a:bodyPr vert="horz" wrap="square" lIns="91440" tIns="45720" rIns="91440" bIns="45720" anchor="t">
            <a:normAutofit/>
          </a:bodyPr>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若无向图（或网）中有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条边，则它的邻接表需</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个头结点和</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个表结点。显然，针对稀疏图而言，用邻接表表示法比邻接矩阵表示法节省存储空间。邻接表中顶点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的度恰为第</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个链表中的结点数。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若有向图（或网）中有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条弧，则它的邻接表需</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个头结点和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个表结点。顶点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的出度为第</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个链表中的结点数，但要计算这个顶点的入度则需遍历所有邻接表。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有时为了便于求一个顶点的入度，或者如果需要反复访问一个顶点的直接前驱（即关联该顶点的弧的弧尾），可以建立一个有向图（或网）的</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逆邻接表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对每个顶点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vi</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建立一个链接，用以链接以顶点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vi</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为头的弧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有向网的逆</a:t>
            </a:r>
            <a:r>
              <a:rPr lang="zh-CN" altLang="en-US" sz="3600" b="1" dirty="0" smtClean="0">
                <a:solidFill>
                  <a:schemeClr val="bg1"/>
                </a:solidFill>
                <a:latin typeface="微软雅黑" panose="020B0503020204020204" pitchFamily="34" charset="-122"/>
                <a:ea typeface="微软雅黑" panose="020B0503020204020204" pitchFamily="34" charset="-122"/>
              </a:rPr>
              <a:t>邻接表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6868" name="Text Box 60"/>
          <p:cNvSpPr txBox="1"/>
          <p:nvPr/>
        </p:nvSpPr>
        <p:spPr>
          <a:xfrm>
            <a:off x="1088390" y="1280160"/>
            <a:ext cx="7164070" cy="55435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例如：右图有向网</a:t>
            </a:r>
            <a:r>
              <a:rPr lang="en-US" altLang="zh-CN"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i="1"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的逆邻接表如下图所示。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6870" name="Picture 6"/>
          <p:cNvPicPr>
            <a:picLocks noChangeAspect="1"/>
          </p:cNvPicPr>
          <p:nvPr/>
        </p:nvPicPr>
        <p:blipFill>
          <a:blip r:embed="rId1"/>
          <a:stretch>
            <a:fillRect/>
          </a:stretch>
        </p:blipFill>
        <p:spPr>
          <a:xfrm>
            <a:off x="8206105" y="1695450"/>
            <a:ext cx="2620645" cy="1564005"/>
          </a:xfrm>
          <a:prstGeom prst="rect">
            <a:avLst/>
          </a:prstGeom>
          <a:noFill/>
          <a:ln w="3175">
            <a:noFill/>
          </a:ln>
        </p:spPr>
      </p:pic>
      <p:pic>
        <p:nvPicPr>
          <p:cNvPr id="36871" name="Picture 2"/>
          <p:cNvPicPr>
            <a:picLocks noChangeAspect="1"/>
          </p:cNvPicPr>
          <p:nvPr/>
        </p:nvPicPr>
        <p:blipFill>
          <a:blip r:embed="rId2"/>
          <a:stretch>
            <a:fillRect/>
          </a:stretch>
        </p:blipFill>
        <p:spPr>
          <a:xfrm>
            <a:off x="2238375" y="3373755"/>
            <a:ext cx="7715250" cy="2533650"/>
          </a:xfrm>
          <a:prstGeom prst="rect">
            <a:avLst/>
          </a:prstGeom>
          <a:noFill/>
          <a:ln w="3175">
            <a:noFill/>
          </a:ln>
        </p:spPr>
      </p:pic>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 邻接表表示法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05333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5.2.3 </a:t>
            </a:r>
            <a:r>
              <a:rPr lang="zh-CN" altLang="en-US" sz="3600" b="1" dirty="0" smtClean="0">
                <a:solidFill>
                  <a:schemeClr val="bg1"/>
                </a:solidFill>
                <a:latin typeface="微软雅黑" panose="020B0503020204020204" pitchFamily="34" charset="-122"/>
                <a:ea typeface="微软雅黑" panose="020B0503020204020204" pitchFamily="34" charset="-122"/>
              </a:rPr>
              <a:t>十字链表表示法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551305" y="6473825"/>
            <a:ext cx="2266950" cy="368300"/>
          </a:xfrm>
          <a:prstGeom prst="rect">
            <a:avLst/>
          </a:prstGeom>
          <a:noFill/>
        </p:spPr>
        <p:txBody>
          <a:bodyPr wrap="square" rtlCol="0">
            <a:spAutoFit/>
          </a:bodyPr>
          <a:lstStyle/>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89700"/>
            <a:ext cx="2299970"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7891" name="Rectangle 3"/>
          <p:cNvSpPr>
            <a:spLocks noGrp="1"/>
          </p:cNvSpPr>
          <p:nvPr>
            <p:ph idx="1"/>
          </p:nvPr>
        </p:nvSpPr>
        <p:spPr>
          <a:xfrm>
            <a:off x="838200" y="1253490"/>
            <a:ext cx="10515600" cy="4351655"/>
          </a:xfrm>
        </p:spPr>
        <p:txBody>
          <a:bodyPr vert="horz" wrap="square" lIns="91440" tIns="45720" rIns="91440" bIns="45720" anchor="t">
            <a:normAutofit/>
          </a:bodyPr>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十字链表表示法是</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有向图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的另一种链式存储结构，可以看成将有向图的邻接表和逆邻接表相结合所得到的一种链表。</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在十字链表中，对应于有向图中每一条弧有一个结点。其中，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tailVertex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headVertex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分别表示该弧的弧尾和弧头各自在图中的位置；</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weight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表示该弧的权值；</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tailNext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指向下一条与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tailVertex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（弧尾）相关联的弧，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headNext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指向下一条与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headVertex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（弧头）相关联的弧。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类似地，对应于图中的每个顶点也设一个头结点。其中，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表示顶点的数据，</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firstIn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指针指向以该顶点为弧头的第一个弧结点，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firstOut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指针指向以该顶点为弧尾的第一个弧结点。</a:t>
            </a:r>
            <a:r>
              <a:rPr lang="zh-CN" altLang="en-US" dirty="0"/>
              <a:t> </a:t>
            </a:r>
            <a:endParaRPr lang="zh-CN" altLang="en-US" dirty="0"/>
          </a:p>
        </p:txBody>
      </p:sp>
      <p:pic>
        <p:nvPicPr>
          <p:cNvPr id="37892" name="Picture 10"/>
          <p:cNvPicPr>
            <a:picLocks noChangeAspect="1"/>
          </p:cNvPicPr>
          <p:nvPr/>
        </p:nvPicPr>
        <p:blipFill>
          <a:blip r:embed="rId1"/>
          <a:stretch>
            <a:fillRect/>
          </a:stretch>
        </p:blipFill>
        <p:spPr>
          <a:xfrm>
            <a:off x="2967355" y="3566160"/>
            <a:ext cx="6257925" cy="514350"/>
          </a:xfrm>
          <a:prstGeom prst="rect">
            <a:avLst/>
          </a:prstGeom>
          <a:noFill/>
          <a:ln w="3175">
            <a:noFill/>
          </a:ln>
        </p:spPr>
      </p:pic>
      <p:pic>
        <p:nvPicPr>
          <p:cNvPr id="37893" name="Picture 11"/>
          <p:cNvPicPr>
            <a:picLocks noChangeAspect="1"/>
          </p:cNvPicPr>
          <p:nvPr/>
        </p:nvPicPr>
        <p:blipFill>
          <a:blip r:embed="rId2"/>
          <a:stretch>
            <a:fillRect/>
          </a:stretch>
        </p:blipFill>
        <p:spPr>
          <a:xfrm>
            <a:off x="4200525" y="5521960"/>
            <a:ext cx="3790950" cy="619125"/>
          </a:xfrm>
          <a:prstGeom prst="rect">
            <a:avLst/>
          </a:prstGeom>
          <a:noFill/>
          <a:ln w="3175">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56209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十字链表弧结点的存储结构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915" name="Rectangle 6"/>
          <p:cNvSpPr/>
          <p:nvPr>
            <p:ph idx="1"/>
          </p:nvPr>
        </p:nvSpPr>
        <p:spPr>
          <a:xfrm>
            <a:off x="1981200" y="1718310"/>
            <a:ext cx="8229600" cy="381952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fontAlgn="auto">
              <a:lnSpc>
                <a:spcPct val="125000"/>
              </a:lnSpc>
              <a:spcBef>
                <a:spcPct val="0"/>
              </a:spcBef>
              <a:spcAft>
                <a:spcPct val="30000"/>
              </a:spcAft>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定义十字链表的弧结点结构</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ClrTx/>
              <a:buSzTx/>
              <a:buNone/>
            </a:pPr>
            <a:r>
              <a:rPr lang="en-US" altLang="zh-CN" sz="1800" dirty="0">
                <a:solidFill>
                  <a:schemeClr val="tx1"/>
                </a:solidFill>
                <a:latin typeface="Times New Roman" panose="02020603050405020304" pitchFamily="18" charset="0"/>
                <a:cs typeface="Times New Roman" panose="02020603050405020304" pitchFamily="18" charset="0"/>
              </a:rPr>
              <a:t>class EdgeNode</a:t>
            </a:r>
            <a:endParaRPr lang="en-US" altLang="zh-CN" sz="1800" dirty="0">
              <a:solidFill>
                <a:schemeClr val="tx1"/>
              </a:solidFill>
              <a:latin typeface="Times New Roman" panose="02020603050405020304" pitchFamily="18" charset="0"/>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cs typeface="Times New Roman" panose="02020603050405020304" pitchFamily="18" charset="0"/>
              </a:rPr>
              <a:t>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cs typeface="Times New Roman" panose="02020603050405020304" pitchFamily="18" charset="0"/>
              </a:rPr>
              <a:t>    int tailVertex, headVertex;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该弧中的弧尾和弧头各自在图中的序号</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weight;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该弧的权值</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*tailNext,*headNext;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35115" y="6489700"/>
            <a:ext cx="229997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68845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十字链表头结点的存储结构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9939" name="Rectangle 6"/>
          <p:cNvSpPr/>
          <p:nvPr>
            <p:ph idx="1"/>
          </p:nvPr>
        </p:nvSpPr>
        <p:spPr>
          <a:xfrm>
            <a:off x="1981200" y="1572260"/>
            <a:ext cx="8229600" cy="404368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fontAlgn="auto">
              <a:lnSpc>
                <a:spcPct val="125000"/>
              </a:lnSpc>
              <a:spcBef>
                <a:spcPct val="5000"/>
              </a:spcBef>
              <a:spcAft>
                <a:spcPct val="20000"/>
              </a:spcAft>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定义头结点结构</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VertexNode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VertexType data;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顶点的数据</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*firstIn, *firstOut;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firstIn表示以该顶点为弧头的第一个弧结点，</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firstOut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表示以该顶点为弧尾的第一个弧结点</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35115" y="6489700"/>
            <a:ext cx="2299970"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81596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图的十字链表的存储结构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0963" name="Rectangle 6"/>
          <p:cNvSpPr/>
          <p:nvPr>
            <p:ph idx="1"/>
          </p:nvPr>
        </p:nvSpPr>
        <p:spPr>
          <a:xfrm>
            <a:off x="1981200" y="1605915"/>
            <a:ext cx="8229600" cy="397700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图的十字链表定义</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ALGraph</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private: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VertexNode &lt;VertexType&gt; *vertices;</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顶点表</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numVertices;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顶点个数</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numEdges;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弧数</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maxVertices;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最多可存放的顶点个数</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35115" y="6489700"/>
            <a:ext cx="2299970"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2806" y="106251"/>
            <a:ext cx="438132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十字链表图例</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1988" name="Text Box 60"/>
          <p:cNvSpPr txBox="1"/>
          <p:nvPr/>
        </p:nvSpPr>
        <p:spPr>
          <a:xfrm>
            <a:off x="812165" y="1433830"/>
            <a:ext cx="6546850" cy="55435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例如：右图有向图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的十字链表如下图所示。</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1989" name="Picture 2"/>
          <p:cNvPicPr>
            <a:picLocks noChangeAspect="1"/>
          </p:cNvPicPr>
          <p:nvPr/>
        </p:nvPicPr>
        <p:blipFill>
          <a:blip r:embed="rId1"/>
          <a:stretch>
            <a:fillRect/>
          </a:stretch>
        </p:blipFill>
        <p:spPr>
          <a:xfrm>
            <a:off x="7919720" y="1304925"/>
            <a:ext cx="2667000" cy="1535430"/>
          </a:xfrm>
          <a:prstGeom prst="rect">
            <a:avLst/>
          </a:prstGeom>
          <a:noFill/>
          <a:ln w="3175">
            <a:noFill/>
          </a:ln>
        </p:spPr>
      </p:pic>
      <p:pic>
        <p:nvPicPr>
          <p:cNvPr id="41990" name="Picture 3"/>
          <p:cNvPicPr>
            <a:picLocks noChangeAspect="1"/>
          </p:cNvPicPr>
          <p:nvPr/>
        </p:nvPicPr>
        <p:blipFill>
          <a:blip r:embed="rId2"/>
          <a:stretch>
            <a:fillRect/>
          </a:stretch>
        </p:blipFill>
        <p:spPr>
          <a:xfrm>
            <a:off x="1543050" y="2840355"/>
            <a:ext cx="9105900" cy="3429000"/>
          </a:xfrm>
          <a:prstGeom prst="rect">
            <a:avLst/>
          </a:prstGeom>
          <a:noFill/>
          <a:ln w="3175">
            <a:noFill/>
          </a:ln>
        </p:spPr>
      </p:pic>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35115" y="6489700"/>
            <a:ext cx="2299970"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32574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十字链表表示法的优缺点</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邻接多重表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3011" name="Rectangle 3"/>
          <p:cNvSpPr>
            <a:spLocks noGrp="1"/>
          </p:cNvSpPr>
          <p:nvPr>
            <p:ph idx="1"/>
          </p:nvPr>
        </p:nvSpPr>
        <p:spPr>
          <a:xfrm>
            <a:off x="838200" y="1471930"/>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在十字链表中既容易找到以顶点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i="1"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为尾的的弧，也容易找到以顶点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i="1" baseline="-25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为头的弧，因此可容易求出每个顶点的出度和入度。</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建立十字链表的时间复杂度和建立邻接表是相同的，都是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O(n+e)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551305" y="6473825"/>
            <a:ext cx="2266950" cy="368300"/>
          </a:xfrm>
          <a:prstGeom prst="rect">
            <a:avLst/>
          </a:prstGeom>
          <a:noFill/>
        </p:spPr>
        <p:txBody>
          <a:bodyPr wrap="square" rtlCol="0">
            <a:spAutoFit/>
          </a:bodyPr>
          <a:lstStyle/>
          <a:p>
            <a:pPr algn="ctr">
              <a:buClrTx/>
              <a:buSzTx/>
              <a:buFontTx/>
            </a:pP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35115" y="6489700"/>
            <a:ext cx="2299970" cy="368300"/>
          </a:xfrm>
          <a:prstGeom prst="rect">
            <a:avLst/>
          </a:prstGeom>
          <a:noFill/>
        </p:spPr>
        <p:txBody>
          <a:bodyPr wrap="square" rtlCol="0">
            <a:spAutoFit/>
          </a:bodyPr>
          <a:lstStyle/>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III. 十字链表表示法</a:t>
            </a:r>
            <a:endPar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32574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5.2.4 </a:t>
            </a:r>
            <a:r>
              <a:rPr lang="zh-CN" altLang="en-US" sz="3600" b="1" dirty="0" smtClean="0">
                <a:solidFill>
                  <a:schemeClr val="bg1"/>
                </a:solidFill>
                <a:latin typeface="微软雅黑" panose="020B0503020204020204" pitchFamily="34" charset="-122"/>
                <a:ea typeface="微软雅黑" panose="020B0503020204020204" pitchFamily="34" charset="-122"/>
              </a:rPr>
              <a:t>邻接多重表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1" name="文本框 20"/>
          <p:cNvSpPr txBox="1"/>
          <p:nvPr/>
        </p:nvSpPr>
        <p:spPr>
          <a:xfrm>
            <a:off x="1732915" y="6489700"/>
            <a:ext cx="2266950"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0567" y="6473951"/>
            <a:ext cx="1765650" cy="368300"/>
          </a:xfrm>
          <a:prstGeom prst="rect">
            <a:avLst/>
          </a:prstGeom>
          <a:noFill/>
        </p:spPr>
        <p:txBody>
          <a:bodyPr wrap="square" rtlCol="0">
            <a:spAutoFit/>
          </a:bodyPr>
          <a:lstStyle/>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3011" name="Rectangle 3"/>
          <p:cNvSpPr>
            <a:spLocks noGrp="1"/>
          </p:cNvSpPr>
          <p:nvPr>
            <p:ph idx="1"/>
          </p:nvPr>
        </p:nvSpPr>
        <p:spPr>
          <a:xfrm>
            <a:off x="838200" y="1253490"/>
            <a:ext cx="10515600" cy="4351655"/>
          </a:xfrm>
        </p:spPr>
        <p:txBody>
          <a:bodyPr vert="horz" wrap="square" lIns="91440" tIns="45720" rIns="91440" bIns="45720" anchor="t"/>
          <a:p>
            <a:pPr indent="230505"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zh-CN" altLang="en-US" sz="2000"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sym typeface="+mn-ea"/>
              </a:rPr>
              <a:t>无向图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的邻接表存储结构中，边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mn-ea"/>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mn-ea"/>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j</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既会出现在</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vi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的链表中，也会出现在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mn-ea"/>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mn-ea"/>
              </a:rPr>
              <a:t>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的链表中，因此一条边对应两个结点。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230505"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这一点给图的某些操作带来不便，例如在执行某个操作时，需要对搜索过的边做记号，这时就要找到表示同一条边的两个结点，无形中延长了执行时间。</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230505"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于是，人们又提出了无向图的邻接多重表表示方法。其主要思想是将邻接表中表示一条边的两个结点合并成一个结点。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indent="230505" fontAlgn="auto">
              <a:lnSpc>
                <a:spcPct val="125000"/>
              </a:lnSpc>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532574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5.2.4 </a:t>
            </a:r>
            <a:r>
              <a:rPr lang="zh-CN" altLang="en-US" sz="3600" b="1" dirty="0" smtClean="0">
                <a:solidFill>
                  <a:schemeClr val="bg1"/>
                </a:solidFill>
                <a:latin typeface="微软雅黑" panose="020B0503020204020204" pitchFamily="34" charset="-122"/>
                <a:ea typeface="微软雅黑" panose="020B0503020204020204" pitchFamily="34" charset="-122"/>
              </a:rPr>
              <a:t>邻接多重表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5059" name="Rectangle 3"/>
          <p:cNvSpPr>
            <a:spLocks noGrp="1"/>
          </p:cNvSpPr>
          <p:nvPr>
            <p:ph type="body" idx="4294967295"/>
          </p:nvPr>
        </p:nvSpPr>
        <p:spPr>
          <a:xfrm>
            <a:off x="896303" y="1073150"/>
            <a:ext cx="10399395" cy="4876800"/>
          </a:xfrm>
        </p:spPr>
        <p:txBody>
          <a:bodyPr vert="horz" wrap="square" lIns="91440" tIns="45720" rIns="91440" bIns="45720" anchor="t">
            <a:normAutofit/>
          </a:bodyPr>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邻接多重表表示法是</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无向图</a:t>
            </a:r>
            <a:r>
              <a:rPr lang="en-US" altLang="zh-CN"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的另一种链式存储结构。如果每条边只用一个表结点表示，且同时位于这条边所关联的两个顶点的链表中，这样的存储结构称为邻接多重表。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每条边的结点结构中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adjVertex1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adjVertex2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表示该边的两个邻接顶点各自在图中的位置；</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weight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表示该边的权值；</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next1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指向下一条与顶点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adjVertex1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相关联的边；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next2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指向下一条与顶点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adjVertex2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相关联的边；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visited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表示在遍历时是否访问过的标志。</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每个顶点也用一个结点表示，在头结点中，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表示顶点的数据信息，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edgeList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表示指向第一条依附于该结点的边的指针。</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5060" name="Picture 11"/>
          <p:cNvPicPr>
            <a:picLocks noChangeAspect="1"/>
          </p:cNvPicPr>
          <p:nvPr/>
        </p:nvPicPr>
        <p:blipFill>
          <a:blip r:embed="rId1"/>
          <a:stretch>
            <a:fillRect/>
          </a:stretch>
        </p:blipFill>
        <p:spPr>
          <a:xfrm>
            <a:off x="2098675" y="3424555"/>
            <a:ext cx="7994015" cy="596265"/>
          </a:xfrm>
          <a:prstGeom prst="rect">
            <a:avLst/>
          </a:prstGeom>
          <a:noFill/>
          <a:ln w="3175">
            <a:noFill/>
          </a:ln>
        </p:spPr>
      </p:pic>
      <p:pic>
        <p:nvPicPr>
          <p:cNvPr id="45061" name="Picture 12"/>
          <p:cNvPicPr>
            <a:picLocks noChangeAspect="1"/>
          </p:cNvPicPr>
          <p:nvPr/>
        </p:nvPicPr>
        <p:blipFill>
          <a:blip r:embed="rId2"/>
          <a:stretch>
            <a:fillRect/>
          </a:stretch>
        </p:blipFill>
        <p:spPr>
          <a:xfrm>
            <a:off x="4671695" y="5340350"/>
            <a:ext cx="2847975" cy="609600"/>
          </a:xfrm>
          <a:prstGeom prst="rect">
            <a:avLst/>
          </a:prstGeom>
          <a:noFill/>
          <a:ln w="3175">
            <a:noFill/>
          </a:ln>
        </p:spPr>
      </p:pic>
      <p:sp>
        <p:nvSpPr>
          <p:cNvPr id="3" name="文本框 2"/>
          <p:cNvSpPr txBox="1"/>
          <p:nvPr/>
        </p:nvSpPr>
        <p:spPr>
          <a:xfrm>
            <a:off x="1732915" y="6489700"/>
            <a:ext cx="2266950" cy="368300"/>
          </a:xfrm>
          <a:prstGeom prst="rect">
            <a:avLst/>
          </a:prstGeom>
          <a:noFill/>
        </p:spPr>
        <p:txBody>
          <a:bodyPr wrap="square" rtlCol="0">
            <a:spAutoFit/>
          </a:bodyPr>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635115" y="6473825"/>
            <a:ext cx="229997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60567" y="6473951"/>
            <a:ext cx="1765650" cy="368300"/>
          </a:xfrm>
          <a:prstGeom prst="rect">
            <a:avLst/>
          </a:prstGeom>
          <a:noFill/>
        </p:spPr>
        <p:txBody>
          <a:bodyPr wrap="square" rtlCol="0">
            <a:spAutoFit/>
          </a:bodyPr>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854265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邻接多重表表结点的存储结构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083" name="Rectangle 6"/>
          <p:cNvSpPr/>
          <p:nvPr>
            <p:ph idx="1"/>
          </p:nvPr>
        </p:nvSpPr>
        <p:spPr>
          <a:xfrm>
            <a:off x="1905000" y="1463040"/>
            <a:ext cx="8382000" cy="426275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定义邻接多重表的表结点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EdgeNode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EdgeNode(int=-1, int=-1, int=0, int=0);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构造函数</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adjVertex1, adjVertex2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zh-CN" altLang="en-US"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该边关联的邻接顶点在图中的序号</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weight;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该边的权值</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*next1,*next2;</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bool  visited;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在遍历时存放是否访问过的标志</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1732915" y="6489700"/>
            <a:ext cx="2266950"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60567" y="6473951"/>
            <a:ext cx="1765650" cy="368300"/>
          </a:xfrm>
          <a:prstGeom prst="rect">
            <a:avLst/>
          </a:prstGeom>
          <a:noFill/>
        </p:spPr>
        <p:txBody>
          <a:bodyPr wrap="square" rtlCol="0">
            <a:spAutoFit/>
          </a:bodyPr>
          <a:lstStyle/>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12483465"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邻接多重表头结点的存储结构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7107" name="Rectangle 6"/>
          <p:cNvSpPr/>
          <p:nvPr>
            <p:ph idx="1"/>
          </p:nvPr>
        </p:nvSpPr>
        <p:spPr>
          <a:xfrm>
            <a:off x="1981200" y="1895475"/>
            <a:ext cx="8229600" cy="339725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定义头结点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class VertexNode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public:</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VertexType data;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顶点的数据</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*edgeList;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指向第一条依附于该结点的边的指针</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1732915" y="6489700"/>
            <a:ext cx="2266950"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60567" y="6473951"/>
            <a:ext cx="1765650" cy="368300"/>
          </a:xfrm>
          <a:prstGeom prst="rect">
            <a:avLst/>
          </a:prstGeom>
          <a:noFill/>
        </p:spPr>
        <p:txBody>
          <a:bodyPr wrap="square" rtlCol="0">
            <a:spAutoFit/>
          </a:bodyPr>
          <a:lstStyle/>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图的邻接多重表的存储结构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8131" name="Rectangle 6"/>
          <p:cNvSpPr/>
          <p:nvPr>
            <p:ph idx="1"/>
          </p:nvPr>
        </p:nvSpPr>
        <p:spPr>
          <a:xfrm>
            <a:off x="1981200" y="1113790"/>
            <a:ext cx="8229600" cy="51054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10000"/>
          </a:bodyPr>
          <a:p>
            <a:pPr algn="l" fontAlgn="auto">
              <a:lnSpc>
                <a:spcPct val="125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图的邻接多重表定义</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class ALGraph</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private: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VertexNode&lt;VertexType&gt; *vertices;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顶点表</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numVertices;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顶点个数</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numedges;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边数</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maxVertices;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最多可存放的顶点个数</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1732915" y="6489700"/>
            <a:ext cx="2266950"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60567" y="6473951"/>
            <a:ext cx="1765650" cy="368300"/>
          </a:xfrm>
          <a:prstGeom prst="rect">
            <a:avLst/>
          </a:prstGeom>
          <a:noFill/>
        </p:spPr>
        <p:txBody>
          <a:bodyPr wrap="square" rtlCol="0">
            <a:spAutoFit/>
          </a:bodyPr>
          <a:lstStyle/>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邻接多重表的存储结构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grpSp>
        <p:nvGrpSpPr>
          <p:cNvPr id="25" name="组合 24"/>
          <p:cNvGrpSpPr/>
          <p:nvPr/>
        </p:nvGrpSpPr>
        <p:grpSpPr>
          <a:xfrm>
            <a:off x="1279694" y="6557405"/>
            <a:ext cx="271682" cy="202424"/>
            <a:chOff x="1180190" y="6561344"/>
            <a:chExt cx="271682" cy="202424"/>
          </a:xfrm>
        </p:grpSpPr>
        <p:sp>
          <p:nvSpPr>
            <p:cNvPr id="26" name="燕尾形 2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9156" name="Text Box 60"/>
          <p:cNvSpPr txBox="1"/>
          <p:nvPr/>
        </p:nvSpPr>
        <p:spPr>
          <a:xfrm>
            <a:off x="1020445" y="1250315"/>
            <a:ext cx="6499860" cy="55435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None/>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例如：右图无向图</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的邻接多重表如下图所示。</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9157" name="Picture 2"/>
          <p:cNvPicPr>
            <a:picLocks noChangeAspect="1"/>
          </p:cNvPicPr>
          <p:nvPr/>
        </p:nvPicPr>
        <p:blipFill>
          <a:blip r:embed="rId1"/>
          <a:stretch>
            <a:fillRect/>
          </a:stretch>
        </p:blipFill>
        <p:spPr>
          <a:xfrm>
            <a:off x="7835265" y="1250315"/>
            <a:ext cx="2590800" cy="1490980"/>
          </a:xfrm>
          <a:prstGeom prst="rect">
            <a:avLst/>
          </a:prstGeom>
          <a:noFill/>
          <a:ln w="3175">
            <a:noFill/>
          </a:ln>
        </p:spPr>
      </p:pic>
      <p:pic>
        <p:nvPicPr>
          <p:cNvPr id="49158" name="Picture 3"/>
          <p:cNvPicPr>
            <a:picLocks noChangeAspect="1"/>
          </p:cNvPicPr>
          <p:nvPr/>
        </p:nvPicPr>
        <p:blipFill>
          <a:blip r:embed="rId2"/>
          <a:stretch>
            <a:fillRect/>
          </a:stretch>
        </p:blipFill>
        <p:spPr>
          <a:xfrm>
            <a:off x="1020445" y="2741295"/>
            <a:ext cx="8791575" cy="3383280"/>
          </a:xfrm>
          <a:prstGeom prst="rect">
            <a:avLst/>
          </a:prstGeom>
          <a:noFill/>
          <a:ln w="3175">
            <a:noFill/>
          </a:ln>
        </p:spPr>
      </p:pic>
      <p:sp>
        <p:nvSpPr>
          <p:cNvPr id="3" name="文本框 2"/>
          <p:cNvSpPr txBox="1"/>
          <p:nvPr/>
        </p:nvSpPr>
        <p:spPr>
          <a:xfrm>
            <a:off x="1732915" y="6489700"/>
            <a:ext cx="2266950"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 邻接矩阵表示法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3817983" y="6473951"/>
            <a:ext cx="2042456"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邻接表表示法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635115" y="6473825"/>
            <a:ext cx="229997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十字链表表示法</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60567" y="6473951"/>
            <a:ext cx="1765650" cy="368300"/>
          </a:xfrm>
          <a:prstGeom prst="rect">
            <a:avLst/>
          </a:prstGeom>
          <a:noFill/>
        </p:spPr>
        <p:txBody>
          <a:bodyPr wrap="square" rtlCol="0">
            <a:spAutoFit/>
          </a:bodyPr>
          <a:lstStyle/>
          <a:p>
            <a:pPr algn="ctr">
              <a:buClrTx/>
              <a:buSzTx/>
              <a:buFontTx/>
            </a:pPr>
            <a:r>
              <a:rPr lang="zh-CN" altLang="en-US" b="1" dirty="0" smtClean="0">
                <a:solidFill>
                  <a:srgbClr val="005A9E"/>
                </a:solidFill>
                <a:latin typeface="微软雅黑" panose="020B0503020204020204" pitchFamily="34" charset="-122"/>
                <a:ea typeface="微软雅黑" panose="020B0503020204020204" pitchFamily="34" charset="-122"/>
              </a:rPr>
              <a:t>IV. 邻接多重表</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5.3 </a:t>
            </a:r>
            <a:r>
              <a:rPr lang="zh-CN" altLang="en-US" sz="3600" b="1" dirty="0" smtClean="0">
                <a:solidFill>
                  <a:schemeClr val="bg1"/>
                </a:solidFill>
                <a:latin typeface="微软雅黑" panose="020B0503020204020204" pitchFamily="34" charset="-122"/>
                <a:ea typeface="微软雅黑" panose="020B0503020204020204" pitchFamily="34" charset="-122"/>
              </a:rPr>
              <a:t>图的基本操作</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0179" name="Rectangle 3"/>
          <p:cNvSpPr>
            <a:spLocks noGrp="1"/>
          </p:cNvSpPr>
          <p:nvPr>
            <p:ph idx="1"/>
          </p:nvPr>
        </p:nvSpPr>
        <p:spPr>
          <a:xfrm>
            <a:off x="838200" y="1471930"/>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本节以</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邻接表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作存储结构，来介绍图的一些基本操作。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主要内容：</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介绍一组图中有关顶点的基本操作。</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介绍图中的一些基本操作。</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图的遍历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图的构造函数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1203" name="Rectangle 6"/>
          <p:cNvSpPr/>
          <p:nvPr>
            <p:ph idx="1"/>
          </p:nvPr>
        </p:nvSpPr>
        <p:spPr>
          <a:xfrm>
            <a:off x="1981200" y="1282065"/>
            <a:ext cx="8229600" cy="462407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10000"/>
          </a:bodyPr>
          <a:p>
            <a:pPr algn="l" fontAlgn="auto">
              <a:lnSpc>
                <a:spcPct val="125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//构造一个最多含s个顶点，类型为gs的图G。参数s为该图最多可存放的顶点个数，gs为图的类型，如未说明，则默认为无向图UDG；如果顶点个数s&gt;0，则申请s个邻接表的头结点空间。</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ALGraph(VertexType)::ALGraph(int s, GraphStyle gs):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numVertices(0),numEdges(0), maxVertices(s), style(gs)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if(s&gt;0)</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vertices=new VertexNode(VertexType)[s];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5.3.1 </a:t>
            </a:r>
            <a:r>
              <a:rPr lang="zh-CN" altLang="en-US" sz="3600" b="1" dirty="0" smtClean="0">
                <a:solidFill>
                  <a:schemeClr val="bg1"/>
                </a:solidFill>
                <a:latin typeface="微软雅黑" panose="020B0503020204020204" pitchFamily="34" charset="-122"/>
                <a:ea typeface="微软雅黑" panose="020B0503020204020204" pitchFamily="34" charset="-122"/>
              </a:rPr>
              <a:t>图的析构函数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2227" name="Rectangle 6"/>
          <p:cNvSpPr/>
          <p:nvPr>
            <p:ph idx="1"/>
          </p:nvPr>
        </p:nvSpPr>
        <p:spPr>
          <a:xfrm>
            <a:off x="1981200" y="1765935"/>
            <a:ext cx="8229600" cy="365696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eaLnBrk="1" hangingPunct="1">
              <a:spcBef>
                <a:spcPct val="0"/>
              </a:spcBef>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用于销毁图</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，逐个删除顶点的表结点，最后删除邻接表。</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0"/>
              </a:spcBef>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ALGraph(VertexType)::~ALGraph()</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 (int i=0; i&lt;numVertices;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vertices[i].ClearedgeList();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 (maxVertices!=0)</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delete[] 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GetVertex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3251" name="Rectangle 6"/>
          <p:cNvSpPr/>
          <p:nvPr>
            <p:ph idx="1"/>
          </p:nvPr>
        </p:nvSpPr>
        <p:spPr>
          <a:xfrm>
            <a:off x="1866900" y="1857375"/>
            <a:ext cx="8458200" cy="358203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20000"/>
          </a:bodyPr>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//根据序号，取得顶点vex的数据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//参数v为顶点序号；参数vex用于返回顶点数据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template(class VertexType)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ALGraph(VertexType)::GetVertex(int v,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VertexType&amp;vex)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if(v&lt;0||v&gt;=numVertices)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vex=vertices[v].data;</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SetVertex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4275" name="Rectangle 6"/>
          <p:cNvSpPr/>
          <p:nvPr>
            <p:ph idx="1"/>
          </p:nvPr>
        </p:nvSpPr>
        <p:spPr>
          <a:xfrm>
            <a:off x="1828800" y="1400175"/>
            <a:ext cx="8534400" cy="44958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fontScale="90000" lnSpcReduction="10000"/>
          </a:bodyPr>
          <a:p>
            <a:pPr algn="l" fontAlgn="auto">
              <a:lnSpc>
                <a:spcPct val="125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//根据顶点的序号，设置顶点vex的数据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参数v为顶点序号；参数vex用于设臵的顶点数据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ClrTx/>
              <a:buSzTx/>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template(class VertexType)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ALGraph(VertexType)::SetVertex(int v, const VertexType &amp;vex)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if(v&lt;0||v&gt;=numVertices)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vertices[v].data=vex;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InsertVertex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5299" name="Rectangle 6"/>
          <p:cNvSpPr/>
          <p:nvPr>
            <p:ph idx="1"/>
          </p:nvPr>
        </p:nvSpPr>
        <p:spPr>
          <a:xfrm>
            <a:off x="1790700" y="1445895"/>
            <a:ext cx="8610600" cy="440436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10000"/>
          </a:bodyPr>
          <a:p>
            <a:pPr algn="l" fontAlgn="auto">
              <a:lnSpc>
                <a:spcPct val="125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//在图中插入一个顶点。如果存在的顶点个数或者邻接表的头结点中已有该顶点，则返回；否则增加邻接表的头结点，其data域为该顶点数据，edgeList域为NULL，并将顶点个数numVertices加1。</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参数vex为要插入的顶点数据</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ALGraph&lt;VertexType&gt;::InsertVertex(const VertexType &amp;vex)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如果存在的顶点个数已达最大值，则返回</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if(numVertices==maxVertices)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2200" dirty="0">
              <a:solidFill>
                <a:srgbClr val="000066"/>
              </a:solidFill>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InsertVertex</a:t>
            </a:r>
            <a:r>
              <a:rPr lang="zh-CN" altLang="en-US" sz="3600" b="1" dirty="0" smtClean="0">
                <a:solidFill>
                  <a:schemeClr val="bg1"/>
                </a:solidFill>
                <a:latin typeface="微软雅黑" panose="020B0503020204020204" pitchFamily="34" charset="-122"/>
                <a:ea typeface="微软雅黑" panose="020B0503020204020204" pitchFamily="34" charset="-122"/>
              </a:rPr>
              <a:t>函数（续）</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6323" name="Rectangle 6"/>
          <p:cNvSpPr/>
          <p:nvPr>
            <p:ph idx="1"/>
          </p:nvPr>
        </p:nvSpPr>
        <p:spPr>
          <a:xfrm>
            <a:off x="1981200" y="1418590"/>
            <a:ext cx="8229600" cy="44958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algn="l" fontAlgn="auto">
              <a:lnSpc>
                <a:spcPct val="125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判断相同的顶点是否存在，如存在，则返回</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for(int i=0; i&lt;numVertices; i++)</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if(vertices[i].data==vex)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增加一个头顶点</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vertices[numVertices].data=vex;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vertices[numVertices++].edgeList=NULL;</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LocateVertex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7347" name="Rectangle 6"/>
          <p:cNvSpPr/>
          <p:nvPr>
            <p:ph idx="1"/>
          </p:nvPr>
        </p:nvSpPr>
        <p:spPr>
          <a:xfrm>
            <a:off x="1981200" y="1193800"/>
            <a:ext cx="8229600" cy="490855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fontScale="90000" lnSpcReduction="10000"/>
          </a:bodyPr>
          <a:p>
            <a:pPr algn="l" fontAlgn="auto">
              <a:lnSpc>
                <a:spcPct val="125000"/>
              </a:lnSpc>
              <a:spcBef>
                <a:spcPts val="1000"/>
              </a:spcBef>
              <a:buClrTx/>
              <a:buSzTx/>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//根据顶点的数据，找到顶点在邻接表中的序号，如未找到，则返回值为1。</a:t>
            </a: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参数vex为顶点的数据</a:t>
            </a: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返回值为顶点的序号；如返回-1，未找到相关的顶点</a:t>
            </a: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int ALGraph&lt;VertexType&gt;::LocateVertex(const VertexType &amp; vex)</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for(int i=0; i&lt;numVertices; i++)</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if(vertices[i].data==vex)</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i;</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-1;</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spcBef>
                <a:spcPts val="1000"/>
              </a:spcBef>
              <a:buClrTx/>
              <a:buSzTx/>
              <a:buNone/>
            </a:pPr>
            <a:r>
              <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6" name="文本框 5"/>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DeleteVertex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58371" name="Rectangle 6"/>
          <p:cNvSpPr/>
          <p:nvPr>
            <p:ph idx="1"/>
          </p:nvPr>
        </p:nvSpPr>
        <p:spPr>
          <a:xfrm>
            <a:off x="1981200" y="1227455"/>
            <a:ext cx="8229600" cy="473392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Autofit/>
          </a:bodyPr>
          <a:p>
            <a:pPr algn="l" fontAlgn="auto">
              <a:lnSpc>
                <a:spcPct val="90000"/>
              </a:lnSpc>
              <a:spcBef>
                <a:spcPts val="1000"/>
              </a:spcBef>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图中删除一个顶点。首先在邻接表中找到要删除的顶点的序号，若未找到则返回；然后遍历邻接表中的其他顶点，如果这些顶点的链表中包含了要删除的顶点，则把相应的边结点删除，边数减1；最后，在邻接表中删除该顶点的头结点，顶点数减1，并将序号大于要删除的顶点序号的每个顶点其序号都减1。</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参数vex为欲删除顶点的值</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ALGraph&lt;VertexType&gt;::DeleteVertex(const VertexType  &amp;vex)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i;</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v;</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在邻接表中找到要删除顶点的序号，如果没找到，则返回</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if((v=LocateVertex(vex))==-1)</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p>
            <a:r>
              <a:rPr lang="en-US" altLang="zh-CN" sz="3600" b="1" dirty="0" smtClean="0">
                <a:solidFill>
                  <a:schemeClr val="bg1"/>
                </a:solidFill>
                <a:latin typeface="微软雅黑" panose="020B0503020204020204" pitchFamily="34" charset="-122"/>
                <a:ea typeface="微软雅黑" panose="020B0503020204020204" pitchFamily="34" charset="-122"/>
              </a:rPr>
              <a:t>DeleteVertex</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r>
              <a:rPr lang="en-US" altLang="zh-CN" sz="3600" b="1" dirty="0" smtClean="0">
                <a:solidFill>
                  <a:schemeClr val="bg1"/>
                </a:solidFill>
                <a:latin typeface="微软雅黑" panose="020B0503020204020204" pitchFamily="34" charset="-122"/>
                <a:ea typeface="微软雅黑" panose="020B0503020204020204" pitchFamily="34" charset="-122"/>
              </a:rPr>
              <a:t>1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59395" name="Rectangle 6"/>
          <p:cNvSpPr/>
          <p:nvPr>
            <p:ph idx="1"/>
          </p:nvPr>
        </p:nvSpPr>
        <p:spPr>
          <a:xfrm>
            <a:off x="1981200" y="1256030"/>
            <a:ext cx="8229600" cy="467614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a:bodyPr>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遍历其他顶点，如果这些顶点的链表中包含了要删除的顶点，则移除</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for(i=0; i&lt;numVertices;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if(i!=v)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if(vertices[i].RemoveEdge(v))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numEdges--;</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在顶点表中删除序号为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的顶点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vertices[v].ClearEdgeList();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for(i=v; i&lt;numVertices-1;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vertices[i]=vertices[i+1];</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numVertices--;</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DeleteVertex</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r>
              <a:rPr lang="en-US" altLang="zh-CN" sz="3600" b="1" dirty="0" smtClean="0">
                <a:solidFill>
                  <a:schemeClr val="bg1"/>
                </a:solidFill>
                <a:latin typeface="微软雅黑" panose="020B0503020204020204" pitchFamily="34" charset="-122"/>
                <a:ea typeface="微软雅黑" panose="020B0503020204020204" pitchFamily="34" charset="-122"/>
              </a:rPr>
              <a:t>2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0419" name="Rectangle 6"/>
          <p:cNvSpPr/>
          <p:nvPr>
            <p:ph idx="1"/>
          </p:nvPr>
        </p:nvSpPr>
        <p:spPr>
          <a:xfrm>
            <a:off x="1572895" y="1081405"/>
            <a:ext cx="9046845" cy="513334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Autofit/>
          </a:bodyPr>
          <a:p>
            <a:pPr algn="l" fontAlgn="auto">
              <a:lnSpc>
                <a:spcPct val="100000"/>
              </a:lnSpc>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如果在所有的邻接边表中的顶点序号大于要删除的顶点序号， 则将顶点序号减1</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EdgeNode *p;</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for (i=0; i&lt;numVertices; i++)</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遍历该顶点的邻接边点，调整邻接顶点序号</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p=vertices[i].edgeList; </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while(p!=NULL)</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判断邻接顶点号是否大于要删除的顶点号</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if(p-&gt;adjVertex&gt;v)</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p-&gt;adjVertex--;</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//如果&gt;v，则将顶点号减1</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p=p-&gt;next;</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InsertEdge</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1443" name="Rectangle 6"/>
          <p:cNvSpPr/>
          <p:nvPr>
            <p:ph idx="1"/>
          </p:nvPr>
        </p:nvSpPr>
        <p:spPr>
          <a:xfrm>
            <a:off x="1981200" y="1259840"/>
            <a:ext cx="8229600" cy="466852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Autofit/>
          </a:bodyPr>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在图中插入一条边</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(vex1 , vex2)</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。先找到给出的两个顶点</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vex1、vex2</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在邻接表中的序号，在第一个顶点</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vex1</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的链表中插入边</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vex1 , vex2)</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，若该图是无向图，则同样在</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vex2</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的链表中插入边</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vex2, vex1)</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最后边数加</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vex1、vex2</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为要插入弧的两个顶点的值；参数</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wgh</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为欲插入边的权值，默认值为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bool ALGraph&lt;VertexType&gt;::InsertEdge(const VertexType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&amp;vex1,const VertexType &amp;vex2, int wgh)</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找到两个顶点在邻接表中的序号，分别赋值给</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v1</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v2</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两个顶点中只要有一个在图的顶点表中未找到，则返回</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v1=LocateVertex(vex1);</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v2=LocateVertex(vex2);</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InsertEdge</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r>
              <a:rPr lang="en-US" altLang="zh-CN" sz="3600" b="1" dirty="0" smtClean="0">
                <a:solidFill>
                  <a:schemeClr val="bg1"/>
                </a:solidFill>
                <a:latin typeface="微软雅黑" panose="020B0503020204020204" pitchFamily="34" charset="-122"/>
                <a:ea typeface="微软雅黑" panose="020B0503020204020204" pitchFamily="34" charset="-122"/>
              </a:rPr>
              <a:t>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2467" name="Rectangle 6"/>
          <p:cNvSpPr/>
          <p:nvPr>
            <p:ph idx="1"/>
          </p:nvPr>
        </p:nvSpPr>
        <p:spPr>
          <a:xfrm>
            <a:off x="1981200" y="1391285"/>
            <a:ext cx="8229600" cy="451294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lnSpcReduction="10000"/>
          </a:bodyPr>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if(v1==-1 || v2==-1)</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为第一个顶点的邻接表中增加一条弧</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vertices[v1].AppendEdge(v2, wgh);</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如果为无向图，则必须在另一顶点的邻接表中增加一条弧</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if(style==UDG || style==UDN)</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vertices[v2].AppendEdge(v1, wgh);</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numEdges++;</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true;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25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DeleteEdge</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3491" name="Rectangle 6"/>
          <p:cNvSpPr/>
          <p:nvPr>
            <p:ph idx="1"/>
          </p:nvPr>
        </p:nvSpPr>
        <p:spPr>
          <a:xfrm>
            <a:off x="1981200" y="1171575"/>
            <a:ext cx="8229600" cy="4953000"/>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Autofit/>
          </a:bodyPr>
          <a:p>
            <a:pPr algn="l" fontAlgn="auto">
              <a:lnSpc>
                <a:spcPct val="90000"/>
              </a:lnSpc>
              <a:spcBef>
                <a:spcPts val="1000"/>
              </a:spcBef>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//在图中删除一条边。先找到给出的两个顶点vex1、vex2在邻接表中的序号，在第一个顶点vex1的链表中删除边(vex1, vex2)，若该图是无向图，则同样在vex2的链表中删除边(vex2, vex1)，最后边数减1。</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参数vex1、vex2为要删除边的两个顶点数据</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ALGraph&lt;VertexType&gt;::DeleteEdge(const VertexType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&amp;vex1,const VertexType &amp;vex2)</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找到两个顶点在顶点表中的序号，分别赋值给v1、v2</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buClrTx/>
              <a:buSzTx/>
              <a:buNone/>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两个顶点中只要有一个在图的顶点表中未找到，则返回</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v1=LocateVertex(vex1);</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int v2=LocateVertex(vex2);</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if(v1==-1 || v2==-1)</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90000"/>
              </a:lnSpc>
              <a:spcBef>
                <a:spcPts val="1000"/>
              </a:spcBef>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DeleteEdge</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4515" name="Rectangle 6"/>
          <p:cNvSpPr/>
          <p:nvPr>
            <p:ph idx="1"/>
          </p:nvPr>
        </p:nvSpPr>
        <p:spPr>
          <a:xfrm>
            <a:off x="1981200" y="2197100"/>
            <a:ext cx="8229600" cy="290131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p>
            <a:pPr fontAlgn="auto">
              <a:lnSpc>
                <a:spcPct val="125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为第一个顶点的邻接表中删除该边</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vertices[v1].RemoveEdge(v2);</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如果为无向图，则必须在另一顶点的链表中删除边</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if(style==UDG || style==UDN)</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vertices[v2].RemoveEdge(v1);</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numEdges--;</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return true;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25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Getedge</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5539" name="内容占位符 2"/>
          <p:cNvSpPr>
            <a:spLocks noGrp="1"/>
          </p:cNvSpPr>
          <p:nvPr>
            <p:ph idx="1"/>
          </p:nvPr>
        </p:nvSpPr>
        <p:spPr>
          <a:xfrm>
            <a:off x="1807845" y="1000760"/>
            <a:ext cx="8382000" cy="5271770"/>
          </a:xfrm>
          <a:solidFill>
            <a:schemeClr val="accent1">
              <a:lumMod val="20000"/>
              <a:lumOff val="80000"/>
            </a:schemeClr>
          </a:solidFill>
          <a:ln>
            <a:solidFill>
              <a:schemeClr val="tx1">
                <a:alpha val="100000"/>
              </a:schemeClr>
            </a:solidFill>
            <a:miter lim="800000"/>
          </a:ln>
        </p:spPr>
        <p:txBody>
          <a:bodyPr vert="horz" wrap="square" lIns="91440" tIns="45720" rIns="91440" bIns="45720" anchor="t">
            <a:noAutofit/>
          </a:bodyPr>
          <a:p>
            <a:pPr algn="l" fontAlgn="auto">
              <a:lnSpc>
                <a:spcPct val="100000"/>
              </a:lnSpc>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根据顶点序号，取得两顶点之间的边（判断两顶点间是否存在一条边）</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 ALGraph&lt;VertexType&gt;::Getedge(int v, int w, EdgeNode * &amp; edge)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 &lt; 0 | |  v &gt;= numVertices)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if(w &lt; 0 | | w &gt;= numVertices) return false;</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 = vertices[v].edgeList;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 (edge!= NULL){</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 ( edge -&gt; adjVertex == w)   break;</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 = edge-&gt;next;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edge != NULL;</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fontAlgn="auto">
              <a:lnSpc>
                <a:spcPct val="100000"/>
              </a:lnSpc>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GetFirstAdjVex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6563" name="内容占位符 2"/>
          <p:cNvSpPr>
            <a:spLocks noGrp="1"/>
          </p:cNvSpPr>
          <p:nvPr>
            <p:ph idx="1"/>
          </p:nvPr>
        </p:nvSpPr>
        <p:spPr>
          <a:xfrm>
            <a:off x="3251200" y="1445895"/>
            <a:ext cx="5689600" cy="4404995"/>
          </a:xfrm>
          <a:solidFill>
            <a:schemeClr val="accent1">
              <a:lumMod val="20000"/>
              <a:lumOff val="80000"/>
            </a:schemeClr>
          </a:solidFill>
          <a:ln>
            <a:solidFill>
              <a:schemeClr val="tx1">
                <a:alpha val="100000"/>
              </a:schemeClr>
            </a:solidFill>
            <a:miter lim="800000"/>
          </a:ln>
        </p:spPr>
        <p:txBody>
          <a:bodyPr vert="horz" wrap="square" lIns="91440" tIns="45720" rIns="91440" bIns="45720" anchor="t">
            <a:noAutofit/>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取得图中第</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个顶点的第一个邻接顶点序号</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int ALGraph&lt;VertexType&gt;::GetFirstAdjVex(int v)</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 (v &lt; 0 || v &gt;= 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 (vertices[v].edgeList == NULL)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else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vertices[v].edgeList-&gt;adjVertex;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GetNextAdjVex</a:t>
            </a:r>
            <a:r>
              <a:rPr lang="zh-CN" altLang="en-US" sz="3600" b="1" dirty="0" smtClean="0">
                <a:solidFill>
                  <a:schemeClr val="bg1"/>
                </a:solidFill>
                <a:latin typeface="微软雅黑" panose="020B0503020204020204" pitchFamily="34" charset="-122"/>
                <a:ea typeface="微软雅黑" panose="020B0503020204020204" pitchFamily="34" charset="-122"/>
              </a:rPr>
              <a:t>函数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7587" name="内容占位符 2"/>
          <p:cNvSpPr>
            <a:spLocks noGrp="1"/>
          </p:cNvSpPr>
          <p:nvPr>
            <p:ph idx="1"/>
          </p:nvPr>
        </p:nvSpPr>
        <p:spPr>
          <a:xfrm>
            <a:off x="2712085" y="1596390"/>
            <a:ext cx="6767830" cy="4103370"/>
          </a:xfrm>
          <a:solidFill>
            <a:schemeClr val="accent1">
              <a:lumMod val="20000"/>
              <a:lumOff val="80000"/>
            </a:schemeClr>
          </a:solidFill>
          <a:ln>
            <a:solidFill>
              <a:schemeClr val="tx1">
                <a:alpha val="100000"/>
              </a:schemeClr>
            </a:solidFill>
            <a:miter lim="800000"/>
          </a:ln>
        </p:spPr>
        <p:txBody>
          <a:bodyPr vert="horz" wrap="square" lIns="91440" tIns="45720" rIns="91440" bIns="45720" anchor="t">
            <a:noAutofit/>
          </a:bodyPr>
          <a:p>
            <a:pPr algn="l">
              <a:buClrTx/>
              <a:buSzTx/>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根据序号，取得v(相对于w)的下一个邻接顶点序号</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int ALGraph&lt;VertexType&gt;::GetNextAdjVex(int v, int w){</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if(v &lt; 0 || v &gt;= numVertices) return -1;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EdgeNode *p = vertices[v].edgeList;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 (p != NULL){</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 (p-&gt;adjVertex = = w)  break;</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 = p-&gt;next; }</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if (p = = NULL || p-&gt;next = = NULL) return -1;</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p-&gt;next-&gt;adjVertex;</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l">
              <a:buClrTx/>
              <a:buSzTx/>
              <a:buNone/>
            </a:pP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5.2.3 </a:t>
            </a:r>
            <a:r>
              <a:rPr lang="zh-CN" altLang="en-US" sz="3600" b="1" dirty="0" smtClean="0">
                <a:solidFill>
                  <a:schemeClr val="bg1"/>
                </a:solidFill>
                <a:latin typeface="微软雅黑" panose="020B0503020204020204" pitchFamily="34" charset="-122"/>
                <a:ea typeface="微软雅黑" panose="020B0503020204020204" pitchFamily="34" charset="-122"/>
              </a:rPr>
              <a:t>图的遍历</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8611" name="Rectangle 3"/>
          <p:cNvSpPr>
            <a:spLocks noGrp="1"/>
          </p:cNvSpPr>
          <p:nvPr>
            <p:ph idx="1"/>
          </p:nvPr>
        </p:nvSpPr>
        <p:spPr>
          <a:xfrm>
            <a:off x="709295" y="1409700"/>
            <a:ext cx="10773410" cy="4038600"/>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rPr>
              <a:t>图的遍历是指从图中某个顶点出发，</a:t>
            </a:r>
            <a:r>
              <a:rPr lang="zh-CN" altLang="en-US" sz="2000" dirty="0">
                <a:solidFill>
                  <a:srgbClr val="0000FF"/>
                </a:solidFill>
                <a:latin typeface="微软雅黑" panose="020B0503020204020204" pitchFamily="34" charset="-122"/>
                <a:ea typeface="微软雅黑" panose="020B0503020204020204" pitchFamily="34" charset="-122"/>
              </a:rPr>
              <a:t>按某一规则访问图中的每个顶点，且每个顶点仅被访问一次</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rPr>
              <a:t>与树的遍历一样，图的遍历具有十分重要的作用，是图问题中</a:t>
            </a:r>
            <a:r>
              <a:rPr lang="zh-CN" altLang="en-US" sz="2000" dirty="0">
                <a:solidFill>
                  <a:srgbClr val="0000FF"/>
                </a:solidFill>
                <a:latin typeface="微软雅黑" panose="020B0503020204020204" pitchFamily="34" charset="-122"/>
                <a:ea typeface="微软雅黑" panose="020B0503020204020204" pitchFamily="34" charset="-122"/>
              </a:rPr>
              <a:t>最基本和最重要的操作</a:t>
            </a:r>
            <a:r>
              <a:rPr lang="zh-CN" altLang="en-US" sz="2000" dirty="0">
                <a:latin typeface="微软雅黑" panose="020B0503020204020204" pitchFamily="34" charset="-122"/>
                <a:ea typeface="微软雅黑" panose="020B0503020204020204" pitchFamily="34" charset="-122"/>
              </a:rPr>
              <a:t>，图的许多其他操作都与遍历相关。</a:t>
            </a:r>
            <a:endParaRPr lang="en-US" altLang="zh-CN" sz="2000" dirty="0">
              <a:latin typeface="微软雅黑" panose="020B0503020204020204" pitchFamily="34" charset="-122"/>
              <a:ea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rPr>
              <a:t>两条遍历图的路径：深度优先遍历和广度优先遍历</a:t>
            </a:r>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5.3.2 </a:t>
            </a:r>
            <a:r>
              <a:rPr lang="zh-CN" altLang="en-US" sz="3600" b="1" dirty="0" smtClean="0">
                <a:solidFill>
                  <a:schemeClr val="bg1"/>
                </a:solidFill>
                <a:latin typeface="微软雅黑" panose="020B0503020204020204" pitchFamily="34" charset="-122"/>
                <a:ea typeface="微软雅黑" panose="020B0503020204020204" pitchFamily="34" charset="-122"/>
              </a:rPr>
              <a:t>深度优先</a:t>
            </a:r>
            <a:r>
              <a:rPr lang="zh-CN" altLang="en-US" sz="3600" b="1" dirty="0" smtClean="0">
                <a:solidFill>
                  <a:schemeClr val="bg1"/>
                </a:solidFill>
                <a:latin typeface="微软雅黑" panose="020B0503020204020204" pitchFamily="34" charset="-122"/>
                <a:ea typeface="微软雅黑" panose="020B0503020204020204" pitchFamily="34" charset="-122"/>
              </a:rPr>
              <a:t>遍历</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69635" name="内容占位符 2"/>
          <p:cNvSpPr>
            <a:spLocks noGrp="1"/>
          </p:cNvSpPr>
          <p:nvPr>
            <p:ph idx="1"/>
          </p:nvPr>
        </p:nvSpPr>
        <p:spPr>
          <a:xfrm>
            <a:off x="749618" y="1229360"/>
            <a:ext cx="10009505" cy="4191000"/>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深度优先搜索首先选择图中某个顶点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作为起始点进行访问，然后</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依次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未被访问的邻接点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出发深度优先搜索遍历图，直至图中所有和</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有路径相通的顶点都被访问到；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若图中还有顶点未被访问到，则另选图中一个未被访问的顶点作为起始点，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重复上述过程，直至所有顶点都被访问到为止。</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连通图的深度优先遍历</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0659" name="内容占位符 2"/>
          <p:cNvSpPr>
            <a:spLocks noGrp="1"/>
          </p:cNvSpPr>
          <p:nvPr>
            <p:ph idx="1"/>
          </p:nvPr>
        </p:nvSpPr>
        <p:spPr>
          <a:xfrm>
            <a:off x="513715" y="1253490"/>
            <a:ext cx="10515600" cy="5184775"/>
          </a:xfrm>
        </p:spPr>
        <p:txBody>
          <a:bodyPr vert="horz" wrap="square" lIns="91440" tIns="45720" rIns="91440" bIns="45720" anchor="t">
            <a:normAutofit fontScale="50000"/>
          </a:bodyPr>
          <a:p>
            <a:pPr indent="457200" algn="l" fontAlgn="auto">
              <a:lnSpc>
                <a:spcPct val="125000"/>
              </a:lnSpc>
            </a:pP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W1</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W2</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W3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均为 </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的邻接点，</a:t>
            </a:r>
            <a:endPar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algn="l" fontAlgn="auto">
              <a:lnSpc>
                <a:spcPct val="125000"/>
              </a:lnSpc>
              <a:buNone/>
            </a:pP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SG1</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SG2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SG3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分别为含顶</a:t>
            </a:r>
            <a:endPar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algn="l" fontAlgn="auto">
              <a:lnSpc>
                <a:spcPct val="125000"/>
              </a:lnSpc>
              <a:buNone/>
            </a:pP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点</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W1</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W2</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W3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的子图。</a:t>
            </a:r>
            <a:endPar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endPar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25000"/>
              </a:lnSpc>
            </a:pP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访问顶点 </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25000"/>
              </a:lnSpc>
              <a:buNone/>
            </a:pP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for (W1</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W2</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W3 )</a:t>
            </a:r>
            <a:endPar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25000"/>
              </a:lnSpc>
              <a:buNone/>
            </a:pP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若该邻接点</a:t>
            </a: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未被访问，</a:t>
            </a:r>
            <a:endPar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25000"/>
              </a:lnSpc>
              <a:buNone/>
            </a:pP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则从它出发进行深度</a:t>
            </a:r>
            <a:endPar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25000"/>
              </a:lnSpc>
              <a:buNone/>
            </a:pPr>
            <a:r>
              <a:rPr lang="en-US" altLang="zh-CN"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优先搜索遍历。</a:t>
            </a:r>
            <a:endParaRPr lang="zh-CN" altLang="en-US" sz="40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endParaRPr lang="zh-CN" altLang="en-US" dirty="0"/>
          </a:p>
          <a:p>
            <a:pPr eaLnBrk="1" hangingPunct="1"/>
            <a:endParaRPr lang="zh-CN" altLang="en-US" dirty="0"/>
          </a:p>
        </p:txBody>
      </p:sp>
      <p:sp>
        <p:nvSpPr>
          <p:cNvPr id="4" name="Oval 2"/>
          <p:cNvSpPr/>
          <p:nvPr/>
        </p:nvSpPr>
        <p:spPr>
          <a:xfrm>
            <a:off x="7815580" y="1833880"/>
            <a:ext cx="6096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b="1" dirty="0">
                <a:solidFill>
                  <a:srgbClr val="800000"/>
                </a:solidFill>
                <a:latin typeface="Consolas" panose="020B0609020204030204" pitchFamily="49" charset="0"/>
              </a:rPr>
              <a:t>V</a:t>
            </a:r>
            <a:endParaRPr lang="en-US" altLang="zh-CN" b="1" dirty="0">
              <a:solidFill>
                <a:srgbClr val="FFFFFF"/>
              </a:solidFill>
              <a:latin typeface="Consolas" panose="020B0609020204030204" pitchFamily="49" charset="0"/>
            </a:endParaRPr>
          </a:p>
        </p:txBody>
      </p:sp>
      <p:sp>
        <p:nvSpPr>
          <p:cNvPr id="3" name="Oval 4"/>
          <p:cNvSpPr/>
          <p:nvPr/>
        </p:nvSpPr>
        <p:spPr>
          <a:xfrm>
            <a:off x="5986780" y="2900680"/>
            <a:ext cx="2438400" cy="1828800"/>
          </a:xfrm>
          <a:prstGeom prst="ellipse">
            <a:avLst/>
          </a:prstGeom>
          <a:solidFill>
            <a:srgbClr val="FFCC99">
              <a:alpha val="50195"/>
            </a:srgbClr>
          </a:solidFill>
          <a:ln w="12700"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6" name="Oval 5"/>
          <p:cNvSpPr/>
          <p:nvPr/>
        </p:nvSpPr>
        <p:spPr>
          <a:xfrm>
            <a:off x="7205980" y="2976880"/>
            <a:ext cx="2133600" cy="1752600"/>
          </a:xfrm>
          <a:prstGeom prst="ellipse">
            <a:avLst/>
          </a:prstGeom>
          <a:solidFill>
            <a:srgbClr val="FFCC99">
              <a:alpha val="50195"/>
            </a:srgbClr>
          </a:solidFill>
          <a:ln w="12700"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8" name="Oval 6"/>
          <p:cNvSpPr/>
          <p:nvPr/>
        </p:nvSpPr>
        <p:spPr>
          <a:xfrm>
            <a:off x="8729980" y="2976880"/>
            <a:ext cx="1600200" cy="1752600"/>
          </a:xfrm>
          <a:prstGeom prst="ellipse">
            <a:avLst/>
          </a:prstGeom>
          <a:solidFill>
            <a:srgbClr val="FFCC99">
              <a:alpha val="50195"/>
            </a:srgbClr>
          </a:solidFill>
          <a:ln w="12700"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 name="Oval 7"/>
          <p:cNvSpPr/>
          <p:nvPr/>
        </p:nvSpPr>
        <p:spPr>
          <a:xfrm>
            <a:off x="6520180" y="297688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1</a:t>
            </a:r>
            <a:endParaRPr lang="en-US" altLang="zh-CN" b="1" dirty="0">
              <a:solidFill>
                <a:srgbClr val="FFFFFF"/>
              </a:solidFill>
              <a:latin typeface="Consolas" panose="020B0609020204030204" pitchFamily="49" charset="0"/>
            </a:endParaRPr>
          </a:p>
        </p:txBody>
      </p:sp>
      <p:sp>
        <p:nvSpPr>
          <p:cNvPr id="10" name="Line 10"/>
          <p:cNvSpPr/>
          <p:nvPr/>
        </p:nvSpPr>
        <p:spPr>
          <a:xfrm flipH="1">
            <a:off x="6748780" y="2138680"/>
            <a:ext cx="1066800" cy="838200"/>
          </a:xfrm>
          <a:prstGeom prst="line">
            <a:avLst/>
          </a:prstGeom>
          <a:ln w="28575" cap="sq" cmpd="sng">
            <a:solidFill>
              <a:srgbClr val="800000"/>
            </a:solidFill>
            <a:prstDash val="solid"/>
            <a:headEnd type="none" w="sm" len="sm"/>
            <a:tailEnd type="none" w="sm" len="sm"/>
          </a:ln>
        </p:spPr>
      </p:sp>
      <p:sp>
        <p:nvSpPr>
          <p:cNvPr id="11" name="Line 11"/>
          <p:cNvSpPr/>
          <p:nvPr/>
        </p:nvSpPr>
        <p:spPr>
          <a:xfrm flipH="1">
            <a:off x="7891780" y="2443480"/>
            <a:ext cx="228600" cy="609600"/>
          </a:xfrm>
          <a:prstGeom prst="line">
            <a:avLst/>
          </a:prstGeom>
          <a:ln w="28575" cap="sq" cmpd="sng">
            <a:solidFill>
              <a:srgbClr val="800000"/>
            </a:solidFill>
            <a:prstDash val="solid"/>
            <a:headEnd type="none" w="sm" len="sm"/>
            <a:tailEnd type="none" w="sm" len="sm"/>
          </a:ln>
        </p:spPr>
      </p:sp>
      <p:sp>
        <p:nvSpPr>
          <p:cNvPr id="12" name="Line 12"/>
          <p:cNvSpPr/>
          <p:nvPr/>
        </p:nvSpPr>
        <p:spPr>
          <a:xfrm>
            <a:off x="8425180" y="2138680"/>
            <a:ext cx="1066800" cy="854075"/>
          </a:xfrm>
          <a:prstGeom prst="line">
            <a:avLst/>
          </a:prstGeom>
          <a:ln w="28575" cap="sq" cmpd="sng">
            <a:solidFill>
              <a:srgbClr val="800000"/>
            </a:solidFill>
            <a:prstDash val="solid"/>
            <a:headEnd type="none" w="sm" len="sm"/>
            <a:tailEnd type="none" w="sm" len="sm"/>
          </a:ln>
        </p:spPr>
      </p:sp>
      <p:sp>
        <p:nvSpPr>
          <p:cNvPr id="14" name="Text Box 13"/>
          <p:cNvSpPr txBox="1"/>
          <p:nvPr/>
        </p:nvSpPr>
        <p:spPr>
          <a:xfrm>
            <a:off x="6466205" y="4119880"/>
            <a:ext cx="73977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99"/>
                </a:solidFill>
                <a:latin typeface="Consolas" panose="020B0609020204030204" pitchFamily="49" charset="0"/>
              </a:rPr>
              <a:t>SG</a:t>
            </a:r>
            <a:r>
              <a:rPr lang="en-US" altLang="zh-CN" b="1" baseline="-25000" dirty="0">
                <a:solidFill>
                  <a:srgbClr val="000099"/>
                </a:solidFill>
                <a:latin typeface="Consolas" panose="020B0609020204030204" pitchFamily="49" charset="0"/>
              </a:rPr>
              <a:t>1</a:t>
            </a:r>
            <a:endParaRPr lang="en-US" altLang="zh-CN" b="1" dirty="0">
              <a:solidFill>
                <a:srgbClr val="FFFFFF"/>
              </a:solidFill>
              <a:latin typeface="Consolas" panose="020B0609020204030204" pitchFamily="49" charset="0"/>
            </a:endParaRPr>
          </a:p>
        </p:txBody>
      </p:sp>
      <p:sp>
        <p:nvSpPr>
          <p:cNvPr id="15" name="Text Box 14"/>
          <p:cNvSpPr txBox="1"/>
          <p:nvPr/>
        </p:nvSpPr>
        <p:spPr>
          <a:xfrm>
            <a:off x="8196580" y="4119880"/>
            <a:ext cx="73977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99"/>
                </a:solidFill>
                <a:latin typeface="Consolas" panose="020B0609020204030204" pitchFamily="49" charset="0"/>
              </a:rPr>
              <a:t>SG</a:t>
            </a:r>
            <a:r>
              <a:rPr lang="en-US" altLang="zh-CN" b="1" baseline="-25000" dirty="0">
                <a:solidFill>
                  <a:srgbClr val="000099"/>
                </a:solidFill>
                <a:latin typeface="Consolas" panose="020B0609020204030204" pitchFamily="49" charset="0"/>
              </a:rPr>
              <a:t>2</a:t>
            </a:r>
            <a:endParaRPr lang="en-US" altLang="zh-CN" b="1" dirty="0">
              <a:solidFill>
                <a:srgbClr val="FFFFFF"/>
              </a:solidFill>
              <a:latin typeface="Consolas" panose="020B0609020204030204" pitchFamily="49" charset="0"/>
            </a:endParaRPr>
          </a:p>
        </p:txBody>
      </p:sp>
      <p:sp>
        <p:nvSpPr>
          <p:cNvPr id="16" name="Text Box 15"/>
          <p:cNvSpPr txBox="1"/>
          <p:nvPr/>
        </p:nvSpPr>
        <p:spPr>
          <a:xfrm>
            <a:off x="9285605" y="4043680"/>
            <a:ext cx="739775" cy="45720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99"/>
                </a:solidFill>
                <a:latin typeface="Consolas" panose="020B0609020204030204" pitchFamily="49" charset="0"/>
              </a:rPr>
              <a:t>SG</a:t>
            </a:r>
            <a:r>
              <a:rPr lang="en-US" altLang="zh-CN" b="1" baseline="-25000" dirty="0">
                <a:solidFill>
                  <a:srgbClr val="000099"/>
                </a:solidFill>
                <a:latin typeface="Consolas" panose="020B0609020204030204" pitchFamily="49" charset="0"/>
              </a:rPr>
              <a:t>3</a:t>
            </a:r>
            <a:endParaRPr lang="en-US" altLang="zh-CN" b="1" dirty="0">
              <a:solidFill>
                <a:srgbClr val="FFFFFF"/>
              </a:solidFill>
              <a:latin typeface="Consolas" panose="020B0609020204030204" pitchFamily="49" charset="0"/>
            </a:endParaRPr>
          </a:p>
        </p:txBody>
      </p:sp>
      <p:sp>
        <p:nvSpPr>
          <p:cNvPr id="17" name="Oval 18"/>
          <p:cNvSpPr/>
          <p:nvPr/>
        </p:nvSpPr>
        <p:spPr>
          <a:xfrm>
            <a:off x="7586980" y="305308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2</a:t>
            </a:r>
            <a:endParaRPr lang="en-US" altLang="zh-CN" b="1" dirty="0">
              <a:solidFill>
                <a:srgbClr val="FFFFFF"/>
              </a:solidFill>
              <a:latin typeface="Consolas" panose="020B0609020204030204" pitchFamily="49" charset="0"/>
            </a:endParaRPr>
          </a:p>
        </p:txBody>
      </p:sp>
      <p:sp>
        <p:nvSpPr>
          <p:cNvPr id="18" name="Oval 20"/>
          <p:cNvSpPr/>
          <p:nvPr/>
        </p:nvSpPr>
        <p:spPr>
          <a:xfrm>
            <a:off x="7586980" y="305308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2</a:t>
            </a:r>
            <a:endParaRPr lang="en-US" altLang="zh-CN" b="1" dirty="0">
              <a:solidFill>
                <a:srgbClr val="FFFFFF"/>
              </a:solidFill>
              <a:latin typeface="Consolas" panose="020B0609020204030204" pitchFamily="49" charset="0"/>
            </a:endParaRPr>
          </a:p>
        </p:txBody>
      </p:sp>
      <p:sp>
        <p:nvSpPr>
          <p:cNvPr id="19" name="Oval 19"/>
          <p:cNvSpPr/>
          <p:nvPr/>
        </p:nvSpPr>
        <p:spPr>
          <a:xfrm>
            <a:off x="9263380" y="297688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3</a:t>
            </a:r>
            <a:endParaRPr lang="en-US" altLang="zh-CN" b="1"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7" presetClass="entr" presetSubtype="1"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ppt_h/2"/>
                                          </p:val>
                                        </p:tav>
                                        <p:tav tm="100000">
                                          <p:val>
                                            <p:strVal val="#ppt_y"/>
                                          </p:val>
                                        </p:tav>
                                      </p:tavLst>
                                    </p:anim>
                                    <p:anim calcmode="lin" valueType="num">
                                      <p:cBhvr>
                                        <p:cTn id="14" dur="500" fill="hold"/>
                                        <p:tgtEl>
                                          <p:spTgt spid="10"/>
                                        </p:tgtEl>
                                        <p:attrNameLst>
                                          <p:attrName>ppt_w</p:attrName>
                                        </p:attrNameLst>
                                      </p:cBhvr>
                                      <p:tavLst>
                                        <p:tav tm="0">
                                          <p:val>
                                            <p:strVal val="#ppt_w"/>
                                          </p:val>
                                        </p:tav>
                                        <p:tav tm="100000">
                                          <p:val>
                                            <p:strVal val="#ppt_w"/>
                                          </p:val>
                                        </p:tav>
                                      </p:tavLst>
                                    </p:anim>
                                    <p:anim calcmode="lin" valueType="num">
                                      <p:cBhvr>
                                        <p:cTn id="15" dur="500" fill="hold"/>
                                        <p:tgtEl>
                                          <p:spTgt spid="10"/>
                                        </p:tgtEl>
                                        <p:attrNameLst>
                                          <p:attrName>ppt_h</p:attrName>
                                        </p:attrNameLst>
                                      </p:cBhvr>
                                      <p:tavLst>
                                        <p:tav tm="0">
                                          <p:val>
                                            <p:fltVal val="0.000000"/>
                                          </p:val>
                                        </p:tav>
                                        <p:tav tm="100000">
                                          <p:val>
                                            <p:strVal val="#ppt_h"/>
                                          </p:val>
                                        </p:tav>
                                      </p:tavLst>
                                    </p:anim>
                                  </p:childTnLst>
                                </p:cTn>
                              </p:par>
                            </p:childTnLst>
                          </p:cTn>
                        </p:par>
                        <p:par>
                          <p:cTn id="16" fill="hold">
                            <p:stCondLst>
                              <p:cond delay="1000"/>
                            </p:stCondLst>
                            <p:childTnLst>
                              <p:par>
                                <p:cTn id="17" presetID="17" presetClass="entr" presetSubtype="1"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ppt_h/2"/>
                                          </p:val>
                                        </p:tav>
                                        <p:tav tm="100000">
                                          <p:val>
                                            <p:strVal val="#ppt_y"/>
                                          </p:val>
                                        </p:tav>
                                      </p:tavLst>
                                    </p:anim>
                                    <p:anim calcmode="lin" valueType="num">
                                      <p:cBhvr>
                                        <p:cTn id="21" dur="500" fill="hold"/>
                                        <p:tgtEl>
                                          <p:spTgt spid="9"/>
                                        </p:tgtEl>
                                        <p:attrNameLst>
                                          <p:attrName>ppt_w</p:attrName>
                                        </p:attrNameLst>
                                      </p:cBhvr>
                                      <p:tavLst>
                                        <p:tav tm="0">
                                          <p:val>
                                            <p:strVal val="#ppt_w"/>
                                          </p:val>
                                        </p:tav>
                                        <p:tav tm="100000">
                                          <p:val>
                                            <p:strVal val="#ppt_w"/>
                                          </p:val>
                                        </p:tav>
                                      </p:tavLst>
                                    </p:anim>
                                    <p:anim calcmode="lin" valueType="num">
                                      <p:cBhvr>
                                        <p:cTn id="22" dur="500" fill="hold"/>
                                        <p:tgtEl>
                                          <p:spTgt spid="9"/>
                                        </p:tgtEl>
                                        <p:attrNameLst>
                                          <p:attrName>ppt_h</p:attrName>
                                        </p:attrNameLst>
                                      </p:cBhvr>
                                      <p:tavLst>
                                        <p:tav tm="0">
                                          <p:val>
                                            <p:fltVal val="0.000000"/>
                                          </p:val>
                                        </p:tav>
                                        <p:tav tm="100000">
                                          <p:val>
                                            <p:strVal val="#ppt_h"/>
                                          </p:val>
                                        </p:tav>
                                      </p:tavLst>
                                    </p:anim>
                                  </p:childTnLst>
                                </p:cTn>
                              </p:par>
                            </p:childTnLst>
                          </p:cTn>
                        </p:par>
                        <p:par>
                          <p:cTn id="23" fill="hold">
                            <p:stCondLst>
                              <p:cond delay="1500"/>
                            </p:stCondLst>
                            <p:childTnLst>
                              <p:par>
                                <p:cTn id="24" presetID="17" presetClass="entr" presetSubtype="1"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ppt_x</p:attrName>
                                        </p:attrNameLst>
                                      </p:cBhvr>
                                      <p:tavLst>
                                        <p:tav tm="0">
                                          <p:val>
                                            <p:strVal val="#ppt_x"/>
                                          </p:val>
                                        </p:tav>
                                        <p:tav tm="100000">
                                          <p:val>
                                            <p:strVal val="#ppt_x"/>
                                          </p:val>
                                        </p:tav>
                                      </p:tavLst>
                                    </p:anim>
                                    <p:anim calcmode="lin" valueType="num">
                                      <p:cBhvr>
                                        <p:cTn id="27" dur="500" fill="hold"/>
                                        <p:tgtEl>
                                          <p:spTgt spid="11"/>
                                        </p:tgtEl>
                                        <p:attrNameLst>
                                          <p:attrName>ppt_y</p:attrName>
                                        </p:attrNameLst>
                                      </p:cBhvr>
                                      <p:tavLst>
                                        <p:tav tm="0">
                                          <p:val>
                                            <p:strVal val="#ppt_y-#ppt_h/2"/>
                                          </p:val>
                                        </p:tav>
                                        <p:tav tm="100000">
                                          <p:val>
                                            <p:strVal val="#ppt_y"/>
                                          </p:val>
                                        </p:tav>
                                      </p:tavLst>
                                    </p:anim>
                                    <p:anim calcmode="lin" valueType="num">
                                      <p:cBhvr>
                                        <p:cTn id="28" dur="500" fill="hold"/>
                                        <p:tgtEl>
                                          <p:spTgt spid="11"/>
                                        </p:tgtEl>
                                        <p:attrNameLst>
                                          <p:attrName>ppt_w</p:attrName>
                                        </p:attrNameLst>
                                      </p:cBhvr>
                                      <p:tavLst>
                                        <p:tav tm="0">
                                          <p:val>
                                            <p:strVal val="#ppt_w"/>
                                          </p:val>
                                        </p:tav>
                                        <p:tav tm="100000">
                                          <p:val>
                                            <p:strVal val="#ppt_w"/>
                                          </p:val>
                                        </p:tav>
                                      </p:tavLst>
                                    </p:anim>
                                    <p:anim calcmode="lin" valueType="num">
                                      <p:cBhvr>
                                        <p:cTn id="29" dur="500" fill="hold"/>
                                        <p:tgtEl>
                                          <p:spTgt spid="11"/>
                                        </p:tgtEl>
                                        <p:attrNameLst>
                                          <p:attrName>ppt_h</p:attrName>
                                        </p:attrNameLst>
                                      </p:cBhvr>
                                      <p:tavLst>
                                        <p:tav tm="0">
                                          <p:val>
                                            <p:fltVal val="0.000000"/>
                                          </p:val>
                                        </p:tav>
                                        <p:tav tm="100000">
                                          <p:val>
                                            <p:strVal val="#ppt_h"/>
                                          </p:val>
                                        </p:tav>
                                      </p:tavLst>
                                    </p:anim>
                                  </p:childTnLst>
                                </p:cTn>
                              </p:par>
                            </p:childTnLst>
                          </p:cTn>
                        </p:par>
                        <p:par>
                          <p:cTn id="30" fill="hold">
                            <p:stCondLst>
                              <p:cond delay="2000"/>
                            </p:stCondLst>
                            <p:childTnLst>
                              <p:par>
                                <p:cTn id="31" presetID="17" presetClass="entr" presetSubtype="1"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ppt_h/2"/>
                                          </p:val>
                                        </p:tav>
                                        <p:tav tm="100000">
                                          <p:val>
                                            <p:strVal val="#ppt_y"/>
                                          </p:val>
                                        </p:tav>
                                      </p:tavLst>
                                    </p:anim>
                                    <p:anim calcmode="lin" valueType="num">
                                      <p:cBhvr>
                                        <p:cTn id="35" dur="500" fill="hold"/>
                                        <p:tgtEl>
                                          <p:spTgt spid="17"/>
                                        </p:tgtEl>
                                        <p:attrNameLst>
                                          <p:attrName>ppt_w</p:attrName>
                                        </p:attrNameLst>
                                      </p:cBhvr>
                                      <p:tavLst>
                                        <p:tav tm="0">
                                          <p:val>
                                            <p:strVal val="#ppt_w"/>
                                          </p:val>
                                        </p:tav>
                                        <p:tav tm="100000">
                                          <p:val>
                                            <p:strVal val="#ppt_w"/>
                                          </p:val>
                                        </p:tav>
                                      </p:tavLst>
                                    </p:anim>
                                    <p:anim calcmode="lin" valueType="num">
                                      <p:cBhvr>
                                        <p:cTn id="36" dur="500" fill="hold"/>
                                        <p:tgtEl>
                                          <p:spTgt spid="17"/>
                                        </p:tgtEl>
                                        <p:attrNameLst>
                                          <p:attrName>ppt_h</p:attrName>
                                        </p:attrNameLst>
                                      </p:cBhvr>
                                      <p:tavLst>
                                        <p:tav tm="0">
                                          <p:val>
                                            <p:fltVal val="0.000000"/>
                                          </p:val>
                                        </p:tav>
                                        <p:tav tm="100000">
                                          <p:val>
                                            <p:strVal val="#ppt_h"/>
                                          </p:val>
                                        </p:tav>
                                      </p:tavLst>
                                    </p:anim>
                                  </p:childTnLst>
                                </p:cTn>
                              </p:par>
                            </p:childTnLst>
                          </p:cTn>
                        </p:par>
                        <p:par>
                          <p:cTn id="37" fill="hold">
                            <p:stCondLst>
                              <p:cond delay="2500"/>
                            </p:stCondLst>
                            <p:childTnLst>
                              <p:par>
                                <p:cTn id="38" presetID="17" presetClass="entr" presetSubtype="1"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ppt_h/2"/>
                                          </p:val>
                                        </p:tav>
                                        <p:tav tm="100000">
                                          <p:val>
                                            <p:strVal val="#ppt_y"/>
                                          </p:val>
                                        </p:tav>
                                      </p:tavLst>
                                    </p:anim>
                                    <p:anim calcmode="lin" valueType="num">
                                      <p:cBhvr>
                                        <p:cTn id="42" dur="500" fill="hold"/>
                                        <p:tgtEl>
                                          <p:spTgt spid="12"/>
                                        </p:tgtEl>
                                        <p:attrNameLst>
                                          <p:attrName>ppt_w</p:attrName>
                                        </p:attrNameLst>
                                      </p:cBhvr>
                                      <p:tavLst>
                                        <p:tav tm="0">
                                          <p:val>
                                            <p:strVal val="#ppt_w"/>
                                          </p:val>
                                        </p:tav>
                                        <p:tav tm="100000">
                                          <p:val>
                                            <p:strVal val="#ppt_w"/>
                                          </p:val>
                                        </p:tav>
                                      </p:tavLst>
                                    </p:anim>
                                    <p:anim calcmode="lin" valueType="num">
                                      <p:cBhvr>
                                        <p:cTn id="43" dur="500" fill="hold"/>
                                        <p:tgtEl>
                                          <p:spTgt spid="12"/>
                                        </p:tgtEl>
                                        <p:attrNameLst>
                                          <p:attrName>ppt_h</p:attrName>
                                        </p:attrNameLst>
                                      </p:cBhvr>
                                      <p:tavLst>
                                        <p:tav tm="0">
                                          <p:val>
                                            <p:fltVal val="0.000000"/>
                                          </p:val>
                                        </p:tav>
                                        <p:tav tm="100000">
                                          <p:val>
                                            <p:strVal val="#ppt_h"/>
                                          </p:val>
                                        </p:tav>
                                      </p:tavLst>
                                    </p:anim>
                                  </p:childTnLst>
                                </p:cTn>
                              </p:par>
                            </p:childTnLst>
                          </p:cTn>
                        </p:par>
                        <p:par>
                          <p:cTn id="44" fill="hold">
                            <p:stCondLst>
                              <p:cond delay="3000"/>
                            </p:stCondLst>
                            <p:childTnLst>
                              <p:par>
                                <p:cTn id="45" presetID="17" presetClass="entr" presetSubtype="1"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ppt_x</p:attrName>
                                        </p:attrNameLst>
                                      </p:cBhvr>
                                      <p:tavLst>
                                        <p:tav tm="0">
                                          <p:val>
                                            <p:strVal val="#ppt_x"/>
                                          </p:val>
                                        </p:tav>
                                        <p:tav tm="100000">
                                          <p:val>
                                            <p:strVal val="#ppt_x"/>
                                          </p:val>
                                        </p:tav>
                                      </p:tavLst>
                                    </p:anim>
                                    <p:anim calcmode="lin" valueType="num">
                                      <p:cBhvr>
                                        <p:cTn id="48" dur="500" fill="hold"/>
                                        <p:tgtEl>
                                          <p:spTgt spid="19"/>
                                        </p:tgtEl>
                                        <p:attrNameLst>
                                          <p:attrName>ppt_y</p:attrName>
                                        </p:attrNameLst>
                                      </p:cBhvr>
                                      <p:tavLst>
                                        <p:tav tm="0">
                                          <p:val>
                                            <p:strVal val="#ppt_y-#ppt_h/2"/>
                                          </p:val>
                                        </p:tav>
                                        <p:tav tm="100000">
                                          <p:val>
                                            <p:strVal val="#ppt_y"/>
                                          </p:val>
                                        </p:tav>
                                      </p:tavLst>
                                    </p:anim>
                                    <p:anim calcmode="lin" valueType="num">
                                      <p:cBhvr>
                                        <p:cTn id="49" dur="500" fill="hold"/>
                                        <p:tgtEl>
                                          <p:spTgt spid="19"/>
                                        </p:tgtEl>
                                        <p:attrNameLst>
                                          <p:attrName>ppt_w</p:attrName>
                                        </p:attrNameLst>
                                      </p:cBhvr>
                                      <p:tavLst>
                                        <p:tav tm="0">
                                          <p:val>
                                            <p:strVal val="#ppt_w"/>
                                          </p:val>
                                        </p:tav>
                                        <p:tav tm="100000">
                                          <p:val>
                                            <p:strVal val="#ppt_w"/>
                                          </p:val>
                                        </p:tav>
                                      </p:tavLst>
                                    </p:anim>
                                    <p:anim calcmode="lin" valueType="num">
                                      <p:cBhvr>
                                        <p:cTn id="50" dur="500" fill="hold"/>
                                        <p:tgtEl>
                                          <p:spTgt spid="19"/>
                                        </p:tgtEl>
                                        <p:attrNameLst>
                                          <p:attrName>ppt_h</p:attrName>
                                        </p:attrNameLst>
                                      </p:cBhvr>
                                      <p:tavLst>
                                        <p:tav tm="0">
                                          <p:val>
                                            <p:fltVal val="0.000000"/>
                                          </p:val>
                                        </p:tav>
                                        <p:tav tm="100000">
                                          <p:val>
                                            <p:strVal val="#ppt_h"/>
                                          </p:val>
                                        </p:tav>
                                      </p:tavLst>
                                    </p:anim>
                                  </p:childTnLst>
                                </p:cTn>
                              </p:par>
                            </p:childTnLst>
                          </p:cTn>
                        </p:par>
                        <p:par>
                          <p:cTn id="51" fill="hold">
                            <p:stCondLst>
                              <p:cond delay="3500"/>
                            </p:stCondLst>
                            <p:childTnLst>
                              <p:par>
                                <p:cTn id="52" presetID="17" presetClass="entr" presetSubtype="8" fill="hold" grpId="0" nodeType="after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p:cTn id="54" dur="500" fill="hold"/>
                                        <p:tgtEl>
                                          <p:spTgt spid="3"/>
                                        </p:tgtEl>
                                        <p:attrNameLst>
                                          <p:attrName>ppt_x</p:attrName>
                                        </p:attrNameLst>
                                      </p:cBhvr>
                                      <p:tavLst>
                                        <p:tav tm="0">
                                          <p:val>
                                            <p:strVal val="#ppt_x-#ppt_w/2"/>
                                          </p:val>
                                        </p:tav>
                                        <p:tav tm="100000">
                                          <p:val>
                                            <p:strVal val="#ppt_x"/>
                                          </p:val>
                                        </p:tav>
                                      </p:tavLst>
                                    </p:anim>
                                    <p:anim calcmode="lin" valueType="num">
                                      <p:cBhvr>
                                        <p:cTn id="55" dur="500" fill="hold"/>
                                        <p:tgtEl>
                                          <p:spTgt spid="3"/>
                                        </p:tgtEl>
                                        <p:attrNameLst>
                                          <p:attrName>ppt_y</p:attrName>
                                        </p:attrNameLst>
                                      </p:cBhvr>
                                      <p:tavLst>
                                        <p:tav tm="0">
                                          <p:val>
                                            <p:strVal val="#ppt_y"/>
                                          </p:val>
                                        </p:tav>
                                        <p:tav tm="100000">
                                          <p:val>
                                            <p:strVal val="#ppt_y"/>
                                          </p:val>
                                        </p:tav>
                                      </p:tavLst>
                                    </p:anim>
                                    <p:anim calcmode="lin" valueType="num">
                                      <p:cBhvr>
                                        <p:cTn id="56" dur="500" fill="hold"/>
                                        <p:tgtEl>
                                          <p:spTgt spid="3"/>
                                        </p:tgtEl>
                                        <p:attrNameLst>
                                          <p:attrName>ppt_w</p:attrName>
                                        </p:attrNameLst>
                                      </p:cBhvr>
                                      <p:tavLst>
                                        <p:tav tm="0">
                                          <p:val>
                                            <p:fltVal val="0.000000"/>
                                          </p:val>
                                        </p:tav>
                                        <p:tav tm="100000">
                                          <p:val>
                                            <p:strVal val="#ppt_w"/>
                                          </p:val>
                                        </p:tav>
                                      </p:tavLst>
                                    </p:anim>
                                    <p:anim calcmode="lin" valueType="num">
                                      <p:cBhvr>
                                        <p:cTn id="57" dur="500" fill="hold"/>
                                        <p:tgtEl>
                                          <p:spTgt spid="3"/>
                                        </p:tgtEl>
                                        <p:attrNameLst>
                                          <p:attrName>ppt_h</p:attrName>
                                        </p:attrNameLst>
                                      </p:cBhvr>
                                      <p:tavLst>
                                        <p:tav tm="0">
                                          <p:val>
                                            <p:strVal val="#ppt_h"/>
                                          </p:val>
                                        </p:tav>
                                        <p:tav tm="100000">
                                          <p:val>
                                            <p:strVal val="#ppt_h"/>
                                          </p:val>
                                        </p:tav>
                                      </p:tavLst>
                                    </p:anim>
                                  </p:childTnLst>
                                </p:cTn>
                              </p:par>
                            </p:childTnLst>
                          </p:cTn>
                        </p:par>
                        <p:par>
                          <p:cTn id="58" fill="hold">
                            <p:stCondLst>
                              <p:cond delay="4000"/>
                            </p:stCondLst>
                            <p:childTnLst>
                              <p:par>
                                <p:cTn id="59" presetID="17" presetClass="entr" presetSubtype="8" fill="hold" grpId="0" nodeType="after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p:cTn id="61" dur="500" fill="hold"/>
                                        <p:tgtEl>
                                          <p:spTgt spid="6"/>
                                        </p:tgtEl>
                                        <p:attrNameLst>
                                          <p:attrName>ppt_x</p:attrName>
                                        </p:attrNameLst>
                                      </p:cBhvr>
                                      <p:tavLst>
                                        <p:tav tm="0">
                                          <p:val>
                                            <p:strVal val="#ppt_x-#ppt_w/2"/>
                                          </p:val>
                                        </p:tav>
                                        <p:tav tm="100000">
                                          <p:val>
                                            <p:strVal val="#ppt_x"/>
                                          </p:val>
                                        </p:tav>
                                      </p:tavLst>
                                    </p:anim>
                                    <p:anim calcmode="lin" valueType="num">
                                      <p:cBhvr>
                                        <p:cTn id="62" dur="500" fill="hold"/>
                                        <p:tgtEl>
                                          <p:spTgt spid="6"/>
                                        </p:tgtEl>
                                        <p:attrNameLst>
                                          <p:attrName>ppt_y</p:attrName>
                                        </p:attrNameLst>
                                      </p:cBhvr>
                                      <p:tavLst>
                                        <p:tav tm="0">
                                          <p:val>
                                            <p:strVal val="#ppt_y"/>
                                          </p:val>
                                        </p:tav>
                                        <p:tav tm="100000">
                                          <p:val>
                                            <p:strVal val="#ppt_y"/>
                                          </p:val>
                                        </p:tav>
                                      </p:tavLst>
                                    </p:anim>
                                    <p:anim calcmode="lin" valueType="num">
                                      <p:cBhvr>
                                        <p:cTn id="63" dur="500" fill="hold"/>
                                        <p:tgtEl>
                                          <p:spTgt spid="6"/>
                                        </p:tgtEl>
                                        <p:attrNameLst>
                                          <p:attrName>ppt_w</p:attrName>
                                        </p:attrNameLst>
                                      </p:cBhvr>
                                      <p:tavLst>
                                        <p:tav tm="0">
                                          <p:val>
                                            <p:fltVal val="0.000000"/>
                                          </p:val>
                                        </p:tav>
                                        <p:tav tm="100000">
                                          <p:val>
                                            <p:strVal val="#ppt_w"/>
                                          </p:val>
                                        </p:tav>
                                      </p:tavLst>
                                    </p:anim>
                                    <p:anim calcmode="lin" valueType="num">
                                      <p:cBhvr>
                                        <p:cTn id="64" dur="500" fill="hold"/>
                                        <p:tgtEl>
                                          <p:spTgt spid="6"/>
                                        </p:tgtEl>
                                        <p:attrNameLst>
                                          <p:attrName>ppt_h</p:attrName>
                                        </p:attrNameLst>
                                      </p:cBhvr>
                                      <p:tavLst>
                                        <p:tav tm="0">
                                          <p:val>
                                            <p:strVal val="#ppt_h"/>
                                          </p:val>
                                        </p:tav>
                                        <p:tav tm="100000">
                                          <p:val>
                                            <p:strVal val="#ppt_h"/>
                                          </p:val>
                                        </p:tav>
                                      </p:tavLst>
                                    </p:anim>
                                  </p:childTnLst>
                                </p:cTn>
                              </p:par>
                            </p:childTnLst>
                          </p:cTn>
                        </p:par>
                        <p:par>
                          <p:cTn id="65" fill="hold">
                            <p:stCondLst>
                              <p:cond delay="4500"/>
                            </p:stCondLst>
                            <p:childTnLst>
                              <p:par>
                                <p:cTn id="66" presetID="17" presetClass="entr" presetSubtype="8" fill="hold" grpId="0" nodeType="afterEffect">
                                  <p:stCondLst>
                                    <p:cond delay="0"/>
                                  </p:stCondLst>
                                  <p:childTnLst>
                                    <p:set>
                                      <p:cBhvr>
                                        <p:cTn id="67" dur="1" fill="hold">
                                          <p:stCondLst>
                                            <p:cond delay="0"/>
                                          </p:stCondLst>
                                        </p:cTn>
                                        <p:tgtEl>
                                          <p:spTgt spid="8"/>
                                        </p:tgtEl>
                                        <p:attrNameLst>
                                          <p:attrName>style.visibility</p:attrName>
                                        </p:attrNameLst>
                                      </p:cBhvr>
                                      <p:to>
                                        <p:strVal val="visible"/>
                                      </p:to>
                                    </p:set>
                                    <p:anim calcmode="lin" valueType="num">
                                      <p:cBhvr>
                                        <p:cTn id="68" dur="500" fill="hold"/>
                                        <p:tgtEl>
                                          <p:spTgt spid="8"/>
                                        </p:tgtEl>
                                        <p:attrNameLst>
                                          <p:attrName>ppt_x</p:attrName>
                                        </p:attrNameLst>
                                      </p:cBhvr>
                                      <p:tavLst>
                                        <p:tav tm="0">
                                          <p:val>
                                            <p:strVal val="#ppt_x-#ppt_w/2"/>
                                          </p:val>
                                        </p:tav>
                                        <p:tav tm="100000">
                                          <p:val>
                                            <p:strVal val="#ppt_x"/>
                                          </p:val>
                                        </p:tav>
                                      </p:tavLst>
                                    </p:anim>
                                    <p:anim calcmode="lin" valueType="num">
                                      <p:cBhvr>
                                        <p:cTn id="69" dur="500" fill="hold"/>
                                        <p:tgtEl>
                                          <p:spTgt spid="8"/>
                                        </p:tgtEl>
                                        <p:attrNameLst>
                                          <p:attrName>ppt_y</p:attrName>
                                        </p:attrNameLst>
                                      </p:cBhvr>
                                      <p:tavLst>
                                        <p:tav tm="0">
                                          <p:val>
                                            <p:strVal val="#ppt_y"/>
                                          </p:val>
                                        </p:tav>
                                        <p:tav tm="100000">
                                          <p:val>
                                            <p:strVal val="#ppt_y"/>
                                          </p:val>
                                        </p:tav>
                                      </p:tavLst>
                                    </p:anim>
                                    <p:anim calcmode="lin" valueType="num">
                                      <p:cBhvr>
                                        <p:cTn id="70" dur="500" fill="hold"/>
                                        <p:tgtEl>
                                          <p:spTgt spid="8"/>
                                        </p:tgtEl>
                                        <p:attrNameLst>
                                          <p:attrName>ppt_w</p:attrName>
                                        </p:attrNameLst>
                                      </p:cBhvr>
                                      <p:tavLst>
                                        <p:tav tm="0">
                                          <p:val>
                                            <p:fltVal val="0.000000"/>
                                          </p:val>
                                        </p:tav>
                                        <p:tav tm="100000">
                                          <p:val>
                                            <p:strVal val="#ppt_w"/>
                                          </p:val>
                                        </p:tav>
                                      </p:tavLst>
                                    </p:anim>
                                    <p:anim calcmode="lin" valueType="num">
                                      <p:cBhvr>
                                        <p:cTn id="71" dur="500" fill="hold"/>
                                        <p:tgtEl>
                                          <p:spTgt spid="8"/>
                                        </p:tgtEl>
                                        <p:attrNameLst>
                                          <p:attrName>ppt_h</p:attrName>
                                        </p:attrNameLst>
                                      </p:cBhvr>
                                      <p:tavLst>
                                        <p:tav tm="0">
                                          <p:val>
                                            <p:strVal val="#ppt_h"/>
                                          </p:val>
                                        </p:tav>
                                        <p:tav tm="100000">
                                          <p:val>
                                            <p:strVal val="#ppt_h"/>
                                          </p:val>
                                        </p:tav>
                                      </p:tavLst>
                                    </p:anim>
                                  </p:childTnLst>
                                </p:cTn>
                              </p:par>
                            </p:childTnLst>
                          </p:cTn>
                        </p:par>
                        <p:par>
                          <p:cTn id="72" fill="hold">
                            <p:stCondLst>
                              <p:cond delay="5000"/>
                            </p:stCondLst>
                            <p:childTnLst>
                              <p:par>
                                <p:cTn id="73" presetID="1" presetClass="entr" presetSubtype="0" fill="hold" grpId="0" nodeType="afterEffect">
                                  <p:stCondLst>
                                    <p:cond delay="0"/>
                                  </p:stCondLst>
                                  <p:childTnLst>
                                    <p:set>
                                      <p:cBhvr>
                                        <p:cTn id="74" dur="1" fill="hold">
                                          <p:stCondLst>
                                            <p:cond delay="499"/>
                                          </p:stCondLst>
                                        </p:cTn>
                                        <p:tgtEl>
                                          <p:spTgt spid="18"/>
                                        </p:tgtEl>
                                        <p:attrNameLst>
                                          <p:attrName>style.visibility</p:attrName>
                                        </p:attrNameLst>
                                      </p:cBhvr>
                                      <p:to>
                                        <p:strVal val="visible"/>
                                      </p:to>
                                    </p:set>
                                  </p:childTnLst>
                                </p:cTn>
                              </p:par>
                            </p:childTnLst>
                          </p:cTn>
                        </p:par>
                        <p:par>
                          <p:cTn id="75" fill="hold">
                            <p:stCondLst>
                              <p:cond delay="5500"/>
                            </p:stCondLst>
                            <p:childTnLst>
                              <p:par>
                                <p:cTn id="76" presetID="17" presetClass="entr" presetSubtype="8" fill="hold" grpId="0" nodeType="afterEffect">
                                  <p:stCondLst>
                                    <p:cond delay="0"/>
                                  </p:stCondLst>
                                  <p:childTnLst>
                                    <p:set>
                                      <p:cBhvr>
                                        <p:cTn id="77" dur="1" fill="hold">
                                          <p:stCondLst>
                                            <p:cond delay="0"/>
                                          </p:stCondLst>
                                        </p:cTn>
                                        <p:tgtEl>
                                          <p:spTgt spid="14"/>
                                        </p:tgtEl>
                                        <p:attrNameLst>
                                          <p:attrName>style.visibility</p:attrName>
                                        </p:attrNameLst>
                                      </p:cBhvr>
                                      <p:to>
                                        <p:strVal val="visible"/>
                                      </p:to>
                                    </p:set>
                                    <p:anim calcmode="lin" valueType="num">
                                      <p:cBhvr>
                                        <p:cTn id="78" dur="500" fill="hold"/>
                                        <p:tgtEl>
                                          <p:spTgt spid="14"/>
                                        </p:tgtEl>
                                        <p:attrNameLst>
                                          <p:attrName>ppt_x</p:attrName>
                                        </p:attrNameLst>
                                      </p:cBhvr>
                                      <p:tavLst>
                                        <p:tav tm="0">
                                          <p:val>
                                            <p:strVal val="#ppt_x-#ppt_w/2"/>
                                          </p:val>
                                        </p:tav>
                                        <p:tav tm="100000">
                                          <p:val>
                                            <p:strVal val="#ppt_x"/>
                                          </p:val>
                                        </p:tav>
                                      </p:tavLst>
                                    </p:anim>
                                    <p:anim calcmode="lin" valueType="num">
                                      <p:cBhvr>
                                        <p:cTn id="79" dur="500" fill="hold"/>
                                        <p:tgtEl>
                                          <p:spTgt spid="14"/>
                                        </p:tgtEl>
                                        <p:attrNameLst>
                                          <p:attrName>ppt_y</p:attrName>
                                        </p:attrNameLst>
                                      </p:cBhvr>
                                      <p:tavLst>
                                        <p:tav tm="0">
                                          <p:val>
                                            <p:strVal val="#ppt_y"/>
                                          </p:val>
                                        </p:tav>
                                        <p:tav tm="100000">
                                          <p:val>
                                            <p:strVal val="#ppt_y"/>
                                          </p:val>
                                        </p:tav>
                                      </p:tavLst>
                                    </p:anim>
                                    <p:anim calcmode="lin" valueType="num">
                                      <p:cBhvr>
                                        <p:cTn id="80" dur="500" fill="hold"/>
                                        <p:tgtEl>
                                          <p:spTgt spid="14"/>
                                        </p:tgtEl>
                                        <p:attrNameLst>
                                          <p:attrName>ppt_w</p:attrName>
                                        </p:attrNameLst>
                                      </p:cBhvr>
                                      <p:tavLst>
                                        <p:tav tm="0">
                                          <p:val>
                                            <p:fltVal val="0.000000"/>
                                          </p:val>
                                        </p:tav>
                                        <p:tav tm="100000">
                                          <p:val>
                                            <p:strVal val="#ppt_w"/>
                                          </p:val>
                                        </p:tav>
                                      </p:tavLst>
                                    </p:anim>
                                    <p:anim calcmode="lin" valueType="num">
                                      <p:cBhvr>
                                        <p:cTn id="81" dur="500" fill="hold"/>
                                        <p:tgtEl>
                                          <p:spTgt spid="14"/>
                                        </p:tgtEl>
                                        <p:attrNameLst>
                                          <p:attrName>ppt_h</p:attrName>
                                        </p:attrNameLst>
                                      </p:cBhvr>
                                      <p:tavLst>
                                        <p:tav tm="0">
                                          <p:val>
                                            <p:strVal val="#ppt_h"/>
                                          </p:val>
                                        </p:tav>
                                        <p:tav tm="100000">
                                          <p:val>
                                            <p:strVal val="#ppt_h"/>
                                          </p:val>
                                        </p:tav>
                                      </p:tavLst>
                                    </p:anim>
                                  </p:childTnLst>
                                </p:cTn>
                              </p:par>
                            </p:childTnLst>
                          </p:cTn>
                        </p:par>
                        <p:par>
                          <p:cTn id="82" fill="hold">
                            <p:stCondLst>
                              <p:cond delay="6000"/>
                            </p:stCondLst>
                            <p:childTnLst>
                              <p:par>
                                <p:cTn id="83" presetID="17" presetClass="entr" presetSubtype="8" fill="hold" grpId="0" nodeType="afterEffect">
                                  <p:stCondLst>
                                    <p:cond delay="0"/>
                                  </p:stCondLst>
                                  <p:childTnLst>
                                    <p:set>
                                      <p:cBhvr>
                                        <p:cTn id="84" dur="1" fill="hold">
                                          <p:stCondLst>
                                            <p:cond delay="0"/>
                                          </p:stCondLst>
                                        </p:cTn>
                                        <p:tgtEl>
                                          <p:spTgt spid="15"/>
                                        </p:tgtEl>
                                        <p:attrNameLst>
                                          <p:attrName>style.visibility</p:attrName>
                                        </p:attrNameLst>
                                      </p:cBhvr>
                                      <p:to>
                                        <p:strVal val="visible"/>
                                      </p:to>
                                    </p:set>
                                    <p:anim calcmode="lin" valueType="num">
                                      <p:cBhvr>
                                        <p:cTn id="85" dur="500" fill="hold"/>
                                        <p:tgtEl>
                                          <p:spTgt spid="15"/>
                                        </p:tgtEl>
                                        <p:attrNameLst>
                                          <p:attrName>ppt_x</p:attrName>
                                        </p:attrNameLst>
                                      </p:cBhvr>
                                      <p:tavLst>
                                        <p:tav tm="0">
                                          <p:val>
                                            <p:strVal val="#ppt_x-#ppt_w/2"/>
                                          </p:val>
                                        </p:tav>
                                        <p:tav tm="100000">
                                          <p:val>
                                            <p:strVal val="#ppt_x"/>
                                          </p:val>
                                        </p:tav>
                                      </p:tavLst>
                                    </p:anim>
                                    <p:anim calcmode="lin" valueType="num">
                                      <p:cBhvr>
                                        <p:cTn id="86" dur="500" fill="hold"/>
                                        <p:tgtEl>
                                          <p:spTgt spid="15"/>
                                        </p:tgtEl>
                                        <p:attrNameLst>
                                          <p:attrName>ppt_y</p:attrName>
                                        </p:attrNameLst>
                                      </p:cBhvr>
                                      <p:tavLst>
                                        <p:tav tm="0">
                                          <p:val>
                                            <p:strVal val="#ppt_y"/>
                                          </p:val>
                                        </p:tav>
                                        <p:tav tm="100000">
                                          <p:val>
                                            <p:strVal val="#ppt_y"/>
                                          </p:val>
                                        </p:tav>
                                      </p:tavLst>
                                    </p:anim>
                                    <p:anim calcmode="lin" valueType="num">
                                      <p:cBhvr>
                                        <p:cTn id="87" dur="500" fill="hold"/>
                                        <p:tgtEl>
                                          <p:spTgt spid="15"/>
                                        </p:tgtEl>
                                        <p:attrNameLst>
                                          <p:attrName>ppt_w</p:attrName>
                                        </p:attrNameLst>
                                      </p:cBhvr>
                                      <p:tavLst>
                                        <p:tav tm="0">
                                          <p:val>
                                            <p:fltVal val="0.000000"/>
                                          </p:val>
                                        </p:tav>
                                        <p:tav tm="100000">
                                          <p:val>
                                            <p:strVal val="#ppt_w"/>
                                          </p:val>
                                        </p:tav>
                                      </p:tavLst>
                                    </p:anim>
                                    <p:anim calcmode="lin" valueType="num">
                                      <p:cBhvr>
                                        <p:cTn id="88" dur="500" fill="hold"/>
                                        <p:tgtEl>
                                          <p:spTgt spid="15"/>
                                        </p:tgtEl>
                                        <p:attrNameLst>
                                          <p:attrName>ppt_h</p:attrName>
                                        </p:attrNameLst>
                                      </p:cBhvr>
                                      <p:tavLst>
                                        <p:tav tm="0">
                                          <p:val>
                                            <p:strVal val="#ppt_h"/>
                                          </p:val>
                                        </p:tav>
                                        <p:tav tm="100000">
                                          <p:val>
                                            <p:strVal val="#ppt_h"/>
                                          </p:val>
                                        </p:tav>
                                      </p:tavLst>
                                    </p:anim>
                                  </p:childTnLst>
                                </p:cTn>
                              </p:par>
                            </p:childTnLst>
                          </p:cTn>
                        </p:par>
                        <p:par>
                          <p:cTn id="89" fill="hold">
                            <p:stCondLst>
                              <p:cond delay="6500"/>
                            </p:stCondLst>
                            <p:childTnLst>
                              <p:par>
                                <p:cTn id="90" presetID="17" presetClass="entr" presetSubtype="8" fill="hold" grpId="0" nodeType="afterEffect">
                                  <p:stCondLst>
                                    <p:cond delay="0"/>
                                  </p:stCondLst>
                                  <p:childTnLst>
                                    <p:set>
                                      <p:cBhvr>
                                        <p:cTn id="91" dur="1" fill="hold">
                                          <p:stCondLst>
                                            <p:cond delay="0"/>
                                          </p:stCondLst>
                                        </p:cTn>
                                        <p:tgtEl>
                                          <p:spTgt spid="16"/>
                                        </p:tgtEl>
                                        <p:attrNameLst>
                                          <p:attrName>style.visibility</p:attrName>
                                        </p:attrNameLst>
                                      </p:cBhvr>
                                      <p:to>
                                        <p:strVal val="visible"/>
                                      </p:to>
                                    </p:set>
                                    <p:anim calcmode="lin" valueType="num">
                                      <p:cBhvr>
                                        <p:cTn id="92" dur="500" fill="hold"/>
                                        <p:tgtEl>
                                          <p:spTgt spid="16"/>
                                        </p:tgtEl>
                                        <p:attrNameLst>
                                          <p:attrName>ppt_x</p:attrName>
                                        </p:attrNameLst>
                                      </p:cBhvr>
                                      <p:tavLst>
                                        <p:tav tm="0">
                                          <p:val>
                                            <p:strVal val="#ppt_x-#ppt_w/2"/>
                                          </p:val>
                                        </p:tav>
                                        <p:tav tm="100000">
                                          <p:val>
                                            <p:strVal val="#ppt_x"/>
                                          </p:val>
                                        </p:tav>
                                      </p:tavLst>
                                    </p:anim>
                                    <p:anim calcmode="lin" valueType="num">
                                      <p:cBhvr>
                                        <p:cTn id="93" dur="500" fill="hold"/>
                                        <p:tgtEl>
                                          <p:spTgt spid="16"/>
                                        </p:tgtEl>
                                        <p:attrNameLst>
                                          <p:attrName>ppt_y</p:attrName>
                                        </p:attrNameLst>
                                      </p:cBhvr>
                                      <p:tavLst>
                                        <p:tav tm="0">
                                          <p:val>
                                            <p:strVal val="#ppt_y"/>
                                          </p:val>
                                        </p:tav>
                                        <p:tav tm="100000">
                                          <p:val>
                                            <p:strVal val="#ppt_y"/>
                                          </p:val>
                                        </p:tav>
                                      </p:tavLst>
                                    </p:anim>
                                    <p:anim calcmode="lin" valueType="num">
                                      <p:cBhvr>
                                        <p:cTn id="94" dur="500" fill="hold"/>
                                        <p:tgtEl>
                                          <p:spTgt spid="16"/>
                                        </p:tgtEl>
                                        <p:attrNameLst>
                                          <p:attrName>ppt_w</p:attrName>
                                        </p:attrNameLst>
                                      </p:cBhvr>
                                      <p:tavLst>
                                        <p:tav tm="0">
                                          <p:val>
                                            <p:fltVal val="0.000000"/>
                                          </p:val>
                                        </p:tav>
                                        <p:tav tm="100000">
                                          <p:val>
                                            <p:strVal val="#ppt_w"/>
                                          </p:val>
                                        </p:tav>
                                      </p:tavLst>
                                    </p:anim>
                                    <p:anim calcmode="lin" valueType="num">
                                      <p:cBhvr>
                                        <p:cTn id="95"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 grpId="0" bldLvl="0" animBg="1"/>
      <p:bldP spid="6" grpId="0" bldLvl="0" animBg="1"/>
      <p:bldP spid="8" grpId="0" bldLvl="0" animBg="1"/>
      <p:bldP spid="9" grpId="0" bldLvl="0" animBg="1"/>
      <p:bldP spid="14" grpId="0"/>
      <p:bldP spid="15" grpId="0"/>
      <p:bldP spid="16" grpId="0"/>
      <p:bldP spid="17" grpId="0" bldLvl="0" animBg="1"/>
      <p:bldP spid="18" grpId="0" bldLvl="0" animBg="1"/>
      <p:bldP spid="19"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连通图的</a:t>
            </a:r>
            <a:r>
              <a:rPr lang="zh-CN" altLang="en-US" sz="3600" b="1" dirty="0" smtClean="0">
                <a:solidFill>
                  <a:schemeClr val="bg1"/>
                </a:solidFill>
                <a:latin typeface="微软雅黑" panose="020B0503020204020204" pitchFamily="34" charset="-122"/>
                <a:ea typeface="微软雅黑" panose="020B0503020204020204" pitchFamily="34" charset="-122"/>
              </a:rPr>
              <a:t>深度优先遍历</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1683" name="内容占位符 2"/>
          <p:cNvSpPr>
            <a:spLocks noGrp="1"/>
          </p:cNvSpPr>
          <p:nvPr>
            <p:ph idx="1"/>
          </p:nvPr>
        </p:nvSpPr>
        <p:spPr>
          <a:xfrm>
            <a:off x="729615" y="1237615"/>
            <a:ext cx="9337040" cy="3810000"/>
          </a:xfrm>
        </p:spPr>
        <p:txBody>
          <a:bodyPr vert="horz" wrap="square" lIns="91440" tIns="45720" rIns="91440" bIns="45720" anchor="t"/>
          <a:p>
            <a:pPr fontAlgn="auto">
              <a:lnSpc>
                <a:spcPct val="125000"/>
              </a:lnSpc>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从深度优先搜索遍历连通图的过程类似于树的先根遍历；</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如何判别</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的邻接点是否被访问？</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解决的办法是：为每个顶点设立一个 “访问标志</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visited[w]”</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连通图的深度优先遍历算法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2707" name="Rectangle 6"/>
          <p:cNvSpPr/>
          <p:nvPr>
            <p:ph idx="1"/>
          </p:nvPr>
        </p:nvSpPr>
        <p:spPr>
          <a:xfrm>
            <a:off x="1981200" y="947420"/>
            <a:ext cx="8229600" cy="5374005"/>
          </a:xfrm>
          <a:solidFill>
            <a:schemeClr val="accent1">
              <a:lumMod val="20000"/>
              <a:lumOff val="80000"/>
            </a:schemeClr>
          </a:solidFill>
          <a:ln w="3175">
            <a:solidFill>
              <a:schemeClr val="tx2">
                <a:alpha val="100000"/>
              </a:schemeClr>
            </a:solidFill>
            <a:miter lim="800000"/>
          </a:ln>
        </p:spPr>
        <p:txBody>
          <a:bodyPr vert="horz" wrap="square" lIns="91440" tIns="45720" rIns="91440" bIns="45720" anchor="t">
            <a:normAutofit fontScale="90000" lnSpcReduction="20000"/>
          </a:bodyPr>
          <a:p>
            <a:pPr fontAlgn="auto">
              <a:lnSpc>
                <a:spcPct val="140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从某一顶点出发，递归地以深度优先的方法遍历图，参数</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是出发顶点在顶点表的序号</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void ALGraph&lt;VertexType&gt;::DFS(void (*Visit)(const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VertexType&amp;), int 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设置序号为v的顶点的访问标志，并调用Visit函数访问它</a:t>
            </a:r>
            <a:endParaRPr lang="zh-CN" altLang="en-US"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visited[v]=true;</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Visit(vertices[v].data);</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查找序号为v的顶点的所有邻接顶点，该邻接顶点的序号为w，</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zh-CN" altLang="en-US"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对w递归调用DFS</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*p=vertices[v].edgeList;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while(p!=NULL){</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w=p-&gt;adjVertex;</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if(!visited[w])</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DFS(Visit, w);</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p=p-&gt;next;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14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非连通图的深度优先遍历</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3731" name="内容占位符 2"/>
          <p:cNvSpPr>
            <a:spLocks noGrp="1"/>
          </p:cNvSpPr>
          <p:nvPr>
            <p:ph idx="1"/>
          </p:nvPr>
        </p:nvSpPr>
        <p:spPr>
          <a:xfrm>
            <a:off x="656590" y="1253490"/>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首先将图中每个顶点的访问标志设为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FALSE,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之后搜索图中每个顶点，如果未被访问，则以该顶点为起始点，进行深度优先搜索遍历，否则继续检查下一顶点。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非连通图的深度优先遍历算法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4756" name="Rectangle 4"/>
          <p:cNvSpPr/>
          <p:nvPr/>
        </p:nvSpPr>
        <p:spPr>
          <a:xfrm>
            <a:off x="1552258" y="1140460"/>
            <a:ext cx="9087485" cy="4907915"/>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以深度优先的方法遍历图，参数</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是遍历到每个顶点时调用的函数</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void ALGraph&lt;VertexType&gt;::DFSTraverse(void (*Visit)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(const VertexType &amp;))</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每个顶点的访问标志置为false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visited=new bool[numVertices];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for(v=0; v&lt;numVertices;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visited[v]=false;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以顶点表中的每个未访问过的顶点出发进行遍历</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 (v=0; v&lt;numVertices;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 (!visited[v])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DFS(Visit,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delete[] visited;</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深度优先遍历例子</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4755" name="Rectangle 3"/>
          <p:cNvSpPr>
            <a:spLocks noGrp="1"/>
          </p:cNvSpPr>
          <p:nvPr>
            <p:ph idx="1"/>
          </p:nvPr>
        </p:nvSpPr>
        <p:spPr>
          <a:xfrm>
            <a:off x="965835" y="1253490"/>
            <a:ext cx="10515600" cy="4351655"/>
          </a:xfrm>
        </p:spPr>
        <p:txBody>
          <a:bodyPr vert="horz" wrap="square" lIns="91440" tIns="45720" rIns="91440" bIns="45720" anchor="t"/>
          <a:p>
            <a:pPr fontAlgn="auto">
              <a:lnSpc>
                <a:spcPct val="125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DFS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访问顺序：</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v1 v2 v4 v8  v5 v3 v6 v7</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p:txBody>
      </p:sp>
      <p:grpSp>
        <p:nvGrpSpPr>
          <p:cNvPr id="3" name="Group 40"/>
          <p:cNvGrpSpPr/>
          <p:nvPr/>
        </p:nvGrpSpPr>
        <p:grpSpPr>
          <a:xfrm>
            <a:off x="6040120" y="1548130"/>
            <a:ext cx="4786630" cy="4057015"/>
            <a:chOff x="842" y="2644"/>
            <a:chExt cx="1416" cy="1283"/>
          </a:xfrm>
        </p:grpSpPr>
        <p:sp>
          <p:nvSpPr>
            <p:cNvPr id="75781" name="Oval 41"/>
            <p:cNvSpPr/>
            <p:nvPr/>
          </p:nvSpPr>
          <p:spPr>
            <a:xfrm>
              <a:off x="1456" y="2644"/>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1</a:t>
              </a:r>
              <a:endParaRPr lang="en-US" altLang="zh-CN" sz="2000" dirty="0">
                <a:ea typeface="宋体" panose="02010600030101010101" pitchFamily="2" charset="-122"/>
              </a:endParaRPr>
            </a:p>
          </p:txBody>
        </p:sp>
        <p:sp>
          <p:nvSpPr>
            <p:cNvPr id="75782" name="Oval 42"/>
            <p:cNvSpPr/>
            <p:nvPr/>
          </p:nvSpPr>
          <p:spPr>
            <a:xfrm>
              <a:off x="1097" y="2962"/>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2</a:t>
              </a:r>
              <a:endParaRPr lang="en-US" altLang="zh-CN" sz="2000" dirty="0">
                <a:ea typeface="宋体" panose="02010600030101010101" pitchFamily="2" charset="-122"/>
              </a:endParaRPr>
            </a:p>
          </p:txBody>
        </p:sp>
        <p:sp>
          <p:nvSpPr>
            <p:cNvPr id="75783" name="Oval 43"/>
            <p:cNvSpPr/>
            <p:nvPr/>
          </p:nvSpPr>
          <p:spPr>
            <a:xfrm>
              <a:off x="926"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4</a:t>
              </a:r>
              <a:endParaRPr lang="en-US" altLang="zh-CN" sz="2000" dirty="0">
                <a:ea typeface="宋体" panose="02010600030101010101" pitchFamily="2" charset="-122"/>
              </a:endParaRPr>
            </a:p>
          </p:txBody>
        </p:sp>
        <p:sp>
          <p:nvSpPr>
            <p:cNvPr id="75784" name="Oval 44"/>
            <p:cNvSpPr/>
            <p:nvPr/>
          </p:nvSpPr>
          <p:spPr>
            <a:xfrm>
              <a:off x="1288"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5</a:t>
              </a:r>
              <a:endParaRPr lang="en-US" altLang="zh-CN" sz="2000" dirty="0">
                <a:ea typeface="宋体" panose="02010600030101010101" pitchFamily="2" charset="-122"/>
              </a:endParaRPr>
            </a:p>
          </p:txBody>
        </p:sp>
        <p:sp>
          <p:nvSpPr>
            <p:cNvPr id="75785" name="Oval 45"/>
            <p:cNvSpPr/>
            <p:nvPr/>
          </p:nvSpPr>
          <p:spPr>
            <a:xfrm>
              <a:off x="1851" y="2962"/>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3</a:t>
              </a:r>
              <a:endParaRPr lang="en-US" altLang="zh-CN" sz="2000" dirty="0">
                <a:ea typeface="宋体" panose="02010600030101010101" pitchFamily="2" charset="-122"/>
              </a:endParaRPr>
            </a:p>
          </p:txBody>
        </p:sp>
        <p:sp>
          <p:nvSpPr>
            <p:cNvPr id="75786" name="Oval 46"/>
            <p:cNvSpPr/>
            <p:nvPr/>
          </p:nvSpPr>
          <p:spPr>
            <a:xfrm>
              <a:off x="2047"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7</a:t>
              </a:r>
              <a:endParaRPr lang="en-US" altLang="zh-CN" sz="2000" dirty="0">
                <a:ea typeface="宋体" panose="02010600030101010101" pitchFamily="2" charset="-122"/>
              </a:endParaRPr>
            </a:p>
          </p:txBody>
        </p:sp>
        <p:sp>
          <p:nvSpPr>
            <p:cNvPr id="75787" name="Oval 47"/>
            <p:cNvSpPr/>
            <p:nvPr/>
          </p:nvSpPr>
          <p:spPr>
            <a:xfrm>
              <a:off x="1654"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6</a:t>
              </a:r>
              <a:endParaRPr lang="en-US" altLang="zh-CN" sz="2000" dirty="0">
                <a:ea typeface="宋体" panose="02010600030101010101" pitchFamily="2" charset="-122"/>
              </a:endParaRPr>
            </a:p>
          </p:txBody>
        </p:sp>
        <p:sp>
          <p:nvSpPr>
            <p:cNvPr id="75788" name="Oval 48"/>
            <p:cNvSpPr/>
            <p:nvPr/>
          </p:nvSpPr>
          <p:spPr>
            <a:xfrm>
              <a:off x="1127" y="3716"/>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8</a:t>
              </a:r>
              <a:endParaRPr lang="en-US" altLang="zh-CN" sz="2000" dirty="0">
                <a:ea typeface="宋体" panose="02010600030101010101" pitchFamily="2" charset="-122"/>
              </a:endParaRPr>
            </a:p>
          </p:txBody>
        </p:sp>
        <p:sp>
          <p:nvSpPr>
            <p:cNvPr id="75789" name="Line 49"/>
            <p:cNvSpPr/>
            <p:nvPr/>
          </p:nvSpPr>
          <p:spPr>
            <a:xfrm flipH="1">
              <a:off x="1311" y="2833"/>
              <a:ext cx="178" cy="178"/>
            </a:xfrm>
            <a:prstGeom prst="line">
              <a:avLst/>
            </a:prstGeom>
            <a:ln w="9525" cap="flat" cmpd="sng">
              <a:solidFill>
                <a:schemeClr val="tx1"/>
              </a:solidFill>
              <a:prstDash val="solid"/>
              <a:headEnd type="none" w="med" len="med"/>
              <a:tailEnd type="none" w="med" len="med"/>
            </a:ln>
          </p:spPr>
        </p:sp>
        <p:sp>
          <p:nvSpPr>
            <p:cNvPr id="75790" name="Line 50"/>
            <p:cNvSpPr/>
            <p:nvPr/>
          </p:nvSpPr>
          <p:spPr>
            <a:xfrm>
              <a:off x="1645" y="2822"/>
              <a:ext cx="211" cy="211"/>
            </a:xfrm>
            <a:prstGeom prst="line">
              <a:avLst/>
            </a:prstGeom>
            <a:ln w="9525" cap="flat" cmpd="sng">
              <a:solidFill>
                <a:schemeClr val="tx1"/>
              </a:solidFill>
              <a:prstDash val="solid"/>
              <a:headEnd type="none" w="med" len="med"/>
              <a:tailEnd type="none" w="med" len="med"/>
            </a:ln>
          </p:spPr>
        </p:sp>
        <p:sp>
          <p:nvSpPr>
            <p:cNvPr id="75791" name="Line 51"/>
            <p:cNvSpPr/>
            <p:nvPr/>
          </p:nvSpPr>
          <p:spPr>
            <a:xfrm flipH="1">
              <a:off x="1067" y="3166"/>
              <a:ext cx="100" cy="178"/>
            </a:xfrm>
            <a:prstGeom prst="line">
              <a:avLst/>
            </a:prstGeom>
            <a:ln w="9525" cap="flat" cmpd="sng">
              <a:solidFill>
                <a:schemeClr val="tx1"/>
              </a:solidFill>
              <a:prstDash val="solid"/>
              <a:headEnd type="none" w="med" len="med"/>
              <a:tailEnd type="none" w="med" len="med"/>
            </a:ln>
          </p:spPr>
        </p:sp>
        <p:sp>
          <p:nvSpPr>
            <p:cNvPr id="75792" name="Line 52"/>
            <p:cNvSpPr/>
            <p:nvPr/>
          </p:nvSpPr>
          <p:spPr>
            <a:xfrm>
              <a:off x="1256" y="3144"/>
              <a:ext cx="111" cy="222"/>
            </a:xfrm>
            <a:prstGeom prst="line">
              <a:avLst/>
            </a:prstGeom>
            <a:ln w="9525" cap="flat" cmpd="sng">
              <a:solidFill>
                <a:schemeClr val="tx1"/>
              </a:solidFill>
              <a:prstDash val="solid"/>
              <a:headEnd type="none" w="med" len="med"/>
              <a:tailEnd type="none" w="med" len="med"/>
            </a:ln>
          </p:spPr>
        </p:sp>
        <p:sp>
          <p:nvSpPr>
            <p:cNvPr id="75793" name="Line 53"/>
            <p:cNvSpPr/>
            <p:nvPr/>
          </p:nvSpPr>
          <p:spPr>
            <a:xfrm>
              <a:off x="1056" y="3533"/>
              <a:ext cx="89" cy="211"/>
            </a:xfrm>
            <a:prstGeom prst="line">
              <a:avLst/>
            </a:prstGeom>
            <a:ln w="9525" cap="flat" cmpd="sng">
              <a:solidFill>
                <a:schemeClr val="tx1"/>
              </a:solidFill>
              <a:prstDash val="solid"/>
              <a:headEnd type="none" w="med" len="med"/>
              <a:tailEnd type="none" w="med" len="med"/>
            </a:ln>
          </p:spPr>
        </p:sp>
        <p:sp>
          <p:nvSpPr>
            <p:cNvPr id="75794" name="Line 54"/>
            <p:cNvSpPr/>
            <p:nvPr/>
          </p:nvSpPr>
          <p:spPr>
            <a:xfrm flipH="1">
              <a:off x="1289" y="3555"/>
              <a:ext cx="89" cy="178"/>
            </a:xfrm>
            <a:prstGeom prst="line">
              <a:avLst/>
            </a:prstGeom>
            <a:ln w="9525" cap="flat" cmpd="sng">
              <a:solidFill>
                <a:schemeClr val="tx1"/>
              </a:solidFill>
              <a:prstDash val="solid"/>
              <a:headEnd type="none" w="med" len="med"/>
              <a:tailEnd type="none" w="med" len="med"/>
            </a:ln>
          </p:spPr>
        </p:sp>
        <p:sp>
          <p:nvSpPr>
            <p:cNvPr id="75795" name="Line 55"/>
            <p:cNvSpPr/>
            <p:nvPr/>
          </p:nvSpPr>
          <p:spPr>
            <a:xfrm flipH="1">
              <a:off x="1800" y="3155"/>
              <a:ext cx="111" cy="211"/>
            </a:xfrm>
            <a:prstGeom prst="line">
              <a:avLst/>
            </a:prstGeom>
            <a:ln w="9525" cap="flat" cmpd="sng">
              <a:solidFill>
                <a:schemeClr val="tx1"/>
              </a:solidFill>
              <a:prstDash val="solid"/>
              <a:headEnd type="none" w="med" len="med"/>
              <a:tailEnd type="none" w="med" len="med"/>
            </a:ln>
          </p:spPr>
        </p:sp>
        <p:sp>
          <p:nvSpPr>
            <p:cNvPr id="75796" name="Line 56"/>
            <p:cNvSpPr/>
            <p:nvPr/>
          </p:nvSpPr>
          <p:spPr>
            <a:xfrm flipV="1">
              <a:off x="1867" y="3487"/>
              <a:ext cx="178" cy="2"/>
            </a:xfrm>
            <a:prstGeom prst="line">
              <a:avLst/>
            </a:prstGeom>
            <a:ln w="9525" cap="flat" cmpd="sng">
              <a:solidFill>
                <a:schemeClr val="tx1"/>
              </a:solidFill>
              <a:prstDash val="solid"/>
              <a:headEnd type="none" w="med" len="med"/>
              <a:tailEnd type="none" w="med" len="med"/>
            </a:ln>
          </p:spPr>
        </p:sp>
        <p:sp>
          <p:nvSpPr>
            <p:cNvPr id="75797" name="Line 57"/>
            <p:cNvSpPr/>
            <p:nvPr/>
          </p:nvSpPr>
          <p:spPr>
            <a:xfrm>
              <a:off x="2045" y="3155"/>
              <a:ext cx="122" cy="200"/>
            </a:xfrm>
            <a:prstGeom prst="line">
              <a:avLst/>
            </a:prstGeom>
            <a:ln w="9525" cap="flat" cmpd="sng">
              <a:solidFill>
                <a:schemeClr val="tx1"/>
              </a:solidFill>
              <a:prstDash val="solid"/>
              <a:headEnd type="none" w="med" len="med"/>
              <a:tailEnd type="none" w="med" len="med"/>
            </a:ln>
          </p:spPr>
        </p:sp>
        <p:sp>
          <p:nvSpPr>
            <p:cNvPr id="75798" name="Text Box 58"/>
            <p:cNvSpPr txBox="1"/>
            <p:nvPr/>
          </p:nvSpPr>
          <p:spPr>
            <a:xfrm>
              <a:off x="842" y="2664"/>
              <a:ext cx="116" cy="250"/>
            </a:xfrm>
            <a:prstGeom prst="rect">
              <a:avLst/>
            </a:prstGeom>
            <a:noFill/>
            <a:ln w="9525">
              <a:noFill/>
            </a:ln>
          </p:spPr>
          <p:txBody>
            <a:bodyPr wrap="square" anchor="ct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4755">
                                            <p:txEl>
                                              <p:charRg st="9" end="35"/>
                                            </p:txEl>
                                          </p:spTgt>
                                        </p:tgtEl>
                                        <p:attrNameLst>
                                          <p:attrName>style.visibility</p:attrName>
                                        </p:attrNameLst>
                                      </p:cBhvr>
                                      <p:to>
                                        <p:strVal val="visible"/>
                                      </p:to>
                                    </p:set>
                                    <p:animEffect transition="in" filter="fade">
                                      <p:cBhvr>
                                        <p:cTn id="7" dur="1000"/>
                                        <p:tgtEl>
                                          <p:spTgt spid="74755">
                                            <p:txEl>
                                              <p:charRg st="9" end="35"/>
                                            </p:txEl>
                                          </p:spTgt>
                                        </p:tgtEl>
                                      </p:cBhvr>
                                    </p:animEffect>
                                    <p:anim calcmode="lin" valueType="num">
                                      <p:cBhvr>
                                        <p:cTn id="8" dur="1000" fill="hold"/>
                                        <p:tgtEl>
                                          <p:spTgt spid="74755">
                                            <p:txEl>
                                              <p:charRg st="9" end="35"/>
                                            </p:txEl>
                                          </p:spTgt>
                                        </p:tgtEl>
                                        <p:attrNameLst>
                                          <p:attrName>ppt_x</p:attrName>
                                        </p:attrNameLst>
                                      </p:cBhvr>
                                      <p:tavLst>
                                        <p:tav tm="0">
                                          <p:val>
                                            <p:strVal val="#ppt_x"/>
                                          </p:val>
                                        </p:tav>
                                        <p:tav tm="100000">
                                          <p:val>
                                            <p:strVal val="#ppt_x"/>
                                          </p:val>
                                        </p:tav>
                                      </p:tavLst>
                                    </p:anim>
                                    <p:anim calcmode="lin" valueType="num">
                                      <p:cBhvr>
                                        <p:cTn id="9" dur="1000" fill="hold"/>
                                        <p:tgtEl>
                                          <p:spTgt spid="74755">
                                            <p:txEl>
                                              <p:charRg st="9" end="3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ox(out)">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广度优先搜索遍历图</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6803" name="Rectangle 3"/>
          <p:cNvSpPr>
            <a:spLocks noGrp="1"/>
          </p:cNvSpPr>
          <p:nvPr>
            <p:ph idx="1"/>
          </p:nvPr>
        </p:nvSpPr>
        <p:spPr>
          <a:xfrm>
            <a:off x="838200" y="1471930"/>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首先访问起始点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，依次访问</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的每个未曾访问过的邻接点；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然后按被访问的顺序分别从这些邻接点出发，依次访问它们的邻接点，直至图中所有已被访问的顶点的邻接点都被访问到；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若此时图中还有顶点未被访问，则另选一个未被访问的顶点作为起始点；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重复上述过程，直到图中的所有顶点全都被访问到。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广度优先搜索类似于树的层次遍历。</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广度优先遍历例子</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3427" name="Oval 3"/>
          <p:cNvSpPr/>
          <p:nvPr/>
        </p:nvSpPr>
        <p:spPr>
          <a:xfrm>
            <a:off x="1658620" y="3169920"/>
            <a:ext cx="711200" cy="69723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V</a:t>
            </a:r>
            <a:endParaRPr lang="en-US" altLang="zh-CN" b="1" dirty="0">
              <a:solidFill>
                <a:srgbClr val="FFFFFF"/>
              </a:solidFill>
              <a:latin typeface="Consolas" panose="020B0609020204030204" pitchFamily="49" charset="0"/>
            </a:endParaRPr>
          </a:p>
        </p:txBody>
      </p:sp>
      <p:sp>
        <p:nvSpPr>
          <p:cNvPr id="103428" name="Oval 4"/>
          <p:cNvSpPr/>
          <p:nvPr/>
        </p:nvSpPr>
        <p:spPr>
          <a:xfrm>
            <a:off x="591820" y="263652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1</a:t>
            </a:r>
            <a:endParaRPr lang="en-US" altLang="zh-CN" b="1" dirty="0">
              <a:solidFill>
                <a:srgbClr val="FFFFFF"/>
              </a:solidFill>
              <a:latin typeface="Consolas" panose="020B0609020204030204" pitchFamily="49" charset="0"/>
            </a:endParaRPr>
          </a:p>
        </p:txBody>
      </p:sp>
      <p:sp>
        <p:nvSpPr>
          <p:cNvPr id="103429" name="Oval 5"/>
          <p:cNvSpPr/>
          <p:nvPr/>
        </p:nvSpPr>
        <p:spPr>
          <a:xfrm>
            <a:off x="2192020" y="423672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8</a:t>
            </a:r>
            <a:endParaRPr lang="en-US" altLang="zh-CN" b="1" dirty="0">
              <a:solidFill>
                <a:srgbClr val="FFFFFF"/>
              </a:solidFill>
              <a:latin typeface="Consolas" panose="020B0609020204030204" pitchFamily="49" charset="0"/>
            </a:endParaRPr>
          </a:p>
        </p:txBody>
      </p:sp>
      <p:sp>
        <p:nvSpPr>
          <p:cNvPr id="103430" name="Oval 6"/>
          <p:cNvSpPr/>
          <p:nvPr/>
        </p:nvSpPr>
        <p:spPr>
          <a:xfrm>
            <a:off x="3030220" y="3322320"/>
            <a:ext cx="533400" cy="609600"/>
          </a:xfrm>
          <a:prstGeom prst="ellipse">
            <a:avLst/>
          </a:prstGeom>
          <a:solidFill>
            <a:srgbClr val="CCFFCC">
              <a:alpha val="50195"/>
            </a:srgbClr>
          </a:solidFill>
          <a:ln w="28575" cap="sq" cmpd="sng">
            <a:solidFill>
              <a:srgbClr val="00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3</a:t>
            </a:r>
            <a:endParaRPr lang="en-US" altLang="zh-CN" b="1" dirty="0">
              <a:solidFill>
                <a:srgbClr val="FFFFFF"/>
              </a:solidFill>
              <a:latin typeface="Consolas" panose="020B0609020204030204" pitchFamily="49" charset="0"/>
            </a:endParaRPr>
          </a:p>
        </p:txBody>
      </p:sp>
      <p:sp>
        <p:nvSpPr>
          <p:cNvPr id="103431" name="Oval 7"/>
          <p:cNvSpPr/>
          <p:nvPr/>
        </p:nvSpPr>
        <p:spPr>
          <a:xfrm>
            <a:off x="591820" y="3931920"/>
            <a:ext cx="533400" cy="609600"/>
          </a:xfrm>
          <a:prstGeom prst="ellipse">
            <a:avLst/>
          </a:prstGeom>
          <a:solidFill>
            <a:srgbClr val="CCFFCC">
              <a:alpha val="50195"/>
            </a:srgbClr>
          </a:solidFill>
          <a:ln w="28575" cap="sq" cmpd="sng">
            <a:solidFill>
              <a:srgbClr val="00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7</a:t>
            </a:r>
            <a:endParaRPr lang="en-US" altLang="zh-CN" b="1" dirty="0">
              <a:solidFill>
                <a:srgbClr val="FFFFFF"/>
              </a:solidFill>
              <a:latin typeface="Consolas" panose="020B0609020204030204" pitchFamily="49" charset="0"/>
            </a:endParaRPr>
          </a:p>
        </p:txBody>
      </p:sp>
      <p:sp>
        <p:nvSpPr>
          <p:cNvPr id="103432" name="Oval 8"/>
          <p:cNvSpPr/>
          <p:nvPr/>
        </p:nvSpPr>
        <p:spPr>
          <a:xfrm>
            <a:off x="1277620" y="4998720"/>
            <a:ext cx="533400" cy="609600"/>
          </a:xfrm>
          <a:prstGeom prst="ellipse">
            <a:avLst/>
          </a:prstGeom>
          <a:solidFill>
            <a:srgbClr val="99CCFF">
              <a:alpha val="50195"/>
            </a:srgbClr>
          </a:solidFill>
          <a:ln w="28575"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82"/>
                </a:solidFill>
                <a:latin typeface="Consolas" panose="020B0609020204030204" pitchFamily="49" charset="0"/>
              </a:rPr>
              <a:t>w</a:t>
            </a:r>
            <a:r>
              <a:rPr lang="en-US" altLang="zh-CN" sz="1800" b="1" baseline="-25000" dirty="0">
                <a:solidFill>
                  <a:srgbClr val="000082"/>
                </a:solidFill>
                <a:latin typeface="Consolas" panose="020B0609020204030204" pitchFamily="49" charset="0"/>
              </a:rPr>
              <a:t>6</a:t>
            </a:r>
            <a:endParaRPr lang="en-US" altLang="zh-CN" b="1" dirty="0">
              <a:solidFill>
                <a:srgbClr val="FFFFFF"/>
              </a:solidFill>
              <a:latin typeface="Consolas" panose="020B0609020204030204" pitchFamily="49" charset="0"/>
            </a:endParaRPr>
          </a:p>
        </p:txBody>
      </p:sp>
      <p:sp>
        <p:nvSpPr>
          <p:cNvPr id="103433" name="Oval 9"/>
          <p:cNvSpPr/>
          <p:nvPr/>
        </p:nvSpPr>
        <p:spPr>
          <a:xfrm>
            <a:off x="2268220" y="2103120"/>
            <a:ext cx="533400" cy="609600"/>
          </a:xfrm>
          <a:prstGeom prst="ellipse">
            <a:avLst/>
          </a:prstGeom>
          <a:solidFill>
            <a:srgbClr val="FFFF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2</a:t>
            </a:r>
            <a:endParaRPr lang="en-US" altLang="zh-CN" b="1" dirty="0">
              <a:solidFill>
                <a:srgbClr val="FFFFFF"/>
              </a:solidFill>
              <a:latin typeface="Consolas" panose="020B0609020204030204" pitchFamily="49" charset="0"/>
            </a:endParaRPr>
          </a:p>
        </p:txBody>
      </p:sp>
      <p:sp>
        <p:nvSpPr>
          <p:cNvPr id="103434" name="Oval 10"/>
          <p:cNvSpPr/>
          <p:nvPr/>
        </p:nvSpPr>
        <p:spPr>
          <a:xfrm>
            <a:off x="2725420" y="5455920"/>
            <a:ext cx="533400" cy="609600"/>
          </a:xfrm>
          <a:prstGeom prst="ellipse">
            <a:avLst/>
          </a:prstGeom>
          <a:solidFill>
            <a:srgbClr val="CCFFCC">
              <a:alpha val="50195"/>
            </a:srgbClr>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5</a:t>
            </a:r>
            <a:endParaRPr lang="en-US" altLang="zh-CN" b="1" dirty="0">
              <a:solidFill>
                <a:srgbClr val="FFFFFF"/>
              </a:solidFill>
              <a:latin typeface="Consolas" panose="020B0609020204030204" pitchFamily="49" charset="0"/>
            </a:endParaRPr>
          </a:p>
        </p:txBody>
      </p:sp>
      <p:sp>
        <p:nvSpPr>
          <p:cNvPr id="103435" name="Line 11"/>
          <p:cNvSpPr/>
          <p:nvPr/>
        </p:nvSpPr>
        <p:spPr>
          <a:xfrm>
            <a:off x="1125220" y="2941320"/>
            <a:ext cx="609600" cy="381000"/>
          </a:xfrm>
          <a:prstGeom prst="line">
            <a:avLst/>
          </a:prstGeom>
          <a:ln w="19050" cap="sq" cmpd="sng">
            <a:solidFill>
              <a:srgbClr val="800000"/>
            </a:solidFill>
            <a:prstDash val="solid"/>
            <a:headEnd type="none" w="sm" len="sm"/>
            <a:tailEnd type="none" w="sm" len="sm"/>
          </a:ln>
        </p:spPr>
      </p:sp>
      <p:sp>
        <p:nvSpPr>
          <p:cNvPr id="103436" name="Line 12"/>
          <p:cNvSpPr/>
          <p:nvPr/>
        </p:nvSpPr>
        <p:spPr>
          <a:xfrm>
            <a:off x="2115820" y="3855720"/>
            <a:ext cx="228600" cy="457200"/>
          </a:xfrm>
          <a:prstGeom prst="line">
            <a:avLst/>
          </a:prstGeom>
          <a:ln w="19050" cap="sq" cmpd="sng">
            <a:solidFill>
              <a:srgbClr val="800000"/>
            </a:solidFill>
            <a:prstDash val="solid"/>
            <a:headEnd type="none" w="sm" len="sm"/>
            <a:tailEnd type="none" w="sm" len="sm"/>
          </a:ln>
        </p:spPr>
      </p:sp>
      <p:sp>
        <p:nvSpPr>
          <p:cNvPr id="103437" name="Line 13"/>
          <p:cNvSpPr/>
          <p:nvPr/>
        </p:nvSpPr>
        <p:spPr>
          <a:xfrm flipH="1">
            <a:off x="2115820" y="2636520"/>
            <a:ext cx="228600" cy="533400"/>
          </a:xfrm>
          <a:prstGeom prst="line">
            <a:avLst/>
          </a:prstGeom>
          <a:ln w="19050" cap="sq" cmpd="sng">
            <a:solidFill>
              <a:srgbClr val="800000"/>
            </a:solidFill>
            <a:prstDash val="solid"/>
            <a:headEnd type="none" w="sm" len="sm"/>
            <a:tailEnd type="none" w="sm" len="sm"/>
          </a:ln>
        </p:spPr>
      </p:sp>
      <p:sp>
        <p:nvSpPr>
          <p:cNvPr id="103438" name="Line 14"/>
          <p:cNvSpPr/>
          <p:nvPr/>
        </p:nvSpPr>
        <p:spPr>
          <a:xfrm>
            <a:off x="820420" y="3246120"/>
            <a:ext cx="0" cy="685800"/>
          </a:xfrm>
          <a:prstGeom prst="line">
            <a:avLst/>
          </a:prstGeom>
          <a:ln w="19050" cap="sq" cmpd="sng">
            <a:solidFill>
              <a:srgbClr val="800000"/>
            </a:solidFill>
            <a:prstDash val="solid"/>
            <a:headEnd type="none" w="sm" len="sm"/>
            <a:tailEnd type="none" w="sm" len="sm"/>
          </a:ln>
        </p:spPr>
      </p:sp>
      <p:sp>
        <p:nvSpPr>
          <p:cNvPr id="103439" name="Line 15"/>
          <p:cNvSpPr/>
          <p:nvPr/>
        </p:nvSpPr>
        <p:spPr>
          <a:xfrm>
            <a:off x="972820" y="4541520"/>
            <a:ext cx="381000" cy="533400"/>
          </a:xfrm>
          <a:prstGeom prst="line">
            <a:avLst/>
          </a:prstGeom>
          <a:ln w="19050" cap="sq" cmpd="sng">
            <a:solidFill>
              <a:srgbClr val="800000"/>
            </a:solidFill>
            <a:prstDash val="solid"/>
            <a:headEnd type="none" w="sm" len="sm"/>
            <a:tailEnd type="none" w="sm" len="sm"/>
          </a:ln>
        </p:spPr>
      </p:sp>
      <p:sp>
        <p:nvSpPr>
          <p:cNvPr id="103440" name="Line 16"/>
          <p:cNvSpPr/>
          <p:nvPr/>
        </p:nvSpPr>
        <p:spPr>
          <a:xfrm>
            <a:off x="1811020" y="5303520"/>
            <a:ext cx="914400" cy="381000"/>
          </a:xfrm>
          <a:prstGeom prst="line">
            <a:avLst/>
          </a:prstGeom>
          <a:ln w="19050" cap="sq" cmpd="sng">
            <a:solidFill>
              <a:srgbClr val="800000"/>
            </a:solidFill>
            <a:prstDash val="solid"/>
            <a:headEnd type="none" w="sm" len="sm"/>
            <a:tailEnd type="none" w="sm" len="sm"/>
          </a:ln>
        </p:spPr>
      </p:sp>
      <p:sp>
        <p:nvSpPr>
          <p:cNvPr id="103441" name="Line 17"/>
          <p:cNvSpPr/>
          <p:nvPr/>
        </p:nvSpPr>
        <p:spPr>
          <a:xfrm>
            <a:off x="2496820" y="4846320"/>
            <a:ext cx="381000" cy="609600"/>
          </a:xfrm>
          <a:prstGeom prst="line">
            <a:avLst/>
          </a:prstGeom>
          <a:ln w="19050" cap="sq" cmpd="sng">
            <a:solidFill>
              <a:srgbClr val="800000"/>
            </a:solidFill>
            <a:prstDash val="solid"/>
            <a:headEnd type="none" w="sm" len="sm"/>
            <a:tailEnd type="none" w="sm" len="sm"/>
          </a:ln>
        </p:spPr>
      </p:sp>
      <p:sp>
        <p:nvSpPr>
          <p:cNvPr id="103442" name="Line 18"/>
          <p:cNvSpPr/>
          <p:nvPr/>
        </p:nvSpPr>
        <p:spPr>
          <a:xfrm flipH="1">
            <a:off x="2649220" y="3855720"/>
            <a:ext cx="457200" cy="533400"/>
          </a:xfrm>
          <a:prstGeom prst="line">
            <a:avLst/>
          </a:prstGeom>
          <a:ln w="19050" cap="sq" cmpd="sng">
            <a:solidFill>
              <a:srgbClr val="800000"/>
            </a:solidFill>
            <a:prstDash val="solid"/>
            <a:headEnd type="none" w="sm" len="sm"/>
            <a:tailEnd type="none" w="sm" len="sm"/>
          </a:ln>
        </p:spPr>
      </p:sp>
      <p:sp>
        <p:nvSpPr>
          <p:cNvPr id="103443" name="Line 19"/>
          <p:cNvSpPr/>
          <p:nvPr/>
        </p:nvSpPr>
        <p:spPr>
          <a:xfrm>
            <a:off x="2801620" y="2407920"/>
            <a:ext cx="457200" cy="914400"/>
          </a:xfrm>
          <a:prstGeom prst="line">
            <a:avLst/>
          </a:prstGeom>
          <a:ln w="19050" cap="sq" cmpd="sng">
            <a:solidFill>
              <a:srgbClr val="800000"/>
            </a:solidFill>
            <a:prstDash val="solid"/>
            <a:headEnd type="none" w="sm" len="sm"/>
            <a:tailEnd type="none" w="sm" len="sm"/>
          </a:ln>
        </p:spPr>
      </p:sp>
      <p:sp>
        <p:nvSpPr>
          <p:cNvPr id="103444" name="Line 20"/>
          <p:cNvSpPr/>
          <p:nvPr/>
        </p:nvSpPr>
        <p:spPr>
          <a:xfrm flipV="1">
            <a:off x="896620" y="2407920"/>
            <a:ext cx="1371600" cy="228600"/>
          </a:xfrm>
          <a:prstGeom prst="line">
            <a:avLst/>
          </a:prstGeom>
          <a:ln w="19050" cap="sq" cmpd="sng">
            <a:solidFill>
              <a:srgbClr val="800000"/>
            </a:solidFill>
            <a:prstDash val="solid"/>
            <a:headEnd type="none" w="sm" len="sm"/>
            <a:tailEnd type="none" w="sm" len="sm"/>
          </a:ln>
        </p:spPr>
      </p:sp>
      <p:sp>
        <p:nvSpPr>
          <p:cNvPr id="103446" name="Oval 22"/>
          <p:cNvSpPr/>
          <p:nvPr/>
        </p:nvSpPr>
        <p:spPr>
          <a:xfrm>
            <a:off x="3639820" y="4541520"/>
            <a:ext cx="533400" cy="609600"/>
          </a:xfrm>
          <a:prstGeom prst="ellipse">
            <a:avLst/>
          </a:prstGeom>
          <a:solidFill>
            <a:srgbClr val="99CCFF">
              <a:alpha val="50195"/>
            </a:srgbClr>
          </a:solidFill>
          <a:ln w="28575"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82"/>
                </a:solidFill>
                <a:latin typeface="Consolas" panose="020B0609020204030204" pitchFamily="49" charset="0"/>
              </a:rPr>
              <a:t>w</a:t>
            </a:r>
            <a:r>
              <a:rPr lang="en-US" altLang="zh-CN" sz="1800" b="1" baseline="-25000" dirty="0">
                <a:solidFill>
                  <a:srgbClr val="000082"/>
                </a:solidFill>
                <a:latin typeface="Consolas" panose="020B0609020204030204" pitchFamily="49" charset="0"/>
              </a:rPr>
              <a:t>4</a:t>
            </a:r>
            <a:endParaRPr lang="en-US" altLang="zh-CN" b="1" dirty="0">
              <a:solidFill>
                <a:srgbClr val="FFFFFF"/>
              </a:solidFill>
              <a:latin typeface="Consolas" panose="020B0609020204030204" pitchFamily="49" charset="0"/>
            </a:endParaRPr>
          </a:p>
        </p:txBody>
      </p:sp>
      <p:sp>
        <p:nvSpPr>
          <p:cNvPr id="103447" name="Line 23"/>
          <p:cNvSpPr/>
          <p:nvPr/>
        </p:nvSpPr>
        <p:spPr>
          <a:xfrm>
            <a:off x="3487420" y="3855720"/>
            <a:ext cx="381000" cy="685800"/>
          </a:xfrm>
          <a:prstGeom prst="line">
            <a:avLst/>
          </a:prstGeom>
          <a:ln w="19050" cap="sq" cmpd="sng">
            <a:solidFill>
              <a:srgbClr val="800000"/>
            </a:solidFill>
            <a:prstDash val="solid"/>
            <a:headEnd type="none" w="sm" len="sm"/>
            <a:tailEnd type="none" w="sm" len="sm"/>
          </a:ln>
        </p:spPr>
      </p:sp>
      <p:sp>
        <p:nvSpPr>
          <p:cNvPr id="103448" name="Line 24"/>
          <p:cNvSpPr/>
          <p:nvPr/>
        </p:nvSpPr>
        <p:spPr>
          <a:xfrm flipH="1">
            <a:off x="3258820" y="5074920"/>
            <a:ext cx="533400" cy="685800"/>
          </a:xfrm>
          <a:prstGeom prst="line">
            <a:avLst/>
          </a:prstGeom>
          <a:ln w="19050" cap="sq" cmpd="sng">
            <a:solidFill>
              <a:srgbClr val="800000"/>
            </a:solidFill>
            <a:prstDash val="solid"/>
            <a:headEnd type="none" w="sm" len="sm"/>
            <a:tailEnd type="none" w="sm" len="sm"/>
          </a:ln>
        </p:spPr>
      </p:sp>
      <p:sp>
        <p:nvSpPr>
          <p:cNvPr id="103453" name="Line 29"/>
          <p:cNvSpPr/>
          <p:nvPr/>
        </p:nvSpPr>
        <p:spPr>
          <a:xfrm>
            <a:off x="1125220" y="2941320"/>
            <a:ext cx="609600" cy="381000"/>
          </a:xfrm>
          <a:prstGeom prst="line">
            <a:avLst/>
          </a:prstGeom>
          <a:ln w="38100" cap="sq" cmpd="sng">
            <a:solidFill>
              <a:srgbClr val="CC0000"/>
            </a:solidFill>
            <a:prstDash val="solid"/>
            <a:headEnd type="none" w="sm" len="sm"/>
            <a:tailEnd type="none" w="sm" len="sm"/>
          </a:ln>
        </p:spPr>
      </p:sp>
      <p:sp>
        <p:nvSpPr>
          <p:cNvPr id="103454" name="Oval 30"/>
          <p:cNvSpPr/>
          <p:nvPr/>
        </p:nvSpPr>
        <p:spPr>
          <a:xfrm>
            <a:off x="591820" y="2636520"/>
            <a:ext cx="533400" cy="609600"/>
          </a:xfrm>
          <a:prstGeom prst="ellipse">
            <a:avLst/>
          </a:prstGeom>
          <a:solidFill>
            <a:srgbClr val="FFCC99">
              <a:alpha val="50195"/>
            </a:srgbClr>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1</a:t>
            </a:r>
            <a:endParaRPr lang="en-US" altLang="zh-CN" b="1" dirty="0">
              <a:solidFill>
                <a:srgbClr val="FFFFFF"/>
              </a:solidFill>
              <a:latin typeface="Consolas" panose="020B0609020204030204" pitchFamily="49" charset="0"/>
            </a:endParaRPr>
          </a:p>
        </p:txBody>
      </p:sp>
      <p:sp>
        <p:nvSpPr>
          <p:cNvPr id="103455" name="Line 31"/>
          <p:cNvSpPr/>
          <p:nvPr/>
        </p:nvSpPr>
        <p:spPr>
          <a:xfrm flipH="1">
            <a:off x="2115820" y="2636520"/>
            <a:ext cx="228600" cy="533400"/>
          </a:xfrm>
          <a:prstGeom prst="line">
            <a:avLst/>
          </a:prstGeom>
          <a:ln w="38100" cap="sq" cmpd="sng">
            <a:solidFill>
              <a:srgbClr val="CC0000"/>
            </a:solidFill>
            <a:prstDash val="solid"/>
            <a:headEnd type="none" w="sm" len="sm"/>
            <a:tailEnd type="none" w="sm" len="sm"/>
          </a:ln>
        </p:spPr>
      </p:sp>
      <p:sp>
        <p:nvSpPr>
          <p:cNvPr id="103456" name="Line 32"/>
          <p:cNvSpPr/>
          <p:nvPr/>
        </p:nvSpPr>
        <p:spPr>
          <a:xfrm>
            <a:off x="2115820" y="3855720"/>
            <a:ext cx="228600" cy="457200"/>
          </a:xfrm>
          <a:prstGeom prst="line">
            <a:avLst/>
          </a:prstGeom>
          <a:ln w="38100" cap="sq" cmpd="sng">
            <a:solidFill>
              <a:srgbClr val="CC0000"/>
            </a:solidFill>
            <a:prstDash val="solid"/>
            <a:headEnd type="none" w="sm" len="sm"/>
            <a:tailEnd type="none" w="sm" len="sm"/>
          </a:ln>
        </p:spPr>
      </p:sp>
      <p:sp>
        <p:nvSpPr>
          <p:cNvPr id="103457" name="Line 33"/>
          <p:cNvSpPr/>
          <p:nvPr/>
        </p:nvSpPr>
        <p:spPr>
          <a:xfrm>
            <a:off x="820420" y="3246120"/>
            <a:ext cx="0" cy="685800"/>
          </a:xfrm>
          <a:prstGeom prst="line">
            <a:avLst/>
          </a:prstGeom>
          <a:ln w="38100" cap="sq" cmpd="sng">
            <a:solidFill>
              <a:srgbClr val="CC0000"/>
            </a:solidFill>
            <a:prstDash val="solid"/>
            <a:headEnd type="none" w="sm" len="sm"/>
            <a:tailEnd type="none" w="sm" len="sm"/>
          </a:ln>
        </p:spPr>
      </p:sp>
      <p:sp>
        <p:nvSpPr>
          <p:cNvPr id="103458" name="Line 34"/>
          <p:cNvSpPr/>
          <p:nvPr/>
        </p:nvSpPr>
        <p:spPr>
          <a:xfrm>
            <a:off x="2801620" y="2407920"/>
            <a:ext cx="457200" cy="914400"/>
          </a:xfrm>
          <a:prstGeom prst="line">
            <a:avLst/>
          </a:prstGeom>
          <a:ln w="38100" cap="sq" cmpd="sng">
            <a:solidFill>
              <a:srgbClr val="CC0000"/>
            </a:solidFill>
            <a:prstDash val="solid"/>
            <a:headEnd type="none" w="sm" len="sm"/>
            <a:tailEnd type="none" w="sm" len="sm"/>
          </a:ln>
        </p:spPr>
      </p:sp>
      <p:sp>
        <p:nvSpPr>
          <p:cNvPr id="103459" name="Line 35"/>
          <p:cNvSpPr/>
          <p:nvPr/>
        </p:nvSpPr>
        <p:spPr>
          <a:xfrm>
            <a:off x="2496820" y="4846320"/>
            <a:ext cx="381000" cy="609600"/>
          </a:xfrm>
          <a:prstGeom prst="line">
            <a:avLst/>
          </a:prstGeom>
          <a:ln w="38100" cap="sq" cmpd="sng">
            <a:solidFill>
              <a:srgbClr val="CC0000"/>
            </a:solidFill>
            <a:prstDash val="solid"/>
            <a:headEnd type="none" w="sm" len="sm"/>
            <a:tailEnd type="none" w="sm" len="sm"/>
          </a:ln>
        </p:spPr>
      </p:sp>
      <p:sp>
        <p:nvSpPr>
          <p:cNvPr id="103460" name="Line 36"/>
          <p:cNvSpPr/>
          <p:nvPr/>
        </p:nvSpPr>
        <p:spPr>
          <a:xfrm>
            <a:off x="972820" y="4541520"/>
            <a:ext cx="381000" cy="533400"/>
          </a:xfrm>
          <a:prstGeom prst="line">
            <a:avLst/>
          </a:prstGeom>
          <a:ln w="38100" cap="sq" cmpd="sng">
            <a:solidFill>
              <a:srgbClr val="CC0000"/>
            </a:solidFill>
            <a:prstDash val="solid"/>
            <a:headEnd type="none" w="sm" len="sm"/>
            <a:tailEnd type="none" w="sm" len="sm"/>
          </a:ln>
        </p:spPr>
      </p:sp>
      <p:sp>
        <p:nvSpPr>
          <p:cNvPr id="103461" name="Line 37"/>
          <p:cNvSpPr/>
          <p:nvPr/>
        </p:nvSpPr>
        <p:spPr>
          <a:xfrm>
            <a:off x="3487420" y="3855720"/>
            <a:ext cx="381000" cy="685800"/>
          </a:xfrm>
          <a:prstGeom prst="line">
            <a:avLst/>
          </a:prstGeom>
          <a:ln w="38100" cap="sq" cmpd="sng">
            <a:solidFill>
              <a:srgbClr val="CC0000"/>
            </a:solidFill>
            <a:prstDash val="solid"/>
            <a:headEnd type="none" w="sm" len="sm"/>
            <a:tailEnd type="none" w="sm" len="sm"/>
          </a:ln>
        </p:spPr>
      </p:sp>
      <p:sp>
        <p:nvSpPr>
          <p:cNvPr id="103462" name="Oval 38"/>
          <p:cNvSpPr/>
          <p:nvPr/>
        </p:nvSpPr>
        <p:spPr>
          <a:xfrm>
            <a:off x="1658620" y="3169920"/>
            <a:ext cx="711200" cy="69723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V</a:t>
            </a:r>
            <a:endParaRPr lang="en-US" altLang="zh-CN" b="1" dirty="0">
              <a:solidFill>
                <a:srgbClr val="FFFFFF"/>
              </a:solidFill>
              <a:latin typeface="Consolas" panose="020B0609020204030204" pitchFamily="49" charset="0"/>
            </a:endParaRPr>
          </a:p>
        </p:txBody>
      </p:sp>
      <p:sp>
        <p:nvSpPr>
          <p:cNvPr id="103463" name="Oval 39"/>
          <p:cNvSpPr/>
          <p:nvPr/>
        </p:nvSpPr>
        <p:spPr>
          <a:xfrm>
            <a:off x="2268220" y="21031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2</a:t>
            </a:r>
            <a:endParaRPr lang="en-US" altLang="zh-CN" b="1" dirty="0">
              <a:solidFill>
                <a:srgbClr val="FFFFFF"/>
              </a:solidFill>
              <a:latin typeface="Consolas" panose="020B0609020204030204" pitchFamily="49" charset="0"/>
            </a:endParaRPr>
          </a:p>
        </p:txBody>
      </p:sp>
      <p:sp>
        <p:nvSpPr>
          <p:cNvPr id="103464" name="Oval 40"/>
          <p:cNvSpPr/>
          <p:nvPr/>
        </p:nvSpPr>
        <p:spPr>
          <a:xfrm>
            <a:off x="591820" y="39319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7</a:t>
            </a:r>
            <a:endParaRPr lang="en-US" altLang="zh-CN" b="1" dirty="0">
              <a:solidFill>
                <a:srgbClr val="FFFFFF"/>
              </a:solidFill>
              <a:latin typeface="Consolas" panose="020B0609020204030204" pitchFamily="49" charset="0"/>
            </a:endParaRPr>
          </a:p>
        </p:txBody>
      </p:sp>
      <p:sp>
        <p:nvSpPr>
          <p:cNvPr id="103465" name="Oval 41"/>
          <p:cNvSpPr/>
          <p:nvPr/>
        </p:nvSpPr>
        <p:spPr>
          <a:xfrm>
            <a:off x="1277620" y="49987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82"/>
                </a:solidFill>
                <a:latin typeface="Consolas" panose="020B0609020204030204" pitchFamily="49" charset="0"/>
              </a:rPr>
              <a:t>w</a:t>
            </a:r>
            <a:r>
              <a:rPr lang="en-US" altLang="zh-CN" sz="1800" b="1" baseline="-25000" dirty="0">
                <a:solidFill>
                  <a:srgbClr val="000082"/>
                </a:solidFill>
                <a:latin typeface="Consolas" panose="020B0609020204030204" pitchFamily="49" charset="0"/>
              </a:rPr>
              <a:t>6</a:t>
            </a:r>
            <a:endParaRPr lang="en-US" altLang="zh-CN" b="1" dirty="0">
              <a:solidFill>
                <a:srgbClr val="FFFFFF"/>
              </a:solidFill>
              <a:latin typeface="Consolas" panose="020B0609020204030204" pitchFamily="49" charset="0"/>
            </a:endParaRPr>
          </a:p>
        </p:txBody>
      </p:sp>
      <p:sp>
        <p:nvSpPr>
          <p:cNvPr id="103466" name="Oval 42"/>
          <p:cNvSpPr/>
          <p:nvPr/>
        </p:nvSpPr>
        <p:spPr>
          <a:xfrm>
            <a:off x="3030220" y="33223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3</a:t>
            </a:r>
            <a:endParaRPr lang="en-US" altLang="zh-CN" b="1" dirty="0">
              <a:solidFill>
                <a:srgbClr val="FFFFFF"/>
              </a:solidFill>
              <a:latin typeface="Consolas" panose="020B0609020204030204" pitchFamily="49" charset="0"/>
            </a:endParaRPr>
          </a:p>
        </p:txBody>
      </p:sp>
      <p:sp>
        <p:nvSpPr>
          <p:cNvPr id="103467" name="Oval 43"/>
          <p:cNvSpPr/>
          <p:nvPr/>
        </p:nvSpPr>
        <p:spPr>
          <a:xfrm>
            <a:off x="2192020" y="42367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w</a:t>
            </a:r>
            <a:r>
              <a:rPr lang="en-US" altLang="zh-CN" sz="1800" b="1" baseline="-25000" dirty="0">
                <a:solidFill>
                  <a:srgbClr val="800000"/>
                </a:solidFill>
                <a:latin typeface="Consolas" panose="020B0609020204030204" pitchFamily="49" charset="0"/>
              </a:rPr>
              <a:t>8</a:t>
            </a:r>
            <a:endParaRPr lang="en-US" altLang="zh-CN" b="1" dirty="0">
              <a:solidFill>
                <a:srgbClr val="FFFFFF"/>
              </a:solidFill>
              <a:latin typeface="Consolas" panose="020B0609020204030204" pitchFamily="49" charset="0"/>
            </a:endParaRPr>
          </a:p>
        </p:txBody>
      </p:sp>
      <p:sp>
        <p:nvSpPr>
          <p:cNvPr id="103468" name="Oval 44"/>
          <p:cNvSpPr/>
          <p:nvPr/>
        </p:nvSpPr>
        <p:spPr>
          <a:xfrm>
            <a:off x="2725420" y="54559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chemeClr val="tx2"/>
                </a:solidFill>
                <a:latin typeface="Consolas" panose="020B0609020204030204" pitchFamily="49" charset="0"/>
              </a:rPr>
              <a:t>w</a:t>
            </a:r>
            <a:r>
              <a:rPr lang="en-US" altLang="zh-CN" sz="1800" b="1" baseline="-25000" dirty="0">
                <a:solidFill>
                  <a:schemeClr val="tx2"/>
                </a:solidFill>
                <a:latin typeface="Consolas" panose="020B0609020204030204" pitchFamily="49" charset="0"/>
              </a:rPr>
              <a:t>5</a:t>
            </a:r>
            <a:endParaRPr lang="en-US" altLang="zh-CN" b="1" dirty="0">
              <a:solidFill>
                <a:srgbClr val="FFFFFF"/>
              </a:solidFill>
              <a:latin typeface="Consolas" panose="020B0609020204030204" pitchFamily="49" charset="0"/>
            </a:endParaRPr>
          </a:p>
        </p:txBody>
      </p:sp>
      <p:sp>
        <p:nvSpPr>
          <p:cNvPr id="103469" name="Oval 45"/>
          <p:cNvSpPr/>
          <p:nvPr/>
        </p:nvSpPr>
        <p:spPr>
          <a:xfrm>
            <a:off x="3639820" y="4541520"/>
            <a:ext cx="533400" cy="609600"/>
          </a:xfrm>
          <a:prstGeom prst="ellipse">
            <a:avLst/>
          </a:prstGeom>
          <a:solidFill>
            <a:srgbClr val="FFCC99">
              <a:alpha val="50195"/>
            </a:srgbClr>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82"/>
                </a:solidFill>
                <a:latin typeface="Consolas" panose="020B0609020204030204" pitchFamily="49" charset="0"/>
              </a:rPr>
              <a:t>w</a:t>
            </a:r>
            <a:r>
              <a:rPr lang="en-US" altLang="zh-CN" sz="1800" b="1" baseline="-25000" dirty="0">
                <a:solidFill>
                  <a:srgbClr val="000082"/>
                </a:solidFill>
                <a:latin typeface="Consolas" panose="020B0609020204030204" pitchFamily="49" charset="0"/>
              </a:rPr>
              <a:t>4</a:t>
            </a:r>
            <a:endParaRPr lang="en-US" altLang="zh-CN" b="1" dirty="0">
              <a:solidFill>
                <a:srgbClr val="FFFFFF"/>
              </a:solidFill>
              <a:latin typeface="Consolas" panose="020B0609020204030204" pitchFamily="49" charset="0"/>
            </a:endParaRPr>
          </a:p>
        </p:txBody>
      </p:sp>
      <p:sp>
        <p:nvSpPr>
          <p:cNvPr id="103449" name="Text Box 25"/>
          <p:cNvSpPr txBox="1"/>
          <p:nvPr/>
        </p:nvSpPr>
        <p:spPr>
          <a:xfrm>
            <a:off x="4907280" y="1226820"/>
            <a:ext cx="6096000" cy="119824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120000"/>
              </a:lnSpc>
              <a:spcBef>
                <a:spcPct val="0"/>
              </a:spcBef>
              <a:buNone/>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对连通图，从起始点</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到其余各顶点必定存在路径。</a:t>
            </a:r>
            <a:r>
              <a:rPr lang="zh-CN" altLang="en-US" sz="3600" b="1" dirty="0">
                <a:solidFill>
                  <a:schemeClr val="tx1"/>
                </a:solidFill>
                <a:latin typeface="楷体_GB2312" panose="02010609030101010101" pitchFamily="49" charset="-122"/>
              </a:rPr>
              <a:t>  </a:t>
            </a:r>
            <a:endParaRPr lang="zh-CN" altLang="en-US" sz="3600" b="1" dirty="0">
              <a:solidFill>
                <a:schemeClr val="tx1"/>
              </a:solidFill>
              <a:latin typeface="楷体_GB2312" panose="02010609030101010101" pitchFamily="49" charset="-122"/>
            </a:endParaRPr>
          </a:p>
        </p:txBody>
      </p:sp>
      <p:sp>
        <p:nvSpPr>
          <p:cNvPr id="103450" name="Rectangle 26"/>
          <p:cNvSpPr/>
          <p:nvPr/>
        </p:nvSpPr>
        <p:spPr>
          <a:xfrm>
            <a:off x="5118100" y="2636520"/>
            <a:ext cx="5334000" cy="903605"/>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120000"/>
              </a:lnSpc>
              <a:spcBef>
                <a:spcPct val="0"/>
              </a:spcBef>
              <a:buNone/>
            </a:pPr>
            <a:r>
              <a:rPr lang="zh-CN" altLang="en-US" b="1" dirty="0">
                <a:solidFill>
                  <a:schemeClr val="tx1"/>
                </a:solidFill>
                <a:latin typeface="微软雅黑" panose="020B0503020204020204" pitchFamily="34" charset="-122"/>
                <a:ea typeface="微软雅黑" panose="020B0503020204020204" pitchFamily="34" charset="-122"/>
              </a:rPr>
              <a:t>其中，</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ctr" eaLnBrk="1" hangingPunct="1">
              <a:lnSpc>
                <a:spcPct val="120000"/>
              </a:lnSpc>
              <a:spcBef>
                <a:spcPct val="0"/>
              </a:spcBef>
              <a:buNone/>
            </a:pP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的路径长度为</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451" name="Rectangle 27"/>
          <p:cNvSpPr/>
          <p:nvPr/>
        </p:nvSpPr>
        <p:spPr>
          <a:xfrm>
            <a:off x="6509703" y="3822065"/>
            <a:ext cx="2890520" cy="82994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120000"/>
              </a:lnSpc>
              <a:spcBef>
                <a:spcPct val="0"/>
              </a:spcBef>
              <a:buNone/>
            </a:pP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7</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ctr" eaLnBrk="1" hangingPunct="1">
              <a:lnSpc>
                <a:spcPct val="120000"/>
              </a:lnSpc>
              <a:spcBef>
                <a:spcPct val="0"/>
              </a:spcBef>
              <a:buNone/>
            </a:pP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的路径长度为</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3452" name="Rectangle 28"/>
          <p:cNvSpPr/>
          <p:nvPr/>
        </p:nvSpPr>
        <p:spPr>
          <a:xfrm>
            <a:off x="6820853" y="4807585"/>
            <a:ext cx="2268855" cy="82994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120000"/>
              </a:lnSpc>
              <a:spcBef>
                <a:spcPct val="0"/>
              </a:spcBef>
              <a:buNone/>
            </a:pP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V-&gt;w</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ctr" eaLnBrk="1" hangingPunct="1">
              <a:lnSpc>
                <a:spcPct val="120000"/>
              </a:lnSpc>
              <a:spcBef>
                <a:spcPct val="0"/>
              </a:spcBef>
              <a:buNone/>
            </a:pP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的路径长度为</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additive="base">
                                        <p:cTn id="7" dur="500" fill="hold"/>
                                        <p:tgtEl>
                                          <p:spTgt spid="103427"/>
                                        </p:tgtEl>
                                        <p:attrNameLst>
                                          <p:attrName>ppt_x</p:attrName>
                                        </p:attrNameLst>
                                      </p:cBhvr>
                                      <p:tavLst>
                                        <p:tav tm="0">
                                          <p:val>
                                            <p:strVal val="0-#ppt_w/2"/>
                                          </p:val>
                                        </p:tav>
                                        <p:tav tm="100000">
                                          <p:val>
                                            <p:strVal val="#ppt_x"/>
                                          </p:val>
                                        </p:tav>
                                      </p:tavLst>
                                    </p:anim>
                                    <p:anim calcmode="lin" valueType="num">
                                      <p:cBhvr additive="base">
                                        <p:cTn id="8" dur="500" fill="hold"/>
                                        <p:tgtEl>
                                          <p:spTgt spid="1034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03428"/>
                                        </p:tgtEl>
                                        <p:attrNameLst>
                                          <p:attrName>style.visibility</p:attrName>
                                        </p:attrNameLst>
                                      </p:cBhvr>
                                      <p:to>
                                        <p:strVal val="visible"/>
                                      </p:to>
                                    </p:set>
                                    <p:animEffect transition="in" filter="dissolve">
                                      <p:cBhvr>
                                        <p:cTn id="12" dur="500"/>
                                        <p:tgtEl>
                                          <p:spTgt spid="103428"/>
                                        </p:tgtEl>
                                      </p:cBhvr>
                                    </p:animEffect>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103429"/>
                                        </p:tgtEl>
                                        <p:attrNameLst>
                                          <p:attrName>style.visibility</p:attrName>
                                        </p:attrNameLst>
                                      </p:cBhvr>
                                      <p:to>
                                        <p:strVal val="visible"/>
                                      </p:to>
                                    </p:set>
                                    <p:animEffect transition="in" filter="dissolve">
                                      <p:cBhvr>
                                        <p:cTn id="16" dur="500"/>
                                        <p:tgtEl>
                                          <p:spTgt spid="103429"/>
                                        </p:tgtEl>
                                      </p:cBhvr>
                                    </p:animEffect>
                                  </p:childTnLst>
                                </p:cTn>
                              </p:par>
                            </p:childTnLst>
                          </p:cTn>
                        </p:par>
                        <p:par>
                          <p:cTn id="17" fill="hold">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103430"/>
                                        </p:tgtEl>
                                        <p:attrNameLst>
                                          <p:attrName>style.visibility</p:attrName>
                                        </p:attrNameLst>
                                      </p:cBhvr>
                                      <p:to>
                                        <p:strVal val="visible"/>
                                      </p:to>
                                    </p:set>
                                    <p:animEffect transition="in" filter="dissolve">
                                      <p:cBhvr>
                                        <p:cTn id="20" dur="500"/>
                                        <p:tgtEl>
                                          <p:spTgt spid="103430"/>
                                        </p:tgtEl>
                                      </p:cBhvr>
                                    </p:animEffect>
                                  </p:childTnLst>
                                </p:cTn>
                              </p:par>
                            </p:childTnLst>
                          </p:cTn>
                        </p:par>
                        <p:par>
                          <p:cTn id="21" fill="hold">
                            <p:stCondLst>
                              <p:cond delay="2000"/>
                            </p:stCondLst>
                            <p:childTnLst>
                              <p:par>
                                <p:cTn id="22" presetID="9" presetClass="entr" presetSubtype="0" fill="hold" grpId="0" nodeType="afterEffect">
                                  <p:stCondLst>
                                    <p:cond delay="0"/>
                                  </p:stCondLst>
                                  <p:childTnLst>
                                    <p:set>
                                      <p:cBhvr>
                                        <p:cTn id="23" dur="1" fill="hold">
                                          <p:stCondLst>
                                            <p:cond delay="0"/>
                                          </p:stCondLst>
                                        </p:cTn>
                                        <p:tgtEl>
                                          <p:spTgt spid="103431"/>
                                        </p:tgtEl>
                                        <p:attrNameLst>
                                          <p:attrName>style.visibility</p:attrName>
                                        </p:attrNameLst>
                                      </p:cBhvr>
                                      <p:to>
                                        <p:strVal val="visible"/>
                                      </p:to>
                                    </p:set>
                                    <p:animEffect transition="in" filter="dissolve">
                                      <p:cBhvr>
                                        <p:cTn id="24" dur="500"/>
                                        <p:tgtEl>
                                          <p:spTgt spid="103431"/>
                                        </p:tgtEl>
                                      </p:cBhvr>
                                    </p:animEffect>
                                  </p:childTnLst>
                                </p:cTn>
                              </p:par>
                            </p:childTnLst>
                          </p:cTn>
                        </p:par>
                        <p:par>
                          <p:cTn id="25" fill="hold">
                            <p:stCondLst>
                              <p:cond delay="2500"/>
                            </p:stCondLst>
                            <p:childTnLst>
                              <p:par>
                                <p:cTn id="26" presetID="9" presetClass="entr" presetSubtype="0" fill="hold" grpId="0" nodeType="afterEffect">
                                  <p:stCondLst>
                                    <p:cond delay="0"/>
                                  </p:stCondLst>
                                  <p:childTnLst>
                                    <p:set>
                                      <p:cBhvr>
                                        <p:cTn id="27" dur="1" fill="hold">
                                          <p:stCondLst>
                                            <p:cond delay="0"/>
                                          </p:stCondLst>
                                        </p:cTn>
                                        <p:tgtEl>
                                          <p:spTgt spid="103432"/>
                                        </p:tgtEl>
                                        <p:attrNameLst>
                                          <p:attrName>style.visibility</p:attrName>
                                        </p:attrNameLst>
                                      </p:cBhvr>
                                      <p:to>
                                        <p:strVal val="visible"/>
                                      </p:to>
                                    </p:set>
                                    <p:animEffect transition="in" filter="dissolve">
                                      <p:cBhvr>
                                        <p:cTn id="28" dur="500"/>
                                        <p:tgtEl>
                                          <p:spTgt spid="103432"/>
                                        </p:tgtEl>
                                      </p:cBhvr>
                                    </p:animEffect>
                                  </p:childTnLst>
                                </p:cTn>
                              </p:par>
                            </p:childTnLst>
                          </p:cTn>
                        </p:par>
                        <p:par>
                          <p:cTn id="29" fill="hold">
                            <p:stCondLst>
                              <p:cond delay="3000"/>
                            </p:stCondLst>
                            <p:childTnLst>
                              <p:par>
                                <p:cTn id="30" presetID="9" presetClass="entr" presetSubtype="0" fill="hold" grpId="0" nodeType="afterEffect">
                                  <p:stCondLst>
                                    <p:cond delay="0"/>
                                  </p:stCondLst>
                                  <p:childTnLst>
                                    <p:set>
                                      <p:cBhvr>
                                        <p:cTn id="31" dur="1" fill="hold">
                                          <p:stCondLst>
                                            <p:cond delay="0"/>
                                          </p:stCondLst>
                                        </p:cTn>
                                        <p:tgtEl>
                                          <p:spTgt spid="103433"/>
                                        </p:tgtEl>
                                        <p:attrNameLst>
                                          <p:attrName>style.visibility</p:attrName>
                                        </p:attrNameLst>
                                      </p:cBhvr>
                                      <p:to>
                                        <p:strVal val="visible"/>
                                      </p:to>
                                    </p:set>
                                    <p:animEffect transition="in" filter="dissolve">
                                      <p:cBhvr>
                                        <p:cTn id="32" dur="500"/>
                                        <p:tgtEl>
                                          <p:spTgt spid="103433"/>
                                        </p:tgtEl>
                                      </p:cBhvr>
                                    </p:animEffect>
                                  </p:childTnLst>
                                </p:cTn>
                              </p:par>
                            </p:childTnLst>
                          </p:cTn>
                        </p:par>
                        <p:par>
                          <p:cTn id="33" fill="hold">
                            <p:stCondLst>
                              <p:cond delay="3500"/>
                            </p:stCondLst>
                            <p:childTnLst>
                              <p:par>
                                <p:cTn id="34" presetID="9" presetClass="entr" presetSubtype="0" fill="hold" grpId="0" nodeType="afterEffect">
                                  <p:stCondLst>
                                    <p:cond delay="0"/>
                                  </p:stCondLst>
                                  <p:childTnLst>
                                    <p:set>
                                      <p:cBhvr>
                                        <p:cTn id="35" dur="1" fill="hold">
                                          <p:stCondLst>
                                            <p:cond delay="0"/>
                                          </p:stCondLst>
                                        </p:cTn>
                                        <p:tgtEl>
                                          <p:spTgt spid="103434"/>
                                        </p:tgtEl>
                                        <p:attrNameLst>
                                          <p:attrName>style.visibility</p:attrName>
                                        </p:attrNameLst>
                                      </p:cBhvr>
                                      <p:to>
                                        <p:strVal val="visible"/>
                                      </p:to>
                                    </p:set>
                                    <p:animEffect transition="in" filter="dissolve">
                                      <p:cBhvr>
                                        <p:cTn id="36" dur="500"/>
                                        <p:tgtEl>
                                          <p:spTgt spid="103434"/>
                                        </p:tgtEl>
                                      </p:cBhvr>
                                    </p:animEffect>
                                  </p:childTnLst>
                                </p:cTn>
                              </p:par>
                            </p:childTnLst>
                          </p:cTn>
                        </p:par>
                        <p:par>
                          <p:cTn id="37" fill="hold">
                            <p:stCondLst>
                              <p:cond delay="4000"/>
                            </p:stCondLst>
                            <p:childTnLst>
                              <p:par>
                                <p:cTn id="38" presetID="9" presetClass="entr" presetSubtype="0" fill="hold" grpId="0" nodeType="afterEffect">
                                  <p:stCondLst>
                                    <p:cond delay="0"/>
                                  </p:stCondLst>
                                  <p:childTnLst>
                                    <p:set>
                                      <p:cBhvr>
                                        <p:cTn id="39" dur="1" fill="hold">
                                          <p:stCondLst>
                                            <p:cond delay="0"/>
                                          </p:stCondLst>
                                        </p:cTn>
                                        <p:tgtEl>
                                          <p:spTgt spid="103446"/>
                                        </p:tgtEl>
                                        <p:attrNameLst>
                                          <p:attrName>style.visibility</p:attrName>
                                        </p:attrNameLst>
                                      </p:cBhvr>
                                      <p:to>
                                        <p:strVal val="visible"/>
                                      </p:to>
                                    </p:set>
                                    <p:animEffect transition="in" filter="dissolve">
                                      <p:cBhvr>
                                        <p:cTn id="40" dur="500"/>
                                        <p:tgtEl>
                                          <p:spTgt spid="103446"/>
                                        </p:tgtEl>
                                      </p:cBhvr>
                                    </p:animEffect>
                                  </p:childTnLst>
                                </p:cTn>
                              </p:par>
                            </p:childTnLst>
                          </p:cTn>
                        </p:par>
                        <p:par>
                          <p:cTn id="41" fill="hold">
                            <p:stCondLst>
                              <p:cond delay="4500"/>
                            </p:stCondLst>
                            <p:childTnLst>
                              <p:par>
                                <p:cTn id="42" presetID="9" presetClass="entr" presetSubtype="0" fill="hold" nodeType="afterEffect">
                                  <p:stCondLst>
                                    <p:cond delay="0"/>
                                  </p:stCondLst>
                                  <p:childTnLst>
                                    <p:set>
                                      <p:cBhvr>
                                        <p:cTn id="43" dur="1" fill="hold">
                                          <p:stCondLst>
                                            <p:cond delay="0"/>
                                          </p:stCondLst>
                                        </p:cTn>
                                        <p:tgtEl>
                                          <p:spTgt spid="103435"/>
                                        </p:tgtEl>
                                        <p:attrNameLst>
                                          <p:attrName>style.visibility</p:attrName>
                                        </p:attrNameLst>
                                      </p:cBhvr>
                                      <p:to>
                                        <p:strVal val="visible"/>
                                      </p:to>
                                    </p:set>
                                    <p:animEffect transition="in" filter="dissolve">
                                      <p:cBhvr>
                                        <p:cTn id="44" dur="500"/>
                                        <p:tgtEl>
                                          <p:spTgt spid="103435"/>
                                        </p:tgtEl>
                                      </p:cBhvr>
                                    </p:animEffect>
                                  </p:childTnLst>
                                </p:cTn>
                              </p:par>
                            </p:childTnLst>
                          </p:cTn>
                        </p:par>
                        <p:par>
                          <p:cTn id="45" fill="hold">
                            <p:stCondLst>
                              <p:cond delay="5000"/>
                            </p:stCondLst>
                            <p:childTnLst>
                              <p:par>
                                <p:cTn id="46" presetID="9" presetClass="entr" presetSubtype="0" fill="hold" nodeType="afterEffect">
                                  <p:stCondLst>
                                    <p:cond delay="0"/>
                                  </p:stCondLst>
                                  <p:childTnLst>
                                    <p:set>
                                      <p:cBhvr>
                                        <p:cTn id="47" dur="1" fill="hold">
                                          <p:stCondLst>
                                            <p:cond delay="0"/>
                                          </p:stCondLst>
                                        </p:cTn>
                                        <p:tgtEl>
                                          <p:spTgt spid="103436"/>
                                        </p:tgtEl>
                                        <p:attrNameLst>
                                          <p:attrName>style.visibility</p:attrName>
                                        </p:attrNameLst>
                                      </p:cBhvr>
                                      <p:to>
                                        <p:strVal val="visible"/>
                                      </p:to>
                                    </p:set>
                                    <p:animEffect transition="in" filter="dissolve">
                                      <p:cBhvr>
                                        <p:cTn id="48" dur="500"/>
                                        <p:tgtEl>
                                          <p:spTgt spid="103436"/>
                                        </p:tgtEl>
                                      </p:cBhvr>
                                    </p:animEffect>
                                  </p:childTnLst>
                                </p:cTn>
                              </p:par>
                            </p:childTnLst>
                          </p:cTn>
                        </p:par>
                        <p:par>
                          <p:cTn id="49" fill="hold">
                            <p:stCondLst>
                              <p:cond delay="5500"/>
                            </p:stCondLst>
                            <p:childTnLst>
                              <p:par>
                                <p:cTn id="50" presetID="9" presetClass="entr" presetSubtype="0" fill="hold" nodeType="afterEffect">
                                  <p:stCondLst>
                                    <p:cond delay="0"/>
                                  </p:stCondLst>
                                  <p:childTnLst>
                                    <p:set>
                                      <p:cBhvr>
                                        <p:cTn id="51" dur="1" fill="hold">
                                          <p:stCondLst>
                                            <p:cond delay="0"/>
                                          </p:stCondLst>
                                        </p:cTn>
                                        <p:tgtEl>
                                          <p:spTgt spid="103437"/>
                                        </p:tgtEl>
                                        <p:attrNameLst>
                                          <p:attrName>style.visibility</p:attrName>
                                        </p:attrNameLst>
                                      </p:cBhvr>
                                      <p:to>
                                        <p:strVal val="visible"/>
                                      </p:to>
                                    </p:set>
                                    <p:animEffect transition="in" filter="dissolve">
                                      <p:cBhvr>
                                        <p:cTn id="52" dur="500"/>
                                        <p:tgtEl>
                                          <p:spTgt spid="103437"/>
                                        </p:tgtEl>
                                      </p:cBhvr>
                                    </p:animEffect>
                                  </p:childTnLst>
                                </p:cTn>
                              </p:par>
                            </p:childTnLst>
                          </p:cTn>
                        </p:par>
                        <p:par>
                          <p:cTn id="53" fill="hold">
                            <p:stCondLst>
                              <p:cond delay="6000"/>
                            </p:stCondLst>
                            <p:childTnLst>
                              <p:par>
                                <p:cTn id="54" presetID="9" presetClass="entr" presetSubtype="0" fill="hold" nodeType="afterEffect">
                                  <p:stCondLst>
                                    <p:cond delay="0"/>
                                  </p:stCondLst>
                                  <p:childTnLst>
                                    <p:set>
                                      <p:cBhvr>
                                        <p:cTn id="55" dur="1" fill="hold">
                                          <p:stCondLst>
                                            <p:cond delay="0"/>
                                          </p:stCondLst>
                                        </p:cTn>
                                        <p:tgtEl>
                                          <p:spTgt spid="103438"/>
                                        </p:tgtEl>
                                        <p:attrNameLst>
                                          <p:attrName>style.visibility</p:attrName>
                                        </p:attrNameLst>
                                      </p:cBhvr>
                                      <p:to>
                                        <p:strVal val="visible"/>
                                      </p:to>
                                    </p:set>
                                    <p:animEffect transition="in" filter="dissolve">
                                      <p:cBhvr>
                                        <p:cTn id="56" dur="500"/>
                                        <p:tgtEl>
                                          <p:spTgt spid="103438"/>
                                        </p:tgtEl>
                                      </p:cBhvr>
                                    </p:animEffect>
                                  </p:childTnLst>
                                </p:cTn>
                              </p:par>
                            </p:childTnLst>
                          </p:cTn>
                        </p:par>
                        <p:par>
                          <p:cTn id="57" fill="hold">
                            <p:stCondLst>
                              <p:cond delay="6500"/>
                            </p:stCondLst>
                            <p:childTnLst>
                              <p:par>
                                <p:cTn id="58" presetID="9" presetClass="entr" presetSubtype="0" fill="hold" nodeType="afterEffect">
                                  <p:stCondLst>
                                    <p:cond delay="0"/>
                                  </p:stCondLst>
                                  <p:childTnLst>
                                    <p:set>
                                      <p:cBhvr>
                                        <p:cTn id="59" dur="1" fill="hold">
                                          <p:stCondLst>
                                            <p:cond delay="0"/>
                                          </p:stCondLst>
                                        </p:cTn>
                                        <p:tgtEl>
                                          <p:spTgt spid="103439"/>
                                        </p:tgtEl>
                                        <p:attrNameLst>
                                          <p:attrName>style.visibility</p:attrName>
                                        </p:attrNameLst>
                                      </p:cBhvr>
                                      <p:to>
                                        <p:strVal val="visible"/>
                                      </p:to>
                                    </p:set>
                                    <p:animEffect transition="in" filter="dissolve">
                                      <p:cBhvr>
                                        <p:cTn id="60" dur="500"/>
                                        <p:tgtEl>
                                          <p:spTgt spid="103439"/>
                                        </p:tgtEl>
                                      </p:cBhvr>
                                    </p:animEffect>
                                  </p:childTnLst>
                                </p:cTn>
                              </p:par>
                            </p:childTnLst>
                          </p:cTn>
                        </p:par>
                        <p:par>
                          <p:cTn id="61" fill="hold">
                            <p:stCondLst>
                              <p:cond delay="7000"/>
                            </p:stCondLst>
                            <p:childTnLst>
                              <p:par>
                                <p:cTn id="62" presetID="9" presetClass="entr" presetSubtype="0" fill="hold" nodeType="afterEffect">
                                  <p:stCondLst>
                                    <p:cond delay="0"/>
                                  </p:stCondLst>
                                  <p:childTnLst>
                                    <p:set>
                                      <p:cBhvr>
                                        <p:cTn id="63" dur="1" fill="hold">
                                          <p:stCondLst>
                                            <p:cond delay="0"/>
                                          </p:stCondLst>
                                        </p:cTn>
                                        <p:tgtEl>
                                          <p:spTgt spid="103440"/>
                                        </p:tgtEl>
                                        <p:attrNameLst>
                                          <p:attrName>style.visibility</p:attrName>
                                        </p:attrNameLst>
                                      </p:cBhvr>
                                      <p:to>
                                        <p:strVal val="visible"/>
                                      </p:to>
                                    </p:set>
                                    <p:animEffect transition="in" filter="dissolve">
                                      <p:cBhvr>
                                        <p:cTn id="64" dur="500"/>
                                        <p:tgtEl>
                                          <p:spTgt spid="103440"/>
                                        </p:tgtEl>
                                      </p:cBhvr>
                                    </p:animEffect>
                                  </p:childTnLst>
                                </p:cTn>
                              </p:par>
                            </p:childTnLst>
                          </p:cTn>
                        </p:par>
                        <p:par>
                          <p:cTn id="65" fill="hold">
                            <p:stCondLst>
                              <p:cond delay="7500"/>
                            </p:stCondLst>
                            <p:childTnLst>
                              <p:par>
                                <p:cTn id="66" presetID="9" presetClass="entr" presetSubtype="0" fill="hold" nodeType="afterEffect">
                                  <p:stCondLst>
                                    <p:cond delay="0"/>
                                  </p:stCondLst>
                                  <p:childTnLst>
                                    <p:set>
                                      <p:cBhvr>
                                        <p:cTn id="67" dur="1" fill="hold">
                                          <p:stCondLst>
                                            <p:cond delay="0"/>
                                          </p:stCondLst>
                                        </p:cTn>
                                        <p:tgtEl>
                                          <p:spTgt spid="103441"/>
                                        </p:tgtEl>
                                        <p:attrNameLst>
                                          <p:attrName>style.visibility</p:attrName>
                                        </p:attrNameLst>
                                      </p:cBhvr>
                                      <p:to>
                                        <p:strVal val="visible"/>
                                      </p:to>
                                    </p:set>
                                    <p:animEffect transition="in" filter="dissolve">
                                      <p:cBhvr>
                                        <p:cTn id="68" dur="500"/>
                                        <p:tgtEl>
                                          <p:spTgt spid="103441"/>
                                        </p:tgtEl>
                                      </p:cBhvr>
                                    </p:animEffect>
                                  </p:childTnLst>
                                </p:cTn>
                              </p:par>
                            </p:childTnLst>
                          </p:cTn>
                        </p:par>
                        <p:par>
                          <p:cTn id="69" fill="hold">
                            <p:stCondLst>
                              <p:cond delay="8000"/>
                            </p:stCondLst>
                            <p:childTnLst>
                              <p:par>
                                <p:cTn id="70" presetID="9" presetClass="entr" presetSubtype="0" fill="hold" nodeType="afterEffect">
                                  <p:stCondLst>
                                    <p:cond delay="0"/>
                                  </p:stCondLst>
                                  <p:childTnLst>
                                    <p:set>
                                      <p:cBhvr>
                                        <p:cTn id="71" dur="1" fill="hold">
                                          <p:stCondLst>
                                            <p:cond delay="0"/>
                                          </p:stCondLst>
                                        </p:cTn>
                                        <p:tgtEl>
                                          <p:spTgt spid="103442"/>
                                        </p:tgtEl>
                                        <p:attrNameLst>
                                          <p:attrName>style.visibility</p:attrName>
                                        </p:attrNameLst>
                                      </p:cBhvr>
                                      <p:to>
                                        <p:strVal val="visible"/>
                                      </p:to>
                                    </p:set>
                                    <p:animEffect transition="in" filter="dissolve">
                                      <p:cBhvr>
                                        <p:cTn id="72" dur="500"/>
                                        <p:tgtEl>
                                          <p:spTgt spid="103442"/>
                                        </p:tgtEl>
                                      </p:cBhvr>
                                    </p:animEffect>
                                  </p:childTnLst>
                                </p:cTn>
                              </p:par>
                            </p:childTnLst>
                          </p:cTn>
                        </p:par>
                        <p:par>
                          <p:cTn id="73" fill="hold">
                            <p:stCondLst>
                              <p:cond delay="8500"/>
                            </p:stCondLst>
                            <p:childTnLst>
                              <p:par>
                                <p:cTn id="74" presetID="9" presetClass="entr" presetSubtype="0" fill="hold" nodeType="afterEffect">
                                  <p:stCondLst>
                                    <p:cond delay="0"/>
                                  </p:stCondLst>
                                  <p:childTnLst>
                                    <p:set>
                                      <p:cBhvr>
                                        <p:cTn id="75" dur="1" fill="hold">
                                          <p:stCondLst>
                                            <p:cond delay="0"/>
                                          </p:stCondLst>
                                        </p:cTn>
                                        <p:tgtEl>
                                          <p:spTgt spid="103443"/>
                                        </p:tgtEl>
                                        <p:attrNameLst>
                                          <p:attrName>style.visibility</p:attrName>
                                        </p:attrNameLst>
                                      </p:cBhvr>
                                      <p:to>
                                        <p:strVal val="visible"/>
                                      </p:to>
                                    </p:set>
                                    <p:animEffect transition="in" filter="dissolve">
                                      <p:cBhvr>
                                        <p:cTn id="76" dur="500"/>
                                        <p:tgtEl>
                                          <p:spTgt spid="103443"/>
                                        </p:tgtEl>
                                      </p:cBhvr>
                                    </p:animEffect>
                                  </p:childTnLst>
                                </p:cTn>
                              </p:par>
                            </p:childTnLst>
                          </p:cTn>
                        </p:par>
                        <p:par>
                          <p:cTn id="77" fill="hold">
                            <p:stCondLst>
                              <p:cond delay="9000"/>
                            </p:stCondLst>
                            <p:childTnLst>
                              <p:par>
                                <p:cTn id="78" presetID="9" presetClass="entr" presetSubtype="0" fill="hold" nodeType="afterEffect">
                                  <p:stCondLst>
                                    <p:cond delay="0"/>
                                  </p:stCondLst>
                                  <p:childTnLst>
                                    <p:set>
                                      <p:cBhvr>
                                        <p:cTn id="79" dur="1" fill="hold">
                                          <p:stCondLst>
                                            <p:cond delay="0"/>
                                          </p:stCondLst>
                                        </p:cTn>
                                        <p:tgtEl>
                                          <p:spTgt spid="103444"/>
                                        </p:tgtEl>
                                        <p:attrNameLst>
                                          <p:attrName>style.visibility</p:attrName>
                                        </p:attrNameLst>
                                      </p:cBhvr>
                                      <p:to>
                                        <p:strVal val="visible"/>
                                      </p:to>
                                    </p:set>
                                    <p:animEffect transition="in" filter="dissolve">
                                      <p:cBhvr>
                                        <p:cTn id="80" dur="500"/>
                                        <p:tgtEl>
                                          <p:spTgt spid="103444"/>
                                        </p:tgtEl>
                                      </p:cBhvr>
                                    </p:animEffect>
                                  </p:childTnLst>
                                </p:cTn>
                              </p:par>
                            </p:childTnLst>
                          </p:cTn>
                        </p:par>
                        <p:par>
                          <p:cTn id="81" fill="hold">
                            <p:stCondLst>
                              <p:cond delay="9500"/>
                            </p:stCondLst>
                            <p:childTnLst>
                              <p:par>
                                <p:cTn id="82" presetID="9" presetClass="entr" presetSubtype="0" fill="hold" nodeType="afterEffect">
                                  <p:stCondLst>
                                    <p:cond delay="0"/>
                                  </p:stCondLst>
                                  <p:childTnLst>
                                    <p:set>
                                      <p:cBhvr>
                                        <p:cTn id="83" dur="1" fill="hold">
                                          <p:stCondLst>
                                            <p:cond delay="0"/>
                                          </p:stCondLst>
                                        </p:cTn>
                                        <p:tgtEl>
                                          <p:spTgt spid="103447"/>
                                        </p:tgtEl>
                                        <p:attrNameLst>
                                          <p:attrName>style.visibility</p:attrName>
                                        </p:attrNameLst>
                                      </p:cBhvr>
                                      <p:to>
                                        <p:strVal val="visible"/>
                                      </p:to>
                                    </p:set>
                                    <p:animEffect transition="in" filter="dissolve">
                                      <p:cBhvr>
                                        <p:cTn id="84" dur="500"/>
                                        <p:tgtEl>
                                          <p:spTgt spid="103447"/>
                                        </p:tgtEl>
                                      </p:cBhvr>
                                    </p:animEffect>
                                  </p:childTnLst>
                                </p:cTn>
                              </p:par>
                            </p:childTnLst>
                          </p:cTn>
                        </p:par>
                        <p:par>
                          <p:cTn id="85" fill="hold">
                            <p:stCondLst>
                              <p:cond delay="10000"/>
                            </p:stCondLst>
                            <p:childTnLst>
                              <p:par>
                                <p:cTn id="86" presetID="9" presetClass="entr" presetSubtype="0" fill="hold" nodeType="afterEffect">
                                  <p:stCondLst>
                                    <p:cond delay="0"/>
                                  </p:stCondLst>
                                  <p:childTnLst>
                                    <p:set>
                                      <p:cBhvr>
                                        <p:cTn id="87" dur="1" fill="hold">
                                          <p:stCondLst>
                                            <p:cond delay="0"/>
                                          </p:stCondLst>
                                        </p:cTn>
                                        <p:tgtEl>
                                          <p:spTgt spid="103448"/>
                                        </p:tgtEl>
                                        <p:attrNameLst>
                                          <p:attrName>style.visibility</p:attrName>
                                        </p:attrNameLst>
                                      </p:cBhvr>
                                      <p:to>
                                        <p:strVal val="visible"/>
                                      </p:to>
                                    </p:set>
                                    <p:animEffect transition="in" filter="dissolve">
                                      <p:cBhvr>
                                        <p:cTn id="88" dur="500"/>
                                        <p:tgtEl>
                                          <p:spTgt spid="10344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03449"/>
                                        </p:tgtEl>
                                        <p:attrNameLst>
                                          <p:attrName>style.visibility</p:attrName>
                                        </p:attrNameLst>
                                      </p:cBhvr>
                                      <p:to>
                                        <p:strVal val="visible"/>
                                      </p:to>
                                    </p:set>
                                    <p:animEffect transition="in" filter="wipe(left)">
                                      <p:cBhvr>
                                        <p:cTn id="93" dur="500"/>
                                        <p:tgtEl>
                                          <p:spTgt spid="10344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3450"/>
                                        </p:tgtEl>
                                        <p:attrNameLst>
                                          <p:attrName>style.visibility</p:attrName>
                                        </p:attrNameLst>
                                      </p:cBhvr>
                                      <p:to>
                                        <p:strVal val="visible"/>
                                      </p:to>
                                    </p:set>
                                    <p:animEffect transition="in" filter="wipe(left)">
                                      <p:cBhvr>
                                        <p:cTn id="98" dur="500"/>
                                        <p:tgtEl>
                                          <p:spTgt spid="10345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3451"/>
                                        </p:tgtEl>
                                        <p:attrNameLst>
                                          <p:attrName>style.visibility</p:attrName>
                                        </p:attrNameLst>
                                      </p:cBhvr>
                                      <p:to>
                                        <p:strVal val="visible"/>
                                      </p:to>
                                    </p:set>
                                    <p:animEffect transition="in" filter="wipe(left)">
                                      <p:cBhvr>
                                        <p:cTn id="103" dur="500"/>
                                        <p:tgtEl>
                                          <p:spTgt spid="10345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03452"/>
                                        </p:tgtEl>
                                        <p:attrNameLst>
                                          <p:attrName>style.visibility</p:attrName>
                                        </p:attrNameLst>
                                      </p:cBhvr>
                                      <p:to>
                                        <p:strVal val="visible"/>
                                      </p:to>
                                    </p:set>
                                    <p:animEffect transition="in" filter="wipe(left)">
                                      <p:cBhvr>
                                        <p:cTn id="108" dur="500"/>
                                        <p:tgtEl>
                                          <p:spTgt spid="103452"/>
                                        </p:tgtEl>
                                      </p:cBhvr>
                                    </p:animEffect>
                                  </p:child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103462"/>
                                        </p:tgtEl>
                                        <p:attrNameLst>
                                          <p:attrName>style.visibility</p:attrName>
                                        </p:attrNameLst>
                                      </p:cBhvr>
                                      <p:to>
                                        <p:strVal val="visible"/>
                                      </p:to>
                                    </p:set>
                                    <p:animEffect transition="in" filter="box(out)">
                                      <p:cBhvr>
                                        <p:cTn id="113" dur="500"/>
                                        <p:tgtEl>
                                          <p:spTgt spid="103462"/>
                                        </p:tgtEl>
                                      </p:cBhvr>
                                    </p:animEffect>
                                  </p:childTnLst>
                                </p:cTn>
                              </p:par>
                            </p:childTnLst>
                          </p:cTn>
                        </p:par>
                      </p:childTnLst>
                    </p:cTn>
                  </p:par>
                  <p:par>
                    <p:cTn id="114" fill="hold">
                      <p:stCondLst>
                        <p:cond delay="indefinite"/>
                      </p:stCondLst>
                      <p:childTnLst>
                        <p:par>
                          <p:cTn id="115" fill="hold">
                            <p:stCondLst>
                              <p:cond delay="0"/>
                            </p:stCondLst>
                            <p:childTnLst>
                              <p:par>
                                <p:cTn id="116" presetID="17" presetClass="entr" presetSubtype="4" fill="hold" nodeType="clickEffect">
                                  <p:stCondLst>
                                    <p:cond delay="0"/>
                                  </p:stCondLst>
                                  <p:childTnLst>
                                    <p:set>
                                      <p:cBhvr>
                                        <p:cTn id="117" dur="1" fill="hold">
                                          <p:stCondLst>
                                            <p:cond delay="0"/>
                                          </p:stCondLst>
                                        </p:cTn>
                                        <p:tgtEl>
                                          <p:spTgt spid="103453"/>
                                        </p:tgtEl>
                                        <p:attrNameLst>
                                          <p:attrName>style.visibility</p:attrName>
                                        </p:attrNameLst>
                                      </p:cBhvr>
                                      <p:to>
                                        <p:strVal val="visible"/>
                                      </p:to>
                                    </p:set>
                                    <p:anim calcmode="lin" valueType="num">
                                      <p:cBhvr>
                                        <p:cTn id="118" dur="500" fill="hold"/>
                                        <p:tgtEl>
                                          <p:spTgt spid="103453"/>
                                        </p:tgtEl>
                                        <p:attrNameLst>
                                          <p:attrName>ppt_x</p:attrName>
                                        </p:attrNameLst>
                                      </p:cBhvr>
                                      <p:tavLst>
                                        <p:tav tm="0">
                                          <p:val>
                                            <p:strVal val="#ppt_x"/>
                                          </p:val>
                                        </p:tav>
                                        <p:tav tm="100000">
                                          <p:val>
                                            <p:strVal val="#ppt_x"/>
                                          </p:val>
                                        </p:tav>
                                      </p:tavLst>
                                    </p:anim>
                                    <p:anim calcmode="lin" valueType="num">
                                      <p:cBhvr>
                                        <p:cTn id="119" dur="500" fill="hold"/>
                                        <p:tgtEl>
                                          <p:spTgt spid="103453"/>
                                        </p:tgtEl>
                                        <p:attrNameLst>
                                          <p:attrName>ppt_y</p:attrName>
                                        </p:attrNameLst>
                                      </p:cBhvr>
                                      <p:tavLst>
                                        <p:tav tm="0">
                                          <p:val>
                                            <p:strVal val="#ppt_y+#ppt_h/2"/>
                                          </p:val>
                                        </p:tav>
                                        <p:tav tm="100000">
                                          <p:val>
                                            <p:strVal val="#ppt_y"/>
                                          </p:val>
                                        </p:tav>
                                      </p:tavLst>
                                    </p:anim>
                                    <p:anim calcmode="lin" valueType="num">
                                      <p:cBhvr>
                                        <p:cTn id="120" dur="500" fill="hold"/>
                                        <p:tgtEl>
                                          <p:spTgt spid="103453"/>
                                        </p:tgtEl>
                                        <p:attrNameLst>
                                          <p:attrName>ppt_w</p:attrName>
                                        </p:attrNameLst>
                                      </p:cBhvr>
                                      <p:tavLst>
                                        <p:tav tm="0">
                                          <p:val>
                                            <p:strVal val="#ppt_w"/>
                                          </p:val>
                                        </p:tav>
                                        <p:tav tm="100000">
                                          <p:val>
                                            <p:strVal val="#ppt_w"/>
                                          </p:val>
                                        </p:tav>
                                      </p:tavLst>
                                    </p:anim>
                                    <p:anim calcmode="lin" valueType="num">
                                      <p:cBhvr>
                                        <p:cTn id="121" dur="500" fill="hold"/>
                                        <p:tgtEl>
                                          <p:spTgt spid="103453"/>
                                        </p:tgtEl>
                                        <p:attrNameLst>
                                          <p:attrName>ppt_h</p:attrName>
                                        </p:attrNameLst>
                                      </p:cBhvr>
                                      <p:tavLst>
                                        <p:tav tm="0">
                                          <p:val>
                                            <p:fltVal val="0.000000"/>
                                          </p:val>
                                        </p:tav>
                                        <p:tav tm="100000">
                                          <p:val>
                                            <p:strVal val="#ppt_h"/>
                                          </p:val>
                                        </p:tav>
                                      </p:tavLst>
                                    </p:anim>
                                  </p:childTnLst>
                                </p:cTn>
                              </p:par>
                            </p:childTnLst>
                          </p:cTn>
                        </p:par>
                        <p:par>
                          <p:cTn id="122" fill="hold">
                            <p:stCondLst>
                              <p:cond delay="500"/>
                            </p:stCondLst>
                            <p:childTnLst>
                              <p:par>
                                <p:cTn id="123" presetID="4" presetClass="entr" presetSubtype="32" fill="hold" grpId="0" nodeType="afterEffect">
                                  <p:stCondLst>
                                    <p:cond delay="0"/>
                                  </p:stCondLst>
                                  <p:childTnLst>
                                    <p:set>
                                      <p:cBhvr>
                                        <p:cTn id="124" dur="1" fill="hold">
                                          <p:stCondLst>
                                            <p:cond delay="0"/>
                                          </p:stCondLst>
                                        </p:cTn>
                                        <p:tgtEl>
                                          <p:spTgt spid="103454"/>
                                        </p:tgtEl>
                                        <p:attrNameLst>
                                          <p:attrName>style.visibility</p:attrName>
                                        </p:attrNameLst>
                                      </p:cBhvr>
                                      <p:to>
                                        <p:strVal val="visible"/>
                                      </p:to>
                                    </p:set>
                                    <p:animEffect transition="in" filter="box(out)">
                                      <p:cBhvr>
                                        <p:cTn id="125" dur="500"/>
                                        <p:tgtEl>
                                          <p:spTgt spid="103454"/>
                                        </p:tgtEl>
                                      </p:cBhvr>
                                    </p:animEffect>
                                  </p:childTnLst>
                                </p:cTn>
                              </p:par>
                            </p:childTnLst>
                          </p:cTn>
                        </p:par>
                      </p:childTnLst>
                    </p:cTn>
                  </p:par>
                  <p:par>
                    <p:cTn id="126" fill="hold">
                      <p:stCondLst>
                        <p:cond delay="indefinite"/>
                      </p:stCondLst>
                      <p:childTnLst>
                        <p:par>
                          <p:cTn id="127" fill="hold">
                            <p:stCondLst>
                              <p:cond delay="0"/>
                            </p:stCondLst>
                            <p:childTnLst>
                              <p:par>
                                <p:cTn id="128" presetID="17" presetClass="entr" presetSubtype="4" fill="hold" nodeType="clickEffect">
                                  <p:stCondLst>
                                    <p:cond delay="0"/>
                                  </p:stCondLst>
                                  <p:childTnLst>
                                    <p:set>
                                      <p:cBhvr>
                                        <p:cTn id="129" dur="1" fill="hold">
                                          <p:stCondLst>
                                            <p:cond delay="0"/>
                                          </p:stCondLst>
                                        </p:cTn>
                                        <p:tgtEl>
                                          <p:spTgt spid="103455"/>
                                        </p:tgtEl>
                                        <p:attrNameLst>
                                          <p:attrName>style.visibility</p:attrName>
                                        </p:attrNameLst>
                                      </p:cBhvr>
                                      <p:to>
                                        <p:strVal val="visible"/>
                                      </p:to>
                                    </p:set>
                                    <p:anim calcmode="lin" valueType="num">
                                      <p:cBhvr>
                                        <p:cTn id="130" dur="500" fill="hold"/>
                                        <p:tgtEl>
                                          <p:spTgt spid="103455"/>
                                        </p:tgtEl>
                                        <p:attrNameLst>
                                          <p:attrName>ppt_x</p:attrName>
                                        </p:attrNameLst>
                                      </p:cBhvr>
                                      <p:tavLst>
                                        <p:tav tm="0">
                                          <p:val>
                                            <p:strVal val="#ppt_x"/>
                                          </p:val>
                                        </p:tav>
                                        <p:tav tm="100000">
                                          <p:val>
                                            <p:strVal val="#ppt_x"/>
                                          </p:val>
                                        </p:tav>
                                      </p:tavLst>
                                    </p:anim>
                                    <p:anim calcmode="lin" valueType="num">
                                      <p:cBhvr>
                                        <p:cTn id="131" dur="500" fill="hold"/>
                                        <p:tgtEl>
                                          <p:spTgt spid="103455"/>
                                        </p:tgtEl>
                                        <p:attrNameLst>
                                          <p:attrName>ppt_y</p:attrName>
                                        </p:attrNameLst>
                                      </p:cBhvr>
                                      <p:tavLst>
                                        <p:tav tm="0">
                                          <p:val>
                                            <p:strVal val="#ppt_y+#ppt_h/2"/>
                                          </p:val>
                                        </p:tav>
                                        <p:tav tm="100000">
                                          <p:val>
                                            <p:strVal val="#ppt_y"/>
                                          </p:val>
                                        </p:tav>
                                      </p:tavLst>
                                    </p:anim>
                                    <p:anim calcmode="lin" valueType="num">
                                      <p:cBhvr>
                                        <p:cTn id="132" dur="500" fill="hold"/>
                                        <p:tgtEl>
                                          <p:spTgt spid="103455"/>
                                        </p:tgtEl>
                                        <p:attrNameLst>
                                          <p:attrName>ppt_w</p:attrName>
                                        </p:attrNameLst>
                                      </p:cBhvr>
                                      <p:tavLst>
                                        <p:tav tm="0">
                                          <p:val>
                                            <p:strVal val="#ppt_w"/>
                                          </p:val>
                                        </p:tav>
                                        <p:tav tm="100000">
                                          <p:val>
                                            <p:strVal val="#ppt_w"/>
                                          </p:val>
                                        </p:tav>
                                      </p:tavLst>
                                    </p:anim>
                                    <p:anim calcmode="lin" valueType="num">
                                      <p:cBhvr>
                                        <p:cTn id="133" dur="500" fill="hold"/>
                                        <p:tgtEl>
                                          <p:spTgt spid="103455"/>
                                        </p:tgtEl>
                                        <p:attrNameLst>
                                          <p:attrName>ppt_h</p:attrName>
                                        </p:attrNameLst>
                                      </p:cBhvr>
                                      <p:tavLst>
                                        <p:tav tm="0">
                                          <p:val>
                                            <p:fltVal val="0.000000"/>
                                          </p:val>
                                        </p:tav>
                                        <p:tav tm="100000">
                                          <p:val>
                                            <p:strVal val="#ppt_h"/>
                                          </p:val>
                                        </p:tav>
                                      </p:tavLst>
                                    </p:anim>
                                  </p:childTnLst>
                                </p:cTn>
                              </p:par>
                            </p:childTnLst>
                          </p:cTn>
                        </p:par>
                        <p:par>
                          <p:cTn id="134" fill="hold">
                            <p:stCondLst>
                              <p:cond delay="500"/>
                            </p:stCondLst>
                            <p:childTnLst>
                              <p:par>
                                <p:cTn id="135" presetID="4" presetClass="entr" presetSubtype="32" fill="hold" grpId="0" nodeType="afterEffect">
                                  <p:stCondLst>
                                    <p:cond delay="0"/>
                                  </p:stCondLst>
                                  <p:childTnLst>
                                    <p:set>
                                      <p:cBhvr>
                                        <p:cTn id="136" dur="1" fill="hold">
                                          <p:stCondLst>
                                            <p:cond delay="0"/>
                                          </p:stCondLst>
                                        </p:cTn>
                                        <p:tgtEl>
                                          <p:spTgt spid="103463"/>
                                        </p:tgtEl>
                                        <p:attrNameLst>
                                          <p:attrName>style.visibility</p:attrName>
                                        </p:attrNameLst>
                                      </p:cBhvr>
                                      <p:to>
                                        <p:strVal val="visible"/>
                                      </p:to>
                                    </p:set>
                                    <p:animEffect transition="in" filter="box(out)">
                                      <p:cBhvr>
                                        <p:cTn id="137" dur="500"/>
                                        <p:tgtEl>
                                          <p:spTgt spid="103463"/>
                                        </p:tgtEl>
                                      </p:cBhvr>
                                    </p:animEffect>
                                  </p:childTnLst>
                                </p:cTn>
                              </p:par>
                            </p:childTnLst>
                          </p:cTn>
                        </p:par>
                      </p:childTnLst>
                    </p:cTn>
                  </p:par>
                  <p:par>
                    <p:cTn id="138" fill="hold">
                      <p:stCondLst>
                        <p:cond delay="indefinite"/>
                      </p:stCondLst>
                      <p:childTnLst>
                        <p:par>
                          <p:cTn id="139" fill="hold">
                            <p:stCondLst>
                              <p:cond delay="0"/>
                            </p:stCondLst>
                            <p:childTnLst>
                              <p:par>
                                <p:cTn id="140" presetID="17" presetClass="entr" presetSubtype="1" fill="hold" nodeType="clickEffect">
                                  <p:stCondLst>
                                    <p:cond delay="0"/>
                                  </p:stCondLst>
                                  <p:childTnLst>
                                    <p:set>
                                      <p:cBhvr>
                                        <p:cTn id="141" dur="1" fill="hold">
                                          <p:stCondLst>
                                            <p:cond delay="0"/>
                                          </p:stCondLst>
                                        </p:cTn>
                                        <p:tgtEl>
                                          <p:spTgt spid="103456"/>
                                        </p:tgtEl>
                                        <p:attrNameLst>
                                          <p:attrName>style.visibility</p:attrName>
                                        </p:attrNameLst>
                                      </p:cBhvr>
                                      <p:to>
                                        <p:strVal val="visible"/>
                                      </p:to>
                                    </p:set>
                                    <p:anim calcmode="lin" valueType="num">
                                      <p:cBhvr>
                                        <p:cTn id="142" dur="500" fill="hold"/>
                                        <p:tgtEl>
                                          <p:spTgt spid="103456"/>
                                        </p:tgtEl>
                                        <p:attrNameLst>
                                          <p:attrName>ppt_x</p:attrName>
                                        </p:attrNameLst>
                                      </p:cBhvr>
                                      <p:tavLst>
                                        <p:tav tm="0">
                                          <p:val>
                                            <p:strVal val="#ppt_x"/>
                                          </p:val>
                                        </p:tav>
                                        <p:tav tm="100000">
                                          <p:val>
                                            <p:strVal val="#ppt_x"/>
                                          </p:val>
                                        </p:tav>
                                      </p:tavLst>
                                    </p:anim>
                                    <p:anim calcmode="lin" valueType="num">
                                      <p:cBhvr>
                                        <p:cTn id="143" dur="500" fill="hold"/>
                                        <p:tgtEl>
                                          <p:spTgt spid="103456"/>
                                        </p:tgtEl>
                                        <p:attrNameLst>
                                          <p:attrName>ppt_y</p:attrName>
                                        </p:attrNameLst>
                                      </p:cBhvr>
                                      <p:tavLst>
                                        <p:tav tm="0">
                                          <p:val>
                                            <p:strVal val="#ppt_y-#ppt_h/2"/>
                                          </p:val>
                                        </p:tav>
                                        <p:tav tm="100000">
                                          <p:val>
                                            <p:strVal val="#ppt_y"/>
                                          </p:val>
                                        </p:tav>
                                      </p:tavLst>
                                    </p:anim>
                                    <p:anim calcmode="lin" valueType="num">
                                      <p:cBhvr>
                                        <p:cTn id="144" dur="500" fill="hold"/>
                                        <p:tgtEl>
                                          <p:spTgt spid="103456"/>
                                        </p:tgtEl>
                                        <p:attrNameLst>
                                          <p:attrName>ppt_w</p:attrName>
                                        </p:attrNameLst>
                                      </p:cBhvr>
                                      <p:tavLst>
                                        <p:tav tm="0">
                                          <p:val>
                                            <p:strVal val="#ppt_w"/>
                                          </p:val>
                                        </p:tav>
                                        <p:tav tm="100000">
                                          <p:val>
                                            <p:strVal val="#ppt_w"/>
                                          </p:val>
                                        </p:tav>
                                      </p:tavLst>
                                    </p:anim>
                                    <p:anim calcmode="lin" valueType="num">
                                      <p:cBhvr>
                                        <p:cTn id="145" dur="500" fill="hold"/>
                                        <p:tgtEl>
                                          <p:spTgt spid="103456"/>
                                        </p:tgtEl>
                                        <p:attrNameLst>
                                          <p:attrName>ppt_h</p:attrName>
                                        </p:attrNameLst>
                                      </p:cBhvr>
                                      <p:tavLst>
                                        <p:tav tm="0">
                                          <p:val>
                                            <p:fltVal val="0.000000"/>
                                          </p:val>
                                        </p:tav>
                                        <p:tav tm="100000">
                                          <p:val>
                                            <p:strVal val="#ppt_h"/>
                                          </p:val>
                                        </p:tav>
                                      </p:tavLst>
                                    </p:anim>
                                  </p:childTnLst>
                                </p:cTn>
                              </p:par>
                            </p:childTnLst>
                          </p:cTn>
                        </p:par>
                        <p:par>
                          <p:cTn id="146" fill="hold">
                            <p:stCondLst>
                              <p:cond delay="500"/>
                            </p:stCondLst>
                            <p:childTnLst>
                              <p:par>
                                <p:cTn id="147" presetID="4" presetClass="entr" presetSubtype="32" fill="hold" grpId="0" nodeType="afterEffect">
                                  <p:stCondLst>
                                    <p:cond delay="0"/>
                                  </p:stCondLst>
                                  <p:childTnLst>
                                    <p:set>
                                      <p:cBhvr>
                                        <p:cTn id="148" dur="1" fill="hold">
                                          <p:stCondLst>
                                            <p:cond delay="0"/>
                                          </p:stCondLst>
                                        </p:cTn>
                                        <p:tgtEl>
                                          <p:spTgt spid="103467"/>
                                        </p:tgtEl>
                                        <p:attrNameLst>
                                          <p:attrName>style.visibility</p:attrName>
                                        </p:attrNameLst>
                                      </p:cBhvr>
                                      <p:to>
                                        <p:strVal val="visible"/>
                                      </p:to>
                                    </p:set>
                                    <p:animEffect transition="in" filter="box(out)">
                                      <p:cBhvr>
                                        <p:cTn id="149" dur="500"/>
                                        <p:tgtEl>
                                          <p:spTgt spid="103467"/>
                                        </p:tgtEl>
                                      </p:cBhvr>
                                    </p:animEffect>
                                  </p:childTnLst>
                                </p:cTn>
                              </p:par>
                            </p:childTnLst>
                          </p:cTn>
                        </p:par>
                      </p:childTnLst>
                    </p:cTn>
                  </p:par>
                  <p:par>
                    <p:cTn id="150" fill="hold">
                      <p:stCondLst>
                        <p:cond delay="indefinite"/>
                      </p:stCondLst>
                      <p:childTnLst>
                        <p:par>
                          <p:cTn id="151" fill="hold">
                            <p:stCondLst>
                              <p:cond delay="0"/>
                            </p:stCondLst>
                            <p:childTnLst>
                              <p:par>
                                <p:cTn id="152" presetID="17" presetClass="entr" presetSubtype="1" fill="hold" nodeType="clickEffect">
                                  <p:stCondLst>
                                    <p:cond delay="0"/>
                                  </p:stCondLst>
                                  <p:childTnLst>
                                    <p:set>
                                      <p:cBhvr>
                                        <p:cTn id="153" dur="1" fill="hold">
                                          <p:stCondLst>
                                            <p:cond delay="0"/>
                                          </p:stCondLst>
                                        </p:cTn>
                                        <p:tgtEl>
                                          <p:spTgt spid="103457"/>
                                        </p:tgtEl>
                                        <p:attrNameLst>
                                          <p:attrName>style.visibility</p:attrName>
                                        </p:attrNameLst>
                                      </p:cBhvr>
                                      <p:to>
                                        <p:strVal val="visible"/>
                                      </p:to>
                                    </p:set>
                                    <p:anim calcmode="lin" valueType="num">
                                      <p:cBhvr>
                                        <p:cTn id="154" dur="500" fill="hold"/>
                                        <p:tgtEl>
                                          <p:spTgt spid="103457"/>
                                        </p:tgtEl>
                                        <p:attrNameLst>
                                          <p:attrName>ppt_x</p:attrName>
                                        </p:attrNameLst>
                                      </p:cBhvr>
                                      <p:tavLst>
                                        <p:tav tm="0">
                                          <p:val>
                                            <p:strVal val="#ppt_x"/>
                                          </p:val>
                                        </p:tav>
                                        <p:tav tm="100000">
                                          <p:val>
                                            <p:strVal val="#ppt_x"/>
                                          </p:val>
                                        </p:tav>
                                      </p:tavLst>
                                    </p:anim>
                                    <p:anim calcmode="lin" valueType="num">
                                      <p:cBhvr>
                                        <p:cTn id="155" dur="500" fill="hold"/>
                                        <p:tgtEl>
                                          <p:spTgt spid="103457"/>
                                        </p:tgtEl>
                                        <p:attrNameLst>
                                          <p:attrName>ppt_y</p:attrName>
                                        </p:attrNameLst>
                                      </p:cBhvr>
                                      <p:tavLst>
                                        <p:tav tm="0">
                                          <p:val>
                                            <p:strVal val="#ppt_y-#ppt_h/2"/>
                                          </p:val>
                                        </p:tav>
                                        <p:tav tm="100000">
                                          <p:val>
                                            <p:strVal val="#ppt_y"/>
                                          </p:val>
                                        </p:tav>
                                      </p:tavLst>
                                    </p:anim>
                                    <p:anim calcmode="lin" valueType="num">
                                      <p:cBhvr>
                                        <p:cTn id="156" dur="500" fill="hold"/>
                                        <p:tgtEl>
                                          <p:spTgt spid="103457"/>
                                        </p:tgtEl>
                                        <p:attrNameLst>
                                          <p:attrName>ppt_w</p:attrName>
                                        </p:attrNameLst>
                                      </p:cBhvr>
                                      <p:tavLst>
                                        <p:tav tm="0">
                                          <p:val>
                                            <p:strVal val="#ppt_w"/>
                                          </p:val>
                                        </p:tav>
                                        <p:tav tm="100000">
                                          <p:val>
                                            <p:strVal val="#ppt_w"/>
                                          </p:val>
                                        </p:tav>
                                      </p:tavLst>
                                    </p:anim>
                                    <p:anim calcmode="lin" valueType="num">
                                      <p:cBhvr>
                                        <p:cTn id="157" dur="500" fill="hold"/>
                                        <p:tgtEl>
                                          <p:spTgt spid="103457"/>
                                        </p:tgtEl>
                                        <p:attrNameLst>
                                          <p:attrName>ppt_h</p:attrName>
                                        </p:attrNameLst>
                                      </p:cBhvr>
                                      <p:tavLst>
                                        <p:tav tm="0">
                                          <p:val>
                                            <p:fltVal val="0.000000"/>
                                          </p:val>
                                        </p:tav>
                                        <p:tav tm="100000">
                                          <p:val>
                                            <p:strVal val="#ppt_h"/>
                                          </p:val>
                                        </p:tav>
                                      </p:tavLst>
                                    </p:anim>
                                  </p:childTnLst>
                                </p:cTn>
                              </p:par>
                            </p:childTnLst>
                          </p:cTn>
                        </p:par>
                        <p:par>
                          <p:cTn id="158" fill="hold">
                            <p:stCondLst>
                              <p:cond delay="500"/>
                            </p:stCondLst>
                            <p:childTnLst>
                              <p:par>
                                <p:cTn id="159" presetID="4" presetClass="entr" presetSubtype="32" fill="hold" grpId="0" nodeType="afterEffect">
                                  <p:stCondLst>
                                    <p:cond delay="0"/>
                                  </p:stCondLst>
                                  <p:childTnLst>
                                    <p:set>
                                      <p:cBhvr>
                                        <p:cTn id="160" dur="1" fill="hold">
                                          <p:stCondLst>
                                            <p:cond delay="0"/>
                                          </p:stCondLst>
                                        </p:cTn>
                                        <p:tgtEl>
                                          <p:spTgt spid="103464"/>
                                        </p:tgtEl>
                                        <p:attrNameLst>
                                          <p:attrName>style.visibility</p:attrName>
                                        </p:attrNameLst>
                                      </p:cBhvr>
                                      <p:to>
                                        <p:strVal val="visible"/>
                                      </p:to>
                                    </p:set>
                                    <p:animEffect transition="in" filter="box(out)">
                                      <p:cBhvr>
                                        <p:cTn id="161" dur="500"/>
                                        <p:tgtEl>
                                          <p:spTgt spid="103464"/>
                                        </p:tgtEl>
                                      </p:cBhvr>
                                    </p:animEffect>
                                  </p:childTnLst>
                                </p:cTn>
                              </p:par>
                            </p:childTnLst>
                          </p:cTn>
                        </p:par>
                      </p:childTnLst>
                    </p:cTn>
                  </p:par>
                  <p:par>
                    <p:cTn id="162" fill="hold">
                      <p:stCondLst>
                        <p:cond delay="indefinite"/>
                      </p:stCondLst>
                      <p:childTnLst>
                        <p:par>
                          <p:cTn id="163" fill="hold">
                            <p:stCondLst>
                              <p:cond delay="0"/>
                            </p:stCondLst>
                            <p:childTnLst>
                              <p:par>
                                <p:cTn id="164" presetID="17" presetClass="entr" presetSubtype="1" fill="hold" nodeType="clickEffect">
                                  <p:stCondLst>
                                    <p:cond delay="0"/>
                                  </p:stCondLst>
                                  <p:childTnLst>
                                    <p:set>
                                      <p:cBhvr>
                                        <p:cTn id="165" dur="1" fill="hold">
                                          <p:stCondLst>
                                            <p:cond delay="0"/>
                                          </p:stCondLst>
                                        </p:cTn>
                                        <p:tgtEl>
                                          <p:spTgt spid="103458"/>
                                        </p:tgtEl>
                                        <p:attrNameLst>
                                          <p:attrName>style.visibility</p:attrName>
                                        </p:attrNameLst>
                                      </p:cBhvr>
                                      <p:to>
                                        <p:strVal val="visible"/>
                                      </p:to>
                                    </p:set>
                                    <p:anim calcmode="lin" valueType="num">
                                      <p:cBhvr>
                                        <p:cTn id="166" dur="500" fill="hold"/>
                                        <p:tgtEl>
                                          <p:spTgt spid="103458"/>
                                        </p:tgtEl>
                                        <p:attrNameLst>
                                          <p:attrName>ppt_x</p:attrName>
                                        </p:attrNameLst>
                                      </p:cBhvr>
                                      <p:tavLst>
                                        <p:tav tm="0">
                                          <p:val>
                                            <p:strVal val="#ppt_x"/>
                                          </p:val>
                                        </p:tav>
                                        <p:tav tm="100000">
                                          <p:val>
                                            <p:strVal val="#ppt_x"/>
                                          </p:val>
                                        </p:tav>
                                      </p:tavLst>
                                    </p:anim>
                                    <p:anim calcmode="lin" valueType="num">
                                      <p:cBhvr>
                                        <p:cTn id="167" dur="500" fill="hold"/>
                                        <p:tgtEl>
                                          <p:spTgt spid="103458"/>
                                        </p:tgtEl>
                                        <p:attrNameLst>
                                          <p:attrName>ppt_y</p:attrName>
                                        </p:attrNameLst>
                                      </p:cBhvr>
                                      <p:tavLst>
                                        <p:tav tm="0">
                                          <p:val>
                                            <p:strVal val="#ppt_y-#ppt_h/2"/>
                                          </p:val>
                                        </p:tav>
                                        <p:tav tm="100000">
                                          <p:val>
                                            <p:strVal val="#ppt_y"/>
                                          </p:val>
                                        </p:tav>
                                      </p:tavLst>
                                    </p:anim>
                                    <p:anim calcmode="lin" valueType="num">
                                      <p:cBhvr>
                                        <p:cTn id="168" dur="500" fill="hold"/>
                                        <p:tgtEl>
                                          <p:spTgt spid="103458"/>
                                        </p:tgtEl>
                                        <p:attrNameLst>
                                          <p:attrName>ppt_w</p:attrName>
                                        </p:attrNameLst>
                                      </p:cBhvr>
                                      <p:tavLst>
                                        <p:tav tm="0">
                                          <p:val>
                                            <p:strVal val="#ppt_w"/>
                                          </p:val>
                                        </p:tav>
                                        <p:tav tm="100000">
                                          <p:val>
                                            <p:strVal val="#ppt_w"/>
                                          </p:val>
                                        </p:tav>
                                      </p:tavLst>
                                    </p:anim>
                                    <p:anim calcmode="lin" valueType="num">
                                      <p:cBhvr>
                                        <p:cTn id="169" dur="500" fill="hold"/>
                                        <p:tgtEl>
                                          <p:spTgt spid="103458"/>
                                        </p:tgtEl>
                                        <p:attrNameLst>
                                          <p:attrName>ppt_h</p:attrName>
                                        </p:attrNameLst>
                                      </p:cBhvr>
                                      <p:tavLst>
                                        <p:tav tm="0">
                                          <p:val>
                                            <p:fltVal val="0.000000"/>
                                          </p:val>
                                        </p:tav>
                                        <p:tav tm="100000">
                                          <p:val>
                                            <p:strVal val="#ppt_h"/>
                                          </p:val>
                                        </p:tav>
                                      </p:tavLst>
                                    </p:anim>
                                  </p:childTnLst>
                                </p:cTn>
                              </p:par>
                            </p:childTnLst>
                          </p:cTn>
                        </p:par>
                        <p:par>
                          <p:cTn id="170" fill="hold">
                            <p:stCondLst>
                              <p:cond delay="500"/>
                            </p:stCondLst>
                            <p:childTnLst>
                              <p:par>
                                <p:cTn id="171" presetID="4" presetClass="entr" presetSubtype="32" fill="hold" grpId="0" nodeType="afterEffect">
                                  <p:stCondLst>
                                    <p:cond delay="0"/>
                                  </p:stCondLst>
                                  <p:childTnLst>
                                    <p:set>
                                      <p:cBhvr>
                                        <p:cTn id="172" dur="1" fill="hold">
                                          <p:stCondLst>
                                            <p:cond delay="0"/>
                                          </p:stCondLst>
                                        </p:cTn>
                                        <p:tgtEl>
                                          <p:spTgt spid="103466"/>
                                        </p:tgtEl>
                                        <p:attrNameLst>
                                          <p:attrName>style.visibility</p:attrName>
                                        </p:attrNameLst>
                                      </p:cBhvr>
                                      <p:to>
                                        <p:strVal val="visible"/>
                                      </p:to>
                                    </p:set>
                                    <p:animEffect transition="in" filter="box(out)">
                                      <p:cBhvr>
                                        <p:cTn id="173" dur="500"/>
                                        <p:tgtEl>
                                          <p:spTgt spid="103466"/>
                                        </p:tgtEl>
                                      </p:cBhvr>
                                    </p:animEffect>
                                  </p:childTnLst>
                                </p:cTn>
                              </p:par>
                            </p:childTnLst>
                          </p:cTn>
                        </p:par>
                      </p:childTnLst>
                    </p:cTn>
                  </p:par>
                  <p:par>
                    <p:cTn id="174" fill="hold">
                      <p:stCondLst>
                        <p:cond delay="indefinite"/>
                      </p:stCondLst>
                      <p:childTnLst>
                        <p:par>
                          <p:cTn id="175" fill="hold">
                            <p:stCondLst>
                              <p:cond delay="0"/>
                            </p:stCondLst>
                            <p:childTnLst>
                              <p:par>
                                <p:cTn id="176" presetID="17" presetClass="entr" presetSubtype="1" fill="hold" nodeType="clickEffect">
                                  <p:stCondLst>
                                    <p:cond delay="0"/>
                                  </p:stCondLst>
                                  <p:childTnLst>
                                    <p:set>
                                      <p:cBhvr>
                                        <p:cTn id="177" dur="1" fill="hold">
                                          <p:stCondLst>
                                            <p:cond delay="0"/>
                                          </p:stCondLst>
                                        </p:cTn>
                                        <p:tgtEl>
                                          <p:spTgt spid="103459"/>
                                        </p:tgtEl>
                                        <p:attrNameLst>
                                          <p:attrName>style.visibility</p:attrName>
                                        </p:attrNameLst>
                                      </p:cBhvr>
                                      <p:to>
                                        <p:strVal val="visible"/>
                                      </p:to>
                                    </p:set>
                                    <p:anim calcmode="lin" valueType="num">
                                      <p:cBhvr>
                                        <p:cTn id="178" dur="500" fill="hold"/>
                                        <p:tgtEl>
                                          <p:spTgt spid="103459"/>
                                        </p:tgtEl>
                                        <p:attrNameLst>
                                          <p:attrName>ppt_x</p:attrName>
                                        </p:attrNameLst>
                                      </p:cBhvr>
                                      <p:tavLst>
                                        <p:tav tm="0">
                                          <p:val>
                                            <p:strVal val="#ppt_x"/>
                                          </p:val>
                                        </p:tav>
                                        <p:tav tm="100000">
                                          <p:val>
                                            <p:strVal val="#ppt_x"/>
                                          </p:val>
                                        </p:tav>
                                      </p:tavLst>
                                    </p:anim>
                                    <p:anim calcmode="lin" valueType="num">
                                      <p:cBhvr>
                                        <p:cTn id="179" dur="500" fill="hold"/>
                                        <p:tgtEl>
                                          <p:spTgt spid="103459"/>
                                        </p:tgtEl>
                                        <p:attrNameLst>
                                          <p:attrName>ppt_y</p:attrName>
                                        </p:attrNameLst>
                                      </p:cBhvr>
                                      <p:tavLst>
                                        <p:tav tm="0">
                                          <p:val>
                                            <p:strVal val="#ppt_y-#ppt_h/2"/>
                                          </p:val>
                                        </p:tav>
                                        <p:tav tm="100000">
                                          <p:val>
                                            <p:strVal val="#ppt_y"/>
                                          </p:val>
                                        </p:tav>
                                      </p:tavLst>
                                    </p:anim>
                                    <p:anim calcmode="lin" valueType="num">
                                      <p:cBhvr>
                                        <p:cTn id="180" dur="500" fill="hold"/>
                                        <p:tgtEl>
                                          <p:spTgt spid="103459"/>
                                        </p:tgtEl>
                                        <p:attrNameLst>
                                          <p:attrName>ppt_w</p:attrName>
                                        </p:attrNameLst>
                                      </p:cBhvr>
                                      <p:tavLst>
                                        <p:tav tm="0">
                                          <p:val>
                                            <p:strVal val="#ppt_w"/>
                                          </p:val>
                                        </p:tav>
                                        <p:tav tm="100000">
                                          <p:val>
                                            <p:strVal val="#ppt_w"/>
                                          </p:val>
                                        </p:tav>
                                      </p:tavLst>
                                    </p:anim>
                                    <p:anim calcmode="lin" valueType="num">
                                      <p:cBhvr>
                                        <p:cTn id="181" dur="500" fill="hold"/>
                                        <p:tgtEl>
                                          <p:spTgt spid="103459"/>
                                        </p:tgtEl>
                                        <p:attrNameLst>
                                          <p:attrName>ppt_h</p:attrName>
                                        </p:attrNameLst>
                                      </p:cBhvr>
                                      <p:tavLst>
                                        <p:tav tm="0">
                                          <p:val>
                                            <p:fltVal val="0.000000"/>
                                          </p:val>
                                        </p:tav>
                                        <p:tav tm="100000">
                                          <p:val>
                                            <p:strVal val="#ppt_h"/>
                                          </p:val>
                                        </p:tav>
                                      </p:tavLst>
                                    </p:anim>
                                  </p:childTnLst>
                                </p:cTn>
                              </p:par>
                            </p:childTnLst>
                          </p:cTn>
                        </p:par>
                        <p:par>
                          <p:cTn id="182" fill="hold">
                            <p:stCondLst>
                              <p:cond delay="500"/>
                            </p:stCondLst>
                            <p:childTnLst>
                              <p:par>
                                <p:cTn id="183" presetID="4" presetClass="entr" presetSubtype="32" fill="hold" grpId="0" nodeType="afterEffect">
                                  <p:stCondLst>
                                    <p:cond delay="0"/>
                                  </p:stCondLst>
                                  <p:childTnLst>
                                    <p:set>
                                      <p:cBhvr>
                                        <p:cTn id="184" dur="1" fill="hold">
                                          <p:stCondLst>
                                            <p:cond delay="0"/>
                                          </p:stCondLst>
                                        </p:cTn>
                                        <p:tgtEl>
                                          <p:spTgt spid="103468"/>
                                        </p:tgtEl>
                                        <p:attrNameLst>
                                          <p:attrName>style.visibility</p:attrName>
                                        </p:attrNameLst>
                                      </p:cBhvr>
                                      <p:to>
                                        <p:strVal val="visible"/>
                                      </p:to>
                                    </p:set>
                                    <p:animEffect transition="in" filter="box(out)">
                                      <p:cBhvr>
                                        <p:cTn id="185" dur="500"/>
                                        <p:tgtEl>
                                          <p:spTgt spid="103468"/>
                                        </p:tgtEl>
                                      </p:cBhvr>
                                    </p:animEffect>
                                  </p:childTnLst>
                                </p:cTn>
                              </p:par>
                            </p:childTnLst>
                          </p:cTn>
                        </p:par>
                      </p:childTnLst>
                    </p:cTn>
                  </p:par>
                  <p:par>
                    <p:cTn id="186" fill="hold">
                      <p:stCondLst>
                        <p:cond delay="indefinite"/>
                      </p:stCondLst>
                      <p:childTnLst>
                        <p:par>
                          <p:cTn id="187" fill="hold">
                            <p:stCondLst>
                              <p:cond delay="0"/>
                            </p:stCondLst>
                            <p:childTnLst>
                              <p:par>
                                <p:cTn id="188" presetID="17" presetClass="entr" presetSubtype="1" fill="hold" nodeType="clickEffect">
                                  <p:stCondLst>
                                    <p:cond delay="0"/>
                                  </p:stCondLst>
                                  <p:childTnLst>
                                    <p:set>
                                      <p:cBhvr>
                                        <p:cTn id="189" dur="1" fill="hold">
                                          <p:stCondLst>
                                            <p:cond delay="0"/>
                                          </p:stCondLst>
                                        </p:cTn>
                                        <p:tgtEl>
                                          <p:spTgt spid="103460"/>
                                        </p:tgtEl>
                                        <p:attrNameLst>
                                          <p:attrName>style.visibility</p:attrName>
                                        </p:attrNameLst>
                                      </p:cBhvr>
                                      <p:to>
                                        <p:strVal val="visible"/>
                                      </p:to>
                                    </p:set>
                                    <p:anim calcmode="lin" valueType="num">
                                      <p:cBhvr>
                                        <p:cTn id="190" dur="500" fill="hold"/>
                                        <p:tgtEl>
                                          <p:spTgt spid="103460"/>
                                        </p:tgtEl>
                                        <p:attrNameLst>
                                          <p:attrName>ppt_x</p:attrName>
                                        </p:attrNameLst>
                                      </p:cBhvr>
                                      <p:tavLst>
                                        <p:tav tm="0">
                                          <p:val>
                                            <p:strVal val="#ppt_x"/>
                                          </p:val>
                                        </p:tav>
                                        <p:tav tm="100000">
                                          <p:val>
                                            <p:strVal val="#ppt_x"/>
                                          </p:val>
                                        </p:tav>
                                      </p:tavLst>
                                    </p:anim>
                                    <p:anim calcmode="lin" valueType="num">
                                      <p:cBhvr>
                                        <p:cTn id="191" dur="500" fill="hold"/>
                                        <p:tgtEl>
                                          <p:spTgt spid="103460"/>
                                        </p:tgtEl>
                                        <p:attrNameLst>
                                          <p:attrName>ppt_y</p:attrName>
                                        </p:attrNameLst>
                                      </p:cBhvr>
                                      <p:tavLst>
                                        <p:tav tm="0">
                                          <p:val>
                                            <p:strVal val="#ppt_y-#ppt_h/2"/>
                                          </p:val>
                                        </p:tav>
                                        <p:tav tm="100000">
                                          <p:val>
                                            <p:strVal val="#ppt_y"/>
                                          </p:val>
                                        </p:tav>
                                      </p:tavLst>
                                    </p:anim>
                                    <p:anim calcmode="lin" valueType="num">
                                      <p:cBhvr>
                                        <p:cTn id="192" dur="500" fill="hold"/>
                                        <p:tgtEl>
                                          <p:spTgt spid="103460"/>
                                        </p:tgtEl>
                                        <p:attrNameLst>
                                          <p:attrName>ppt_w</p:attrName>
                                        </p:attrNameLst>
                                      </p:cBhvr>
                                      <p:tavLst>
                                        <p:tav tm="0">
                                          <p:val>
                                            <p:strVal val="#ppt_w"/>
                                          </p:val>
                                        </p:tav>
                                        <p:tav tm="100000">
                                          <p:val>
                                            <p:strVal val="#ppt_w"/>
                                          </p:val>
                                        </p:tav>
                                      </p:tavLst>
                                    </p:anim>
                                    <p:anim calcmode="lin" valueType="num">
                                      <p:cBhvr>
                                        <p:cTn id="193" dur="500" fill="hold"/>
                                        <p:tgtEl>
                                          <p:spTgt spid="103460"/>
                                        </p:tgtEl>
                                        <p:attrNameLst>
                                          <p:attrName>ppt_h</p:attrName>
                                        </p:attrNameLst>
                                      </p:cBhvr>
                                      <p:tavLst>
                                        <p:tav tm="0">
                                          <p:val>
                                            <p:fltVal val="0.000000"/>
                                          </p:val>
                                        </p:tav>
                                        <p:tav tm="100000">
                                          <p:val>
                                            <p:strVal val="#ppt_h"/>
                                          </p:val>
                                        </p:tav>
                                      </p:tavLst>
                                    </p:anim>
                                  </p:childTnLst>
                                </p:cTn>
                              </p:par>
                            </p:childTnLst>
                          </p:cTn>
                        </p:par>
                        <p:par>
                          <p:cTn id="194" fill="hold">
                            <p:stCondLst>
                              <p:cond delay="500"/>
                            </p:stCondLst>
                            <p:childTnLst>
                              <p:par>
                                <p:cTn id="195" presetID="4" presetClass="entr" presetSubtype="32" fill="hold" grpId="0" nodeType="afterEffect">
                                  <p:stCondLst>
                                    <p:cond delay="0"/>
                                  </p:stCondLst>
                                  <p:childTnLst>
                                    <p:set>
                                      <p:cBhvr>
                                        <p:cTn id="196" dur="1" fill="hold">
                                          <p:stCondLst>
                                            <p:cond delay="0"/>
                                          </p:stCondLst>
                                        </p:cTn>
                                        <p:tgtEl>
                                          <p:spTgt spid="103465"/>
                                        </p:tgtEl>
                                        <p:attrNameLst>
                                          <p:attrName>style.visibility</p:attrName>
                                        </p:attrNameLst>
                                      </p:cBhvr>
                                      <p:to>
                                        <p:strVal val="visible"/>
                                      </p:to>
                                    </p:set>
                                    <p:animEffect transition="in" filter="box(out)">
                                      <p:cBhvr>
                                        <p:cTn id="197" dur="500"/>
                                        <p:tgtEl>
                                          <p:spTgt spid="103465"/>
                                        </p:tgtEl>
                                      </p:cBhvr>
                                    </p:animEffect>
                                  </p:childTnLst>
                                </p:cTn>
                              </p:par>
                            </p:childTnLst>
                          </p:cTn>
                        </p:par>
                      </p:childTnLst>
                    </p:cTn>
                  </p:par>
                  <p:par>
                    <p:cTn id="198" fill="hold">
                      <p:stCondLst>
                        <p:cond delay="indefinite"/>
                      </p:stCondLst>
                      <p:childTnLst>
                        <p:par>
                          <p:cTn id="199" fill="hold">
                            <p:stCondLst>
                              <p:cond delay="0"/>
                            </p:stCondLst>
                            <p:childTnLst>
                              <p:par>
                                <p:cTn id="200" presetID="17" presetClass="entr" presetSubtype="1" fill="hold" nodeType="clickEffect">
                                  <p:stCondLst>
                                    <p:cond delay="0"/>
                                  </p:stCondLst>
                                  <p:childTnLst>
                                    <p:set>
                                      <p:cBhvr>
                                        <p:cTn id="201" dur="1" fill="hold">
                                          <p:stCondLst>
                                            <p:cond delay="0"/>
                                          </p:stCondLst>
                                        </p:cTn>
                                        <p:tgtEl>
                                          <p:spTgt spid="103461"/>
                                        </p:tgtEl>
                                        <p:attrNameLst>
                                          <p:attrName>style.visibility</p:attrName>
                                        </p:attrNameLst>
                                      </p:cBhvr>
                                      <p:to>
                                        <p:strVal val="visible"/>
                                      </p:to>
                                    </p:set>
                                    <p:anim calcmode="lin" valueType="num">
                                      <p:cBhvr>
                                        <p:cTn id="202" dur="500" fill="hold"/>
                                        <p:tgtEl>
                                          <p:spTgt spid="103461"/>
                                        </p:tgtEl>
                                        <p:attrNameLst>
                                          <p:attrName>ppt_x</p:attrName>
                                        </p:attrNameLst>
                                      </p:cBhvr>
                                      <p:tavLst>
                                        <p:tav tm="0">
                                          <p:val>
                                            <p:strVal val="#ppt_x"/>
                                          </p:val>
                                        </p:tav>
                                        <p:tav tm="100000">
                                          <p:val>
                                            <p:strVal val="#ppt_x"/>
                                          </p:val>
                                        </p:tav>
                                      </p:tavLst>
                                    </p:anim>
                                    <p:anim calcmode="lin" valueType="num">
                                      <p:cBhvr>
                                        <p:cTn id="203" dur="500" fill="hold"/>
                                        <p:tgtEl>
                                          <p:spTgt spid="103461"/>
                                        </p:tgtEl>
                                        <p:attrNameLst>
                                          <p:attrName>ppt_y</p:attrName>
                                        </p:attrNameLst>
                                      </p:cBhvr>
                                      <p:tavLst>
                                        <p:tav tm="0">
                                          <p:val>
                                            <p:strVal val="#ppt_y-#ppt_h/2"/>
                                          </p:val>
                                        </p:tav>
                                        <p:tav tm="100000">
                                          <p:val>
                                            <p:strVal val="#ppt_y"/>
                                          </p:val>
                                        </p:tav>
                                      </p:tavLst>
                                    </p:anim>
                                    <p:anim calcmode="lin" valueType="num">
                                      <p:cBhvr>
                                        <p:cTn id="204" dur="500" fill="hold"/>
                                        <p:tgtEl>
                                          <p:spTgt spid="103461"/>
                                        </p:tgtEl>
                                        <p:attrNameLst>
                                          <p:attrName>ppt_w</p:attrName>
                                        </p:attrNameLst>
                                      </p:cBhvr>
                                      <p:tavLst>
                                        <p:tav tm="0">
                                          <p:val>
                                            <p:strVal val="#ppt_w"/>
                                          </p:val>
                                        </p:tav>
                                        <p:tav tm="100000">
                                          <p:val>
                                            <p:strVal val="#ppt_w"/>
                                          </p:val>
                                        </p:tav>
                                      </p:tavLst>
                                    </p:anim>
                                    <p:anim calcmode="lin" valueType="num">
                                      <p:cBhvr>
                                        <p:cTn id="205" dur="500" fill="hold"/>
                                        <p:tgtEl>
                                          <p:spTgt spid="103461"/>
                                        </p:tgtEl>
                                        <p:attrNameLst>
                                          <p:attrName>ppt_h</p:attrName>
                                        </p:attrNameLst>
                                      </p:cBhvr>
                                      <p:tavLst>
                                        <p:tav tm="0">
                                          <p:val>
                                            <p:fltVal val="0.000000"/>
                                          </p:val>
                                        </p:tav>
                                        <p:tav tm="100000">
                                          <p:val>
                                            <p:strVal val="#ppt_h"/>
                                          </p:val>
                                        </p:tav>
                                      </p:tavLst>
                                    </p:anim>
                                  </p:childTnLst>
                                </p:cTn>
                              </p:par>
                            </p:childTnLst>
                          </p:cTn>
                        </p:par>
                        <p:par>
                          <p:cTn id="206" fill="hold">
                            <p:stCondLst>
                              <p:cond delay="500"/>
                            </p:stCondLst>
                            <p:childTnLst>
                              <p:par>
                                <p:cTn id="207" presetID="4" presetClass="entr" presetSubtype="32" fill="hold" grpId="0" nodeType="afterEffect">
                                  <p:stCondLst>
                                    <p:cond delay="0"/>
                                  </p:stCondLst>
                                  <p:childTnLst>
                                    <p:set>
                                      <p:cBhvr>
                                        <p:cTn id="208" dur="1" fill="hold">
                                          <p:stCondLst>
                                            <p:cond delay="0"/>
                                          </p:stCondLst>
                                        </p:cTn>
                                        <p:tgtEl>
                                          <p:spTgt spid="103469"/>
                                        </p:tgtEl>
                                        <p:attrNameLst>
                                          <p:attrName>style.visibility</p:attrName>
                                        </p:attrNameLst>
                                      </p:cBhvr>
                                      <p:to>
                                        <p:strVal val="visible"/>
                                      </p:to>
                                    </p:set>
                                    <p:animEffect transition="in" filter="box(out)">
                                      <p:cBhvr>
                                        <p:cTn id="209" dur="500"/>
                                        <p:tgtEl>
                                          <p:spTgt spid="103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ldLvl="0" animBg="1"/>
      <p:bldP spid="103428" grpId="0" bldLvl="0" animBg="1"/>
      <p:bldP spid="103429" grpId="0" bldLvl="0" animBg="1"/>
      <p:bldP spid="103430" grpId="0" bldLvl="0" animBg="1"/>
      <p:bldP spid="103431" grpId="0" bldLvl="0" animBg="1"/>
      <p:bldP spid="103432" grpId="0" bldLvl="0" animBg="1"/>
      <p:bldP spid="103433" grpId="0" bldLvl="0" animBg="1"/>
      <p:bldP spid="103434" grpId="0" bldLvl="0" animBg="1"/>
      <p:bldP spid="103446" grpId="0" bldLvl="0" animBg="1"/>
      <p:bldP spid="103454" grpId="0" bldLvl="0" animBg="1"/>
      <p:bldP spid="103462" grpId="0" bldLvl="0" animBg="1"/>
      <p:bldP spid="103463" grpId="0" bldLvl="0" animBg="1"/>
      <p:bldP spid="103464" grpId="0" bldLvl="0" animBg="1"/>
      <p:bldP spid="103465" grpId="0" bldLvl="0" animBg="1"/>
      <p:bldP spid="103466" grpId="0" bldLvl="0" animBg="1"/>
      <p:bldP spid="103467" grpId="0" bldLvl="0" animBg="1"/>
      <p:bldP spid="103468" grpId="0" bldLvl="0" animBg="1"/>
      <p:bldP spid="103469" grpId="0" bldLvl="0" animBg="1"/>
      <p:bldP spid="103449" grpId="0"/>
      <p:bldP spid="103450" grpId="0"/>
      <p:bldP spid="103451" grpId="0"/>
      <p:bldP spid="10345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广度优先遍历算法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8852" name="Rectangle 4"/>
          <p:cNvSpPr/>
          <p:nvPr/>
        </p:nvSpPr>
        <p:spPr>
          <a:xfrm>
            <a:off x="1866900" y="1410335"/>
            <a:ext cx="8458200" cy="4475480"/>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0"/>
              </a:spcBef>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以广度优先的方法遍历图，参数</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是遍历到每个顶点时调用的函数</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void ALGraph&lt;VertexType&gt;::BFSTraverse(void (*Visit)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(const VertexType &amp;))</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std::queue&lt;int&gt; vertexQueue;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辅助队列</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EdgeNode *p;</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每一顶点的访问标志置为false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visited=new bool[numVertices];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for(v=0; v&lt;numVertices;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visited[v]=false;</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广度优先遍历算法（续 </a:t>
            </a:r>
            <a:r>
              <a:rPr lang="en-US" altLang="zh-CN" sz="3600" b="1" dirty="0" smtClean="0">
                <a:solidFill>
                  <a:schemeClr val="bg1"/>
                </a:solidFill>
                <a:latin typeface="微软雅黑" panose="020B0503020204020204" pitchFamily="34" charset="-122"/>
                <a:ea typeface="微软雅黑" panose="020B0503020204020204" pitchFamily="34" charset="-122"/>
              </a:rPr>
              <a:t>1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79876" name="Rectangle 4"/>
          <p:cNvSpPr/>
          <p:nvPr/>
        </p:nvSpPr>
        <p:spPr>
          <a:xfrm>
            <a:off x="2133600" y="1577340"/>
            <a:ext cx="7924800" cy="4141470"/>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0"/>
              </a:spcBef>
              <a:buNone/>
            </a:pPr>
            <a:r>
              <a:rPr lang="en-US" altLang="zh-CN" sz="1800" dirty="0">
                <a:solidFill>
                  <a:srgbClr val="000066"/>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以顶点表中的每个未访问过的顶点出发进行遍历</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for(v=0; v&lt;numVertices; 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if(visited[v])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continue;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//跳到下一次循环</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visited[v]=true;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Visit(vertices[v].data);</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vertexQueue.push(v);</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while(!vertexQueue.empty())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u=vertexQueue.front();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vertexQueue.pop();</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lnSpc>
                <a:spcPct val="120000"/>
              </a:lnSpc>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p=vertices[u].edgeList;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广度优先遍历</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r>
              <a:rPr lang="en-US" altLang="zh-CN" sz="3600" b="1" dirty="0" smtClean="0">
                <a:solidFill>
                  <a:schemeClr val="bg1"/>
                </a:solidFill>
                <a:latin typeface="微软雅黑" panose="020B0503020204020204" pitchFamily="34" charset="-122"/>
                <a:ea typeface="微软雅黑" panose="020B0503020204020204" pitchFamily="34" charset="-122"/>
              </a:rPr>
              <a:t>2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0900" name="Rectangle 4"/>
          <p:cNvSpPr/>
          <p:nvPr/>
        </p:nvSpPr>
        <p:spPr>
          <a:xfrm>
            <a:off x="2171700" y="1650365"/>
            <a:ext cx="7848600" cy="3888105"/>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while(p!=NULL)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int w=p-&gt;adjVertex;</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if(!visited[w])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visited[w]=true;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Visit(vertices[w].data);</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vertexQueue.push(w);</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p=p-&gt;next;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}//while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}//while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}//for</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    delete[] visited;</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lvl="0" indent="0" eaLnBrk="1" hangingPunct="1">
              <a:spcBef>
                <a:spcPct val="0"/>
              </a:spcBef>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80899" name="Rectangle 3"/>
          <p:cNvSpPr>
            <a:spLocks noGrp="1"/>
          </p:cNvSpPr>
          <p:nvPr>
            <p:ph idx="1"/>
          </p:nvPr>
        </p:nvSpPr>
        <p:spPr>
          <a:xfrm>
            <a:off x="838200" y="1252855"/>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访问顺序：</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v1 v2 v3 v4 v5 v6 v7 v8</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en-US" altLang="zh-CN" dirty="0"/>
          </a:p>
          <a:p>
            <a:pPr>
              <a:buNone/>
            </a:pPr>
            <a:endParaRPr lang="en-US" altLang="zh-CN" dirty="0"/>
          </a:p>
          <a:p>
            <a:pPr>
              <a:buNone/>
            </a:pPr>
            <a:endParaRPr lang="en-US" altLang="zh-CN" dirty="0"/>
          </a:p>
          <a:p>
            <a:pPr>
              <a:buNone/>
            </a:pPr>
            <a:endParaRPr lang="en-US" altLang="zh-CN" dirty="0"/>
          </a:p>
          <a:p>
            <a:pPr>
              <a:buNone/>
            </a:pPr>
            <a:endParaRPr lang="en-US" altLang="zh-CN" dirty="0"/>
          </a:p>
        </p:txBody>
      </p:sp>
      <p:grpSp>
        <p:nvGrpSpPr>
          <p:cNvPr id="3" name="Group 4"/>
          <p:cNvGrpSpPr/>
          <p:nvPr/>
        </p:nvGrpSpPr>
        <p:grpSpPr>
          <a:xfrm>
            <a:off x="5860415" y="1693545"/>
            <a:ext cx="4447540" cy="3801110"/>
            <a:chOff x="842" y="2644"/>
            <a:chExt cx="1416" cy="1283"/>
          </a:xfrm>
        </p:grpSpPr>
        <p:sp>
          <p:nvSpPr>
            <p:cNvPr id="81925" name="Oval 5"/>
            <p:cNvSpPr/>
            <p:nvPr/>
          </p:nvSpPr>
          <p:spPr>
            <a:xfrm>
              <a:off x="1456" y="2644"/>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1</a:t>
              </a:r>
              <a:endParaRPr lang="en-US" altLang="zh-CN" sz="2000" dirty="0">
                <a:ea typeface="宋体" panose="02010600030101010101" pitchFamily="2" charset="-122"/>
              </a:endParaRPr>
            </a:p>
          </p:txBody>
        </p:sp>
        <p:sp>
          <p:nvSpPr>
            <p:cNvPr id="81926" name="Oval 6"/>
            <p:cNvSpPr/>
            <p:nvPr/>
          </p:nvSpPr>
          <p:spPr>
            <a:xfrm>
              <a:off x="1097" y="2962"/>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2</a:t>
              </a:r>
              <a:endParaRPr lang="en-US" altLang="zh-CN" sz="2000" dirty="0">
                <a:ea typeface="宋体" panose="02010600030101010101" pitchFamily="2" charset="-122"/>
              </a:endParaRPr>
            </a:p>
          </p:txBody>
        </p:sp>
        <p:sp>
          <p:nvSpPr>
            <p:cNvPr id="81927" name="Oval 7"/>
            <p:cNvSpPr/>
            <p:nvPr/>
          </p:nvSpPr>
          <p:spPr>
            <a:xfrm>
              <a:off x="926"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4</a:t>
              </a:r>
              <a:endParaRPr lang="en-US" altLang="zh-CN" sz="2000" dirty="0">
                <a:ea typeface="宋体" panose="02010600030101010101" pitchFamily="2" charset="-122"/>
              </a:endParaRPr>
            </a:p>
          </p:txBody>
        </p:sp>
        <p:sp>
          <p:nvSpPr>
            <p:cNvPr id="81928" name="Oval 8"/>
            <p:cNvSpPr/>
            <p:nvPr/>
          </p:nvSpPr>
          <p:spPr>
            <a:xfrm>
              <a:off x="1288"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5</a:t>
              </a:r>
              <a:endParaRPr lang="en-US" altLang="zh-CN" sz="2000" dirty="0">
                <a:ea typeface="宋体" panose="02010600030101010101" pitchFamily="2" charset="-122"/>
              </a:endParaRPr>
            </a:p>
          </p:txBody>
        </p:sp>
        <p:sp>
          <p:nvSpPr>
            <p:cNvPr id="81929" name="Oval 9"/>
            <p:cNvSpPr/>
            <p:nvPr/>
          </p:nvSpPr>
          <p:spPr>
            <a:xfrm>
              <a:off x="1851" y="2962"/>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3</a:t>
              </a:r>
              <a:endParaRPr lang="en-US" altLang="zh-CN" sz="2000" dirty="0">
                <a:ea typeface="宋体" panose="02010600030101010101" pitchFamily="2" charset="-122"/>
              </a:endParaRPr>
            </a:p>
          </p:txBody>
        </p:sp>
        <p:sp>
          <p:nvSpPr>
            <p:cNvPr id="81930" name="Oval 10"/>
            <p:cNvSpPr/>
            <p:nvPr/>
          </p:nvSpPr>
          <p:spPr>
            <a:xfrm>
              <a:off x="2047"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7</a:t>
              </a:r>
              <a:endParaRPr lang="en-US" altLang="zh-CN" sz="2000" dirty="0">
                <a:ea typeface="宋体" panose="02010600030101010101" pitchFamily="2" charset="-122"/>
              </a:endParaRPr>
            </a:p>
          </p:txBody>
        </p:sp>
        <p:sp>
          <p:nvSpPr>
            <p:cNvPr id="81931" name="Oval 11"/>
            <p:cNvSpPr/>
            <p:nvPr/>
          </p:nvSpPr>
          <p:spPr>
            <a:xfrm>
              <a:off x="1654" y="3343"/>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6</a:t>
              </a:r>
              <a:endParaRPr lang="en-US" altLang="zh-CN" sz="2000" dirty="0">
                <a:ea typeface="宋体" panose="02010600030101010101" pitchFamily="2" charset="-122"/>
              </a:endParaRPr>
            </a:p>
          </p:txBody>
        </p:sp>
        <p:sp>
          <p:nvSpPr>
            <p:cNvPr id="81932" name="Oval 12"/>
            <p:cNvSpPr/>
            <p:nvPr/>
          </p:nvSpPr>
          <p:spPr>
            <a:xfrm>
              <a:off x="1127" y="3716"/>
              <a:ext cx="211" cy="211"/>
            </a:xfrm>
            <a:prstGeom prst="ellipse">
              <a:avLst/>
            </a:prstGeom>
            <a:no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V</a:t>
              </a:r>
              <a:r>
                <a:rPr lang="en-US" altLang="zh-CN" sz="1400" dirty="0">
                  <a:ea typeface="宋体" panose="02010600030101010101" pitchFamily="2" charset="-122"/>
                </a:rPr>
                <a:t>8</a:t>
              </a:r>
              <a:endParaRPr lang="en-US" altLang="zh-CN" sz="2000" dirty="0">
                <a:ea typeface="宋体" panose="02010600030101010101" pitchFamily="2" charset="-122"/>
              </a:endParaRPr>
            </a:p>
          </p:txBody>
        </p:sp>
        <p:sp>
          <p:nvSpPr>
            <p:cNvPr id="81933" name="Line 13"/>
            <p:cNvSpPr/>
            <p:nvPr/>
          </p:nvSpPr>
          <p:spPr>
            <a:xfrm flipH="1">
              <a:off x="1311" y="2833"/>
              <a:ext cx="178" cy="178"/>
            </a:xfrm>
            <a:prstGeom prst="line">
              <a:avLst/>
            </a:prstGeom>
            <a:ln w="9525" cap="flat" cmpd="sng">
              <a:solidFill>
                <a:schemeClr val="tx1"/>
              </a:solidFill>
              <a:prstDash val="solid"/>
              <a:headEnd type="none" w="med" len="med"/>
              <a:tailEnd type="none" w="med" len="med"/>
            </a:ln>
          </p:spPr>
        </p:sp>
        <p:sp>
          <p:nvSpPr>
            <p:cNvPr id="81934" name="Line 14"/>
            <p:cNvSpPr/>
            <p:nvPr/>
          </p:nvSpPr>
          <p:spPr>
            <a:xfrm>
              <a:off x="1645" y="2822"/>
              <a:ext cx="211" cy="211"/>
            </a:xfrm>
            <a:prstGeom prst="line">
              <a:avLst/>
            </a:prstGeom>
            <a:ln w="9525" cap="flat" cmpd="sng">
              <a:solidFill>
                <a:schemeClr val="tx1"/>
              </a:solidFill>
              <a:prstDash val="solid"/>
              <a:headEnd type="none" w="med" len="med"/>
              <a:tailEnd type="none" w="med" len="med"/>
            </a:ln>
          </p:spPr>
        </p:sp>
        <p:sp>
          <p:nvSpPr>
            <p:cNvPr id="81935" name="Line 15"/>
            <p:cNvSpPr/>
            <p:nvPr/>
          </p:nvSpPr>
          <p:spPr>
            <a:xfrm flipH="1">
              <a:off x="1067" y="3166"/>
              <a:ext cx="100" cy="178"/>
            </a:xfrm>
            <a:prstGeom prst="line">
              <a:avLst/>
            </a:prstGeom>
            <a:ln w="9525" cap="flat" cmpd="sng">
              <a:solidFill>
                <a:schemeClr val="tx1"/>
              </a:solidFill>
              <a:prstDash val="solid"/>
              <a:headEnd type="none" w="med" len="med"/>
              <a:tailEnd type="none" w="med" len="med"/>
            </a:ln>
          </p:spPr>
        </p:sp>
        <p:sp>
          <p:nvSpPr>
            <p:cNvPr id="81936" name="Line 16"/>
            <p:cNvSpPr/>
            <p:nvPr/>
          </p:nvSpPr>
          <p:spPr>
            <a:xfrm>
              <a:off x="1256" y="3144"/>
              <a:ext cx="111" cy="222"/>
            </a:xfrm>
            <a:prstGeom prst="line">
              <a:avLst/>
            </a:prstGeom>
            <a:ln w="9525" cap="flat" cmpd="sng">
              <a:solidFill>
                <a:schemeClr val="tx1"/>
              </a:solidFill>
              <a:prstDash val="solid"/>
              <a:headEnd type="none" w="med" len="med"/>
              <a:tailEnd type="none" w="med" len="med"/>
            </a:ln>
          </p:spPr>
        </p:sp>
        <p:sp>
          <p:nvSpPr>
            <p:cNvPr id="81937" name="Line 17"/>
            <p:cNvSpPr/>
            <p:nvPr/>
          </p:nvSpPr>
          <p:spPr>
            <a:xfrm>
              <a:off x="1056" y="3533"/>
              <a:ext cx="89" cy="211"/>
            </a:xfrm>
            <a:prstGeom prst="line">
              <a:avLst/>
            </a:prstGeom>
            <a:ln w="9525" cap="flat" cmpd="sng">
              <a:solidFill>
                <a:schemeClr val="tx1"/>
              </a:solidFill>
              <a:prstDash val="solid"/>
              <a:headEnd type="none" w="med" len="med"/>
              <a:tailEnd type="none" w="med" len="med"/>
            </a:ln>
          </p:spPr>
        </p:sp>
        <p:sp>
          <p:nvSpPr>
            <p:cNvPr id="81938" name="Line 18"/>
            <p:cNvSpPr/>
            <p:nvPr/>
          </p:nvSpPr>
          <p:spPr>
            <a:xfrm flipH="1">
              <a:off x="1289" y="3555"/>
              <a:ext cx="89" cy="178"/>
            </a:xfrm>
            <a:prstGeom prst="line">
              <a:avLst/>
            </a:prstGeom>
            <a:ln w="9525" cap="flat" cmpd="sng">
              <a:solidFill>
                <a:schemeClr val="tx1"/>
              </a:solidFill>
              <a:prstDash val="solid"/>
              <a:headEnd type="none" w="med" len="med"/>
              <a:tailEnd type="none" w="med" len="med"/>
            </a:ln>
          </p:spPr>
        </p:sp>
        <p:sp>
          <p:nvSpPr>
            <p:cNvPr id="81939" name="Line 19"/>
            <p:cNvSpPr/>
            <p:nvPr/>
          </p:nvSpPr>
          <p:spPr>
            <a:xfrm flipH="1">
              <a:off x="1800" y="3155"/>
              <a:ext cx="111" cy="211"/>
            </a:xfrm>
            <a:prstGeom prst="line">
              <a:avLst/>
            </a:prstGeom>
            <a:ln w="9525" cap="flat" cmpd="sng">
              <a:solidFill>
                <a:schemeClr val="tx1"/>
              </a:solidFill>
              <a:prstDash val="solid"/>
              <a:headEnd type="none" w="med" len="med"/>
              <a:tailEnd type="none" w="med" len="med"/>
            </a:ln>
          </p:spPr>
        </p:sp>
        <p:sp>
          <p:nvSpPr>
            <p:cNvPr id="81940" name="Line 20"/>
            <p:cNvSpPr/>
            <p:nvPr/>
          </p:nvSpPr>
          <p:spPr>
            <a:xfrm flipV="1">
              <a:off x="1867" y="3487"/>
              <a:ext cx="178" cy="2"/>
            </a:xfrm>
            <a:prstGeom prst="line">
              <a:avLst/>
            </a:prstGeom>
            <a:ln w="9525" cap="flat" cmpd="sng">
              <a:solidFill>
                <a:schemeClr val="tx1"/>
              </a:solidFill>
              <a:prstDash val="solid"/>
              <a:headEnd type="none" w="med" len="med"/>
              <a:tailEnd type="none" w="med" len="med"/>
            </a:ln>
          </p:spPr>
        </p:sp>
        <p:sp>
          <p:nvSpPr>
            <p:cNvPr id="81941" name="Line 21"/>
            <p:cNvSpPr/>
            <p:nvPr/>
          </p:nvSpPr>
          <p:spPr>
            <a:xfrm>
              <a:off x="2045" y="3155"/>
              <a:ext cx="122" cy="200"/>
            </a:xfrm>
            <a:prstGeom prst="line">
              <a:avLst/>
            </a:prstGeom>
            <a:ln w="9525" cap="flat" cmpd="sng">
              <a:solidFill>
                <a:schemeClr val="tx1"/>
              </a:solidFill>
              <a:prstDash val="solid"/>
              <a:headEnd type="none" w="med" len="med"/>
              <a:tailEnd type="none" w="med" len="med"/>
            </a:ln>
          </p:spPr>
        </p:sp>
        <p:sp>
          <p:nvSpPr>
            <p:cNvPr id="81942" name="Text Box 22"/>
            <p:cNvSpPr txBox="1"/>
            <p:nvPr/>
          </p:nvSpPr>
          <p:spPr>
            <a:xfrm>
              <a:off x="842" y="2664"/>
              <a:ext cx="116" cy="250"/>
            </a:xfrm>
            <a:prstGeom prst="rect">
              <a:avLst/>
            </a:prstGeom>
            <a:noFill/>
            <a:ln w="9525">
              <a:noFill/>
            </a:ln>
          </p:spPr>
          <p:txBody>
            <a:bodyPr wrap="square" anchor="ct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grpSp>
      <p:sp>
        <p:nvSpPr>
          <p:cNvPr id="4" name="文本框 3"/>
          <p:cNvSpPr txBox="1"/>
          <p:nvPr/>
        </p:nvSpPr>
        <p:spPr>
          <a:xfrm>
            <a:off x="393065" y="106045"/>
            <a:ext cx="6978650" cy="645160"/>
          </a:xfrm>
          <a:prstGeom prst="rect">
            <a:avLst/>
          </a:prstGeom>
          <a:noFill/>
        </p:spPr>
        <p:txBody>
          <a:bodyPr wrap="square" rtlCol="0">
            <a:spAutoFit/>
          </a:bodyPr>
          <a:p>
            <a:r>
              <a:rPr lang="zh-CN" altLang="en-US" sz="3600" b="1" dirty="0" smtClean="0">
                <a:solidFill>
                  <a:schemeClr val="bg1"/>
                </a:solidFill>
                <a:latin typeface="微软雅黑" panose="020B0503020204020204" pitchFamily="34" charset="-122"/>
                <a:ea typeface="微软雅黑" panose="020B0503020204020204" pitchFamily="34" charset="-122"/>
              </a:rPr>
              <a:t>广度优先遍历例子</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0899">
                                            <p:txEl>
                                              <p:charRg st="6" end="31"/>
                                            </p:txEl>
                                          </p:spTgt>
                                        </p:tgtEl>
                                        <p:attrNameLst>
                                          <p:attrName>style.visibility</p:attrName>
                                        </p:attrNameLst>
                                      </p:cBhvr>
                                      <p:to>
                                        <p:strVal val="visible"/>
                                      </p:to>
                                    </p:set>
                                    <p:animEffect transition="in" filter="fade">
                                      <p:cBhvr>
                                        <p:cTn id="7" dur="1000"/>
                                        <p:tgtEl>
                                          <p:spTgt spid="80899">
                                            <p:txEl>
                                              <p:charRg st="6" end="31"/>
                                            </p:txEl>
                                          </p:spTgt>
                                        </p:tgtEl>
                                      </p:cBhvr>
                                    </p:animEffect>
                                    <p:anim calcmode="lin" valueType="num">
                                      <p:cBhvr>
                                        <p:cTn id="8" dur="1000" fill="hold"/>
                                        <p:tgtEl>
                                          <p:spTgt spid="80899">
                                            <p:txEl>
                                              <p:charRg st="6" end="31"/>
                                            </p:txEl>
                                          </p:spTgt>
                                        </p:tgtEl>
                                        <p:attrNameLst>
                                          <p:attrName>ppt_x</p:attrName>
                                        </p:attrNameLst>
                                      </p:cBhvr>
                                      <p:tavLst>
                                        <p:tav tm="0">
                                          <p:val>
                                            <p:strVal val="#ppt_x"/>
                                          </p:val>
                                        </p:tav>
                                        <p:tav tm="100000">
                                          <p:val>
                                            <p:strVal val="#ppt_x"/>
                                          </p:val>
                                        </p:tav>
                                      </p:tavLst>
                                    </p:anim>
                                    <p:anim calcmode="lin" valueType="num">
                                      <p:cBhvr>
                                        <p:cTn id="9" dur="1000" fill="hold"/>
                                        <p:tgtEl>
                                          <p:spTgt spid="80899">
                                            <p:txEl>
                                              <p:charRg st="6" end="3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ox(out)">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课堂练习</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2947" name="Text Box 3"/>
          <p:cNvSpPr txBox="1"/>
          <p:nvPr/>
        </p:nvSpPr>
        <p:spPr>
          <a:xfrm>
            <a:off x="907415" y="1140460"/>
            <a:ext cx="81534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根据右图的如下存储表示，写出以顶点</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为出发点进行</a:t>
            </a:r>
            <a:r>
              <a:rPr lang="en-US" altLang="zh-CN"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DFS</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的顶点访问序列。</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1346" name="Text Box 98"/>
          <p:cNvSpPr txBox="1"/>
          <p:nvPr/>
        </p:nvSpPr>
        <p:spPr>
          <a:xfrm>
            <a:off x="1732915" y="2319655"/>
            <a:ext cx="3505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B</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D</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E</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F</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C</a:t>
            </a:r>
            <a:endParaRPr lang="en-US" altLang="zh-CN" b="1" dirty="0">
              <a:solidFill>
                <a:srgbClr val="0000CC"/>
              </a:solidFill>
              <a:latin typeface="Arial" panose="020B0604020202020204" pitchFamily="34" charset="0"/>
              <a:ea typeface="宋体" panose="02010600030101010101" pitchFamily="2" charset="-122"/>
            </a:endParaRPr>
          </a:p>
        </p:txBody>
      </p:sp>
      <p:grpSp>
        <p:nvGrpSpPr>
          <p:cNvPr id="82948" name="Group 4"/>
          <p:cNvGrpSpPr/>
          <p:nvPr/>
        </p:nvGrpSpPr>
        <p:grpSpPr>
          <a:xfrm>
            <a:off x="8147685" y="1501140"/>
            <a:ext cx="3592830" cy="2094230"/>
            <a:chOff x="3648" y="240"/>
            <a:chExt cx="1996" cy="1056"/>
          </a:xfrm>
        </p:grpSpPr>
        <p:sp>
          <p:nvSpPr>
            <p:cNvPr id="83028" name="Oval 5"/>
            <p:cNvSpPr/>
            <p:nvPr/>
          </p:nvSpPr>
          <p:spPr>
            <a:xfrm>
              <a:off x="4676" y="24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A</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29" name="Oval 6"/>
            <p:cNvSpPr/>
            <p:nvPr/>
          </p:nvSpPr>
          <p:spPr>
            <a:xfrm>
              <a:off x="5328" y="4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C</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0" name="Oval 7"/>
            <p:cNvSpPr/>
            <p:nvPr/>
          </p:nvSpPr>
          <p:spPr>
            <a:xfrm>
              <a:off x="3984" y="4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B</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1" name="Oval 8"/>
            <p:cNvSpPr/>
            <p:nvPr/>
          </p:nvSpPr>
          <p:spPr>
            <a:xfrm>
              <a:off x="3648" y="951"/>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D</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2" name="Oval 9"/>
            <p:cNvSpPr/>
            <p:nvPr/>
          </p:nvSpPr>
          <p:spPr>
            <a:xfrm>
              <a:off x="4320" y="96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E</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3" name="Line 10"/>
            <p:cNvSpPr/>
            <p:nvPr/>
          </p:nvSpPr>
          <p:spPr>
            <a:xfrm>
              <a:off x="4992" y="432"/>
              <a:ext cx="336" cy="144"/>
            </a:xfrm>
            <a:prstGeom prst="line">
              <a:avLst/>
            </a:prstGeom>
            <a:ln w="28575" cap="flat" cmpd="sng">
              <a:solidFill>
                <a:srgbClr val="000000"/>
              </a:solidFill>
              <a:prstDash val="solid"/>
              <a:headEnd type="none" w="med" len="med"/>
              <a:tailEnd type="arrow" w="med" len="med"/>
            </a:ln>
          </p:spPr>
        </p:sp>
        <p:sp>
          <p:nvSpPr>
            <p:cNvPr id="83034" name="Line 11"/>
            <p:cNvSpPr/>
            <p:nvPr/>
          </p:nvSpPr>
          <p:spPr>
            <a:xfrm flipH="1">
              <a:off x="4272" y="432"/>
              <a:ext cx="384" cy="144"/>
            </a:xfrm>
            <a:prstGeom prst="line">
              <a:avLst/>
            </a:prstGeom>
            <a:ln w="28575" cap="flat" cmpd="sng">
              <a:solidFill>
                <a:srgbClr val="000000"/>
              </a:solidFill>
              <a:prstDash val="solid"/>
              <a:headEnd type="none" w="med" len="med"/>
              <a:tailEnd type="arrow" w="med" len="med"/>
            </a:ln>
          </p:spPr>
        </p:sp>
        <p:sp>
          <p:nvSpPr>
            <p:cNvPr id="83035" name="Line 12"/>
            <p:cNvSpPr/>
            <p:nvPr/>
          </p:nvSpPr>
          <p:spPr>
            <a:xfrm flipH="1">
              <a:off x="3840" y="720"/>
              <a:ext cx="192" cy="240"/>
            </a:xfrm>
            <a:prstGeom prst="line">
              <a:avLst/>
            </a:prstGeom>
            <a:ln w="28575" cap="flat" cmpd="sng">
              <a:solidFill>
                <a:srgbClr val="000000"/>
              </a:solidFill>
              <a:prstDash val="solid"/>
              <a:headEnd type="none" w="med" len="med"/>
              <a:tailEnd type="arrow" w="med" len="med"/>
            </a:ln>
          </p:spPr>
        </p:sp>
        <p:sp>
          <p:nvSpPr>
            <p:cNvPr id="83036" name="Line 13"/>
            <p:cNvSpPr/>
            <p:nvPr/>
          </p:nvSpPr>
          <p:spPr>
            <a:xfrm>
              <a:off x="4272" y="720"/>
              <a:ext cx="192" cy="240"/>
            </a:xfrm>
            <a:prstGeom prst="line">
              <a:avLst/>
            </a:prstGeom>
            <a:ln w="28575" cap="flat" cmpd="sng">
              <a:solidFill>
                <a:srgbClr val="000000"/>
              </a:solidFill>
              <a:prstDash val="solid"/>
              <a:headEnd type="none" w="med" len="med"/>
              <a:tailEnd type="arrow" w="med" len="med"/>
            </a:ln>
          </p:spPr>
        </p:sp>
        <p:sp>
          <p:nvSpPr>
            <p:cNvPr id="83037" name="Line 14"/>
            <p:cNvSpPr/>
            <p:nvPr/>
          </p:nvSpPr>
          <p:spPr>
            <a:xfrm flipH="1">
              <a:off x="3984" y="1104"/>
              <a:ext cx="336" cy="0"/>
            </a:xfrm>
            <a:prstGeom prst="line">
              <a:avLst/>
            </a:prstGeom>
            <a:ln w="28575" cap="flat" cmpd="sng">
              <a:solidFill>
                <a:srgbClr val="000000"/>
              </a:solidFill>
              <a:prstDash val="solid"/>
              <a:headEnd type="none" w="med" len="med"/>
              <a:tailEnd type="arrow" w="med" len="med"/>
            </a:ln>
          </p:spPr>
        </p:sp>
        <p:sp>
          <p:nvSpPr>
            <p:cNvPr id="83038" name="Oval 15"/>
            <p:cNvSpPr/>
            <p:nvPr/>
          </p:nvSpPr>
          <p:spPr>
            <a:xfrm>
              <a:off x="4992" y="999"/>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F</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9" name="Line 16"/>
            <p:cNvSpPr/>
            <p:nvPr/>
          </p:nvSpPr>
          <p:spPr>
            <a:xfrm flipH="1">
              <a:off x="5184" y="768"/>
              <a:ext cx="192" cy="240"/>
            </a:xfrm>
            <a:prstGeom prst="line">
              <a:avLst/>
            </a:prstGeom>
            <a:ln w="28575" cap="flat" cmpd="sng">
              <a:solidFill>
                <a:srgbClr val="000000"/>
              </a:solidFill>
              <a:prstDash val="solid"/>
              <a:headEnd type="none" w="med" len="med"/>
              <a:tailEnd type="arrow" w="med" len="med"/>
            </a:ln>
          </p:spPr>
        </p:sp>
        <p:sp>
          <p:nvSpPr>
            <p:cNvPr id="83040" name="Line 17"/>
            <p:cNvSpPr/>
            <p:nvPr/>
          </p:nvSpPr>
          <p:spPr>
            <a:xfrm>
              <a:off x="4272" y="672"/>
              <a:ext cx="768" cy="384"/>
            </a:xfrm>
            <a:prstGeom prst="line">
              <a:avLst/>
            </a:prstGeom>
            <a:ln w="28575" cap="flat" cmpd="sng">
              <a:solidFill>
                <a:srgbClr val="000000"/>
              </a:solidFill>
              <a:prstDash val="solid"/>
              <a:headEnd type="none" w="med" len="med"/>
              <a:tailEnd type="arrow" w="med" len="med"/>
            </a:ln>
          </p:spPr>
        </p:sp>
        <p:sp>
          <p:nvSpPr>
            <p:cNvPr id="83041" name="Freeform 18"/>
            <p:cNvSpPr/>
            <p:nvPr/>
          </p:nvSpPr>
          <p:spPr>
            <a:xfrm>
              <a:off x="4224" y="288"/>
              <a:ext cx="480" cy="240"/>
            </a:xfrm>
            <a:custGeom>
              <a:avLst/>
              <a:gdLst/>
              <a:ahLst/>
              <a:cxnLst>
                <a:cxn ang="0">
                  <a:pos x="1374" y="68"/>
                </a:cxn>
                <a:cxn ang="0">
                  <a:pos x="811" y="34"/>
                </a:cxn>
                <a:cxn ang="0">
                  <a:pos x="458" y="286"/>
                </a:cxn>
                <a:cxn ang="0">
                  <a:pos x="252" y="594"/>
                </a:cxn>
                <a:cxn ang="0">
                  <a:pos x="0" y="1346"/>
                </a:cxn>
              </a:cxnLst>
              <a:pathLst>
                <a:path w="432" h="202">
                  <a:moveTo>
                    <a:pt x="432" y="10"/>
                  </a:moveTo>
                  <a:cubicBezTo>
                    <a:pt x="403" y="9"/>
                    <a:pt x="303" y="0"/>
                    <a:pt x="255" y="5"/>
                  </a:cubicBezTo>
                  <a:cubicBezTo>
                    <a:pt x="207" y="10"/>
                    <a:pt x="173" y="29"/>
                    <a:pt x="144" y="43"/>
                  </a:cubicBezTo>
                  <a:cubicBezTo>
                    <a:pt x="115" y="57"/>
                    <a:pt x="103" y="63"/>
                    <a:pt x="79" y="89"/>
                  </a:cubicBezTo>
                  <a:cubicBezTo>
                    <a:pt x="55" y="115"/>
                    <a:pt x="16" y="178"/>
                    <a:pt x="0" y="202"/>
                  </a:cubicBezTo>
                </a:path>
              </a:pathLst>
            </a:custGeom>
            <a:noFill/>
            <a:ln w="28575" cap="flat" cmpd="sng">
              <a:solidFill>
                <a:srgbClr val="000000">
                  <a:alpha val="100000"/>
                </a:srgbClr>
              </a:solidFill>
              <a:prstDash val="solid"/>
              <a:round/>
              <a:headEnd type="arrow" w="med" len="med"/>
              <a:tailEnd type="none" w="med" len="med"/>
            </a:ln>
          </p:spPr>
          <p:txBody>
            <a:bodyPr/>
            <a:p>
              <a:endParaRPr lang="zh-CN" altLang="en-US"/>
            </a:p>
          </p:txBody>
        </p:sp>
        <p:sp>
          <p:nvSpPr>
            <p:cNvPr id="83042" name="Line 19"/>
            <p:cNvSpPr/>
            <p:nvPr/>
          </p:nvSpPr>
          <p:spPr>
            <a:xfrm flipH="1" flipV="1">
              <a:off x="4608" y="1152"/>
              <a:ext cx="384" cy="0"/>
            </a:xfrm>
            <a:prstGeom prst="line">
              <a:avLst/>
            </a:prstGeom>
            <a:ln w="28575" cap="flat" cmpd="sng">
              <a:solidFill>
                <a:srgbClr val="000000"/>
              </a:solidFill>
              <a:prstDash val="solid"/>
              <a:headEnd type="none" w="med" len="med"/>
              <a:tailEnd type="arrow" w="med" len="med"/>
            </a:ln>
          </p:spPr>
        </p:sp>
      </p:grpSp>
      <p:grpSp>
        <p:nvGrpSpPr>
          <p:cNvPr id="82949" name="Group 20"/>
          <p:cNvGrpSpPr/>
          <p:nvPr/>
        </p:nvGrpSpPr>
        <p:grpSpPr>
          <a:xfrm>
            <a:off x="590550" y="3220720"/>
            <a:ext cx="7467600" cy="2871470"/>
            <a:chOff x="528" y="1776"/>
            <a:chExt cx="4704" cy="1809"/>
          </a:xfrm>
        </p:grpSpPr>
        <p:sp>
          <p:nvSpPr>
            <p:cNvPr id="82951" name="Rectangle 21"/>
            <p:cNvSpPr/>
            <p:nvPr/>
          </p:nvSpPr>
          <p:spPr>
            <a:xfrm>
              <a:off x="528" y="3298"/>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5</a:t>
              </a:r>
              <a:endParaRPr lang="en-US" altLang="zh-CN" sz="1800" b="1" dirty="0">
                <a:solidFill>
                  <a:srgbClr val="FF0000"/>
                </a:solidFill>
              </a:endParaRPr>
            </a:p>
          </p:txBody>
        </p:sp>
        <p:sp>
          <p:nvSpPr>
            <p:cNvPr id="82952" name="Rectangle 22"/>
            <p:cNvSpPr/>
            <p:nvPr/>
          </p:nvSpPr>
          <p:spPr>
            <a:xfrm>
              <a:off x="528" y="3011"/>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4</a:t>
              </a:r>
              <a:endParaRPr lang="en-US" altLang="zh-CN" sz="1800" b="1" dirty="0">
                <a:solidFill>
                  <a:srgbClr val="FF0000"/>
                </a:solidFill>
              </a:endParaRPr>
            </a:p>
          </p:txBody>
        </p:sp>
        <p:sp>
          <p:nvSpPr>
            <p:cNvPr id="82953" name="Rectangle 23"/>
            <p:cNvSpPr/>
            <p:nvPr/>
          </p:nvSpPr>
          <p:spPr>
            <a:xfrm>
              <a:off x="528" y="2685"/>
              <a:ext cx="272"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3</a:t>
              </a:r>
              <a:endParaRPr lang="en-US" altLang="zh-CN" sz="1800" b="1" dirty="0">
                <a:solidFill>
                  <a:srgbClr val="FF0000"/>
                </a:solidFill>
              </a:endParaRPr>
            </a:p>
          </p:txBody>
        </p:sp>
        <p:sp>
          <p:nvSpPr>
            <p:cNvPr id="82954" name="Rectangle 24"/>
            <p:cNvSpPr/>
            <p:nvPr/>
          </p:nvSpPr>
          <p:spPr>
            <a:xfrm>
              <a:off x="528" y="2398"/>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2</a:t>
              </a:r>
              <a:endParaRPr lang="en-US" altLang="zh-CN" sz="1800" b="1" dirty="0">
                <a:solidFill>
                  <a:srgbClr val="FF0000"/>
                </a:solidFill>
              </a:endParaRPr>
            </a:p>
          </p:txBody>
        </p:sp>
        <p:sp>
          <p:nvSpPr>
            <p:cNvPr id="82955" name="Rectangle 25"/>
            <p:cNvSpPr/>
            <p:nvPr/>
          </p:nvSpPr>
          <p:spPr>
            <a:xfrm>
              <a:off x="528" y="2111"/>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1</a:t>
              </a:r>
              <a:endParaRPr lang="en-US" altLang="zh-CN" sz="1800" b="1" dirty="0">
                <a:solidFill>
                  <a:srgbClr val="FF0000"/>
                </a:solidFill>
              </a:endParaRPr>
            </a:p>
          </p:txBody>
        </p:sp>
        <p:sp>
          <p:nvSpPr>
            <p:cNvPr id="82956" name="Rectangle 26"/>
            <p:cNvSpPr/>
            <p:nvPr/>
          </p:nvSpPr>
          <p:spPr>
            <a:xfrm>
              <a:off x="528" y="1824"/>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0</a:t>
              </a:r>
              <a:endParaRPr lang="en-US" altLang="zh-CN" sz="1800" b="1" dirty="0">
                <a:solidFill>
                  <a:srgbClr val="FF0000"/>
                </a:solidFill>
              </a:endParaRPr>
            </a:p>
          </p:txBody>
        </p:sp>
        <p:sp>
          <p:nvSpPr>
            <p:cNvPr id="82957" name="Rectangle 27"/>
            <p:cNvSpPr/>
            <p:nvPr/>
          </p:nvSpPr>
          <p:spPr>
            <a:xfrm>
              <a:off x="1055" y="3298"/>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58" name="Rectangle 28"/>
            <p:cNvSpPr/>
            <p:nvPr/>
          </p:nvSpPr>
          <p:spPr>
            <a:xfrm>
              <a:off x="800" y="3298"/>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F</a:t>
              </a:r>
              <a:endParaRPr lang="en-US" altLang="zh-CN" sz="1800" b="1" dirty="0"/>
            </a:p>
          </p:txBody>
        </p:sp>
        <p:sp>
          <p:nvSpPr>
            <p:cNvPr id="82959" name="Rectangle 29"/>
            <p:cNvSpPr/>
            <p:nvPr/>
          </p:nvSpPr>
          <p:spPr>
            <a:xfrm>
              <a:off x="1055" y="3011"/>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0" name="Rectangle 30"/>
            <p:cNvSpPr/>
            <p:nvPr/>
          </p:nvSpPr>
          <p:spPr>
            <a:xfrm>
              <a:off x="800" y="3011"/>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E</a:t>
              </a:r>
              <a:endParaRPr lang="en-US" altLang="zh-CN" sz="1800" b="1" dirty="0"/>
            </a:p>
          </p:txBody>
        </p:sp>
        <p:sp>
          <p:nvSpPr>
            <p:cNvPr id="82961" name="Rectangle 31"/>
            <p:cNvSpPr/>
            <p:nvPr/>
          </p:nvSpPr>
          <p:spPr>
            <a:xfrm>
              <a:off x="1055" y="2685"/>
              <a:ext cx="322"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zh-CN" altLang="en-US" sz="2000" b="1" dirty="0">
                  <a:solidFill>
                    <a:srgbClr val="000000"/>
                  </a:solidFill>
                </a:rPr>
                <a:t>∧</a:t>
              </a:r>
              <a:endParaRPr lang="zh-CN" altLang="en-US" sz="2000" b="1" dirty="0">
                <a:solidFill>
                  <a:srgbClr val="000000"/>
                </a:solidFill>
              </a:endParaRPr>
            </a:p>
          </p:txBody>
        </p:sp>
        <p:sp>
          <p:nvSpPr>
            <p:cNvPr id="82962" name="Rectangle 32"/>
            <p:cNvSpPr/>
            <p:nvPr/>
          </p:nvSpPr>
          <p:spPr>
            <a:xfrm>
              <a:off x="800" y="2685"/>
              <a:ext cx="255"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D</a:t>
              </a:r>
              <a:endParaRPr lang="en-US" altLang="zh-CN" sz="1800" b="1" dirty="0"/>
            </a:p>
          </p:txBody>
        </p:sp>
        <p:sp>
          <p:nvSpPr>
            <p:cNvPr id="82963" name="Rectangle 33"/>
            <p:cNvSpPr/>
            <p:nvPr/>
          </p:nvSpPr>
          <p:spPr>
            <a:xfrm>
              <a:off x="1055" y="2398"/>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4" name="Rectangle 34"/>
            <p:cNvSpPr/>
            <p:nvPr/>
          </p:nvSpPr>
          <p:spPr>
            <a:xfrm>
              <a:off x="800" y="2398"/>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C</a:t>
              </a:r>
              <a:endParaRPr lang="en-US" altLang="zh-CN" sz="1800" b="1" dirty="0"/>
            </a:p>
          </p:txBody>
        </p:sp>
        <p:sp>
          <p:nvSpPr>
            <p:cNvPr id="82965" name="Rectangle 35"/>
            <p:cNvSpPr/>
            <p:nvPr/>
          </p:nvSpPr>
          <p:spPr>
            <a:xfrm>
              <a:off x="1055" y="2111"/>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6" name="Rectangle 36"/>
            <p:cNvSpPr/>
            <p:nvPr/>
          </p:nvSpPr>
          <p:spPr>
            <a:xfrm>
              <a:off x="800" y="2111"/>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B</a:t>
              </a:r>
              <a:endParaRPr lang="en-US" altLang="zh-CN" sz="1800" b="1" dirty="0"/>
            </a:p>
          </p:txBody>
        </p:sp>
        <p:sp>
          <p:nvSpPr>
            <p:cNvPr id="82967" name="Rectangle 37"/>
            <p:cNvSpPr/>
            <p:nvPr/>
          </p:nvSpPr>
          <p:spPr>
            <a:xfrm>
              <a:off x="1055" y="1824"/>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8" name="Rectangle 38"/>
            <p:cNvSpPr/>
            <p:nvPr/>
          </p:nvSpPr>
          <p:spPr>
            <a:xfrm>
              <a:off x="800" y="1824"/>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A</a:t>
              </a:r>
              <a:endParaRPr lang="en-US" altLang="zh-CN" sz="1800" b="1" dirty="0"/>
            </a:p>
          </p:txBody>
        </p:sp>
        <p:sp>
          <p:nvSpPr>
            <p:cNvPr id="82969" name="Line 39"/>
            <p:cNvSpPr/>
            <p:nvPr/>
          </p:nvSpPr>
          <p:spPr>
            <a:xfrm>
              <a:off x="528" y="1824"/>
              <a:ext cx="272" cy="0"/>
            </a:xfrm>
            <a:prstGeom prst="line">
              <a:avLst/>
            </a:prstGeom>
            <a:ln w="12700">
              <a:noFill/>
            </a:ln>
          </p:spPr>
        </p:sp>
        <p:sp>
          <p:nvSpPr>
            <p:cNvPr id="82970" name="Line 40"/>
            <p:cNvSpPr/>
            <p:nvPr/>
          </p:nvSpPr>
          <p:spPr>
            <a:xfrm>
              <a:off x="528" y="3585"/>
              <a:ext cx="272" cy="0"/>
            </a:xfrm>
            <a:prstGeom prst="line">
              <a:avLst/>
            </a:prstGeom>
            <a:ln w="12700">
              <a:noFill/>
            </a:ln>
          </p:spPr>
        </p:sp>
        <p:sp>
          <p:nvSpPr>
            <p:cNvPr id="82971" name="Line 41"/>
            <p:cNvSpPr/>
            <p:nvPr/>
          </p:nvSpPr>
          <p:spPr>
            <a:xfrm>
              <a:off x="528" y="1824"/>
              <a:ext cx="0" cy="287"/>
            </a:xfrm>
            <a:prstGeom prst="line">
              <a:avLst/>
            </a:prstGeom>
            <a:ln w="12700">
              <a:noFill/>
            </a:ln>
          </p:spPr>
        </p:sp>
        <p:sp>
          <p:nvSpPr>
            <p:cNvPr id="82972" name="Line 42"/>
            <p:cNvSpPr/>
            <p:nvPr/>
          </p:nvSpPr>
          <p:spPr>
            <a:xfrm>
              <a:off x="1055" y="1824"/>
              <a:ext cx="0" cy="1761"/>
            </a:xfrm>
            <a:prstGeom prst="line">
              <a:avLst/>
            </a:prstGeom>
            <a:ln w="12700" cap="flat" cmpd="sng">
              <a:solidFill>
                <a:srgbClr val="000000"/>
              </a:solidFill>
              <a:prstDash val="solid"/>
              <a:headEnd type="none" w="med" len="med"/>
              <a:tailEnd type="none" w="med" len="med"/>
            </a:ln>
          </p:spPr>
        </p:sp>
        <p:sp>
          <p:nvSpPr>
            <p:cNvPr id="82973" name="Line 43"/>
            <p:cNvSpPr/>
            <p:nvPr/>
          </p:nvSpPr>
          <p:spPr>
            <a:xfrm>
              <a:off x="1377" y="1824"/>
              <a:ext cx="0" cy="1761"/>
            </a:xfrm>
            <a:prstGeom prst="line">
              <a:avLst/>
            </a:prstGeom>
            <a:ln w="12700" cap="sq" cmpd="sng">
              <a:solidFill>
                <a:srgbClr val="000000"/>
              </a:solidFill>
              <a:prstDash val="solid"/>
              <a:headEnd type="none" w="med" len="med"/>
              <a:tailEnd type="none" w="med" len="med"/>
            </a:ln>
          </p:spPr>
        </p:sp>
        <p:sp>
          <p:nvSpPr>
            <p:cNvPr id="82974" name="Line 44"/>
            <p:cNvSpPr/>
            <p:nvPr/>
          </p:nvSpPr>
          <p:spPr>
            <a:xfrm>
              <a:off x="800" y="1824"/>
              <a:ext cx="0" cy="1761"/>
            </a:xfrm>
            <a:prstGeom prst="line">
              <a:avLst/>
            </a:prstGeom>
            <a:ln w="12700" cap="flat" cmpd="sng">
              <a:solidFill>
                <a:srgbClr val="000000"/>
              </a:solidFill>
              <a:prstDash val="solid"/>
              <a:headEnd type="none" w="med" len="med"/>
              <a:tailEnd type="none" w="med" len="med"/>
            </a:ln>
          </p:spPr>
        </p:sp>
        <p:sp>
          <p:nvSpPr>
            <p:cNvPr id="82975" name="Line 45"/>
            <p:cNvSpPr/>
            <p:nvPr/>
          </p:nvSpPr>
          <p:spPr>
            <a:xfrm>
              <a:off x="800" y="1824"/>
              <a:ext cx="577" cy="0"/>
            </a:xfrm>
            <a:prstGeom prst="line">
              <a:avLst/>
            </a:prstGeom>
            <a:ln w="12700" cap="sq" cmpd="sng">
              <a:solidFill>
                <a:srgbClr val="000000"/>
              </a:solidFill>
              <a:prstDash val="solid"/>
              <a:headEnd type="none" w="med" len="med"/>
              <a:tailEnd type="none" w="med" len="med"/>
            </a:ln>
          </p:spPr>
        </p:sp>
        <p:sp>
          <p:nvSpPr>
            <p:cNvPr id="82976" name="Line 46"/>
            <p:cNvSpPr/>
            <p:nvPr/>
          </p:nvSpPr>
          <p:spPr>
            <a:xfrm>
              <a:off x="528" y="2111"/>
              <a:ext cx="0" cy="287"/>
            </a:xfrm>
            <a:prstGeom prst="line">
              <a:avLst/>
            </a:prstGeom>
            <a:ln w="12700">
              <a:noFill/>
            </a:ln>
          </p:spPr>
        </p:sp>
        <p:sp>
          <p:nvSpPr>
            <p:cNvPr id="82977" name="Line 47"/>
            <p:cNvSpPr/>
            <p:nvPr/>
          </p:nvSpPr>
          <p:spPr>
            <a:xfrm>
              <a:off x="800" y="2111"/>
              <a:ext cx="577" cy="0"/>
            </a:xfrm>
            <a:prstGeom prst="line">
              <a:avLst/>
            </a:prstGeom>
            <a:ln w="12700" cap="flat" cmpd="sng">
              <a:solidFill>
                <a:srgbClr val="000000"/>
              </a:solidFill>
              <a:prstDash val="solid"/>
              <a:headEnd type="none" w="med" len="med"/>
              <a:tailEnd type="none" w="med" len="med"/>
            </a:ln>
          </p:spPr>
        </p:sp>
        <p:sp>
          <p:nvSpPr>
            <p:cNvPr id="82978" name="Line 48"/>
            <p:cNvSpPr/>
            <p:nvPr/>
          </p:nvSpPr>
          <p:spPr>
            <a:xfrm>
              <a:off x="528" y="2398"/>
              <a:ext cx="0" cy="287"/>
            </a:xfrm>
            <a:prstGeom prst="line">
              <a:avLst/>
            </a:prstGeom>
            <a:ln w="12700">
              <a:noFill/>
            </a:ln>
          </p:spPr>
        </p:sp>
        <p:sp>
          <p:nvSpPr>
            <p:cNvPr id="82979" name="Line 49"/>
            <p:cNvSpPr/>
            <p:nvPr/>
          </p:nvSpPr>
          <p:spPr>
            <a:xfrm>
              <a:off x="800" y="2398"/>
              <a:ext cx="577" cy="0"/>
            </a:xfrm>
            <a:prstGeom prst="line">
              <a:avLst/>
            </a:prstGeom>
            <a:ln w="12700" cap="flat" cmpd="sng">
              <a:solidFill>
                <a:srgbClr val="000000"/>
              </a:solidFill>
              <a:prstDash val="solid"/>
              <a:headEnd type="none" w="med" len="med"/>
              <a:tailEnd type="none" w="med" len="med"/>
            </a:ln>
          </p:spPr>
        </p:sp>
        <p:sp>
          <p:nvSpPr>
            <p:cNvPr id="82980" name="Line 50"/>
            <p:cNvSpPr/>
            <p:nvPr/>
          </p:nvSpPr>
          <p:spPr>
            <a:xfrm>
              <a:off x="528" y="2685"/>
              <a:ext cx="0" cy="326"/>
            </a:xfrm>
            <a:prstGeom prst="line">
              <a:avLst/>
            </a:prstGeom>
            <a:ln w="12700">
              <a:noFill/>
            </a:ln>
          </p:spPr>
        </p:sp>
        <p:sp>
          <p:nvSpPr>
            <p:cNvPr id="82981" name="Line 51"/>
            <p:cNvSpPr/>
            <p:nvPr/>
          </p:nvSpPr>
          <p:spPr>
            <a:xfrm>
              <a:off x="800" y="2685"/>
              <a:ext cx="577" cy="0"/>
            </a:xfrm>
            <a:prstGeom prst="line">
              <a:avLst/>
            </a:prstGeom>
            <a:ln w="12700" cap="flat" cmpd="sng">
              <a:solidFill>
                <a:srgbClr val="000000"/>
              </a:solidFill>
              <a:prstDash val="solid"/>
              <a:headEnd type="none" w="med" len="med"/>
              <a:tailEnd type="none" w="med" len="med"/>
            </a:ln>
          </p:spPr>
        </p:sp>
        <p:sp>
          <p:nvSpPr>
            <p:cNvPr id="82982" name="Line 52"/>
            <p:cNvSpPr/>
            <p:nvPr/>
          </p:nvSpPr>
          <p:spPr>
            <a:xfrm>
              <a:off x="528" y="3011"/>
              <a:ext cx="0" cy="287"/>
            </a:xfrm>
            <a:prstGeom prst="line">
              <a:avLst/>
            </a:prstGeom>
            <a:ln w="12700">
              <a:noFill/>
            </a:ln>
          </p:spPr>
        </p:sp>
        <p:sp>
          <p:nvSpPr>
            <p:cNvPr id="82983" name="Line 53"/>
            <p:cNvSpPr/>
            <p:nvPr/>
          </p:nvSpPr>
          <p:spPr>
            <a:xfrm>
              <a:off x="800" y="3011"/>
              <a:ext cx="577" cy="0"/>
            </a:xfrm>
            <a:prstGeom prst="line">
              <a:avLst/>
            </a:prstGeom>
            <a:ln w="12700" cap="flat" cmpd="sng">
              <a:solidFill>
                <a:srgbClr val="000000"/>
              </a:solidFill>
              <a:prstDash val="solid"/>
              <a:headEnd type="none" w="med" len="med"/>
              <a:tailEnd type="none" w="med" len="med"/>
            </a:ln>
          </p:spPr>
        </p:sp>
        <p:sp>
          <p:nvSpPr>
            <p:cNvPr id="82984" name="Line 54"/>
            <p:cNvSpPr/>
            <p:nvPr/>
          </p:nvSpPr>
          <p:spPr>
            <a:xfrm>
              <a:off x="528" y="3298"/>
              <a:ext cx="0" cy="287"/>
            </a:xfrm>
            <a:prstGeom prst="line">
              <a:avLst/>
            </a:prstGeom>
            <a:ln w="12700">
              <a:noFill/>
            </a:ln>
          </p:spPr>
        </p:sp>
        <p:sp>
          <p:nvSpPr>
            <p:cNvPr id="82985" name="Line 55"/>
            <p:cNvSpPr/>
            <p:nvPr/>
          </p:nvSpPr>
          <p:spPr>
            <a:xfrm>
              <a:off x="800" y="3298"/>
              <a:ext cx="577" cy="0"/>
            </a:xfrm>
            <a:prstGeom prst="line">
              <a:avLst/>
            </a:prstGeom>
            <a:ln w="12700" cap="flat" cmpd="sng">
              <a:solidFill>
                <a:srgbClr val="000000"/>
              </a:solidFill>
              <a:prstDash val="solid"/>
              <a:headEnd type="none" w="med" len="med"/>
              <a:tailEnd type="none" w="med" len="med"/>
            </a:ln>
          </p:spPr>
        </p:sp>
        <p:sp>
          <p:nvSpPr>
            <p:cNvPr id="82986" name="Line 56"/>
            <p:cNvSpPr/>
            <p:nvPr/>
          </p:nvSpPr>
          <p:spPr>
            <a:xfrm>
              <a:off x="800" y="3585"/>
              <a:ext cx="577" cy="0"/>
            </a:xfrm>
            <a:prstGeom prst="line">
              <a:avLst/>
            </a:prstGeom>
            <a:ln w="12700" cap="sq" cmpd="sng">
              <a:solidFill>
                <a:srgbClr val="000000"/>
              </a:solidFill>
              <a:prstDash val="solid"/>
              <a:headEnd type="none" w="med" len="med"/>
              <a:tailEnd type="none" w="med" len="med"/>
            </a:ln>
          </p:spPr>
        </p:sp>
        <p:grpSp>
          <p:nvGrpSpPr>
            <p:cNvPr id="82987" name="Group 57"/>
            <p:cNvGrpSpPr/>
            <p:nvPr/>
          </p:nvGrpSpPr>
          <p:grpSpPr>
            <a:xfrm>
              <a:off x="1776" y="1824"/>
              <a:ext cx="720" cy="240"/>
              <a:chOff x="1728" y="1728"/>
              <a:chExt cx="720" cy="240"/>
            </a:xfrm>
          </p:grpSpPr>
          <p:sp>
            <p:nvSpPr>
              <p:cNvPr id="83026" name="Rectangle 58"/>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1</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7" name="Line 59"/>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88" name="Line 60"/>
            <p:cNvSpPr/>
            <p:nvPr/>
          </p:nvSpPr>
          <p:spPr>
            <a:xfrm>
              <a:off x="2304" y="1968"/>
              <a:ext cx="384" cy="0"/>
            </a:xfrm>
            <a:prstGeom prst="line">
              <a:avLst/>
            </a:prstGeom>
            <a:ln w="28575" cap="flat" cmpd="sng">
              <a:solidFill>
                <a:srgbClr val="000000"/>
              </a:solidFill>
              <a:prstDash val="solid"/>
              <a:headEnd type="oval" w="med" len="med"/>
              <a:tailEnd type="triangle" w="med" len="med"/>
            </a:ln>
          </p:spPr>
        </p:sp>
        <p:sp>
          <p:nvSpPr>
            <p:cNvPr id="82989" name="Line 61"/>
            <p:cNvSpPr/>
            <p:nvPr/>
          </p:nvSpPr>
          <p:spPr>
            <a:xfrm>
              <a:off x="1248" y="1968"/>
              <a:ext cx="528" cy="0"/>
            </a:xfrm>
            <a:prstGeom prst="line">
              <a:avLst/>
            </a:prstGeom>
            <a:ln w="28575" cap="flat" cmpd="sng">
              <a:solidFill>
                <a:srgbClr val="000000"/>
              </a:solidFill>
              <a:prstDash val="solid"/>
              <a:headEnd type="oval" w="med" len="med"/>
              <a:tailEnd type="triangle" w="med" len="med"/>
            </a:ln>
          </p:spPr>
        </p:sp>
        <p:grpSp>
          <p:nvGrpSpPr>
            <p:cNvPr id="82990" name="Group 62"/>
            <p:cNvGrpSpPr/>
            <p:nvPr/>
          </p:nvGrpSpPr>
          <p:grpSpPr>
            <a:xfrm>
              <a:off x="2688" y="1776"/>
              <a:ext cx="720" cy="288"/>
              <a:chOff x="2688" y="1680"/>
              <a:chExt cx="720" cy="288"/>
            </a:xfrm>
          </p:grpSpPr>
          <p:sp>
            <p:nvSpPr>
              <p:cNvPr id="83023" name="Rectangle 63"/>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2</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4" name="Line 64"/>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25" name="Text Box 65"/>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nvGrpSpPr>
            <p:cNvPr id="82991" name="Group 66"/>
            <p:cNvGrpSpPr/>
            <p:nvPr/>
          </p:nvGrpSpPr>
          <p:grpSpPr>
            <a:xfrm>
              <a:off x="1776" y="2112"/>
              <a:ext cx="720" cy="240"/>
              <a:chOff x="1728" y="1728"/>
              <a:chExt cx="720" cy="240"/>
            </a:xfrm>
          </p:grpSpPr>
          <p:sp>
            <p:nvSpPr>
              <p:cNvPr id="83021" name="Rectangle 67"/>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0</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2" name="Line 68"/>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2" name="Line 69"/>
            <p:cNvSpPr/>
            <p:nvPr/>
          </p:nvSpPr>
          <p:spPr>
            <a:xfrm>
              <a:off x="2304" y="2256"/>
              <a:ext cx="384" cy="0"/>
            </a:xfrm>
            <a:prstGeom prst="line">
              <a:avLst/>
            </a:prstGeom>
            <a:ln w="28575" cap="flat" cmpd="sng">
              <a:solidFill>
                <a:srgbClr val="000000"/>
              </a:solidFill>
              <a:prstDash val="solid"/>
              <a:headEnd type="oval" w="med" len="med"/>
              <a:tailEnd type="triangle" w="med" len="med"/>
            </a:ln>
          </p:spPr>
        </p:sp>
        <p:sp>
          <p:nvSpPr>
            <p:cNvPr id="82993" name="Line 70"/>
            <p:cNvSpPr/>
            <p:nvPr/>
          </p:nvSpPr>
          <p:spPr>
            <a:xfrm>
              <a:off x="1248" y="2256"/>
              <a:ext cx="528" cy="0"/>
            </a:xfrm>
            <a:prstGeom prst="line">
              <a:avLst/>
            </a:prstGeom>
            <a:ln w="28575" cap="flat" cmpd="sng">
              <a:solidFill>
                <a:srgbClr val="000000"/>
              </a:solidFill>
              <a:prstDash val="solid"/>
              <a:headEnd type="oval" w="med" len="med"/>
              <a:tailEnd type="triangle" w="med" len="med"/>
            </a:ln>
          </p:spPr>
        </p:sp>
        <p:grpSp>
          <p:nvGrpSpPr>
            <p:cNvPr id="82994" name="Group 71"/>
            <p:cNvGrpSpPr/>
            <p:nvPr/>
          </p:nvGrpSpPr>
          <p:grpSpPr>
            <a:xfrm>
              <a:off x="3600" y="2112"/>
              <a:ext cx="720" cy="240"/>
              <a:chOff x="1728" y="1728"/>
              <a:chExt cx="720" cy="240"/>
            </a:xfrm>
          </p:grpSpPr>
          <p:sp>
            <p:nvSpPr>
              <p:cNvPr id="83019" name="Rectangle 72"/>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4</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0" name="Line 73"/>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5" name="Line 74"/>
            <p:cNvSpPr/>
            <p:nvPr/>
          </p:nvSpPr>
          <p:spPr>
            <a:xfrm>
              <a:off x="4128" y="2256"/>
              <a:ext cx="384" cy="0"/>
            </a:xfrm>
            <a:prstGeom prst="line">
              <a:avLst/>
            </a:prstGeom>
            <a:ln w="28575" cap="flat" cmpd="sng">
              <a:solidFill>
                <a:srgbClr val="000000"/>
              </a:solidFill>
              <a:prstDash val="solid"/>
              <a:headEnd type="oval" w="med" len="med"/>
              <a:tailEnd type="triangle" w="med" len="med"/>
            </a:ln>
          </p:spPr>
        </p:sp>
        <p:grpSp>
          <p:nvGrpSpPr>
            <p:cNvPr id="82996" name="Group 75"/>
            <p:cNvGrpSpPr/>
            <p:nvPr/>
          </p:nvGrpSpPr>
          <p:grpSpPr>
            <a:xfrm>
              <a:off x="4512" y="2064"/>
              <a:ext cx="720" cy="288"/>
              <a:chOff x="2688" y="1680"/>
              <a:chExt cx="720" cy="288"/>
            </a:xfrm>
          </p:grpSpPr>
          <p:sp>
            <p:nvSpPr>
              <p:cNvPr id="83016" name="Rectangle 76"/>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5</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7" name="Line 77"/>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8" name="Text Box 78"/>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nvGrpSpPr>
            <p:cNvPr id="82997" name="Group 79"/>
            <p:cNvGrpSpPr/>
            <p:nvPr/>
          </p:nvGrpSpPr>
          <p:grpSpPr>
            <a:xfrm>
              <a:off x="2688" y="2112"/>
              <a:ext cx="720" cy="240"/>
              <a:chOff x="1728" y="1728"/>
              <a:chExt cx="720" cy="240"/>
            </a:xfrm>
          </p:grpSpPr>
          <p:sp>
            <p:nvSpPr>
              <p:cNvPr id="83014" name="Rectangle 80"/>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3</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5" name="Line 81"/>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8" name="Line 82"/>
            <p:cNvSpPr/>
            <p:nvPr/>
          </p:nvSpPr>
          <p:spPr>
            <a:xfrm>
              <a:off x="3216" y="2256"/>
              <a:ext cx="384" cy="0"/>
            </a:xfrm>
            <a:prstGeom prst="line">
              <a:avLst/>
            </a:prstGeom>
            <a:ln w="28575" cap="flat" cmpd="sng">
              <a:solidFill>
                <a:srgbClr val="000000"/>
              </a:solidFill>
              <a:prstDash val="solid"/>
              <a:headEnd type="oval" w="med" len="med"/>
              <a:tailEnd type="triangle" w="med" len="med"/>
            </a:ln>
          </p:spPr>
        </p:sp>
        <p:sp>
          <p:nvSpPr>
            <p:cNvPr id="82999" name="Line 83"/>
            <p:cNvSpPr/>
            <p:nvPr/>
          </p:nvSpPr>
          <p:spPr>
            <a:xfrm>
              <a:off x="1248" y="2544"/>
              <a:ext cx="528" cy="0"/>
            </a:xfrm>
            <a:prstGeom prst="line">
              <a:avLst/>
            </a:prstGeom>
            <a:ln w="28575" cap="flat" cmpd="sng">
              <a:solidFill>
                <a:srgbClr val="000000"/>
              </a:solidFill>
              <a:prstDash val="solid"/>
              <a:headEnd type="oval" w="med" len="med"/>
              <a:tailEnd type="triangle" w="med" len="med"/>
            </a:ln>
          </p:spPr>
        </p:sp>
        <p:grpSp>
          <p:nvGrpSpPr>
            <p:cNvPr id="83000" name="Group 84"/>
            <p:cNvGrpSpPr/>
            <p:nvPr/>
          </p:nvGrpSpPr>
          <p:grpSpPr>
            <a:xfrm>
              <a:off x="1776" y="2352"/>
              <a:ext cx="720" cy="288"/>
              <a:chOff x="2688" y="1680"/>
              <a:chExt cx="720" cy="288"/>
            </a:xfrm>
          </p:grpSpPr>
          <p:sp>
            <p:nvSpPr>
              <p:cNvPr id="83011" name="Rectangle 85"/>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5</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2" name="Line 86"/>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3" name="Text Box 87"/>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sp>
          <p:nvSpPr>
            <p:cNvPr id="83001" name="Line 88"/>
            <p:cNvSpPr/>
            <p:nvPr/>
          </p:nvSpPr>
          <p:spPr>
            <a:xfrm>
              <a:off x="1248" y="3120"/>
              <a:ext cx="528" cy="0"/>
            </a:xfrm>
            <a:prstGeom prst="line">
              <a:avLst/>
            </a:prstGeom>
            <a:ln w="28575" cap="flat" cmpd="sng">
              <a:solidFill>
                <a:srgbClr val="000000"/>
              </a:solidFill>
              <a:prstDash val="solid"/>
              <a:headEnd type="oval" w="med" len="med"/>
              <a:tailEnd type="triangle" w="med" len="med"/>
            </a:ln>
          </p:spPr>
        </p:sp>
        <p:grpSp>
          <p:nvGrpSpPr>
            <p:cNvPr id="83002" name="Group 89"/>
            <p:cNvGrpSpPr/>
            <p:nvPr/>
          </p:nvGrpSpPr>
          <p:grpSpPr>
            <a:xfrm>
              <a:off x="1776" y="2928"/>
              <a:ext cx="720" cy="288"/>
              <a:chOff x="2688" y="1680"/>
              <a:chExt cx="720" cy="288"/>
            </a:xfrm>
          </p:grpSpPr>
          <p:sp>
            <p:nvSpPr>
              <p:cNvPr id="83008" name="Rectangle 90"/>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3</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09" name="Line 91"/>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0" name="Text Box 92"/>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sp>
          <p:nvSpPr>
            <p:cNvPr id="83003" name="Line 93"/>
            <p:cNvSpPr/>
            <p:nvPr/>
          </p:nvSpPr>
          <p:spPr>
            <a:xfrm>
              <a:off x="1248" y="3408"/>
              <a:ext cx="528" cy="0"/>
            </a:xfrm>
            <a:prstGeom prst="line">
              <a:avLst/>
            </a:prstGeom>
            <a:ln w="28575" cap="flat" cmpd="sng">
              <a:solidFill>
                <a:srgbClr val="000000"/>
              </a:solidFill>
              <a:prstDash val="solid"/>
              <a:headEnd type="oval" w="med" len="med"/>
              <a:tailEnd type="triangle" w="med" len="med"/>
            </a:ln>
          </p:spPr>
        </p:sp>
        <p:grpSp>
          <p:nvGrpSpPr>
            <p:cNvPr id="83004" name="Group 94"/>
            <p:cNvGrpSpPr/>
            <p:nvPr/>
          </p:nvGrpSpPr>
          <p:grpSpPr>
            <a:xfrm>
              <a:off x="1776" y="3216"/>
              <a:ext cx="720" cy="288"/>
              <a:chOff x="2688" y="1680"/>
              <a:chExt cx="720" cy="288"/>
            </a:xfrm>
          </p:grpSpPr>
          <p:sp>
            <p:nvSpPr>
              <p:cNvPr id="83005" name="Rectangle 95"/>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4</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06" name="Line 96"/>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07" name="Text Box 97"/>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81346"/>
                                        </p:tgtEl>
                                        <p:attrNameLst>
                                          <p:attrName>style.visibility</p:attrName>
                                        </p:attrNameLst>
                                      </p:cBhvr>
                                      <p:to>
                                        <p:strVal val="visible"/>
                                      </p:to>
                                    </p:set>
                                    <p:anim calcmode="lin" valueType="num">
                                      <p:cBhvr>
                                        <p:cTn id="7" dur="500" fill="hold"/>
                                        <p:tgtEl>
                                          <p:spTgt spid="181346"/>
                                        </p:tgtEl>
                                        <p:attrNameLst>
                                          <p:attrName>ppt_w</p:attrName>
                                        </p:attrNameLst>
                                      </p:cBhvr>
                                      <p:tavLst>
                                        <p:tav tm="0">
                                          <p:val>
                                            <p:strVal val="4*#ppt_w"/>
                                          </p:val>
                                        </p:tav>
                                        <p:tav tm="100000">
                                          <p:val>
                                            <p:strVal val="#ppt_w"/>
                                          </p:val>
                                        </p:tav>
                                      </p:tavLst>
                                    </p:anim>
                                    <p:anim calcmode="lin" valueType="num">
                                      <p:cBhvr>
                                        <p:cTn id="8" dur="500" fill="hold"/>
                                        <p:tgtEl>
                                          <p:spTgt spid="18134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4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课堂练习</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2947" name="Text Box 3"/>
          <p:cNvSpPr txBox="1"/>
          <p:nvPr/>
        </p:nvSpPr>
        <p:spPr>
          <a:xfrm>
            <a:off x="907415" y="1140460"/>
            <a:ext cx="81534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根据右图的如下存储表示，写出以顶点</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为出发点进行</a:t>
            </a:r>
            <a:r>
              <a:rPr lang="en-US" altLang="zh-CN"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FS</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的顶点访问序列。</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1346" name="Text Box 98"/>
          <p:cNvSpPr txBox="1"/>
          <p:nvPr/>
        </p:nvSpPr>
        <p:spPr>
          <a:xfrm>
            <a:off x="1732915" y="2319655"/>
            <a:ext cx="3505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B</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D</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E</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F</a:t>
            </a:r>
            <a:r>
              <a:rPr lang="zh-CN" altLang="en-US" b="1" dirty="0">
                <a:solidFill>
                  <a:srgbClr val="0000CC"/>
                </a:solidFill>
                <a:latin typeface="Arial" panose="020B0604020202020204" pitchFamily="34" charset="0"/>
                <a:ea typeface="宋体" panose="02010600030101010101" pitchFamily="2" charset="-122"/>
              </a:rPr>
              <a:t>，</a:t>
            </a:r>
            <a:r>
              <a:rPr lang="en-US" altLang="zh-CN" b="1" dirty="0">
                <a:solidFill>
                  <a:srgbClr val="0000CC"/>
                </a:solidFill>
                <a:latin typeface="Arial" panose="020B0604020202020204" pitchFamily="34" charset="0"/>
                <a:ea typeface="宋体" panose="02010600030101010101" pitchFamily="2" charset="-122"/>
              </a:rPr>
              <a:t>C</a:t>
            </a:r>
            <a:endParaRPr lang="en-US" altLang="zh-CN" b="1" dirty="0">
              <a:solidFill>
                <a:srgbClr val="0000CC"/>
              </a:solidFill>
              <a:latin typeface="Arial" panose="020B0604020202020204" pitchFamily="34" charset="0"/>
              <a:ea typeface="宋体" panose="02010600030101010101" pitchFamily="2" charset="-122"/>
            </a:endParaRPr>
          </a:p>
        </p:txBody>
      </p:sp>
      <p:grpSp>
        <p:nvGrpSpPr>
          <p:cNvPr id="82948" name="Group 4"/>
          <p:cNvGrpSpPr/>
          <p:nvPr/>
        </p:nvGrpSpPr>
        <p:grpSpPr>
          <a:xfrm>
            <a:off x="8147685" y="1501140"/>
            <a:ext cx="3592830" cy="2094230"/>
            <a:chOff x="3648" y="240"/>
            <a:chExt cx="1996" cy="1056"/>
          </a:xfrm>
        </p:grpSpPr>
        <p:sp>
          <p:nvSpPr>
            <p:cNvPr id="83028" name="Oval 5"/>
            <p:cNvSpPr/>
            <p:nvPr/>
          </p:nvSpPr>
          <p:spPr>
            <a:xfrm>
              <a:off x="4676" y="24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A</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29" name="Oval 6"/>
            <p:cNvSpPr/>
            <p:nvPr/>
          </p:nvSpPr>
          <p:spPr>
            <a:xfrm>
              <a:off x="5328" y="4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C</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0" name="Oval 7"/>
            <p:cNvSpPr/>
            <p:nvPr/>
          </p:nvSpPr>
          <p:spPr>
            <a:xfrm>
              <a:off x="3984" y="4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B</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1" name="Oval 8"/>
            <p:cNvSpPr/>
            <p:nvPr/>
          </p:nvSpPr>
          <p:spPr>
            <a:xfrm>
              <a:off x="3648" y="951"/>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D</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2" name="Oval 9"/>
            <p:cNvSpPr/>
            <p:nvPr/>
          </p:nvSpPr>
          <p:spPr>
            <a:xfrm>
              <a:off x="4320" y="96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E</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3" name="Line 10"/>
            <p:cNvSpPr/>
            <p:nvPr/>
          </p:nvSpPr>
          <p:spPr>
            <a:xfrm>
              <a:off x="4992" y="432"/>
              <a:ext cx="336" cy="144"/>
            </a:xfrm>
            <a:prstGeom prst="line">
              <a:avLst/>
            </a:prstGeom>
            <a:ln w="28575" cap="flat" cmpd="sng">
              <a:solidFill>
                <a:srgbClr val="000000"/>
              </a:solidFill>
              <a:prstDash val="solid"/>
              <a:headEnd type="none" w="med" len="med"/>
              <a:tailEnd type="arrow" w="med" len="med"/>
            </a:ln>
          </p:spPr>
        </p:sp>
        <p:sp>
          <p:nvSpPr>
            <p:cNvPr id="83034" name="Line 11"/>
            <p:cNvSpPr/>
            <p:nvPr/>
          </p:nvSpPr>
          <p:spPr>
            <a:xfrm flipH="1">
              <a:off x="4272" y="432"/>
              <a:ext cx="384" cy="144"/>
            </a:xfrm>
            <a:prstGeom prst="line">
              <a:avLst/>
            </a:prstGeom>
            <a:ln w="28575" cap="flat" cmpd="sng">
              <a:solidFill>
                <a:srgbClr val="000000"/>
              </a:solidFill>
              <a:prstDash val="solid"/>
              <a:headEnd type="none" w="med" len="med"/>
              <a:tailEnd type="arrow" w="med" len="med"/>
            </a:ln>
          </p:spPr>
        </p:sp>
        <p:sp>
          <p:nvSpPr>
            <p:cNvPr id="83035" name="Line 12"/>
            <p:cNvSpPr/>
            <p:nvPr/>
          </p:nvSpPr>
          <p:spPr>
            <a:xfrm flipH="1">
              <a:off x="3840" y="720"/>
              <a:ext cx="192" cy="240"/>
            </a:xfrm>
            <a:prstGeom prst="line">
              <a:avLst/>
            </a:prstGeom>
            <a:ln w="28575" cap="flat" cmpd="sng">
              <a:solidFill>
                <a:srgbClr val="000000"/>
              </a:solidFill>
              <a:prstDash val="solid"/>
              <a:headEnd type="none" w="med" len="med"/>
              <a:tailEnd type="arrow" w="med" len="med"/>
            </a:ln>
          </p:spPr>
        </p:sp>
        <p:sp>
          <p:nvSpPr>
            <p:cNvPr id="83036" name="Line 13"/>
            <p:cNvSpPr/>
            <p:nvPr/>
          </p:nvSpPr>
          <p:spPr>
            <a:xfrm>
              <a:off x="4272" y="720"/>
              <a:ext cx="192" cy="240"/>
            </a:xfrm>
            <a:prstGeom prst="line">
              <a:avLst/>
            </a:prstGeom>
            <a:ln w="28575" cap="flat" cmpd="sng">
              <a:solidFill>
                <a:srgbClr val="000000"/>
              </a:solidFill>
              <a:prstDash val="solid"/>
              <a:headEnd type="none" w="med" len="med"/>
              <a:tailEnd type="arrow" w="med" len="med"/>
            </a:ln>
          </p:spPr>
        </p:sp>
        <p:sp>
          <p:nvSpPr>
            <p:cNvPr id="83037" name="Line 14"/>
            <p:cNvSpPr/>
            <p:nvPr/>
          </p:nvSpPr>
          <p:spPr>
            <a:xfrm flipH="1">
              <a:off x="3984" y="1104"/>
              <a:ext cx="336" cy="0"/>
            </a:xfrm>
            <a:prstGeom prst="line">
              <a:avLst/>
            </a:prstGeom>
            <a:ln w="28575" cap="flat" cmpd="sng">
              <a:solidFill>
                <a:srgbClr val="000000"/>
              </a:solidFill>
              <a:prstDash val="solid"/>
              <a:headEnd type="none" w="med" len="med"/>
              <a:tailEnd type="arrow" w="med" len="med"/>
            </a:ln>
          </p:spPr>
        </p:sp>
        <p:sp>
          <p:nvSpPr>
            <p:cNvPr id="83038" name="Oval 15"/>
            <p:cNvSpPr/>
            <p:nvPr/>
          </p:nvSpPr>
          <p:spPr>
            <a:xfrm>
              <a:off x="4992" y="999"/>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Arial" panose="020B0604020202020204" pitchFamily="34" charset="0"/>
                  <a:ea typeface="宋体" panose="02010600030101010101" pitchFamily="2" charset="-122"/>
                </a:rPr>
                <a:t>F</a:t>
              </a:r>
              <a:endParaRPr lang="en-US" altLang="zh-CN" b="1" baseline="-25000" dirty="0">
                <a:solidFill>
                  <a:srgbClr val="0000CC"/>
                </a:solidFill>
                <a:latin typeface="Arial" panose="020B0604020202020204" pitchFamily="34" charset="0"/>
                <a:ea typeface="宋体" panose="02010600030101010101" pitchFamily="2" charset="-122"/>
              </a:endParaRPr>
            </a:p>
          </p:txBody>
        </p:sp>
        <p:sp>
          <p:nvSpPr>
            <p:cNvPr id="83039" name="Line 16"/>
            <p:cNvSpPr/>
            <p:nvPr/>
          </p:nvSpPr>
          <p:spPr>
            <a:xfrm flipH="1">
              <a:off x="5184" y="768"/>
              <a:ext cx="192" cy="240"/>
            </a:xfrm>
            <a:prstGeom prst="line">
              <a:avLst/>
            </a:prstGeom>
            <a:ln w="28575" cap="flat" cmpd="sng">
              <a:solidFill>
                <a:srgbClr val="000000"/>
              </a:solidFill>
              <a:prstDash val="solid"/>
              <a:headEnd type="none" w="med" len="med"/>
              <a:tailEnd type="arrow" w="med" len="med"/>
            </a:ln>
          </p:spPr>
        </p:sp>
        <p:sp>
          <p:nvSpPr>
            <p:cNvPr id="83040" name="Line 17"/>
            <p:cNvSpPr/>
            <p:nvPr/>
          </p:nvSpPr>
          <p:spPr>
            <a:xfrm>
              <a:off x="4272" y="672"/>
              <a:ext cx="768" cy="384"/>
            </a:xfrm>
            <a:prstGeom prst="line">
              <a:avLst/>
            </a:prstGeom>
            <a:ln w="28575" cap="flat" cmpd="sng">
              <a:solidFill>
                <a:srgbClr val="000000"/>
              </a:solidFill>
              <a:prstDash val="solid"/>
              <a:headEnd type="none" w="med" len="med"/>
              <a:tailEnd type="arrow" w="med" len="med"/>
            </a:ln>
          </p:spPr>
        </p:sp>
        <p:sp>
          <p:nvSpPr>
            <p:cNvPr id="83041" name="Freeform 18"/>
            <p:cNvSpPr/>
            <p:nvPr/>
          </p:nvSpPr>
          <p:spPr>
            <a:xfrm>
              <a:off x="4224" y="288"/>
              <a:ext cx="480" cy="240"/>
            </a:xfrm>
            <a:custGeom>
              <a:avLst/>
              <a:gdLst/>
              <a:ahLst/>
              <a:cxnLst>
                <a:cxn ang="0">
                  <a:pos x="1374" y="68"/>
                </a:cxn>
                <a:cxn ang="0">
                  <a:pos x="811" y="34"/>
                </a:cxn>
                <a:cxn ang="0">
                  <a:pos x="458" y="286"/>
                </a:cxn>
                <a:cxn ang="0">
                  <a:pos x="252" y="594"/>
                </a:cxn>
                <a:cxn ang="0">
                  <a:pos x="0" y="1346"/>
                </a:cxn>
              </a:cxnLst>
              <a:pathLst>
                <a:path w="432" h="202">
                  <a:moveTo>
                    <a:pt x="432" y="10"/>
                  </a:moveTo>
                  <a:cubicBezTo>
                    <a:pt x="403" y="9"/>
                    <a:pt x="303" y="0"/>
                    <a:pt x="255" y="5"/>
                  </a:cubicBezTo>
                  <a:cubicBezTo>
                    <a:pt x="207" y="10"/>
                    <a:pt x="173" y="29"/>
                    <a:pt x="144" y="43"/>
                  </a:cubicBezTo>
                  <a:cubicBezTo>
                    <a:pt x="115" y="57"/>
                    <a:pt x="103" y="63"/>
                    <a:pt x="79" y="89"/>
                  </a:cubicBezTo>
                  <a:cubicBezTo>
                    <a:pt x="55" y="115"/>
                    <a:pt x="16" y="178"/>
                    <a:pt x="0" y="202"/>
                  </a:cubicBezTo>
                </a:path>
              </a:pathLst>
            </a:custGeom>
            <a:noFill/>
            <a:ln w="28575" cap="flat" cmpd="sng">
              <a:solidFill>
                <a:srgbClr val="000000">
                  <a:alpha val="100000"/>
                </a:srgbClr>
              </a:solidFill>
              <a:prstDash val="solid"/>
              <a:round/>
              <a:headEnd type="arrow" w="med" len="med"/>
              <a:tailEnd type="none" w="med" len="med"/>
            </a:ln>
          </p:spPr>
          <p:txBody>
            <a:bodyPr/>
            <a:p>
              <a:endParaRPr lang="zh-CN" altLang="en-US"/>
            </a:p>
          </p:txBody>
        </p:sp>
        <p:sp>
          <p:nvSpPr>
            <p:cNvPr id="83042" name="Line 19"/>
            <p:cNvSpPr/>
            <p:nvPr/>
          </p:nvSpPr>
          <p:spPr>
            <a:xfrm flipH="1" flipV="1">
              <a:off x="4608" y="1152"/>
              <a:ext cx="384" cy="0"/>
            </a:xfrm>
            <a:prstGeom prst="line">
              <a:avLst/>
            </a:prstGeom>
            <a:ln w="28575" cap="flat" cmpd="sng">
              <a:solidFill>
                <a:srgbClr val="000000"/>
              </a:solidFill>
              <a:prstDash val="solid"/>
              <a:headEnd type="none" w="med" len="med"/>
              <a:tailEnd type="arrow" w="med" len="med"/>
            </a:ln>
          </p:spPr>
        </p:sp>
      </p:grpSp>
      <p:grpSp>
        <p:nvGrpSpPr>
          <p:cNvPr id="82949" name="Group 20"/>
          <p:cNvGrpSpPr/>
          <p:nvPr/>
        </p:nvGrpSpPr>
        <p:grpSpPr>
          <a:xfrm>
            <a:off x="590550" y="3220720"/>
            <a:ext cx="7467600" cy="2871470"/>
            <a:chOff x="528" y="1776"/>
            <a:chExt cx="4704" cy="1809"/>
          </a:xfrm>
        </p:grpSpPr>
        <p:sp>
          <p:nvSpPr>
            <p:cNvPr id="82951" name="Rectangle 21"/>
            <p:cNvSpPr/>
            <p:nvPr/>
          </p:nvSpPr>
          <p:spPr>
            <a:xfrm>
              <a:off x="528" y="3298"/>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5</a:t>
              </a:r>
              <a:endParaRPr lang="en-US" altLang="zh-CN" sz="1800" b="1" dirty="0">
                <a:solidFill>
                  <a:srgbClr val="FF0000"/>
                </a:solidFill>
              </a:endParaRPr>
            </a:p>
          </p:txBody>
        </p:sp>
        <p:sp>
          <p:nvSpPr>
            <p:cNvPr id="82952" name="Rectangle 22"/>
            <p:cNvSpPr/>
            <p:nvPr/>
          </p:nvSpPr>
          <p:spPr>
            <a:xfrm>
              <a:off x="528" y="3011"/>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4</a:t>
              </a:r>
              <a:endParaRPr lang="en-US" altLang="zh-CN" sz="1800" b="1" dirty="0">
                <a:solidFill>
                  <a:srgbClr val="FF0000"/>
                </a:solidFill>
              </a:endParaRPr>
            </a:p>
          </p:txBody>
        </p:sp>
        <p:sp>
          <p:nvSpPr>
            <p:cNvPr id="82953" name="Rectangle 23"/>
            <p:cNvSpPr/>
            <p:nvPr/>
          </p:nvSpPr>
          <p:spPr>
            <a:xfrm>
              <a:off x="528" y="2685"/>
              <a:ext cx="272"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3</a:t>
              </a:r>
              <a:endParaRPr lang="en-US" altLang="zh-CN" sz="1800" b="1" dirty="0">
                <a:solidFill>
                  <a:srgbClr val="FF0000"/>
                </a:solidFill>
              </a:endParaRPr>
            </a:p>
          </p:txBody>
        </p:sp>
        <p:sp>
          <p:nvSpPr>
            <p:cNvPr id="82954" name="Rectangle 24"/>
            <p:cNvSpPr/>
            <p:nvPr/>
          </p:nvSpPr>
          <p:spPr>
            <a:xfrm>
              <a:off x="528" y="2398"/>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2</a:t>
              </a:r>
              <a:endParaRPr lang="en-US" altLang="zh-CN" sz="1800" b="1" dirty="0">
                <a:solidFill>
                  <a:srgbClr val="FF0000"/>
                </a:solidFill>
              </a:endParaRPr>
            </a:p>
          </p:txBody>
        </p:sp>
        <p:sp>
          <p:nvSpPr>
            <p:cNvPr id="82955" name="Rectangle 25"/>
            <p:cNvSpPr/>
            <p:nvPr/>
          </p:nvSpPr>
          <p:spPr>
            <a:xfrm>
              <a:off x="528" y="2111"/>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1</a:t>
              </a:r>
              <a:endParaRPr lang="en-US" altLang="zh-CN" sz="1800" b="1" dirty="0">
                <a:solidFill>
                  <a:srgbClr val="FF0000"/>
                </a:solidFill>
              </a:endParaRPr>
            </a:p>
          </p:txBody>
        </p:sp>
        <p:sp>
          <p:nvSpPr>
            <p:cNvPr id="82956" name="Rectangle 26"/>
            <p:cNvSpPr/>
            <p:nvPr/>
          </p:nvSpPr>
          <p:spPr>
            <a:xfrm>
              <a:off x="528" y="1824"/>
              <a:ext cx="27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solidFill>
                    <a:srgbClr val="FF0000"/>
                  </a:solidFill>
                </a:rPr>
                <a:t>0</a:t>
              </a:r>
              <a:endParaRPr lang="en-US" altLang="zh-CN" sz="1800" b="1" dirty="0">
                <a:solidFill>
                  <a:srgbClr val="FF0000"/>
                </a:solidFill>
              </a:endParaRPr>
            </a:p>
          </p:txBody>
        </p:sp>
        <p:sp>
          <p:nvSpPr>
            <p:cNvPr id="82957" name="Rectangle 27"/>
            <p:cNvSpPr/>
            <p:nvPr/>
          </p:nvSpPr>
          <p:spPr>
            <a:xfrm>
              <a:off x="1055" y="3298"/>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58" name="Rectangle 28"/>
            <p:cNvSpPr/>
            <p:nvPr/>
          </p:nvSpPr>
          <p:spPr>
            <a:xfrm>
              <a:off x="800" y="3298"/>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F</a:t>
              </a:r>
              <a:endParaRPr lang="en-US" altLang="zh-CN" sz="1800" b="1" dirty="0"/>
            </a:p>
          </p:txBody>
        </p:sp>
        <p:sp>
          <p:nvSpPr>
            <p:cNvPr id="82959" name="Rectangle 29"/>
            <p:cNvSpPr/>
            <p:nvPr/>
          </p:nvSpPr>
          <p:spPr>
            <a:xfrm>
              <a:off x="1055" y="3011"/>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0" name="Rectangle 30"/>
            <p:cNvSpPr/>
            <p:nvPr/>
          </p:nvSpPr>
          <p:spPr>
            <a:xfrm>
              <a:off x="800" y="3011"/>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E</a:t>
              </a:r>
              <a:endParaRPr lang="en-US" altLang="zh-CN" sz="1800" b="1" dirty="0"/>
            </a:p>
          </p:txBody>
        </p:sp>
        <p:sp>
          <p:nvSpPr>
            <p:cNvPr id="82961" name="Rectangle 31"/>
            <p:cNvSpPr/>
            <p:nvPr/>
          </p:nvSpPr>
          <p:spPr>
            <a:xfrm>
              <a:off x="1055" y="2685"/>
              <a:ext cx="322"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zh-CN" altLang="en-US" sz="2000" b="1" dirty="0">
                  <a:solidFill>
                    <a:srgbClr val="000000"/>
                  </a:solidFill>
                </a:rPr>
                <a:t>∧</a:t>
              </a:r>
              <a:endParaRPr lang="zh-CN" altLang="en-US" sz="2000" b="1" dirty="0">
                <a:solidFill>
                  <a:srgbClr val="000000"/>
                </a:solidFill>
              </a:endParaRPr>
            </a:p>
          </p:txBody>
        </p:sp>
        <p:sp>
          <p:nvSpPr>
            <p:cNvPr id="82962" name="Rectangle 32"/>
            <p:cNvSpPr/>
            <p:nvPr/>
          </p:nvSpPr>
          <p:spPr>
            <a:xfrm>
              <a:off x="800" y="2685"/>
              <a:ext cx="255" cy="326"/>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D</a:t>
              </a:r>
              <a:endParaRPr lang="en-US" altLang="zh-CN" sz="1800" b="1" dirty="0"/>
            </a:p>
          </p:txBody>
        </p:sp>
        <p:sp>
          <p:nvSpPr>
            <p:cNvPr id="82963" name="Rectangle 33"/>
            <p:cNvSpPr/>
            <p:nvPr/>
          </p:nvSpPr>
          <p:spPr>
            <a:xfrm>
              <a:off x="1055" y="2398"/>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4" name="Rectangle 34"/>
            <p:cNvSpPr/>
            <p:nvPr/>
          </p:nvSpPr>
          <p:spPr>
            <a:xfrm>
              <a:off x="800" y="2398"/>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C</a:t>
              </a:r>
              <a:endParaRPr lang="en-US" altLang="zh-CN" sz="1800" b="1" dirty="0"/>
            </a:p>
          </p:txBody>
        </p:sp>
        <p:sp>
          <p:nvSpPr>
            <p:cNvPr id="82965" name="Rectangle 35"/>
            <p:cNvSpPr/>
            <p:nvPr/>
          </p:nvSpPr>
          <p:spPr>
            <a:xfrm>
              <a:off x="1055" y="2111"/>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6" name="Rectangle 36"/>
            <p:cNvSpPr/>
            <p:nvPr/>
          </p:nvSpPr>
          <p:spPr>
            <a:xfrm>
              <a:off x="800" y="2111"/>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B</a:t>
              </a:r>
              <a:endParaRPr lang="en-US" altLang="zh-CN" sz="1800" b="1" dirty="0"/>
            </a:p>
          </p:txBody>
        </p:sp>
        <p:sp>
          <p:nvSpPr>
            <p:cNvPr id="82967" name="Rectangle 37"/>
            <p:cNvSpPr/>
            <p:nvPr/>
          </p:nvSpPr>
          <p:spPr>
            <a:xfrm>
              <a:off x="1055" y="1824"/>
              <a:ext cx="322"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endParaRPr lang="zh-CN" altLang="en-US" sz="1800" b="1" dirty="0"/>
            </a:p>
          </p:txBody>
        </p:sp>
        <p:sp>
          <p:nvSpPr>
            <p:cNvPr id="82968" name="Rectangle 38"/>
            <p:cNvSpPr/>
            <p:nvPr/>
          </p:nvSpPr>
          <p:spPr>
            <a:xfrm>
              <a:off x="800" y="1824"/>
              <a:ext cx="255" cy="287"/>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buNone/>
              </a:pPr>
              <a:r>
                <a:rPr lang="en-US" altLang="zh-CN" sz="1800" b="1" dirty="0"/>
                <a:t>A</a:t>
              </a:r>
              <a:endParaRPr lang="en-US" altLang="zh-CN" sz="1800" b="1" dirty="0"/>
            </a:p>
          </p:txBody>
        </p:sp>
        <p:sp>
          <p:nvSpPr>
            <p:cNvPr id="82969" name="Line 39"/>
            <p:cNvSpPr/>
            <p:nvPr/>
          </p:nvSpPr>
          <p:spPr>
            <a:xfrm>
              <a:off x="528" y="1824"/>
              <a:ext cx="272" cy="0"/>
            </a:xfrm>
            <a:prstGeom prst="line">
              <a:avLst/>
            </a:prstGeom>
            <a:ln w="12700">
              <a:noFill/>
            </a:ln>
          </p:spPr>
        </p:sp>
        <p:sp>
          <p:nvSpPr>
            <p:cNvPr id="82970" name="Line 40"/>
            <p:cNvSpPr/>
            <p:nvPr/>
          </p:nvSpPr>
          <p:spPr>
            <a:xfrm>
              <a:off x="528" y="3585"/>
              <a:ext cx="272" cy="0"/>
            </a:xfrm>
            <a:prstGeom prst="line">
              <a:avLst/>
            </a:prstGeom>
            <a:ln w="12700">
              <a:noFill/>
            </a:ln>
          </p:spPr>
        </p:sp>
        <p:sp>
          <p:nvSpPr>
            <p:cNvPr id="82971" name="Line 41"/>
            <p:cNvSpPr/>
            <p:nvPr/>
          </p:nvSpPr>
          <p:spPr>
            <a:xfrm>
              <a:off x="528" y="1824"/>
              <a:ext cx="0" cy="287"/>
            </a:xfrm>
            <a:prstGeom prst="line">
              <a:avLst/>
            </a:prstGeom>
            <a:ln w="12700">
              <a:noFill/>
            </a:ln>
          </p:spPr>
        </p:sp>
        <p:sp>
          <p:nvSpPr>
            <p:cNvPr id="82972" name="Line 42"/>
            <p:cNvSpPr/>
            <p:nvPr/>
          </p:nvSpPr>
          <p:spPr>
            <a:xfrm>
              <a:off x="1055" y="1824"/>
              <a:ext cx="0" cy="1761"/>
            </a:xfrm>
            <a:prstGeom prst="line">
              <a:avLst/>
            </a:prstGeom>
            <a:ln w="12700" cap="flat" cmpd="sng">
              <a:solidFill>
                <a:srgbClr val="000000"/>
              </a:solidFill>
              <a:prstDash val="solid"/>
              <a:headEnd type="none" w="med" len="med"/>
              <a:tailEnd type="none" w="med" len="med"/>
            </a:ln>
          </p:spPr>
        </p:sp>
        <p:sp>
          <p:nvSpPr>
            <p:cNvPr id="82973" name="Line 43"/>
            <p:cNvSpPr/>
            <p:nvPr/>
          </p:nvSpPr>
          <p:spPr>
            <a:xfrm>
              <a:off x="1377" y="1824"/>
              <a:ext cx="0" cy="1761"/>
            </a:xfrm>
            <a:prstGeom prst="line">
              <a:avLst/>
            </a:prstGeom>
            <a:ln w="12700" cap="sq" cmpd="sng">
              <a:solidFill>
                <a:srgbClr val="000000"/>
              </a:solidFill>
              <a:prstDash val="solid"/>
              <a:headEnd type="none" w="med" len="med"/>
              <a:tailEnd type="none" w="med" len="med"/>
            </a:ln>
          </p:spPr>
        </p:sp>
        <p:sp>
          <p:nvSpPr>
            <p:cNvPr id="82974" name="Line 44"/>
            <p:cNvSpPr/>
            <p:nvPr/>
          </p:nvSpPr>
          <p:spPr>
            <a:xfrm>
              <a:off x="800" y="1824"/>
              <a:ext cx="0" cy="1761"/>
            </a:xfrm>
            <a:prstGeom prst="line">
              <a:avLst/>
            </a:prstGeom>
            <a:ln w="12700" cap="flat" cmpd="sng">
              <a:solidFill>
                <a:srgbClr val="000000"/>
              </a:solidFill>
              <a:prstDash val="solid"/>
              <a:headEnd type="none" w="med" len="med"/>
              <a:tailEnd type="none" w="med" len="med"/>
            </a:ln>
          </p:spPr>
        </p:sp>
        <p:sp>
          <p:nvSpPr>
            <p:cNvPr id="82975" name="Line 45"/>
            <p:cNvSpPr/>
            <p:nvPr/>
          </p:nvSpPr>
          <p:spPr>
            <a:xfrm>
              <a:off x="800" y="1824"/>
              <a:ext cx="577" cy="0"/>
            </a:xfrm>
            <a:prstGeom prst="line">
              <a:avLst/>
            </a:prstGeom>
            <a:ln w="12700" cap="sq" cmpd="sng">
              <a:solidFill>
                <a:srgbClr val="000000"/>
              </a:solidFill>
              <a:prstDash val="solid"/>
              <a:headEnd type="none" w="med" len="med"/>
              <a:tailEnd type="none" w="med" len="med"/>
            </a:ln>
          </p:spPr>
        </p:sp>
        <p:sp>
          <p:nvSpPr>
            <p:cNvPr id="82976" name="Line 46"/>
            <p:cNvSpPr/>
            <p:nvPr/>
          </p:nvSpPr>
          <p:spPr>
            <a:xfrm>
              <a:off x="528" y="2111"/>
              <a:ext cx="0" cy="287"/>
            </a:xfrm>
            <a:prstGeom prst="line">
              <a:avLst/>
            </a:prstGeom>
            <a:ln w="12700">
              <a:noFill/>
            </a:ln>
          </p:spPr>
        </p:sp>
        <p:sp>
          <p:nvSpPr>
            <p:cNvPr id="82977" name="Line 47"/>
            <p:cNvSpPr/>
            <p:nvPr/>
          </p:nvSpPr>
          <p:spPr>
            <a:xfrm>
              <a:off x="800" y="2111"/>
              <a:ext cx="577" cy="0"/>
            </a:xfrm>
            <a:prstGeom prst="line">
              <a:avLst/>
            </a:prstGeom>
            <a:ln w="12700" cap="flat" cmpd="sng">
              <a:solidFill>
                <a:srgbClr val="000000"/>
              </a:solidFill>
              <a:prstDash val="solid"/>
              <a:headEnd type="none" w="med" len="med"/>
              <a:tailEnd type="none" w="med" len="med"/>
            </a:ln>
          </p:spPr>
        </p:sp>
        <p:sp>
          <p:nvSpPr>
            <p:cNvPr id="82978" name="Line 48"/>
            <p:cNvSpPr/>
            <p:nvPr/>
          </p:nvSpPr>
          <p:spPr>
            <a:xfrm>
              <a:off x="528" y="2398"/>
              <a:ext cx="0" cy="287"/>
            </a:xfrm>
            <a:prstGeom prst="line">
              <a:avLst/>
            </a:prstGeom>
            <a:ln w="12700">
              <a:noFill/>
            </a:ln>
          </p:spPr>
        </p:sp>
        <p:sp>
          <p:nvSpPr>
            <p:cNvPr id="82979" name="Line 49"/>
            <p:cNvSpPr/>
            <p:nvPr/>
          </p:nvSpPr>
          <p:spPr>
            <a:xfrm>
              <a:off x="800" y="2398"/>
              <a:ext cx="577" cy="0"/>
            </a:xfrm>
            <a:prstGeom prst="line">
              <a:avLst/>
            </a:prstGeom>
            <a:ln w="12700" cap="flat" cmpd="sng">
              <a:solidFill>
                <a:srgbClr val="000000"/>
              </a:solidFill>
              <a:prstDash val="solid"/>
              <a:headEnd type="none" w="med" len="med"/>
              <a:tailEnd type="none" w="med" len="med"/>
            </a:ln>
          </p:spPr>
        </p:sp>
        <p:sp>
          <p:nvSpPr>
            <p:cNvPr id="82980" name="Line 50"/>
            <p:cNvSpPr/>
            <p:nvPr/>
          </p:nvSpPr>
          <p:spPr>
            <a:xfrm>
              <a:off x="528" y="2685"/>
              <a:ext cx="0" cy="326"/>
            </a:xfrm>
            <a:prstGeom prst="line">
              <a:avLst/>
            </a:prstGeom>
            <a:ln w="12700">
              <a:noFill/>
            </a:ln>
          </p:spPr>
        </p:sp>
        <p:sp>
          <p:nvSpPr>
            <p:cNvPr id="82981" name="Line 51"/>
            <p:cNvSpPr/>
            <p:nvPr/>
          </p:nvSpPr>
          <p:spPr>
            <a:xfrm>
              <a:off x="800" y="2685"/>
              <a:ext cx="577" cy="0"/>
            </a:xfrm>
            <a:prstGeom prst="line">
              <a:avLst/>
            </a:prstGeom>
            <a:ln w="12700" cap="flat" cmpd="sng">
              <a:solidFill>
                <a:srgbClr val="000000"/>
              </a:solidFill>
              <a:prstDash val="solid"/>
              <a:headEnd type="none" w="med" len="med"/>
              <a:tailEnd type="none" w="med" len="med"/>
            </a:ln>
          </p:spPr>
        </p:sp>
        <p:sp>
          <p:nvSpPr>
            <p:cNvPr id="82982" name="Line 52"/>
            <p:cNvSpPr/>
            <p:nvPr/>
          </p:nvSpPr>
          <p:spPr>
            <a:xfrm>
              <a:off x="528" y="3011"/>
              <a:ext cx="0" cy="287"/>
            </a:xfrm>
            <a:prstGeom prst="line">
              <a:avLst/>
            </a:prstGeom>
            <a:ln w="12700">
              <a:noFill/>
            </a:ln>
          </p:spPr>
        </p:sp>
        <p:sp>
          <p:nvSpPr>
            <p:cNvPr id="82983" name="Line 53"/>
            <p:cNvSpPr/>
            <p:nvPr/>
          </p:nvSpPr>
          <p:spPr>
            <a:xfrm>
              <a:off x="800" y="3011"/>
              <a:ext cx="577" cy="0"/>
            </a:xfrm>
            <a:prstGeom prst="line">
              <a:avLst/>
            </a:prstGeom>
            <a:ln w="12700" cap="flat" cmpd="sng">
              <a:solidFill>
                <a:srgbClr val="000000"/>
              </a:solidFill>
              <a:prstDash val="solid"/>
              <a:headEnd type="none" w="med" len="med"/>
              <a:tailEnd type="none" w="med" len="med"/>
            </a:ln>
          </p:spPr>
        </p:sp>
        <p:sp>
          <p:nvSpPr>
            <p:cNvPr id="82984" name="Line 54"/>
            <p:cNvSpPr/>
            <p:nvPr/>
          </p:nvSpPr>
          <p:spPr>
            <a:xfrm>
              <a:off x="528" y="3298"/>
              <a:ext cx="0" cy="287"/>
            </a:xfrm>
            <a:prstGeom prst="line">
              <a:avLst/>
            </a:prstGeom>
            <a:ln w="12700">
              <a:noFill/>
            </a:ln>
          </p:spPr>
        </p:sp>
        <p:sp>
          <p:nvSpPr>
            <p:cNvPr id="82985" name="Line 55"/>
            <p:cNvSpPr/>
            <p:nvPr/>
          </p:nvSpPr>
          <p:spPr>
            <a:xfrm>
              <a:off x="800" y="3298"/>
              <a:ext cx="577" cy="0"/>
            </a:xfrm>
            <a:prstGeom prst="line">
              <a:avLst/>
            </a:prstGeom>
            <a:ln w="12700" cap="flat" cmpd="sng">
              <a:solidFill>
                <a:srgbClr val="000000"/>
              </a:solidFill>
              <a:prstDash val="solid"/>
              <a:headEnd type="none" w="med" len="med"/>
              <a:tailEnd type="none" w="med" len="med"/>
            </a:ln>
          </p:spPr>
        </p:sp>
        <p:sp>
          <p:nvSpPr>
            <p:cNvPr id="82986" name="Line 56"/>
            <p:cNvSpPr/>
            <p:nvPr/>
          </p:nvSpPr>
          <p:spPr>
            <a:xfrm>
              <a:off x="800" y="3585"/>
              <a:ext cx="577" cy="0"/>
            </a:xfrm>
            <a:prstGeom prst="line">
              <a:avLst/>
            </a:prstGeom>
            <a:ln w="12700" cap="sq" cmpd="sng">
              <a:solidFill>
                <a:srgbClr val="000000"/>
              </a:solidFill>
              <a:prstDash val="solid"/>
              <a:headEnd type="none" w="med" len="med"/>
              <a:tailEnd type="none" w="med" len="med"/>
            </a:ln>
          </p:spPr>
        </p:sp>
        <p:grpSp>
          <p:nvGrpSpPr>
            <p:cNvPr id="82987" name="Group 57"/>
            <p:cNvGrpSpPr/>
            <p:nvPr/>
          </p:nvGrpSpPr>
          <p:grpSpPr>
            <a:xfrm>
              <a:off x="1776" y="1824"/>
              <a:ext cx="720" cy="240"/>
              <a:chOff x="1728" y="1728"/>
              <a:chExt cx="720" cy="240"/>
            </a:xfrm>
          </p:grpSpPr>
          <p:sp>
            <p:nvSpPr>
              <p:cNvPr id="83026" name="Rectangle 58"/>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1</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7" name="Line 59"/>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88" name="Line 60"/>
            <p:cNvSpPr/>
            <p:nvPr/>
          </p:nvSpPr>
          <p:spPr>
            <a:xfrm>
              <a:off x="2304" y="1968"/>
              <a:ext cx="384" cy="0"/>
            </a:xfrm>
            <a:prstGeom prst="line">
              <a:avLst/>
            </a:prstGeom>
            <a:ln w="28575" cap="flat" cmpd="sng">
              <a:solidFill>
                <a:srgbClr val="000000"/>
              </a:solidFill>
              <a:prstDash val="solid"/>
              <a:headEnd type="oval" w="med" len="med"/>
              <a:tailEnd type="triangle" w="med" len="med"/>
            </a:ln>
          </p:spPr>
        </p:sp>
        <p:sp>
          <p:nvSpPr>
            <p:cNvPr id="82989" name="Line 61"/>
            <p:cNvSpPr/>
            <p:nvPr/>
          </p:nvSpPr>
          <p:spPr>
            <a:xfrm>
              <a:off x="1248" y="1968"/>
              <a:ext cx="528" cy="0"/>
            </a:xfrm>
            <a:prstGeom prst="line">
              <a:avLst/>
            </a:prstGeom>
            <a:ln w="28575" cap="flat" cmpd="sng">
              <a:solidFill>
                <a:srgbClr val="000000"/>
              </a:solidFill>
              <a:prstDash val="solid"/>
              <a:headEnd type="oval" w="med" len="med"/>
              <a:tailEnd type="triangle" w="med" len="med"/>
            </a:ln>
          </p:spPr>
        </p:sp>
        <p:grpSp>
          <p:nvGrpSpPr>
            <p:cNvPr id="82990" name="Group 62"/>
            <p:cNvGrpSpPr/>
            <p:nvPr/>
          </p:nvGrpSpPr>
          <p:grpSpPr>
            <a:xfrm>
              <a:off x="2688" y="1776"/>
              <a:ext cx="720" cy="288"/>
              <a:chOff x="2688" y="1680"/>
              <a:chExt cx="720" cy="288"/>
            </a:xfrm>
          </p:grpSpPr>
          <p:sp>
            <p:nvSpPr>
              <p:cNvPr id="83023" name="Rectangle 63"/>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2</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4" name="Line 64"/>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25" name="Text Box 65"/>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nvGrpSpPr>
            <p:cNvPr id="82991" name="Group 66"/>
            <p:cNvGrpSpPr/>
            <p:nvPr/>
          </p:nvGrpSpPr>
          <p:grpSpPr>
            <a:xfrm>
              <a:off x="1776" y="2112"/>
              <a:ext cx="720" cy="240"/>
              <a:chOff x="1728" y="1728"/>
              <a:chExt cx="720" cy="240"/>
            </a:xfrm>
          </p:grpSpPr>
          <p:sp>
            <p:nvSpPr>
              <p:cNvPr id="83021" name="Rectangle 67"/>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0</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2" name="Line 68"/>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2" name="Line 69"/>
            <p:cNvSpPr/>
            <p:nvPr/>
          </p:nvSpPr>
          <p:spPr>
            <a:xfrm>
              <a:off x="2304" y="2256"/>
              <a:ext cx="384" cy="0"/>
            </a:xfrm>
            <a:prstGeom prst="line">
              <a:avLst/>
            </a:prstGeom>
            <a:ln w="28575" cap="flat" cmpd="sng">
              <a:solidFill>
                <a:srgbClr val="000000"/>
              </a:solidFill>
              <a:prstDash val="solid"/>
              <a:headEnd type="oval" w="med" len="med"/>
              <a:tailEnd type="triangle" w="med" len="med"/>
            </a:ln>
          </p:spPr>
        </p:sp>
        <p:sp>
          <p:nvSpPr>
            <p:cNvPr id="82993" name="Line 70"/>
            <p:cNvSpPr/>
            <p:nvPr/>
          </p:nvSpPr>
          <p:spPr>
            <a:xfrm>
              <a:off x="1248" y="2256"/>
              <a:ext cx="528" cy="0"/>
            </a:xfrm>
            <a:prstGeom prst="line">
              <a:avLst/>
            </a:prstGeom>
            <a:ln w="28575" cap="flat" cmpd="sng">
              <a:solidFill>
                <a:srgbClr val="000000"/>
              </a:solidFill>
              <a:prstDash val="solid"/>
              <a:headEnd type="oval" w="med" len="med"/>
              <a:tailEnd type="triangle" w="med" len="med"/>
            </a:ln>
          </p:spPr>
        </p:sp>
        <p:grpSp>
          <p:nvGrpSpPr>
            <p:cNvPr id="82994" name="Group 71"/>
            <p:cNvGrpSpPr/>
            <p:nvPr/>
          </p:nvGrpSpPr>
          <p:grpSpPr>
            <a:xfrm>
              <a:off x="3600" y="2112"/>
              <a:ext cx="720" cy="240"/>
              <a:chOff x="1728" y="1728"/>
              <a:chExt cx="720" cy="240"/>
            </a:xfrm>
          </p:grpSpPr>
          <p:sp>
            <p:nvSpPr>
              <p:cNvPr id="83019" name="Rectangle 72"/>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4</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20" name="Line 73"/>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5" name="Line 74"/>
            <p:cNvSpPr/>
            <p:nvPr/>
          </p:nvSpPr>
          <p:spPr>
            <a:xfrm>
              <a:off x="4128" y="2256"/>
              <a:ext cx="384" cy="0"/>
            </a:xfrm>
            <a:prstGeom prst="line">
              <a:avLst/>
            </a:prstGeom>
            <a:ln w="28575" cap="flat" cmpd="sng">
              <a:solidFill>
                <a:srgbClr val="000000"/>
              </a:solidFill>
              <a:prstDash val="solid"/>
              <a:headEnd type="oval" w="med" len="med"/>
              <a:tailEnd type="triangle" w="med" len="med"/>
            </a:ln>
          </p:spPr>
        </p:sp>
        <p:grpSp>
          <p:nvGrpSpPr>
            <p:cNvPr id="82996" name="Group 75"/>
            <p:cNvGrpSpPr/>
            <p:nvPr/>
          </p:nvGrpSpPr>
          <p:grpSpPr>
            <a:xfrm>
              <a:off x="4512" y="2064"/>
              <a:ext cx="720" cy="288"/>
              <a:chOff x="2688" y="1680"/>
              <a:chExt cx="720" cy="288"/>
            </a:xfrm>
          </p:grpSpPr>
          <p:sp>
            <p:nvSpPr>
              <p:cNvPr id="83016" name="Rectangle 76"/>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5</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7" name="Line 77"/>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8" name="Text Box 78"/>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nvGrpSpPr>
            <p:cNvPr id="82997" name="Group 79"/>
            <p:cNvGrpSpPr/>
            <p:nvPr/>
          </p:nvGrpSpPr>
          <p:grpSpPr>
            <a:xfrm>
              <a:off x="2688" y="2112"/>
              <a:ext cx="720" cy="240"/>
              <a:chOff x="1728" y="1728"/>
              <a:chExt cx="720" cy="240"/>
            </a:xfrm>
          </p:grpSpPr>
          <p:sp>
            <p:nvSpPr>
              <p:cNvPr id="83014" name="Rectangle 80"/>
              <p:cNvSpPr/>
              <p:nvPr/>
            </p:nvSpPr>
            <p:spPr>
              <a:xfrm>
                <a:off x="172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3</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5" name="Line 81"/>
              <p:cNvSpPr/>
              <p:nvPr/>
            </p:nvSpPr>
            <p:spPr>
              <a:xfrm>
                <a:off x="2112" y="1728"/>
                <a:ext cx="0" cy="240"/>
              </a:xfrm>
              <a:prstGeom prst="line">
                <a:avLst/>
              </a:prstGeom>
              <a:ln w="9525" cap="flat" cmpd="sng">
                <a:solidFill>
                  <a:srgbClr val="0000CC"/>
                </a:solidFill>
                <a:prstDash val="solid"/>
                <a:headEnd type="none" w="med" len="med"/>
                <a:tailEnd type="none" w="med" len="med"/>
              </a:ln>
            </p:spPr>
          </p:sp>
        </p:grpSp>
        <p:sp>
          <p:nvSpPr>
            <p:cNvPr id="82998" name="Line 82"/>
            <p:cNvSpPr/>
            <p:nvPr/>
          </p:nvSpPr>
          <p:spPr>
            <a:xfrm>
              <a:off x="3216" y="2256"/>
              <a:ext cx="384" cy="0"/>
            </a:xfrm>
            <a:prstGeom prst="line">
              <a:avLst/>
            </a:prstGeom>
            <a:ln w="28575" cap="flat" cmpd="sng">
              <a:solidFill>
                <a:srgbClr val="000000"/>
              </a:solidFill>
              <a:prstDash val="solid"/>
              <a:headEnd type="oval" w="med" len="med"/>
              <a:tailEnd type="triangle" w="med" len="med"/>
            </a:ln>
          </p:spPr>
        </p:sp>
        <p:sp>
          <p:nvSpPr>
            <p:cNvPr id="82999" name="Line 83"/>
            <p:cNvSpPr/>
            <p:nvPr/>
          </p:nvSpPr>
          <p:spPr>
            <a:xfrm>
              <a:off x="1248" y="2544"/>
              <a:ext cx="528" cy="0"/>
            </a:xfrm>
            <a:prstGeom prst="line">
              <a:avLst/>
            </a:prstGeom>
            <a:ln w="28575" cap="flat" cmpd="sng">
              <a:solidFill>
                <a:srgbClr val="000000"/>
              </a:solidFill>
              <a:prstDash val="solid"/>
              <a:headEnd type="oval" w="med" len="med"/>
              <a:tailEnd type="triangle" w="med" len="med"/>
            </a:ln>
          </p:spPr>
        </p:sp>
        <p:grpSp>
          <p:nvGrpSpPr>
            <p:cNvPr id="83000" name="Group 84"/>
            <p:cNvGrpSpPr/>
            <p:nvPr/>
          </p:nvGrpSpPr>
          <p:grpSpPr>
            <a:xfrm>
              <a:off x="1776" y="2352"/>
              <a:ext cx="720" cy="288"/>
              <a:chOff x="2688" y="1680"/>
              <a:chExt cx="720" cy="288"/>
            </a:xfrm>
          </p:grpSpPr>
          <p:sp>
            <p:nvSpPr>
              <p:cNvPr id="83011" name="Rectangle 85"/>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5</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12" name="Line 86"/>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3" name="Text Box 87"/>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sp>
          <p:nvSpPr>
            <p:cNvPr id="83001" name="Line 88"/>
            <p:cNvSpPr/>
            <p:nvPr/>
          </p:nvSpPr>
          <p:spPr>
            <a:xfrm>
              <a:off x="1248" y="3120"/>
              <a:ext cx="528" cy="0"/>
            </a:xfrm>
            <a:prstGeom prst="line">
              <a:avLst/>
            </a:prstGeom>
            <a:ln w="28575" cap="flat" cmpd="sng">
              <a:solidFill>
                <a:srgbClr val="000000"/>
              </a:solidFill>
              <a:prstDash val="solid"/>
              <a:headEnd type="oval" w="med" len="med"/>
              <a:tailEnd type="triangle" w="med" len="med"/>
            </a:ln>
          </p:spPr>
        </p:sp>
        <p:grpSp>
          <p:nvGrpSpPr>
            <p:cNvPr id="83002" name="Group 89"/>
            <p:cNvGrpSpPr/>
            <p:nvPr/>
          </p:nvGrpSpPr>
          <p:grpSpPr>
            <a:xfrm>
              <a:off x="1776" y="2928"/>
              <a:ext cx="720" cy="288"/>
              <a:chOff x="2688" y="1680"/>
              <a:chExt cx="720" cy="288"/>
            </a:xfrm>
          </p:grpSpPr>
          <p:sp>
            <p:nvSpPr>
              <p:cNvPr id="83008" name="Rectangle 90"/>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3</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09" name="Line 91"/>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10" name="Text Box 92"/>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sp>
          <p:nvSpPr>
            <p:cNvPr id="83003" name="Line 93"/>
            <p:cNvSpPr/>
            <p:nvPr/>
          </p:nvSpPr>
          <p:spPr>
            <a:xfrm>
              <a:off x="1248" y="3408"/>
              <a:ext cx="528" cy="0"/>
            </a:xfrm>
            <a:prstGeom prst="line">
              <a:avLst/>
            </a:prstGeom>
            <a:ln w="28575" cap="flat" cmpd="sng">
              <a:solidFill>
                <a:srgbClr val="000000"/>
              </a:solidFill>
              <a:prstDash val="solid"/>
              <a:headEnd type="oval" w="med" len="med"/>
              <a:tailEnd type="triangle" w="med" len="med"/>
            </a:ln>
          </p:spPr>
        </p:sp>
        <p:grpSp>
          <p:nvGrpSpPr>
            <p:cNvPr id="83004" name="Group 94"/>
            <p:cNvGrpSpPr/>
            <p:nvPr/>
          </p:nvGrpSpPr>
          <p:grpSpPr>
            <a:xfrm>
              <a:off x="1776" y="3216"/>
              <a:ext cx="720" cy="288"/>
              <a:chOff x="2688" y="1680"/>
              <a:chExt cx="720" cy="288"/>
            </a:xfrm>
          </p:grpSpPr>
          <p:sp>
            <p:nvSpPr>
              <p:cNvPr id="83005" name="Rectangle 95"/>
              <p:cNvSpPr/>
              <p:nvPr/>
            </p:nvSpPr>
            <p:spPr>
              <a:xfrm>
                <a:off x="2688" y="1728"/>
                <a:ext cx="720" cy="240"/>
              </a:xfrm>
              <a:prstGeom prst="rect">
                <a:avLst/>
              </a:prstGeom>
              <a:noFill/>
              <a:ln w="28575" cap="flat" cmpd="sng">
                <a:solidFill>
                  <a:srgbClr val="0000CC"/>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 </a:t>
                </a:r>
                <a:r>
                  <a:rPr lang="en-US" altLang="zh-CN" b="1" dirty="0">
                    <a:solidFill>
                      <a:srgbClr val="000000"/>
                    </a:solidFill>
                    <a:latin typeface="Arial" panose="020B0604020202020204" pitchFamily="34" charset="0"/>
                    <a:ea typeface="宋体" panose="02010600030101010101" pitchFamily="2" charset="-122"/>
                  </a:rPr>
                  <a:t>4</a:t>
                </a:r>
                <a:endParaRPr lang="en-US" altLang="zh-CN" b="1" dirty="0">
                  <a:solidFill>
                    <a:srgbClr val="000000"/>
                  </a:solidFill>
                  <a:latin typeface="Arial" panose="020B0604020202020204" pitchFamily="34" charset="0"/>
                  <a:ea typeface="宋体" panose="02010600030101010101" pitchFamily="2" charset="-122"/>
                </a:endParaRPr>
              </a:p>
            </p:txBody>
          </p:sp>
          <p:sp>
            <p:nvSpPr>
              <p:cNvPr id="83006" name="Line 96"/>
              <p:cNvSpPr/>
              <p:nvPr/>
            </p:nvSpPr>
            <p:spPr>
              <a:xfrm>
                <a:off x="3072" y="1728"/>
                <a:ext cx="0" cy="240"/>
              </a:xfrm>
              <a:prstGeom prst="line">
                <a:avLst/>
              </a:prstGeom>
              <a:ln w="9525" cap="flat" cmpd="sng">
                <a:solidFill>
                  <a:srgbClr val="0000CC"/>
                </a:solidFill>
                <a:prstDash val="solid"/>
                <a:headEnd type="none" w="med" len="med"/>
                <a:tailEnd type="none" w="med" len="med"/>
              </a:ln>
            </p:spPr>
          </p:sp>
          <p:sp>
            <p:nvSpPr>
              <p:cNvPr id="83007" name="Text Box 97"/>
              <p:cNvSpPr txBox="1"/>
              <p:nvPr/>
            </p:nvSpPr>
            <p:spPr>
              <a:xfrm>
                <a:off x="3120" y="1680"/>
                <a:ext cx="192"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000000"/>
                    </a:solidFill>
                    <a:latin typeface="Arial" panose="020B0604020202020204" pitchFamily="34" charset="0"/>
                    <a:ea typeface="宋体" panose="02010600030101010101" pitchFamily="2" charset="-122"/>
                  </a:rPr>
                  <a:t>∧</a:t>
                </a:r>
                <a:endParaRPr lang="zh-CN" altLang="en-US" b="1" dirty="0">
                  <a:solidFill>
                    <a:srgbClr val="000000"/>
                  </a:solidFill>
                  <a:latin typeface="Arial" panose="020B0604020202020204" pitchFamily="34"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81346"/>
                                        </p:tgtEl>
                                        <p:attrNameLst>
                                          <p:attrName>style.visibility</p:attrName>
                                        </p:attrNameLst>
                                      </p:cBhvr>
                                      <p:to>
                                        <p:strVal val="visible"/>
                                      </p:to>
                                    </p:set>
                                    <p:anim calcmode="lin" valueType="num">
                                      <p:cBhvr>
                                        <p:cTn id="7" dur="500" fill="hold"/>
                                        <p:tgtEl>
                                          <p:spTgt spid="181346"/>
                                        </p:tgtEl>
                                        <p:attrNameLst>
                                          <p:attrName>ppt_w</p:attrName>
                                        </p:attrNameLst>
                                      </p:cBhvr>
                                      <p:tavLst>
                                        <p:tav tm="0">
                                          <p:val>
                                            <p:strVal val="4*#ppt_w"/>
                                          </p:val>
                                        </p:tav>
                                        <p:tav tm="100000">
                                          <p:val>
                                            <p:strVal val="#ppt_w"/>
                                          </p:val>
                                        </p:tav>
                                      </p:tavLst>
                                    </p:anim>
                                    <p:anim calcmode="lin" valueType="num">
                                      <p:cBhvr>
                                        <p:cTn id="8" dur="500" fill="hold"/>
                                        <p:tgtEl>
                                          <p:spTgt spid="18134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4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5.3.2 </a:t>
            </a:r>
            <a:r>
              <a:rPr lang="zh-CN" altLang="en-US" sz="3600" b="1" dirty="0" smtClean="0">
                <a:solidFill>
                  <a:schemeClr val="bg1"/>
                </a:solidFill>
                <a:latin typeface="微软雅黑" panose="020B0503020204020204" pitchFamily="34" charset="-122"/>
                <a:ea typeface="微软雅黑" panose="020B0503020204020204" pitchFamily="34" charset="-122"/>
              </a:rPr>
              <a:t>遍历应用举例</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4995" name="Rectangle 3"/>
          <p:cNvSpPr>
            <a:spLocks noGrp="1"/>
          </p:cNvSpPr>
          <p:nvPr>
            <p:ph idx="1"/>
          </p:nvPr>
        </p:nvSpPr>
        <p:spPr>
          <a:xfrm>
            <a:off x="947420" y="1471930"/>
            <a:ext cx="10515600" cy="4351655"/>
          </a:xfrm>
        </p:spPr>
        <p:txBody>
          <a:bodyPr vert="horz" wrap="square" lIns="91440" tIns="45720" rIns="91440" bIns="45720" anchor="t"/>
          <a:p>
            <a:pPr marL="457200" indent="-457200" fontAlgn="auto">
              <a:lnSpc>
                <a:spcPct val="125000"/>
              </a:lnSpc>
              <a:buFontTx/>
              <a:buAutoNum type="arabicPeriod"/>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求一条从顶点</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到顶点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的简单路径</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fontAlgn="auto">
              <a:lnSpc>
                <a:spcPct val="125000"/>
              </a:lnSpc>
              <a:buFontTx/>
              <a:buAutoNum type="arabicPeriod"/>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图的点着色问题</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求从顶点</a:t>
            </a:r>
            <a:r>
              <a:rPr lang="en-US" altLang="zh-CN" sz="3600" b="1" dirty="0" smtClean="0">
                <a:solidFill>
                  <a:schemeClr val="bg1"/>
                </a:solidFill>
                <a:latin typeface="微软雅黑" panose="020B0503020204020204" pitchFamily="34" charset="-122"/>
                <a:ea typeface="微软雅黑" panose="020B0503020204020204" pitchFamily="34" charset="-122"/>
              </a:rPr>
              <a:t>V</a:t>
            </a:r>
            <a:r>
              <a:rPr lang="zh-CN" altLang="en-US" sz="3600" b="1" dirty="0" smtClean="0">
                <a:solidFill>
                  <a:schemeClr val="bg1"/>
                </a:solidFill>
                <a:latin typeface="微软雅黑" panose="020B0503020204020204" pitchFamily="34" charset="-122"/>
                <a:ea typeface="微软雅黑" panose="020B0503020204020204" pitchFamily="34" charset="-122"/>
              </a:rPr>
              <a:t>到顶点</a:t>
            </a:r>
            <a:r>
              <a:rPr lang="en-US" altLang="zh-CN" sz="3600" b="1" dirty="0" smtClean="0">
                <a:solidFill>
                  <a:schemeClr val="bg1"/>
                </a:solidFill>
                <a:latin typeface="微软雅黑" panose="020B0503020204020204" pitchFamily="34" charset="-122"/>
                <a:ea typeface="微软雅黑" panose="020B0503020204020204" pitchFamily="34" charset="-122"/>
              </a:rPr>
              <a:t>s</a:t>
            </a:r>
            <a:r>
              <a:rPr lang="zh-CN" altLang="en-US" sz="3600" b="1" dirty="0" smtClean="0">
                <a:solidFill>
                  <a:schemeClr val="bg1"/>
                </a:solidFill>
                <a:latin typeface="微软雅黑" panose="020B0503020204020204" pitchFamily="34" charset="-122"/>
                <a:ea typeface="微软雅黑" panose="020B0503020204020204" pitchFamily="34" charset="-122"/>
              </a:rPr>
              <a:t>的简单路径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6019" name="Rectangle 3"/>
          <p:cNvSpPr>
            <a:spLocks noGrp="1"/>
          </p:cNvSpPr>
          <p:nvPr>
            <p:ph idx="1"/>
          </p:nvPr>
        </p:nvSpPr>
        <p:spPr>
          <a:xfrm>
            <a:off x="654050" y="840740"/>
            <a:ext cx="10515600" cy="4351655"/>
          </a:xfrm>
        </p:spPr>
        <p:txBody>
          <a:bodyPr vert="horz" wrap="square" lIns="91440" tIns="45720" rIns="91440" bIns="45720" anchor="t">
            <a:noAutofit/>
          </a:bodyPr>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例如：求从顶点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的一条简单路径。</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出发进行深度优先搜索遍历。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假设找到的第一个邻接点是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则可能得到的结点访问序列为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b  c  h  d  a  e  k</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i="1"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假设找到的第一个邻接点是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则可能得到的结点访问序列为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b  a  d  h  c  e  k  f  g</a:t>
            </a:r>
            <a:endParaRPr lang="en-US" altLang="zh-CN" sz="2000" i="1"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   该访问序列不存在从顶点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到顶</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   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的简单路径。</a:t>
            </a:r>
            <a:r>
              <a:rPr lang="zh-CN" altLang="en-US" sz="2000" i="1"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i="1" dirty="0">
              <a:solidFill>
                <a:srgbClr val="CC33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6020" name="Picture 35"/>
          <p:cNvPicPr>
            <a:picLocks noChangeAspect="1"/>
          </p:cNvPicPr>
          <p:nvPr/>
        </p:nvPicPr>
        <p:blipFill>
          <a:blip r:embed="rId1"/>
          <a:stretch>
            <a:fillRect/>
          </a:stretch>
        </p:blipFill>
        <p:spPr>
          <a:xfrm>
            <a:off x="6250305" y="1788795"/>
            <a:ext cx="4919345" cy="3972560"/>
          </a:xfrm>
          <a:prstGeom prst="rect">
            <a:avLst/>
          </a:prstGeom>
          <a:noFill/>
          <a:ln w="3175">
            <a:noFill/>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结论</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7043" name="Rectangle 3"/>
          <p:cNvSpPr>
            <a:spLocks noGrp="1"/>
          </p:cNvSpPr>
          <p:nvPr>
            <p:ph idx="1"/>
          </p:nvPr>
        </p:nvSpPr>
        <p:spPr>
          <a:xfrm>
            <a:off x="946785" y="1253490"/>
            <a:ext cx="10515600" cy="4351655"/>
          </a:xfrm>
        </p:spPr>
        <p:txBody>
          <a:bodyPr vert="horz" wrap="square" lIns="91440" tIns="45720" rIns="91440" bIns="45720" anchor="t"/>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若存在路径，则从顶点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出发进行深度优先搜索，必能搜索到顶点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s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遍历过程中搜索到的顶点不一定是路径上的顶点。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由它出发进行的深度优先遍历已经完成的顶点不是路径上的顶点。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程序：教材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P180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a:t>
            </a:r>
            <a:r>
              <a:rPr lang="zh-CN" altLang="en-US" sz="3600" b="1" dirty="0" smtClean="0">
                <a:solidFill>
                  <a:schemeClr val="bg1"/>
                </a:solidFill>
                <a:latin typeface="微软雅黑" panose="020B0503020204020204" pitchFamily="34" charset="-122"/>
                <a:ea typeface="微软雅黑" panose="020B0503020204020204" pitchFamily="34" charset="-122"/>
                <a:sym typeface="+mn-ea"/>
              </a:rPr>
              <a:t>点</a:t>
            </a:r>
            <a:r>
              <a:rPr lang="zh-CN" altLang="en-US" sz="3600" b="1" dirty="0" smtClean="0">
                <a:solidFill>
                  <a:schemeClr val="bg1"/>
                </a:solidFill>
                <a:latin typeface="微软雅黑" panose="020B0503020204020204" pitchFamily="34" charset="-122"/>
                <a:ea typeface="微软雅黑" panose="020B0503020204020204" pitchFamily="34" charset="-122"/>
                <a:sym typeface="+mn-ea"/>
              </a:rPr>
              <a:t>着</a:t>
            </a:r>
            <a:r>
              <a:rPr lang="zh-CN" altLang="en-US" sz="3600" b="1" dirty="0" smtClean="0">
                <a:solidFill>
                  <a:schemeClr val="bg1"/>
                </a:solidFill>
                <a:latin typeface="微软雅黑" panose="020B0503020204020204" pitchFamily="34" charset="-122"/>
                <a:ea typeface="微软雅黑" panose="020B0503020204020204" pitchFamily="34" charset="-122"/>
              </a:rPr>
              <a:t>色问题（不讲）</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8067" name="Rectangle 3"/>
          <p:cNvSpPr>
            <a:spLocks noGrp="1"/>
          </p:cNvSpPr>
          <p:nvPr>
            <p:ph idx="1"/>
          </p:nvPr>
        </p:nvSpPr>
        <p:spPr>
          <a:xfrm>
            <a:off x="486728" y="1006475"/>
            <a:ext cx="11218545" cy="5768340"/>
          </a:xfrm>
        </p:spPr>
        <p:txBody>
          <a:bodyPr vert="horz" wrap="square" lIns="91440" tIns="45720" rIns="91440" bIns="45720" anchor="t">
            <a:normAutofit/>
          </a:bodyPr>
          <a:p>
            <a:pPr fontAlgn="auto">
              <a:lnSpc>
                <a:spcPct val="17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问题描述：如果要给一幅地图着色时，具有公共边界的两个区域要涂上不同的颜色。要确保两个相邻的区域永远没有相同的颜色，一种方法是对每个区域使用不同的颜色，不过这是一种低效的方法，而且在具有许多区域的地图上，可能难以区分相似的颜色。替代的方法是尽量使用不多的颜色来填充地图。于是，提出这样的问题，给一幅地图着色需要的最小颜色数目是多少？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7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如果把地图的每个区域都表示成一个顶点，若两个顶点所表示的区域具有公共边界，则用边连接这两个顶点，因此给地图填充颜色的问题变转化为图的点着色问题了。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7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对简单图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的每个顶点涂上一种颜色，使相邻的顶点涂不同的颜色，称为对图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的一种点着色。若能用</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种颜色给</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点着色，就称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点可着色的。若</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点可着色的，但不是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点可着色的，就称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的点色数为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图的</a:t>
            </a:r>
            <a:r>
              <a:rPr lang="zh-CN" altLang="en-US" sz="3600" b="1" dirty="0" smtClean="0">
                <a:solidFill>
                  <a:schemeClr val="bg1"/>
                </a:solidFill>
                <a:latin typeface="微软雅黑" panose="020B0503020204020204" pitchFamily="34" charset="-122"/>
                <a:ea typeface="微软雅黑" panose="020B0503020204020204" pitchFamily="34" charset="-122"/>
                <a:sym typeface="+mn-ea"/>
              </a:rPr>
              <a:t>点</a:t>
            </a:r>
            <a:r>
              <a:rPr lang="zh-CN" altLang="en-US" sz="3600" b="1" dirty="0" smtClean="0">
                <a:solidFill>
                  <a:schemeClr val="bg1"/>
                </a:solidFill>
                <a:latin typeface="微软雅黑" panose="020B0503020204020204" pitchFamily="34" charset="-122"/>
                <a:ea typeface="微软雅黑" panose="020B0503020204020204" pitchFamily="34" charset="-122"/>
              </a:rPr>
              <a:t>着色问题</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89091" name="Rectangle 3"/>
          <p:cNvSpPr>
            <a:spLocks noGrp="1"/>
          </p:cNvSpPr>
          <p:nvPr>
            <p:ph idx="1"/>
          </p:nvPr>
        </p:nvSpPr>
        <p:spPr>
          <a:xfrm>
            <a:off x="393065" y="1035050"/>
            <a:ext cx="10515600" cy="4966335"/>
          </a:xfrm>
        </p:spPr>
        <p:txBody>
          <a:bodyPr vert="horz" wrap="square" lIns="91440" tIns="45720" rIns="91440" bIns="45720" anchor="t">
            <a:normAutofit/>
          </a:bodyPr>
          <a:p>
            <a:pPr fontAlgn="auto">
              <a:lnSpc>
                <a:spcPct val="17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解决方法：图的点着色问题的解决，在这儿需要借助广度优先搜索遍历的方法。首先，计算出图中每个顶点的度，并以度递减的顺序列出顶点序列</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使得</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d(v1)≥d(v2)≥„≥d(vn)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。把颜色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指定给</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和序列中与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不相邻的下一个顶点（若存在这样的顶点），并且继续指定给每个在序列中与已经指定了颜色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的顶点不相邻的顶点。然后把颜色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指定给序列中还没有着色的第一个顶点，并继续把颜色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指定给那些在序列中还没有着色且与已经指定了颜色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的顶点不相邻的顶点。若还有未着色的顶点，则指定颜色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给序列中还没有着色的第一个顶点，并继续把颜色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指定给那些在序列中还没有着色且与已经指定了颜色</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的顶点不相邻的顶点。继续这个过程，直至所有的顶点都有着色为止。</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5.3.3 </a:t>
            </a:r>
            <a:r>
              <a:rPr lang="zh-CN" altLang="en-US" sz="3600" b="1" dirty="0" smtClean="0">
                <a:solidFill>
                  <a:schemeClr val="bg1"/>
                </a:solidFill>
                <a:latin typeface="微软雅黑" panose="020B0503020204020204" pitchFamily="34" charset="-122"/>
                <a:ea typeface="微软雅黑" panose="020B0503020204020204" pitchFamily="34" charset="-122"/>
              </a:rPr>
              <a:t>图的连通性</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0115" name="Rectangle 3"/>
          <p:cNvSpPr>
            <a:spLocks noGrp="1"/>
          </p:cNvSpPr>
          <p:nvPr>
            <p:ph idx="1"/>
          </p:nvPr>
        </p:nvSpPr>
        <p:spPr>
          <a:xfrm>
            <a:off x="635000" y="1061720"/>
            <a:ext cx="10515600" cy="5132705"/>
          </a:xfrm>
        </p:spPr>
        <p:txBody>
          <a:bodyPr vert="horz" wrap="square" lIns="91440" tIns="45720" rIns="91440" bIns="45720" anchor="t">
            <a:normAutofit lnSpcReduction="20000"/>
          </a:bodyPr>
          <a:p>
            <a:pPr fontAlgn="auto">
              <a:lnSpc>
                <a:spcPct val="15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是无向图，对于连通图，从图中任一顶点出发，通过调用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DFS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或者</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BFS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，可访问到图中所有顶点。因此，可通过此种方法检查是否有未被访问的顶点，从而判断图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的连通性。对于非连通图，其</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连通分量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可以通过还未被访问的顶点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反复调用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DFS(</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或者</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BFS(</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来得到，每次从新的起点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出发搜索得到的顶点访问序列恰为其各个连通分量中的顶点集，这些顶点集分别加上原图中所有关联这些顶点的边，便构成了非连通图的各个连通分量。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5000"/>
              </a:lnSpc>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生成树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是无向连通图，显然，从图中任一顶点出发遍历图时，遍历过程中经过的所有的边和图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中所有顶点一起构成连通图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的极小连通子图</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深度优先生成树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由深度优先搜索得到的生成树。</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广度优先生成树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由广度优先搜索得到的生成树。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5.4 </a:t>
            </a:r>
            <a:r>
              <a:rPr lang="zh-CN" altLang="en-US" sz="3600" b="1" dirty="0" smtClean="0">
                <a:solidFill>
                  <a:schemeClr val="bg1"/>
                </a:solidFill>
                <a:latin typeface="微软雅黑" panose="020B0503020204020204" pitchFamily="34" charset="-122"/>
                <a:ea typeface="微软雅黑" panose="020B0503020204020204" pitchFamily="34" charset="-122"/>
              </a:rPr>
              <a:t>最小生成树的性质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1139" name="内容占位符 3"/>
          <p:cNvSpPr>
            <a:spLocks noGrp="1"/>
          </p:cNvSpPr>
          <p:nvPr>
            <p:ph idx="1"/>
          </p:nvPr>
        </p:nvSpPr>
        <p:spPr>
          <a:xfrm>
            <a:off x="708660" y="1179830"/>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问题：假设要在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个城市之间建立通讯联络网，则连通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个城市只需要修建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条线路，如何在最节省经费的前提下建立这个通讯网？</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该问题等价于：</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构造网的一棵最小生成树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 </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 </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条带权的边中选取 </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n-1 </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条边（不构成回路），使“权值之和”为最小。</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两种算法：</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算法一：</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Prim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（普里姆）算法</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算法二：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Kruskal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（克鲁斯卡尔）算法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en-US" dirty="0"/>
          </a:p>
          <a:p>
            <a:pPr>
              <a:buNone/>
            </a:pPr>
            <a:endParaRPr lang="zh-CN" alt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最小生成树的性质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2163" name="内容占位符 3"/>
          <p:cNvSpPr>
            <a:spLocks noGrp="1"/>
          </p:cNvSpPr>
          <p:nvPr>
            <p:ph idx="1"/>
          </p:nvPr>
        </p:nvSpPr>
        <p:spPr>
          <a:xfrm>
            <a:off x="777875" y="1282065"/>
            <a:ext cx="10233660" cy="4876800"/>
          </a:xfrm>
        </p:spPr>
        <p:txBody>
          <a:bodyPr vert="horz" wrap="square" lIns="91440" tIns="45720" rIns="91440" bIns="45720" anchor="t"/>
          <a:p>
            <a:pPr fontAlgn="auto">
              <a:lnSpc>
                <a:spcPct val="125000"/>
              </a:lnSpc>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MST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性质：设</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是一个连通网，</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是顶点集</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的一个非空子集。若</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是具有最小权值的边，其中</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V-U</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，则必存在一棵包含边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u</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的最小生成树。</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2165" name="Picture 2"/>
          <p:cNvPicPr>
            <a:picLocks noChangeAspect="1"/>
          </p:cNvPicPr>
          <p:nvPr/>
        </p:nvPicPr>
        <p:blipFill>
          <a:blip r:embed="rId1"/>
          <a:stretch>
            <a:fillRect/>
          </a:stretch>
        </p:blipFill>
        <p:spPr>
          <a:xfrm>
            <a:off x="5968365" y="1955165"/>
            <a:ext cx="219075" cy="219075"/>
          </a:xfrm>
          <a:prstGeom prst="rect">
            <a:avLst/>
          </a:prstGeom>
          <a:noFill/>
          <a:ln w="3175">
            <a:noFill/>
          </a:ln>
        </p:spPr>
      </p:pic>
      <p:pic>
        <p:nvPicPr>
          <p:cNvPr id="3" name="Picture 2"/>
          <p:cNvPicPr>
            <a:picLocks noChangeAspect="1"/>
          </p:cNvPicPr>
          <p:nvPr/>
        </p:nvPicPr>
        <p:blipFill>
          <a:blip r:embed="rId1"/>
          <a:stretch>
            <a:fillRect/>
          </a:stretch>
        </p:blipFill>
        <p:spPr>
          <a:xfrm>
            <a:off x="7028180" y="1955165"/>
            <a:ext cx="219075" cy="219075"/>
          </a:xfrm>
          <a:prstGeom prst="rect">
            <a:avLst/>
          </a:prstGeom>
          <a:noFill/>
          <a:ln w="3175">
            <a:noFill/>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3187" name="内容占位符 2"/>
          <p:cNvSpPr>
            <a:spLocks noGrp="1"/>
          </p:cNvSpPr>
          <p:nvPr>
            <p:ph idx="1"/>
          </p:nvPr>
        </p:nvSpPr>
        <p:spPr>
          <a:xfrm>
            <a:off x="838200" y="1471930"/>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基本思想：</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取图中任意一个顶点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作为生成树的根，之后往生成树上添加新的顶点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。在添加的顶点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和已经在生成树上的顶点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之间必定存在一条边，并且该边的权值在所有连通顶点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w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之间的边中取值最小。之后继续往生成树上添加边，直至生成树上含有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条边为止。</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4211" name="内容占位符 2"/>
          <p:cNvSpPr>
            <a:spLocks noGrp="1"/>
          </p:cNvSpPr>
          <p:nvPr>
            <p:ph idx="1"/>
          </p:nvPr>
        </p:nvSpPr>
        <p:spPr>
          <a:xfrm>
            <a:off x="974090" y="1471930"/>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处理过程：</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一般情况下所添加的顶点应满足下列在生成树的构造过程中，图中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个顶点分属两个集合：已落在生成树上的顶点集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和尚未落在生成树上的顶点集</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，则应在所有连通</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中顶点和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V-U</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中顶点的边中选取权值最小的边。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AutoShape 4"/>
          <p:cNvSpPr/>
          <p:nvPr/>
        </p:nvSpPr>
        <p:spPr>
          <a:xfrm>
            <a:off x="4145280" y="4203700"/>
            <a:ext cx="1371600" cy="1600200"/>
          </a:xfrm>
          <a:prstGeom prst="roundRect">
            <a:avLst>
              <a:gd name="adj" fmla="val 16667"/>
            </a:avLst>
          </a:prstGeom>
          <a:noFill/>
          <a:ln w="12700" cap="sq" cmpd="sng">
            <a:solidFill>
              <a:srgbClr val="333399"/>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3" name="Oval 5"/>
          <p:cNvSpPr/>
          <p:nvPr/>
        </p:nvSpPr>
        <p:spPr>
          <a:xfrm>
            <a:off x="6888480" y="4051300"/>
            <a:ext cx="1524000" cy="1981200"/>
          </a:xfrm>
          <a:prstGeom prst="ellipse">
            <a:avLst/>
          </a:prstGeom>
          <a:noFill/>
          <a:ln w="12700" cap="sq" cmpd="sng">
            <a:solidFill>
              <a:srgbClr val="00008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6" name="Oval 9"/>
          <p:cNvSpPr/>
          <p:nvPr/>
        </p:nvSpPr>
        <p:spPr>
          <a:xfrm>
            <a:off x="4831080" y="4356100"/>
            <a:ext cx="304800" cy="304800"/>
          </a:xfrm>
          <a:prstGeom prst="ellipse">
            <a:avLst/>
          </a:prstGeom>
          <a:solidFill>
            <a:srgbClr val="FFFF99"/>
          </a:solidFill>
          <a:ln w="127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8" name="Oval 10"/>
          <p:cNvSpPr/>
          <p:nvPr/>
        </p:nvSpPr>
        <p:spPr>
          <a:xfrm>
            <a:off x="4297680" y="4813300"/>
            <a:ext cx="304800" cy="304800"/>
          </a:xfrm>
          <a:prstGeom prst="ellipse">
            <a:avLst/>
          </a:prstGeom>
          <a:solidFill>
            <a:srgbClr val="FFFF99"/>
          </a:solidFill>
          <a:ln w="127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 name="Oval 11"/>
          <p:cNvSpPr/>
          <p:nvPr/>
        </p:nvSpPr>
        <p:spPr>
          <a:xfrm>
            <a:off x="4983480" y="5346700"/>
            <a:ext cx="304800" cy="304800"/>
          </a:xfrm>
          <a:prstGeom prst="ellipse">
            <a:avLst/>
          </a:prstGeom>
          <a:solidFill>
            <a:srgbClr val="FFFF99"/>
          </a:solidFill>
          <a:ln w="127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0" name="Oval 13"/>
          <p:cNvSpPr/>
          <p:nvPr/>
        </p:nvSpPr>
        <p:spPr>
          <a:xfrm>
            <a:off x="7421880" y="4203700"/>
            <a:ext cx="304800" cy="304800"/>
          </a:xfrm>
          <a:prstGeom prst="ellipse">
            <a:avLst/>
          </a:prstGeom>
          <a:solidFill>
            <a:srgbClr val="CCFFCC"/>
          </a:solidFill>
          <a:ln w="12700"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1" name="Oval 14"/>
          <p:cNvSpPr/>
          <p:nvPr/>
        </p:nvSpPr>
        <p:spPr>
          <a:xfrm>
            <a:off x="7879080" y="4584700"/>
            <a:ext cx="304800" cy="304800"/>
          </a:xfrm>
          <a:prstGeom prst="ellipse">
            <a:avLst/>
          </a:prstGeom>
          <a:solidFill>
            <a:srgbClr val="CCFFCC"/>
          </a:solidFill>
          <a:ln w="12700"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 name="Oval 15"/>
          <p:cNvSpPr/>
          <p:nvPr/>
        </p:nvSpPr>
        <p:spPr>
          <a:xfrm>
            <a:off x="7498080" y="5575300"/>
            <a:ext cx="304800" cy="304800"/>
          </a:xfrm>
          <a:prstGeom prst="ellipse">
            <a:avLst/>
          </a:prstGeom>
          <a:solidFill>
            <a:srgbClr val="CCFFCC"/>
          </a:solidFill>
          <a:ln w="12700"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4" name="Oval 16"/>
          <p:cNvSpPr/>
          <p:nvPr/>
        </p:nvSpPr>
        <p:spPr>
          <a:xfrm>
            <a:off x="7193280" y="4813300"/>
            <a:ext cx="304800" cy="304800"/>
          </a:xfrm>
          <a:prstGeom prst="ellipse">
            <a:avLst/>
          </a:prstGeom>
          <a:solidFill>
            <a:srgbClr val="CCFFCC"/>
          </a:solidFill>
          <a:ln w="12700"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 name="Oval 17"/>
          <p:cNvSpPr/>
          <p:nvPr/>
        </p:nvSpPr>
        <p:spPr>
          <a:xfrm>
            <a:off x="7879080" y="5118100"/>
            <a:ext cx="304800" cy="304800"/>
          </a:xfrm>
          <a:prstGeom prst="ellipse">
            <a:avLst/>
          </a:prstGeom>
          <a:solidFill>
            <a:srgbClr val="CCFFCC"/>
          </a:solidFill>
          <a:ln w="12700"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6" name="Line 18"/>
          <p:cNvSpPr/>
          <p:nvPr/>
        </p:nvSpPr>
        <p:spPr>
          <a:xfrm flipV="1">
            <a:off x="5212080" y="4356100"/>
            <a:ext cx="2209800" cy="152400"/>
          </a:xfrm>
          <a:prstGeom prst="line">
            <a:avLst/>
          </a:prstGeom>
          <a:ln w="12700" cap="sq" cmpd="sng">
            <a:solidFill>
              <a:schemeClr val="tx2"/>
            </a:solidFill>
            <a:prstDash val="solid"/>
            <a:headEnd type="none" w="sm" len="sm"/>
            <a:tailEnd type="none" w="sm" len="sm"/>
          </a:ln>
        </p:spPr>
      </p:sp>
      <p:sp>
        <p:nvSpPr>
          <p:cNvPr id="17" name="Line 19"/>
          <p:cNvSpPr/>
          <p:nvPr/>
        </p:nvSpPr>
        <p:spPr>
          <a:xfrm>
            <a:off x="4602480" y="4965700"/>
            <a:ext cx="3276600" cy="304800"/>
          </a:xfrm>
          <a:prstGeom prst="line">
            <a:avLst/>
          </a:prstGeom>
          <a:ln w="12700" cap="sq" cmpd="sng">
            <a:solidFill>
              <a:schemeClr val="tx2"/>
            </a:solidFill>
            <a:prstDash val="solid"/>
            <a:headEnd type="none" w="sm" len="sm"/>
            <a:tailEnd type="none" w="sm" len="sm"/>
          </a:ln>
        </p:spPr>
      </p:sp>
      <p:sp>
        <p:nvSpPr>
          <p:cNvPr id="18" name="Line 20"/>
          <p:cNvSpPr/>
          <p:nvPr/>
        </p:nvSpPr>
        <p:spPr>
          <a:xfrm>
            <a:off x="5288280" y="5499100"/>
            <a:ext cx="2209800" cy="228600"/>
          </a:xfrm>
          <a:prstGeom prst="line">
            <a:avLst/>
          </a:prstGeom>
          <a:ln w="12700" cap="sq" cmpd="sng">
            <a:solidFill>
              <a:schemeClr val="tx2"/>
            </a:solidFill>
            <a:prstDash val="solid"/>
            <a:headEnd type="none" w="sm" len="sm"/>
            <a:tailEnd type="none" w="sm" len="sm"/>
          </a:ln>
        </p:spPr>
      </p:sp>
      <p:sp>
        <p:nvSpPr>
          <p:cNvPr id="19" name="Line 21"/>
          <p:cNvSpPr/>
          <p:nvPr/>
        </p:nvSpPr>
        <p:spPr>
          <a:xfrm flipV="1">
            <a:off x="5288280" y="4965700"/>
            <a:ext cx="1905000" cy="533400"/>
          </a:xfrm>
          <a:prstGeom prst="line">
            <a:avLst/>
          </a:prstGeom>
          <a:ln w="12700" cap="sq" cmpd="sng">
            <a:solidFill>
              <a:schemeClr val="tx2"/>
            </a:solidFill>
            <a:prstDash val="solid"/>
            <a:headEnd type="none" w="sm" len="sm"/>
            <a:tailEnd type="none" w="sm" len="sm"/>
          </a:ln>
        </p:spPr>
      </p:sp>
      <p:sp>
        <p:nvSpPr>
          <p:cNvPr id="20" name="Line 22"/>
          <p:cNvSpPr/>
          <p:nvPr/>
        </p:nvSpPr>
        <p:spPr>
          <a:xfrm>
            <a:off x="5135880" y="4508500"/>
            <a:ext cx="2743200" cy="228600"/>
          </a:xfrm>
          <a:prstGeom prst="line">
            <a:avLst/>
          </a:prstGeom>
          <a:ln w="12700" cap="sq" cmpd="sng">
            <a:solidFill>
              <a:schemeClr val="tx2"/>
            </a:solidFill>
            <a:prstDash val="solid"/>
            <a:headEnd type="none" w="sm" len="sm"/>
            <a:tailEnd type="none" w="sm" len="sm"/>
          </a:ln>
        </p:spPr>
      </p:sp>
      <p:sp>
        <p:nvSpPr>
          <p:cNvPr id="21" name="Line 23"/>
          <p:cNvSpPr/>
          <p:nvPr/>
        </p:nvSpPr>
        <p:spPr>
          <a:xfrm flipV="1">
            <a:off x="4602480" y="4432300"/>
            <a:ext cx="2819400" cy="533400"/>
          </a:xfrm>
          <a:prstGeom prst="line">
            <a:avLst/>
          </a:prstGeom>
          <a:ln w="12700" cap="sq" cmpd="sng">
            <a:solidFill>
              <a:schemeClr val="tx2"/>
            </a:solidFill>
            <a:prstDash val="solid"/>
            <a:headEnd type="none" w="sm" len="sm"/>
            <a:tailEnd type="none" w="sm" len="sm"/>
          </a:ln>
        </p:spPr>
      </p:sp>
      <p:sp>
        <p:nvSpPr>
          <p:cNvPr id="22" name="Line 24"/>
          <p:cNvSpPr/>
          <p:nvPr/>
        </p:nvSpPr>
        <p:spPr>
          <a:xfrm>
            <a:off x="5135880" y="4584700"/>
            <a:ext cx="2057400" cy="381000"/>
          </a:xfrm>
          <a:prstGeom prst="line">
            <a:avLst/>
          </a:prstGeom>
          <a:ln w="12700" cap="sq" cmpd="sng">
            <a:solidFill>
              <a:schemeClr val="tx2"/>
            </a:solidFill>
            <a:prstDash val="solid"/>
            <a:headEnd type="none" w="sm" len="sm"/>
            <a:tailEnd type="none" w="sm" len="sm"/>
          </a:ln>
        </p:spPr>
      </p:sp>
      <p:sp>
        <p:nvSpPr>
          <p:cNvPr id="23" name="Line 25"/>
          <p:cNvSpPr/>
          <p:nvPr/>
        </p:nvSpPr>
        <p:spPr>
          <a:xfrm>
            <a:off x="5135880" y="4584700"/>
            <a:ext cx="2057400" cy="381000"/>
          </a:xfrm>
          <a:prstGeom prst="line">
            <a:avLst/>
          </a:prstGeom>
          <a:ln w="38100" cap="sq" cmpd="sng">
            <a:solidFill>
              <a:srgbClr val="CC0000"/>
            </a:solidFill>
            <a:prstDash val="soli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8"/>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3"/>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0"/>
                                        </p:tgtEl>
                                        <p:attrNameLst>
                                          <p:attrName>style.visibility</p:attrName>
                                        </p:attrNameLst>
                                      </p:cBhvr>
                                      <p:to>
                                        <p:strVal val="visible"/>
                                      </p:to>
                                    </p:se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11"/>
                                        </p:tgtEl>
                                        <p:attrNameLst>
                                          <p:attrName>style.visibility</p:attrName>
                                        </p:attrNameLst>
                                      </p:cBhvr>
                                      <p:to>
                                        <p:strVal val="visible"/>
                                      </p:to>
                                    </p:set>
                                  </p:childTnLst>
                                </p:cTn>
                              </p:par>
                            </p:childTnLst>
                          </p:cTn>
                        </p:par>
                        <p:par>
                          <p:cTn id="26" fill="hold">
                            <p:stCondLst>
                              <p:cond delay="1500"/>
                            </p:stCondLst>
                            <p:childTnLst>
                              <p:par>
                                <p:cTn id="27" presetID="1" presetClass="entr" presetSubtype="0" fill="hold" grpId="0" nodeType="afterEffect">
                                  <p:stCondLst>
                                    <p:cond delay="0"/>
                                  </p:stCondLst>
                                  <p:childTnLst>
                                    <p:set>
                                      <p:cBhvr>
                                        <p:cTn id="28" dur="1" fill="hold">
                                          <p:stCondLst>
                                            <p:cond delay="499"/>
                                          </p:stCondLst>
                                        </p:cTn>
                                        <p:tgtEl>
                                          <p:spTgt spid="12"/>
                                        </p:tgtEl>
                                        <p:attrNameLst>
                                          <p:attrName>style.visibility</p:attrName>
                                        </p:attrNameLst>
                                      </p:cBhvr>
                                      <p:to>
                                        <p:strVal val="visible"/>
                                      </p:to>
                                    </p:set>
                                  </p:childTnLst>
                                </p:cTn>
                              </p:par>
                            </p:childTnLst>
                          </p:cTn>
                        </p:par>
                        <p:par>
                          <p:cTn id="29" fill="hold">
                            <p:stCondLst>
                              <p:cond delay="2000"/>
                            </p:stCondLst>
                            <p:childTnLst>
                              <p:par>
                                <p:cTn id="30" presetID="1" presetClass="entr" presetSubtype="0" fill="hold" grpId="0" nodeType="afterEffect">
                                  <p:stCondLst>
                                    <p:cond delay="0"/>
                                  </p:stCondLst>
                                  <p:childTnLst>
                                    <p:set>
                                      <p:cBhvr>
                                        <p:cTn id="31" dur="1" fill="hold">
                                          <p:stCondLst>
                                            <p:cond delay="499"/>
                                          </p:stCondLst>
                                        </p:cTn>
                                        <p:tgtEl>
                                          <p:spTgt spid="14"/>
                                        </p:tgtEl>
                                        <p:attrNameLst>
                                          <p:attrName>style.visibility</p:attrName>
                                        </p:attrNameLst>
                                      </p:cBhvr>
                                      <p:to>
                                        <p:strVal val="visible"/>
                                      </p:to>
                                    </p:set>
                                  </p:childTnLst>
                                </p:cTn>
                              </p:par>
                            </p:childTnLst>
                          </p:cTn>
                        </p:par>
                        <p:par>
                          <p:cTn id="32" fill="hold">
                            <p:stCondLst>
                              <p:cond delay="2500"/>
                            </p:stCondLst>
                            <p:childTnLst>
                              <p:par>
                                <p:cTn id="33" presetID="1" presetClass="entr" presetSubtype="0" fill="hold" grpId="0" nodeType="afterEffect">
                                  <p:stCondLst>
                                    <p:cond delay="0"/>
                                  </p:stCondLst>
                                  <p:childTnLst>
                                    <p:set>
                                      <p:cBhvr>
                                        <p:cTn id="34" dur="1" fill="hold">
                                          <p:stCondLst>
                                            <p:cond delay="499"/>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6"/>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499"/>
                                          </p:stCondLst>
                                        </p:cTn>
                                        <p:tgtEl>
                                          <p:spTgt spid="17"/>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18"/>
                                        </p:tgtEl>
                                        <p:attrNameLst>
                                          <p:attrName>style.visibility</p:attrName>
                                        </p:attrNameLst>
                                      </p:cBhvr>
                                      <p:to>
                                        <p:strVal val="visible"/>
                                      </p:to>
                                    </p:set>
                                  </p:childTnLst>
                                </p:cTn>
                              </p:par>
                            </p:childTnLst>
                          </p:cTn>
                        </p:par>
                        <p:par>
                          <p:cTn id="45" fill="hold">
                            <p:stCondLst>
                              <p:cond delay="1500"/>
                            </p:stCondLst>
                            <p:childTnLst>
                              <p:par>
                                <p:cTn id="46" presetID="1" presetClass="entr" presetSubtype="0" fill="hold" nodeType="afterEffect">
                                  <p:stCondLst>
                                    <p:cond delay="0"/>
                                  </p:stCondLst>
                                  <p:childTnLst>
                                    <p:set>
                                      <p:cBhvr>
                                        <p:cTn id="47" dur="1" fill="hold">
                                          <p:stCondLst>
                                            <p:cond delay="499"/>
                                          </p:stCondLst>
                                        </p:cTn>
                                        <p:tgtEl>
                                          <p:spTgt spid="19"/>
                                        </p:tgtEl>
                                        <p:attrNameLst>
                                          <p:attrName>style.visibility</p:attrName>
                                        </p:attrNameLst>
                                      </p:cBhvr>
                                      <p:to>
                                        <p:strVal val="visible"/>
                                      </p:to>
                                    </p:set>
                                  </p:childTnLst>
                                </p:cTn>
                              </p:par>
                            </p:childTnLst>
                          </p:cTn>
                        </p:par>
                        <p:par>
                          <p:cTn id="48" fill="hold">
                            <p:stCondLst>
                              <p:cond delay="2000"/>
                            </p:stCondLst>
                            <p:childTnLst>
                              <p:par>
                                <p:cTn id="49" presetID="1" presetClass="entr" presetSubtype="0" fill="hold" nodeType="afterEffect">
                                  <p:stCondLst>
                                    <p:cond delay="0"/>
                                  </p:stCondLst>
                                  <p:childTnLst>
                                    <p:set>
                                      <p:cBhvr>
                                        <p:cTn id="50" dur="1" fill="hold">
                                          <p:stCondLst>
                                            <p:cond delay="499"/>
                                          </p:stCondLst>
                                        </p:cTn>
                                        <p:tgtEl>
                                          <p:spTgt spid="20"/>
                                        </p:tgtEl>
                                        <p:attrNameLst>
                                          <p:attrName>style.visibility</p:attrName>
                                        </p:attrNameLst>
                                      </p:cBhvr>
                                      <p:to>
                                        <p:strVal val="visible"/>
                                      </p:to>
                                    </p:set>
                                  </p:childTnLst>
                                </p:cTn>
                              </p:par>
                            </p:childTnLst>
                          </p:cTn>
                        </p:par>
                        <p:par>
                          <p:cTn id="51" fill="hold">
                            <p:stCondLst>
                              <p:cond delay="2500"/>
                            </p:stCondLst>
                            <p:childTnLst>
                              <p:par>
                                <p:cTn id="52" presetID="1" presetClass="entr" presetSubtype="0" fill="hold" nodeType="afterEffect">
                                  <p:stCondLst>
                                    <p:cond delay="0"/>
                                  </p:stCondLst>
                                  <p:childTnLst>
                                    <p:set>
                                      <p:cBhvr>
                                        <p:cTn id="53" dur="1" fill="hold">
                                          <p:stCondLst>
                                            <p:cond delay="499"/>
                                          </p:stCondLst>
                                        </p:cTn>
                                        <p:tgtEl>
                                          <p:spTgt spid="21"/>
                                        </p:tgtEl>
                                        <p:attrNameLst>
                                          <p:attrName>style.visibility</p:attrName>
                                        </p:attrNameLst>
                                      </p:cBhvr>
                                      <p:to>
                                        <p:strVal val="visible"/>
                                      </p:to>
                                    </p:set>
                                  </p:childTnLst>
                                </p:cTn>
                              </p:par>
                            </p:childTnLst>
                          </p:cTn>
                        </p:par>
                        <p:par>
                          <p:cTn id="54" fill="hold">
                            <p:stCondLst>
                              <p:cond delay="3000"/>
                            </p:stCondLst>
                            <p:childTnLst>
                              <p:par>
                                <p:cTn id="55" presetID="1" presetClass="entr" presetSubtype="0" fill="hold" nodeType="afterEffect">
                                  <p:stCondLst>
                                    <p:cond delay="0"/>
                                  </p:stCondLst>
                                  <p:childTnLst>
                                    <p:set>
                                      <p:cBhvr>
                                        <p:cTn id="56" dur="1" fill="hold">
                                          <p:stCondLst>
                                            <p:cond delay="499"/>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7" presetClass="entr" presetSubtype="8"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500" fill="hold"/>
                                        <p:tgtEl>
                                          <p:spTgt spid="23"/>
                                        </p:tgtEl>
                                        <p:attrNameLst>
                                          <p:attrName>ppt_x</p:attrName>
                                        </p:attrNameLst>
                                      </p:cBhvr>
                                      <p:tavLst>
                                        <p:tav tm="0">
                                          <p:val>
                                            <p:strVal val="#ppt_x-#ppt_w/2"/>
                                          </p:val>
                                        </p:tav>
                                        <p:tav tm="100000">
                                          <p:val>
                                            <p:strVal val="#ppt_x"/>
                                          </p:val>
                                        </p:tav>
                                      </p:tavLst>
                                    </p:anim>
                                    <p:anim calcmode="lin" valueType="num">
                                      <p:cBhvr>
                                        <p:cTn id="62" dur="500" fill="hold"/>
                                        <p:tgtEl>
                                          <p:spTgt spid="23"/>
                                        </p:tgtEl>
                                        <p:attrNameLst>
                                          <p:attrName>ppt_y</p:attrName>
                                        </p:attrNameLst>
                                      </p:cBhvr>
                                      <p:tavLst>
                                        <p:tav tm="0">
                                          <p:val>
                                            <p:strVal val="#ppt_y"/>
                                          </p:val>
                                        </p:tav>
                                        <p:tav tm="100000">
                                          <p:val>
                                            <p:strVal val="#ppt_y"/>
                                          </p:val>
                                        </p:tav>
                                      </p:tavLst>
                                    </p:anim>
                                    <p:anim calcmode="lin" valueType="num">
                                      <p:cBhvr>
                                        <p:cTn id="63" dur="500" fill="hold"/>
                                        <p:tgtEl>
                                          <p:spTgt spid="23"/>
                                        </p:tgtEl>
                                        <p:attrNameLst>
                                          <p:attrName>ppt_w</p:attrName>
                                        </p:attrNameLst>
                                      </p:cBhvr>
                                      <p:tavLst>
                                        <p:tav tm="0">
                                          <p:val>
                                            <p:fltVal val="0.000000"/>
                                          </p:val>
                                        </p:tav>
                                        <p:tav tm="100000">
                                          <p:val>
                                            <p:strVal val="#ppt_w"/>
                                          </p:val>
                                        </p:tav>
                                      </p:tavLst>
                                    </p:anim>
                                    <p:anim calcmode="lin" valueType="num">
                                      <p:cBhvr>
                                        <p:cTn id="64" dur="5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 grpId="0" bldLvl="0" animBg="1"/>
      <p:bldP spid="6" grpId="0" bldLvl="0" animBg="1"/>
      <p:bldP spid="8" grpId="0" bldLvl="0" animBg="1"/>
      <p:bldP spid="9" grpId="0" bldLvl="0" animBg="1"/>
      <p:bldP spid="10" grpId="0" bldLvl="0" animBg="1"/>
      <p:bldP spid="11" grpId="0" bldLvl="0" animBg="1"/>
      <p:bldP spid="12" grpId="0" bldLvl="0" animBg="1"/>
      <p:bldP spid="14" grpId="0" bldLvl="0" animBg="1"/>
      <p:bldP spid="15"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例如：</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3" name="Oval 2"/>
          <p:cNvSpPr/>
          <p:nvPr/>
        </p:nvSpPr>
        <p:spPr>
          <a:xfrm>
            <a:off x="1209040" y="16173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4" name="Oval 3"/>
          <p:cNvSpPr/>
          <p:nvPr/>
        </p:nvSpPr>
        <p:spPr>
          <a:xfrm>
            <a:off x="4028440" y="16173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6" name="Oval 4"/>
          <p:cNvSpPr/>
          <p:nvPr/>
        </p:nvSpPr>
        <p:spPr>
          <a:xfrm>
            <a:off x="5781040" y="24555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8" name="Oval 5"/>
          <p:cNvSpPr/>
          <p:nvPr/>
        </p:nvSpPr>
        <p:spPr>
          <a:xfrm>
            <a:off x="4257040" y="41319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9" name="Oval 6"/>
          <p:cNvSpPr/>
          <p:nvPr/>
        </p:nvSpPr>
        <p:spPr>
          <a:xfrm>
            <a:off x="2580640" y="32175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10" name="Oval 7"/>
          <p:cNvSpPr/>
          <p:nvPr/>
        </p:nvSpPr>
        <p:spPr>
          <a:xfrm>
            <a:off x="599440" y="41319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g</a:t>
            </a:r>
            <a:endParaRPr lang="en-US" altLang="zh-CN" b="1" dirty="0">
              <a:solidFill>
                <a:srgbClr val="FFFFFF"/>
              </a:solidFill>
              <a:latin typeface="Consolas" panose="020B0609020204030204" pitchFamily="49" charset="0"/>
            </a:endParaRPr>
          </a:p>
        </p:txBody>
      </p:sp>
      <p:sp>
        <p:nvSpPr>
          <p:cNvPr id="11" name="Oval 8"/>
          <p:cNvSpPr/>
          <p:nvPr/>
        </p:nvSpPr>
        <p:spPr>
          <a:xfrm>
            <a:off x="2885440" y="527494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
        <p:nvSpPr>
          <p:cNvPr id="12" name="Line 9"/>
          <p:cNvSpPr/>
          <p:nvPr/>
        </p:nvSpPr>
        <p:spPr>
          <a:xfrm>
            <a:off x="1742440" y="1922145"/>
            <a:ext cx="2286000" cy="0"/>
          </a:xfrm>
          <a:prstGeom prst="line">
            <a:avLst/>
          </a:prstGeom>
          <a:ln w="28575" cap="sq" cmpd="sng">
            <a:solidFill>
              <a:schemeClr val="bg2"/>
            </a:solidFill>
            <a:prstDash val="solid"/>
            <a:headEnd type="none" w="sm" len="sm"/>
            <a:tailEnd type="none" w="sm" len="sm"/>
          </a:ln>
        </p:spPr>
      </p:sp>
      <p:sp>
        <p:nvSpPr>
          <p:cNvPr id="14" name="Line 10"/>
          <p:cNvSpPr/>
          <p:nvPr/>
        </p:nvSpPr>
        <p:spPr>
          <a:xfrm>
            <a:off x="1666240" y="2074545"/>
            <a:ext cx="990600" cy="1219200"/>
          </a:xfrm>
          <a:prstGeom prst="line">
            <a:avLst/>
          </a:prstGeom>
          <a:ln w="28575" cap="sq" cmpd="sng">
            <a:solidFill>
              <a:schemeClr val="bg2"/>
            </a:solidFill>
            <a:prstDash val="solid"/>
            <a:headEnd type="none" w="sm" len="sm"/>
            <a:tailEnd type="none" w="sm" len="sm"/>
          </a:ln>
        </p:spPr>
      </p:sp>
      <p:sp>
        <p:nvSpPr>
          <p:cNvPr id="15" name="Line 11"/>
          <p:cNvSpPr/>
          <p:nvPr/>
        </p:nvSpPr>
        <p:spPr>
          <a:xfrm flipH="1">
            <a:off x="3037840" y="2074545"/>
            <a:ext cx="1066800" cy="1219200"/>
          </a:xfrm>
          <a:prstGeom prst="line">
            <a:avLst/>
          </a:prstGeom>
          <a:ln w="28575" cap="sq" cmpd="sng">
            <a:solidFill>
              <a:schemeClr val="bg2"/>
            </a:solidFill>
            <a:prstDash val="solid"/>
            <a:headEnd type="none" w="sm" len="sm"/>
            <a:tailEnd type="none" w="sm" len="sm"/>
          </a:ln>
        </p:spPr>
      </p:sp>
      <p:sp>
        <p:nvSpPr>
          <p:cNvPr id="16" name="Line 12"/>
          <p:cNvSpPr/>
          <p:nvPr/>
        </p:nvSpPr>
        <p:spPr>
          <a:xfrm flipH="1">
            <a:off x="904240" y="2074545"/>
            <a:ext cx="457200" cy="2057400"/>
          </a:xfrm>
          <a:prstGeom prst="line">
            <a:avLst/>
          </a:prstGeom>
          <a:ln w="28575" cap="sq" cmpd="sng">
            <a:solidFill>
              <a:schemeClr val="bg2"/>
            </a:solidFill>
            <a:prstDash val="solid"/>
            <a:headEnd type="none" w="sm" len="sm"/>
            <a:tailEnd type="none" w="sm" len="sm"/>
          </a:ln>
        </p:spPr>
      </p:sp>
      <p:sp>
        <p:nvSpPr>
          <p:cNvPr id="17" name="Line 13"/>
          <p:cNvSpPr/>
          <p:nvPr/>
        </p:nvSpPr>
        <p:spPr>
          <a:xfrm flipV="1">
            <a:off x="1132840" y="3598545"/>
            <a:ext cx="1524000" cy="762000"/>
          </a:xfrm>
          <a:prstGeom prst="line">
            <a:avLst/>
          </a:prstGeom>
          <a:ln w="28575" cap="sq" cmpd="sng">
            <a:solidFill>
              <a:schemeClr val="bg2"/>
            </a:solidFill>
            <a:prstDash val="solid"/>
            <a:headEnd type="none" w="sm" len="sm"/>
            <a:tailEnd type="none" w="sm" len="sm"/>
          </a:ln>
        </p:spPr>
      </p:sp>
      <p:sp>
        <p:nvSpPr>
          <p:cNvPr id="18" name="Line 14"/>
          <p:cNvSpPr/>
          <p:nvPr/>
        </p:nvSpPr>
        <p:spPr>
          <a:xfrm>
            <a:off x="3114040" y="3598545"/>
            <a:ext cx="1219200" cy="685800"/>
          </a:xfrm>
          <a:prstGeom prst="line">
            <a:avLst/>
          </a:prstGeom>
          <a:ln w="28575" cap="sq" cmpd="sng">
            <a:solidFill>
              <a:schemeClr val="bg2"/>
            </a:solidFill>
            <a:prstDash val="solid"/>
            <a:headEnd type="none" w="sm" len="sm"/>
            <a:tailEnd type="none" w="sm" len="sm"/>
          </a:ln>
        </p:spPr>
      </p:sp>
      <p:sp>
        <p:nvSpPr>
          <p:cNvPr id="19" name="Line 15"/>
          <p:cNvSpPr/>
          <p:nvPr/>
        </p:nvSpPr>
        <p:spPr>
          <a:xfrm>
            <a:off x="4561840" y="1922145"/>
            <a:ext cx="1295400" cy="685800"/>
          </a:xfrm>
          <a:prstGeom prst="line">
            <a:avLst/>
          </a:prstGeom>
          <a:ln w="28575" cap="sq" cmpd="sng">
            <a:solidFill>
              <a:schemeClr val="bg2"/>
            </a:solidFill>
            <a:prstDash val="solid"/>
            <a:headEnd type="none" w="sm" len="sm"/>
            <a:tailEnd type="none" w="sm" len="sm"/>
          </a:ln>
        </p:spPr>
      </p:sp>
      <p:sp>
        <p:nvSpPr>
          <p:cNvPr id="20" name="Line 16"/>
          <p:cNvSpPr/>
          <p:nvPr/>
        </p:nvSpPr>
        <p:spPr>
          <a:xfrm flipH="1">
            <a:off x="4714240" y="2912745"/>
            <a:ext cx="1143000" cy="1371600"/>
          </a:xfrm>
          <a:prstGeom prst="line">
            <a:avLst/>
          </a:prstGeom>
          <a:ln w="28575" cap="sq" cmpd="sng">
            <a:solidFill>
              <a:schemeClr val="bg2"/>
            </a:solidFill>
            <a:prstDash val="solid"/>
            <a:headEnd type="none" w="sm" len="sm"/>
            <a:tailEnd type="none" w="sm" len="sm"/>
          </a:ln>
        </p:spPr>
      </p:sp>
      <p:sp>
        <p:nvSpPr>
          <p:cNvPr id="21" name="Line 17"/>
          <p:cNvSpPr/>
          <p:nvPr/>
        </p:nvSpPr>
        <p:spPr>
          <a:xfrm>
            <a:off x="4333240" y="2150745"/>
            <a:ext cx="152400" cy="1981200"/>
          </a:xfrm>
          <a:prstGeom prst="line">
            <a:avLst/>
          </a:prstGeom>
          <a:ln w="28575" cap="sq" cmpd="sng">
            <a:solidFill>
              <a:schemeClr val="bg2"/>
            </a:solidFill>
            <a:prstDash val="solid"/>
            <a:headEnd type="none" w="sm" len="sm"/>
            <a:tailEnd type="none" w="sm" len="sm"/>
          </a:ln>
        </p:spPr>
      </p:sp>
      <p:sp>
        <p:nvSpPr>
          <p:cNvPr id="22" name="Line 18"/>
          <p:cNvSpPr/>
          <p:nvPr/>
        </p:nvSpPr>
        <p:spPr>
          <a:xfrm>
            <a:off x="1056640" y="4589145"/>
            <a:ext cx="1828800" cy="838200"/>
          </a:xfrm>
          <a:prstGeom prst="line">
            <a:avLst/>
          </a:prstGeom>
          <a:ln w="28575" cap="sq" cmpd="sng">
            <a:solidFill>
              <a:schemeClr val="bg2"/>
            </a:solidFill>
            <a:prstDash val="solid"/>
            <a:headEnd type="none" w="sm" len="sm"/>
            <a:tailEnd type="none" w="sm" len="sm"/>
          </a:ln>
        </p:spPr>
      </p:sp>
      <p:sp>
        <p:nvSpPr>
          <p:cNvPr id="23" name="Line 19"/>
          <p:cNvSpPr/>
          <p:nvPr/>
        </p:nvSpPr>
        <p:spPr>
          <a:xfrm flipH="1">
            <a:off x="3418840" y="4589145"/>
            <a:ext cx="914400" cy="838200"/>
          </a:xfrm>
          <a:prstGeom prst="line">
            <a:avLst/>
          </a:prstGeom>
          <a:ln w="28575" cap="sq" cmpd="sng">
            <a:solidFill>
              <a:schemeClr val="bg2"/>
            </a:solidFill>
            <a:prstDash val="solid"/>
            <a:headEnd type="none" w="sm" len="sm"/>
            <a:tailEnd type="none" w="sm" len="sm"/>
          </a:ln>
        </p:spPr>
      </p:sp>
      <p:sp>
        <p:nvSpPr>
          <p:cNvPr id="109589" name="Text Box 21"/>
          <p:cNvSpPr txBox="1"/>
          <p:nvPr/>
        </p:nvSpPr>
        <p:spPr>
          <a:xfrm>
            <a:off x="2412365" y="141922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19</a:t>
            </a:r>
            <a:endParaRPr lang="en-US" altLang="zh-CN" b="1" dirty="0">
              <a:ea typeface="宋体" panose="02010600030101010101" pitchFamily="2" charset="-122"/>
            </a:endParaRPr>
          </a:p>
        </p:txBody>
      </p:sp>
      <p:sp>
        <p:nvSpPr>
          <p:cNvPr id="24" name="Text Box 22"/>
          <p:cNvSpPr txBox="1"/>
          <p:nvPr/>
        </p:nvSpPr>
        <p:spPr>
          <a:xfrm>
            <a:off x="4942840" y="17240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5</a:t>
            </a:r>
            <a:endParaRPr lang="en-US" altLang="zh-CN" b="1" dirty="0">
              <a:solidFill>
                <a:schemeClr val="tx2"/>
              </a:solidFill>
              <a:ea typeface="宋体" panose="02010600030101010101" pitchFamily="2" charset="-122"/>
            </a:endParaRPr>
          </a:p>
        </p:txBody>
      </p:sp>
      <p:sp>
        <p:nvSpPr>
          <p:cNvPr id="25" name="Text Box 23"/>
          <p:cNvSpPr txBox="1"/>
          <p:nvPr/>
        </p:nvSpPr>
        <p:spPr>
          <a:xfrm>
            <a:off x="2047240" y="230314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14</a:t>
            </a:r>
            <a:endParaRPr lang="en-US" altLang="zh-CN" b="1" dirty="0">
              <a:ea typeface="宋体" panose="02010600030101010101" pitchFamily="2" charset="-122"/>
            </a:endParaRPr>
          </a:p>
        </p:txBody>
      </p:sp>
      <p:sp>
        <p:nvSpPr>
          <p:cNvPr id="26" name="Text Box 24"/>
          <p:cNvSpPr txBox="1"/>
          <p:nvPr/>
        </p:nvSpPr>
        <p:spPr>
          <a:xfrm>
            <a:off x="599440" y="277939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18</a:t>
            </a:r>
            <a:endParaRPr lang="en-US" altLang="zh-CN" sz="3200" b="1" dirty="0">
              <a:ea typeface="宋体" panose="02010600030101010101" pitchFamily="2" charset="-122"/>
            </a:endParaRPr>
          </a:p>
        </p:txBody>
      </p:sp>
      <p:sp>
        <p:nvSpPr>
          <p:cNvPr id="27" name="Text Box 25"/>
          <p:cNvSpPr txBox="1"/>
          <p:nvPr/>
        </p:nvSpPr>
        <p:spPr>
          <a:xfrm>
            <a:off x="1650365" y="491299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ea typeface="宋体" panose="02010600030101010101" pitchFamily="2" charset="-122"/>
              </a:rPr>
              <a:t>27</a:t>
            </a:r>
            <a:endParaRPr lang="en-US" altLang="zh-CN" sz="3200" b="1" dirty="0">
              <a:ea typeface="宋体" panose="02010600030101010101" pitchFamily="2" charset="-122"/>
            </a:endParaRPr>
          </a:p>
        </p:txBody>
      </p:sp>
      <p:sp>
        <p:nvSpPr>
          <p:cNvPr id="28" name="Text Box 26"/>
          <p:cNvSpPr txBox="1"/>
          <p:nvPr/>
        </p:nvSpPr>
        <p:spPr>
          <a:xfrm>
            <a:off x="1574165" y="346519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16</a:t>
            </a:r>
            <a:endParaRPr lang="en-US" altLang="zh-CN" sz="3200" b="1" dirty="0">
              <a:ea typeface="宋体" panose="02010600030101010101" pitchFamily="2" charset="-122"/>
            </a:endParaRPr>
          </a:p>
        </p:txBody>
      </p:sp>
      <p:sp>
        <p:nvSpPr>
          <p:cNvPr id="29" name="Text Box 27"/>
          <p:cNvSpPr txBox="1"/>
          <p:nvPr/>
        </p:nvSpPr>
        <p:spPr>
          <a:xfrm>
            <a:off x="3402965" y="331279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8</a:t>
            </a:r>
            <a:endParaRPr lang="en-US" altLang="zh-CN" sz="3200" b="1" dirty="0">
              <a:ea typeface="宋体" panose="02010600030101010101" pitchFamily="2" charset="-122"/>
            </a:endParaRPr>
          </a:p>
        </p:txBody>
      </p:sp>
      <p:sp>
        <p:nvSpPr>
          <p:cNvPr id="30" name="Text Box 28"/>
          <p:cNvSpPr txBox="1"/>
          <p:nvPr/>
        </p:nvSpPr>
        <p:spPr>
          <a:xfrm>
            <a:off x="3647440" y="489394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21</a:t>
            </a:r>
            <a:endParaRPr lang="en-US" altLang="zh-CN" sz="3200" b="1" dirty="0">
              <a:ea typeface="宋体" panose="02010600030101010101" pitchFamily="2" charset="-122"/>
            </a:endParaRPr>
          </a:p>
        </p:txBody>
      </p:sp>
      <p:sp>
        <p:nvSpPr>
          <p:cNvPr id="31" name="Text Box 29"/>
          <p:cNvSpPr txBox="1"/>
          <p:nvPr/>
        </p:nvSpPr>
        <p:spPr>
          <a:xfrm>
            <a:off x="5079365" y="354139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3</a:t>
            </a:r>
            <a:endParaRPr lang="en-US" altLang="zh-CN" sz="3200" b="1" dirty="0">
              <a:ea typeface="宋体" panose="02010600030101010101" pitchFamily="2" charset="-122"/>
            </a:endParaRPr>
          </a:p>
        </p:txBody>
      </p:sp>
      <p:sp>
        <p:nvSpPr>
          <p:cNvPr id="32" name="Oval 30"/>
          <p:cNvSpPr/>
          <p:nvPr/>
        </p:nvSpPr>
        <p:spPr>
          <a:xfrm>
            <a:off x="1209040" y="16173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33" name="Line 31"/>
          <p:cNvSpPr/>
          <p:nvPr/>
        </p:nvSpPr>
        <p:spPr>
          <a:xfrm>
            <a:off x="1666240" y="2074545"/>
            <a:ext cx="990600" cy="1219200"/>
          </a:xfrm>
          <a:prstGeom prst="line">
            <a:avLst/>
          </a:prstGeom>
          <a:ln w="28575" cap="sq" cmpd="sng">
            <a:solidFill>
              <a:srgbClr val="FF6600"/>
            </a:solidFill>
            <a:prstDash val="solid"/>
            <a:headEnd type="none" w="sm" len="sm"/>
            <a:tailEnd type="none" w="sm" len="sm"/>
          </a:ln>
        </p:spPr>
      </p:sp>
      <p:sp>
        <p:nvSpPr>
          <p:cNvPr id="34" name="Oval 32"/>
          <p:cNvSpPr/>
          <p:nvPr/>
        </p:nvSpPr>
        <p:spPr>
          <a:xfrm>
            <a:off x="2580640" y="32175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35" name="Line 33"/>
          <p:cNvSpPr/>
          <p:nvPr/>
        </p:nvSpPr>
        <p:spPr>
          <a:xfrm>
            <a:off x="3114040" y="3598545"/>
            <a:ext cx="1219200" cy="685800"/>
          </a:xfrm>
          <a:prstGeom prst="line">
            <a:avLst/>
          </a:prstGeom>
          <a:ln w="28575" cap="sq" cmpd="sng">
            <a:solidFill>
              <a:srgbClr val="FF6600"/>
            </a:solidFill>
            <a:prstDash val="solid"/>
            <a:headEnd type="none" w="sm" len="sm"/>
            <a:tailEnd type="none" w="sm" len="sm"/>
          </a:ln>
        </p:spPr>
      </p:sp>
      <p:sp>
        <p:nvSpPr>
          <p:cNvPr id="36" name="Text Box 34"/>
          <p:cNvSpPr txBox="1"/>
          <p:nvPr/>
        </p:nvSpPr>
        <p:spPr>
          <a:xfrm>
            <a:off x="3190240" y="210502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12</a:t>
            </a:r>
            <a:endParaRPr lang="en-US" altLang="zh-CN" sz="3200" b="1" dirty="0">
              <a:ea typeface="宋体" panose="02010600030101010101" pitchFamily="2" charset="-122"/>
            </a:endParaRPr>
          </a:p>
        </p:txBody>
      </p:sp>
      <p:sp>
        <p:nvSpPr>
          <p:cNvPr id="37" name="Oval 35"/>
          <p:cNvSpPr/>
          <p:nvPr/>
        </p:nvSpPr>
        <p:spPr>
          <a:xfrm>
            <a:off x="4257040" y="41319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38" name="Line 36"/>
          <p:cNvSpPr/>
          <p:nvPr/>
        </p:nvSpPr>
        <p:spPr>
          <a:xfrm flipH="1">
            <a:off x="4714240" y="2912745"/>
            <a:ext cx="1143000" cy="1371600"/>
          </a:xfrm>
          <a:prstGeom prst="line">
            <a:avLst/>
          </a:prstGeom>
          <a:ln w="28575" cap="sq" cmpd="sng">
            <a:solidFill>
              <a:srgbClr val="FF6600"/>
            </a:solidFill>
            <a:prstDash val="solid"/>
            <a:headEnd type="none" w="sm" len="sm"/>
            <a:tailEnd type="none" w="sm" len="sm"/>
          </a:ln>
        </p:spPr>
      </p:sp>
      <p:sp>
        <p:nvSpPr>
          <p:cNvPr id="39" name="Oval 37"/>
          <p:cNvSpPr/>
          <p:nvPr/>
        </p:nvSpPr>
        <p:spPr>
          <a:xfrm>
            <a:off x="5781040" y="24555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40" name="Line 38"/>
          <p:cNvSpPr/>
          <p:nvPr/>
        </p:nvSpPr>
        <p:spPr>
          <a:xfrm>
            <a:off x="4561840" y="1922145"/>
            <a:ext cx="1295400" cy="685800"/>
          </a:xfrm>
          <a:prstGeom prst="line">
            <a:avLst/>
          </a:prstGeom>
          <a:ln w="28575" cap="sq" cmpd="sng">
            <a:solidFill>
              <a:srgbClr val="FF6600"/>
            </a:solidFill>
            <a:prstDash val="solid"/>
            <a:headEnd type="none" w="sm" len="sm"/>
            <a:tailEnd type="none" w="sm" len="sm"/>
          </a:ln>
        </p:spPr>
      </p:sp>
      <p:sp>
        <p:nvSpPr>
          <p:cNvPr id="41" name="Oval 39"/>
          <p:cNvSpPr/>
          <p:nvPr/>
        </p:nvSpPr>
        <p:spPr>
          <a:xfrm>
            <a:off x="4028440" y="16173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42" name="Line 40"/>
          <p:cNvSpPr/>
          <p:nvPr/>
        </p:nvSpPr>
        <p:spPr>
          <a:xfrm flipV="1">
            <a:off x="1132840" y="3598545"/>
            <a:ext cx="1524000" cy="762000"/>
          </a:xfrm>
          <a:prstGeom prst="line">
            <a:avLst/>
          </a:prstGeom>
          <a:ln w="28575" cap="sq" cmpd="sng">
            <a:solidFill>
              <a:srgbClr val="FF6600"/>
            </a:solidFill>
            <a:prstDash val="solid"/>
            <a:headEnd type="none" w="sm" len="sm"/>
            <a:tailEnd type="none" w="sm" len="sm"/>
          </a:ln>
        </p:spPr>
      </p:sp>
      <p:sp>
        <p:nvSpPr>
          <p:cNvPr id="43" name="Oval 41"/>
          <p:cNvSpPr/>
          <p:nvPr/>
        </p:nvSpPr>
        <p:spPr>
          <a:xfrm>
            <a:off x="599440" y="413194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g</a:t>
            </a:r>
            <a:endParaRPr lang="en-US" altLang="zh-CN" b="1" dirty="0">
              <a:solidFill>
                <a:srgbClr val="FFFFFF"/>
              </a:solidFill>
              <a:latin typeface="Consolas" panose="020B0609020204030204" pitchFamily="49" charset="0"/>
            </a:endParaRPr>
          </a:p>
        </p:txBody>
      </p:sp>
      <p:sp>
        <p:nvSpPr>
          <p:cNvPr id="44" name="Line 42"/>
          <p:cNvSpPr/>
          <p:nvPr/>
        </p:nvSpPr>
        <p:spPr>
          <a:xfrm flipH="1">
            <a:off x="3418840" y="4589145"/>
            <a:ext cx="914400" cy="838200"/>
          </a:xfrm>
          <a:prstGeom prst="line">
            <a:avLst/>
          </a:prstGeom>
          <a:ln w="28575" cap="sq" cmpd="sng">
            <a:solidFill>
              <a:srgbClr val="FF6600"/>
            </a:solidFill>
            <a:prstDash val="solid"/>
            <a:headEnd type="none" w="sm" len="sm"/>
            <a:tailEnd type="none" w="sm" len="sm"/>
          </a:ln>
        </p:spPr>
      </p:sp>
      <p:sp>
        <p:nvSpPr>
          <p:cNvPr id="45" name="Oval 43"/>
          <p:cNvSpPr/>
          <p:nvPr/>
        </p:nvSpPr>
        <p:spPr>
          <a:xfrm>
            <a:off x="2885440" y="5274945"/>
            <a:ext cx="533400" cy="533400"/>
          </a:xfrm>
          <a:prstGeom prst="ellipse">
            <a:avLst/>
          </a:prstGeom>
          <a:solidFill>
            <a:srgbClr val="FFFF99"/>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
        <p:nvSpPr>
          <p:cNvPr id="46" name="Text Box 44"/>
          <p:cNvSpPr txBox="1"/>
          <p:nvPr/>
        </p:nvSpPr>
        <p:spPr>
          <a:xfrm>
            <a:off x="4393565" y="262699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7</a:t>
            </a:r>
            <a:endParaRPr lang="en-US" altLang="zh-CN" sz="3200" b="1" dirty="0">
              <a:ea typeface="宋体" panose="02010600030101010101" pitchFamily="2" charset="-122"/>
            </a:endParaRPr>
          </a:p>
        </p:txBody>
      </p:sp>
      <p:sp>
        <p:nvSpPr>
          <p:cNvPr id="47" name="Text Box 45"/>
          <p:cNvSpPr txBox="1"/>
          <p:nvPr/>
        </p:nvSpPr>
        <p:spPr>
          <a:xfrm>
            <a:off x="2047240" y="230314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14</a:t>
            </a:r>
            <a:endParaRPr lang="en-US" altLang="zh-CN" b="1" dirty="0">
              <a:solidFill>
                <a:srgbClr val="FF0000"/>
              </a:solidFill>
              <a:ea typeface="宋体" panose="02010600030101010101" pitchFamily="2" charset="-122"/>
            </a:endParaRPr>
          </a:p>
        </p:txBody>
      </p:sp>
      <p:sp>
        <p:nvSpPr>
          <p:cNvPr id="48" name="Text Box 46"/>
          <p:cNvSpPr txBox="1"/>
          <p:nvPr/>
        </p:nvSpPr>
        <p:spPr>
          <a:xfrm>
            <a:off x="3418840" y="33242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8</a:t>
            </a:r>
            <a:endParaRPr lang="en-US" altLang="zh-CN" sz="3200" b="1" dirty="0">
              <a:ea typeface="宋体" panose="02010600030101010101" pitchFamily="2" charset="-122"/>
            </a:endParaRPr>
          </a:p>
        </p:txBody>
      </p:sp>
      <p:sp>
        <p:nvSpPr>
          <p:cNvPr id="49" name="Text Box 47"/>
          <p:cNvSpPr txBox="1"/>
          <p:nvPr/>
        </p:nvSpPr>
        <p:spPr>
          <a:xfrm>
            <a:off x="4942840" y="17240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5</a:t>
            </a:r>
            <a:endParaRPr lang="en-US" altLang="zh-CN" b="1" dirty="0">
              <a:solidFill>
                <a:schemeClr val="tx2"/>
              </a:solidFill>
              <a:ea typeface="宋体" panose="02010600030101010101" pitchFamily="2" charset="-122"/>
            </a:endParaRPr>
          </a:p>
        </p:txBody>
      </p:sp>
      <p:sp>
        <p:nvSpPr>
          <p:cNvPr id="50" name="Text Box 48"/>
          <p:cNvSpPr txBox="1"/>
          <p:nvPr/>
        </p:nvSpPr>
        <p:spPr>
          <a:xfrm>
            <a:off x="5088890" y="35528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3</a:t>
            </a:r>
            <a:endParaRPr lang="en-US" altLang="zh-CN" sz="3200" b="1" dirty="0">
              <a:ea typeface="宋体" panose="02010600030101010101" pitchFamily="2" charset="-122"/>
            </a:endParaRPr>
          </a:p>
        </p:txBody>
      </p:sp>
      <p:sp>
        <p:nvSpPr>
          <p:cNvPr id="51" name="Text Box 49"/>
          <p:cNvSpPr txBox="1"/>
          <p:nvPr/>
        </p:nvSpPr>
        <p:spPr>
          <a:xfrm>
            <a:off x="1590040" y="344614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16</a:t>
            </a:r>
            <a:endParaRPr lang="en-US" altLang="zh-CN" sz="3200" b="1" dirty="0">
              <a:solidFill>
                <a:srgbClr val="FF0000"/>
              </a:solidFill>
              <a:ea typeface="宋体" panose="02010600030101010101" pitchFamily="2" charset="-122"/>
            </a:endParaRPr>
          </a:p>
        </p:txBody>
      </p:sp>
      <p:sp>
        <p:nvSpPr>
          <p:cNvPr id="52" name="Text Box 50"/>
          <p:cNvSpPr txBox="1"/>
          <p:nvPr/>
        </p:nvSpPr>
        <p:spPr>
          <a:xfrm>
            <a:off x="3647440" y="4893945"/>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21</a:t>
            </a:r>
            <a:endParaRPr lang="en-US" altLang="zh-CN" sz="3200" b="1" dirty="0">
              <a:ea typeface="宋体" panose="02010600030101010101" pitchFamily="2" charset="-122"/>
            </a:endParaRPr>
          </a:p>
        </p:txBody>
      </p:sp>
      <p:sp>
        <p:nvSpPr>
          <p:cNvPr id="109619" name="Text Box 51"/>
          <p:cNvSpPr txBox="1"/>
          <p:nvPr/>
        </p:nvSpPr>
        <p:spPr>
          <a:xfrm>
            <a:off x="7266305" y="4204970"/>
            <a:ext cx="3841750" cy="6413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3600" b="1" dirty="0">
                <a:solidFill>
                  <a:srgbClr val="000082"/>
                </a:solidFill>
              </a:rPr>
              <a:t>所得生成树权值和</a:t>
            </a:r>
            <a:endParaRPr lang="zh-CN" altLang="en-US" sz="3600" b="1" dirty="0"/>
          </a:p>
        </p:txBody>
      </p:sp>
      <p:sp>
        <p:nvSpPr>
          <p:cNvPr id="109620" name="Text Box 52"/>
          <p:cNvSpPr txBox="1"/>
          <p:nvPr/>
        </p:nvSpPr>
        <p:spPr>
          <a:xfrm>
            <a:off x="6982460" y="5166995"/>
            <a:ext cx="4841875" cy="6413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ea typeface="宋体" panose="02010600030101010101" pitchFamily="2" charset="-122"/>
              </a:rPr>
              <a:t>= 14+8+3+5+16+21 = 67</a:t>
            </a:r>
            <a:endParaRPr lang="en-US" altLang="zh-CN" sz="3600" b="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12"/>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15"/>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16"/>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17"/>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18"/>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19"/>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20"/>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21"/>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22"/>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23"/>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grpId="0" nodeType="afterEffect">
                                  <p:stCondLst>
                                    <p:cond delay="0"/>
                                  </p:stCondLst>
                                  <p:childTnLst>
                                    <p:set>
                                      <p:cBhvr>
                                        <p:cTn id="60" dur="1" fill="hold">
                                          <p:stCondLst>
                                            <p:cond delay="499"/>
                                          </p:stCondLst>
                                        </p:cTn>
                                        <p:tgtEl>
                                          <p:spTgt spid="109589"/>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grpId="0" nodeType="afterEffect">
                                  <p:stCondLst>
                                    <p:cond delay="0"/>
                                  </p:stCondLst>
                                  <p:childTnLst>
                                    <p:set>
                                      <p:cBhvr>
                                        <p:cTn id="63" dur="1" fill="hold">
                                          <p:stCondLst>
                                            <p:cond delay="499"/>
                                          </p:stCondLst>
                                        </p:cTn>
                                        <p:tgtEl>
                                          <p:spTgt spid="24"/>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25"/>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26"/>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27"/>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28"/>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29"/>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30"/>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31"/>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36"/>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4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 presetClass="entr" presetSubtype="8" fill="hold" grpId="0" nodeType="clickEffect">
                                  <p:stCondLst>
                                    <p:cond delay="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500" fill="hold"/>
                                        <p:tgtEl>
                                          <p:spTgt spid="32"/>
                                        </p:tgtEl>
                                        <p:attrNameLst>
                                          <p:attrName>ppt_x</p:attrName>
                                        </p:attrNameLst>
                                      </p:cBhvr>
                                      <p:tavLst>
                                        <p:tav tm="0">
                                          <p:val>
                                            <p:strVal val="0-#ppt_w/2"/>
                                          </p:val>
                                        </p:tav>
                                        <p:tav tm="100000">
                                          <p:val>
                                            <p:strVal val="#ppt_x"/>
                                          </p:val>
                                        </p:tav>
                                      </p:tavLst>
                                    </p:anim>
                                    <p:anim calcmode="lin" valueType="num">
                                      <p:cBhvr additive="base">
                                        <p:cTn id="96"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17" presetClass="entr" presetSubtype="1" fill="hold" nodeType="clickEffect">
                                  <p:stCondLst>
                                    <p:cond delay="0"/>
                                  </p:stCondLst>
                                  <p:childTnLst>
                                    <p:set>
                                      <p:cBhvr>
                                        <p:cTn id="100" dur="1" fill="hold">
                                          <p:stCondLst>
                                            <p:cond delay="0"/>
                                          </p:stCondLst>
                                        </p:cTn>
                                        <p:tgtEl>
                                          <p:spTgt spid="33"/>
                                        </p:tgtEl>
                                        <p:attrNameLst>
                                          <p:attrName>style.visibility</p:attrName>
                                        </p:attrNameLst>
                                      </p:cBhvr>
                                      <p:to>
                                        <p:strVal val="visible"/>
                                      </p:to>
                                    </p:set>
                                    <p:anim calcmode="lin" valueType="num">
                                      <p:cBhvr>
                                        <p:cTn id="101" dur="500" fill="hold"/>
                                        <p:tgtEl>
                                          <p:spTgt spid="33"/>
                                        </p:tgtEl>
                                        <p:attrNameLst>
                                          <p:attrName>ppt_x</p:attrName>
                                        </p:attrNameLst>
                                      </p:cBhvr>
                                      <p:tavLst>
                                        <p:tav tm="0">
                                          <p:val>
                                            <p:strVal val="#ppt_x"/>
                                          </p:val>
                                        </p:tav>
                                        <p:tav tm="100000">
                                          <p:val>
                                            <p:strVal val="#ppt_x"/>
                                          </p:val>
                                        </p:tav>
                                      </p:tavLst>
                                    </p:anim>
                                    <p:anim calcmode="lin" valueType="num">
                                      <p:cBhvr>
                                        <p:cTn id="102" dur="500" fill="hold"/>
                                        <p:tgtEl>
                                          <p:spTgt spid="33"/>
                                        </p:tgtEl>
                                        <p:attrNameLst>
                                          <p:attrName>ppt_y</p:attrName>
                                        </p:attrNameLst>
                                      </p:cBhvr>
                                      <p:tavLst>
                                        <p:tav tm="0">
                                          <p:val>
                                            <p:strVal val="#ppt_y-#ppt_h/2"/>
                                          </p:val>
                                        </p:tav>
                                        <p:tav tm="100000">
                                          <p:val>
                                            <p:strVal val="#ppt_y"/>
                                          </p:val>
                                        </p:tav>
                                      </p:tavLst>
                                    </p:anim>
                                    <p:anim calcmode="lin" valueType="num">
                                      <p:cBhvr>
                                        <p:cTn id="103" dur="500" fill="hold"/>
                                        <p:tgtEl>
                                          <p:spTgt spid="33"/>
                                        </p:tgtEl>
                                        <p:attrNameLst>
                                          <p:attrName>ppt_w</p:attrName>
                                        </p:attrNameLst>
                                      </p:cBhvr>
                                      <p:tavLst>
                                        <p:tav tm="0">
                                          <p:val>
                                            <p:strVal val="#ppt_w"/>
                                          </p:val>
                                        </p:tav>
                                        <p:tav tm="100000">
                                          <p:val>
                                            <p:strVal val="#ppt_w"/>
                                          </p:val>
                                        </p:tav>
                                      </p:tavLst>
                                    </p:anim>
                                    <p:anim calcmode="lin" valueType="num">
                                      <p:cBhvr>
                                        <p:cTn id="104" dur="500" fill="hold"/>
                                        <p:tgtEl>
                                          <p:spTgt spid="33"/>
                                        </p:tgtEl>
                                        <p:attrNameLst>
                                          <p:attrName>ppt_h</p:attrName>
                                        </p:attrNameLst>
                                      </p:cBhvr>
                                      <p:tavLst>
                                        <p:tav tm="0">
                                          <p:val>
                                            <p:fltVal val="0.000000"/>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1" fill="hold" grpId="0" nodeType="click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up)">
                                      <p:cBhvr>
                                        <p:cTn id="109" dur="500"/>
                                        <p:tgtEl>
                                          <p:spTgt spid="34"/>
                                        </p:tgtEl>
                                      </p:cBhvr>
                                    </p:animEffect>
                                  </p:childTnLst>
                                </p:cTn>
                              </p:par>
                            </p:childTnLst>
                          </p:cTn>
                        </p:par>
                      </p:childTnLst>
                    </p:cTn>
                  </p:par>
                  <p:par>
                    <p:cTn id="110" fill="hold">
                      <p:stCondLst>
                        <p:cond delay="indefinite"/>
                      </p:stCondLst>
                      <p:childTnLst>
                        <p:par>
                          <p:cTn id="111" fill="hold">
                            <p:stCondLst>
                              <p:cond delay="0"/>
                            </p:stCondLst>
                            <p:childTnLst>
                              <p:par>
                                <p:cTn id="112" presetID="17" presetClass="entr" presetSubtype="8" fill="hold" nodeType="clickEffect">
                                  <p:stCondLst>
                                    <p:cond delay="0"/>
                                  </p:stCondLst>
                                  <p:childTnLst>
                                    <p:set>
                                      <p:cBhvr>
                                        <p:cTn id="113" dur="1" fill="hold">
                                          <p:stCondLst>
                                            <p:cond delay="0"/>
                                          </p:stCondLst>
                                        </p:cTn>
                                        <p:tgtEl>
                                          <p:spTgt spid="35"/>
                                        </p:tgtEl>
                                        <p:attrNameLst>
                                          <p:attrName>style.visibility</p:attrName>
                                        </p:attrNameLst>
                                      </p:cBhvr>
                                      <p:to>
                                        <p:strVal val="visible"/>
                                      </p:to>
                                    </p:set>
                                    <p:anim calcmode="lin" valueType="num">
                                      <p:cBhvr>
                                        <p:cTn id="114" dur="500" fill="hold"/>
                                        <p:tgtEl>
                                          <p:spTgt spid="35"/>
                                        </p:tgtEl>
                                        <p:attrNameLst>
                                          <p:attrName>ppt_x</p:attrName>
                                        </p:attrNameLst>
                                      </p:cBhvr>
                                      <p:tavLst>
                                        <p:tav tm="0">
                                          <p:val>
                                            <p:strVal val="#ppt_x-#ppt_w/2"/>
                                          </p:val>
                                        </p:tav>
                                        <p:tav tm="100000">
                                          <p:val>
                                            <p:strVal val="#ppt_x"/>
                                          </p:val>
                                        </p:tav>
                                      </p:tavLst>
                                    </p:anim>
                                    <p:anim calcmode="lin" valueType="num">
                                      <p:cBhvr>
                                        <p:cTn id="115" dur="500" fill="hold"/>
                                        <p:tgtEl>
                                          <p:spTgt spid="35"/>
                                        </p:tgtEl>
                                        <p:attrNameLst>
                                          <p:attrName>ppt_y</p:attrName>
                                        </p:attrNameLst>
                                      </p:cBhvr>
                                      <p:tavLst>
                                        <p:tav tm="0">
                                          <p:val>
                                            <p:strVal val="#ppt_y"/>
                                          </p:val>
                                        </p:tav>
                                        <p:tav tm="100000">
                                          <p:val>
                                            <p:strVal val="#ppt_y"/>
                                          </p:val>
                                        </p:tav>
                                      </p:tavLst>
                                    </p:anim>
                                    <p:anim calcmode="lin" valueType="num">
                                      <p:cBhvr>
                                        <p:cTn id="116" dur="500" fill="hold"/>
                                        <p:tgtEl>
                                          <p:spTgt spid="35"/>
                                        </p:tgtEl>
                                        <p:attrNameLst>
                                          <p:attrName>ppt_w</p:attrName>
                                        </p:attrNameLst>
                                      </p:cBhvr>
                                      <p:tavLst>
                                        <p:tav tm="0">
                                          <p:val>
                                            <p:fltVal val="0.000000"/>
                                          </p:val>
                                        </p:tav>
                                        <p:tav tm="100000">
                                          <p:val>
                                            <p:strVal val="#ppt_w"/>
                                          </p:val>
                                        </p:tav>
                                      </p:tavLst>
                                    </p:anim>
                                    <p:anim calcmode="lin" valueType="num">
                                      <p:cBhvr>
                                        <p:cTn id="117" dur="5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37"/>
                                        </p:tgtEl>
                                        <p:attrNameLst>
                                          <p:attrName>style.visibility</p:attrName>
                                        </p:attrNameLst>
                                      </p:cBhvr>
                                      <p:to>
                                        <p:strVal val="visible"/>
                                      </p:to>
                                    </p:set>
                                    <p:animEffect transition="in" filter="wipe(up)">
                                      <p:cBhvr>
                                        <p:cTn id="122" dur="500"/>
                                        <p:tgtEl>
                                          <p:spTgt spid="37"/>
                                        </p:tgtEl>
                                      </p:cBhvr>
                                    </p:animEffect>
                                  </p:childTnLst>
                                </p:cTn>
                              </p:par>
                            </p:childTnLst>
                          </p:cTn>
                        </p:par>
                      </p:childTnLst>
                    </p:cTn>
                  </p:par>
                  <p:par>
                    <p:cTn id="123" fill="hold">
                      <p:stCondLst>
                        <p:cond delay="indefinite"/>
                      </p:stCondLst>
                      <p:childTnLst>
                        <p:par>
                          <p:cTn id="124" fill="hold">
                            <p:stCondLst>
                              <p:cond delay="0"/>
                            </p:stCondLst>
                            <p:childTnLst>
                              <p:par>
                                <p:cTn id="125" presetID="17" presetClass="entr" presetSubtype="4" fill="hold" nodeType="clickEffect">
                                  <p:stCondLst>
                                    <p:cond delay="0"/>
                                  </p:stCondLst>
                                  <p:childTnLst>
                                    <p:set>
                                      <p:cBhvr>
                                        <p:cTn id="126" dur="1" fill="hold">
                                          <p:stCondLst>
                                            <p:cond delay="0"/>
                                          </p:stCondLst>
                                        </p:cTn>
                                        <p:tgtEl>
                                          <p:spTgt spid="38"/>
                                        </p:tgtEl>
                                        <p:attrNameLst>
                                          <p:attrName>style.visibility</p:attrName>
                                        </p:attrNameLst>
                                      </p:cBhvr>
                                      <p:to>
                                        <p:strVal val="visible"/>
                                      </p:to>
                                    </p:set>
                                    <p:anim calcmode="lin" valueType="num">
                                      <p:cBhvr>
                                        <p:cTn id="127" dur="500" fill="hold"/>
                                        <p:tgtEl>
                                          <p:spTgt spid="38"/>
                                        </p:tgtEl>
                                        <p:attrNameLst>
                                          <p:attrName>ppt_x</p:attrName>
                                        </p:attrNameLst>
                                      </p:cBhvr>
                                      <p:tavLst>
                                        <p:tav tm="0">
                                          <p:val>
                                            <p:strVal val="#ppt_x"/>
                                          </p:val>
                                        </p:tav>
                                        <p:tav tm="100000">
                                          <p:val>
                                            <p:strVal val="#ppt_x"/>
                                          </p:val>
                                        </p:tav>
                                      </p:tavLst>
                                    </p:anim>
                                    <p:anim calcmode="lin" valueType="num">
                                      <p:cBhvr>
                                        <p:cTn id="128" dur="500" fill="hold"/>
                                        <p:tgtEl>
                                          <p:spTgt spid="38"/>
                                        </p:tgtEl>
                                        <p:attrNameLst>
                                          <p:attrName>ppt_y</p:attrName>
                                        </p:attrNameLst>
                                      </p:cBhvr>
                                      <p:tavLst>
                                        <p:tav tm="0">
                                          <p:val>
                                            <p:strVal val="#ppt_y+#ppt_h/2"/>
                                          </p:val>
                                        </p:tav>
                                        <p:tav tm="100000">
                                          <p:val>
                                            <p:strVal val="#ppt_y"/>
                                          </p:val>
                                        </p:tav>
                                      </p:tavLst>
                                    </p:anim>
                                    <p:anim calcmode="lin" valueType="num">
                                      <p:cBhvr>
                                        <p:cTn id="129" dur="500" fill="hold"/>
                                        <p:tgtEl>
                                          <p:spTgt spid="38"/>
                                        </p:tgtEl>
                                        <p:attrNameLst>
                                          <p:attrName>ppt_w</p:attrName>
                                        </p:attrNameLst>
                                      </p:cBhvr>
                                      <p:tavLst>
                                        <p:tav tm="0">
                                          <p:val>
                                            <p:strVal val="#ppt_w"/>
                                          </p:val>
                                        </p:tav>
                                        <p:tav tm="100000">
                                          <p:val>
                                            <p:strVal val="#ppt_w"/>
                                          </p:val>
                                        </p:tav>
                                      </p:tavLst>
                                    </p:anim>
                                    <p:anim calcmode="lin" valueType="num">
                                      <p:cBhvr>
                                        <p:cTn id="130" dur="500" fill="hold"/>
                                        <p:tgtEl>
                                          <p:spTgt spid="38"/>
                                        </p:tgtEl>
                                        <p:attrNameLst>
                                          <p:attrName>ppt_h</p:attrName>
                                        </p:attrNameLst>
                                      </p:cBhvr>
                                      <p:tavLst>
                                        <p:tav tm="0">
                                          <p:val>
                                            <p:fltVal val="0.000000"/>
                                          </p:val>
                                        </p:tav>
                                        <p:tav tm="100000">
                                          <p:val>
                                            <p:strVal val="#ppt_h"/>
                                          </p:val>
                                        </p:tav>
                                      </p:tavLst>
                                    </p:anim>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wipe(left)">
                                      <p:cBhvr>
                                        <p:cTn id="135" dur="500"/>
                                        <p:tgtEl>
                                          <p:spTgt spid="39"/>
                                        </p:tgtEl>
                                      </p:cBhvr>
                                    </p:animEffect>
                                  </p:childTnLst>
                                </p:cTn>
                              </p:par>
                            </p:childTnLst>
                          </p:cTn>
                        </p:par>
                      </p:childTnLst>
                    </p:cTn>
                  </p:par>
                  <p:par>
                    <p:cTn id="136" fill="hold">
                      <p:stCondLst>
                        <p:cond delay="indefinite"/>
                      </p:stCondLst>
                      <p:childTnLst>
                        <p:par>
                          <p:cTn id="137" fill="hold">
                            <p:stCondLst>
                              <p:cond delay="0"/>
                            </p:stCondLst>
                            <p:childTnLst>
                              <p:par>
                                <p:cTn id="138" presetID="17" presetClass="entr" presetSubtype="2" fill="hold" nodeType="clickEffect">
                                  <p:stCondLst>
                                    <p:cond delay="0"/>
                                  </p:stCondLst>
                                  <p:childTnLst>
                                    <p:set>
                                      <p:cBhvr>
                                        <p:cTn id="139" dur="1" fill="hold">
                                          <p:stCondLst>
                                            <p:cond delay="0"/>
                                          </p:stCondLst>
                                        </p:cTn>
                                        <p:tgtEl>
                                          <p:spTgt spid="40"/>
                                        </p:tgtEl>
                                        <p:attrNameLst>
                                          <p:attrName>style.visibility</p:attrName>
                                        </p:attrNameLst>
                                      </p:cBhvr>
                                      <p:to>
                                        <p:strVal val="visible"/>
                                      </p:to>
                                    </p:set>
                                    <p:anim calcmode="lin" valueType="num">
                                      <p:cBhvr>
                                        <p:cTn id="140" dur="500" fill="hold"/>
                                        <p:tgtEl>
                                          <p:spTgt spid="40"/>
                                        </p:tgtEl>
                                        <p:attrNameLst>
                                          <p:attrName>ppt_x</p:attrName>
                                        </p:attrNameLst>
                                      </p:cBhvr>
                                      <p:tavLst>
                                        <p:tav tm="0">
                                          <p:val>
                                            <p:strVal val="#ppt_x+#ppt_w/2"/>
                                          </p:val>
                                        </p:tav>
                                        <p:tav tm="100000">
                                          <p:val>
                                            <p:strVal val="#ppt_x"/>
                                          </p:val>
                                        </p:tav>
                                      </p:tavLst>
                                    </p:anim>
                                    <p:anim calcmode="lin" valueType="num">
                                      <p:cBhvr>
                                        <p:cTn id="141" dur="500" fill="hold"/>
                                        <p:tgtEl>
                                          <p:spTgt spid="40"/>
                                        </p:tgtEl>
                                        <p:attrNameLst>
                                          <p:attrName>ppt_y</p:attrName>
                                        </p:attrNameLst>
                                      </p:cBhvr>
                                      <p:tavLst>
                                        <p:tav tm="0">
                                          <p:val>
                                            <p:strVal val="#ppt_y"/>
                                          </p:val>
                                        </p:tav>
                                        <p:tav tm="100000">
                                          <p:val>
                                            <p:strVal val="#ppt_y"/>
                                          </p:val>
                                        </p:tav>
                                      </p:tavLst>
                                    </p:anim>
                                    <p:anim calcmode="lin" valueType="num">
                                      <p:cBhvr>
                                        <p:cTn id="142" dur="500" fill="hold"/>
                                        <p:tgtEl>
                                          <p:spTgt spid="40"/>
                                        </p:tgtEl>
                                        <p:attrNameLst>
                                          <p:attrName>ppt_w</p:attrName>
                                        </p:attrNameLst>
                                      </p:cBhvr>
                                      <p:tavLst>
                                        <p:tav tm="0">
                                          <p:val>
                                            <p:fltVal val="0.000000"/>
                                          </p:val>
                                        </p:tav>
                                        <p:tav tm="100000">
                                          <p:val>
                                            <p:strVal val="#ppt_w"/>
                                          </p:val>
                                        </p:tav>
                                      </p:tavLst>
                                    </p:anim>
                                    <p:anim calcmode="lin" valueType="num">
                                      <p:cBhvr>
                                        <p:cTn id="143" dur="500" fill="hold"/>
                                        <p:tgtEl>
                                          <p:spTgt spid="40"/>
                                        </p:tgtEl>
                                        <p:attrNameLst>
                                          <p:attrName>ppt_h</p:attrName>
                                        </p:attrNameLst>
                                      </p:cBhvr>
                                      <p:tavLst>
                                        <p:tav tm="0">
                                          <p:val>
                                            <p:strVal val="#ppt_h"/>
                                          </p:val>
                                        </p:tav>
                                        <p:tav tm="100000">
                                          <p:val>
                                            <p:strVal val="#ppt_h"/>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1" fill="hold" grpId="0" nodeType="clickEffect">
                                  <p:stCondLst>
                                    <p:cond delay="0"/>
                                  </p:stCondLst>
                                  <p:childTnLst>
                                    <p:set>
                                      <p:cBhvr>
                                        <p:cTn id="147" dur="1" fill="hold">
                                          <p:stCondLst>
                                            <p:cond delay="0"/>
                                          </p:stCondLst>
                                        </p:cTn>
                                        <p:tgtEl>
                                          <p:spTgt spid="41"/>
                                        </p:tgtEl>
                                        <p:attrNameLst>
                                          <p:attrName>style.visibility</p:attrName>
                                        </p:attrNameLst>
                                      </p:cBhvr>
                                      <p:to>
                                        <p:strVal val="visible"/>
                                      </p:to>
                                    </p:set>
                                    <p:animEffect transition="in" filter="wipe(up)">
                                      <p:cBhvr>
                                        <p:cTn id="148" dur="500"/>
                                        <p:tgtEl>
                                          <p:spTgt spid="41"/>
                                        </p:tgtEl>
                                      </p:cBhvr>
                                    </p:animEffect>
                                  </p:childTnLst>
                                </p:cTn>
                              </p:par>
                            </p:childTnLst>
                          </p:cTn>
                        </p:par>
                      </p:childTnLst>
                    </p:cTn>
                  </p:par>
                  <p:par>
                    <p:cTn id="149" fill="hold">
                      <p:stCondLst>
                        <p:cond delay="indefinite"/>
                      </p:stCondLst>
                      <p:childTnLst>
                        <p:par>
                          <p:cTn id="150" fill="hold">
                            <p:stCondLst>
                              <p:cond delay="0"/>
                            </p:stCondLst>
                            <p:childTnLst>
                              <p:par>
                                <p:cTn id="151" presetID="17" presetClass="entr" presetSubtype="2" fill="hold" nodeType="clickEffect">
                                  <p:stCondLst>
                                    <p:cond delay="0"/>
                                  </p:stCondLst>
                                  <p:childTnLst>
                                    <p:set>
                                      <p:cBhvr>
                                        <p:cTn id="152" dur="1" fill="hold">
                                          <p:stCondLst>
                                            <p:cond delay="0"/>
                                          </p:stCondLst>
                                        </p:cTn>
                                        <p:tgtEl>
                                          <p:spTgt spid="42"/>
                                        </p:tgtEl>
                                        <p:attrNameLst>
                                          <p:attrName>style.visibility</p:attrName>
                                        </p:attrNameLst>
                                      </p:cBhvr>
                                      <p:to>
                                        <p:strVal val="visible"/>
                                      </p:to>
                                    </p:set>
                                    <p:anim calcmode="lin" valueType="num">
                                      <p:cBhvr>
                                        <p:cTn id="153" dur="500" fill="hold"/>
                                        <p:tgtEl>
                                          <p:spTgt spid="42"/>
                                        </p:tgtEl>
                                        <p:attrNameLst>
                                          <p:attrName>ppt_x</p:attrName>
                                        </p:attrNameLst>
                                      </p:cBhvr>
                                      <p:tavLst>
                                        <p:tav tm="0">
                                          <p:val>
                                            <p:strVal val="#ppt_x+#ppt_w/2"/>
                                          </p:val>
                                        </p:tav>
                                        <p:tav tm="100000">
                                          <p:val>
                                            <p:strVal val="#ppt_x"/>
                                          </p:val>
                                        </p:tav>
                                      </p:tavLst>
                                    </p:anim>
                                    <p:anim calcmode="lin" valueType="num">
                                      <p:cBhvr>
                                        <p:cTn id="154" dur="500" fill="hold"/>
                                        <p:tgtEl>
                                          <p:spTgt spid="42"/>
                                        </p:tgtEl>
                                        <p:attrNameLst>
                                          <p:attrName>ppt_y</p:attrName>
                                        </p:attrNameLst>
                                      </p:cBhvr>
                                      <p:tavLst>
                                        <p:tav tm="0">
                                          <p:val>
                                            <p:strVal val="#ppt_y"/>
                                          </p:val>
                                        </p:tav>
                                        <p:tav tm="100000">
                                          <p:val>
                                            <p:strVal val="#ppt_y"/>
                                          </p:val>
                                        </p:tav>
                                      </p:tavLst>
                                    </p:anim>
                                    <p:anim calcmode="lin" valueType="num">
                                      <p:cBhvr>
                                        <p:cTn id="155" dur="500" fill="hold"/>
                                        <p:tgtEl>
                                          <p:spTgt spid="42"/>
                                        </p:tgtEl>
                                        <p:attrNameLst>
                                          <p:attrName>ppt_w</p:attrName>
                                        </p:attrNameLst>
                                      </p:cBhvr>
                                      <p:tavLst>
                                        <p:tav tm="0">
                                          <p:val>
                                            <p:fltVal val="0.000000"/>
                                          </p:val>
                                        </p:tav>
                                        <p:tav tm="100000">
                                          <p:val>
                                            <p:strVal val="#ppt_w"/>
                                          </p:val>
                                        </p:tav>
                                      </p:tavLst>
                                    </p:anim>
                                    <p:anim calcmode="lin" valueType="num">
                                      <p:cBhvr>
                                        <p:cTn id="156"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grpId="0" nodeType="clickEffect">
                                  <p:stCondLst>
                                    <p:cond delay="0"/>
                                  </p:stCondLst>
                                  <p:childTnLst>
                                    <p:set>
                                      <p:cBhvr>
                                        <p:cTn id="160" dur="1" fill="hold">
                                          <p:stCondLst>
                                            <p:cond delay="0"/>
                                          </p:stCondLst>
                                        </p:cTn>
                                        <p:tgtEl>
                                          <p:spTgt spid="43"/>
                                        </p:tgtEl>
                                        <p:attrNameLst>
                                          <p:attrName>style.visibility</p:attrName>
                                        </p:attrNameLst>
                                      </p:cBhvr>
                                      <p:to>
                                        <p:strVal val="visible"/>
                                      </p:to>
                                    </p:set>
                                    <p:animEffect transition="in" filter="wipe(up)">
                                      <p:cBhvr>
                                        <p:cTn id="161" dur="500"/>
                                        <p:tgtEl>
                                          <p:spTgt spid="43"/>
                                        </p:tgtEl>
                                      </p:cBhvr>
                                    </p:animEffect>
                                  </p:childTnLst>
                                </p:cTn>
                              </p:par>
                            </p:childTnLst>
                          </p:cTn>
                        </p:par>
                      </p:childTnLst>
                    </p:cTn>
                  </p:par>
                  <p:par>
                    <p:cTn id="162" fill="hold">
                      <p:stCondLst>
                        <p:cond delay="indefinite"/>
                      </p:stCondLst>
                      <p:childTnLst>
                        <p:par>
                          <p:cTn id="163" fill="hold">
                            <p:stCondLst>
                              <p:cond delay="0"/>
                            </p:stCondLst>
                            <p:childTnLst>
                              <p:par>
                                <p:cTn id="164" presetID="17" presetClass="entr" presetSubtype="1" fill="hold" nodeType="clickEffect">
                                  <p:stCondLst>
                                    <p:cond delay="0"/>
                                  </p:stCondLst>
                                  <p:childTnLst>
                                    <p:set>
                                      <p:cBhvr>
                                        <p:cTn id="165" dur="1" fill="hold">
                                          <p:stCondLst>
                                            <p:cond delay="0"/>
                                          </p:stCondLst>
                                        </p:cTn>
                                        <p:tgtEl>
                                          <p:spTgt spid="44"/>
                                        </p:tgtEl>
                                        <p:attrNameLst>
                                          <p:attrName>style.visibility</p:attrName>
                                        </p:attrNameLst>
                                      </p:cBhvr>
                                      <p:to>
                                        <p:strVal val="visible"/>
                                      </p:to>
                                    </p:set>
                                    <p:anim calcmode="lin" valueType="num">
                                      <p:cBhvr>
                                        <p:cTn id="166" dur="500" fill="hold"/>
                                        <p:tgtEl>
                                          <p:spTgt spid="44"/>
                                        </p:tgtEl>
                                        <p:attrNameLst>
                                          <p:attrName>ppt_x</p:attrName>
                                        </p:attrNameLst>
                                      </p:cBhvr>
                                      <p:tavLst>
                                        <p:tav tm="0">
                                          <p:val>
                                            <p:strVal val="#ppt_x"/>
                                          </p:val>
                                        </p:tav>
                                        <p:tav tm="100000">
                                          <p:val>
                                            <p:strVal val="#ppt_x"/>
                                          </p:val>
                                        </p:tav>
                                      </p:tavLst>
                                    </p:anim>
                                    <p:anim calcmode="lin" valueType="num">
                                      <p:cBhvr>
                                        <p:cTn id="167" dur="500" fill="hold"/>
                                        <p:tgtEl>
                                          <p:spTgt spid="44"/>
                                        </p:tgtEl>
                                        <p:attrNameLst>
                                          <p:attrName>ppt_y</p:attrName>
                                        </p:attrNameLst>
                                      </p:cBhvr>
                                      <p:tavLst>
                                        <p:tav tm="0">
                                          <p:val>
                                            <p:strVal val="#ppt_y-#ppt_h/2"/>
                                          </p:val>
                                        </p:tav>
                                        <p:tav tm="100000">
                                          <p:val>
                                            <p:strVal val="#ppt_y"/>
                                          </p:val>
                                        </p:tav>
                                      </p:tavLst>
                                    </p:anim>
                                    <p:anim calcmode="lin" valueType="num">
                                      <p:cBhvr>
                                        <p:cTn id="168" dur="500" fill="hold"/>
                                        <p:tgtEl>
                                          <p:spTgt spid="44"/>
                                        </p:tgtEl>
                                        <p:attrNameLst>
                                          <p:attrName>ppt_w</p:attrName>
                                        </p:attrNameLst>
                                      </p:cBhvr>
                                      <p:tavLst>
                                        <p:tav tm="0">
                                          <p:val>
                                            <p:strVal val="#ppt_w"/>
                                          </p:val>
                                        </p:tav>
                                        <p:tav tm="100000">
                                          <p:val>
                                            <p:strVal val="#ppt_w"/>
                                          </p:val>
                                        </p:tav>
                                      </p:tavLst>
                                    </p:anim>
                                    <p:anim calcmode="lin" valueType="num">
                                      <p:cBhvr>
                                        <p:cTn id="169" dur="500" fill="hold"/>
                                        <p:tgtEl>
                                          <p:spTgt spid="44"/>
                                        </p:tgtEl>
                                        <p:attrNameLst>
                                          <p:attrName>ppt_h</p:attrName>
                                        </p:attrNameLst>
                                      </p:cBhvr>
                                      <p:tavLst>
                                        <p:tav tm="0">
                                          <p:val>
                                            <p:fltVal val="0.000000"/>
                                          </p:val>
                                        </p:tav>
                                        <p:tav tm="100000">
                                          <p:val>
                                            <p:strVal val="#ppt_h"/>
                                          </p:val>
                                        </p:tav>
                                      </p:tavLst>
                                    </p:anim>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wipe(up)">
                                      <p:cBhvr>
                                        <p:cTn id="174" dur="500"/>
                                        <p:tgtEl>
                                          <p:spTgt spid="45"/>
                                        </p:tgtEl>
                                      </p:cBhvr>
                                    </p:animEffect>
                                  </p:childTnLst>
                                </p:cTn>
                              </p:par>
                            </p:childTnLst>
                          </p:cTn>
                        </p:par>
                      </p:childTnLst>
                    </p:cTn>
                  </p:par>
                  <p:par>
                    <p:cTn id="175" fill="hold">
                      <p:stCondLst>
                        <p:cond delay="indefinite"/>
                      </p:stCondLst>
                      <p:childTnLst>
                        <p:par>
                          <p:cTn id="176" fill="hold">
                            <p:stCondLst>
                              <p:cond delay="0"/>
                            </p:stCondLst>
                            <p:childTnLst>
                              <p:par>
                                <p:cTn id="177" presetID="4" presetClass="entr" presetSubtype="16" fill="hold" grpId="0" nodeType="clickEffect">
                                  <p:stCondLst>
                                    <p:cond delay="0"/>
                                  </p:stCondLst>
                                  <p:childTnLst>
                                    <p:set>
                                      <p:cBhvr>
                                        <p:cTn id="178" dur="1" fill="hold">
                                          <p:stCondLst>
                                            <p:cond delay="0"/>
                                          </p:stCondLst>
                                        </p:cTn>
                                        <p:tgtEl>
                                          <p:spTgt spid="47"/>
                                        </p:tgtEl>
                                        <p:attrNameLst>
                                          <p:attrName>style.visibility</p:attrName>
                                        </p:attrNameLst>
                                      </p:cBhvr>
                                      <p:to>
                                        <p:strVal val="visible"/>
                                      </p:to>
                                    </p:set>
                                    <p:animEffect transition="in" filter="box(in)">
                                      <p:cBhvr>
                                        <p:cTn id="179" dur="500"/>
                                        <p:tgtEl>
                                          <p:spTgt spid="47"/>
                                        </p:tgtEl>
                                      </p:cBhvr>
                                    </p:animEffect>
                                  </p:childTnLst>
                                </p:cTn>
                              </p:par>
                            </p:childTnLst>
                          </p:cTn>
                        </p:par>
                        <p:par>
                          <p:cTn id="180" fill="hold">
                            <p:stCondLst>
                              <p:cond delay="500"/>
                            </p:stCondLst>
                            <p:childTnLst>
                              <p:par>
                                <p:cTn id="181" presetID="4" presetClass="entr" presetSubtype="16" fill="hold" grpId="0" nodeType="afterEffect">
                                  <p:stCondLst>
                                    <p:cond delay="0"/>
                                  </p:stCondLst>
                                  <p:childTnLst>
                                    <p:set>
                                      <p:cBhvr>
                                        <p:cTn id="182" dur="1" fill="hold">
                                          <p:stCondLst>
                                            <p:cond delay="0"/>
                                          </p:stCondLst>
                                        </p:cTn>
                                        <p:tgtEl>
                                          <p:spTgt spid="48"/>
                                        </p:tgtEl>
                                        <p:attrNameLst>
                                          <p:attrName>style.visibility</p:attrName>
                                        </p:attrNameLst>
                                      </p:cBhvr>
                                      <p:to>
                                        <p:strVal val="visible"/>
                                      </p:to>
                                    </p:set>
                                    <p:animEffect transition="in" filter="box(in)">
                                      <p:cBhvr>
                                        <p:cTn id="183" dur="500"/>
                                        <p:tgtEl>
                                          <p:spTgt spid="48"/>
                                        </p:tgtEl>
                                      </p:cBhvr>
                                    </p:animEffect>
                                  </p:childTnLst>
                                </p:cTn>
                              </p:par>
                            </p:childTnLst>
                          </p:cTn>
                        </p:par>
                        <p:par>
                          <p:cTn id="184" fill="hold">
                            <p:stCondLst>
                              <p:cond delay="1000"/>
                            </p:stCondLst>
                            <p:childTnLst>
                              <p:par>
                                <p:cTn id="185" presetID="4" presetClass="entr" presetSubtype="16" fill="hold" grpId="0" nodeType="afterEffect">
                                  <p:stCondLst>
                                    <p:cond delay="0"/>
                                  </p:stCondLst>
                                  <p:childTnLst>
                                    <p:set>
                                      <p:cBhvr>
                                        <p:cTn id="186" dur="1" fill="hold">
                                          <p:stCondLst>
                                            <p:cond delay="0"/>
                                          </p:stCondLst>
                                        </p:cTn>
                                        <p:tgtEl>
                                          <p:spTgt spid="50"/>
                                        </p:tgtEl>
                                        <p:attrNameLst>
                                          <p:attrName>style.visibility</p:attrName>
                                        </p:attrNameLst>
                                      </p:cBhvr>
                                      <p:to>
                                        <p:strVal val="visible"/>
                                      </p:to>
                                    </p:set>
                                    <p:animEffect transition="in" filter="box(in)">
                                      <p:cBhvr>
                                        <p:cTn id="187" dur="500"/>
                                        <p:tgtEl>
                                          <p:spTgt spid="50"/>
                                        </p:tgtEl>
                                      </p:cBhvr>
                                    </p:animEffect>
                                  </p:childTnLst>
                                </p:cTn>
                              </p:par>
                            </p:childTnLst>
                          </p:cTn>
                        </p:par>
                        <p:par>
                          <p:cTn id="188" fill="hold">
                            <p:stCondLst>
                              <p:cond delay="1500"/>
                            </p:stCondLst>
                            <p:childTnLst>
                              <p:par>
                                <p:cTn id="189" presetID="4" presetClass="entr" presetSubtype="16" fill="hold" grpId="0" nodeType="afterEffect">
                                  <p:stCondLst>
                                    <p:cond delay="0"/>
                                  </p:stCondLst>
                                  <p:childTnLst>
                                    <p:set>
                                      <p:cBhvr>
                                        <p:cTn id="190" dur="1" fill="hold">
                                          <p:stCondLst>
                                            <p:cond delay="0"/>
                                          </p:stCondLst>
                                        </p:cTn>
                                        <p:tgtEl>
                                          <p:spTgt spid="49"/>
                                        </p:tgtEl>
                                        <p:attrNameLst>
                                          <p:attrName>style.visibility</p:attrName>
                                        </p:attrNameLst>
                                      </p:cBhvr>
                                      <p:to>
                                        <p:strVal val="visible"/>
                                      </p:to>
                                    </p:set>
                                    <p:animEffect transition="in" filter="box(in)">
                                      <p:cBhvr>
                                        <p:cTn id="191" dur="500"/>
                                        <p:tgtEl>
                                          <p:spTgt spid="49"/>
                                        </p:tgtEl>
                                      </p:cBhvr>
                                    </p:animEffect>
                                  </p:childTnLst>
                                </p:cTn>
                              </p:par>
                            </p:childTnLst>
                          </p:cTn>
                        </p:par>
                        <p:par>
                          <p:cTn id="192" fill="hold">
                            <p:stCondLst>
                              <p:cond delay="2000"/>
                            </p:stCondLst>
                            <p:childTnLst>
                              <p:par>
                                <p:cTn id="193" presetID="4" presetClass="entr" presetSubtype="16" fill="hold" grpId="0" nodeType="afterEffect">
                                  <p:stCondLst>
                                    <p:cond delay="0"/>
                                  </p:stCondLst>
                                  <p:childTnLst>
                                    <p:set>
                                      <p:cBhvr>
                                        <p:cTn id="194" dur="1" fill="hold">
                                          <p:stCondLst>
                                            <p:cond delay="0"/>
                                          </p:stCondLst>
                                        </p:cTn>
                                        <p:tgtEl>
                                          <p:spTgt spid="51"/>
                                        </p:tgtEl>
                                        <p:attrNameLst>
                                          <p:attrName>style.visibility</p:attrName>
                                        </p:attrNameLst>
                                      </p:cBhvr>
                                      <p:to>
                                        <p:strVal val="visible"/>
                                      </p:to>
                                    </p:set>
                                    <p:animEffect transition="in" filter="box(in)">
                                      <p:cBhvr>
                                        <p:cTn id="195" dur="500"/>
                                        <p:tgtEl>
                                          <p:spTgt spid="51"/>
                                        </p:tgtEl>
                                      </p:cBhvr>
                                    </p:animEffect>
                                  </p:childTnLst>
                                </p:cTn>
                              </p:par>
                            </p:childTnLst>
                          </p:cTn>
                        </p:par>
                        <p:par>
                          <p:cTn id="196" fill="hold">
                            <p:stCondLst>
                              <p:cond delay="2500"/>
                            </p:stCondLst>
                            <p:childTnLst>
                              <p:par>
                                <p:cTn id="197" presetID="4" presetClass="entr" presetSubtype="16" fill="hold" grpId="0" nodeType="afterEffect">
                                  <p:stCondLst>
                                    <p:cond delay="0"/>
                                  </p:stCondLst>
                                  <p:childTnLst>
                                    <p:set>
                                      <p:cBhvr>
                                        <p:cTn id="198" dur="1" fill="hold">
                                          <p:stCondLst>
                                            <p:cond delay="0"/>
                                          </p:stCondLst>
                                        </p:cTn>
                                        <p:tgtEl>
                                          <p:spTgt spid="52"/>
                                        </p:tgtEl>
                                        <p:attrNameLst>
                                          <p:attrName>style.visibility</p:attrName>
                                        </p:attrNameLst>
                                      </p:cBhvr>
                                      <p:to>
                                        <p:strVal val="visible"/>
                                      </p:to>
                                    </p:set>
                                    <p:animEffect transition="in" filter="box(in)">
                                      <p:cBhvr>
                                        <p:cTn id="199" dur="500"/>
                                        <p:tgtEl>
                                          <p:spTgt spid="52"/>
                                        </p:tgtEl>
                                      </p:cBhvr>
                                    </p:animEffect>
                                  </p:childTnLst>
                                </p:cTn>
                              </p:par>
                            </p:childTnLst>
                          </p:cTn>
                        </p:par>
                      </p:childTnLst>
                    </p:cTn>
                  </p:par>
                  <p:par>
                    <p:cTn id="200" fill="hold">
                      <p:stCondLst>
                        <p:cond delay="indefinite"/>
                      </p:stCondLst>
                      <p:childTnLst>
                        <p:par>
                          <p:cTn id="201" fill="hold">
                            <p:stCondLst>
                              <p:cond delay="0"/>
                            </p:stCondLst>
                            <p:childTnLst>
                              <p:par>
                                <p:cTn id="202" presetID="2" presetClass="entr" presetSubtype="6" fill="hold" grpId="0" nodeType="clickEffect">
                                  <p:stCondLst>
                                    <p:cond delay="0"/>
                                  </p:stCondLst>
                                  <p:childTnLst>
                                    <p:set>
                                      <p:cBhvr>
                                        <p:cTn id="203" dur="1" fill="hold">
                                          <p:stCondLst>
                                            <p:cond delay="0"/>
                                          </p:stCondLst>
                                        </p:cTn>
                                        <p:tgtEl>
                                          <p:spTgt spid="109619"/>
                                        </p:tgtEl>
                                        <p:attrNameLst>
                                          <p:attrName>style.visibility</p:attrName>
                                        </p:attrNameLst>
                                      </p:cBhvr>
                                      <p:to>
                                        <p:strVal val="visible"/>
                                      </p:to>
                                    </p:set>
                                    <p:anim calcmode="lin" valueType="num">
                                      <p:cBhvr additive="base">
                                        <p:cTn id="204" dur="500" fill="hold"/>
                                        <p:tgtEl>
                                          <p:spTgt spid="109619"/>
                                        </p:tgtEl>
                                        <p:attrNameLst>
                                          <p:attrName>ppt_x</p:attrName>
                                        </p:attrNameLst>
                                      </p:cBhvr>
                                      <p:tavLst>
                                        <p:tav tm="0">
                                          <p:val>
                                            <p:strVal val="1+#ppt_w/2"/>
                                          </p:val>
                                        </p:tav>
                                        <p:tav tm="100000">
                                          <p:val>
                                            <p:strVal val="#ppt_x"/>
                                          </p:val>
                                        </p:tav>
                                      </p:tavLst>
                                    </p:anim>
                                    <p:anim calcmode="lin" valueType="num">
                                      <p:cBhvr additive="base">
                                        <p:cTn id="205" dur="500" fill="hold"/>
                                        <p:tgtEl>
                                          <p:spTgt spid="109619"/>
                                        </p:tgtEl>
                                        <p:attrNameLst>
                                          <p:attrName>ppt_y</p:attrName>
                                        </p:attrNameLst>
                                      </p:cBhvr>
                                      <p:tavLst>
                                        <p:tav tm="0">
                                          <p:val>
                                            <p:strVal val="1+#ppt_h/2"/>
                                          </p:val>
                                        </p:tav>
                                        <p:tav tm="100000">
                                          <p:val>
                                            <p:strVal val="#ppt_y"/>
                                          </p:val>
                                        </p:tav>
                                      </p:tavLst>
                                    </p:anim>
                                  </p:childTnLst>
                                </p:cTn>
                              </p:par>
                            </p:childTnLst>
                          </p:cTn>
                        </p:par>
                        <p:par>
                          <p:cTn id="206" fill="hold">
                            <p:stCondLst>
                              <p:cond delay="500"/>
                            </p:stCondLst>
                            <p:childTnLst>
                              <p:par>
                                <p:cTn id="207" presetID="2" presetClass="entr" presetSubtype="4" fill="hold" grpId="0" nodeType="afterEffect">
                                  <p:stCondLst>
                                    <p:cond delay="0"/>
                                  </p:stCondLst>
                                  <p:childTnLst>
                                    <p:set>
                                      <p:cBhvr>
                                        <p:cTn id="208" dur="1" fill="hold">
                                          <p:stCondLst>
                                            <p:cond delay="0"/>
                                          </p:stCondLst>
                                        </p:cTn>
                                        <p:tgtEl>
                                          <p:spTgt spid="109620"/>
                                        </p:tgtEl>
                                        <p:attrNameLst>
                                          <p:attrName>style.visibility</p:attrName>
                                        </p:attrNameLst>
                                      </p:cBhvr>
                                      <p:to>
                                        <p:strVal val="visible"/>
                                      </p:to>
                                    </p:set>
                                    <p:anim calcmode="lin" valueType="num">
                                      <p:cBhvr additive="base">
                                        <p:cTn id="209" dur="500" fill="hold"/>
                                        <p:tgtEl>
                                          <p:spTgt spid="109620"/>
                                        </p:tgtEl>
                                        <p:attrNameLst>
                                          <p:attrName>ppt_x</p:attrName>
                                        </p:attrNameLst>
                                      </p:cBhvr>
                                      <p:tavLst>
                                        <p:tav tm="0">
                                          <p:val>
                                            <p:strVal val="#ppt_x"/>
                                          </p:val>
                                        </p:tav>
                                        <p:tav tm="100000">
                                          <p:val>
                                            <p:strVal val="#ppt_x"/>
                                          </p:val>
                                        </p:tav>
                                      </p:tavLst>
                                    </p:anim>
                                    <p:anim calcmode="lin" valueType="num">
                                      <p:cBhvr additive="base">
                                        <p:cTn id="210" dur="500" fill="hold"/>
                                        <p:tgtEl>
                                          <p:spTgt spid="1096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6" grpId="0" bldLvl="0" animBg="1"/>
      <p:bldP spid="8" grpId="0" bldLvl="0" animBg="1"/>
      <p:bldP spid="9" grpId="0" bldLvl="0" animBg="1"/>
      <p:bldP spid="10" grpId="0" bldLvl="0" animBg="1"/>
      <p:bldP spid="11" grpId="0" bldLvl="0" animBg="1"/>
      <p:bldP spid="109589" grpId="0"/>
      <p:bldP spid="24" grpId="0"/>
      <p:bldP spid="25" grpId="0"/>
      <p:bldP spid="26" grpId="0"/>
      <p:bldP spid="27" grpId="0"/>
      <p:bldP spid="28" grpId="0"/>
      <p:bldP spid="29" grpId="0"/>
      <p:bldP spid="30" grpId="0"/>
      <p:bldP spid="31" grpId="0"/>
      <p:bldP spid="32" grpId="0" bldLvl="0" animBg="1"/>
      <p:bldP spid="34" grpId="0" bldLvl="0" animBg="1"/>
      <p:bldP spid="36" grpId="0"/>
      <p:bldP spid="37" grpId="0" bldLvl="0" animBg="1"/>
      <p:bldP spid="39" grpId="0" bldLvl="0" animBg="1"/>
      <p:bldP spid="41" grpId="0" bldLvl="0" animBg="1"/>
      <p:bldP spid="43" grpId="0" bldLvl="0" animBg="1"/>
      <p:bldP spid="45" grpId="0" bldLvl="0" animBg="1"/>
      <p:bldP spid="46" grpId="0"/>
      <p:bldP spid="47" grpId="0"/>
      <p:bldP spid="48" grpId="0"/>
      <p:bldP spid="49" grpId="0"/>
      <p:bldP spid="50" grpId="0"/>
      <p:bldP spid="51" grpId="0"/>
      <p:bldP spid="52" grpId="0"/>
      <p:bldP spid="109619" grpId="0"/>
      <p:bldP spid="10962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6259" name="内容占位符 2"/>
          <p:cNvSpPr>
            <a:spLocks noGrp="1"/>
          </p:cNvSpPr>
          <p:nvPr>
            <p:ph idx="1"/>
          </p:nvPr>
        </p:nvSpPr>
        <p:spPr>
          <a:xfrm>
            <a:off x="838200" y="1472565"/>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设两个辅助数组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lowcost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数组</a:t>
            </a:r>
            <a:r>
              <a:rPr lang="en-US" altLang="zh-CN"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用于记录形成最小生成树过程中集合</a:t>
            </a:r>
            <a:r>
              <a:rPr lang="en-US" altLang="zh-CN" sz="2000" b="1" i="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的顶点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数组</a:t>
            </a:r>
            <a:r>
              <a:rPr lang="en-US" altLang="zh-CN"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lowcost </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用于记录集合</a:t>
            </a:r>
            <a:r>
              <a:rPr lang="en-US" altLang="zh-CN" sz="2000" b="1" i="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中每个顶点在加入集合</a:t>
            </a:r>
            <a:r>
              <a:rPr lang="en-US" altLang="zh-CN" sz="2000" b="1" i="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时所关联的最小代价的边的权值</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（此时该边两个顶点中的一个在集合</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中，另一个在集合</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V-U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7283" name="Rectangle 4"/>
          <p:cNvSpPr>
            <a:spLocks noGrp="1"/>
          </p:cNvSpPr>
          <p:nvPr>
            <p:ph idx="1"/>
          </p:nvPr>
        </p:nvSpPr>
        <p:spPr>
          <a:xfrm>
            <a:off x="1981200" y="922020"/>
            <a:ext cx="8229600" cy="547116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Autofit/>
          </a:bodyPr>
          <a:p>
            <a:pPr fontAlgn="auto">
              <a:lnSpc>
                <a:spcPct val="70000"/>
              </a:lnSpc>
              <a:buNone/>
            </a:pPr>
            <a:endParaRPr lang="en-US" altLang="zh-CN" sz="17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返回给定数组中，非</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最小元素的下标值</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int Minimum(int arr[], int n)</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int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int min=0;</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for(i=1; i&lt;n; i++)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if(arr[i]&gt;0)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min=i;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break;</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for(i=min; i&lt;n; i++)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if(arr[i]&gt;0 &amp;&amp; arr[i]&lt;arr[min])</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min=i;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    return min;</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70000"/>
              </a:lnSpc>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119888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u="heavy" dirty="0" smtClean="0">
              <a:solidFill>
                <a:schemeClr val="bg1"/>
              </a:solidFill>
              <a:latin typeface="微软雅黑" panose="020B0503020204020204" pitchFamily="34" charset="-122"/>
              <a:ea typeface="微软雅黑" panose="020B0503020204020204" pitchFamily="34" charset="-122"/>
            </a:endParaRPr>
          </a:p>
          <a:p>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8307" name="Rectangle 4"/>
          <p:cNvSpPr>
            <a:spLocks noGrp="1"/>
          </p:cNvSpPr>
          <p:nvPr>
            <p:ph idx="1"/>
          </p:nvPr>
        </p:nvSpPr>
        <p:spPr>
          <a:xfrm>
            <a:off x="1654810" y="1304925"/>
            <a:ext cx="8882380" cy="479806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10000"/>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Prim</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算法，从第</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个顶点出发</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计算并打印网</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的最小生成树</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void Prim(ALGraph&lt;VertexType&gt;&amp; g)</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if(g.GetNumVertices()==0)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cout&lt;&lt;"</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图中无顶点</a:t>
            </a:r>
            <a:r>
              <a:rPr lang="en-US" altLang="zh-CN" sz="1800" dirty="0">
                <a:solidFill>
                  <a:schemeClr val="tx1"/>
                </a:solidFill>
                <a:latin typeface="Times New Roman" panose="02020603050405020304" pitchFamily="18" charset="0"/>
                <a:cs typeface="Times New Roman" panose="02020603050405020304" pitchFamily="18" charset="0"/>
              </a:rPr>
              <a:t>!"&lt;&lt;endl;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 j, k=0;</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从第</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个顶点出发</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VertexType vex;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EdgeNode *edge=NULL;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*lowcost=new int[g.GetNumVertices()];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VertexType *U=new VertexType[g.GetNumVertices()];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393065" y="106045"/>
            <a:ext cx="6978650" cy="1198880"/>
          </a:xfrm>
          <a:prstGeom prst="rect">
            <a:avLst/>
          </a:prstGeom>
          <a:noFill/>
        </p:spPr>
        <p:txBody>
          <a:bodyPr wrap="square" rtlCol="0">
            <a:spAutoFit/>
          </a:bodyPr>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u="heavy" dirty="0" smtClean="0">
              <a:solidFill>
                <a:schemeClr val="bg1"/>
              </a:solidFill>
              <a:latin typeface="微软雅黑" panose="020B0503020204020204" pitchFamily="34" charset="-122"/>
              <a:ea typeface="微软雅黑" panose="020B0503020204020204" pitchFamily="34" charset="-122"/>
            </a:endParaRPr>
          </a:p>
          <a:p>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0355" name="Rectangle 4"/>
          <p:cNvSpPr>
            <a:spLocks noGrp="1"/>
          </p:cNvSpPr>
          <p:nvPr>
            <p:ph idx="1"/>
          </p:nvPr>
        </p:nvSpPr>
        <p:spPr>
          <a:xfrm>
            <a:off x="1828800" y="1209675"/>
            <a:ext cx="8534400" cy="4876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lowcost[i]=INT_MAX;</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if(i!=k &amp;&amp; g.GetEdge(k, i,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此处可见，对于该类问题，图的存贮以邻接矩阵为好</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lowcost[i]=edge-&gt;weight;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g.GetVertex(k, U[i]);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首先，在顶点集</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中加入位序为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的顶点</a:t>
            </a:r>
            <a:endParaRPr lang="zh-CN" altLang="en-US"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g.GetVertex(k, U[k]);</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0">
              <a:buNone/>
            </a:pPr>
            <a:r>
              <a:rPr lang="en-US" altLang="zh-CN" sz="1800" dirty="0">
                <a:solidFill>
                  <a:schemeClr val="tx1"/>
                </a:solidFill>
                <a:latin typeface="Times New Roman" panose="02020603050405020304" pitchFamily="18" charset="0"/>
                <a:cs typeface="Times New Roman" panose="02020603050405020304" pitchFamily="18" charset="0"/>
              </a:rPr>
              <a:t>  lowcost[k]=0;</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393065" y="106045"/>
            <a:ext cx="6978650" cy="119888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Prim</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u="heavy" dirty="0" smtClean="0">
              <a:solidFill>
                <a:schemeClr val="bg1"/>
              </a:solidFill>
              <a:latin typeface="微软雅黑" panose="020B0503020204020204" pitchFamily="34" charset="-122"/>
              <a:ea typeface="微软雅黑" panose="020B0503020204020204" pitchFamily="34" charset="-122"/>
            </a:endParaRPr>
          </a:p>
          <a:p>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2403" name="Rectangle 4"/>
          <p:cNvSpPr>
            <a:spLocks noGrp="1"/>
          </p:cNvSpPr>
          <p:nvPr>
            <p:ph idx="1"/>
          </p:nvPr>
        </p:nvSpPr>
        <p:spPr>
          <a:xfrm>
            <a:off x="1866900" y="1057275"/>
            <a:ext cx="8458200" cy="499745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rgbClr val="000066"/>
                </a:solidFill>
                <a:latin typeface="Consolas" panose="020B0609020204030204" pitchFamily="49" charset="0"/>
              </a:rPr>
              <a:t> </a:t>
            </a:r>
            <a:r>
              <a:rPr lang="en-US" altLang="zh-CN" sz="1800" dirty="0">
                <a:solidFill>
                  <a:schemeClr val="tx1"/>
                </a:solidFill>
                <a:latin typeface="Times New Roman" panose="02020603050405020304" pitchFamily="18" charset="0"/>
                <a:cs typeface="Times New Roman" panose="02020603050405020304" pitchFamily="18" charset="0"/>
              </a:rPr>
              <a:t>   for(i=1;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k=Minimum(lowcost, 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g.GetVertex(k,vex);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cout&lt;&lt;U[k]&lt;&lt;" --&gt; "&lt;&lt;vex&lt;&lt;" : "&lt;&lt;lowcost[k]&lt;&lt;endl;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lowcost[k]=0;</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for(j=0; j&lt;g.GetNumVertices(); j++){</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if(g.GetEdge(k, j, edge) &amp;&amp; edge-&gt;weight&lt;lowcost[j]){</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lowcost[j]=edge-&gt;weight;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g.GetVertex(k, U[j]);</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lowcost;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U;</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DeleteVertex</a:t>
            </a:r>
            <a:r>
              <a:rPr lang="zh-CN" altLang="en-US" sz="3600" b="1" dirty="0" smtClean="0">
                <a:solidFill>
                  <a:schemeClr val="bg1"/>
                </a:solidFill>
                <a:latin typeface="微软雅黑" panose="020B0503020204020204" pitchFamily="34" charset="-122"/>
                <a:ea typeface="微软雅黑" panose="020B0503020204020204" pitchFamily="34" charset="-122"/>
              </a:rPr>
              <a:t>函数（续 </a:t>
            </a:r>
            <a:r>
              <a:rPr lang="en-US" altLang="zh-CN" sz="3600" b="1" dirty="0" smtClean="0">
                <a:solidFill>
                  <a:schemeClr val="bg1"/>
                </a:solidFill>
                <a:latin typeface="微软雅黑" panose="020B0503020204020204" pitchFamily="34" charset="-122"/>
                <a:ea typeface="微软雅黑" panose="020B0503020204020204" pitchFamily="34" charset="-122"/>
              </a:rPr>
              <a:t>2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0594" name="Oval 2"/>
          <p:cNvSpPr/>
          <p:nvPr/>
        </p:nvSpPr>
        <p:spPr>
          <a:xfrm>
            <a:off x="5139055" y="12426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110595" name="Oval 3"/>
          <p:cNvSpPr/>
          <p:nvPr/>
        </p:nvSpPr>
        <p:spPr>
          <a:xfrm>
            <a:off x="7425055" y="12426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110596" name="Oval 4"/>
          <p:cNvSpPr/>
          <p:nvPr/>
        </p:nvSpPr>
        <p:spPr>
          <a:xfrm>
            <a:off x="8720455" y="16998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110597" name="Oval 5"/>
          <p:cNvSpPr/>
          <p:nvPr/>
        </p:nvSpPr>
        <p:spPr>
          <a:xfrm>
            <a:off x="8110855" y="25380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110598" name="Oval 6"/>
          <p:cNvSpPr/>
          <p:nvPr/>
        </p:nvSpPr>
        <p:spPr>
          <a:xfrm>
            <a:off x="6739255" y="22332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110599" name="Oval 7"/>
          <p:cNvSpPr/>
          <p:nvPr/>
        </p:nvSpPr>
        <p:spPr>
          <a:xfrm>
            <a:off x="4986655" y="27666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g</a:t>
            </a:r>
            <a:endParaRPr lang="en-US" altLang="zh-CN" b="1" dirty="0">
              <a:solidFill>
                <a:srgbClr val="FFFFFF"/>
              </a:solidFill>
              <a:latin typeface="Consolas" panose="020B0609020204030204" pitchFamily="49" charset="0"/>
            </a:endParaRPr>
          </a:p>
        </p:txBody>
      </p:sp>
      <p:sp>
        <p:nvSpPr>
          <p:cNvPr id="110600" name="Oval 8"/>
          <p:cNvSpPr/>
          <p:nvPr/>
        </p:nvSpPr>
        <p:spPr>
          <a:xfrm>
            <a:off x="6663055" y="3376295"/>
            <a:ext cx="457200" cy="41148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
        <p:nvSpPr>
          <p:cNvPr id="110601" name="Line 9"/>
          <p:cNvSpPr/>
          <p:nvPr/>
        </p:nvSpPr>
        <p:spPr>
          <a:xfrm flipV="1">
            <a:off x="5596255" y="1471295"/>
            <a:ext cx="1828800" cy="0"/>
          </a:xfrm>
          <a:prstGeom prst="line">
            <a:avLst/>
          </a:prstGeom>
          <a:ln w="28575" cap="sq" cmpd="sng">
            <a:solidFill>
              <a:schemeClr val="bg2"/>
            </a:solidFill>
            <a:prstDash val="solid"/>
            <a:headEnd type="none" w="sm" len="sm"/>
            <a:tailEnd type="none" w="sm" len="sm"/>
          </a:ln>
        </p:spPr>
      </p:sp>
      <p:sp>
        <p:nvSpPr>
          <p:cNvPr id="110602" name="Line 10"/>
          <p:cNvSpPr/>
          <p:nvPr/>
        </p:nvSpPr>
        <p:spPr>
          <a:xfrm>
            <a:off x="5520055" y="1623695"/>
            <a:ext cx="1295400" cy="685800"/>
          </a:xfrm>
          <a:prstGeom prst="line">
            <a:avLst/>
          </a:prstGeom>
          <a:ln w="28575" cap="sq" cmpd="sng">
            <a:solidFill>
              <a:schemeClr val="bg2"/>
            </a:solidFill>
            <a:prstDash val="solid"/>
            <a:headEnd type="none" w="sm" len="sm"/>
            <a:tailEnd type="none" w="sm" len="sm"/>
          </a:ln>
        </p:spPr>
      </p:sp>
      <p:sp>
        <p:nvSpPr>
          <p:cNvPr id="110603" name="Line 11"/>
          <p:cNvSpPr/>
          <p:nvPr/>
        </p:nvSpPr>
        <p:spPr>
          <a:xfrm flipH="1">
            <a:off x="7044055" y="1623695"/>
            <a:ext cx="457200" cy="609600"/>
          </a:xfrm>
          <a:prstGeom prst="line">
            <a:avLst/>
          </a:prstGeom>
          <a:ln w="28575" cap="sq" cmpd="sng">
            <a:solidFill>
              <a:schemeClr val="bg2"/>
            </a:solidFill>
            <a:prstDash val="solid"/>
            <a:headEnd type="none" w="sm" len="sm"/>
            <a:tailEnd type="none" w="sm" len="sm"/>
          </a:ln>
        </p:spPr>
      </p:sp>
      <p:sp>
        <p:nvSpPr>
          <p:cNvPr id="110604" name="Line 12"/>
          <p:cNvSpPr/>
          <p:nvPr/>
        </p:nvSpPr>
        <p:spPr>
          <a:xfrm flipH="1">
            <a:off x="5215255" y="1699895"/>
            <a:ext cx="152400" cy="1066800"/>
          </a:xfrm>
          <a:prstGeom prst="line">
            <a:avLst/>
          </a:prstGeom>
          <a:ln w="28575" cap="sq" cmpd="sng">
            <a:solidFill>
              <a:schemeClr val="bg2"/>
            </a:solidFill>
            <a:prstDash val="solid"/>
            <a:headEnd type="none" w="sm" len="sm"/>
            <a:tailEnd type="none" w="sm" len="sm"/>
          </a:ln>
        </p:spPr>
      </p:sp>
      <p:sp>
        <p:nvSpPr>
          <p:cNvPr id="110605" name="Line 13"/>
          <p:cNvSpPr/>
          <p:nvPr/>
        </p:nvSpPr>
        <p:spPr>
          <a:xfrm flipV="1">
            <a:off x="5443855" y="2538095"/>
            <a:ext cx="1295400" cy="381000"/>
          </a:xfrm>
          <a:prstGeom prst="line">
            <a:avLst/>
          </a:prstGeom>
          <a:ln w="28575" cap="sq" cmpd="sng">
            <a:solidFill>
              <a:schemeClr val="bg2"/>
            </a:solidFill>
            <a:prstDash val="solid"/>
            <a:headEnd type="none" w="sm" len="sm"/>
            <a:tailEnd type="none" w="sm" len="sm"/>
          </a:ln>
        </p:spPr>
      </p:sp>
      <p:sp>
        <p:nvSpPr>
          <p:cNvPr id="110606" name="Line 14"/>
          <p:cNvSpPr/>
          <p:nvPr/>
        </p:nvSpPr>
        <p:spPr>
          <a:xfrm>
            <a:off x="7196455" y="2461895"/>
            <a:ext cx="914400" cy="228600"/>
          </a:xfrm>
          <a:prstGeom prst="line">
            <a:avLst/>
          </a:prstGeom>
          <a:ln w="28575" cap="sq" cmpd="sng">
            <a:solidFill>
              <a:schemeClr val="bg2"/>
            </a:solidFill>
            <a:prstDash val="solid"/>
            <a:headEnd type="none" w="sm" len="sm"/>
            <a:tailEnd type="none" w="sm" len="sm"/>
          </a:ln>
        </p:spPr>
      </p:sp>
      <p:sp>
        <p:nvSpPr>
          <p:cNvPr id="110607" name="Line 15"/>
          <p:cNvSpPr/>
          <p:nvPr/>
        </p:nvSpPr>
        <p:spPr>
          <a:xfrm>
            <a:off x="7882255" y="1471295"/>
            <a:ext cx="838200" cy="304800"/>
          </a:xfrm>
          <a:prstGeom prst="line">
            <a:avLst/>
          </a:prstGeom>
          <a:ln w="28575" cap="sq" cmpd="sng">
            <a:solidFill>
              <a:schemeClr val="bg2"/>
            </a:solidFill>
            <a:prstDash val="solid"/>
            <a:headEnd type="none" w="sm" len="sm"/>
            <a:tailEnd type="none" w="sm" len="sm"/>
          </a:ln>
        </p:spPr>
      </p:sp>
      <p:sp>
        <p:nvSpPr>
          <p:cNvPr id="110608" name="Line 16"/>
          <p:cNvSpPr/>
          <p:nvPr/>
        </p:nvSpPr>
        <p:spPr>
          <a:xfrm flipH="1">
            <a:off x="8491855" y="2080895"/>
            <a:ext cx="304800" cy="457200"/>
          </a:xfrm>
          <a:prstGeom prst="line">
            <a:avLst/>
          </a:prstGeom>
          <a:ln w="28575" cap="sq" cmpd="sng">
            <a:solidFill>
              <a:schemeClr val="bg2"/>
            </a:solidFill>
            <a:prstDash val="solid"/>
            <a:headEnd type="none" w="sm" len="sm"/>
            <a:tailEnd type="none" w="sm" len="sm"/>
          </a:ln>
        </p:spPr>
      </p:sp>
      <p:sp>
        <p:nvSpPr>
          <p:cNvPr id="110609" name="Line 17"/>
          <p:cNvSpPr/>
          <p:nvPr/>
        </p:nvSpPr>
        <p:spPr>
          <a:xfrm>
            <a:off x="7806055" y="1623695"/>
            <a:ext cx="533400" cy="990600"/>
          </a:xfrm>
          <a:prstGeom prst="line">
            <a:avLst/>
          </a:prstGeom>
          <a:ln w="28575" cap="sq" cmpd="sng">
            <a:solidFill>
              <a:schemeClr val="bg2"/>
            </a:solidFill>
            <a:prstDash val="solid"/>
            <a:headEnd type="none" w="sm" len="sm"/>
            <a:tailEnd type="none" w="sm" len="sm"/>
          </a:ln>
        </p:spPr>
      </p:sp>
      <p:sp>
        <p:nvSpPr>
          <p:cNvPr id="110610" name="Line 18"/>
          <p:cNvSpPr/>
          <p:nvPr/>
        </p:nvSpPr>
        <p:spPr>
          <a:xfrm>
            <a:off x="5443855" y="3071495"/>
            <a:ext cx="1219200" cy="457200"/>
          </a:xfrm>
          <a:prstGeom prst="line">
            <a:avLst/>
          </a:prstGeom>
          <a:ln w="28575" cap="sq" cmpd="sng">
            <a:solidFill>
              <a:schemeClr val="bg2"/>
            </a:solidFill>
            <a:prstDash val="solid"/>
            <a:headEnd type="none" w="sm" len="sm"/>
            <a:tailEnd type="none" w="sm" len="sm"/>
          </a:ln>
        </p:spPr>
      </p:sp>
      <p:sp>
        <p:nvSpPr>
          <p:cNvPr id="110611" name="Line 19"/>
          <p:cNvSpPr/>
          <p:nvPr/>
        </p:nvSpPr>
        <p:spPr>
          <a:xfrm flipH="1">
            <a:off x="7120255" y="2842895"/>
            <a:ext cx="990600" cy="685800"/>
          </a:xfrm>
          <a:prstGeom prst="line">
            <a:avLst/>
          </a:prstGeom>
          <a:ln w="28575" cap="sq" cmpd="sng">
            <a:solidFill>
              <a:schemeClr val="bg2"/>
            </a:solidFill>
            <a:prstDash val="solid"/>
            <a:headEnd type="none" w="sm" len="sm"/>
            <a:tailEnd type="none" w="sm" len="sm"/>
          </a:ln>
        </p:spPr>
      </p:sp>
      <p:sp>
        <p:nvSpPr>
          <p:cNvPr id="110612" name="Text Box 20"/>
          <p:cNvSpPr txBox="1"/>
          <p:nvPr/>
        </p:nvSpPr>
        <p:spPr>
          <a:xfrm>
            <a:off x="6129655" y="1242060"/>
            <a:ext cx="539750" cy="51879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19</a:t>
            </a:r>
            <a:endParaRPr lang="en-US" altLang="zh-CN" sz="2800" b="1" dirty="0">
              <a:solidFill>
                <a:srgbClr val="FFFFFF"/>
              </a:solidFill>
              <a:latin typeface="Consolas" panose="020B0609020204030204" pitchFamily="49" charset="0"/>
            </a:endParaRPr>
          </a:p>
        </p:txBody>
      </p:sp>
      <p:sp>
        <p:nvSpPr>
          <p:cNvPr id="110613" name="Text Box 21"/>
          <p:cNvSpPr txBox="1"/>
          <p:nvPr/>
        </p:nvSpPr>
        <p:spPr>
          <a:xfrm>
            <a:off x="8263255" y="1166495"/>
            <a:ext cx="3619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5</a:t>
            </a:r>
            <a:endParaRPr lang="en-US" altLang="zh-CN" b="1" dirty="0">
              <a:solidFill>
                <a:schemeClr val="tx2"/>
              </a:solidFill>
              <a:latin typeface="Consolas" panose="020B0609020204030204" pitchFamily="49" charset="0"/>
            </a:endParaRPr>
          </a:p>
        </p:txBody>
      </p:sp>
      <p:sp>
        <p:nvSpPr>
          <p:cNvPr id="110614" name="Text Box 22"/>
          <p:cNvSpPr txBox="1"/>
          <p:nvPr/>
        </p:nvSpPr>
        <p:spPr>
          <a:xfrm>
            <a:off x="5748655" y="1471295"/>
            <a:ext cx="5397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14</a:t>
            </a:r>
            <a:endParaRPr lang="en-US" altLang="zh-CN" b="1" dirty="0">
              <a:solidFill>
                <a:srgbClr val="FFFFFF"/>
              </a:solidFill>
              <a:latin typeface="Consolas" panose="020B0609020204030204" pitchFamily="49" charset="0"/>
            </a:endParaRPr>
          </a:p>
        </p:txBody>
      </p:sp>
      <p:sp>
        <p:nvSpPr>
          <p:cNvPr id="110615" name="Text Box 23"/>
          <p:cNvSpPr txBox="1"/>
          <p:nvPr/>
        </p:nvSpPr>
        <p:spPr>
          <a:xfrm>
            <a:off x="4827905" y="1928495"/>
            <a:ext cx="5397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18</a:t>
            </a:r>
            <a:endParaRPr lang="en-US" altLang="zh-CN" sz="1800" b="1" dirty="0">
              <a:solidFill>
                <a:srgbClr val="FFFFFF"/>
              </a:solidFill>
              <a:latin typeface="Consolas" panose="020B0609020204030204" pitchFamily="49" charset="0"/>
            </a:endParaRPr>
          </a:p>
        </p:txBody>
      </p:sp>
      <p:sp>
        <p:nvSpPr>
          <p:cNvPr id="110616" name="Text Box 24"/>
          <p:cNvSpPr txBox="1"/>
          <p:nvPr/>
        </p:nvSpPr>
        <p:spPr>
          <a:xfrm>
            <a:off x="5883910" y="2919095"/>
            <a:ext cx="574675"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latin typeface="Consolas" panose="020B0609020204030204" pitchFamily="49" charset="0"/>
              </a:rPr>
              <a:t>27</a:t>
            </a:r>
            <a:endParaRPr lang="en-US" altLang="zh-CN" sz="1800" b="1" dirty="0">
              <a:latin typeface="Consolas" panose="020B0609020204030204" pitchFamily="49" charset="0"/>
            </a:endParaRPr>
          </a:p>
        </p:txBody>
      </p:sp>
      <p:sp>
        <p:nvSpPr>
          <p:cNvPr id="110617" name="Text Box 25"/>
          <p:cNvSpPr txBox="1"/>
          <p:nvPr/>
        </p:nvSpPr>
        <p:spPr>
          <a:xfrm>
            <a:off x="5596255" y="2353945"/>
            <a:ext cx="5397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16</a:t>
            </a:r>
            <a:endParaRPr lang="en-US" altLang="zh-CN" sz="2800" b="1" dirty="0">
              <a:solidFill>
                <a:srgbClr val="FFFFFF"/>
              </a:solidFill>
              <a:latin typeface="Consolas" panose="020B0609020204030204" pitchFamily="49" charset="0"/>
            </a:endParaRPr>
          </a:p>
        </p:txBody>
      </p:sp>
      <p:sp>
        <p:nvSpPr>
          <p:cNvPr id="110618" name="Text Box 26"/>
          <p:cNvSpPr txBox="1"/>
          <p:nvPr/>
        </p:nvSpPr>
        <p:spPr>
          <a:xfrm>
            <a:off x="7425055" y="2171700"/>
            <a:ext cx="361950" cy="51879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8</a:t>
            </a:r>
            <a:endParaRPr lang="en-US" altLang="zh-CN" sz="1800" b="1" dirty="0">
              <a:solidFill>
                <a:srgbClr val="FFFFFF"/>
              </a:solidFill>
              <a:latin typeface="Consolas" panose="020B0609020204030204" pitchFamily="49" charset="0"/>
            </a:endParaRPr>
          </a:p>
        </p:txBody>
      </p:sp>
      <p:sp>
        <p:nvSpPr>
          <p:cNvPr id="110619" name="Text Box 27"/>
          <p:cNvSpPr txBox="1"/>
          <p:nvPr/>
        </p:nvSpPr>
        <p:spPr>
          <a:xfrm>
            <a:off x="7196455" y="2781300"/>
            <a:ext cx="539750" cy="51879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21</a:t>
            </a:r>
            <a:endParaRPr lang="en-US" altLang="zh-CN" sz="2800" b="1" dirty="0">
              <a:solidFill>
                <a:srgbClr val="FFFFFF"/>
              </a:solidFill>
              <a:latin typeface="Consolas" panose="020B0609020204030204" pitchFamily="49" charset="0"/>
            </a:endParaRPr>
          </a:p>
        </p:txBody>
      </p:sp>
      <p:sp>
        <p:nvSpPr>
          <p:cNvPr id="110620" name="Text Box 28"/>
          <p:cNvSpPr txBox="1"/>
          <p:nvPr/>
        </p:nvSpPr>
        <p:spPr>
          <a:xfrm>
            <a:off x="8644255" y="2157095"/>
            <a:ext cx="3619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3</a:t>
            </a:r>
            <a:endParaRPr lang="en-US" altLang="zh-CN" sz="1800" b="1" dirty="0">
              <a:solidFill>
                <a:srgbClr val="FFFFFF"/>
              </a:solidFill>
              <a:latin typeface="Consolas" panose="020B0609020204030204" pitchFamily="49" charset="0"/>
            </a:endParaRPr>
          </a:p>
        </p:txBody>
      </p:sp>
      <p:sp>
        <p:nvSpPr>
          <p:cNvPr id="110621" name="Oval 29"/>
          <p:cNvSpPr/>
          <p:nvPr/>
        </p:nvSpPr>
        <p:spPr>
          <a:xfrm>
            <a:off x="5139055" y="1242695"/>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110622" name="Line 30"/>
          <p:cNvSpPr/>
          <p:nvPr/>
        </p:nvSpPr>
        <p:spPr>
          <a:xfrm>
            <a:off x="7196455" y="2477770"/>
            <a:ext cx="914400" cy="228600"/>
          </a:xfrm>
          <a:prstGeom prst="line">
            <a:avLst/>
          </a:prstGeom>
          <a:ln w="28575" cap="sq" cmpd="sng">
            <a:solidFill>
              <a:srgbClr val="FF6600"/>
            </a:solidFill>
            <a:prstDash val="solid"/>
            <a:headEnd type="none" w="sm" len="sm"/>
            <a:tailEnd type="none" w="sm" len="sm"/>
          </a:ln>
        </p:spPr>
      </p:sp>
      <p:sp>
        <p:nvSpPr>
          <p:cNvPr id="110623" name="Oval 31"/>
          <p:cNvSpPr/>
          <p:nvPr/>
        </p:nvSpPr>
        <p:spPr>
          <a:xfrm>
            <a:off x="6739255" y="2233295"/>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110624" name="Line 32"/>
          <p:cNvSpPr/>
          <p:nvPr/>
        </p:nvSpPr>
        <p:spPr>
          <a:xfrm>
            <a:off x="5520055" y="1623695"/>
            <a:ext cx="1295400" cy="685800"/>
          </a:xfrm>
          <a:prstGeom prst="line">
            <a:avLst/>
          </a:prstGeom>
          <a:ln w="28575" cap="sq" cmpd="sng">
            <a:solidFill>
              <a:srgbClr val="FF6600"/>
            </a:solidFill>
            <a:prstDash val="solid"/>
            <a:headEnd type="none" w="sm" len="sm"/>
            <a:tailEnd type="none" w="sm" len="sm"/>
          </a:ln>
        </p:spPr>
      </p:sp>
      <p:sp>
        <p:nvSpPr>
          <p:cNvPr id="110625" name="Text Box 33"/>
          <p:cNvSpPr txBox="1"/>
          <p:nvPr/>
        </p:nvSpPr>
        <p:spPr>
          <a:xfrm>
            <a:off x="6891655" y="1471295"/>
            <a:ext cx="5397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12</a:t>
            </a:r>
            <a:endParaRPr lang="en-US" altLang="zh-CN" sz="1800" b="1" dirty="0">
              <a:solidFill>
                <a:srgbClr val="FFFFFF"/>
              </a:solidFill>
              <a:latin typeface="Consolas" panose="020B0609020204030204" pitchFamily="49" charset="0"/>
            </a:endParaRPr>
          </a:p>
        </p:txBody>
      </p:sp>
      <p:sp>
        <p:nvSpPr>
          <p:cNvPr id="110626" name="Oval 34"/>
          <p:cNvSpPr/>
          <p:nvPr/>
        </p:nvSpPr>
        <p:spPr>
          <a:xfrm>
            <a:off x="8110855" y="2538095"/>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110627" name="Line 35"/>
          <p:cNvSpPr/>
          <p:nvPr/>
        </p:nvSpPr>
        <p:spPr>
          <a:xfrm flipH="1">
            <a:off x="8491855" y="2080895"/>
            <a:ext cx="304800" cy="457200"/>
          </a:xfrm>
          <a:prstGeom prst="line">
            <a:avLst/>
          </a:prstGeom>
          <a:ln w="28575" cap="sq" cmpd="sng">
            <a:solidFill>
              <a:srgbClr val="FF6600"/>
            </a:solidFill>
            <a:prstDash val="solid"/>
            <a:headEnd type="none" w="sm" len="sm"/>
            <a:tailEnd type="none" w="sm" len="sm"/>
          </a:ln>
        </p:spPr>
      </p:sp>
      <p:sp>
        <p:nvSpPr>
          <p:cNvPr id="110628" name="Oval 36"/>
          <p:cNvSpPr/>
          <p:nvPr/>
        </p:nvSpPr>
        <p:spPr>
          <a:xfrm>
            <a:off x="8720455" y="1699895"/>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110629" name="Line 37"/>
          <p:cNvSpPr/>
          <p:nvPr/>
        </p:nvSpPr>
        <p:spPr>
          <a:xfrm>
            <a:off x="7882255" y="1471295"/>
            <a:ext cx="838200" cy="304800"/>
          </a:xfrm>
          <a:prstGeom prst="line">
            <a:avLst/>
          </a:prstGeom>
          <a:ln w="28575" cap="sq" cmpd="sng">
            <a:solidFill>
              <a:srgbClr val="FF6600"/>
            </a:solidFill>
            <a:prstDash val="solid"/>
            <a:headEnd type="none" w="sm" len="sm"/>
            <a:tailEnd type="none" w="sm" len="sm"/>
          </a:ln>
        </p:spPr>
      </p:sp>
      <p:sp>
        <p:nvSpPr>
          <p:cNvPr id="110630" name="Oval 38"/>
          <p:cNvSpPr/>
          <p:nvPr/>
        </p:nvSpPr>
        <p:spPr>
          <a:xfrm>
            <a:off x="7425055" y="1242695"/>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110635" name="Text Box 43"/>
          <p:cNvSpPr txBox="1"/>
          <p:nvPr/>
        </p:nvSpPr>
        <p:spPr>
          <a:xfrm>
            <a:off x="7958455" y="1776095"/>
            <a:ext cx="361950" cy="51943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chemeClr val="tx2"/>
                </a:solidFill>
                <a:latin typeface="Consolas" panose="020B0609020204030204" pitchFamily="49" charset="0"/>
              </a:rPr>
              <a:t>7</a:t>
            </a:r>
            <a:endParaRPr lang="en-US" altLang="zh-CN" sz="1800" b="1" dirty="0">
              <a:solidFill>
                <a:srgbClr val="FFFFFF"/>
              </a:solidFill>
              <a:latin typeface="Consolas" panose="020B0609020204030204" pitchFamily="49" charset="0"/>
            </a:endParaRPr>
          </a:p>
        </p:txBody>
      </p:sp>
      <p:graphicFrame>
        <p:nvGraphicFramePr>
          <p:cNvPr id="110642" name="Object 50"/>
          <p:cNvGraphicFramePr>
            <a:graphicFrameLocks noChangeAspect="1"/>
          </p:cNvGraphicFramePr>
          <p:nvPr/>
        </p:nvGraphicFramePr>
        <p:xfrm>
          <a:off x="2291080" y="3919855"/>
          <a:ext cx="8162925" cy="2695575"/>
        </p:xfrm>
        <a:graphic>
          <a:graphicData uri="http://schemas.openxmlformats.org/presentationml/2006/ole">
            <mc:AlternateContent xmlns:mc="http://schemas.openxmlformats.org/markup-compatibility/2006">
              <mc:Choice xmlns:v="urn:schemas-microsoft-com:vml" Requires="v">
                <p:oleObj spid="_x0000_s3078" name="" r:id="rId1" imgW="8195310" imgH="2717800" progId="Word.Document.8">
                  <p:embed/>
                </p:oleObj>
              </mc:Choice>
              <mc:Fallback>
                <p:oleObj name="" r:id="rId1" imgW="8195310" imgH="2717800" progId="Word.Document.8">
                  <p:embed/>
                  <p:pic>
                    <p:nvPicPr>
                      <p:cNvPr id="0" name="图片 3077"/>
                      <p:cNvPicPr/>
                      <p:nvPr/>
                    </p:nvPicPr>
                    <p:blipFill>
                      <a:blip r:embed="rId2"/>
                      <a:stretch>
                        <a:fillRect/>
                      </a:stretch>
                    </p:blipFill>
                    <p:spPr>
                      <a:xfrm>
                        <a:off x="2291080" y="3919855"/>
                        <a:ext cx="8162925" cy="2695575"/>
                      </a:xfrm>
                      <a:prstGeom prst="rect">
                        <a:avLst/>
                      </a:prstGeom>
                      <a:noFill/>
                      <a:ln w="38100">
                        <a:noFill/>
                        <a:miter/>
                      </a:ln>
                    </p:spPr>
                  </p:pic>
                </p:oleObj>
              </mc:Fallback>
            </mc:AlternateContent>
          </a:graphicData>
        </a:graphic>
      </p:graphicFrame>
      <p:sp>
        <p:nvSpPr>
          <p:cNvPr id="110643" name="Text Box 51"/>
          <p:cNvSpPr txBox="1"/>
          <p:nvPr/>
        </p:nvSpPr>
        <p:spPr>
          <a:xfrm>
            <a:off x="5008880" y="500253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a</a:t>
            </a:r>
            <a:endParaRPr lang="en-US" altLang="zh-CN" sz="3600" b="1" dirty="0">
              <a:solidFill>
                <a:srgbClr val="FFFFFF"/>
              </a:solidFill>
              <a:latin typeface="Consolas" panose="020B0609020204030204" pitchFamily="49" charset="0"/>
            </a:endParaRPr>
          </a:p>
        </p:txBody>
      </p:sp>
      <p:sp>
        <p:nvSpPr>
          <p:cNvPr id="110644" name="Text Box 52"/>
          <p:cNvSpPr txBox="1"/>
          <p:nvPr/>
        </p:nvSpPr>
        <p:spPr>
          <a:xfrm>
            <a:off x="7752080" y="500253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a</a:t>
            </a:r>
            <a:endParaRPr lang="en-US" altLang="zh-CN" sz="3600" b="1" dirty="0">
              <a:solidFill>
                <a:srgbClr val="FFFFFF"/>
              </a:solidFill>
              <a:latin typeface="Consolas" panose="020B0609020204030204" pitchFamily="49" charset="0"/>
            </a:endParaRPr>
          </a:p>
        </p:txBody>
      </p:sp>
      <p:sp>
        <p:nvSpPr>
          <p:cNvPr id="110645" name="Text Box 53"/>
          <p:cNvSpPr txBox="1"/>
          <p:nvPr/>
        </p:nvSpPr>
        <p:spPr>
          <a:xfrm>
            <a:off x="9580880" y="497078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a</a:t>
            </a:r>
            <a:endParaRPr lang="en-US" altLang="zh-CN" sz="3600" b="1" dirty="0">
              <a:solidFill>
                <a:srgbClr val="FFFFFF"/>
              </a:solidFill>
              <a:latin typeface="Consolas" panose="020B0609020204030204" pitchFamily="49" charset="0"/>
            </a:endParaRPr>
          </a:p>
        </p:txBody>
      </p:sp>
      <p:sp>
        <p:nvSpPr>
          <p:cNvPr id="110646" name="Text Box 54"/>
          <p:cNvSpPr txBox="1"/>
          <p:nvPr/>
        </p:nvSpPr>
        <p:spPr>
          <a:xfrm>
            <a:off x="5008880" y="565658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19</a:t>
            </a:r>
            <a:endParaRPr lang="en-US" altLang="zh-CN" sz="3600" b="1" dirty="0">
              <a:solidFill>
                <a:srgbClr val="FFFFFF"/>
              </a:solidFill>
              <a:latin typeface="Consolas" panose="020B0609020204030204" pitchFamily="49" charset="0"/>
            </a:endParaRPr>
          </a:p>
        </p:txBody>
      </p:sp>
      <p:sp>
        <p:nvSpPr>
          <p:cNvPr id="110647" name="Text Box 55"/>
          <p:cNvSpPr txBox="1"/>
          <p:nvPr/>
        </p:nvSpPr>
        <p:spPr>
          <a:xfrm>
            <a:off x="7736205" y="568833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14</a:t>
            </a:r>
            <a:endParaRPr lang="en-US" altLang="zh-CN" sz="3600" b="1" dirty="0">
              <a:solidFill>
                <a:srgbClr val="FFFFFF"/>
              </a:solidFill>
              <a:latin typeface="Consolas" panose="020B0609020204030204" pitchFamily="49" charset="0"/>
            </a:endParaRPr>
          </a:p>
        </p:txBody>
      </p:sp>
      <p:sp>
        <p:nvSpPr>
          <p:cNvPr id="110648" name="Text Box 56"/>
          <p:cNvSpPr txBox="1"/>
          <p:nvPr/>
        </p:nvSpPr>
        <p:spPr>
          <a:xfrm>
            <a:off x="9565005" y="5656580"/>
            <a:ext cx="854075" cy="641350"/>
          </a:xfrm>
          <a:prstGeom prst="rect">
            <a:avLst/>
          </a:prstGeom>
          <a:no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18</a:t>
            </a:r>
            <a:endParaRPr lang="en-US" altLang="zh-CN" sz="3600" b="1" dirty="0">
              <a:solidFill>
                <a:srgbClr val="FFFFFF"/>
              </a:solidFill>
              <a:latin typeface="Consolas" panose="020B0609020204030204" pitchFamily="49" charset="0"/>
            </a:endParaRPr>
          </a:p>
        </p:txBody>
      </p:sp>
      <p:sp>
        <p:nvSpPr>
          <p:cNvPr id="110649" name="Text Box 57"/>
          <p:cNvSpPr txBox="1"/>
          <p:nvPr/>
        </p:nvSpPr>
        <p:spPr>
          <a:xfrm>
            <a:off x="7752080" y="5732780"/>
            <a:ext cx="854075" cy="64135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14</a:t>
            </a:r>
            <a:endParaRPr lang="en-US" altLang="zh-CN" sz="3600" b="1" dirty="0">
              <a:solidFill>
                <a:srgbClr val="FFFFFF"/>
              </a:solidFill>
              <a:latin typeface="Consolas" panose="020B0609020204030204" pitchFamily="49" charset="0"/>
            </a:endParaRPr>
          </a:p>
        </p:txBody>
      </p:sp>
      <p:sp>
        <p:nvSpPr>
          <p:cNvPr id="110651" name="Text Box 59"/>
          <p:cNvSpPr txBox="1"/>
          <p:nvPr/>
        </p:nvSpPr>
        <p:spPr>
          <a:xfrm>
            <a:off x="5008880" y="500253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e</a:t>
            </a:r>
            <a:endParaRPr lang="en-US" altLang="zh-CN" sz="3600" b="1" dirty="0">
              <a:solidFill>
                <a:srgbClr val="FFFFFF"/>
              </a:solidFill>
              <a:latin typeface="Consolas" panose="020B0609020204030204" pitchFamily="49" charset="0"/>
            </a:endParaRPr>
          </a:p>
        </p:txBody>
      </p:sp>
      <p:sp>
        <p:nvSpPr>
          <p:cNvPr id="110652" name="Text Box 60"/>
          <p:cNvSpPr txBox="1"/>
          <p:nvPr/>
        </p:nvSpPr>
        <p:spPr>
          <a:xfrm>
            <a:off x="5008880" y="572008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12</a:t>
            </a:r>
            <a:endParaRPr lang="en-US" altLang="zh-CN" sz="3600" b="1" dirty="0">
              <a:solidFill>
                <a:srgbClr val="FFFFFF"/>
              </a:solidFill>
              <a:latin typeface="Consolas" panose="020B0609020204030204" pitchFamily="49" charset="0"/>
            </a:endParaRPr>
          </a:p>
        </p:txBody>
      </p:sp>
      <p:sp>
        <p:nvSpPr>
          <p:cNvPr id="110653" name="Text Box 61"/>
          <p:cNvSpPr txBox="1"/>
          <p:nvPr/>
        </p:nvSpPr>
        <p:spPr>
          <a:xfrm>
            <a:off x="6821805" y="500253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e</a:t>
            </a:r>
            <a:endParaRPr lang="en-US" altLang="zh-CN" sz="3600" b="1" dirty="0">
              <a:solidFill>
                <a:srgbClr val="FFFFFF"/>
              </a:solidFill>
              <a:latin typeface="Consolas" panose="020B0609020204030204" pitchFamily="49" charset="0"/>
            </a:endParaRPr>
          </a:p>
        </p:txBody>
      </p:sp>
      <p:sp>
        <p:nvSpPr>
          <p:cNvPr id="110654" name="Text Box 62"/>
          <p:cNvSpPr txBox="1"/>
          <p:nvPr/>
        </p:nvSpPr>
        <p:spPr>
          <a:xfrm>
            <a:off x="9565005" y="500253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e</a:t>
            </a:r>
            <a:endParaRPr lang="en-US" altLang="zh-CN" sz="3600" b="1" dirty="0">
              <a:solidFill>
                <a:srgbClr val="FFFFFF"/>
              </a:solidFill>
              <a:latin typeface="Consolas" panose="020B0609020204030204" pitchFamily="49" charset="0"/>
            </a:endParaRPr>
          </a:p>
        </p:txBody>
      </p:sp>
      <p:sp>
        <p:nvSpPr>
          <p:cNvPr id="110655" name="Text Box 63"/>
          <p:cNvSpPr txBox="1"/>
          <p:nvPr/>
        </p:nvSpPr>
        <p:spPr>
          <a:xfrm>
            <a:off x="6821805" y="572008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latin typeface="Consolas" panose="020B0609020204030204" pitchFamily="49" charset="0"/>
              </a:rPr>
              <a:t>8</a:t>
            </a:r>
            <a:endParaRPr lang="en-US" altLang="zh-CN" sz="3600" b="1" dirty="0">
              <a:latin typeface="Consolas" panose="020B0609020204030204" pitchFamily="49" charset="0"/>
            </a:endParaRPr>
          </a:p>
        </p:txBody>
      </p:sp>
      <p:sp>
        <p:nvSpPr>
          <p:cNvPr id="110656" name="Text Box 64"/>
          <p:cNvSpPr txBox="1"/>
          <p:nvPr/>
        </p:nvSpPr>
        <p:spPr>
          <a:xfrm>
            <a:off x="9580880" y="5720080"/>
            <a:ext cx="854075" cy="654050"/>
          </a:xfrm>
          <a:prstGeom prst="rect">
            <a:avLst/>
          </a:prstGeom>
          <a:solidFill>
            <a:srgbClr val="FFFFFF"/>
          </a:solidFill>
          <a:ln w="12700" cap="sq" cmpd="sng">
            <a:solidFill>
              <a:srgbClr val="000080"/>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0082"/>
                </a:solidFill>
                <a:latin typeface="Consolas" panose="020B0609020204030204" pitchFamily="49" charset="0"/>
              </a:rPr>
              <a:t>16</a:t>
            </a:r>
            <a:endParaRPr lang="en-US" altLang="zh-CN" sz="3600" b="1" dirty="0">
              <a:solidFill>
                <a:srgbClr val="FFFFFF"/>
              </a:solidFill>
              <a:latin typeface="Consolas" panose="020B0609020204030204" pitchFamily="49" charset="0"/>
            </a:endParaRPr>
          </a:p>
        </p:txBody>
      </p:sp>
      <p:sp>
        <p:nvSpPr>
          <p:cNvPr id="110657" name="Text Box 65"/>
          <p:cNvSpPr txBox="1"/>
          <p:nvPr/>
        </p:nvSpPr>
        <p:spPr>
          <a:xfrm>
            <a:off x="6837680" y="5739130"/>
            <a:ext cx="854075" cy="64135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8</a:t>
            </a:r>
            <a:endParaRPr lang="en-US" altLang="zh-CN" sz="3600" b="1" dirty="0">
              <a:solidFill>
                <a:srgbClr val="FFFFFF"/>
              </a:solidFill>
              <a:latin typeface="Consolas" panose="020B0609020204030204" pitchFamily="49" charset="0"/>
            </a:endParaRPr>
          </a:p>
        </p:txBody>
      </p:sp>
      <p:sp>
        <p:nvSpPr>
          <p:cNvPr id="110658" name="Text Box 66"/>
          <p:cNvSpPr txBox="1"/>
          <p:nvPr/>
        </p:nvSpPr>
        <p:spPr>
          <a:xfrm>
            <a:off x="5923280" y="500253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sz="3600" b="1" dirty="0">
              <a:solidFill>
                <a:srgbClr val="FFFFFF"/>
              </a:solidFill>
              <a:latin typeface="Consolas" panose="020B0609020204030204" pitchFamily="49" charset="0"/>
            </a:endParaRPr>
          </a:p>
        </p:txBody>
      </p:sp>
      <p:sp>
        <p:nvSpPr>
          <p:cNvPr id="110659" name="Text Box 67"/>
          <p:cNvSpPr txBox="1"/>
          <p:nvPr/>
        </p:nvSpPr>
        <p:spPr>
          <a:xfrm>
            <a:off x="5923280" y="572008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3</a:t>
            </a:r>
            <a:endParaRPr lang="en-US" altLang="zh-CN" sz="3600" b="1" dirty="0">
              <a:solidFill>
                <a:srgbClr val="FFFFFF"/>
              </a:solidFill>
              <a:latin typeface="Consolas" panose="020B0609020204030204" pitchFamily="49" charset="0"/>
            </a:endParaRPr>
          </a:p>
        </p:txBody>
      </p:sp>
      <p:sp>
        <p:nvSpPr>
          <p:cNvPr id="110660" name="Text Box 68"/>
          <p:cNvSpPr txBox="1"/>
          <p:nvPr/>
        </p:nvSpPr>
        <p:spPr>
          <a:xfrm>
            <a:off x="5008880" y="500253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sz="3600" b="1" dirty="0">
              <a:solidFill>
                <a:srgbClr val="FFFFFF"/>
              </a:solidFill>
              <a:latin typeface="Consolas" panose="020B0609020204030204" pitchFamily="49" charset="0"/>
            </a:endParaRPr>
          </a:p>
        </p:txBody>
      </p:sp>
      <p:sp>
        <p:nvSpPr>
          <p:cNvPr id="110661" name="Text Box 69"/>
          <p:cNvSpPr txBox="1"/>
          <p:nvPr/>
        </p:nvSpPr>
        <p:spPr>
          <a:xfrm>
            <a:off x="8666480" y="500253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sz="3600" b="1" dirty="0">
              <a:solidFill>
                <a:srgbClr val="FFFFFF"/>
              </a:solidFill>
              <a:latin typeface="Consolas" panose="020B0609020204030204" pitchFamily="49" charset="0"/>
            </a:endParaRPr>
          </a:p>
        </p:txBody>
      </p:sp>
      <p:sp>
        <p:nvSpPr>
          <p:cNvPr id="110662" name="Text Box 70"/>
          <p:cNvSpPr txBox="1"/>
          <p:nvPr/>
        </p:nvSpPr>
        <p:spPr>
          <a:xfrm>
            <a:off x="5008880" y="572008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latin typeface="Consolas" panose="020B0609020204030204" pitchFamily="49" charset="0"/>
              </a:rPr>
              <a:t>7</a:t>
            </a:r>
            <a:endParaRPr lang="en-US" altLang="zh-CN" sz="3600" b="1" dirty="0">
              <a:latin typeface="Consolas" panose="020B0609020204030204" pitchFamily="49" charset="0"/>
            </a:endParaRPr>
          </a:p>
        </p:txBody>
      </p:sp>
      <p:sp>
        <p:nvSpPr>
          <p:cNvPr id="110663" name="Text Box 71"/>
          <p:cNvSpPr txBox="1"/>
          <p:nvPr/>
        </p:nvSpPr>
        <p:spPr>
          <a:xfrm>
            <a:off x="8666480" y="5720080"/>
            <a:ext cx="854075" cy="654050"/>
          </a:xfrm>
          <a:prstGeom prst="rect">
            <a:avLst/>
          </a:prstGeom>
          <a:solidFill>
            <a:srgbClr val="CCFFCC"/>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21</a:t>
            </a:r>
            <a:endParaRPr lang="en-US" altLang="zh-CN" sz="3600" b="1" dirty="0">
              <a:solidFill>
                <a:srgbClr val="FFFFFF"/>
              </a:solidFill>
              <a:latin typeface="Consolas" panose="020B0609020204030204" pitchFamily="49" charset="0"/>
            </a:endParaRPr>
          </a:p>
        </p:txBody>
      </p:sp>
      <p:sp>
        <p:nvSpPr>
          <p:cNvPr id="110664" name="Text Box 72"/>
          <p:cNvSpPr txBox="1"/>
          <p:nvPr/>
        </p:nvSpPr>
        <p:spPr>
          <a:xfrm>
            <a:off x="5923280" y="5720080"/>
            <a:ext cx="854075" cy="64135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3</a:t>
            </a:r>
            <a:endParaRPr lang="en-US" altLang="zh-CN" sz="3600" b="1" dirty="0">
              <a:solidFill>
                <a:srgbClr val="FFFFFF"/>
              </a:solidFill>
              <a:latin typeface="Consolas" panose="020B0609020204030204" pitchFamily="49" charset="0"/>
            </a:endParaRPr>
          </a:p>
        </p:txBody>
      </p:sp>
      <p:sp>
        <p:nvSpPr>
          <p:cNvPr id="110665" name="Text Box 73"/>
          <p:cNvSpPr txBox="1"/>
          <p:nvPr/>
        </p:nvSpPr>
        <p:spPr>
          <a:xfrm>
            <a:off x="5008880" y="5002530"/>
            <a:ext cx="854075" cy="654050"/>
          </a:xfrm>
          <a:prstGeom prst="rect">
            <a:avLst/>
          </a:prstGeom>
          <a:solidFill>
            <a:srgbClr val="FFFF99"/>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c</a:t>
            </a:r>
            <a:endParaRPr lang="en-US" altLang="zh-CN" sz="3600" b="1" dirty="0">
              <a:solidFill>
                <a:srgbClr val="FFFFFF"/>
              </a:solidFill>
              <a:latin typeface="Consolas" panose="020B0609020204030204" pitchFamily="49" charset="0"/>
            </a:endParaRPr>
          </a:p>
        </p:txBody>
      </p:sp>
      <p:sp>
        <p:nvSpPr>
          <p:cNvPr id="110666" name="Text Box 74"/>
          <p:cNvSpPr txBox="1"/>
          <p:nvPr/>
        </p:nvSpPr>
        <p:spPr>
          <a:xfrm>
            <a:off x="5008880" y="5701030"/>
            <a:ext cx="854075" cy="654050"/>
          </a:xfrm>
          <a:prstGeom prst="rect">
            <a:avLst/>
          </a:prstGeom>
          <a:solidFill>
            <a:srgbClr val="FFFF99"/>
          </a:solidFill>
          <a:ln w="12700" cap="sq" cmpd="sng">
            <a:solidFill>
              <a:schemeClr val="tx2"/>
            </a:solidFill>
            <a:prstDash val="solid"/>
            <a:miter/>
            <a:headEnd type="none" w="sm" len="sm"/>
            <a:tailEnd type="none" w="sm" len="sm"/>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5</a:t>
            </a:r>
            <a:endParaRPr lang="en-US" altLang="zh-CN" sz="3600" b="1" dirty="0">
              <a:solidFill>
                <a:srgbClr val="FFFFFF"/>
              </a:solidFill>
              <a:latin typeface="Consolas" panose="020B0609020204030204" pitchFamily="49" charset="0"/>
            </a:endParaRPr>
          </a:p>
        </p:txBody>
      </p:sp>
      <p:sp>
        <p:nvSpPr>
          <p:cNvPr id="110667" name="Text Box 75"/>
          <p:cNvSpPr txBox="1"/>
          <p:nvPr/>
        </p:nvSpPr>
        <p:spPr>
          <a:xfrm>
            <a:off x="5008880" y="5732780"/>
            <a:ext cx="854075" cy="64135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5</a:t>
            </a:r>
            <a:endParaRPr lang="en-US" altLang="zh-CN" sz="3600" b="1" dirty="0">
              <a:solidFill>
                <a:srgbClr val="FFFFFF"/>
              </a:solidFill>
              <a:latin typeface="Consolas" panose="020B0609020204030204" pitchFamily="49" charset="0"/>
            </a:endParaRPr>
          </a:p>
        </p:txBody>
      </p:sp>
      <p:sp>
        <p:nvSpPr>
          <p:cNvPr id="65" name="Line 30"/>
          <p:cNvSpPr/>
          <p:nvPr/>
        </p:nvSpPr>
        <p:spPr>
          <a:xfrm flipV="1">
            <a:off x="5436235" y="2538095"/>
            <a:ext cx="1303020" cy="381000"/>
          </a:xfrm>
          <a:prstGeom prst="line">
            <a:avLst/>
          </a:prstGeom>
          <a:ln w="28575" cap="sq" cmpd="sng">
            <a:solidFill>
              <a:srgbClr val="FF6600"/>
            </a:solidFill>
            <a:prstDash val="solid"/>
            <a:headEnd type="none" w="sm" len="sm"/>
            <a:tailEnd type="none" w="sm" len="sm"/>
          </a:ln>
        </p:spPr>
      </p:sp>
      <p:sp>
        <p:nvSpPr>
          <p:cNvPr id="66" name="Line 30"/>
          <p:cNvSpPr/>
          <p:nvPr/>
        </p:nvSpPr>
        <p:spPr>
          <a:xfrm flipV="1">
            <a:off x="7120255" y="2842895"/>
            <a:ext cx="952500" cy="685800"/>
          </a:xfrm>
          <a:prstGeom prst="line">
            <a:avLst/>
          </a:prstGeom>
          <a:ln w="28575" cap="sq" cmpd="sng">
            <a:solidFill>
              <a:srgbClr val="FF6600"/>
            </a:solidFill>
            <a:prstDash val="solid"/>
            <a:headEnd type="none" w="sm" len="sm"/>
            <a:tailEnd type="none" w="sm" len="sm"/>
          </a:ln>
        </p:spPr>
      </p:sp>
      <p:sp>
        <p:nvSpPr>
          <p:cNvPr id="67" name="Text Box 57"/>
          <p:cNvSpPr txBox="1"/>
          <p:nvPr/>
        </p:nvSpPr>
        <p:spPr>
          <a:xfrm>
            <a:off x="9589135" y="5712460"/>
            <a:ext cx="854075" cy="64135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16</a:t>
            </a:r>
            <a:endParaRPr lang="en-US" altLang="zh-CN" sz="3600" b="1" dirty="0">
              <a:solidFill>
                <a:srgbClr val="FFFFFF"/>
              </a:solidFill>
              <a:latin typeface="Consolas" panose="020B0609020204030204" pitchFamily="49" charset="0"/>
            </a:endParaRPr>
          </a:p>
        </p:txBody>
      </p:sp>
      <p:sp>
        <p:nvSpPr>
          <p:cNvPr id="68" name="Text Box 57"/>
          <p:cNvSpPr txBox="1"/>
          <p:nvPr/>
        </p:nvSpPr>
        <p:spPr>
          <a:xfrm>
            <a:off x="8691880" y="5707380"/>
            <a:ext cx="854075" cy="646430"/>
          </a:xfrm>
          <a:prstGeom prst="rect">
            <a:avLst/>
          </a:prstGeom>
          <a:solidFill>
            <a:srgbClr val="FADCDC"/>
          </a:solidFill>
          <a:ln w="12700">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FF0000"/>
                </a:solidFill>
                <a:latin typeface="Consolas" panose="020B0609020204030204" pitchFamily="49" charset="0"/>
              </a:rPr>
              <a:t>21</a:t>
            </a:r>
            <a:endParaRPr lang="en-US" altLang="zh-CN" sz="3600" b="1" dirty="0">
              <a:solidFill>
                <a:srgbClr val="FFFFFF"/>
              </a:solidFill>
              <a:latin typeface="Consolas" panose="020B0609020204030204" pitchFamily="49" charset="0"/>
            </a:endParaRPr>
          </a:p>
        </p:txBody>
      </p:sp>
      <p:sp>
        <p:nvSpPr>
          <p:cNvPr id="69" name="Oval 34"/>
          <p:cNvSpPr/>
          <p:nvPr/>
        </p:nvSpPr>
        <p:spPr>
          <a:xfrm>
            <a:off x="4958080" y="2752725"/>
            <a:ext cx="533400" cy="54737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800" b="1" dirty="0">
                <a:solidFill>
                  <a:srgbClr val="C00000"/>
                </a:solidFill>
                <a:latin typeface="Consolas" panose="020B0609020204030204" pitchFamily="49" charset="0"/>
              </a:rPr>
              <a:t>g</a:t>
            </a:r>
            <a:endParaRPr lang="en-US" altLang="zh-CN" sz="2800" b="1" dirty="0">
              <a:solidFill>
                <a:srgbClr val="C00000"/>
              </a:solidFill>
              <a:latin typeface="Consolas" panose="020B0609020204030204" pitchFamily="49" charset="0"/>
            </a:endParaRPr>
          </a:p>
        </p:txBody>
      </p:sp>
      <p:sp>
        <p:nvSpPr>
          <p:cNvPr id="70" name="Oval 34"/>
          <p:cNvSpPr/>
          <p:nvPr/>
        </p:nvSpPr>
        <p:spPr>
          <a:xfrm>
            <a:off x="6668135" y="3392170"/>
            <a:ext cx="457200" cy="41148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1059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1059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1059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10597"/>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10598"/>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10599"/>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10600"/>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110601"/>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110602"/>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110603"/>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110604"/>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110605"/>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110606"/>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110607"/>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110608"/>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110609"/>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110610"/>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110611"/>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grpId="0" nodeType="afterEffect">
                                  <p:stCondLst>
                                    <p:cond delay="0"/>
                                  </p:stCondLst>
                                  <p:childTnLst>
                                    <p:set>
                                      <p:cBhvr>
                                        <p:cTn id="60" dur="1" fill="hold">
                                          <p:stCondLst>
                                            <p:cond delay="499"/>
                                          </p:stCondLst>
                                        </p:cTn>
                                        <p:tgtEl>
                                          <p:spTgt spid="110612"/>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grpId="0" nodeType="afterEffect">
                                  <p:stCondLst>
                                    <p:cond delay="0"/>
                                  </p:stCondLst>
                                  <p:childTnLst>
                                    <p:set>
                                      <p:cBhvr>
                                        <p:cTn id="63" dur="1" fill="hold">
                                          <p:stCondLst>
                                            <p:cond delay="499"/>
                                          </p:stCondLst>
                                        </p:cTn>
                                        <p:tgtEl>
                                          <p:spTgt spid="110613"/>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110614"/>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110615"/>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110616"/>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110617"/>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110618"/>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110619"/>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110620"/>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110625"/>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11063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110642"/>
                                        </p:tgtEl>
                                        <p:attrNameLst>
                                          <p:attrName>style.visibility</p:attrName>
                                        </p:attrNameLst>
                                      </p:cBhvr>
                                      <p:to>
                                        <p:strVal val="visible"/>
                                      </p:to>
                                    </p:set>
                                    <p:animEffect transition="in" filter="dissolve">
                                      <p:cBhvr>
                                        <p:cTn id="95" dur="500"/>
                                        <p:tgtEl>
                                          <p:spTgt spid="110642"/>
                                        </p:tgtEl>
                                      </p:cBhvr>
                                    </p:animEffect>
                                  </p:childTnLst>
                                </p:cTn>
                              </p:par>
                            </p:childTnLst>
                          </p:cTn>
                        </p:par>
                      </p:childTnLst>
                    </p:cTn>
                  </p:par>
                  <p:par>
                    <p:cTn id="96" fill="hold">
                      <p:stCondLst>
                        <p:cond delay="indefinite"/>
                      </p:stCondLst>
                      <p:childTnLst>
                        <p:par>
                          <p:cTn id="97" fill="hold">
                            <p:stCondLst>
                              <p:cond delay="0"/>
                            </p:stCondLst>
                            <p:childTnLst>
                              <p:par>
                                <p:cTn id="98" presetID="12" presetClass="entr" presetSubtype="8" fill="hold" grpId="0" nodeType="clickEffect">
                                  <p:stCondLst>
                                    <p:cond delay="0"/>
                                  </p:stCondLst>
                                  <p:childTnLst>
                                    <p:set>
                                      <p:cBhvr>
                                        <p:cTn id="99" dur="1" fill="hold">
                                          <p:stCondLst>
                                            <p:cond delay="0"/>
                                          </p:stCondLst>
                                        </p:cTn>
                                        <p:tgtEl>
                                          <p:spTgt spid="110621"/>
                                        </p:tgtEl>
                                        <p:attrNameLst>
                                          <p:attrName>style.visibility</p:attrName>
                                        </p:attrNameLst>
                                      </p:cBhvr>
                                      <p:to>
                                        <p:strVal val="visible"/>
                                      </p:to>
                                    </p:set>
                                    <p:animEffect transition="in" filter="slide(fromLeft)">
                                      <p:cBhvr>
                                        <p:cTn id="100" dur="500"/>
                                        <p:tgtEl>
                                          <p:spTgt spid="110621"/>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110643"/>
                                        </p:tgtEl>
                                        <p:attrNameLst>
                                          <p:attrName>style.visibility</p:attrName>
                                        </p:attrNameLst>
                                      </p:cBhvr>
                                      <p:to>
                                        <p:strVal val="visible"/>
                                      </p:to>
                                    </p:set>
                                    <p:animEffect transition="in" filter="slide(fromLeft)">
                                      <p:cBhvr>
                                        <p:cTn id="105" dur="500"/>
                                        <p:tgtEl>
                                          <p:spTgt spid="110643"/>
                                        </p:tgtEl>
                                      </p:cBhvr>
                                    </p:animEffect>
                                  </p:childTnLst>
                                </p:cTn>
                              </p:par>
                            </p:childTnLst>
                          </p:cTn>
                        </p:par>
                        <p:par>
                          <p:cTn id="106" fill="hold">
                            <p:stCondLst>
                              <p:cond delay="500"/>
                            </p:stCondLst>
                            <p:childTnLst>
                              <p:par>
                                <p:cTn id="107" presetID="12" presetClass="entr" presetSubtype="8" fill="hold" grpId="0" nodeType="afterEffect">
                                  <p:stCondLst>
                                    <p:cond delay="0"/>
                                  </p:stCondLst>
                                  <p:childTnLst>
                                    <p:set>
                                      <p:cBhvr>
                                        <p:cTn id="108" dur="1" fill="hold">
                                          <p:stCondLst>
                                            <p:cond delay="0"/>
                                          </p:stCondLst>
                                        </p:cTn>
                                        <p:tgtEl>
                                          <p:spTgt spid="110646"/>
                                        </p:tgtEl>
                                        <p:attrNameLst>
                                          <p:attrName>style.visibility</p:attrName>
                                        </p:attrNameLst>
                                      </p:cBhvr>
                                      <p:to>
                                        <p:strVal val="visible"/>
                                      </p:to>
                                    </p:set>
                                    <p:animEffect transition="in" filter="slide(fromLeft)">
                                      <p:cBhvr>
                                        <p:cTn id="109" dur="500"/>
                                        <p:tgtEl>
                                          <p:spTgt spid="110646"/>
                                        </p:tgtEl>
                                      </p:cBhvr>
                                    </p:animEffect>
                                  </p:childTnLst>
                                </p:cTn>
                              </p:par>
                            </p:childTnLst>
                          </p:cTn>
                        </p:par>
                      </p:childTnLst>
                    </p:cTn>
                  </p:par>
                  <p:par>
                    <p:cTn id="110" fill="hold">
                      <p:stCondLst>
                        <p:cond delay="indefinite"/>
                      </p:stCondLst>
                      <p:childTnLst>
                        <p:par>
                          <p:cTn id="111" fill="hold">
                            <p:stCondLst>
                              <p:cond delay="0"/>
                            </p:stCondLst>
                            <p:childTnLst>
                              <p:par>
                                <p:cTn id="112" presetID="12" presetClass="entr" presetSubtype="8" fill="hold" grpId="0" nodeType="clickEffect">
                                  <p:stCondLst>
                                    <p:cond delay="0"/>
                                  </p:stCondLst>
                                  <p:childTnLst>
                                    <p:set>
                                      <p:cBhvr>
                                        <p:cTn id="113" dur="1" fill="hold">
                                          <p:stCondLst>
                                            <p:cond delay="0"/>
                                          </p:stCondLst>
                                        </p:cTn>
                                        <p:tgtEl>
                                          <p:spTgt spid="110644"/>
                                        </p:tgtEl>
                                        <p:attrNameLst>
                                          <p:attrName>style.visibility</p:attrName>
                                        </p:attrNameLst>
                                      </p:cBhvr>
                                      <p:to>
                                        <p:strVal val="visible"/>
                                      </p:to>
                                    </p:set>
                                    <p:animEffect transition="in" filter="slide(fromLeft)">
                                      <p:cBhvr>
                                        <p:cTn id="114" dur="500"/>
                                        <p:tgtEl>
                                          <p:spTgt spid="110644"/>
                                        </p:tgtEl>
                                      </p:cBhvr>
                                    </p:animEffect>
                                  </p:childTnLst>
                                </p:cTn>
                              </p:par>
                            </p:childTnLst>
                          </p:cTn>
                        </p:par>
                        <p:par>
                          <p:cTn id="115" fill="hold">
                            <p:stCondLst>
                              <p:cond delay="500"/>
                            </p:stCondLst>
                            <p:childTnLst>
                              <p:par>
                                <p:cTn id="116" presetID="12" presetClass="entr" presetSubtype="8" fill="hold" grpId="0" nodeType="afterEffect">
                                  <p:stCondLst>
                                    <p:cond delay="0"/>
                                  </p:stCondLst>
                                  <p:childTnLst>
                                    <p:set>
                                      <p:cBhvr>
                                        <p:cTn id="117" dur="1" fill="hold">
                                          <p:stCondLst>
                                            <p:cond delay="0"/>
                                          </p:stCondLst>
                                        </p:cTn>
                                        <p:tgtEl>
                                          <p:spTgt spid="110647"/>
                                        </p:tgtEl>
                                        <p:attrNameLst>
                                          <p:attrName>style.visibility</p:attrName>
                                        </p:attrNameLst>
                                      </p:cBhvr>
                                      <p:to>
                                        <p:strVal val="visible"/>
                                      </p:to>
                                    </p:set>
                                    <p:animEffect transition="in" filter="slide(fromLeft)">
                                      <p:cBhvr>
                                        <p:cTn id="118" dur="500"/>
                                        <p:tgtEl>
                                          <p:spTgt spid="110647"/>
                                        </p:tgtEl>
                                      </p:cBhvr>
                                    </p:animEffect>
                                  </p:childTnLst>
                                </p:cTn>
                              </p:par>
                            </p:childTnLst>
                          </p:cTn>
                        </p:par>
                      </p:childTnLst>
                    </p:cTn>
                  </p:par>
                  <p:par>
                    <p:cTn id="119" fill="hold">
                      <p:stCondLst>
                        <p:cond delay="indefinite"/>
                      </p:stCondLst>
                      <p:childTnLst>
                        <p:par>
                          <p:cTn id="120" fill="hold">
                            <p:stCondLst>
                              <p:cond delay="0"/>
                            </p:stCondLst>
                            <p:childTnLst>
                              <p:par>
                                <p:cTn id="121" presetID="12" presetClass="entr" presetSubtype="8" fill="hold" grpId="0" nodeType="clickEffect">
                                  <p:stCondLst>
                                    <p:cond delay="0"/>
                                  </p:stCondLst>
                                  <p:childTnLst>
                                    <p:set>
                                      <p:cBhvr>
                                        <p:cTn id="122" dur="1" fill="hold">
                                          <p:stCondLst>
                                            <p:cond delay="0"/>
                                          </p:stCondLst>
                                        </p:cTn>
                                        <p:tgtEl>
                                          <p:spTgt spid="110645"/>
                                        </p:tgtEl>
                                        <p:attrNameLst>
                                          <p:attrName>style.visibility</p:attrName>
                                        </p:attrNameLst>
                                      </p:cBhvr>
                                      <p:to>
                                        <p:strVal val="visible"/>
                                      </p:to>
                                    </p:set>
                                    <p:animEffect transition="in" filter="slide(fromLeft)">
                                      <p:cBhvr>
                                        <p:cTn id="123" dur="500"/>
                                        <p:tgtEl>
                                          <p:spTgt spid="110645"/>
                                        </p:tgtEl>
                                      </p:cBhvr>
                                    </p:animEffect>
                                  </p:childTnLst>
                                </p:cTn>
                              </p:par>
                            </p:childTnLst>
                          </p:cTn>
                        </p:par>
                        <p:par>
                          <p:cTn id="124" fill="hold">
                            <p:stCondLst>
                              <p:cond delay="500"/>
                            </p:stCondLst>
                            <p:childTnLst>
                              <p:par>
                                <p:cTn id="125" presetID="12" presetClass="entr" presetSubtype="8" fill="hold" grpId="0" nodeType="afterEffect">
                                  <p:stCondLst>
                                    <p:cond delay="0"/>
                                  </p:stCondLst>
                                  <p:childTnLst>
                                    <p:set>
                                      <p:cBhvr>
                                        <p:cTn id="126" dur="1" fill="hold">
                                          <p:stCondLst>
                                            <p:cond delay="0"/>
                                          </p:stCondLst>
                                        </p:cTn>
                                        <p:tgtEl>
                                          <p:spTgt spid="110648"/>
                                        </p:tgtEl>
                                        <p:attrNameLst>
                                          <p:attrName>style.visibility</p:attrName>
                                        </p:attrNameLst>
                                      </p:cBhvr>
                                      <p:to>
                                        <p:strVal val="visible"/>
                                      </p:to>
                                    </p:set>
                                    <p:animEffect transition="in" filter="slide(fromLeft)">
                                      <p:cBhvr>
                                        <p:cTn id="127" dur="500"/>
                                        <p:tgtEl>
                                          <p:spTgt spid="11064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10649"/>
                                        </p:tgtEl>
                                        <p:attrNameLst>
                                          <p:attrName>style.visibility</p:attrName>
                                        </p:attrNameLst>
                                      </p:cBhvr>
                                      <p:to>
                                        <p:strVal val="visible"/>
                                      </p:to>
                                    </p:set>
                                    <p:animEffect transition="in" filter="wipe(left)">
                                      <p:cBhvr>
                                        <p:cTn id="132" dur="500"/>
                                        <p:tgtEl>
                                          <p:spTgt spid="110649"/>
                                        </p:tgtEl>
                                      </p:cBhvr>
                                    </p:animEffect>
                                  </p:childTnLst>
                                </p:cTn>
                              </p:par>
                            </p:childTnLst>
                          </p:cTn>
                        </p:par>
                        <p:par>
                          <p:cTn id="133" fill="hold">
                            <p:stCondLst>
                              <p:cond delay="500"/>
                            </p:stCondLst>
                            <p:childTnLst>
                              <p:par>
                                <p:cTn id="134" presetID="17" presetClass="entr" presetSubtype="8" fill="hold" nodeType="afterEffect">
                                  <p:stCondLst>
                                    <p:cond delay="0"/>
                                  </p:stCondLst>
                                  <p:childTnLst>
                                    <p:set>
                                      <p:cBhvr>
                                        <p:cTn id="135" dur="1" fill="hold">
                                          <p:stCondLst>
                                            <p:cond delay="0"/>
                                          </p:stCondLst>
                                        </p:cTn>
                                        <p:tgtEl>
                                          <p:spTgt spid="110624"/>
                                        </p:tgtEl>
                                        <p:attrNameLst>
                                          <p:attrName>style.visibility</p:attrName>
                                        </p:attrNameLst>
                                      </p:cBhvr>
                                      <p:to>
                                        <p:strVal val="visible"/>
                                      </p:to>
                                    </p:set>
                                    <p:anim calcmode="lin" valueType="num">
                                      <p:cBhvr>
                                        <p:cTn id="136" dur="500" fill="hold"/>
                                        <p:tgtEl>
                                          <p:spTgt spid="110624"/>
                                        </p:tgtEl>
                                        <p:attrNameLst>
                                          <p:attrName>ppt_x</p:attrName>
                                        </p:attrNameLst>
                                      </p:cBhvr>
                                      <p:tavLst>
                                        <p:tav tm="0">
                                          <p:val>
                                            <p:strVal val="#ppt_x-#ppt_w/2"/>
                                          </p:val>
                                        </p:tav>
                                        <p:tav tm="100000">
                                          <p:val>
                                            <p:strVal val="#ppt_x"/>
                                          </p:val>
                                        </p:tav>
                                      </p:tavLst>
                                    </p:anim>
                                    <p:anim calcmode="lin" valueType="num">
                                      <p:cBhvr>
                                        <p:cTn id="137" dur="500" fill="hold"/>
                                        <p:tgtEl>
                                          <p:spTgt spid="110624"/>
                                        </p:tgtEl>
                                        <p:attrNameLst>
                                          <p:attrName>ppt_y</p:attrName>
                                        </p:attrNameLst>
                                      </p:cBhvr>
                                      <p:tavLst>
                                        <p:tav tm="0">
                                          <p:val>
                                            <p:strVal val="#ppt_y"/>
                                          </p:val>
                                        </p:tav>
                                        <p:tav tm="100000">
                                          <p:val>
                                            <p:strVal val="#ppt_y"/>
                                          </p:val>
                                        </p:tav>
                                      </p:tavLst>
                                    </p:anim>
                                    <p:anim calcmode="lin" valueType="num">
                                      <p:cBhvr>
                                        <p:cTn id="138" dur="500" fill="hold"/>
                                        <p:tgtEl>
                                          <p:spTgt spid="110624"/>
                                        </p:tgtEl>
                                        <p:attrNameLst>
                                          <p:attrName>ppt_w</p:attrName>
                                        </p:attrNameLst>
                                      </p:cBhvr>
                                      <p:tavLst>
                                        <p:tav tm="0">
                                          <p:val>
                                            <p:fltVal val="0.000000"/>
                                          </p:val>
                                        </p:tav>
                                        <p:tav tm="100000">
                                          <p:val>
                                            <p:strVal val="#ppt_w"/>
                                          </p:val>
                                        </p:tav>
                                      </p:tavLst>
                                    </p:anim>
                                    <p:anim calcmode="lin" valueType="num">
                                      <p:cBhvr>
                                        <p:cTn id="139" dur="500" fill="hold"/>
                                        <p:tgtEl>
                                          <p:spTgt spid="110624"/>
                                        </p:tgtEl>
                                        <p:attrNameLst>
                                          <p:attrName>ppt_h</p:attrName>
                                        </p:attrNameLst>
                                      </p:cBhvr>
                                      <p:tavLst>
                                        <p:tav tm="0">
                                          <p:val>
                                            <p:strVal val="#ppt_h"/>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12" presetClass="entr" presetSubtype="8" fill="hold" grpId="0" nodeType="clickEffect">
                                  <p:stCondLst>
                                    <p:cond delay="0"/>
                                  </p:stCondLst>
                                  <p:childTnLst>
                                    <p:set>
                                      <p:cBhvr>
                                        <p:cTn id="143" dur="1" fill="hold">
                                          <p:stCondLst>
                                            <p:cond delay="0"/>
                                          </p:stCondLst>
                                        </p:cTn>
                                        <p:tgtEl>
                                          <p:spTgt spid="110623"/>
                                        </p:tgtEl>
                                        <p:attrNameLst>
                                          <p:attrName>style.visibility</p:attrName>
                                        </p:attrNameLst>
                                      </p:cBhvr>
                                      <p:to>
                                        <p:strVal val="visible"/>
                                      </p:to>
                                    </p:set>
                                    <p:animEffect transition="in" filter="slide(fromLeft)">
                                      <p:cBhvr>
                                        <p:cTn id="144" dur="500"/>
                                        <p:tgtEl>
                                          <p:spTgt spid="110623"/>
                                        </p:tgtEl>
                                      </p:cBhvr>
                                    </p:animEffect>
                                  </p:childTnLst>
                                </p:cTn>
                              </p:par>
                            </p:childTnLst>
                          </p:cTn>
                        </p:par>
                      </p:childTnLst>
                    </p:cTn>
                  </p:par>
                  <p:par>
                    <p:cTn id="145" fill="hold">
                      <p:stCondLst>
                        <p:cond delay="indefinite"/>
                      </p:stCondLst>
                      <p:childTnLst>
                        <p:par>
                          <p:cTn id="146" fill="hold">
                            <p:stCondLst>
                              <p:cond delay="0"/>
                            </p:stCondLst>
                            <p:childTnLst>
                              <p:par>
                                <p:cTn id="147" presetID="12" presetClass="entr" presetSubtype="8" fill="hold" grpId="0" nodeType="clickEffect">
                                  <p:stCondLst>
                                    <p:cond delay="0"/>
                                  </p:stCondLst>
                                  <p:childTnLst>
                                    <p:set>
                                      <p:cBhvr>
                                        <p:cTn id="148" dur="1" fill="hold">
                                          <p:stCondLst>
                                            <p:cond delay="0"/>
                                          </p:stCondLst>
                                        </p:cTn>
                                        <p:tgtEl>
                                          <p:spTgt spid="110651"/>
                                        </p:tgtEl>
                                        <p:attrNameLst>
                                          <p:attrName>style.visibility</p:attrName>
                                        </p:attrNameLst>
                                      </p:cBhvr>
                                      <p:to>
                                        <p:strVal val="visible"/>
                                      </p:to>
                                    </p:set>
                                    <p:animEffect transition="in" filter="slide(fromLeft)">
                                      <p:cBhvr>
                                        <p:cTn id="149" dur="500"/>
                                        <p:tgtEl>
                                          <p:spTgt spid="110651"/>
                                        </p:tgtEl>
                                      </p:cBhvr>
                                    </p:animEffect>
                                  </p:childTnLst>
                                </p:cTn>
                              </p:par>
                            </p:childTnLst>
                          </p:cTn>
                        </p:par>
                        <p:par>
                          <p:cTn id="150" fill="hold">
                            <p:stCondLst>
                              <p:cond delay="500"/>
                            </p:stCondLst>
                            <p:childTnLst>
                              <p:par>
                                <p:cTn id="151" presetID="12" presetClass="entr" presetSubtype="8" fill="hold" grpId="0" nodeType="afterEffect">
                                  <p:stCondLst>
                                    <p:cond delay="0"/>
                                  </p:stCondLst>
                                  <p:childTnLst>
                                    <p:set>
                                      <p:cBhvr>
                                        <p:cTn id="152" dur="1" fill="hold">
                                          <p:stCondLst>
                                            <p:cond delay="0"/>
                                          </p:stCondLst>
                                        </p:cTn>
                                        <p:tgtEl>
                                          <p:spTgt spid="110652"/>
                                        </p:tgtEl>
                                        <p:attrNameLst>
                                          <p:attrName>style.visibility</p:attrName>
                                        </p:attrNameLst>
                                      </p:cBhvr>
                                      <p:to>
                                        <p:strVal val="visible"/>
                                      </p:to>
                                    </p:set>
                                    <p:animEffect transition="in" filter="slide(fromLeft)">
                                      <p:cBhvr>
                                        <p:cTn id="153" dur="500"/>
                                        <p:tgtEl>
                                          <p:spTgt spid="110652"/>
                                        </p:tgtEl>
                                      </p:cBhvr>
                                    </p:animEffect>
                                  </p:childTnLst>
                                </p:cTn>
                              </p:par>
                            </p:childTnLst>
                          </p:cTn>
                        </p:par>
                      </p:childTnLst>
                    </p:cTn>
                  </p:par>
                  <p:par>
                    <p:cTn id="154" fill="hold">
                      <p:stCondLst>
                        <p:cond delay="indefinite"/>
                      </p:stCondLst>
                      <p:childTnLst>
                        <p:par>
                          <p:cTn id="155" fill="hold">
                            <p:stCondLst>
                              <p:cond delay="0"/>
                            </p:stCondLst>
                            <p:childTnLst>
                              <p:par>
                                <p:cTn id="156" presetID="12" presetClass="entr" presetSubtype="8" fill="hold" grpId="0" nodeType="clickEffect">
                                  <p:stCondLst>
                                    <p:cond delay="0"/>
                                  </p:stCondLst>
                                  <p:childTnLst>
                                    <p:set>
                                      <p:cBhvr>
                                        <p:cTn id="157" dur="1" fill="hold">
                                          <p:stCondLst>
                                            <p:cond delay="0"/>
                                          </p:stCondLst>
                                        </p:cTn>
                                        <p:tgtEl>
                                          <p:spTgt spid="110653"/>
                                        </p:tgtEl>
                                        <p:attrNameLst>
                                          <p:attrName>style.visibility</p:attrName>
                                        </p:attrNameLst>
                                      </p:cBhvr>
                                      <p:to>
                                        <p:strVal val="visible"/>
                                      </p:to>
                                    </p:set>
                                    <p:animEffect transition="in" filter="slide(fromLeft)">
                                      <p:cBhvr>
                                        <p:cTn id="158" dur="500"/>
                                        <p:tgtEl>
                                          <p:spTgt spid="110653"/>
                                        </p:tgtEl>
                                      </p:cBhvr>
                                    </p:animEffect>
                                  </p:childTnLst>
                                </p:cTn>
                              </p:par>
                            </p:childTnLst>
                          </p:cTn>
                        </p:par>
                        <p:par>
                          <p:cTn id="159" fill="hold">
                            <p:stCondLst>
                              <p:cond delay="500"/>
                            </p:stCondLst>
                            <p:childTnLst>
                              <p:par>
                                <p:cTn id="160" presetID="12" presetClass="entr" presetSubtype="8" fill="hold" grpId="0" nodeType="afterEffect">
                                  <p:stCondLst>
                                    <p:cond delay="0"/>
                                  </p:stCondLst>
                                  <p:childTnLst>
                                    <p:set>
                                      <p:cBhvr>
                                        <p:cTn id="161" dur="1" fill="hold">
                                          <p:stCondLst>
                                            <p:cond delay="0"/>
                                          </p:stCondLst>
                                        </p:cTn>
                                        <p:tgtEl>
                                          <p:spTgt spid="110655"/>
                                        </p:tgtEl>
                                        <p:attrNameLst>
                                          <p:attrName>style.visibility</p:attrName>
                                        </p:attrNameLst>
                                      </p:cBhvr>
                                      <p:to>
                                        <p:strVal val="visible"/>
                                      </p:to>
                                    </p:set>
                                    <p:animEffect transition="in" filter="slide(fromLeft)">
                                      <p:cBhvr>
                                        <p:cTn id="162" dur="500"/>
                                        <p:tgtEl>
                                          <p:spTgt spid="110655"/>
                                        </p:tgtEl>
                                      </p:cBhvr>
                                    </p:animEffect>
                                  </p:childTnLst>
                                </p:cTn>
                              </p:par>
                            </p:childTnLst>
                          </p:cTn>
                        </p:par>
                      </p:childTnLst>
                    </p:cTn>
                  </p:par>
                  <p:par>
                    <p:cTn id="163" fill="hold">
                      <p:stCondLst>
                        <p:cond delay="indefinite"/>
                      </p:stCondLst>
                      <p:childTnLst>
                        <p:par>
                          <p:cTn id="164" fill="hold">
                            <p:stCondLst>
                              <p:cond delay="0"/>
                            </p:stCondLst>
                            <p:childTnLst>
                              <p:par>
                                <p:cTn id="165" presetID="12" presetClass="entr" presetSubtype="8" fill="hold" grpId="0" nodeType="clickEffect">
                                  <p:stCondLst>
                                    <p:cond delay="0"/>
                                  </p:stCondLst>
                                  <p:childTnLst>
                                    <p:set>
                                      <p:cBhvr>
                                        <p:cTn id="166" dur="1" fill="hold">
                                          <p:stCondLst>
                                            <p:cond delay="0"/>
                                          </p:stCondLst>
                                        </p:cTn>
                                        <p:tgtEl>
                                          <p:spTgt spid="110654"/>
                                        </p:tgtEl>
                                        <p:attrNameLst>
                                          <p:attrName>style.visibility</p:attrName>
                                        </p:attrNameLst>
                                      </p:cBhvr>
                                      <p:to>
                                        <p:strVal val="visible"/>
                                      </p:to>
                                    </p:set>
                                    <p:animEffect transition="in" filter="slide(fromLeft)">
                                      <p:cBhvr>
                                        <p:cTn id="167" dur="500"/>
                                        <p:tgtEl>
                                          <p:spTgt spid="110654"/>
                                        </p:tgtEl>
                                      </p:cBhvr>
                                    </p:animEffect>
                                  </p:childTnLst>
                                </p:cTn>
                              </p:par>
                            </p:childTnLst>
                          </p:cTn>
                        </p:par>
                        <p:par>
                          <p:cTn id="168" fill="hold">
                            <p:stCondLst>
                              <p:cond delay="500"/>
                            </p:stCondLst>
                            <p:childTnLst>
                              <p:par>
                                <p:cTn id="169" presetID="12" presetClass="entr" presetSubtype="8" fill="hold" grpId="0" nodeType="afterEffect">
                                  <p:stCondLst>
                                    <p:cond delay="0"/>
                                  </p:stCondLst>
                                  <p:childTnLst>
                                    <p:set>
                                      <p:cBhvr>
                                        <p:cTn id="170" dur="1" fill="hold">
                                          <p:stCondLst>
                                            <p:cond delay="0"/>
                                          </p:stCondLst>
                                        </p:cTn>
                                        <p:tgtEl>
                                          <p:spTgt spid="110656"/>
                                        </p:tgtEl>
                                        <p:attrNameLst>
                                          <p:attrName>style.visibility</p:attrName>
                                        </p:attrNameLst>
                                      </p:cBhvr>
                                      <p:to>
                                        <p:strVal val="visible"/>
                                      </p:to>
                                    </p:set>
                                    <p:animEffect transition="in" filter="slide(fromLeft)">
                                      <p:cBhvr>
                                        <p:cTn id="171" dur="500"/>
                                        <p:tgtEl>
                                          <p:spTgt spid="110656"/>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110657"/>
                                        </p:tgtEl>
                                        <p:attrNameLst>
                                          <p:attrName>style.visibility</p:attrName>
                                        </p:attrNameLst>
                                      </p:cBhvr>
                                      <p:to>
                                        <p:strVal val="visible"/>
                                      </p:to>
                                    </p:set>
                                    <p:animEffect transition="in" filter="wipe(left)">
                                      <p:cBhvr>
                                        <p:cTn id="176" dur="500"/>
                                        <p:tgtEl>
                                          <p:spTgt spid="110657"/>
                                        </p:tgtEl>
                                      </p:cBhvr>
                                    </p:animEffect>
                                  </p:childTnLst>
                                </p:cTn>
                              </p:par>
                            </p:childTnLst>
                          </p:cTn>
                        </p:par>
                        <p:par>
                          <p:cTn id="177" fill="hold">
                            <p:stCondLst>
                              <p:cond delay="500"/>
                            </p:stCondLst>
                            <p:childTnLst>
                              <p:par>
                                <p:cTn id="178" presetID="17" presetClass="entr" presetSubtype="8" fill="hold" nodeType="afterEffect">
                                  <p:stCondLst>
                                    <p:cond delay="0"/>
                                  </p:stCondLst>
                                  <p:childTnLst>
                                    <p:set>
                                      <p:cBhvr>
                                        <p:cTn id="179" dur="1" fill="hold">
                                          <p:stCondLst>
                                            <p:cond delay="0"/>
                                          </p:stCondLst>
                                        </p:cTn>
                                        <p:tgtEl>
                                          <p:spTgt spid="110622"/>
                                        </p:tgtEl>
                                        <p:attrNameLst>
                                          <p:attrName>style.visibility</p:attrName>
                                        </p:attrNameLst>
                                      </p:cBhvr>
                                      <p:to>
                                        <p:strVal val="visible"/>
                                      </p:to>
                                    </p:set>
                                    <p:anim calcmode="lin" valueType="num">
                                      <p:cBhvr>
                                        <p:cTn id="180" dur="500" fill="hold"/>
                                        <p:tgtEl>
                                          <p:spTgt spid="110622"/>
                                        </p:tgtEl>
                                        <p:attrNameLst>
                                          <p:attrName>ppt_x</p:attrName>
                                        </p:attrNameLst>
                                      </p:cBhvr>
                                      <p:tavLst>
                                        <p:tav tm="0">
                                          <p:val>
                                            <p:strVal val="#ppt_x-#ppt_w/2"/>
                                          </p:val>
                                        </p:tav>
                                        <p:tav tm="100000">
                                          <p:val>
                                            <p:strVal val="#ppt_x"/>
                                          </p:val>
                                        </p:tav>
                                      </p:tavLst>
                                    </p:anim>
                                    <p:anim calcmode="lin" valueType="num">
                                      <p:cBhvr>
                                        <p:cTn id="181" dur="500" fill="hold"/>
                                        <p:tgtEl>
                                          <p:spTgt spid="110622"/>
                                        </p:tgtEl>
                                        <p:attrNameLst>
                                          <p:attrName>ppt_y</p:attrName>
                                        </p:attrNameLst>
                                      </p:cBhvr>
                                      <p:tavLst>
                                        <p:tav tm="0">
                                          <p:val>
                                            <p:strVal val="#ppt_y"/>
                                          </p:val>
                                        </p:tav>
                                        <p:tav tm="100000">
                                          <p:val>
                                            <p:strVal val="#ppt_y"/>
                                          </p:val>
                                        </p:tav>
                                      </p:tavLst>
                                    </p:anim>
                                    <p:anim calcmode="lin" valueType="num">
                                      <p:cBhvr>
                                        <p:cTn id="182" dur="500" fill="hold"/>
                                        <p:tgtEl>
                                          <p:spTgt spid="110622"/>
                                        </p:tgtEl>
                                        <p:attrNameLst>
                                          <p:attrName>ppt_w</p:attrName>
                                        </p:attrNameLst>
                                      </p:cBhvr>
                                      <p:tavLst>
                                        <p:tav tm="0">
                                          <p:val>
                                            <p:fltVal val="0.000000"/>
                                          </p:val>
                                        </p:tav>
                                        <p:tav tm="100000">
                                          <p:val>
                                            <p:strVal val="#ppt_w"/>
                                          </p:val>
                                        </p:tav>
                                      </p:tavLst>
                                    </p:anim>
                                    <p:anim calcmode="lin" valueType="num">
                                      <p:cBhvr>
                                        <p:cTn id="183" dur="500" fill="hold"/>
                                        <p:tgtEl>
                                          <p:spTgt spid="110622"/>
                                        </p:tgtEl>
                                        <p:attrNameLst>
                                          <p:attrName>ppt_h</p:attrName>
                                        </p:attrNameLst>
                                      </p:cBhvr>
                                      <p:tavLst>
                                        <p:tav tm="0">
                                          <p:val>
                                            <p:strVal val="#ppt_h"/>
                                          </p:val>
                                        </p:tav>
                                        <p:tav tm="100000">
                                          <p:val>
                                            <p:strVal val="#ppt_h"/>
                                          </p:val>
                                        </p:tav>
                                      </p:tavLst>
                                    </p:anim>
                                  </p:childTnLst>
                                </p:cTn>
                              </p:par>
                            </p:childTnLst>
                          </p:cTn>
                        </p:par>
                      </p:childTnLst>
                    </p:cTn>
                  </p:par>
                  <p:par>
                    <p:cTn id="184" fill="hold">
                      <p:stCondLst>
                        <p:cond delay="indefinite"/>
                      </p:stCondLst>
                      <p:childTnLst>
                        <p:par>
                          <p:cTn id="185" fill="hold">
                            <p:stCondLst>
                              <p:cond delay="0"/>
                            </p:stCondLst>
                            <p:childTnLst>
                              <p:par>
                                <p:cTn id="186" presetID="12" presetClass="entr" presetSubtype="8" fill="hold" grpId="0" nodeType="clickEffect">
                                  <p:stCondLst>
                                    <p:cond delay="0"/>
                                  </p:stCondLst>
                                  <p:childTnLst>
                                    <p:set>
                                      <p:cBhvr>
                                        <p:cTn id="187" dur="1" fill="hold">
                                          <p:stCondLst>
                                            <p:cond delay="0"/>
                                          </p:stCondLst>
                                        </p:cTn>
                                        <p:tgtEl>
                                          <p:spTgt spid="110626"/>
                                        </p:tgtEl>
                                        <p:attrNameLst>
                                          <p:attrName>style.visibility</p:attrName>
                                        </p:attrNameLst>
                                      </p:cBhvr>
                                      <p:to>
                                        <p:strVal val="visible"/>
                                      </p:to>
                                    </p:set>
                                    <p:animEffect transition="in" filter="slide(fromLeft)">
                                      <p:cBhvr>
                                        <p:cTn id="188" dur="500"/>
                                        <p:tgtEl>
                                          <p:spTgt spid="110626"/>
                                        </p:tgtEl>
                                      </p:cBhvr>
                                    </p:animEffect>
                                  </p:childTnLst>
                                </p:cTn>
                              </p:par>
                            </p:childTnLst>
                          </p:cTn>
                        </p:par>
                      </p:childTnLst>
                    </p:cTn>
                  </p:par>
                  <p:par>
                    <p:cTn id="189" fill="hold">
                      <p:stCondLst>
                        <p:cond delay="indefinite"/>
                      </p:stCondLst>
                      <p:childTnLst>
                        <p:par>
                          <p:cTn id="190" fill="hold">
                            <p:stCondLst>
                              <p:cond delay="0"/>
                            </p:stCondLst>
                            <p:childTnLst>
                              <p:par>
                                <p:cTn id="191" presetID="12" presetClass="entr" presetSubtype="8" fill="hold" grpId="0" nodeType="clickEffect">
                                  <p:stCondLst>
                                    <p:cond delay="0"/>
                                  </p:stCondLst>
                                  <p:childTnLst>
                                    <p:set>
                                      <p:cBhvr>
                                        <p:cTn id="192" dur="1" fill="hold">
                                          <p:stCondLst>
                                            <p:cond delay="0"/>
                                          </p:stCondLst>
                                        </p:cTn>
                                        <p:tgtEl>
                                          <p:spTgt spid="110660"/>
                                        </p:tgtEl>
                                        <p:attrNameLst>
                                          <p:attrName>style.visibility</p:attrName>
                                        </p:attrNameLst>
                                      </p:cBhvr>
                                      <p:to>
                                        <p:strVal val="visible"/>
                                      </p:to>
                                    </p:set>
                                    <p:animEffect transition="in" filter="slide(fromLeft)">
                                      <p:cBhvr>
                                        <p:cTn id="193" dur="500"/>
                                        <p:tgtEl>
                                          <p:spTgt spid="110660"/>
                                        </p:tgtEl>
                                      </p:cBhvr>
                                    </p:animEffect>
                                  </p:childTnLst>
                                </p:cTn>
                              </p:par>
                            </p:childTnLst>
                          </p:cTn>
                        </p:par>
                        <p:par>
                          <p:cTn id="194" fill="hold">
                            <p:stCondLst>
                              <p:cond delay="500"/>
                            </p:stCondLst>
                            <p:childTnLst>
                              <p:par>
                                <p:cTn id="195" presetID="12" presetClass="entr" presetSubtype="8" fill="hold" grpId="0" nodeType="afterEffect">
                                  <p:stCondLst>
                                    <p:cond delay="0"/>
                                  </p:stCondLst>
                                  <p:childTnLst>
                                    <p:set>
                                      <p:cBhvr>
                                        <p:cTn id="196" dur="1" fill="hold">
                                          <p:stCondLst>
                                            <p:cond delay="0"/>
                                          </p:stCondLst>
                                        </p:cTn>
                                        <p:tgtEl>
                                          <p:spTgt spid="110662"/>
                                        </p:tgtEl>
                                        <p:attrNameLst>
                                          <p:attrName>style.visibility</p:attrName>
                                        </p:attrNameLst>
                                      </p:cBhvr>
                                      <p:to>
                                        <p:strVal val="visible"/>
                                      </p:to>
                                    </p:set>
                                    <p:animEffect transition="in" filter="slide(fromLeft)">
                                      <p:cBhvr>
                                        <p:cTn id="197" dur="500"/>
                                        <p:tgtEl>
                                          <p:spTgt spid="110662"/>
                                        </p:tgtEl>
                                      </p:cBhvr>
                                    </p:animEffect>
                                  </p:childTnLst>
                                </p:cTn>
                              </p:par>
                            </p:childTnLst>
                          </p:cTn>
                        </p:par>
                      </p:childTnLst>
                    </p:cTn>
                  </p:par>
                  <p:par>
                    <p:cTn id="198" fill="hold">
                      <p:stCondLst>
                        <p:cond delay="indefinite"/>
                      </p:stCondLst>
                      <p:childTnLst>
                        <p:par>
                          <p:cTn id="199" fill="hold">
                            <p:stCondLst>
                              <p:cond delay="0"/>
                            </p:stCondLst>
                            <p:childTnLst>
                              <p:par>
                                <p:cTn id="200" presetID="12" presetClass="entr" presetSubtype="8" fill="hold" grpId="0" nodeType="clickEffect">
                                  <p:stCondLst>
                                    <p:cond delay="0"/>
                                  </p:stCondLst>
                                  <p:childTnLst>
                                    <p:set>
                                      <p:cBhvr>
                                        <p:cTn id="201" dur="1" fill="hold">
                                          <p:stCondLst>
                                            <p:cond delay="0"/>
                                          </p:stCondLst>
                                        </p:cTn>
                                        <p:tgtEl>
                                          <p:spTgt spid="110658"/>
                                        </p:tgtEl>
                                        <p:attrNameLst>
                                          <p:attrName>style.visibility</p:attrName>
                                        </p:attrNameLst>
                                      </p:cBhvr>
                                      <p:to>
                                        <p:strVal val="visible"/>
                                      </p:to>
                                    </p:set>
                                    <p:animEffect transition="in" filter="slide(fromLeft)">
                                      <p:cBhvr>
                                        <p:cTn id="202" dur="500"/>
                                        <p:tgtEl>
                                          <p:spTgt spid="110658"/>
                                        </p:tgtEl>
                                      </p:cBhvr>
                                    </p:animEffect>
                                  </p:childTnLst>
                                </p:cTn>
                              </p:par>
                            </p:childTnLst>
                          </p:cTn>
                        </p:par>
                        <p:par>
                          <p:cTn id="203" fill="hold">
                            <p:stCondLst>
                              <p:cond delay="500"/>
                            </p:stCondLst>
                            <p:childTnLst>
                              <p:par>
                                <p:cTn id="204" presetID="12" presetClass="entr" presetSubtype="8" fill="hold" grpId="0" nodeType="afterEffect">
                                  <p:stCondLst>
                                    <p:cond delay="0"/>
                                  </p:stCondLst>
                                  <p:childTnLst>
                                    <p:set>
                                      <p:cBhvr>
                                        <p:cTn id="205" dur="1" fill="hold">
                                          <p:stCondLst>
                                            <p:cond delay="0"/>
                                          </p:stCondLst>
                                        </p:cTn>
                                        <p:tgtEl>
                                          <p:spTgt spid="110659"/>
                                        </p:tgtEl>
                                        <p:attrNameLst>
                                          <p:attrName>style.visibility</p:attrName>
                                        </p:attrNameLst>
                                      </p:cBhvr>
                                      <p:to>
                                        <p:strVal val="visible"/>
                                      </p:to>
                                    </p:set>
                                    <p:animEffect transition="in" filter="slide(fromLeft)">
                                      <p:cBhvr>
                                        <p:cTn id="206" dur="500"/>
                                        <p:tgtEl>
                                          <p:spTgt spid="110659"/>
                                        </p:tgtEl>
                                      </p:cBhvr>
                                    </p:animEffect>
                                  </p:childTnLst>
                                </p:cTn>
                              </p:par>
                            </p:childTnLst>
                          </p:cTn>
                        </p:par>
                      </p:childTnLst>
                    </p:cTn>
                  </p:par>
                  <p:par>
                    <p:cTn id="207" fill="hold">
                      <p:stCondLst>
                        <p:cond delay="indefinite"/>
                      </p:stCondLst>
                      <p:childTnLst>
                        <p:par>
                          <p:cTn id="208" fill="hold">
                            <p:stCondLst>
                              <p:cond delay="0"/>
                            </p:stCondLst>
                            <p:childTnLst>
                              <p:par>
                                <p:cTn id="209" presetID="12" presetClass="entr" presetSubtype="8" fill="hold" grpId="0" nodeType="clickEffect">
                                  <p:stCondLst>
                                    <p:cond delay="0"/>
                                  </p:stCondLst>
                                  <p:childTnLst>
                                    <p:set>
                                      <p:cBhvr>
                                        <p:cTn id="210" dur="1" fill="hold">
                                          <p:stCondLst>
                                            <p:cond delay="0"/>
                                          </p:stCondLst>
                                        </p:cTn>
                                        <p:tgtEl>
                                          <p:spTgt spid="110661"/>
                                        </p:tgtEl>
                                        <p:attrNameLst>
                                          <p:attrName>style.visibility</p:attrName>
                                        </p:attrNameLst>
                                      </p:cBhvr>
                                      <p:to>
                                        <p:strVal val="visible"/>
                                      </p:to>
                                    </p:set>
                                    <p:animEffect transition="in" filter="slide(fromLeft)">
                                      <p:cBhvr>
                                        <p:cTn id="211" dur="500"/>
                                        <p:tgtEl>
                                          <p:spTgt spid="110661"/>
                                        </p:tgtEl>
                                      </p:cBhvr>
                                    </p:animEffect>
                                  </p:childTnLst>
                                </p:cTn>
                              </p:par>
                            </p:childTnLst>
                          </p:cTn>
                        </p:par>
                        <p:par>
                          <p:cTn id="212" fill="hold">
                            <p:stCondLst>
                              <p:cond delay="500"/>
                            </p:stCondLst>
                            <p:childTnLst>
                              <p:par>
                                <p:cTn id="213" presetID="12" presetClass="entr" presetSubtype="8" fill="hold" grpId="0" nodeType="afterEffect">
                                  <p:stCondLst>
                                    <p:cond delay="0"/>
                                  </p:stCondLst>
                                  <p:childTnLst>
                                    <p:set>
                                      <p:cBhvr>
                                        <p:cTn id="214" dur="1" fill="hold">
                                          <p:stCondLst>
                                            <p:cond delay="0"/>
                                          </p:stCondLst>
                                        </p:cTn>
                                        <p:tgtEl>
                                          <p:spTgt spid="110663"/>
                                        </p:tgtEl>
                                        <p:attrNameLst>
                                          <p:attrName>style.visibility</p:attrName>
                                        </p:attrNameLst>
                                      </p:cBhvr>
                                      <p:to>
                                        <p:strVal val="visible"/>
                                      </p:to>
                                    </p:set>
                                    <p:animEffect transition="in" filter="slide(fromLeft)">
                                      <p:cBhvr>
                                        <p:cTn id="215" dur="500"/>
                                        <p:tgtEl>
                                          <p:spTgt spid="110663"/>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8" fill="hold" grpId="0" nodeType="clickEffect">
                                  <p:stCondLst>
                                    <p:cond delay="0"/>
                                  </p:stCondLst>
                                  <p:childTnLst>
                                    <p:set>
                                      <p:cBhvr>
                                        <p:cTn id="219" dur="1" fill="hold">
                                          <p:stCondLst>
                                            <p:cond delay="0"/>
                                          </p:stCondLst>
                                        </p:cTn>
                                        <p:tgtEl>
                                          <p:spTgt spid="110664"/>
                                        </p:tgtEl>
                                        <p:attrNameLst>
                                          <p:attrName>style.visibility</p:attrName>
                                        </p:attrNameLst>
                                      </p:cBhvr>
                                      <p:to>
                                        <p:strVal val="visible"/>
                                      </p:to>
                                    </p:set>
                                    <p:animEffect transition="in" filter="wipe(left)">
                                      <p:cBhvr>
                                        <p:cTn id="220" dur="500"/>
                                        <p:tgtEl>
                                          <p:spTgt spid="110664"/>
                                        </p:tgtEl>
                                      </p:cBhvr>
                                    </p:animEffect>
                                  </p:childTnLst>
                                </p:cTn>
                              </p:par>
                            </p:childTnLst>
                          </p:cTn>
                        </p:par>
                        <p:par>
                          <p:cTn id="221" fill="hold">
                            <p:stCondLst>
                              <p:cond delay="500"/>
                            </p:stCondLst>
                            <p:childTnLst>
                              <p:par>
                                <p:cTn id="222" presetID="17" presetClass="entr" presetSubtype="4" fill="hold" nodeType="afterEffect">
                                  <p:stCondLst>
                                    <p:cond delay="0"/>
                                  </p:stCondLst>
                                  <p:childTnLst>
                                    <p:set>
                                      <p:cBhvr>
                                        <p:cTn id="223" dur="1" fill="hold">
                                          <p:stCondLst>
                                            <p:cond delay="0"/>
                                          </p:stCondLst>
                                        </p:cTn>
                                        <p:tgtEl>
                                          <p:spTgt spid="110627"/>
                                        </p:tgtEl>
                                        <p:attrNameLst>
                                          <p:attrName>style.visibility</p:attrName>
                                        </p:attrNameLst>
                                      </p:cBhvr>
                                      <p:to>
                                        <p:strVal val="visible"/>
                                      </p:to>
                                    </p:set>
                                    <p:anim calcmode="lin" valueType="num">
                                      <p:cBhvr>
                                        <p:cTn id="224" dur="500" fill="hold"/>
                                        <p:tgtEl>
                                          <p:spTgt spid="110627"/>
                                        </p:tgtEl>
                                        <p:attrNameLst>
                                          <p:attrName>ppt_x</p:attrName>
                                        </p:attrNameLst>
                                      </p:cBhvr>
                                      <p:tavLst>
                                        <p:tav tm="0">
                                          <p:val>
                                            <p:strVal val="#ppt_x"/>
                                          </p:val>
                                        </p:tav>
                                        <p:tav tm="100000">
                                          <p:val>
                                            <p:strVal val="#ppt_x"/>
                                          </p:val>
                                        </p:tav>
                                      </p:tavLst>
                                    </p:anim>
                                    <p:anim calcmode="lin" valueType="num">
                                      <p:cBhvr>
                                        <p:cTn id="225" dur="500" fill="hold"/>
                                        <p:tgtEl>
                                          <p:spTgt spid="110627"/>
                                        </p:tgtEl>
                                        <p:attrNameLst>
                                          <p:attrName>ppt_y</p:attrName>
                                        </p:attrNameLst>
                                      </p:cBhvr>
                                      <p:tavLst>
                                        <p:tav tm="0">
                                          <p:val>
                                            <p:strVal val="#ppt_y+#ppt_h/2"/>
                                          </p:val>
                                        </p:tav>
                                        <p:tav tm="100000">
                                          <p:val>
                                            <p:strVal val="#ppt_y"/>
                                          </p:val>
                                        </p:tav>
                                      </p:tavLst>
                                    </p:anim>
                                    <p:anim calcmode="lin" valueType="num">
                                      <p:cBhvr>
                                        <p:cTn id="226" dur="500" fill="hold"/>
                                        <p:tgtEl>
                                          <p:spTgt spid="110627"/>
                                        </p:tgtEl>
                                        <p:attrNameLst>
                                          <p:attrName>ppt_w</p:attrName>
                                        </p:attrNameLst>
                                      </p:cBhvr>
                                      <p:tavLst>
                                        <p:tav tm="0">
                                          <p:val>
                                            <p:strVal val="#ppt_w"/>
                                          </p:val>
                                        </p:tav>
                                        <p:tav tm="100000">
                                          <p:val>
                                            <p:strVal val="#ppt_w"/>
                                          </p:val>
                                        </p:tav>
                                      </p:tavLst>
                                    </p:anim>
                                    <p:anim calcmode="lin" valueType="num">
                                      <p:cBhvr>
                                        <p:cTn id="227" dur="500" fill="hold"/>
                                        <p:tgtEl>
                                          <p:spTgt spid="110627"/>
                                        </p:tgtEl>
                                        <p:attrNameLst>
                                          <p:attrName>ppt_h</p:attrName>
                                        </p:attrNameLst>
                                      </p:cBhvr>
                                      <p:tavLst>
                                        <p:tav tm="0">
                                          <p:val>
                                            <p:fltVal val="0.000000"/>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2" presetClass="entr" presetSubtype="8" fill="hold" grpId="0" nodeType="clickEffect">
                                  <p:stCondLst>
                                    <p:cond delay="0"/>
                                  </p:stCondLst>
                                  <p:childTnLst>
                                    <p:set>
                                      <p:cBhvr>
                                        <p:cTn id="231" dur="1" fill="hold">
                                          <p:stCondLst>
                                            <p:cond delay="0"/>
                                          </p:stCondLst>
                                        </p:cTn>
                                        <p:tgtEl>
                                          <p:spTgt spid="110628"/>
                                        </p:tgtEl>
                                        <p:attrNameLst>
                                          <p:attrName>style.visibility</p:attrName>
                                        </p:attrNameLst>
                                      </p:cBhvr>
                                      <p:to>
                                        <p:strVal val="visible"/>
                                      </p:to>
                                    </p:set>
                                    <p:animEffect transition="in" filter="slide(fromLeft)">
                                      <p:cBhvr>
                                        <p:cTn id="232" dur="500"/>
                                        <p:tgtEl>
                                          <p:spTgt spid="110628"/>
                                        </p:tgtEl>
                                      </p:cBhvr>
                                    </p:animEffect>
                                  </p:childTnLst>
                                </p:cTn>
                              </p:par>
                            </p:childTnLst>
                          </p:cTn>
                        </p:par>
                      </p:childTnLst>
                    </p:cTn>
                  </p:par>
                  <p:par>
                    <p:cTn id="233" fill="hold">
                      <p:stCondLst>
                        <p:cond delay="indefinite"/>
                      </p:stCondLst>
                      <p:childTnLst>
                        <p:par>
                          <p:cTn id="234" fill="hold">
                            <p:stCondLst>
                              <p:cond delay="0"/>
                            </p:stCondLst>
                            <p:childTnLst>
                              <p:par>
                                <p:cTn id="235" presetID="12" presetClass="entr" presetSubtype="8" fill="hold" grpId="0" nodeType="clickEffect">
                                  <p:stCondLst>
                                    <p:cond delay="0"/>
                                  </p:stCondLst>
                                  <p:childTnLst>
                                    <p:set>
                                      <p:cBhvr>
                                        <p:cTn id="236" dur="1" fill="hold">
                                          <p:stCondLst>
                                            <p:cond delay="0"/>
                                          </p:stCondLst>
                                        </p:cTn>
                                        <p:tgtEl>
                                          <p:spTgt spid="110665"/>
                                        </p:tgtEl>
                                        <p:attrNameLst>
                                          <p:attrName>style.visibility</p:attrName>
                                        </p:attrNameLst>
                                      </p:cBhvr>
                                      <p:to>
                                        <p:strVal val="visible"/>
                                      </p:to>
                                    </p:set>
                                    <p:animEffect transition="in" filter="slide(fromLeft)">
                                      <p:cBhvr>
                                        <p:cTn id="237" dur="500"/>
                                        <p:tgtEl>
                                          <p:spTgt spid="110665"/>
                                        </p:tgtEl>
                                      </p:cBhvr>
                                    </p:animEffect>
                                  </p:childTnLst>
                                </p:cTn>
                              </p:par>
                            </p:childTnLst>
                          </p:cTn>
                        </p:par>
                        <p:par>
                          <p:cTn id="238" fill="hold">
                            <p:stCondLst>
                              <p:cond delay="500"/>
                            </p:stCondLst>
                            <p:childTnLst>
                              <p:par>
                                <p:cTn id="239" presetID="12" presetClass="entr" presetSubtype="8" fill="hold" grpId="0" nodeType="afterEffect">
                                  <p:stCondLst>
                                    <p:cond delay="0"/>
                                  </p:stCondLst>
                                  <p:childTnLst>
                                    <p:set>
                                      <p:cBhvr>
                                        <p:cTn id="240" dur="1" fill="hold">
                                          <p:stCondLst>
                                            <p:cond delay="0"/>
                                          </p:stCondLst>
                                        </p:cTn>
                                        <p:tgtEl>
                                          <p:spTgt spid="110666"/>
                                        </p:tgtEl>
                                        <p:attrNameLst>
                                          <p:attrName>style.visibility</p:attrName>
                                        </p:attrNameLst>
                                      </p:cBhvr>
                                      <p:to>
                                        <p:strVal val="visible"/>
                                      </p:to>
                                    </p:set>
                                    <p:animEffect transition="in" filter="slide(fromLeft)">
                                      <p:cBhvr>
                                        <p:cTn id="241" dur="500"/>
                                        <p:tgtEl>
                                          <p:spTgt spid="110666"/>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ntr" presetSubtype="8" fill="hold" grpId="0" nodeType="clickEffect">
                                  <p:stCondLst>
                                    <p:cond delay="0"/>
                                  </p:stCondLst>
                                  <p:childTnLst>
                                    <p:set>
                                      <p:cBhvr>
                                        <p:cTn id="245" dur="1" fill="hold">
                                          <p:stCondLst>
                                            <p:cond delay="0"/>
                                          </p:stCondLst>
                                        </p:cTn>
                                        <p:tgtEl>
                                          <p:spTgt spid="110667"/>
                                        </p:tgtEl>
                                        <p:attrNameLst>
                                          <p:attrName>style.visibility</p:attrName>
                                        </p:attrNameLst>
                                      </p:cBhvr>
                                      <p:to>
                                        <p:strVal val="visible"/>
                                      </p:to>
                                    </p:set>
                                    <p:animEffect transition="in" filter="wipe(left)">
                                      <p:cBhvr>
                                        <p:cTn id="246" dur="500"/>
                                        <p:tgtEl>
                                          <p:spTgt spid="110667"/>
                                        </p:tgtEl>
                                      </p:cBhvr>
                                    </p:animEffect>
                                  </p:childTnLst>
                                </p:cTn>
                              </p:par>
                            </p:childTnLst>
                          </p:cTn>
                        </p:par>
                        <p:par>
                          <p:cTn id="247" fill="hold">
                            <p:stCondLst>
                              <p:cond delay="500"/>
                            </p:stCondLst>
                            <p:childTnLst>
                              <p:par>
                                <p:cTn id="248" presetID="17" presetClass="entr" presetSubtype="2" fill="hold" nodeType="afterEffect">
                                  <p:stCondLst>
                                    <p:cond delay="0"/>
                                  </p:stCondLst>
                                  <p:childTnLst>
                                    <p:set>
                                      <p:cBhvr>
                                        <p:cTn id="249" dur="1" fill="hold">
                                          <p:stCondLst>
                                            <p:cond delay="0"/>
                                          </p:stCondLst>
                                        </p:cTn>
                                        <p:tgtEl>
                                          <p:spTgt spid="110629"/>
                                        </p:tgtEl>
                                        <p:attrNameLst>
                                          <p:attrName>style.visibility</p:attrName>
                                        </p:attrNameLst>
                                      </p:cBhvr>
                                      <p:to>
                                        <p:strVal val="visible"/>
                                      </p:to>
                                    </p:set>
                                    <p:anim calcmode="lin" valueType="num">
                                      <p:cBhvr>
                                        <p:cTn id="250" dur="500" fill="hold"/>
                                        <p:tgtEl>
                                          <p:spTgt spid="110629"/>
                                        </p:tgtEl>
                                        <p:attrNameLst>
                                          <p:attrName>ppt_x</p:attrName>
                                        </p:attrNameLst>
                                      </p:cBhvr>
                                      <p:tavLst>
                                        <p:tav tm="0">
                                          <p:val>
                                            <p:strVal val="#ppt_x+#ppt_w/2"/>
                                          </p:val>
                                        </p:tav>
                                        <p:tav tm="100000">
                                          <p:val>
                                            <p:strVal val="#ppt_x"/>
                                          </p:val>
                                        </p:tav>
                                      </p:tavLst>
                                    </p:anim>
                                    <p:anim calcmode="lin" valueType="num">
                                      <p:cBhvr>
                                        <p:cTn id="251" dur="500" fill="hold"/>
                                        <p:tgtEl>
                                          <p:spTgt spid="110629"/>
                                        </p:tgtEl>
                                        <p:attrNameLst>
                                          <p:attrName>ppt_y</p:attrName>
                                        </p:attrNameLst>
                                      </p:cBhvr>
                                      <p:tavLst>
                                        <p:tav tm="0">
                                          <p:val>
                                            <p:strVal val="#ppt_y"/>
                                          </p:val>
                                        </p:tav>
                                        <p:tav tm="100000">
                                          <p:val>
                                            <p:strVal val="#ppt_y"/>
                                          </p:val>
                                        </p:tav>
                                      </p:tavLst>
                                    </p:anim>
                                    <p:anim calcmode="lin" valueType="num">
                                      <p:cBhvr>
                                        <p:cTn id="252" dur="500" fill="hold"/>
                                        <p:tgtEl>
                                          <p:spTgt spid="110629"/>
                                        </p:tgtEl>
                                        <p:attrNameLst>
                                          <p:attrName>ppt_w</p:attrName>
                                        </p:attrNameLst>
                                      </p:cBhvr>
                                      <p:tavLst>
                                        <p:tav tm="0">
                                          <p:val>
                                            <p:fltVal val="0.000000"/>
                                          </p:val>
                                        </p:tav>
                                        <p:tav tm="100000">
                                          <p:val>
                                            <p:strVal val="#ppt_w"/>
                                          </p:val>
                                        </p:tav>
                                      </p:tavLst>
                                    </p:anim>
                                    <p:anim calcmode="lin" valueType="num">
                                      <p:cBhvr>
                                        <p:cTn id="253" dur="500" fill="hold"/>
                                        <p:tgtEl>
                                          <p:spTgt spid="110629"/>
                                        </p:tgtEl>
                                        <p:attrNameLst>
                                          <p:attrName>ppt_h</p:attrName>
                                        </p:attrNameLst>
                                      </p:cBhvr>
                                      <p:tavLst>
                                        <p:tav tm="0">
                                          <p:val>
                                            <p:strVal val="#ppt_h"/>
                                          </p:val>
                                        </p:tav>
                                        <p:tav tm="100000">
                                          <p:val>
                                            <p:strVal val="#ppt_h"/>
                                          </p:val>
                                        </p:tav>
                                      </p:tavLst>
                                    </p:anim>
                                  </p:childTnLst>
                                </p:cTn>
                              </p:par>
                            </p:childTnLst>
                          </p:cTn>
                        </p:par>
                      </p:childTnLst>
                    </p:cTn>
                  </p:par>
                  <p:par>
                    <p:cTn id="254" fill="hold">
                      <p:stCondLst>
                        <p:cond delay="indefinite"/>
                      </p:stCondLst>
                      <p:childTnLst>
                        <p:par>
                          <p:cTn id="255" fill="hold">
                            <p:stCondLst>
                              <p:cond delay="0"/>
                            </p:stCondLst>
                            <p:childTnLst>
                              <p:par>
                                <p:cTn id="256" presetID="12" presetClass="entr" presetSubtype="8" fill="hold" grpId="0" nodeType="clickEffect">
                                  <p:stCondLst>
                                    <p:cond delay="0"/>
                                  </p:stCondLst>
                                  <p:childTnLst>
                                    <p:set>
                                      <p:cBhvr>
                                        <p:cTn id="257" dur="1" fill="hold">
                                          <p:stCondLst>
                                            <p:cond delay="0"/>
                                          </p:stCondLst>
                                        </p:cTn>
                                        <p:tgtEl>
                                          <p:spTgt spid="110630"/>
                                        </p:tgtEl>
                                        <p:attrNameLst>
                                          <p:attrName>style.visibility</p:attrName>
                                        </p:attrNameLst>
                                      </p:cBhvr>
                                      <p:to>
                                        <p:strVal val="visible"/>
                                      </p:to>
                                    </p:set>
                                    <p:animEffect transition="in" filter="slide(fromLeft)">
                                      <p:cBhvr>
                                        <p:cTn id="258" dur="500"/>
                                        <p:tgtEl>
                                          <p:spTgt spid="110630"/>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8" fill="hold" grpId="0" nodeType="clickEffect">
                                  <p:stCondLst>
                                    <p:cond delay="0"/>
                                  </p:stCondLst>
                                  <p:childTnLst>
                                    <p:set>
                                      <p:cBhvr>
                                        <p:cTn id="262" dur="1" fill="hold">
                                          <p:stCondLst>
                                            <p:cond delay="0"/>
                                          </p:stCondLst>
                                        </p:cTn>
                                        <p:tgtEl>
                                          <p:spTgt spid="67"/>
                                        </p:tgtEl>
                                        <p:attrNameLst>
                                          <p:attrName>style.visibility</p:attrName>
                                        </p:attrNameLst>
                                      </p:cBhvr>
                                      <p:to>
                                        <p:strVal val="visible"/>
                                      </p:to>
                                    </p:set>
                                    <p:animEffect transition="in" filter="wipe(left)">
                                      <p:cBhvr>
                                        <p:cTn id="263" dur="500"/>
                                        <p:tgtEl>
                                          <p:spTgt spid="67"/>
                                        </p:tgtEl>
                                      </p:cBhvr>
                                    </p:animEffect>
                                  </p:childTnLst>
                                </p:cTn>
                              </p:par>
                            </p:childTnLst>
                          </p:cTn>
                        </p:par>
                        <p:par>
                          <p:cTn id="264" fill="hold">
                            <p:stCondLst>
                              <p:cond delay="500"/>
                            </p:stCondLst>
                            <p:childTnLst>
                              <p:par>
                                <p:cTn id="265" presetID="12" presetClass="entr" presetSubtype="8" fill="hold" grpId="0" nodeType="afterEffect">
                                  <p:stCondLst>
                                    <p:cond delay="0"/>
                                  </p:stCondLst>
                                  <p:childTnLst>
                                    <p:set>
                                      <p:cBhvr>
                                        <p:cTn id="266" dur="1" fill="hold">
                                          <p:stCondLst>
                                            <p:cond delay="0"/>
                                          </p:stCondLst>
                                        </p:cTn>
                                        <p:tgtEl>
                                          <p:spTgt spid="69"/>
                                        </p:tgtEl>
                                        <p:attrNameLst>
                                          <p:attrName>style.visibility</p:attrName>
                                        </p:attrNameLst>
                                      </p:cBhvr>
                                      <p:to>
                                        <p:strVal val="visible"/>
                                      </p:to>
                                    </p:set>
                                    <p:animEffect transition="in" filter="slide(fromLeft)">
                                      <p:cBhvr>
                                        <p:cTn id="267" dur="500"/>
                                        <p:tgtEl>
                                          <p:spTgt spid="69"/>
                                        </p:tgtEl>
                                      </p:cBhvr>
                                    </p:animEffect>
                                  </p:childTnLst>
                                </p:cTn>
                              </p:par>
                            </p:childTnLst>
                          </p:cTn>
                        </p:par>
                        <p:par>
                          <p:cTn id="268" fill="hold">
                            <p:stCondLst>
                              <p:cond delay="1000"/>
                            </p:stCondLst>
                            <p:childTnLst>
                              <p:par>
                                <p:cTn id="269" presetID="17" presetClass="entr" presetSubtype="8" fill="hold" nodeType="afterEffect">
                                  <p:stCondLst>
                                    <p:cond delay="0"/>
                                  </p:stCondLst>
                                  <p:childTnLst>
                                    <p:set>
                                      <p:cBhvr>
                                        <p:cTn id="270" dur="1" fill="hold">
                                          <p:stCondLst>
                                            <p:cond delay="0"/>
                                          </p:stCondLst>
                                        </p:cTn>
                                        <p:tgtEl>
                                          <p:spTgt spid="65"/>
                                        </p:tgtEl>
                                        <p:attrNameLst>
                                          <p:attrName>style.visibility</p:attrName>
                                        </p:attrNameLst>
                                      </p:cBhvr>
                                      <p:to>
                                        <p:strVal val="visible"/>
                                      </p:to>
                                    </p:set>
                                    <p:anim calcmode="lin" valueType="num">
                                      <p:cBhvr>
                                        <p:cTn id="271" dur="500" fill="hold"/>
                                        <p:tgtEl>
                                          <p:spTgt spid="65"/>
                                        </p:tgtEl>
                                        <p:attrNameLst>
                                          <p:attrName>ppt_x</p:attrName>
                                        </p:attrNameLst>
                                      </p:cBhvr>
                                      <p:tavLst>
                                        <p:tav tm="0">
                                          <p:val>
                                            <p:strVal val="#ppt_x-#ppt_w/2"/>
                                          </p:val>
                                        </p:tav>
                                        <p:tav tm="100000">
                                          <p:val>
                                            <p:strVal val="#ppt_x"/>
                                          </p:val>
                                        </p:tav>
                                      </p:tavLst>
                                    </p:anim>
                                    <p:anim calcmode="lin" valueType="num">
                                      <p:cBhvr>
                                        <p:cTn id="272" dur="500" fill="hold"/>
                                        <p:tgtEl>
                                          <p:spTgt spid="65"/>
                                        </p:tgtEl>
                                        <p:attrNameLst>
                                          <p:attrName>ppt_y</p:attrName>
                                        </p:attrNameLst>
                                      </p:cBhvr>
                                      <p:tavLst>
                                        <p:tav tm="0">
                                          <p:val>
                                            <p:strVal val="#ppt_y"/>
                                          </p:val>
                                        </p:tav>
                                        <p:tav tm="100000">
                                          <p:val>
                                            <p:strVal val="#ppt_y"/>
                                          </p:val>
                                        </p:tav>
                                      </p:tavLst>
                                    </p:anim>
                                    <p:anim calcmode="lin" valueType="num">
                                      <p:cBhvr>
                                        <p:cTn id="273" dur="500" fill="hold"/>
                                        <p:tgtEl>
                                          <p:spTgt spid="65"/>
                                        </p:tgtEl>
                                        <p:attrNameLst>
                                          <p:attrName>ppt_w</p:attrName>
                                        </p:attrNameLst>
                                      </p:cBhvr>
                                      <p:tavLst>
                                        <p:tav tm="0">
                                          <p:val>
                                            <p:fltVal val="0.000000"/>
                                          </p:val>
                                        </p:tav>
                                        <p:tav tm="100000">
                                          <p:val>
                                            <p:strVal val="#ppt_w"/>
                                          </p:val>
                                        </p:tav>
                                      </p:tavLst>
                                    </p:anim>
                                    <p:anim calcmode="lin" valueType="num">
                                      <p:cBhvr>
                                        <p:cTn id="274" dur="500" fill="hold"/>
                                        <p:tgtEl>
                                          <p:spTgt spid="65"/>
                                        </p:tgtEl>
                                        <p:attrNameLst>
                                          <p:attrName>ppt_h</p:attrName>
                                        </p:attrNameLst>
                                      </p:cBhvr>
                                      <p:tavLst>
                                        <p:tav tm="0">
                                          <p:val>
                                            <p:strVal val="#ppt_h"/>
                                          </p:val>
                                        </p:tav>
                                        <p:tav tm="100000">
                                          <p:val>
                                            <p:strVal val="#ppt_h"/>
                                          </p:val>
                                        </p:tav>
                                      </p:tavLst>
                                    </p:anim>
                                  </p:childTnLst>
                                </p:cTn>
                              </p:par>
                            </p:childTnLst>
                          </p:cTn>
                        </p:par>
                      </p:childTnLst>
                    </p:cTn>
                  </p:par>
                  <p:par>
                    <p:cTn id="275" fill="hold">
                      <p:stCondLst>
                        <p:cond delay="indefinite"/>
                      </p:stCondLst>
                      <p:childTnLst>
                        <p:par>
                          <p:cTn id="276" fill="hold">
                            <p:stCondLst>
                              <p:cond delay="0"/>
                            </p:stCondLst>
                            <p:childTnLst>
                              <p:par>
                                <p:cTn id="277" presetID="22" presetClass="entr" presetSubtype="8" fill="hold" grpId="0" nodeType="clickEffect">
                                  <p:stCondLst>
                                    <p:cond delay="0"/>
                                  </p:stCondLst>
                                  <p:childTnLst>
                                    <p:set>
                                      <p:cBhvr>
                                        <p:cTn id="278" dur="1" fill="hold">
                                          <p:stCondLst>
                                            <p:cond delay="0"/>
                                          </p:stCondLst>
                                        </p:cTn>
                                        <p:tgtEl>
                                          <p:spTgt spid="68"/>
                                        </p:tgtEl>
                                        <p:attrNameLst>
                                          <p:attrName>style.visibility</p:attrName>
                                        </p:attrNameLst>
                                      </p:cBhvr>
                                      <p:to>
                                        <p:strVal val="visible"/>
                                      </p:to>
                                    </p:set>
                                    <p:animEffect transition="in" filter="wipe(left)">
                                      <p:cBhvr>
                                        <p:cTn id="279" dur="500"/>
                                        <p:tgtEl>
                                          <p:spTgt spid="68"/>
                                        </p:tgtEl>
                                      </p:cBhvr>
                                    </p:animEffect>
                                  </p:childTnLst>
                                </p:cTn>
                              </p:par>
                            </p:childTnLst>
                          </p:cTn>
                        </p:par>
                        <p:par>
                          <p:cTn id="280" fill="hold">
                            <p:stCondLst>
                              <p:cond delay="500"/>
                            </p:stCondLst>
                            <p:childTnLst>
                              <p:par>
                                <p:cTn id="281" presetID="12" presetClass="entr" presetSubtype="8" fill="hold" grpId="0" nodeType="afterEffect">
                                  <p:stCondLst>
                                    <p:cond delay="0"/>
                                  </p:stCondLst>
                                  <p:childTnLst>
                                    <p:set>
                                      <p:cBhvr>
                                        <p:cTn id="282" dur="1" fill="hold">
                                          <p:stCondLst>
                                            <p:cond delay="0"/>
                                          </p:stCondLst>
                                        </p:cTn>
                                        <p:tgtEl>
                                          <p:spTgt spid="70"/>
                                        </p:tgtEl>
                                        <p:attrNameLst>
                                          <p:attrName>style.visibility</p:attrName>
                                        </p:attrNameLst>
                                      </p:cBhvr>
                                      <p:to>
                                        <p:strVal val="visible"/>
                                      </p:to>
                                    </p:set>
                                    <p:animEffect transition="in" filter="slide(fromLeft)">
                                      <p:cBhvr>
                                        <p:cTn id="283" dur="500"/>
                                        <p:tgtEl>
                                          <p:spTgt spid="70"/>
                                        </p:tgtEl>
                                      </p:cBhvr>
                                    </p:animEffect>
                                  </p:childTnLst>
                                </p:cTn>
                              </p:par>
                            </p:childTnLst>
                          </p:cTn>
                        </p:par>
                        <p:par>
                          <p:cTn id="284" fill="hold">
                            <p:stCondLst>
                              <p:cond delay="1000"/>
                            </p:stCondLst>
                            <p:childTnLst>
                              <p:par>
                                <p:cTn id="285" presetID="17" presetClass="entr" presetSubtype="8" fill="hold" nodeType="afterEffect">
                                  <p:stCondLst>
                                    <p:cond delay="0"/>
                                  </p:stCondLst>
                                  <p:childTnLst>
                                    <p:set>
                                      <p:cBhvr>
                                        <p:cTn id="286" dur="1" fill="hold">
                                          <p:stCondLst>
                                            <p:cond delay="0"/>
                                          </p:stCondLst>
                                        </p:cTn>
                                        <p:tgtEl>
                                          <p:spTgt spid="66"/>
                                        </p:tgtEl>
                                        <p:attrNameLst>
                                          <p:attrName>style.visibility</p:attrName>
                                        </p:attrNameLst>
                                      </p:cBhvr>
                                      <p:to>
                                        <p:strVal val="visible"/>
                                      </p:to>
                                    </p:set>
                                    <p:anim calcmode="lin" valueType="num">
                                      <p:cBhvr>
                                        <p:cTn id="287" dur="500" fill="hold"/>
                                        <p:tgtEl>
                                          <p:spTgt spid="66"/>
                                        </p:tgtEl>
                                        <p:attrNameLst>
                                          <p:attrName>ppt_x</p:attrName>
                                        </p:attrNameLst>
                                      </p:cBhvr>
                                      <p:tavLst>
                                        <p:tav tm="0">
                                          <p:val>
                                            <p:strVal val="#ppt_x-#ppt_w/2"/>
                                          </p:val>
                                        </p:tav>
                                        <p:tav tm="100000">
                                          <p:val>
                                            <p:strVal val="#ppt_x"/>
                                          </p:val>
                                        </p:tav>
                                      </p:tavLst>
                                    </p:anim>
                                    <p:anim calcmode="lin" valueType="num">
                                      <p:cBhvr>
                                        <p:cTn id="288" dur="500" fill="hold"/>
                                        <p:tgtEl>
                                          <p:spTgt spid="66"/>
                                        </p:tgtEl>
                                        <p:attrNameLst>
                                          <p:attrName>ppt_y</p:attrName>
                                        </p:attrNameLst>
                                      </p:cBhvr>
                                      <p:tavLst>
                                        <p:tav tm="0">
                                          <p:val>
                                            <p:strVal val="#ppt_y"/>
                                          </p:val>
                                        </p:tav>
                                        <p:tav tm="100000">
                                          <p:val>
                                            <p:strVal val="#ppt_y"/>
                                          </p:val>
                                        </p:tav>
                                      </p:tavLst>
                                    </p:anim>
                                    <p:anim calcmode="lin" valueType="num">
                                      <p:cBhvr>
                                        <p:cTn id="289" dur="500" fill="hold"/>
                                        <p:tgtEl>
                                          <p:spTgt spid="66"/>
                                        </p:tgtEl>
                                        <p:attrNameLst>
                                          <p:attrName>ppt_w</p:attrName>
                                        </p:attrNameLst>
                                      </p:cBhvr>
                                      <p:tavLst>
                                        <p:tav tm="0">
                                          <p:val>
                                            <p:fltVal val="0.000000"/>
                                          </p:val>
                                        </p:tav>
                                        <p:tav tm="100000">
                                          <p:val>
                                            <p:strVal val="#ppt_w"/>
                                          </p:val>
                                        </p:tav>
                                      </p:tavLst>
                                    </p:anim>
                                    <p:anim calcmode="lin" valueType="num">
                                      <p:cBhvr>
                                        <p:cTn id="290" dur="500" fill="hold"/>
                                        <p:tgtEl>
                                          <p:spTgt spid="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bldLvl="0" animBg="1"/>
      <p:bldP spid="110595" grpId="0" bldLvl="0" animBg="1"/>
      <p:bldP spid="110596" grpId="0" bldLvl="0" animBg="1"/>
      <p:bldP spid="110597" grpId="0" bldLvl="0" animBg="1"/>
      <p:bldP spid="110598" grpId="0" bldLvl="0" animBg="1"/>
      <p:bldP spid="110599" grpId="0" bldLvl="0" animBg="1"/>
      <p:bldP spid="110600" grpId="0" bldLvl="0" animBg="1"/>
      <p:bldP spid="110612" grpId="0"/>
      <p:bldP spid="110613" grpId="0"/>
      <p:bldP spid="110614" grpId="0"/>
      <p:bldP spid="110615" grpId="0"/>
      <p:bldP spid="110616" grpId="0"/>
      <p:bldP spid="110617" grpId="0"/>
      <p:bldP spid="110618" grpId="0"/>
      <p:bldP spid="110619" grpId="0"/>
      <p:bldP spid="110620" grpId="0"/>
      <p:bldP spid="110621" grpId="0" bldLvl="0" animBg="1"/>
      <p:bldP spid="110623" grpId="0" bldLvl="0" animBg="1"/>
      <p:bldP spid="110625" grpId="0"/>
      <p:bldP spid="110626" grpId="0" bldLvl="0" animBg="1"/>
      <p:bldP spid="110628" grpId="0" bldLvl="0" animBg="1"/>
      <p:bldP spid="110630" grpId="0" bldLvl="0" animBg="1"/>
      <p:bldP spid="110635" grpId="0"/>
      <p:bldP spid="110643" grpId="0"/>
      <p:bldP spid="110644" grpId="0"/>
      <p:bldP spid="110645" grpId="0"/>
      <p:bldP spid="110646" grpId="0"/>
      <p:bldP spid="110647" grpId="0"/>
      <p:bldP spid="110648" grpId="0"/>
      <p:bldP spid="110649" grpId="0" bldLvl="0" animBg="1"/>
      <p:bldP spid="110651" grpId="0" bldLvl="0" animBg="1"/>
      <p:bldP spid="110652" grpId="0" bldLvl="0" animBg="1"/>
      <p:bldP spid="110653" grpId="0" bldLvl="0" animBg="1"/>
      <p:bldP spid="110654" grpId="0" bldLvl="0" animBg="1"/>
      <p:bldP spid="110655" grpId="0" bldLvl="0" animBg="1"/>
      <p:bldP spid="110656" grpId="0" bldLvl="0" animBg="1"/>
      <p:bldP spid="110657" grpId="0" bldLvl="0" animBg="1"/>
      <p:bldP spid="110658" grpId="0" bldLvl="0" animBg="1"/>
      <p:bldP spid="110659" grpId="0" bldLvl="0" animBg="1"/>
      <p:bldP spid="110660" grpId="0" bldLvl="0" animBg="1"/>
      <p:bldP spid="110661" grpId="0" bldLvl="0" animBg="1"/>
      <p:bldP spid="110662" grpId="0" bldLvl="0" animBg="1"/>
      <p:bldP spid="110663" grpId="0" bldLvl="0" animBg="1"/>
      <p:bldP spid="110664" grpId="0" bldLvl="0" animBg="1"/>
      <p:bldP spid="110665" grpId="0" bldLvl="0" animBg="1"/>
      <p:bldP spid="110666" grpId="0" bldLvl="0" animBg="1"/>
      <p:bldP spid="110667" grpId="0" bldLvl="0" animBg="1"/>
      <p:bldP spid="67" grpId="0" bldLvl="0" animBg="1"/>
      <p:bldP spid="68" grpId="0" bldLvl="0" animBg="1"/>
      <p:bldP spid="69" grpId="0" bldLvl="0" animBg="1"/>
      <p:bldP spid="70"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Kruskal</a:t>
            </a:r>
            <a:r>
              <a:rPr lang="zh-CN" altLang="en-US" sz="3600" b="1" dirty="0" smtClean="0">
                <a:solidFill>
                  <a:schemeClr val="bg1"/>
                </a:solidFill>
                <a:latin typeface="微软雅黑" panose="020B0503020204020204" pitchFamily="34" charset="-122"/>
                <a:ea typeface="微软雅黑" panose="020B0503020204020204" pitchFamily="34" charset="-122"/>
              </a:rPr>
              <a:t>算法的基本思想</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5475" name="内容占位符 2"/>
          <p:cNvSpPr>
            <a:spLocks noGrp="1"/>
          </p:cNvSpPr>
          <p:nvPr>
            <p:ph idx="1"/>
          </p:nvPr>
        </p:nvSpPr>
        <p:spPr>
          <a:xfrm>
            <a:off x="962660" y="1209675"/>
            <a:ext cx="10267315" cy="4876800"/>
          </a:xfrm>
        </p:spPr>
        <p:txBody>
          <a:bodyPr vert="horz" wrap="square" lIns="91440" tIns="45720" rIns="91440" bIns="45720" anchor="t">
            <a:normAutofit/>
          </a:bodyPr>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考虑问题的出发点</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为使生成树上边的权值之和达到最小，则应使生成树中每一条边的权值尽可能地小。</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具体做法：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是一个连通网，网中共有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个顶点。最小生成树的初始状态为只有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个顶点而无边的非连通图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，图中每个顶点自成一个连通分量。</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E</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中选择代价最小的边，若该边依附的顶点</a:t>
            </a:r>
            <a:r>
              <a:rPr lang="zh-CN" altLang="en-US" sz="2000" b="1" dirty="0">
                <a:solidFill>
                  <a:srgbClr val="FF5050"/>
                </a:solidFill>
                <a:latin typeface="微软雅黑" panose="020B0503020204020204" pitchFamily="34" charset="-122"/>
                <a:ea typeface="微软雅黑" panose="020B0503020204020204" pitchFamily="34" charset="-122"/>
                <a:cs typeface="微软雅黑" panose="020B0503020204020204" pitchFamily="34" charset="-122"/>
              </a:rPr>
              <a:t>落在</a:t>
            </a:r>
            <a:r>
              <a:rPr lang="en-US" altLang="zh-CN" sz="2000" b="1" i="1" dirty="0">
                <a:solidFill>
                  <a:srgbClr val="FF5050"/>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000" b="1" dirty="0">
                <a:solidFill>
                  <a:srgbClr val="FF5050"/>
                </a:solidFill>
                <a:latin typeface="微软雅黑" panose="020B0503020204020204" pitchFamily="34" charset="-122"/>
                <a:ea typeface="微软雅黑" panose="020B0503020204020204" pitchFamily="34" charset="-122"/>
                <a:cs typeface="微软雅黑" panose="020B0503020204020204" pitchFamily="34" charset="-122"/>
              </a:rPr>
              <a:t>中不同的连通分量上</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，则将此边加入到</a:t>
            </a:r>
            <a:r>
              <a:rPr lang="en-US" altLang="zh-CN" sz="2000" b="1" i="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中，否则舍去此边而选择下一条代价最小的边，直至</a:t>
            </a:r>
            <a:r>
              <a:rPr lang="en-US" altLang="zh-CN" sz="2000" b="1" i="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中所有顶点都在同一连通分量上为止。 </a:t>
            </a:r>
            <a:endPar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例如：</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2642" name="Oval 2"/>
          <p:cNvSpPr/>
          <p:nvPr/>
        </p:nvSpPr>
        <p:spPr>
          <a:xfrm>
            <a:off x="4058285" y="17049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112643" name="Oval 3"/>
          <p:cNvSpPr/>
          <p:nvPr/>
        </p:nvSpPr>
        <p:spPr>
          <a:xfrm>
            <a:off x="6877685" y="17049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112644" name="Oval 4"/>
          <p:cNvSpPr/>
          <p:nvPr/>
        </p:nvSpPr>
        <p:spPr>
          <a:xfrm>
            <a:off x="8630285" y="25431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112645" name="Oval 5"/>
          <p:cNvSpPr/>
          <p:nvPr/>
        </p:nvSpPr>
        <p:spPr>
          <a:xfrm>
            <a:off x="7106285" y="42195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112646" name="Oval 6"/>
          <p:cNvSpPr/>
          <p:nvPr/>
        </p:nvSpPr>
        <p:spPr>
          <a:xfrm>
            <a:off x="5429885" y="33051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112647" name="Oval 7"/>
          <p:cNvSpPr/>
          <p:nvPr/>
        </p:nvSpPr>
        <p:spPr>
          <a:xfrm>
            <a:off x="3448685" y="42195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g</a:t>
            </a:r>
            <a:endParaRPr lang="en-US" altLang="zh-CN" b="1" dirty="0">
              <a:solidFill>
                <a:srgbClr val="FFFFFF"/>
              </a:solidFill>
              <a:latin typeface="Consolas" panose="020B0609020204030204" pitchFamily="49" charset="0"/>
            </a:endParaRPr>
          </a:p>
        </p:txBody>
      </p:sp>
      <p:sp>
        <p:nvSpPr>
          <p:cNvPr id="112648" name="Oval 8"/>
          <p:cNvSpPr/>
          <p:nvPr/>
        </p:nvSpPr>
        <p:spPr>
          <a:xfrm>
            <a:off x="5734685" y="5362575"/>
            <a:ext cx="533400" cy="533400"/>
          </a:xfrm>
          <a:prstGeom prst="ellipse">
            <a:avLst/>
          </a:prstGeom>
          <a:solidFill>
            <a:srgbClr val="CCFFCC"/>
          </a:solidFill>
          <a:ln w="28575" cap="sq" cmpd="sng">
            <a:solidFill>
              <a:schemeClr val="tx2"/>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chemeClr val="tx2"/>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
        <p:nvSpPr>
          <p:cNvPr id="112649" name="Line 9"/>
          <p:cNvSpPr/>
          <p:nvPr/>
        </p:nvSpPr>
        <p:spPr>
          <a:xfrm>
            <a:off x="4591685" y="2009775"/>
            <a:ext cx="2286000" cy="0"/>
          </a:xfrm>
          <a:prstGeom prst="line">
            <a:avLst/>
          </a:prstGeom>
          <a:ln w="28575" cap="sq" cmpd="sng">
            <a:solidFill>
              <a:schemeClr val="bg2"/>
            </a:solidFill>
            <a:prstDash val="solid"/>
            <a:headEnd type="none" w="sm" len="sm"/>
            <a:tailEnd type="none" w="sm" len="sm"/>
          </a:ln>
        </p:spPr>
      </p:sp>
      <p:sp>
        <p:nvSpPr>
          <p:cNvPr id="112650" name="Line 10"/>
          <p:cNvSpPr/>
          <p:nvPr/>
        </p:nvSpPr>
        <p:spPr>
          <a:xfrm>
            <a:off x="4515485" y="2162175"/>
            <a:ext cx="990600" cy="1219200"/>
          </a:xfrm>
          <a:prstGeom prst="line">
            <a:avLst/>
          </a:prstGeom>
          <a:ln w="28575" cap="sq" cmpd="sng">
            <a:solidFill>
              <a:schemeClr val="bg2"/>
            </a:solidFill>
            <a:prstDash val="solid"/>
            <a:headEnd type="none" w="sm" len="sm"/>
            <a:tailEnd type="none" w="sm" len="sm"/>
          </a:ln>
        </p:spPr>
      </p:sp>
      <p:sp>
        <p:nvSpPr>
          <p:cNvPr id="112651" name="Line 11"/>
          <p:cNvSpPr/>
          <p:nvPr/>
        </p:nvSpPr>
        <p:spPr>
          <a:xfrm flipH="1">
            <a:off x="5887085" y="2162175"/>
            <a:ext cx="1066800" cy="1219200"/>
          </a:xfrm>
          <a:prstGeom prst="line">
            <a:avLst/>
          </a:prstGeom>
          <a:ln w="28575" cap="sq" cmpd="sng">
            <a:solidFill>
              <a:schemeClr val="bg2"/>
            </a:solidFill>
            <a:prstDash val="solid"/>
            <a:headEnd type="none" w="sm" len="sm"/>
            <a:tailEnd type="none" w="sm" len="sm"/>
          </a:ln>
        </p:spPr>
      </p:sp>
      <p:sp>
        <p:nvSpPr>
          <p:cNvPr id="112652" name="Line 12"/>
          <p:cNvSpPr/>
          <p:nvPr/>
        </p:nvSpPr>
        <p:spPr>
          <a:xfrm flipH="1">
            <a:off x="3753485" y="2162175"/>
            <a:ext cx="457200" cy="2057400"/>
          </a:xfrm>
          <a:prstGeom prst="line">
            <a:avLst/>
          </a:prstGeom>
          <a:ln w="28575" cap="sq" cmpd="sng">
            <a:solidFill>
              <a:schemeClr val="bg2"/>
            </a:solidFill>
            <a:prstDash val="solid"/>
            <a:headEnd type="none" w="sm" len="sm"/>
            <a:tailEnd type="none" w="sm" len="sm"/>
          </a:ln>
        </p:spPr>
      </p:sp>
      <p:sp>
        <p:nvSpPr>
          <p:cNvPr id="112653" name="Line 13"/>
          <p:cNvSpPr/>
          <p:nvPr/>
        </p:nvSpPr>
        <p:spPr>
          <a:xfrm flipV="1">
            <a:off x="3982085" y="3686175"/>
            <a:ext cx="1524000" cy="762000"/>
          </a:xfrm>
          <a:prstGeom prst="line">
            <a:avLst/>
          </a:prstGeom>
          <a:ln w="28575" cap="sq" cmpd="sng">
            <a:solidFill>
              <a:schemeClr val="bg2"/>
            </a:solidFill>
            <a:prstDash val="solid"/>
            <a:headEnd type="none" w="sm" len="sm"/>
            <a:tailEnd type="none" w="sm" len="sm"/>
          </a:ln>
        </p:spPr>
      </p:sp>
      <p:sp>
        <p:nvSpPr>
          <p:cNvPr id="112654" name="Line 14"/>
          <p:cNvSpPr/>
          <p:nvPr/>
        </p:nvSpPr>
        <p:spPr>
          <a:xfrm>
            <a:off x="5963285" y="3686175"/>
            <a:ext cx="1219200" cy="685800"/>
          </a:xfrm>
          <a:prstGeom prst="line">
            <a:avLst/>
          </a:prstGeom>
          <a:ln w="28575" cap="sq" cmpd="sng">
            <a:solidFill>
              <a:schemeClr val="bg2"/>
            </a:solidFill>
            <a:prstDash val="solid"/>
            <a:headEnd type="none" w="sm" len="sm"/>
            <a:tailEnd type="none" w="sm" len="sm"/>
          </a:ln>
        </p:spPr>
      </p:sp>
      <p:sp>
        <p:nvSpPr>
          <p:cNvPr id="112655" name="Line 15"/>
          <p:cNvSpPr/>
          <p:nvPr/>
        </p:nvSpPr>
        <p:spPr>
          <a:xfrm>
            <a:off x="7411085" y="2009775"/>
            <a:ext cx="1295400" cy="685800"/>
          </a:xfrm>
          <a:prstGeom prst="line">
            <a:avLst/>
          </a:prstGeom>
          <a:ln w="28575" cap="sq" cmpd="sng">
            <a:solidFill>
              <a:schemeClr val="bg2"/>
            </a:solidFill>
            <a:prstDash val="solid"/>
            <a:headEnd type="none" w="sm" len="sm"/>
            <a:tailEnd type="none" w="sm" len="sm"/>
          </a:ln>
        </p:spPr>
      </p:sp>
      <p:sp>
        <p:nvSpPr>
          <p:cNvPr id="112656" name="Line 16"/>
          <p:cNvSpPr/>
          <p:nvPr/>
        </p:nvSpPr>
        <p:spPr>
          <a:xfrm flipH="1">
            <a:off x="7563485" y="3000375"/>
            <a:ext cx="1143000" cy="1371600"/>
          </a:xfrm>
          <a:prstGeom prst="line">
            <a:avLst/>
          </a:prstGeom>
          <a:ln w="28575" cap="sq" cmpd="sng">
            <a:solidFill>
              <a:schemeClr val="bg2"/>
            </a:solidFill>
            <a:prstDash val="solid"/>
            <a:headEnd type="none" w="sm" len="sm"/>
            <a:tailEnd type="none" w="sm" len="sm"/>
          </a:ln>
        </p:spPr>
      </p:sp>
      <p:sp>
        <p:nvSpPr>
          <p:cNvPr id="112657" name="Line 17"/>
          <p:cNvSpPr/>
          <p:nvPr/>
        </p:nvSpPr>
        <p:spPr>
          <a:xfrm>
            <a:off x="7182485" y="2238375"/>
            <a:ext cx="152400" cy="1981200"/>
          </a:xfrm>
          <a:prstGeom prst="line">
            <a:avLst/>
          </a:prstGeom>
          <a:ln w="28575" cap="sq" cmpd="sng">
            <a:solidFill>
              <a:schemeClr val="bg2"/>
            </a:solidFill>
            <a:prstDash val="solid"/>
            <a:headEnd type="none" w="sm" len="sm"/>
            <a:tailEnd type="none" w="sm" len="sm"/>
          </a:ln>
        </p:spPr>
      </p:sp>
      <p:sp>
        <p:nvSpPr>
          <p:cNvPr id="112658" name="Line 18"/>
          <p:cNvSpPr/>
          <p:nvPr/>
        </p:nvSpPr>
        <p:spPr>
          <a:xfrm>
            <a:off x="3905885" y="4676775"/>
            <a:ext cx="1828800" cy="838200"/>
          </a:xfrm>
          <a:prstGeom prst="line">
            <a:avLst/>
          </a:prstGeom>
          <a:ln w="28575" cap="sq" cmpd="sng">
            <a:solidFill>
              <a:schemeClr val="bg2"/>
            </a:solidFill>
            <a:prstDash val="solid"/>
            <a:headEnd type="none" w="sm" len="sm"/>
            <a:tailEnd type="none" w="sm" len="sm"/>
          </a:ln>
        </p:spPr>
      </p:sp>
      <p:sp>
        <p:nvSpPr>
          <p:cNvPr id="112659" name="Line 19"/>
          <p:cNvSpPr/>
          <p:nvPr/>
        </p:nvSpPr>
        <p:spPr>
          <a:xfrm flipH="1">
            <a:off x="6268085" y="4676775"/>
            <a:ext cx="914400" cy="838200"/>
          </a:xfrm>
          <a:prstGeom prst="line">
            <a:avLst/>
          </a:prstGeom>
          <a:ln w="28575" cap="sq" cmpd="sng">
            <a:solidFill>
              <a:schemeClr val="bg2"/>
            </a:solidFill>
            <a:prstDash val="solid"/>
            <a:headEnd type="none" w="sm" len="sm"/>
            <a:tailEnd type="none" w="sm" len="sm"/>
          </a:ln>
        </p:spPr>
      </p:sp>
      <p:sp>
        <p:nvSpPr>
          <p:cNvPr id="112660" name="Text Box 20"/>
          <p:cNvSpPr txBox="1"/>
          <p:nvPr/>
        </p:nvSpPr>
        <p:spPr>
          <a:xfrm>
            <a:off x="5261610" y="1506220"/>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19</a:t>
            </a:r>
            <a:endParaRPr lang="en-US" altLang="zh-CN" b="1" dirty="0">
              <a:ea typeface="宋体" panose="02010600030101010101" pitchFamily="2" charset="-122"/>
            </a:endParaRPr>
          </a:p>
        </p:txBody>
      </p:sp>
      <p:sp>
        <p:nvSpPr>
          <p:cNvPr id="112661" name="Text Box 21"/>
          <p:cNvSpPr txBox="1"/>
          <p:nvPr/>
        </p:nvSpPr>
        <p:spPr>
          <a:xfrm>
            <a:off x="7792085" y="18110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5</a:t>
            </a:r>
            <a:endParaRPr lang="en-US" altLang="zh-CN" b="1" dirty="0">
              <a:solidFill>
                <a:schemeClr val="tx2"/>
              </a:solidFill>
              <a:ea typeface="宋体" panose="02010600030101010101" pitchFamily="2" charset="-122"/>
            </a:endParaRPr>
          </a:p>
        </p:txBody>
      </p:sp>
      <p:sp>
        <p:nvSpPr>
          <p:cNvPr id="112662" name="Text Box 22"/>
          <p:cNvSpPr txBox="1"/>
          <p:nvPr/>
        </p:nvSpPr>
        <p:spPr>
          <a:xfrm>
            <a:off x="4896485" y="239077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14</a:t>
            </a:r>
            <a:endParaRPr lang="en-US" altLang="zh-CN" b="1" dirty="0">
              <a:ea typeface="宋体" panose="02010600030101010101" pitchFamily="2" charset="-122"/>
            </a:endParaRPr>
          </a:p>
        </p:txBody>
      </p:sp>
      <p:sp>
        <p:nvSpPr>
          <p:cNvPr id="112663" name="Text Box 23"/>
          <p:cNvSpPr txBox="1"/>
          <p:nvPr/>
        </p:nvSpPr>
        <p:spPr>
          <a:xfrm>
            <a:off x="3448685" y="286702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18</a:t>
            </a:r>
            <a:endParaRPr lang="en-US" altLang="zh-CN" sz="3200" b="1" dirty="0">
              <a:ea typeface="宋体" panose="02010600030101010101" pitchFamily="2" charset="-122"/>
            </a:endParaRPr>
          </a:p>
        </p:txBody>
      </p:sp>
      <p:sp>
        <p:nvSpPr>
          <p:cNvPr id="112664" name="Text Box 24"/>
          <p:cNvSpPr txBox="1"/>
          <p:nvPr/>
        </p:nvSpPr>
        <p:spPr>
          <a:xfrm>
            <a:off x="4499610" y="500062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ea typeface="宋体" panose="02010600030101010101" pitchFamily="2" charset="-122"/>
              </a:rPr>
              <a:t>27</a:t>
            </a:r>
            <a:endParaRPr lang="en-US" altLang="zh-CN" sz="3200" b="1" dirty="0">
              <a:ea typeface="宋体" panose="02010600030101010101" pitchFamily="2" charset="-122"/>
            </a:endParaRPr>
          </a:p>
        </p:txBody>
      </p:sp>
      <p:sp>
        <p:nvSpPr>
          <p:cNvPr id="112665" name="Text Box 25"/>
          <p:cNvSpPr txBox="1"/>
          <p:nvPr/>
        </p:nvSpPr>
        <p:spPr>
          <a:xfrm>
            <a:off x="4423410" y="355282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16</a:t>
            </a:r>
            <a:endParaRPr lang="en-US" altLang="zh-CN" sz="3200" b="1" dirty="0">
              <a:ea typeface="宋体" panose="02010600030101010101" pitchFamily="2" charset="-122"/>
            </a:endParaRPr>
          </a:p>
        </p:txBody>
      </p:sp>
      <p:sp>
        <p:nvSpPr>
          <p:cNvPr id="112666" name="Text Box 26"/>
          <p:cNvSpPr txBox="1"/>
          <p:nvPr/>
        </p:nvSpPr>
        <p:spPr>
          <a:xfrm>
            <a:off x="6414135" y="35636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8</a:t>
            </a:r>
            <a:endParaRPr lang="en-US" altLang="zh-CN" sz="3200" b="1" dirty="0">
              <a:ea typeface="宋体" panose="02010600030101010101" pitchFamily="2" charset="-122"/>
            </a:endParaRPr>
          </a:p>
        </p:txBody>
      </p:sp>
      <p:sp>
        <p:nvSpPr>
          <p:cNvPr id="112667" name="Text Box 27"/>
          <p:cNvSpPr txBox="1"/>
          <p:nvPr/>
        </p:nvSpPr>
        <p:spPr>
          <a:xfrm>
            <a:off x="6496685" y="498157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21</a:t>
            </a:r>
            <a:endParaRPr lang="en-US" altLang="zh-CN" sz="3200" b="1" dirty="0">
              <a:ea typeface="宋体" panose="02010600030101010101" pitchFamily="2" charset="-122"/>
            </a:endParaRPr>
          </a:p>
        </p:txBody>
      </p:sp>
      <p:sp>
        <p:nvSpPr>
          <p:cNvPr id="112668" name="Text Box 28"/>
          <p:cNvSpPr txBox="1"/>
          <p:nvPr/>
        </p:nvSpPr>
        <p:spPr>
          <a:xfrm>
            <a:off x="7928610" y="36290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3</a:t>
            </a:r>
            <a:endParaRPr lang="en-US" altLang="zh-CN" sz="3200" b="1" dirty="0">
              <a:ea typeface="宋体" panose="02010600030101010101" pitchFamily="2" charset="-122"/>
            </a:endParaRPr>
          </a:p>
        </p:txBody>
      </p:sp>
      <p:sp>
        <p:nvSpPr>
          <p:cNvPr id="112669" name="Oval 29"/>
          <p:cNvSpPr/>
          <p:nvPr/>
        </p:nvSpPr>
        <p:spPr>
          <a:xfrm>
            <a:off x="4058285" y="17049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a</a:t>
            </a:r>
            <a:endParaRPr lang="en-US" altLang="zh-CN" b="1" dirty="0">
              <a:solidFill>
                <a:srgbClr val="FFFFFF"/>
              </a:solidFill>
              <a:latin typeface="Consolas" panose="020B0609020204030204" pitchFamily="49" charset="0"/>
            </a:endParaRPr>
          </a:p>
        </p:txBody>
      </p:sp>
      <p:sp>
        <p:nvSpPr>
          <p:cNvPr id="112670" name="Line 30"/>
          <p:cNvSpPr/>
          <p:nvPr/>
        </p:nvSpPr>
        <p:spPr>
          <a:xfrm>
            <a:off x="4515485" y="2162175"/>
            <a:ext cx="990600" cy="1219200"/>
          </a:xfrm>
          <a:prstGeom prst="line">
            <a:avLst/>
          </a:prstGeom>
          <a:ln w="28575" cap="sq" cmpd="sng">
            <a:solidFill>
              <a:srgbClr val="FF6600"/>
            </a:solidFill>
            <a:prstDash val="solid"/>
            <a:headEnd type="none" w="sm" len="sm"/>
            <a:tailEnd type="none" w="sm" len="sm"/>
          </a:ln>
        </p:spPr>
      </p:sp>
      <p:sp>
        <p:nvSpPr>
          <p:cNvPr id="112671" name="Oval 31"/>
          <p:cNvSpPr/>
          <p:nvPr/>
        </p:nvSpPr>
        <p:spPr>
          <a:xfrm>
            <a:off x="5429885" y="33051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e</a:t>
            </a:r>
            <a:endParaRPr lang="en-US" altLang="zh-CN" b="1" dirty="0">
              <a:solidFill>
                <a:srgbClr val="FFFFFF"/>
              </a:solidFill>
              <a:latin typeface="Consolas" panose="020B0609020204030204" pitchFamily="49" charset="0"/>
            </a:endParaRPr>
          </a:p>
        </p:txBody>
      </p:sp>
      <p:sp>
        <p:nvSpPr>
          <p:cNvPr id="112672" name="Line 32"/>
          <p:cNvSpPr/>
          <p:nvPr/>
        </p:nvSpPr>
        <p:spPr>
          <a:xfrm>
            <a:off x="5963285" y="3686175"/>
            <a:ext cx="1219200" cy="685800"/>
          </a:xfrm>
          <a:prstGeom prst="line">
            <a:avLst/>
          </a:prstGeom>
          <a:ln w="28575" cap="sq" cmpd="sng">
            <a:solidFill>
              <a:srgbClr val="FF6600"/>
            </a:solidFill>
            <a:prstDash val="solid"/>
            <a:headEnd type="none" w="sm" len="sm"/>
            <a:tailEnd type="none" w="sm" len="sm"/>
          </a:ln>
        </p:spPr>
      </p:sp>
      <p:sp>
        <p:nvSpPr>
          <p:cNvPr id="112673" name="Text Box 33"/>
          <p:cNvSpPr txBox="1"/>
          <p:nvPr/>
        </p:nvSpPr>
        <p:spPr>
          <a:xfrm>
            <a:off x="6039485" y="2192020"/>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12</a:t>
            </a:r>
            <a:endParaRPr lang="en-US" altLang="zh-CN" sz="3200" b="1" dirty="0">
              <a:ea typeface="宋体" panose="02010600030101010101" pitchFamily="2" charset="-122"/>
            </a:endParaRPr>
          </a:p>
        </p:txBody>
      </p:sp>
      <p:sp>
        <p:nvSpPr>
          <p:cNvPr id="112674" name="Oval 34"/>
          <p:cNvSpPr/>
          <p:nvPr/>
        </p:nvSpPr>
        <p:spPr>
          <a:xfrm>
            <a:off x="7106285" y="42195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d</a:t>
            </a:r>
            <a:endParaRPr lang="en-US" altLang="zh-CN" b="1" dirty="0">
              <a:solidFill>
                <a:srgbClr val="FFFFFF"/>
              </a:solidFill>
              <a:latin typeface="Consolas" panose="020B0609020204030204" pitchFamily="49" charset="0"/>
            </a:endParaRPr>
          </a:p>
        </p:txBody>
      </p:sp>
      <p:sp>
        <p:nvSpPr>
          <p:cNvPr id="112675" name="Line 35"/>
          <p:cNvSpPr/>
          <p:nvPr/>
        </p:nvSpPr>
        <p:spPr>
          <a:xfrm flipH="1">
            <a:off x="7563485" y="3000375"/>
            <a:ext cx="1143000" cy="1371600"/>
          </a:xfrm>
          <a:prstGeom prst="line">
            <a:avLst/>
          </a:prstGeom>
          <a:ln w="28575" cap="sq" cmpd="sng">
            <a:solidFill>
              <a:srgbClr val="FF6600"/>
            </a:solidFill>
            <a:prstDash val="solid"/>
            <a:headEnd type="none" w="sm" len="sm"/>
            <a:tailEnd type="none" w="sm" len="sm"/>
          </a:ln>
        </p:spPr>
      </p:sp>
      <p:sp>
        <p:nvSpPr>
          <p:cNvPr id="112676" name="Oval 36"/>
          <p:cNvSpPr/>
          <p:nvPr/>
        </p:nvSpPr>
        <p:spPr>
          <a:xfrm>
            <a:off x="8630285" y="25431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c</a:t>
            </a:r>
            <a:endParaRPr lang="en-US" altLang="zh-CN" b="1" dirty="0">
              <a:solidFill>
                <a:srgbClr val="FFFFFF"/>
              </a:solidFill>
              <a:latin typeface="Consolas" panose="020B0609020204030204" pitchFamily="49" charset="0"/>
            </a:endParaRPr>
          </a:p>
        </p:txBody>
      </p:sp>
      <p:sp>
        <p:nvSpPr>
          <p:cNvPr id="112677" name="Line 37"/>
          <p:cNvSpPr/>
          <p:nvPr/>
        </p:nvSpPr>
        <p:spPr>
          <a:xfrm>
            <a:off x="7411085" y="2009775"/>
            <a:ext cx="1295400" cy="685800"/>
          </a:xfrm>
          <a:prstGeom prst="line">
            <a:avLst/>
          </a:prstGeom>
          <a:ln w="28575" cap="sq" cmpd="sng">
            <a:solidFill>
              <a:srgbClr val="FF6600"/>
            </a:solidFill>
            <a:prstDash val="solid"/>
            <a:headEnd type="none" w="sm" len="sm"/>
            <a:tailEnd type="none" w="sm" len="sm"/>
          </a:ln>
        </p:spPr>
      </p:sp>
      <p:sp>
        <p:nvSpPr>
          <p:cNvPr id="112678" name="Oval 38"/>
          <p:cNvSpPr/>
          <p:nvPr/>
        </p:nvSpPr>
        <p:spPr>
          <a:xfrm>
            <a:off x="6877685" y="17049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b</a:t>
            </a:r>
            <a:endParaRPr lang="en-US" altLang="zh-CN" b="1" dirty="0">
              <a:solidFill>
                <a:srgbClr val="FFFFFF"/>
              </a:solidFill>
              <a:latin typeface="Consolas" panose="020B0609020204030204" pitchFamily="49" charset="0"/>
            </a:endParaRPr>
          </a:p>
        </p:txBody>
      </p:sp>
      <p:sp>
        <p:nvSpPr>
          <p:cNvPr id="112679" name="Line 39"/>
          <p:cNvSpPr/>
          <p:nvPr/>
        </p:nvSpPr>
        <p:spPr>
          <a:xfrm flipV="1">
            <a:off x="3982085" y="3686175"/>
            <a:ext cx="1524000" cy="762000"/>
          </a:xfrm>
          <a:prstGeom prst="line">
            <a:avLst/>
          </a:prstGeom>
          <a:ln w="28575" cap="sq" cmpd="sng">
            <a:solidFill>
              <a:srgbClr val="FF6600"/>
            </a:solidFill>
            <a:prstDash val="solid"/>
            <a:headEnd type="none" w="sm" len="sm"/>
            <a:tailEnd type="none" w="sm" len="sm"/>
          </a:ln>
        </p:spPr>
      </p:sp>
      <p:sp>
        <p:nvSpPr>
          <p:cNvPr id="112680" name="Oval 40"/>
          <p:cNvSpPr/>
          <p:nvPr/>
        </p:nvSpPr>
        <p:spPr>
          <a:xfrm>
            <a:off x="3448685" y="4219575"/>
            <a:ext cx="533400" cy="533400"/>
          </a:xfrm>
          <a:prstGeom prst="ellipse">
            <a:avLst/>
          </a:prstGeom>
          <a:solidFill>
            <a:srgbClr val="FFFF99"/>
          </a:solidFill>
          <a:ln w="28575" cap="sq" cmpd="sng">
            <a:solidFill>
              <a:srgbClr val="9933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g</a:t>
            </a:r>
            <a:endParaRPr lang="en-US" altLang="zh-CN" b="1" dirty="0">
              <a:solidFill>
                <a:srgbClr val="FFFFFF"/>
              </a:solidFill>
              <a:latin typeface="Consolas" panose="020B0609020204030204" pitchFamily="49" charset="0"/>
            </a:endParaRPr>
          </a:p>
        </p:txBody>
      </p:sp>
      <p:sp>
        <p:nvSpPr>
          <p:cNvPr id="112681" name="Line 41"/>
          <p:cNvSpPr/>
          <p:nvPr/>
        </p:nvSpPr>
        <p:spPr>
          <a:xfrm flipH="1">
            <a:off x="6268085" y="4676775"/>
            <a:ext cx="914400" cy="838200"/>
          </a:xfrm>
          <a:prstGeom prst="line">
            <a:avLst/>
          </a:prstGeom>
          <a:ln w="28575" cap="sq" cmpd="sng">
            <a:solidFill>
              <a:srgbClr val="FF6600"/>
            </a:solidFill>
            <a:prstDash val="solid"/>
            <a:headEnd type="none" w="sm" len="sm"/>
            <a:tailEnd type="none" w="sm" len="sm"/>
          </a:ln>
        </p:spPr>
      </p:sp>
      <p:sp>
        <p:nvSpPr>
          <p:cNvPr id="112682" name="Oval 42"/>
          <p:cNvSpPr/>
          <p:nvPr/>
        </p:nvSpPr>
        <p:spPr>
          <a:xfrm>
            <a:off x="5734685" y="5362575"/>
            <a:ext cx="533400" cy="533400"/>
          </a:xfrm>
          <a:prstGeom prst="ellipse">
            <a:avLst/>
          </a:prstGeom>
          <a:solidFill>
            <a:srgbClr val="FFFF99"/>
          </a:solidFill>
          <a:ln w="28575"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800000"/>
                </a:solidFill>
                <a:latin typeface="Consolas" panose="020B0609020204030204" pitchFamily="49" charset="0"/>
              </a:rPr>
              <a:t>f</a:t>
            </a:r>
            <a:endParaRPr lang="en-US" altLang="zh-CN" b="1" dirty="0">
              <a:solidFill>
                <a:srgbClr val="FFFFFF"/>
              </a:solidFill>
              <a:latin typeface="Consolas" panose="020B0609020204030204" pitchFamily="49" charset="0"/>
            </a:endParaRPr>
          </a:p>
        </p:txBody>
      </p:sp>
      <p:sp>
        <p:nvSpPr>
          <p:cNvPr id="112683" name="Text Box 43"/>
          <p:cNvSpPr txBox="1"/>
          <p:nvPr/>
        </p:nvSpPr>
        <p:spPr>
          <a:xfrm>
            <a:off x="7242810" y="271462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chemeClr val="tx2"/>
                </a:solidFill>
                <a:ea typeface="宋体" panose="02010600030101010101" pitchFamily="2" charset="-122"/>
              </a:rPr>
              <a:t>7</a:t>
            </a:r>
            <a:endParaRPr lang="en-US" altLang="zh-CN" sz="3200" b="1" dirty="0">
              <a:ea typeface="宋体" panose="02010600030101010101" pitchFamily="2" charset="-122"/>
            </a:endParaRPr>
          </a:p>
        </p:txBody>
      </p:sp>
      <p:sp>
        <p:nvSpPr>
          <p:cNvPr id="112684" name="Text Box 44"/>
          <p:cNvSpPr txBox="1"/>
          <p:nvPr/>
        </p:nvSpPr>
        <p:spPr>
          <a:xfrm>
            <a:off x="4896485" y="239077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14</a:t>
            </a:r>
            <a:endParaRPr lang="en-US" altLang="zh-CN" b="1" dirty="0">
              <a:solidFill>
                <a:srgbClr val="FF0000"/>
              </a:solidFill>
              <a:ea typeface="宋体" panose="02010600030101010101" pitchFamily="2" charset="-122"/>
            </a:endParaRPr>
          </a:p>
        </p:txBody>
      </p:sp>
      <p:sp>
        <p:nvSpPr>
          <p:cNvPr id="112685" name="Text Box 45"/>
          <p:cNvSpPr txBox="1"/>
          <p:nvPr/>
        </p:nvSpPr>
        <p:spPr>
          <a:xfrm>
            <a:off x="6414135" y="35636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8</a:t>
            </a:r>
            <a:endParaRPr lang="en-US" altLang="zh-CN" sz="3200" b="1" dirty="0">
              <a:ea typeface="宋体" panose="02010600030101010101" pitchFamily="2" charset="-122"/>
            </a:endParaRPr>
          </a:p>
        </p:txBody>
      </p:sp>
      <p:sp>
        <p:nvSpPr>
          <p:cNvPr id="112686" name="Text Box 46"/>
          <p:cNvSpPr txBox="1"/>
          <p:nvPr/>
        </p:nvSpPr>
        <p:spPr>
          <a:xfrm>
            <a:off x="7792085" y="18110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5</a:t>
            </a:r>
            <a:endParaRPr lang="en-US" altLang="zh-CN" b="1" dirty="0">
              <a:solidFill>
                <a:schemeClr val="tx2"/>
              </a:solidFill>
              <a:ea typeface="宋体" panose="02010600030101010101" pitchFamily="2" charset="-122"/>
            </a:endParaRPr>
          </a:p>
        </p:txBody>
      </p:sp>
      <p:sp>
        <p:nvSpPr>
          <p:cNvPr id="112687" name="Text Box 47"/>
          <p:cNvSpPr txBox="1"/>
          <p:nvPr/>
        </p:nvSpPr>
        <p:spPr>
          <a:xfrm>
            <a:off x="7938135" y="36398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3</a:t>
            </a:r>
            <a:endParaRPr lang="en-US" altLang="zh-CN" sz="3200" b="1" dirty="0">
              <a:ea typeface="宋体" panose="02010600030101010101" pitchFamily="2" charset="-122"/>
            </a:endParaRPr>
          </a:p>
        </p:txBody>
      </p:sp>
      <p:sp>
        <p:nvSpPr>
          <p:cNvPr id="112688" name="Text Box 48"/>
          <p:cNvSpPr txBox="1"/>
          <p:nvPr/>
        </p:nvSpPr>
        <p:spPr>
          <a:xfrm>
            <a:off x="4439285" y="353377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16</a:t>
            </a:r>
            <a:endParaRPr lang="en-US" altLang="zh-CN" sz="3200" b="1" dirty="0">
              <a:solidFill>
                <a:srgbClr val="FF0000"/>
              </a:solidFill>
              <a:ea typeface="宋体" panose="02010600030101010101" pitchFamily="2" charset="-122"/>
            </a:endParaRPr>
          </a:p>
        </p:txBody>
      </p:sp>
      <p:sp>
        <p:nvSpPr>
          <p:cNvPr id="112689" name="Text Box 49"/>
          <p:cNvSpPr txBox="1"/>
          <p:nvPr/>
        </p:nvSpPr>
        <p:spPr>
          <a:xfrm>
            <a:off x="6496685" y="4981575"/>
            <a:ext cx="5905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FF0000"/>
                </a:solidFill>
                <a:ea typeface="宋体" panose="02010600030101010101" pitchFamily="2" charset="-122"/>
              </a:rPr>
              <a:t>21</a:t>
            </a:r>
            <a:endParaRPr lang="en-US" altLang="zh-CN" sz="3200" b="1" dirty="0">
              <a:ea typeface="宋体" panose="02010600030101010101" pitchFamily="2" charset="-122"/>
            </a:endParaRPr>
          </a:p>
        </p:txBody>
      </p:sp>
      <p:sp>
        <p:nvSpPr>
          <p:cNvPr id="112691" name="Line 51"/>
          <p:cNvSpPr/>
          <p:nvPr/>
        </p:nvSpPr>
        <p:spPr>
          <a:xfrm>
            <a:off x="7182485" y="2238375"/>
            <a:ext cx="152400" cy="1981200"/>
          </a:xfrm>
          <a:prstGeom prst="line">
            <a:avLst/>
          </a:prstGeom>
          <a:ln w="28575" cap="sq" cmpd="sng">
            <a:solidFill>
              <a:srgbClr val="DFAFFF"/>
            </a:solidFill>
            <a:prstDash val="solid"/>
            <a:headEnd type="none" w="sm" len="sm"/>
            <a:tailEnd type="none" w="sm" len="sm"/>
          </a:ln>
        </p:spPr>
      </p:sp>
      <p:sp>
        <p:nvSpPr>
          <p:cNvPr id="112692" name="Line 52"/>
          <p:cNvSpPr/>
          <p:nvPr/>
        </p:nvSpPr>
        <p:spPr>
          <a:xfrm flipH="1">
            <a:off x="5887085" y="2162175"/>
            <a:ext cx="1066800" cy="1219200"/>
          </a:xfrm>
          <a:prstGeom prst="line">
            <a:avLst/>
          </a:prstGeom>
          <a:ln w="28575" cap="sq" cmpd="sng">
            <a:solidFill>
              <a:srgbClr val="DFAFFF"/>
            </a:solidFill>
            <a:prstDash val="solid"/>
            <a:headEnd type="none" w="sm" len="sm"/>
            <a:tailEnd type="none" w="sm" len="sm"/>
          </a:ln>
        </p:spPr>
      </p:sp>
      <p:sp>
        <p:nvSpPr>
          <p:cNvPr id="112693" name="Line 53"/>
          <p:cNvSpPr/>
          <p:nvPr/>
        </p:nvSpPr>
        <p:spPr>
          <a:xfrm flipH="1">
            <a:off x="3753485" y="2162175"/>
            <a:ext cx="457200" cy="2057400"/>
          </a:xfrm>
          <a:prstGeom prst="line">
            <a:avLst/>
          </a:prstGeom>
          <a:ln w="28575" cap="sq" cmpd="sng">
            <a:solidFill>
              <a:srgbClr val="DFAFFF"/>
            </a:solidFill>
            <a:prstDash val="solid"/>
            <a:headEnd type="none" w="sm" len="sm"/>
            <a:tailEnd type="none" w="sm" len="sm"/>
          </a:ln>
        </p:spPr>
      </p:sp>
      <p:sp>
        <p:nvSpPr>
          <p:cNvPr id="112694" name="Line 54"/>
          <p:cNvSpPr/>
          <p:nvPr/>
        </p:nvSpPr>
        <p:spPr>
          <a:xfrm>
            <a:off x="4591685" y="2009775"/>
            <a:ext cx="2286000" cy="0"/>
          </a:xfrm>
          <a:prstGeom prst="line">
            <a:avLst/>
          </a:prstGeom>
          <a:ln w="28575" cap="sq" cmpd="sng">
            <a:solidFill>
              <a:srgbClr val="DFAFFF"/>
            </a:solidFill>
            <a:prstDash val="solid"/>
            <a:headEnd type="none" w="sm" len="sm"/>
            <a:tailEnd type="none" w="sm" len="sm"/>
          </a:ln>
        </p:spPr>
      </p:sp>
      <p:sp>
        <p:nvSpPr>
          <p:cNvPr id="112695" name="Text Box 55"/>
          <p:cNvSpPr txBox="1"/>
          <p:nvPr/>
        </p:nvSpPr>
        <p:spPr>
          <a:xfrm>
            <a:off x="7258685" y="2725420"/>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DFAFFF"/>
                </a:solidFill>
                <a:ea typeface="宋体" panose="02010600030101010101" pitchFamily="2" charset="-122"/>
              </a:rPr>
              <a:t>7</a:t>
            </a:r>
            <a:endParaRPr lang="en-US" altLang="zh-CN" sz="3200" b="1" dirty="0">
              <a:ea typeface="宋体" panose="02010600030101010101" pitchFamily="2" charset="-122"/>
            </a:endParaRPr>
          </a:p>
        </p:txBody>
      </p:sp>
      <p:sp>
        <p:nvSpPr>
          <p:cNvPr id="112696" name="Text Box 56"/>
          <p:cNvSpPr txBox="1"/>
          <p:nvPr/>
        </p:nvSpPr>
        <p:spPr>
          <a:xfrm>
            <a:off x="6039485" y="2192020"/>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DFAFFF"/>
                </a:solidFill>
                <a:ea typeface="宋体" panose="02010600030101010101" pitchFamily="2" charset="-122"/>
              </a:rPr>
              <a:t>12</a:t>
            </a:r>
            <a:endParaRPr lang="en-US" altLang="zh-CN" sz="3200" b="1" dirty="0">
              <a:ea typeface="宋体" panose="02010600030101010101" pitchFamily="2" charset="-122"/>
            </a:endParaRPr>
          </a:p>
        </p:txBody>
      </p:sp>
      <p:sp>
        <p:nvSpPr>
          <p:cNvPr id="112697" name="Text Box 57"/>
          <p:cNvSpPr txBox="1"/>
          <p:nvPr/>
        </p:nvSpPr>
        <p:spPr>
          <a:xfrm>
            <a:off x="3448685" y="2877820"/>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DFAFFF"/>
                </a:solidFill>
                <a:ea typeface="宋体" panose="02010600030101010101" pitchFamily="2" charset="-122"/>
              </a:rPr>
              <a:t>18</a:t>
            </a:r>
            <a:endParaRPr lang="en-US" altLang="zh-CN" sz="3200" b="1" dirty="0">
              <a:ea typeface="宋体" panose="02010600030101010101" pitchFamily="2" charset="-122"/>
            </a:endParaRPr>
          </a:p>
        </p:txBody>
      </p:sp>
      <p:sp>
        <p:nvSpPr>
          <p:cNvPr id="112698" name="Text Box 58"/>
          <p:cNvSpPr txBox="1"/>
          <p:nvPr/>
        </p:nvSpPr>
        <p:spPr>
          <a:xfrm>
            <a:off x="5277485" y="1506220"/>
            <a:ext cx="5905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200" b="1" dirty="0">
                <a:solidFill>
                  <a:srgbClr val="DFAFFF"/>
                </a:solidFill>
                <a:ea typeface="宋体" panose="02010600030101010101" pitchFamily="2" charset="-122"/>
              </a:rPr>
              <a:t>19</a:t>
            </a:r>
            <a:endParaRPr lang="en-US" altLang="zh-CN" b="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1264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1264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12644"/>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12645"/>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12646"/>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12647"/>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12648"/>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112649"/>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112650"/>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112651"/>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112652"/>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112653"/>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112654"/>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112655"/>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112656"/>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112657"/>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112658"/>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112659"/>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grpId="0" nodeType="afterEffect">
                                  <p:stCondLst>
                                    <p:cond delay="0"/>
                                  </p:stCondLst>
                                  <p:childTnLst>
                                    <p:set>
                                      <p:cBhvr>
                                        <p:cTn id="60" dur="1" fill="hold">
                                          <p:stCondLst>
                                            <p:cond delay="499"/>
                                          </p:stCondLst>
                                        </p:cTn>
                                        <p:tgtEl>
                                          <p:spTgt spid="112660"/>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grpId="0" nodeType="afterEffect">
                                  <p:stCondLst>
                                    <p:cond delay="0"/>
                                  </p:stCondLst>
                                  <p:childTnLst>
                                    <p:set>
                                      <p:cBhvr>
                                        <p:cTn id="63" dur="1" fill="hold">
                                          <p:stCondLst>
                                            <p:cond delay="499"/>
                                          </p:stCondLst>
                                        </p:cTn>
                                        <p:tgtEl>
                                          <p:spTgt spid="112661"/>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112662"/>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112663"/>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112664"/>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112665"/>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112667"/>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112668"/>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112673"/>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112683"/>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11266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12669"/>
                                        </p:tgtEl>
                                        <p:attrNameLst>
                                          <p:attrName>style.visibility</p:attrName>
                                        </p:attrNameLst>
                                      </p:cBhvr>
                                      <p:to>
                                        <p:strVal val="visible"/>
                                      </p:to>
                                    </p:set>
                                    <p:animEffect transition="in" filter="wipe(up)">
                                      <p:cBhvr>
                                        <p:cTn id="95" dur="500"/>
                                        <p:tgtEl>
                                          <p:spTgt spid="112669"/>
                                        </p:tgtEl>
                                      </p:cBhvr>
                                    </p:animEffect>
                                  </p:childTnLst>
                                </p:cTn>
                              </p:par>
                            </p:childTnLst>
                          </p:cTn>
                        </p:par>
                        <p:par>
                          <p:cTn id="96" fill="hold">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112678"/>
                                        </p:tgtEl>
                                        <p:attrNameLst>
                                          <p:attrName>style.visibility</p:attrName>
                                        </p:attrNameLst>
                                      </p:cBhvr>
                                      <p:to>
                                        <p:strVal val="visible"/>
                                      </p:to>
                                    </p:set>
                                    <p:animEffect transition="in" filter="wipe(up)">
                                      <p:cBhvr>
                                        <p:cTn id="99" dur="500"/>
                                        <p:tgtEl>
                                          <p:spTgt spid="112678"/>
                                        </p:tgtEl>
                                      </p:cBhvr>
                                    </p:animEffect>
                                  </p:childTnLst>
                                </p:cTn>
                              </p:par>
                            </p:childTnLst>
                          </p:cTn>
                        </p:par>
                        <p:par>
                          <p:cTn id="100" fill="hold">
                            <p:stCondLst>
                              <p:cond delay="1000"/>
                            </p:stCondLst>
                            <p:childTnLst>
                              <p:par>
                                <p:cTn id="101" presetID="22" presetClass="entr" presetSubtype="8" fill="hold" grpId="0" nodeType="afterEffect">
                                  <p:stCondLst>
                                    <p:cond delay="0"/>
                                  </p:stCondLst>
                                  <p:childTnLst>
                                    <p:set>
                                      <p:cBhvr>
                                        <p:cTn id="102" dur="1" fill="hold">
                                          <p:stCondLst>
                                            <p:cond delay="0"/>
                                          </p:stCondLst>
                                        </p:cTn>
                                        <p:tgtEl>
                                          <p:spTgt spid="112676"/>
                                        </p:tgtEl>
                                        <p:attrNameLst>
                                          <p:attrName>style.visibility</p:attrName>
                                        </p:attrNameLst>
                                      </p:cBhvr>
                                      <p:to>
                                        <p:strVal val="visible"/>
                                      </p:to>
                                    </p:set>
                                    <p:animEffect transition="in" filter="wipe(left)">
                                      <p:cBhvr>
                                        <p:cTn id="103" dur="500"/>
                                        <p:tgtEl>
                                          <p:spTgt spid="112676"/>
                                        </p:tgtEl>
                                      </p:cBhvr>
                                    </p:animEffect>
                                  </p:childTnLst>
                                </p:cTn>
                              </p:par>
                            </p:childTnLst>
                          </p:cTn>
                        </p:par>
                        <p:par>
                          <p:cTn id="104" fill="hold">
                            <p:stCondLst>
                              <p:cond delay="1500"/>
                            </p:stCondLst>
                            <p:childTnLst>
                              <p:par>
                                <p:cTn id="105" presetID="22" presetClass="entr" presetSubtype="1" fill="hold" grpId="0" nodeType="afterEffect">
                                  <p:stCondLst>
                                    <p:cond delay="0"/>
                                  </p:stCondLst>
                                  <p:childTnLst>
                                    <p:set>
                                      <p:cBhvr>
                                        <p:cTn id="106" dur="1" fill="hold">
                                          <p:stCondLst>
                                            <p:cond delay="0"/>
                                          </p:stCondLst>
                                        </p:cTn>
                                        <p:tgtEl>
                                          <p:spTgt spid="112674"/>
                                        </p:tgtEl>
                                        <p:attrNameLst>
                                          <p:attrName>style.visibility</p:attrName>
                                        </p:attrNameLst>
                                      </p:cBhvr>
                                      <p:to>
                                        <p:strVal val="visible"/>
                                      </p:to>
                                    </p:set>
                                    <p:animEffect transition="in" filter="wipe(up)">
                                      <p:cBhvr>
                                        <p:cTn id="107" dur="500"/>
                                        <p:tgtEl>
                                          <p:spTgt spid="112674"/>
                                        </p:tgtEl>
                                      </p:cBhvr>
                                    </p:animEffect>
                                  </p:childTnLst>
                                </p:cTn>
                              </p:par>
                            </p:childTnLst>
                          </p:cTn>
                        </p:par>
                        <p:par>
                          <p:cTn id="108" fill="hold">
                            <p:stCondLst>
                              <p:cond delay="2000"/>
                            </p:stCondLst>
                            <p:childTnLst>
                              <p:par>
                                <p:cTn id="109" presetID="22" presetClass="entr" presetSubtype="1" fill="hold" grpId="0" nodeType="afterEffect">
                                  <p:stCondLst>
                                    <p:cond delay="0"/>
                                  </p:stCondLst>
                                  <p:childTnLst>
                                    <p:set>
                                      <p:cBhvr>
                                        <p:cTn id="110" dur="1" fill="hold">
                                          <p:stCondLst>
                                            <p:cond delay="0"/>
                                          </p:stCondLst>
                                        </p:cTn>
                                        <p:tgtEl>
                                          <p:spTgt spid="112671"/>
                                        </p:tgtEl>
                                        <p:attrNameLst>
                                          <p:attrName>style.visibility</p:attrName>
                                        </p:attrNameLst>
                                      </p:cBhvr>
                                      <p:to>
                                        <p:strVal val="visible"/>
                                      </p:to>
                                    </p:set>
                                    <p:animEffect transition="in" filter="wipe(up)">
                                      <p:cBhvr>
                                        <p:cTn id="111" dur="500"/>
                                        <p:tgtEl>
                                          <p:spTgt spid="112671"/>
                                        </p:tgtEl>
                                      </p:cBhvr>
                                    </p:animEffect>
                                  </p:childTnLst>
                                </p:cTn>
                              </p:par>
                            </p:childTnLst>
                          </p:cTn>
                        </p:par>
                        <p:par>
                          <p:cTn id="112" fill="hold">
                            <p:stCondLst>
                              <p:cond delay="2500"/>
                            </p:stCondLst>
                            <p:childTnLst>
                              <p:par>
                                <p:cTn id="113" presetID="22" presetClass="entr" presetSubtype="1" fill="hold" grpId="0" nodeType="afterEffect">
                                  <p:stCondLst>
                                    <p:cond delay="0"/>
                                  </p:stCondLst>
                                  <p:childTnLst>
                                    <p:set>
                                      <p:cBhvr>
                                        <p:cTn id="114" dur="1" fill="hold">
                                          <p:stCondLst>
                                            <p:cond delay="0"/>
                                          </p:stCondLst>
                                        </p:cTn>
                                        <p:tgtEl>
                                          <p:spTgt spid="112682"/>
                                        </p:tgtEl>
                                        <p:attrNameLst>
                                          <p:attrName>style.visibility</p:attrName>
                                        </p:attrNameLst>
                                      </p:cBhvr>
                                      <p:to>
                                        <p:strVal val="visible"/>
                                      </p:to>
                                    </p:set>
                                    <p:animEffect transition="in" filter="wipe(up)">
                                      <p:cBhvr>
                                        <p:cTn id="115" dur="500"/>
                                        <p:tgtEl>
                                          <p:spTgt spid="112682"/>
                                        </p:tgtEl>
                                      </p:cBhvr>
                                    </p:animEffect>
                                  </p:childTnLst>
                                </p:cTn>
                              </p:par>
                            </p:childTnLst>
                          </p:cTn>
                        </p:par>
                        <p:par>
                          <p:cTn id="116" fill="hold">
                            <p:stCondLst>
                              <p:cond delay="3000"/>
                            </p:stCondLst>
                            <p:childTnLst>
                              <p:par>
                                <p:cTn id="117" presetID="22" presetClass="entr" presetSubtype="1" fill="hold" grpId="0" nodeType="afterEffect">
                                  <p:stCondLst>
                                    <p:cond delay="0"/>
                                  </p:stCondLst>
                                  <p:childTnLst>
                                    <p:set>
                                      <p:cBhvr>
                                        <p:cTn id="118" dur="1" fill="hold">
                                          <p:stCondLst>
                                            <p:cond delay="0"/>
                                          </p:stCondLst>
                                        </p:cTn>
                                        <p:tgtEl>
                                          <p:spTgt spid="112680"/>
                                        </p:tgtEl>
                                        <p:attrNameLst>
                                          <p:attrName>style.visibility</p:attrName>
                                        </p:attrNameLst>
                                      </p:cBhvr>
                                      <p:to>
                                        <p:strVal val="visible"/>
                                      </p:to>
                                    </p:set>
                                    <p:animEffect transition="in" filter="wipe(up)">
                                      <p:cBhvr>
                                        <p:cTn id="119" dur="500"/>
                                        <p:tgtEl>
                                          <p:spTgt spid="112680"/>
                                        </p:tgtEl>
                                      </p:cBhvr>
                                    </p:animEffect>
                                  </p:childTnLst>
                                </p:cTn>
                              </p:par>
                            </p:childTnLst>
                          </p:cTn>
                        </p:par>
                      </p:childTnLst>
                    </p:cTn>
                  </p:par>
                  <p:par>
                    <p:cTn id="120" fill="hold">
                      <p:stCondLst>
                        <p:cond delay="indefinite"/>
                      </p:stCondLst>
                      <p:childTnLst>
                        <p:par>
                          <p:cTn id="121" fill="hold">
                            <p:stCondLst>
                              <p:cond delay="0"/>
                            </p:stCondLst>
                            <p:childTnLst>
                              <p:par>
                                <p:cTn id="122" presetID="17" presetClass="entr" presetSubtype="1" fill="hold" nodeType="clickEffect">
                                  <p:stCondLst>
                                    <p:cond delay="0"/>
                                  </p:stCondLst>
                                  <p:childTnLst>
                                    <p:set>
                                      <p:cBhvr>
                                        <p:cTn id="123" dur="1" fill="hold">
                                          <p:stCondLst>
                                            <p:cond delay="0"/>
                                          </p:stCondLst>
                                        </p:cTn>
                                        <p:tgtEl>
                                          <p:spTgt spid="112675"/>
                                        </p:tgtEl>
                                        <p:attrNameLst>
                                          <p:attrName>style.visibility</p:attrName>
                                        </p:attrNameLst>
                                      </p:cBhvr>
                                      <p:to>
                                        <p:strVal val="visible"/>
                                      </p:to>
                                    </p:set>
                                    <p:anim calcmode="lin" valueType="num">
                                      <p:cBhvr>
                                        <p:cTn id="124" dur="500" fill="hold"/>
                                        <p:tgtEl>
                                          <p:spTgt spid="112675"/>
                                        </p:tgtEl>
                                        <p:attrNameLst>
                                          <p:attrName>ppt_x</p:attrName>
                                        </p:attrNameLst>
                                      </p:cBhvr>
                                      <p:tavLst>
                                        <p:tav tm="0">
                                          <p:val>
                                            <p:strVal val="#ppt_x"/>
                                          </p:val>
                                        </p:tav>
                                        <p:tav tm="100000">
                                          <p:val>
                                            <p:strVal val="#ppt_x"/>
                                          </p:val>
                                        </p:tav>
                                      </p:tavLst>
                                    </p:anim>
                                    <p:anim calcmode="lin" valueType="num">
                                      <p:cBhvr>
                                        <p:cTn id="125" dur="500" fill="hold"/>
                                        <p:tgtEl>
                                          <p:spTgt spid="112675"/>
                                        </p:tgtEl>
                                        <p:attrNameLst>
                                          <p:attrName>ppt_y</p:attrName>
                                        </p:attrNameLst>
                                      </p:cBhvr>
                                      <p:tavLst>
                                        <p:tav tm="0">
                                          <p:val>
                                            <p:strVal val="#ppt_y-#ppt_h/2"/>
                                          </p:val>
                                        </p:tav>
                                        <p:tav tm="100000">
                                          <p:val>
                                            <p:strVal val="#ppt_y"/>
                                          </p:val>
                                        </p:tav>
                                      </p:tavLst>
                                    </p:anim>
                                    <p:anim calcmode="lin" valueType="num">
                                      <p:cBhvr>
                                        <p:cTn id="126" dur="500" fill="hold"/>
                                        <p:tgtEl>
                                          <p:spTgt spid="112675"/>
                                        </p:tgtEl>
                                        <p:attrNameLst>
                                          <p:attrName>ppt_w</p:attrName>
                                        </p:attrNameLst>
                                      </p:cBhvr>
                                      <p:tavLst>
                                        <p:tav tm="0">
                                          <p:val>
                                            <p:strVal val="#ppt_w"/>
                                          </p:val>
                                        </p:tav>
                                        <p:tav tm="100000">
                                          <p:val>
                                            <p:strVal val="#ppt_w"/>
                                          </p:val>
                                        </p:tav>
                                      </p:tavLst>
                                    </p:anim>
                                    <p:anim calcmode="lin" valueType="num">
                                      <p:cBhvr>
                                        <p:cTn id="127" dur="500" fill="hold"/>
                                        <p:tgtEl>
                                          <p:spTgt spid="112675"/>
                                        </p:tgtEl>
                                        <p:attrNameLst>
                                          <p:attrName>ppt_h</p:attrName>
                                        </p:attrNameLst>
                                      </p:cBhvr>
                                      <p:tavLst>
                                        <p:tav tm="0">
                                          <p:val>
                                            <p:fltVal val="0.000000"/>
                                          </p:val>
                                        </p:tav>
                                        <p:tav tm="100000">
                                          <p:val>
                                            <p:strVal val="#ppt_h"/>
                                          </p:val>
                                        </p:tav>
                                      </p:tavLst>
                                    </p:anim>
                                  </p:childTnLst>
                                </p:cTn>
                              </p:par>
                            </p:childTnLst>
                          </p:cTn>
                        </p:par>
                        <p:par>
                          <p:cTn id="128" fill="hold">
                            <p:stCondLst>
                              <p:cond delay="500"/>
                            </p:stCondLst>
                            <p:childTnLst>
                              <p:par>
                                <p:cTn id="129" presetID="12" presetClass="entr" presetSubtype="1" fill="hold" grpId="0" nodeType="afterEffect">
                                  <p:stCondLst>
                                    <p:cond delay="0"/>
                                  </p:stCondLst>
                                  <p:childTnLst>
                                    <p:set>
                                      <p:cBhvr>
                                        <p:cTn id="130" dur="1" fill="hold">
                                          <p:stCondLst>
                                            <p:cond delay="0"/>
                                          </p:stCondLst>
                                        </p:cTn>
                                        <p:tgtEl>
                                          <p:spTgt spid="112687"/>
                                        </p:tgtEl>
                                        <p:attrNameLst>
                                          <p:attrName>style.visibility</p:attrName>
                                        </p:attrNameLst>
                                      </p:cBhvr>
                                      <p:to>
                                        <p:strVal val="visible"/>
                                      </p:to>
                                    </p:set>
                                    <p:animEffect transition="in" filter="slide(fromTop)">
                                      <p:cBhvr>
                                        <p:cTn id="131" dur="500"/>
                                        <p:tgtEl>
                                          <p:spTgt spid="112687"/>
                                        </p:tgtEl>
                                      </p:cBhvr>
                                    </p:animEffect>
                                  </p:childTnLst>
                                </p:cTn>
                              </p:par>
                            </p:childTnLst>
                          </p:cTn>
                        </p:par>
                      </p:childTnLst>
                    </p:cTn>
                  </p:par>
                  <p:par>
                    <p:cTn id="132" fill="hold">
                      <p:stCondLst>
                        <p:cond delay="indefinite"/>
                      </p:stCondLst>
                      <p:childTnLst>
                        <p:par>
                          <p:cTn id="133" fill="hold">
                            <p:stCondLst>
                              <p:cond delay="0"/>
                            </p:stCondLst>
                            <p:childTnLst>
                              <p:par>
                                <p:cTn id="134" presetID="17" presetClass="entr" presetSubtype="1" fill="hold" nodeType="clickEffect">
                                  <p:stCondLst>
                                    <p:cond delay="0"/>
                                  </p:stCondLst>
                                  <p:childTnLst>
                                    <p:set>
                                      <p:cBhvr>
                                        <p:cTn id="135" dur="1" fill="hold">
                                          <p:stCondLst>
                                            <p:cond delay="0"/>
                                          </p:stCondLst>
                                        </p:cTn>
                                        <p:tgtEl>
                                          <p:spTgt spid="112677"/>
                                        </p:tgtEl>
                                        <p:attrNameLst>
                                          <p:attrName>style.visibility</p:attrName>
                                        </p:attrNameLst>
                                      </p:cBhvr>
                                      <p:to>
                                        <p:strVal val="visible"/>
                                      </p:to>
                                    </p:set>
                                    <p:anim calcmode="lin" valueType="num">
                                      <p:cBhvr>
                                        <p:cTn id="136" dur="500" fill="hold"/>
                                        <p:tgtEl>
                                          <p:spTgt spid="112677"/>
                                        </p:tgtEl>
                                        <p:attrNameLst>
                                          <p:attrName>ppt_x</p:attrName>
                                        </p:attrNameLst>
                                      </p:cBhvr>
                                      <p:tavLst>
                                        <p:tav tm="0">
                                          <p:val>
                                            <p:strVal val="#ppt_x"/>
                                          </p:val>
                                        </p:tav>
                                        <p:tav tm="100000">
                                          <p:val>
                                            <p:strVal val="#ppt_x"/>
                                          </p:val>
                                        </p:tav>
                                      </p:tavLst>
                                    </p:anim>
                                    <p:anim calcmode="lin" valueType="num">
                                      <p:cBhvr>
                                        <p:cTn id="137" dur="500" fill="hold"/>
                                        <p:tgtEl>
                                          <p:spTgt spid="112677"/>
                                        </p:tgtEl>
                                        <p:attrNameLst>
                                          <p:attrName>ppt_y</p:attrName>
                                        </p:attrNameLst>
                                      </p:cBhvr>
                                      <p:tavLst>
                                        <p:tav tm="0">
                                          <p:val>
                                            <p:strVal val="#ppt_y-#ppt_h/2"/>
                                          </p:val>
                                        </p:tav>
                                        <p:tav tm="100000">
                                          <p:val>
                                            <p:strVal val="#ppt_y"/>
                                          </p:val>
                                        </p:tav>
                                      </p:tavLst>
                                    </p:anim>
                                    <p:anim calcmode="lin" valueType="num">
                                      <p:cBhvr>
                                        <p:cTn id="138" dur="500" fill="hold"/>
                                        <p:tgtEl>
                                          <p:spTgt spid="112677"/>
                                        </p:tgtEl>
                                        <p:attrNameLst>
                                          <p:attrName>ppt_w</p:attrName>
                                        </p:attrNameLst>
                                      </p:cBhvr>
                                      <p:tavLst>
                                        <p:tav tm="0">
                                          <p:val>
                                            <p:strVal val="#ppt_w"/>
                                          </p:val>
                                        </p:tav>
                                        <p:tav tm="100000">
                                          <p:val>
                                            <p:strVal val="#ppt_w"/>
                                          </p:val>
                                        </p:tav>
                                      </p:tavLst>
                                    </p:anim>
                                    <p:anim calcmode="lin" valueType="num">
                                      <p:cBhvr>
                                        <p:cTn id="139" dur="500" fill="hold"/>
                                        <p:tgtEl>
                                          <p:spTgt spid="112677"/>
                                        </p:tgtEl>
                                        <p:attrNameLst>
                                          <p:attrName>ppt_h</p:attrName>
                                        </p:attrNameLst>
                                      </p:cBhvr>
                                      <p:tavLst>
                                        <p:tav tm="0">
                                          <p:val>
                                            <p:fltVal val="0.000000"/>
                                          </p:val>
                                        </p:tav>
                                        <p:tav tm="100000">
                                          <p:val>
                                            <p:strVal val="#ppt_h"/>
                                          </p:val>
                                        </p:tav>
                                      </p:tavLst>
                                    </p:anim>
                                  </p:childTnLst>
                                </p:cTn>
                              </p:par>
                            </p:childTnLst>
                          </p:cTn>
                        </p:par>
                        <p:par>
                          <p:cTn id="140" fill="hold">
                            <p:stCondLst>
                              <p:cond delay="500"/>
                            </p:stCondLst>
                            <p:childTnLst>
                              <p:par>
                                <p:cTn id="141" presetID="12" presetClass="entr" presetSubtype="1" fill="hold" grpId="0" nodeType="afterEffect">
                                  <p:stCondLst>
                                    <p:cond delay="0"/>
                                  </p:stCondLst>
                                  <p:childTnLst>
                                    <p:set>
                                      <p:cBhvr>
                                        <p:cTn id="142" dur="1" fill="hold">
                                          <p:stCondLst>
                                            <p:cond delay="0"/>
                                          </p:stCondLst>
                                        </p:cTn>
                                        <p:tgtEl>
                                          <p:spTgt spid="112686"/>
                                        </p:tgtEl>
                                        <p:attrNameLst>
                                          <p:attrName>style.visibility</p:attrName>
                                        </p:attrNameLst>
                                      </p:cBhvr>
                                      <p:to>
                                        <p:strVal val="visible"/>
                                      </p:to>
                                    </p:set>
                                    <p:animEffect transition="in" filter="slide(fromTop)">
                                      <p:cBhvr>
                                        <p:cTn id="143" dur="500"/>
                                        <p:tgtEl>
                                          <p:spTgt spid="112686"/>
                                        </p:tgtEl>
                                      </p:cBhvr>
                                    </p:animEffect>
                                  </p:childTnLst>
                                </p:cTn>
                              </p:par>
                            </p:childTnLst>
                          </p:cTn>
                        </p:par>
                      </p:childTnLst>
                    </p:cTn>
                  </p:par>
                  <p:par>
                    <p:cTn id="144" fill="hold">
                      <p:stCondLst>
                        <p:cond delay="indefinite"/>
                      </p:stCondLst>
                      <p:childTnLst>
                        <p:par>
                          <p:cTn id="145" fill="hold">
                            <p:stCondLst>
                              <p:cond delay="0"/>
                            </p:stCondLst>
                            <p:childTnLst>
                              <p:par>
                                <p:cTn id="146" presetID="17" presetClass="entr" presetSubtype="1" fill="hold" nodeType="clickEffect">
                                  <p:stCondLst>
                                    <p:cond delay="0"/>
                                  </p:stCondLst>
                                  <p:childTnLst>
                                    <p:set>
                                      <p:cBhvr>
                                        <p:cTn id="147" dur="1" fill="hold">
                                          <p:stCondLst>
                                            <p:cond delay="0"/>
                                          </p:stCondLst>
                                        </p:cTn>
                                        <p:tgtEl>
                                          <p:spTgt spid="112691"/>
                                        </p:tgtEl>
                                        <p:attrNameLst>
                                          <p:attrName>style.visibility</p:attrName>
                                        </p:attrNameLst>
                                      </p:cBhvr>
                                      <p:to>
                                        <p:strVal val="visible"/>
                                      </p:to>
                                    </p:set>
                                    <p:anim calcmode="lin" valueType="num">
                                      <p:cBhvr>
                                        <p:cTn id="148" dur="500" fill="hold"/>
                                        <p:tgtEl>
                                          <p:spTgt spid="112691"/>
                                        </p:tgtEl>
                                        <p:attrNameLst>
                                          <p:attrName>ppt_x</p:attrName>
                                        </p:attrNameLst>
                                      </p:cBhvr>
                                      <p:tavLst>
                                        <p:tav tm="0">
                                          <p:val>
                                            <p:strVal val="#ppt_x"/>
                                          </p:val>
                                        </p:tav>
                                        <p:tav tm="100000">
                                          <p:val>
                                            <p:strVal val="#ppt_x"/>
                                          </p:val>
                                        </p:tav>
                                      </p:tavLst>
                                    </p:anim>
                                    <p:anim calcmode="lin" valueType="num">
                                      <p:cBhvr>
                                        <p:cTn id="149" dur="500" fill="hold"/>
                                        <p:tgtEl>
                                          <p:spTgt spid="112691"/>
                                        </p:tgtEl>
                                        <p:attrNameLst>
                                          <p:attrName>ppt_y</p:attrName>
                                        </p:attrNameLst>
                                      </p:cBhvr>
                                      <p:tavLst>
                                        <p:tav tm="0">
                                          <p:val>
                                            <p:strVal val="#ppt_y-#ppt_h/2"/>
                                          </p:val>
                                        </p:tav>
                                        <p:tav tm="100000">
                                          <p:val>
                                            <p:strVal val="#ppt_y"/>
                                          </p:val>
                                        </p:tav>
                                      </p:tavLst>
                                    </p:anim>
                                    <p:anim calcmode="lin" valueType="num">
                                      <p:cBhvr>
                                        <p:cTn id="150" dur="500" fill="hold"/>
                                        <p:tgtEl>
                                          <p:spTgt spid="112691"/>
                                        </p:tgtEl>
                                        <p:attrNameLst>
                                          <p:attrName>ppt_w</p:attrName>
                                        </p:attrNameLst>
                                      </p:cBhvr>
                                      <p:tavLst>
                                        <p:tav tm="0">
                                          <p:val>
                                            <p:strVal val="#ppt_w"/>
                                          </p:val>
                                        </p:tav>
                                        <p:tav tm="100000">
                                          <p:val>
                                            <p:strVal val="#ppt_w"/>
                                          </p:val>
                                        </p:tav>
                                      </p:tavLst>
                                    </p:anim>
                                    <p:anim calcmode="lin" valueType="num">
                                      <p:cBhvr>
                                        <p:cTn id="151" dur="500" fill="hold"/>
                                        <p:tgtEl>
                                          <p:spTgt spid="112691"/>
                                        </p:tgtEl>
                                        <p:attrNameLst>
                                          <p:attrName>ppt_h</p:attrName>
                                        </p:attrNameLst>
                                      </p:cBhvr>
                                      <p:tavLst>
                                        <p:tav tm="0">
                                          <p:val>
                                            <p:fltVal val="0.000000"/>
                                          </p:val>
                                        </p:tav>
                                        <p:tav tm="100000">
                                          <p:val>
                                            <p:strVal val="#ppt_h"/>
                                          </p:val>
                                        </p:tav>
                                      </p:tavLst>
                                    </p:anim>
                                  </p:childTnLst>
                                </p:cTn>
                              </p:par>
                            </p:childTnLst>
                          </p:cTn>
                        </p:par>
                        <p:par>
                          <p:cTn id="152" fill="hold">
                            <p:stCondLst>
                              <p:cond delay="500"/>
                            </p:stCondLst>
                            <p:childTnLst>
                              <p:par>
                                <p:cTn id="153" presetID="4" presetClass="entr" presetSubtype="32" fill="hold" grpId="0" nodeType="afterEffect">
                                  <p:stCondLst>
                                    <p:cond delay="0"/>
                                  </p:stCondLst>
                                  <p:childTnLst>
                                    <p:set>
                                      <p:cBhvr>
                                        <p:cTn id="154" dur="1" fill="hold">
                                          <p:stCondLst>
                                            <p:cond delay="0"/>
                                          </p:stCondLst>
                                        </p:cTn>
                                        <p:tgtEl>
                                          <p:spTgt spid="112695"/>
                                        </p:tgtEl>
                                        <p:attrNameLst>
                                          <p:attrName>style.visibility</p:attrName>
                                        </p:attrNameLst>
                                      </p:cBhvr>
                                      <p:to>
                                        <p:strVal val="visible"/>
                                      </p:to>
                                    </p:set>
                                    <p:animEffect transition="in" filter="box(out)">
                                      <p:cBhvr>
                                        <p:cTn id="155" dur="500"/>
                                        <p:tgtEl>
                                          <p:spTgt spid="112695"/>
                                        </p:tgtEl>
                                      </p:cBhvr>
                                    </p:animEffect>
                                  </p:childTnLst>
                                </p:cTn>
                              </p:par>
                            </p:childTnLst>
                          </p:cTn>
                        </p:par>
                      </p:childTnLst>
                    </p:cTn>
                  </p:par>
                  <p:par>
                    <p:cTn id="156" fill="hold">
                      <p:stCondLst>
                        <p:cond delay="indefinite"/>
                      </p:stCondLst>
                      <p:childTnLst>
                        <p:par>
                          <p:cTn id="157" fill="hold">
                            <p:stCondLst>
                              <p:cond delay="0"/>
                            </p:stCondLst>
                            <p:childTnLst>
                              <p:par>
                                <p:cTn id="158" presetID="17" presetClass="entr" presetSubtype="1" fill="hold" nodeType="clickEffect">
                                  <p:stCondLst>
                                    <p:cond delay="0"/>
                                  </p:stCondLst>
                                  <p:childTnLst>
                                    <p:set>
                                      <p:cBhvr>
                                        <p:cTn id="159" dur="1" fill="hold">
                                          <p:stCondLst>
                                            <p:cond delay="0"/>
                                          </p:stCondLst>
                                        </p:cTn>
                                        <p:tgtEl>
                                          <p:spTgt spid="112672"/>
                                        </p:tgtEl>
                                        <p:attrNameLst>
                                          <p:attrName>style.visibility</p:attrName>
                                        </p:attrNameLst>
                                      </p:cBhvr>
                                      <p:to>
                                        <p:strVal val="visible"/>
                                      </p:to>
                                    </p:set>
                                    <p:anim calcmode="lin" valueType="num">
                                      <p:cBhvr>
                                        <p:cTn id="160" dur="500" fill="hold"/>
                                        <p:tgtEl>
                                          <p:spTgt spid="112672"/>
                                        </p:tgtEl>
                                        <p:attrNameLst>
                                          <p:attrName>ppt_x</p:attrName>
                                        </p:attrNameLst>
                                      </p:cBhvr>
                                      <p:tavLst>
                                        <p:tav tm="0">
                                          <p:val>
                                            <p:strVal val="#ppt_x"/>
                                          </p:val>
                                        </p:tav>
                                        <p:tav tm="100000">
                                          <p:val>
                                            <p:strVal val="#ppt_x"/>
                                          </p:val>
                                        </p:tav>
                                      </p:tavLst>
                                    </p:anim>
                                    <p:anim calcmode="lin" valueType="num">
                                      <p:cBhvr>
                                        <p:cTn id="161" dur="500" fill="hold"/>
                                        <p:tgtEl>
                                          <p:spTgt spid="112672"/>
                                        </p:tgtEl>
                                        <p:attrNameLst>
                                          <p:attrName>ppt_y</p:attrName>
                                        </p:attrNameLst>
                                      </p:cBhvr>
                                      <p:tavLst>
                                        <p:tav tm="0">
                                          <p:val>
                                            <p:strVal val="#ppt_y-#ppt_h/2"/>
                                          </p:val>
                                        </p:tav>
                                        <p:tav tm="100000">
                                          <p:val>
                                            <p:strVal val="#ppt_y"/>
                                          </p:val>
                                        </p:tav>
                                      </p:tavLst>
                                    </p:anim>
                                    <p:anim calcmode="lin" valueType="num">
                                      <p:cBhvr>
                                        <p:cTn id="162" dur="500" fill="hold"/>
                                        <p:tgtEl>
                                          <p:spTgt spid="112672"/>
                                        </p:tgtEl>
                                        <p:attrNameLst>
                                          <p:attrName>ppt_w</p:attrName>
                                        </p:attrNameLst>
                                      </p:cBhvr>
                                      <p:tavLst>
                                        <p:tav tm="0">
                                          <p:val>
                                            <p:strVal val="#ppt_w"/>
                                          </p:val>
                                        </p:tav>
                                        <p:tav tm="100000">
                                          <p:val>
                                            <p:strVal val="#ppt_w"/>
                                          </p:val>
                                        </p:tav>
                                      </p:tavLst>
                                    </p:anim>
                                    <p:anim calcmode="lin" valueType="num">
                                      <p:cBhvr>
                                        <p:cTn id="163" dur="500" fill="hold"/>
                                        <p:tgtEl>
                                          <p:spTgt spid="112672"/>
                                        </p:tgtEl>
                                        <p:attrNameLst>
                                          <p:attrName>ppt_h</p:attrName>
                                        </p:attrNameLst>
                                      </p:cBhvr>
                                      <p:tavLst>
                                        <p:tav tm="0">
                                          <p:val>
                                            <p:fltVal val="0.000000"/>
                                          </p:val>
                                        </p:tav>
                                        <p:tav tm="100000">
                                          <p:val>
                                            <p:strVal val="#ppt_h"/>
                                          </p:val>
                                        </p:tav>
                                      </p:tavLst>
                                    </p:anim>
                                  </p:childTnLst>
                                </p:cTn>
                              </p:par>
                            </p:childTnLst>
                          </p:cTn>
                        </p:par>
                        <p:par>
                          <p:cTn id="164" fill="hold">
                            <p:stCondLst>
                              <p:cond delay="500"/>
                            </p:stCondLst>
                            <p:childTnLst>
                              <p:par>
                                <p:cTn id="165" presetID="12" presetClass="entr" presetSubtype="1" fill="hold" grpId="0" nodeType="afterEffect">
                                  <p:stCondLst>
                                    <p:cond delay="0"/>
                                  </p:stCondLst>
                                  <p:childTnLst>
                                    <p:set>
                                      <p:cBhvr>
                                        <p:cTn id="166" dur="1" fill="hold">
                                          <p:stCondLst>
                                            <p:cond delay="0"/>
                                          </p:stCondLst>
                                        </p:cTn>
                                        <p:tgtEl>
                                          <p:spTgt spid="112685"/>
                                        </p:tgtEl>
                                        <p:attrNameLst>
                                          <p:attrName>style.visibility</p:attrName>
                                        </p:attrNameLst>
                                      </p:cBhvr>
                                      <p:to>
                                        <p:strVal val="visible"/>
                                      </p:to>
                                    </p:set>
                                    <p:animEffect transition="in" filter="slide(fromTop)">
                                      <p:cBhvr>
                                        <p:cTn id="167" dur="500"/>
                                        <p:tgtEl>
                                          <p:spTgt spid="112685"/>
                                        </p:tgtEl>
                                      </p:cBhvr>
                                    </p:animEffect>
                                  </p:childTnLst>
                                </p:cTn>
                              </p:par>
                            </p:childTnLst>
                          </p:cTn>
                        </p:par>
                      </p:childTnLst>
                    </p:cTn>
                  </p:par>
                  <p:par>
                    <p:cTn id="168" fill="hold">
                      <p:stCondLst>
                        <p:cond delay="indefinite"/>
                      </p:stCondLst>
                      <p:childTnLst>
                        <p:par>
                          <p:cTn id="169" fill="hold">
                            <p:stCondLst>
                              <p:cond delay="0"/>
                            </p:stCondLst>
                            <p:childTnLst>
                              <p:par>
                                <p:cTn id="170" presetID="17" presetClass="entr" presetSubtype="1" fill="hold" nodeType="clickEffect">
                                  <p:stCondLst>
                                    <p:cond delay="0"/>
                                  </p:stCondLst>
                                  <p:childTnLst>
                                    <p:set>
                                      <p:cBhvr>
                                        <p:cTn id="171" dur="1" fill="hold">
                                          <p:stCondLst>
                                            <p:cond delay="0"/>
                                          </p:stCondLst>
                                        </p:cTn>
                                        <p:tgtEl>
                                          <p:spTgt spid="112692"/>
                                        </p:tgtEl>
                                        <p:attrNameLst>
                                          <p:attrName>style.visibility</p:attrName>
                                        </p:attrNameLst>
                                      </p:cBhvr>
                                      <p:to>
                                        <p:strVal val="visible"/>
                                      </p:to>
                                    </p:set>
                                    <p:anim calcmode="lin" valueType="num">
                                      <p:cBhvr>
                                        <p:cTn id="172" dur="500" fill="hold"/>
                                        <p:tgtEl>
                                          <p:spTgt spid="112692"/>
                                        </p:tgtEl>
                                        <p:attrNameLst>
                                          <p:attrName>ppt_x</p:attrName>
                                        </p:attrNameLst>
                                      </p:cBhvr>
                                      <p:tavLst>
                                        <p:tav tm="0">
                                          <p:val>
                                            <p:strVal val="#ppt_x"/>
                                          </p:val>
                                        </p:tav>
                                        <p:tav tm="100000">
                                          <p:val>
                                            <p:strVal val="#ppt_x"/>
                                          </p:val>
                                        </p:tav>
                                      </p:tavLst>
                                    </p:anim>
                                    <p:anim calcmode="lin" valueType="num">
                                      <p:cBhvr>
                                        <p:cTn id="173" dur="500" fill="hold"/>
                                        <p:tgtEl>
                                          <p:spTgt spid="112692"/>
                                        </p:tgtEl>
                                        <p:attrNameLst>
                                          <p:attrName>ppt_y</p:attrName>
                                        </p:attrNameLst>
                                      </p:cBhvr>
                                      <p:tavLst>
                                        <p:tav tm="0">
                                          <p:val>
                                            <p:strVal val="#ppt_y-#ppt_h/2"/>
                                          </p:val>
                                        </p:tav>
                                        <p:tav tm="100000">
                                          <p:val>
                                            <p:strVal val="#ppt_y"/>
                                          </p:val>
                                        </p:tav>
                                      </p:tavLst>
                                    </p:anim>
                                    <p:anim calcmode="lin" valueType="num">
                                      <p:cBhvr>
                                        <p:cTn id="174" dur="500" fill="hold"/>
                                        <p:tgtEl>
                                          <p:spTgt spid="112692"/>
                                        </p:tgtEl>
                                        <p:attrNameLst>
                                          <p:attrName>ppt_w</p:attrName>
                                        </p:attrNameLst>
                                      </p:cBhvr>
                                      <p:tavLst>
                                        <p:tav tm="0">
                                          <p:val>
                                            <p:strVal val="#ppt_w"/>
                                          </p:val>
                                        </p:tav>
                                        <p:tav tm="100000">
                                          <p:val>
                                            <p:strVal val="#ppt_w"/>
                                          </p:val>
                                        </p:tav>
                                      </p:tavLst>
                                    </p:anim>
                                    <p:anim calcmode="lin" valueType="num">
                                      <p:cBhvr>
                                        <p:cTn id="175" dur="500" fill="hold"/>
                                        <p:tgtEl>
                                          <p:spTgt spid="112692"/>
                                        </p:tgtEl>
                                        <p:attrNameLst>
                                          <p:attrName>ppt_h</p:attrName>
                                        </p:attrNameLst>
                                      </p:cBhvr>
                                      <p:tavLst>
                                        <p:tav tm="0">
                                          <p:val>
                                            <p:fltVal val="0.000000"/>
                                          </p:val>
                                        </p:tav>
                                        <p:tav tm="100000">
                                          <p:val>
                                            <p:strVal val="#ppt_h"/>
                                          </p:val>
                                        </p:tav>
                                      </p:tavLst>
                                    </p:anim>
                                  </p:childTnLst>
                                </p:cTn>
                              </p:par>
                            </p:childTnLst>
                          </p:cTn>
                        </p:par>
                        <p:par>
                          <p:cTn id="176" fill="hold">
                            <p:stCondLst>
                              <p:cond delay="500"/>
                            </p:stCondLst>
                            <p:childTnLst>
                              <p:par>
                                <p:cTn id="177" presetID="4" presetClass="entr" presetSubtype="32" fill="hold" grpId="0" nodeType="afterEffect">
                                  <p:stCondLst>
                                    <p:cond delay="0"/>
                                  </p:stCondLst>
                                  <p:childTnLst>
                                    <p:set>
                                      <p:cBhvr>
                                        <p:cTn id="178" dur="1" fill="hold">
                                          <p:stCondLst>
                                            <p:cond delay="0"/>
                                          </p:stCondLst>
                                        </p:cTn>
                                        <p:tgtEl>
                                          <p:spTgt spid="112696"/>
                                        </p:tgtEl>
                                        <p:attrNameLst>
                                          <p:attrName>style.visibility</p:attrName>
                                        </p:attrNameLst>
                                      </p:cBhvr>
                                      <p:to>
                                        <p:strVal val="visible"/>
                                      </p:to>
                                    </p:set>
                                    <p:animEffect transition="in" filter="box(out)">
                                      <p:cBhvr>
                                        <p:cTn id="179" dur="500"/>
                                        <p:tgtEl>
                                          <p:spTgt spid="112696"/>
                                        </p:tgtEl>
                                      </p:cBhvr>
                                    </p:animEffect>
                                  </p:childTnLst>
                                </p:cTn>
                              </p:par>
                            </p:childTnLst>
                          </p:cTn>
                        </p:par>
                      </p:childTnLst>
                    </p:cTn>
                  </p:par>
                  <p:par>
                    <p:cTn id="180" fill="hold">
                      <p:stCondLst>
                        <p:cond delay="indefinite"/>
                      </p:stCondLst>
                      <p:childTnLst>
                        <p:par>
                          <p:cTn id="181" fill="hold">
                            <p:stCondLst>
                              <p:cond delay="0"/>
                            </p:stCondLst>
                            <p:childTnLst>
                              <p:par>
                                <p:cTn id="182" presetID="17" presetClass="entr" presetSubtype="1" fill="hold" nodeType="clickEffect">
                                  <p:stCondLst>
                                    <p:cond delay="0"/>
                                  </p:stCondLst>
                                  <p:childTnLst>
                                    <p:set>
                                      <p:cBhvr>
                                        <p:cTn id="183" dur="1" fill="hold">
                                          <p:stCondLst>
                                            <p:cond delay="0"/>
                                          </p:stCondLst>
                                        </p:cTn>
                                        <p:tgtEl>
                                          <p:spTgt spid="112670"/>
                                        </p:tgtEl>
                                        <p:attrNameLst>
                                          <p:attrName>style.visibility</p:attrName>
                                        </p:attrNameLst>
                                      </p:cBhvr>
                                      <p:to>
                                        <p:strVal val="visible"/>
                                      </p:to>
                                    </p:set>
                                    <p:anim calcmode="lin" valueType="num">
                                      <p:cBhvr>
                                        <p:cTn id="184" dur="500" fill="hold"/>
                                        <p:tgtEl>
                                          <p:spTgt spid="112670"/>
                                        </p:tgtEl>
                                        <p:attrNameLst>
                                          <p:attrName>ppt_x</p:attrName>
                                        </p:attrNameLst>
                                      </p:cBhvr>
                                      <p:tavLst>
                                        <p:tav tm="0">
                                          <p:val>
                                            <p:strVal val="#ppt_x"/>
                                          </p:val>
                                        </p:tav>
                                        <p:tav tm="100000">
                                          <p:val>
                                            <p:strVal val="#ppt_x"/>
                                          </p:val>
                                        </p:tav>
                                      </p:tavLst>
                                    </p:anim>
                                    <p:anim calcmode="lin" valueType="num">
                                      <p:cBhvr>
                                        <p:cTn id="185" dur="500" fill="hold"/>
                                        <p:tgtEl>
                                          <p:spTgt spid="112670"/>
                                        </p:tgtEl>
                                        <p:attrNameLst>
                                          <p:attrName>ppt_y</p:attrName>
                                        </p:attrNameLst>
                                      </p:cBhvr>
                                      <p:tavLst>
                                        <p:tav tm="0">
                                          <p:val>
                                            <p:strVal val="#ppt_y-#ppt_h/2"/>
                                          </p:val>
                                        </p:tav>
                                        <p:tav tm="100000">
                                          <p:val>
                                            <p:strVal val="#ppt_y"/>
                                          </p:val>
                                        </p:tav>
                                      </p:tavLst>
                                    </p:anim>
                                    <p:anim calcmode="lin" valueType="num">
                                      <p:cBhvr>
                                        <p:cTn id="186" dur="500" fill="hold"/>
                                        <p:tgtEl>
                                          <p:spTgt spid="112670"/>
                                        </p:tgtEl>
                                        <p:attrNameLst>
                                          <p:attrName>ppt_w</p:attrName>
                                        </p:attrNameLst>
                                      </p:cBhvr>
                                      <p:tavLst>
                                        <p:tav tm="0">
                                          <p:val>
                                            <p:strVal val="#ppt_w"/>
                                          </p:val>
                                        </p:tav>
                                        <p:tav tm="100000">
                                          <p:val>
                                            <p:strVal val="#ppt_w"/>
                                          </p:val>
                                        </p:tav>
                                      </p:tavLst>
                                    </p:anim>
                                    <p:anim calcmode="lin" valueType="num">
                                      <p:cBhvr>
                                        <p:cTn id="187" dur="500" fill="hold"/>
                                        <p:tgtEl>
                                          <p:spTgt spid="112670"/>
                                        </p:tgtEl>
                                        <p:attrNameLst>
                                          <p:attrName>ppt_h</p:attrName>
                                        </p:attrNameLst>
                                      </p:cBhvr>
                                      <p:tavLst>
                                        <p:tav tm="0">
                                          <p:val>
                                            <p:fltVal val="0.000000"/>
                                          </p:val>
                                        </p:tav>
                                        <p:tav tm="100000">
                                          <p:val>
                                            <p:strVal val="#ppt_h"/>
                                          </p:val>
                                        </p:tav>
                                      </p:tavLst>
                                    </p:anim>
                                  </p:childTnLst>
                                </p:cTn>
                              </p:par>
                            </p:childTnLst>
                          </p:cTn>
                        </p:par>
                        <p:par>
                          <p:cTn id="188" fill="hold">
                            <p:stCondLst>
                              <p:cond delay="500"/>
                            </p:stCondLst>
                            <p:childTnLst>
                              <p:par>
                                <p:cTn id="189" presetID="12" presetClass="entr" presetSubtype="1" fill="hold" grpId="0" nodeType="afterEffect">
                                  <p:stCondLst>
                                    <p:cond delay="0"/>
                                  </p:stCondLst>
                                  <p:childTnLst>
                                    <p:set>
                                      <p:cBhvr>
                                        <p:cTn id="190" dur="1" fill="hold">
                                          <p:stCondLst>
                                            <p:cond delay="0"/>
                                          </p:stCondLst>
                                        </p:cTn>
                                        <p:tgtEl>
                                          <p:spTgt spid="112684"/>
                                        </p:tgtEl>
                                        <p:attrNameLst>
                                          <p:attrName>style.visibility</p:attrName>
                                        </p:attrNameLst>
                                      </p:cBhvr>
                                      <p:to>
                                        <p:strVal val="visible"/>
                                      </p:to>
                                    </p:set>
                                    <p:animEffect transition="in" filter="slide(fromTop)">
                                      <p:cBhvr>
                                        <p:cTn id="191" dur="500"/>
                                        <p:tgtEl>
                                          <p:spTgt spid="112684"/>
                                        </p:tgtEl>
                                      </p:cBhvr>
                                    </p:animEffect>
                                  </p:childTnLst>
                                </p:cTn>
                              </p:par>
                            </p:childTnLst>
                          </p:cTn>
                        </p:par>
                      </p:childTnLst>
                    </p:cTn>
                  </p:par>
                  <p:par>
                    <p:cTn id="192" fill="hold">
                      <p:stCondLst>
                        <p:cond delay="indefinite"/>
                      </p:stCondLst>
                      <p:childTnLst>
                        <p:par>
                          <p:cTn id="193" fill="hold">
                            <p:stCondLst>
                              <p:cond delay="0"/>
                            </p:stCondLst>
                            <p:childTnLst>
                              <p:par>
                                <p:cTn id="194" presetID="17" presetClass="entr" presetSubtype="1" fill="hold" nodeType="clickEffect">
                                  <p:stCondLst>
                                    <p:cond delay="0"/>
                                  </p:stCondLst>
                                  <p:childTnLst>
                                    <p:set>
                                      <p:cBhvr>
                                        <p:cTn id="195" dur="1" fill="hold">
                                          <p:stCondLst>
                                            <p:cond delay="0"/>
                                          </p:stCondLst>
                                        </p:cTn>
                                        <p:tgtEl>
                                          <p:spTgt spid="112679"/>
                                        </p:tgtEl>
                                        <p:attrNameLst>
                                          <p:attrName>style.visibility</p:attrName>
                                        </p:attrNameLst>
                                      </p:cBhvr>
                                      <p:to>
                                        <p:strVal val="visible"/>
                                      </p:to>
                                    </p:set>
                                    <p:anim calcmode="lin" valueType="num">
                                      <p:cBhvr>
                                        <p:cTn id="196" dur="500" fill="hold"/>
                                        <p:tgtEl>
                                          <p:spTgt spid="112679"/>
                                        </p:tgtEl>
                                        <p:attrNameLst>
                                          <p:attrName>ppt_x</p:attrName>
                                        </p:attrNameLst>
                                      </p:cBhvr>
                                      <p:tavLst>
                                        <p:tav tm="0">
                                          <p:val>
                                            <p:strVal val="#ppt_x"/>
                                          </p:val>
                                        </p:tav>
                                        <p:tav tm="100000">
                                          <p:val>
                                            <p:strVal val="#ppt_x"/>
                                          </p:val>
                                        </p:tav>
                                      </p:tavLst>
                                    </p:anim>
                                    <p:anim calcmode="lin" valueType="num">
                                      <p:cBhvr>
                                        <p:cTn id="197" dur="500" fill="hold"/>
                                        <p:tgtEl>
                                          <p:spTgt spid="112679"/>
                                        </p:tgtEl>
                                        <p:attrNameLst>
                                          <p:attrName>ppt_y</p:attrName>
                                        </p:attrNameLst>
                                      </p:cBhvr>
                                      <p:tavLst>
                                        <p:tav tm="0">
                                          <p:val>
                                            <p:strVal val="#ppt_y-#ppt_h/2"/>
                                          </p:val>
                                        </p:tav>
                                        <p:tav tm="100000">
                                          <p:val>
                                            <p:strVal val="#ppt_y"/>
                                          </p:val>
                                        </p:tav>
                                      </p:tavLst>
                                    </p:anim>
                                    <p:anim calcmode="lin" valueType="num">
                                      <p:cBhvr>
                                        <p:cTn id="198" dur="500" fill="hold"/>
                                        <p:tgtEl>
                                          <p:spTgt spid="112679"/>
                                        </p:tgtEl>
                                        <p:attrNameLst>
                                          <p:attrName>ppt_w</p:attrName>
                                        </p:attrNameLst>
                                      </p:cBhvr>
                                      <p:tavLst>
                                        <p:tav tm="0">
                                          <p:val>
                                            <p:strVal val="#ppt_w"/>
                                          </p:val>
                                        </p:tav>
                                        <p:tav tm="100000">
                                          <p:val>
                                            <p:strVal val="#ppt_w"/>
                                          </p:val>
                                        </p:tav>
                                      </p:tavLst>
                                    </p:anim>
                                    <p:anim calcmode="lin" valueType="num">
                                      <p:cBhvr>
                                        <p:cTn id="199" dur="500" fill="hold"/>
                                        <p:tgtEl>
                                          <p:spTgt spid="112679"/>
                                        </p:tgtEl>
                                        <p:attrNameLst>
                                          <p:attrName>ppt_h</p:attrName>
                                        </p:attrNameLst>
                                      </p:cBhvr>
                                      <p:tavLst>
                                        <p:tav tm="0">
                                          <p:val>
                                            <p:fltVal val="0.000000"/>
                                          </p:val>
                                        </p:tav>
                                        <p:tav tm="100000">
                                          <p:val>
                                            <p:strVal val="#ppt_h"/>
                                          </p:val>
                                        </p:tav>
                                      </p:tavLst>
                                    </p:anim>
                                  </p:childTnLst>
                                </p:cTn>
                              </p:par>
                            </p:childTnLst>
                          </p:cTn>
                        </p:par>
                        <p:par>
                          <p:cTn id="200" fill="hold">
                            <p:stCondLst>
                              <p:cond delay="500"/>
                            </p:stCondLst>
                            <p:childTnLst>
                              <p:par>
                                <p:cTn id="201" presetID="12" presetClass="entr" presetSubtype="1" fill="hold" grpId="0" nodeType="afterEffect">
                                  <p:stCondLst>
                                    <p:cond delay="0"/>
                                  </p:stCondLst>
                                  <p:childTnLst>
                                    <p:set>
                                      <p:cBhvr>
                                        <p:cTn id="202" dur="1" fill="hold">
                                          <p:stCondLst>
                                            <p:cond delay="0"/>
                                          </p:stCondLst>
                                        </p:cTn>
                                        <p:tgtEl>
                                          <p:spTgt spid="112688"/>
                                        </p:tgtEl>
                                        <p:attrNameLst>
                                          <p:attrName>style.visibility</p:attrName>
                                        </p:attrNameLst>
                                      </p:cBhvr>
                                      <p:to>
                                        <p:strVal val="visible"/>
                                      </p:to>
                                    </p:set>
                                    <p:animEffect transition="in" filter="slide(fromTop)">
                                      <p:cBhvr>
                                        <p:cTn id="203" dur="500"/>
                                        <p:tgtEl>
                                          <p:spTgt spid="112688"/>
                                        </p:tgtEl>
                                      </p:cBhvr>
                                    </p:animEffect>
                                  </p:childTnLst>
                                </p:cTn>
                              </p:par>
                            </p:childTnLst>
                          </p:cTn>
                        </p:par>
                      </p:childTnLst>
                    </p:cTn>
                  </p:par>
                  <p:par>
                    <p:cTn id="204" fill="hold">
                      <p:stCondLst>
                        <p:cond delay="indefinite"/>
                      </p:stCondLst>
                      <p:childTnLst>
                        <p:par>
                          <p:cTn id="205" fill="hold">
                            <p:stCondLst>
                              <p:cond delay="0"/>
                            </p:stCondLst>
                            <p:childTnLst>
                              <p:par>
                                <p:cTn id="206" presetID="17" presetClass="entr" presetSubtype="1" fill="hold" nodeType="clickEffect">
                                  <p:stCondLst>
                                    <p:cond delay="0"/>
                                  </p:stCondLst>
                                  <p:childTnLst>
                                    <p:set>
                                      <p:cBhvr>
                                        <p:cTn id="207" dur="1" fill="hold">
                                          <p:stCondLst>
                                            <p:cond delay="0"/>
                                          </p:stCondLst>
                                        </p:cTn>
                                        <p:tgtEl>
                                          <p:spTgt spid="112693"/>
                                        </p:tgtEl>
                                        <p:attrNameLst>
                                          <p:attrName>style.visibility</p:attrName>
                                        </p:attrNameLst>
                                      </p:cBhvr>
                                      <p:to>
                                        <p:strVal val="visible"/>
                                      </p:to>
                                    </p:set>
                                    <p:anim calcmode="lin" valueType="num">
                                      <p:cBhvr>
                                        <p:cTn id="208" dur="500" fill="hold"/>
                                        <p:tgtEl>
                                          <p:spTgt spid="112693"/>
                                        </p:tgtEl>
                                        <p:attrNameLst>
                                          <p:attrName>ppt_x</p:attrName>
                                        </p:attrNameLst>
                                      </p:cBhvr>
                                      <p:tavLst>
                                        <p:tav tm="0">
                                          <p:val>
                                            <p:strVal val="#ppt_x"/>
                                          </p:val>
                                        </p:tav>
                                        <p:tav tm="100000">
                                          <p:val>
                                            <p:strVal val="#ppt_x"/>
                                          </p:val>
                                        </p:tav>
                                      </p:tavLst>
                                    </p:anim>
                                    <p:anim calcmode="lin" valueType="num">
                                      <p:cBhvr>
                                        <p:cTn id="209" dur="500" fill="hold"/>
                                        <p:tgtEl>
                                          <p:spTgt spid="112693"/>
                                        </p:tgtEl>
                                        <p:attrNameLst>
                                          <p:attrName>ppt_y</p:attrName>
                                        </p:attrNameLst>
                                      </p:cBhvr>
                                      <p:tavLst>
                                        <p:tav tm="0">
                                          <p:val>
                                            <p:strVal val="#ppt_y-#ppt_h/2"/>
                                          </p:val>
                                        </p:tav>
                                        <p:tav tm="100000">
                                          <p:val>
                                            <p:strVal val="#ppt_y"/>
                                          </p:val>
                                        </p:tav>
                                      </p:tavLst>
                                    </p:anim>
                                    <p:anim calcmode="lin" valueType="num">
                                      <p:cBhvr>
                                        <p:cTn id="210" dur="500" fill="hold"/>
                                        <p:tgtEl>
                                          <p:spTgt spid="112693"/>
                                        </p:tgtEl>
                                        <p:attrNameLst>
                                          <p:attrName>ppt_w</p:attrName>
                                        </p:attrNameLst>
                                      </p:cBhvr>
                                      <p:tavLst>
                                        <p:tav tm="0">
                                          <p:val>
                                            <p:strVal val="#ppt_w"/>
                                          </p:val>
                                        </p:tav>
                                        <p:tav tm="100000">
                                          <p:val>
                                            <p:strVal val="#ppt_w"/>
                                          </p:val>
                                        </p:tav>
                                      </p:tavLst>
                                    </p:anim>
                                    <p:anim calcmode="lin" valueType="num">
                                      <p:cBhvr>
                                        <p:cTn id="211" dur="500" fill="hold"/>
                                        <p:tgtEl>
                                          <p:spTgt spid="112693"/>
                                        </p:tgtEl>
                                        <p:attrNameLst>
                                          <p:attrName>ppt_h</p:attrName>
                                        </p:attrNameLst>
                                      </p:cBhvr>
                                      <p:tavLst>
                                        <p:tav tm="0">
                                          <p:val>
                                            <p:fltVal val="0.000000"/>
                                          </p:val>
                                        </p:tav>
                                        <p:tav tm="100000">
                                          <p:val>
                                            <p:strVal val="#ppt_h"/>
                                          </p:val>
                                        </p:tav>
                                      </p:tavLst>
                                    </p:anim>
                                  </p:childTnLst>
                                </p:cTn>
                              </p:par>
                            </p:childTnLst>
                          </p:cTn>
                        </p:par>
                        <p:par>
                          <p:cTn id="212" fill="hold">
                            <p:stCondLst>
                              <p:cond delay="500"/>
                            </p:stCondLst>
                            <p:childTnLst>
                              <p:par>
                                <p:cTn id="213" presetID="4" presetClass="entr" presetSubtype="32" fill="hold" grpId="0" nodeType="afterEffect">
                                  <p:stCondLst>
                                    <p:cond delay="0"/>
                                  </p:stCondLst>
                                  <p:childTnLst>
                                    <p:set>
                                      <p:cBhvr>
                                        <p:cTn id="214" dur="1" fill="hold">
                                          <p:stCondLst>
                                            <p:cond delay="0"/>
                                          </p:stCondLst>
                                        </p:cTn>
                                        <p:tgtEl>
                                          <p:spTgt spid="112697"/>
                                        </p:tgtEl>
                                        <p:attrNameLst>
                                          <p:attrName>style.visibility</p:attrName>
                                        </p:attrNameLst>
                                      </p:cBhvr>
                                      <p:to>
                                        <p:strVal val="visible"/>
                                      </p:to>
                                    </p:set>
                                    <p:animEffect transition="in" filter="box(out)">
                                      <p:cBhvr>
                                        <p:cTn id="215" dur="500"/>
                                        <p:tgtEl>
                                          <p:spTgt spid="112697"/>
                                        </p:tgtEl>
                                      </p:cBhvr>
                                    </p:animEffect>
                                  </p:childTnLst>
                                </p:cTn>
                              </p:par>
                            </p:childTnLst>
                          </p:cTn>
                        </p:par>
                      </p:childTnLst>
                    </p:cTn>
                  </p:par>
                  <p:par>
                    <p:cTn id="216" fill="hold">
                      <p:stCondLst>
                        <p:cond delay="indefinite"/>
                      </p:stCondLst>
                      <p:childTnLst>
                        <p:par>
                          <p:cTn id="217" fill="hold">
                            <p:stCondLst>
                              <p:cond delay="0"/>
                            </p:stCondLst>
                            <p:childTnLst>
                              <p:par>
                                <p:cTn id="218" presetID="17" presetClass="entr" presetSubtype="8" fill="hold" nodeType="clickEffect">
                                  <p:stCondLst>
                                    <p:cond delay="0"/>
                                  </p:stCondLst>
                                  <p:childTnLst>
                                    <p:set>
                                      <p:cBhvr>
                                        <p:cTn id="219" dur="1" fill="hold">
                                          <p:stCondLst>
                                            <p:cond delay="0"/>
                                          </p:stCondLst>
                                        </p:cTn>
                                        <p:tgtEl>
                                          <p:spTgt spid="112694"/>
                                        </p:tgtEl>
                                        <p:attrNameLst>
                                          <p:attrName>style.visibility</p:attrName>
                                        </p:attrNameLst>
                                      </p:cBhvr>
                                      <p:to>
                                        <p:strVal val="visible"/>
                                      </p:to>
                                    </p:set>
                                    <p:anim calcmode="lin" valueType="num">
                                      <p:cBhvr>
                                        <p:cTn id="220" dur="500" fill="hold"/>
                                        <p:tgtEl>
                                          <p:spTgt spid="112694"/>
                                        </p:tgtEl>
                                        <p:attrNameLst>
                                          <p:attrName>ppt_x</p:attrName>
                                        </p:attrNameLst>
                                      </p:cBhvr>
                                      <p:tavLst>
                                        <p:tav tm="0">
                                          <p:val>
                                            <p:strVal val="#ppt_x-#ppt_w/2"/>
                                          </p:val>
                                        </p:tav>
                                        <p:tav tm="100000">
                                          <p:val>
                                            <p:strVal val="#ppt_x"/>
                                          </p:val>
                                        </p:tav>
                                      </p:tavLst>
                                    </p:anim>
                                    <p:anim calcmode="lin" valueType="num">
                                      <p:cBhvr>
                                        <p:cTn id="221" dur="500" fill="hold"/>
                                        <p:tgtEl>
                                          <p:spTgt spid="112694"/>
                                        </p:tgtEl>
                                        <p:attrNameLst>
                                          <p:attrName>ppt_y</p:attrName>
                                        </p:attrNameLst>
                                      </p:cBhvr>
                                      <p:tavLst>
                                        <p:tav tm="0">
                                          <p:val>
                                            <p:strVal val="#ppt_y"/>
                                          </p:val>
                                        </p:tav>
                                        <p:tav tm="100000">
                                          <p:val>
                                            <p:strVal val="#ppt_y"/>
                                          </p:val>
                                        </p:tav>
                                      </p:tavLst>
                                    </p:anim>
                                    <p:anim calcmode="lin" valueType="num">
                                      <p:cBhvr>
                                        <p:cTn id="222" dur="500" fill="hold"/>
                                        <p:tgtEl>
                                          <p:spTgt spid="112694"/>
                                        </p:tgtEl>
                                        <p:attrNameLst>
                                          <p:attrName>ppt_w</p:attrName>
                                        </p:attrNameLst>
                                      </p:cBhvr>
                                      <p:tavLst>
                                        <p:tav tm="0">
                                          <p:val>
                                            <p:fltVal val="0.000000"/>
                                          </p:val>
                                        </p:tav>
                                        <p:tav tm="100000">
                                          <p:val>
                                            <p:strVal val="#ppt_w"/>
                                          </p:val>
                                        </p:tav>
                                      </p:tavLst>
                                    </p:anim>
                                    <p:anim calcmode="lin" valueType="num">
                                      <p:cBhvr>
                                        <p:cTn id="223" dur="500" fill="hold"/>
                                        <p:tgtEl>
                                          <p:spTgt spid="112694"/>
                                        </p:tgtEl>
                                        <p:attrNameLst>
                                          <p:attrName>ppt_h</p:attrName>
                                        </p:attrNameLst>
                                      </p:cBhvr>
                                      <p:tavLst>
                                        <p:tav tm="0">
                                          <p:val>
                                            <p:strVal val="#ppt_h"/>
                                          </p:val>
                                        </p:tav>
                                        <p:tav tm="100000">
                                          <p:val>
                                            <p:strVal val="#ppt_h"/>
                                          </p:val>
                                        </p:tav>
                                      </p:tavLst>
                                    </p:anim>
                                  </p:childTnLst>
                                </p:cTn>
                              </p:par>
                            </p:childTnLst>
                          </p:cTn>
                        </p:par>
                        <p:par>
                          <p:cTn id="224" fill="hold">
                            <p:stCondLst>
                              <p:cond delay="500"/>
                            </p:stCondLst>
                            <p:childTnLst>
                              <p:par>
                                <p:cTn id="225" presetID="4" presetClass="entr" presetSubtype="32" fill="hold" grpId="0" nodeType="afterEffect">
                                  <p:stCondLst>
                                    <p:cond delay="0"/>
                                  </p:stCondLst>
                                  <p:childTnLst>
                                    <p:set>
                                      <p:cBhvr>
                                        <p:cTn id="226" dur="1" fill="hold">
                                          <p:stCondLst>
                                            <p:cond delay="0"/>
                                          </p:stCondLst>
                                        </p:cTn>
                                        <p:tgtEl>
                                          <p:spTgt spid="112698"/>
                                        </p:tgtEl>
                                        <p:attrNameLst>
                                          <p:attrName>style.visibility</p:attrName>
                                        </p:attrNameLst>
                                      </p:cBhvr>
                                      <p:to>
                                        <p:strVal val="visible"/>
                                      </p:to>
                                    </p:set>
                                    <p:animEffect transition="in" filter="box(out)">
                                      <p:cBhvr>
                                        <p:cTn id="227" dur="500"/>
                                        <p:tgtEl>
                                          <p:spTgt spid="112698"/>
                                        </p:tgtEl>
                                      </p:cBhvr>
                                    </p:animEffect>
                                  </p:childTnLst>
                                </p:cTn>
                              </p:par>
                            </p:childTnLst>
                          </p:cTn>
                        </p:par>
                      </p:childTnLst>
                    </p:cTn>
                  </p:par>
                  <p:par>
                    <p:cTn id="228" fill="hold">
                      <p:stCondLst>
                        <p:cond delay="indefinite"/>
                      </p:stCondLst>
                      <p:childTnLst>
                        <p:par>
                          <p:cTn id="229" fill="hold">
                            <p:stCondLst>
                              <p:cond delay="0"/>
                            </p:stCondLst>
                            <p:childTnLst>
                              <p:par>
                                <p:cTn id="230" presetID="17" presetClass="entr" presetSubtype="1" fill="hold" nodeType="clickEffect">
                                  <p:stCondLst>
                                    <p:cond delay="0"/>
                                  </p:stCondLst>
                                  <p:childTnLst>
                                    <p:set>
                                      <p:cBhvr>
                                        <p:cTn id="231" dur="1" fill="hold">
                                          <p:stCondLst>
                                            <p:cond delay="0"/>
                                          </p:stCondLst>
                                        </p:cTn>
                                        <p:tgtEl>
                                          <p:spTgt spid="112681"/>
                                        </p:tgtEl>
                                        <p:attrNameLst>
                                          <p:attrName>style.visibility</p:attrName>
                                        </p:attrNameLst>
                                      </p:cBhvr>
                                      <p:to>
                                        <p:strVal val="visible"/>
                                      </p:to>
                                    </p:set>
                                    <p:anim calcmode="lin" valueType="num">
                                      <p:cBhvr>
                                        <p:cTn id="232" dur="500" fill="hold"/>
                                        <p:tgtEl>
                                          <p:spTgt spid="112681"/>
                                        </p:tgtEl>
                                        <p:attrNameLst>
                                          <p:attrName>ppt_x</p:attrName>
                                        </p:attrNameLst>
                                      </p:cBhvr>
                                      <p:tavLst>
                                        <p:tav tm="0">
                                          <p:val>
                                            <p:strVal val="#ppt_x"/>
                                          </p:val>
                                        </p:tav>
                                        <p:tav tm="100000">
                                          <p:val>
                                            <p:strVal val="#ppt_x"/>
                                          </p:val>
                                        </p:tav>
                                      </p:tavLst>
                                    </p:anim>
                                    <p:anim calcmode="lin" valueType="num">
                                      <p:cBhvr>
                                        <p:cTn id="233" dur="500" fill="hold"/>
                                        <p:tgtEl>
                                          <p:spTgt spid="112681"/>
                                        </p:tgtEl>
                                        <p:attrNameLst>
                                          <p:attrName>ppt_y</p:attrName>
                                        </p:attrNameLst>
                                      </p:cBhvr>
                                      <p:tavLst>
                                        <p:tav tm="0">
                                          <p:val>
                                            <p:strVal val="#ppt_y-#ppt_h/2"/>
                                          </p:val>
                                        </p:tav>
                                        <p:tav tm="100000">
                                          <p:val>
                                            <p:strVal val="#ppt_y"/>
                                          </p:val>
                                        </p:tav>
                                      </p:tavLst>
                                    </p:anim>
                                    <p:anim calcmode="lin" valueType="num">
                                      <p:cBhvr>
                                        <p:cTn id="234" dur="500" fill="hold"/>
                                        <p:tgtEl>
                                          <p:spTgt spid="112681"/>
                                        </p:tgtEl>
                                        <p:attrNameLst>
                                          <p:attrName>ppt_w</p:attrName>
                                        </p:attrNameLst>
                                      </p:cBhvr>
                                      <p:tavLst>
                                        <p:tav tm="0">
                                          <p:val>
                                            <p:strVal val="#ppt_w"/>
                                          </p:val>
                                        </p:tav>
                                        <p:tav tm="100000">
                                          <p:val>
                                            <p:strVal val="#ppt_w"/>
                                          </p:val>
                                        </p:tav>
                                      </p:tavLst>
                                    </p:anim>
                                    <p:anim calcmode="lin" valueType="num">
                                      <p:cBhvr>
                                        <p:cTn id="235" dur="500" fill="hold"/>
                                        <p:tgtEl>
                                          <p:spTgt spid="112681"/>
                                        </p:tgtEl>
                                        <p:attrNameLst>
                                          <p:attrName>ppt_h</p:attrName>
                                        </p:attrNameLst>
                                      </p:cBhvr>
                                      <p:tavLst>
                                        <p:tav tm="0">
                                          <p:val>
                                            <p:fltVal val="0.000000"/>
                                          </p:val>
                                        </p:tav>
                                        <p:tav tm="100000">
                                          <p:val>
                                            <p:strVal val="#ppt_h"/>
                                          </p:val>
                                        </p:tav>
                                      </p:tavLst>
                                    </p:anim>
                                  </p:childTnLst>
                                </p:cTn>
                              </p:par>
                            </p:childTnLst>
                          </p:cTn>
                        </p:par>
                        <p:par>
                          <p:cTn id="236" fill="hold">
                            <p:stCondLst>
                              <p:cond delay="500"/>
                            </p:stCondLst>
                            <p:childTnLst>
                              <p:par>
                                <p:cTn id="237" presetID="12" presetClass="entr" presetSubtype="1" fill="hold" grpId="0" nodeType="afterEffect">
                                  <p:stCondLst>
                                    <p:cond delay="0"/>
                                  </p:stCondLst>
                                  <p:childTnLst>
                                    <p:set>
                                      <p:cBhvr>
                                        <p:cTn id="238" dur="1" fill="hold">
                                          <p:stCondLst>
                                            <p:cond delay="0"/>
                                          </p:stCondLst>
                                        </p:cTn>
                                        <p:tgtEl>
                                          <p:spTgt spid="112689"/>
                                        </p:tgtEl>
                                        <p:attrNameLst>
                                          <p:attrName>style.visibility</p:attrName>
                                        </p:attrNameLst>
                                      </p:cBhvr>
                                      <p:to>
                                        <p:strVal val="visible"/>
                                      </p:to>
                                    </p:set>
                                    <p:animEffect transition="in" filter="slide(fromTop)">
                                      <p:cBhvr>
                                        <p:cTn id="239" dur="500"/>
                                        <p:tgtEl>
                                          <p:spTgt spid="112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ldLvl="0" animBg="1"/>
      <p:bldP spid="112643" grpId="0" bldLvl="0" animBg="1"/>
      <p:bldP spid="112644" grpId="0" bldLvl="0" animBg="1"/>
      <p:bldP spid="112645" grpId="0" bldLvl="0" animBg="1"/>
      <p:bldP spid="112646" grpId="0" bldLvl="0" animBg="1"/>
      <p:bldP spid="112647" grpId="0" bldLvl="0" animBg="1"/>
      <p:bldP spid="112648" grpId="0" bldLvl="0" animBg="1"/>
      <p:bldP spid="112660" grpId="0"/>
      <p:bldP spid="112661" grpId="0"/>
      <p:bldP spid="112662" grpId="0"/>
      <p:bldP spid="112663" grpId="0"/>
      <p:bldP spid="112664" grpId="0"/>
      <p:bldP spid="112665" grpId="0"/>
      <p:bldP spid="112666" grpId="0"/>
      <p:bldP spid="112667" grpId="0"/>
      <p:bldP spid="112668" grpId="0"/>
      <p:bldP spid="112669" grpId="0" bldLvl="0" animBg="1"/>
      <p:bldP spid="112671" grpId="0" bldLvl="0" animBg="1"/>
      <p:bldP spid="112673" grpId="0"/>
      <p:bldP spid="112674" grpId="0" bldLvl="0" animBg="1"/>
      <p:bldP spid="112676" grpId="0" bldLvl="0" animBg="1"/>
      <p:bldP spid="112678" grpId="0" bldLvl="0" animBg="1"/>
      <p:bldP spid="112680" grpId="0" bldLvl="0" animBg="1"/>
      <p:bldP spid="112682" grpId="0" bldLvl="0" animBg="1"/>
      <p:bldP spid="112683" grpId="0"/>
      <p:bldP spid="112684" grpId="0"/>
      <p:bldP spid="112685" grpId="0"/>
      <p:bldP spid="112686" grpId="0"/>
      <p:bldP spid="112687" grpId="0"/>
      <p:bldP spid="112688" grpId="0"/>
      <p:bldP spid="112689" grpId="0"/>
      <p:bldP spid="112695" grpId="0"/>
      <p:bldP spid="112696" grpId="0"/>
      <p:bldP spid="112697" grpId="0"/>
      <p:bldP spid="11269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两种算法比较啊</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graphicFrame>
        <p:nvGraphicFramePr>
          <p:cNvPr id="103446" name="Group 22"/>
          <p:cNvGraphicFramePr>
            <a:graphicFrameLocks noGrp="1"/>
          </p:cNvGraphicFramePr>
          <p:nvPr>
            <p:ph idx="1"/>
            <p:custDataLst>
              <p:tags r:id="rId1"/>
            </p:custDataLst>
          </p:nvPr>
        </p:nvGraphicFramePr>
        <p:xfrm>
          <a:off x="2195195" y="2393950"/>
          <a:ext cx="8229600" cy="2468880"/>
        </p:xfrm>
        <a:graphic>
          <a:graphicData uri="http://schemas.openxmlformats.org/drawingml/2006/table">
            <a:tbl>
              <a:tblPr/>
              <a:tblGrid>
                <a:gridCol w="2743200"/>
                <a:gridCol w="2743200"/>
                <a:gridCol w="2743200"/>
              </a:tblGrid>
              <a:tr h="822960">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算法名</a:t>
                      </a:r>
                      <a:endPar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普里姆算法</a:t>
                      </a:r>
                      <a:endPar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克鲁斯卡尔算法</a:t>
                      </a:r>
                      <a:endPar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822854">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时间复杂度</a:t>
                      </a: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O(n</a:t>
                      </a:r>
                      <a:r>
                        <a:rPr kumimoji="0" lang="en-US" altLang="zh-CN" sz="2400" b="0" i="0" u="none" strike="noStrike" cap="none" normalizeH="0" baseline="30000" smtClean="0">
                          <a:ln>
                            <a:noFill/>
                          </a:ln>
                          <a:solidFill>
                            <a:srgbClr val="000000"/>
                          </a:solidFill>
                          <a:effectLst/>
                          <a:latin typeface="Times New Roman" panose="02020603050405020304" pitchFamily="18" charset="0"/>
                          <a:ea typeface="楷体_GB2312" panose="02010609030101010101" pitchFamily="49" charset="-122"/>
                        </a:rPr>
                        <a:t>2</a:t>
                      </a:r>
                      <a:r>
                        <a:rPr kumimoji="0" lang="en-US" altLang="zh-CN"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a:t>
                      </a:r>
                      <a:endParaRPr kumimoji="0" lang="en-US" altLang="zh-CN"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O(eloge)</a:t>
                      </a:r>
                      <a:endParaRPr kumimoji="0" lang="en-US" altLang="zh-CN"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r>
              <a:tr h="822854">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适用范围</a:t>
                      </a: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稠密图</a:t>
                      </a: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稀疏图</a:t>
                      </a: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marT="45671" marB="4567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r>
            </a:tbl>
          </a:graphicData>
        </a:graphic>
      </p:graphicFrame>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1063244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有向无环图</a:t>
            </a:r>
            <a:r>
              <a:rPr lang="en-US" altLang="zh-CN" sz="3600" b="1" dirty="0" smtClean="0">
                <a:solidFill>
                  <a:schemeClr val="bg1"/>
                </a:solidFill>
                <a:latin typeface="微软雅黑" panose="020B0503020204020204" pitchFamily="34" charset="-122"/>
                <a:ea typeface="微软雅黑" panose="020B0503020204020204" pitchFamily="34" charset="-122"/>
              </a:rPr>
              <a:t>——</a:t>
            </a:r>
            <a:r>
              <a:rPr lang="zh-CN" altLang="en-US" sz="3600" b="1" dirty="0" smtClean="0">
                <a:solidFill>
                  <a:schemeClr val="bg1"/>
                </a:solidFill>
                <a:latin typeface="微软雅黑" panose="020B0503020204020204" pitchFamily="34" charset="-122"/>
                <a:ea typeface="微软雅黑" panose="020B0503020204020204" pitchFamily="34" charset="-122"/>
              </a:rPr>
              <a:t>图在工程活动管理中的应用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93187" name="内容占位符 2"/>
          <p:cNvSpPr>
            <a:spLocks noGrp="1"/>
          </p:cNvSpPr>
          <p:nvPr>
            <p:ph idx="1"/>
          </p:nvPr>
        </p:nvSpPr>
        <p:spPr>
          <a:xfrm>
            <a:off x="451485" y="1471930"/>
            <a:ext cx="10515600" cy="4351655"/>
          </a:xfrm>
        </p:spPr>
        <p:txBody>
          <a:bodyPr vert="horz" wrap="square" lIns="91440" tIns="45720" rIns="91440" bIns="45720" numCol="1" anchor="t" anchorCtr="0" compatLnSpc="1"/>
          <a:p>
            <a:pPr marL="342900" marR="0" lvl="0" indent="342265" algn="l" defTabSz="914400" rtl="0" eaLnBrk="0" fontAlgn="base" hangingPunct="0">
              <a:lnSpc>
                <a:spcPct val="125000"/>
              </a:lnSpc>
              <a:spcBef>
                <a:spcPts val="0"/>
              </a:spcBef>
              <a:spcAft>
                <a:spcPct val="0"/>
              </a:spcAft>
              <a:buClrTx/>
              <a:buSzTx/>
              <a:buFontTx/>
              <a:buChar char="•"/>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假设以有向图表示一个工程的施工图或程序的数据流图，则图中不允许出现回路。</a:t>
            </a: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265" algn="l" defTabSz="914400" rtl="0" eaLnBrk="0" fontAlgn="base" hangingPunct="0">
              <a:lnSpc>
                <a:spcPct val="125000"/>
              </a:lnSpc>
              <a:spcBef>
                <a:spcPts val="0"/>
              </a:spcBef>
              <a:spcAft>
                <a:spcPct val="0"/>
              </a:spcAft>
              <a:buClrTx/>
              <a:buSzTx/>
              <a:buFontTx/>
              <a:buChar char="•"/>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一个无环的有向图叫有向无环图（</a:t>
            </a:r>
            <a:r>
              <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Directed Acyclic Graph</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），简称</a:t>
            </a:r>
            <a:r>
              <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DAG</a:t>
            </a: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265" algn="l" defTabSz="914400" rtl="0" eaLnBrk="0" fontAlgn="base" hangingPunct="0">
              <a:lnSpc>
                <a:spcPct val="125000"/>
              </a:lnSpc>
              <a:spcBef>
                <a:spcPts val="0"/>
              </a:spcBef>
              <a:spcAft>
                <a:spcPct val="0"/>
              </a:spcAft>
              <a:buClrTx/>
              <a:buSzTx/>
              <a:buFontTx/>
              <a:buChar char="•"/>
              <a:defRPr/>
            </a:pP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有向树、有向图、有向无环图的区别</a:t>
            </a: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p:txBody>
      </p:sp>
      <p:pic>
        <p:nvPicPr>
          <p:cNvPr id="108548" name="Picture 4"/>
          <p:cNvPicPr>
            <a:picLocks noChangeAspect="1"/>
          </p:cNvPicPr>
          <p:nvPr/>
        </p:nvPicPr>
        <p:blipFill>
          <a:blip r:embed="rId1"/>
          <a:stretch>
            <a:fillRect/>
          </a:stretch>
        </p:blipFill>
        <p:spPr>
          <a:xfrm>
            <a:off x="1569085" y="3188970"/>
            <a:ext cx="8526145" cy="2476500"/>
          </a:xfrm>
          <a:prstGeom prst="rect">
            <a:avLst/>
          </a:prstGeom>
          <a:noFill/>
          <a:ln w="3175">
            <a:noFill/>
          </a:ln>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5.5.2 </a:t>
            </a:r>
            <a:r>
              <a:rPr lang="zh-CN" altLang="en-US" sz="3600" b="1" dirty="0" smtClean="0">
                <a:solidFill>
                  <a:schemeClr val="bg1"/>
                </a:solidFill>
                <a:latin typeface="微软雅黑" panose="020B0503020204020204" pitchFamily="34" charset="-122"/>
                <a:ea typeface="微软雅黑" panose="020B0503020204020204" pitchFamily="34" charset="-122"/>
              </a:rPr>
              <a:t>拓扑排序（</a:t>
            </a:r>
            <a:r>
              <a:rPr lang="en-US" altLang="zh-CN" sz="3600" b="1" dirty="0" smtClean="0">
                <a:solidFill>
                  <a:schemeClr val="bg1"/>
                </a:solidFill>
                <a:latin typeface="微软雅黑" panose="020B0503020204020204" pitchFamily="34" charset="-122"/>
                <a:ea typeface="微软雅黑" panose="020B0503020204020204" pitchFamily="34" charset="-122"/>
              </a:rPr>
              <a:t>AOV</a:t>
            </a:r>
            <a:r>
              <a:rPr lang="zh-CN" altLang="en-US" sz="3600" b="1" dirty="0" smtClean="0">
                <a:solidFill>
                  <a:schemeClr val="bg1"/>
                </a:solidFill>
                <a:latin typeface="微软雅黑" panose="020B0503020204020204" pitchFamily="34" charset="-122"/>
                <a:ea typeface="微软雅黑" panose="020B0503020204020204" pitchFamily="34" charset="-122"/>
              </a:rPr>
              <a:t>网）</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9571" name="内容占位符 2"/>
          <p:cNvSpPr>
            <a:spLocks noGrp="1"/>
          </p:cNvSpPr>
          <p:nvPr>
            <p:ph idx="1"/>
          </p:nvPr>
        </p:nvSpPr>
        <p:spPr>
          <a:xfrm>
            <a:off x="838200" y="1472565"/>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检查有向图中是否存在回路的方法之一，是对有向图进行</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拓扑排序</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rPr>
              <a:t>拓扑序列</a:t>
            </a:r>
            <a:endParaRPr lang="zh-CN" altLang="en-US" sz="2400" b="1" dirty="0">
              <a:solidFill>
                <a:srgbClr val="FF0066"/>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对有向图进行如下操作：按照</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有向图给出的次序关系</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，将图中顶点排成一个线性序列，对于有向图中没有限定次序关系的顶点，则可以人为加上任意的次序关系。由此所得顶点的线性序列称之为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拓扑序列</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什么叫拓扑排序？</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求拓扑序列的操作称为拓扑排序。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如何进行拓扑排序</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6499" name="内容占位符 2"/>
          <p:cNvSpPr>
            <a:spLocks noGrp="1"/>
          </p:cNvSpPr>
          <p:nvPr>
            <p:ph idx="1"/>
          </p:nvPr>
        </p:nvSpPr>
        <p:spPr>
          <a:xfrm>
            <a:off x="306705" y="911860"/>
            <a:ext cx="11324590" cy="5715000"/>
          </a:xfrm>
        </p:spPr>
        <p:txBody>
          <a:bodyPr vert="horz" wrap="square" lIns="91440" tIns="45720" rIns="91440" bIns="45720" anchor="t">
            <a:normAutofit lnSpcReduction="20000"/>
          </a:bodyPr>
          <a:p>
            <a:pPr fontAlgn="auto">
              <a:lnSpc>
                <a:spcPct val="125000"/>
              </a:lnSpc>
              <a:spcBef>
                <a:spcPct val="10000"/>
              </a:spcBef>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、从有向图中选取一个没有前驱的顶点，并输出之；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10000"/>
              </a:spcBef>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、从有向图中删去此顶点以及所有以它为尾的弧；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1000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重复上述两步，直至图空，或者图不空但找不到无前驱的顶点为止。</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例：</a:t>
            </a:r>
            <a:r>
              <a:rPr lang="zh-CN" altLang="pt-BR"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可求得拓扑序列：</a:t>
            </a:r>
            <a:endParaRPr lang="zh-CN" altLang="pt-BR"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pt-BR"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d</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f</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i="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还有其他的序列。</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endParaRPr lang="zh-CN" altLang="en-US" sz="20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在算法中需要用定量的描述替代定性的概念</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spcBef>
                <a:spcPct val="0"/>
              </a:spcBef>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没有前驱的顶点  </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入度为零的顶点</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spcBef>
                <a:spcPct val="0"/>
              </a:spcBef>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删除顶点及以它为尾的弧  </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弧头顶点的入度减</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lnSpc>
                <a:spcPct val="125000"/>
              </a:lnSpc>
              <a:spcBef>
                <a:spcPct val="0"/>
              </a:spcBef>
              <a:buNone/>
            </a:pP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spcBef>
                <a:spcPct val="0"/>
              </a:spcBef>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为了方便找到尚未输出的无前驱顶点，而且为了避免每次选入度为</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的顶点时扫描整个存储空间，可设一个栈或队列暂存所有入度为</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的顶点。</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6501" name="Picture 21"/>
          <p:cNvPicPr>
            <a:picLocks noChangeAspect="1"/>
          </p:cNvPicPr>
          <p:nvPr/>
        </p:nvPicPr>
        <p:blipFill>
          <a:blip r:embed="rId1"/>
          <a:stretch>
            <a:fillRect/>
          </a:stretch>
        </p:blipFill>
        <p:spPr>
          <a:xfrm>
            <a:off x="5403215" y="2364105"/>
            <a:ext cx="6009640" cy="1795145"/>
          </a:xfrm>
          <a:prstGeom prst="rect">
            <a:avLst/>
          </a:prstGeom>
          <a:noFill/>
          <a:ln w="317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499">
                                            <p:txEl>
                                              <p:charRg st="84" end="95"/>
                                            </p:txEl>
                                          </p:spTgt>
                                        </p:tgtEl>
                                        <p:attrNameLst>
                                          <p:attrName>style.visibility</p:attrName>
                                        </p:attrNameLst>
                                      </p:cBhvr>
                                      <p:to>
                                        <p:strVal val="visible"/>
                                      </p:to>
                                    </p:set>
                                    <p:animEffect transition="in" filter="dissolve">
                                      <p:cBhvr>
                                        <p:cTn id="7" dur="500"/>
                                        <p:tgtEl>
                                          <p:spTgt spid="106499">
                                            <p:txEl>
                                              <p:charRg st="84" end="9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6499">
                                            <p:txEl>
                                              <p:charRg st="95" end="125"/>
                                            </p:txEl>
                                          </p:spTgt>
                                        </p:tgtEl>
                                        <p:attrNameLst>
                                          <p:attrName>style.visibility</p:attrName>
                                        </p:attrNameLst>
                                      </p:cBhvr>
                                      <p:to>
                                        <p:strVal val="visible"/>
                                      </p:to>
                                    </p:set>
                                    <p:animEffect transition="in" filter="dissolve">
                                      <p:cBhvr>
                                        <p:cTn id="10" dur="500"/>
                                        <p:tgtEl>
                                          <p:spTgt spid="106499">
                                            <p:txEl>
                                              <p:charRg st="95" end="12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6499">
                                            <p:txEl>
                                              <p:charRg st="125" end="153"/>
                                            </p:txEl>
                                          </p:spTgt>
                                        </p:tgtEl>
                                        <p:attrNameLst>
                                          <p:attrName>style.visibility</p:attrName>
                                        </p:attrNameLst>
                                      </p:cBhvr>
                                      <p:to>
                                        <p:strVal val="visible"/>
                                      </p:to>
                                    </p:set>
                                    <p:animEffect transition="in" filter="dissolve">
                                      <p:cBhvr>
                                        <p:cTn id="13" dur="500"/>
                                        <p:tgtEl>
                                          <p:spTgt spid="106499">
                                            <p:txEl>
                                              <p:charRg st="125" end="15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06499">
                                            <p:txEl>
                                              <p:charRg st="153" end="166"/>
                                            </p:txEl>
                                          </p:spTgt>
                                        </p:tgtEl>
                                        <p:attrNameLst>
                                          <p:attrName>style.visibility</p:attrName>
                                        </p:attrNameLst>
                                      </p:cBhvr>
                                      <p:to>
                                        <p:strVal val="visible"/>
                                      </p:to>
                                    </p:set>
                                    <p:animEffect transition="in" filter="dissolve">
                                      <p:cBhvr>
                                        <p:cTn id="16" dur="500"/>
                                        <p:tgtEl>
                                          <p:spTgt spid="106499">
                                            <p:txEl>
                                              <p:charRg st="153" end="16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6501"/>
                                        </p:tgtEl>
                                        <p:attrNameLst>
                                          <p:attrName>style.visibility</p:attrName>
                                        </p:attrNameLst>
                                      </p:cBhvr>
                                      <p:to>
                                        <p:strVal val="visible"/>
                                      </p:to>
                                    </p:set>
                                    <p:anim calcmode="lin" valueType="num">
                                      <p:cBhvr additive="base">
                                        <p:cTn id="21" dur="500" fill="hold"/>
                                        <p:tgtEl>
                                          <p:spTgt spid="106501"/>
                                        </p:tgtEl>
                                        <p:attrNameLst>
                                          <p:attrName>ppt_x</p:attrName>
                                        </p:attrNameLst>
                                      </p:cBhvr>
                                      <p:tavLst>
                                        <p:tav tm="0">
                                          <p:val>
                                            <p:strVal val="#ppt_x"/>
                                          </p:val>
                                        </p:tav>
                                        <p:tav tm="100000">
                                          <p:val>
                                            <p:strVal val="#ppt_x"/>
                                          </p:val>
                                        </p:tav>
                                      </p:tavLst>
                                    </p:anim>
                                    <p:anim calcmode="lin" valueType="num">
                                      <p:cBhvr additive="base">
                                        <p:cTn id="22" dur="500" fill="hold"/>
                                        <p:tgtEl>
                                          <p:spTgt spid="10650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6499">
                                            <p:txEl>
                                              <p:charRg st="186" end="212"/>
                                            </p:txEl>
                                          </p:spTgt>
                                        </p:tgtEl>
                                        <p:attrNameLst>
                                          <p:attrName>style.visibility</p:attrName>
                                        </p:attrNameLst>
                                      </p:cBhvr>
                                      <p:to>
                                        <p:strVal val="visible"/>
                                      </p:to>
                                    </p:set>
                                    <p:anim calcmode="lin" valueType="num">
                                      <p:cBhvr additive="base">
                                        <p:cTn id="25" dur="500" fill="hold"/>
                                        <p:tgtEl>
                                          <p:spTgt spid="106499">
                                            <p:txEl>
                                              <p:charRg st="186" end="2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6499">
                                            <p:txEl>
                                              <p:charRg st="186" end="21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6499">
                                            <p:txEl>
                                              <p:charRg st="212" end="241"/>
                                            </p:txEl>
                                          </p:spTgt>
                                        </p:tgtEl>
                                        <p:attrNameLst>
                                          <p:attrName>style.visibility</p:attrName>
                                        </p:attrNameLst>
                                      </p:cBhvr>
                                      <p:to>
                                        <p:strVal val="visible"/>
                                      </p:to>
                                    </p:set>
                                    <p:anim calcmode="lin" valueType="num">
                                      <p:cBhvr additive="base">
                                        <p:cTn id="29" dur="500" fill="hold"/>
                                        <p:tgtEl>
                                          <p:spTgt spid="106499">
                                            <p:txEl>
                                              <p:charRg st="212" end="24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6499">
                                            <p:txEl>
                                              <p:charRg st="212" end="24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6499">
                                            <p:txEl>
                                              <p:charRg st="241" end="305"/>
                                            </p:txEl>
                                          </p:spTgt>
                                        </p:tgtEl>
                                        <p:attrNameLst>
                                          <p:attrName>style.visibility</p:attrName>
                                        </p:attrNameLst>
                                      </p:cBhvr>
                                      <p:to>
                                        <p:strVal val="visible"/>
                                      </p:to>
                                    </p:set>
                                    <p:anim calcmode="lin" valueType="num">
                                      <p:cBhvr additive="base">
                                        <p:cTn id="35" dur="500" fill="hold"/>
                                        <p:tgtEl>
                                          <p:spTgt spid="106499">
                                            <p:txEl>
                                              <p:charRg st="241" end="30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6499">
                                            <p:txEl>
                                              <p:charRg st="241" end="30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393065" y="106045"/>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拓扑排序应用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pic>
        <p:nvPicPr>
          <p:cNvPr id="111619" name="图片 3"/>
          <p:cNvPicPr>
            <a:picLocks noChangeAspect="1"/>
          </p:cNvPicPr>
          <p:nvPr/>
        </p:nvPicPr>
        <p:blipFill>
          <a:blip r:embed="rId1"/>
          <a:stretch>
            <a:fillRect/>
          </a:stretch>
        </p:blipFill>
        <p:spPr>
          <a:xfrm>
            <a:off x="1920875" y="1059815"/>
            <a:ext cx="8350885" cy="5137150"/>
          </a:xfrm>
          <a:prstGeom prst="rect">
            <a:avLst/>
          </a:prstGeom>
          <a:noFill/>
          <a:ln w="9525">
            <a:noFill/>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拓扑排序算法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2643" name="Rectangle 4"/>
          <p:cNvSpPr>
            <a:spLocks noGrp="1"/>
          </p:cNvSpPr>
          <p:nvPr>
            <p:ph idx="1"/>
          </p:nvPr>
        </p:nvSpPr>
        <p:spPr>
          <a:xfrm>
            <a:off x="1981200" y="960120"/>
            <a:ext cx="8229600" cy="526923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Autofit/>
          </a:bodyPr>
          <a:p>
            <a:pPr fontAlgn="auto">
              <a:lnSpc>
                <a:spcPct val="80000"/>
              </a:lnSpc>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对图</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中的各顶点求入度，存入</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inArr</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void FindInDegree( ALGraph&lt;VertexType&gt;&amp; g, int inArr[])</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int i,v;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inArr[i]=0;</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v=g.GetFirstAdjVex(i);</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while(v!=-1){</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inArr[v]++;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v=g.GetNextAdjVex(i,v);</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fontAlgn="auto">
              <a:lnSpc>
                <a:spcPct val="80000"/>
              </a:lnSpc>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p>
            <a:r>
              <a:rPr lang="zh-CN" altLang="en-US" sz="3600" b="1" dirty="0" smtClean="0">
                <a:solidFill>
                  <a:schemeClr val="bg1"/>
                </a:solidFill>
                <a:latin typeface="微软雅黑" panose="020B0503020204020204" pitchFamily="34" charset="-122"/>
                <a:ea typeface="微软雅黑" panose="020B0503020204020204" pitchFamily="34" charset="-122"/>
              </a:rPr>
              <a:t>拓扑排序算法（续 </a:t>
            </a:r>
            <a:r>
              <a:rPr lang="en-US" altLang="zh-CN" sz="3600" b="1" dirty="0" smtClean="0">
                <a:solidFill>
                  <a:schemeClr val="bg1"/>
                </a:solidFill>
                <a:latin typeface="微软雅黑" panose="020B0503020204020204" pitchFamily="34" charset="-122"/>
                <a:ea typeface="微软雅黑" panose="020B0503020204020204" pitchFamily="34" charset="-122"/>
              </a:rPr>
              <a:t>1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3667" name="Rectangle 4"/>
          <p:cNvSpPr>
            <a:spLocks noGrp="1"/>
          </p:cNvSpPr>
          <p:nvPr>
            <p:ph idx="1"/>
          </p:nvPr>
        </p:nvSpPr>
        <p:spPr>
          <a:xfrm>
            <a:off x="1981200" y="1019175"/>
            <a:ext cx="8229600"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拓扑排序。若有向图</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中无回路，此函数通过</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topoArr</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返回一个顶点序号的拓</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扑序列，并返回</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toppArr</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存放拓扑次序</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template&lt;class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bool TopologicalSort(ALGraph&lt;VertexType&gt;&amp; g, int* topoArr)</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queue&lt;int&gt; q;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存放度为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的顶点的序号</a:t>
            </a:r>
            <a:endParaRPr lang="zh-CN" altLang="en-US"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VertexType vex;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count=0;</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inDegree=new int[g.GetNumVertices()];</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存放顶点的入度</a:t>
            </a:r>
            <a:endParaRPr lang="zh-CN" altLang="en-US"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FindInDegree(g, inDegree);</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计算所有顶点的入度</a:t>
            </a:r>
            <a:endParaRPr lang="zh-CN" altLang="en-US"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入度为0的顶点进队列</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if(inDegree[i]==0)</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q.push(i);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i=0;</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拓扑排序算法（续 </a:t>
            </a:r>
            <a:r>
              <a:rPr lang="en-US" altLang="zh-CN" sz="3600" b="1" dirty="0" smtClean="0">
                <a:solidFill>
                  <a:schemeClr val="bg1"/>
                </a:solidFill>
                <a:latin typeface="微软雅黑" panose="020B0503020204020204" pitchFamily="34" charset="-122"/>
                <a:ea typeface="微软雅黑" panose="020B0503020204020204" pitchFamily="34" charset="-122"/>
              </a:rPr>
              <a:t>2</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4691" name="Rectangle 4"/>
          <p:cNvSpPr>
            <a:spLocks noGrp="1"/>
          </p:cNvSpPr>
          <p:nvPr>
            <p:ph idx="1"/>
          </p:nvPr>
        </p:nvSpPr>
        <p:spPr>
          <a:xfrm>
            <a:off x="1960245" y="1166495"/>
            <a:ext cx="8229600" cy="4962525"/>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p>
            <a:pPr>
              <a:buNone/>
            </a:pPr>
            <a:r>
              <a:rPr lang="en-US" altLang="zh-CN" sz="1800" dirty="0">
                <a:solidFill>
                  <a:schemeClr val="tx1"/>
                </a:solidFill>
                <a:latin typeface="Times New Roman" panose="02020603050405020304" pitchFamily="18" charset="0"/>
                <a:cs typeface="Times New Roman" panose="02020603050405020304" pitchFamily="18" charset="0"/>
              </a:rPr>
              <a:t>    while( !q.empty()){</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topoArr[i++]=q.front();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for(w=g.GetFirstAdjVex(q.front());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w!=-1; w=g.GetNextAdjVex(q.front(),w)){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if(--inDegree[w]==0)</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q.push(w);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q.pop();</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count++;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inDegree;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count==g.GetNumVertices();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5.5.3 </a:t>
            </a:r>
            <a:r>
              <a:rPr lang="zh-CN" altLang="en-US" sz="3600" b="1" dirty="0" smtClean="0">
                <a:solidFill>
                  <a:schemeClr val="bg1"/>
                </a:solidFill>
                <a:latin typeface="微软雅黑" panose="020B0503020204020204" pitchFamily="34" charset="-122"/>
                <a:ea typeface="微软雅黑" panose="020B0503020204020204" pitchFamily="34" charset="-122"/>
              </a:rPr>
              <a:t>关键路径（</a:t>
            </a:r>
            <a:r>
              <a:rPr lang="en-US" altLang="zh-CN" sz="3600" b="1" dirty="0" smtClean="0">
                <a:solidFill>
                  <a:schemeClr val="bg1"/>
                </a:solidFill>
                <a:latin typeface="微软雅黑" panose="020B0503020204020204" pitchFamily="34" charset="-122"/>
                <a:ea typeface="微软雅黑" panose="020B0503020204020204" pitchFamily="34" charset="-122"/>
              </a:rPr>
              <a:t>AOE</a:t>
            </a:r>
            <a:r>
              <a:rPr lang="zh-CN" altLang="en-US" sz="3600" b="1" dirty="0" smtClean="0">
                <a:solidFill>
                  <a:schemeClr val="bg1"/>
                </a:solidFill>
                <a:latin typeface="微软雅黑" panose="020B0503020204020204" pitchFamily="34" charset="-122"/>
                <a:ea typeface="微软雅黑" panose="020B0503020204020204" pitchFamily="34" charset="-122"/>
              </a:rPr>
              <a:t>网）</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0595" name="内容占位符 2"/>
          <p:cNvSpPr>
            <a:spLocks noGrp="1"/>
          </p:cNvSpPr>
          <p:nvPr>
            <p:ph idx="1"/>
          </p:nvPr>
        </p:nvSpPr>
        <p:spPr>
          <a:xfrm>
            <a:off x="838200" y="1472565"/>
            <a:ext cx="11099800" cy="4351655"/>
          </a:xfrm>
        </p:spPr>
        <p:txBody>
          <a:bodyPr vert="horz" wrap="square" lIns="91440" tIns="45720" rIns="91440" bIns="45720" anchor="t"/>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问题：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假设以有向网表示一个施工流图，弧上的权值表示完成该项子工程所需时间。</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问：</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哪些子工程项是“关键工程”？</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4500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即：</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影响整个工程的完成期限的子工程项。</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595">
                                            <p:txEl>
                                              <p:charRg st="63" end="86"/>
                                            </p:txEl>
                                          </p:spTgt>
                                        </p:tgtEl>
                                        <p:attrNameLst>
                                          <p:attrName>style.visibility</p:attrName>
                                        </p:attrNameLst>
                                      </p:cBhvr>
                                      <p:to>
                                        <p:strVal val="visible"/>
                                      </p:to>
                                    </p:set>
                                    <p:anim calcmode="lin" valueType="num">
                                      <p:cBhvr additive="base">
                                        <p:cTn id="7" dur="500" fill="hold"/>
                                        <p:tgtEl>
                                          <p:spTgt spid="110595">
                                            <p:txEl>
                                              <p:charRg st="63" end="8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5">
                                            <p:txEl>
                                              <p:charRg st="63" end="8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关键路径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6739" name="内容占位符 2"/>
          <p:cNvSpPr>
            <a:spLocks noGrp="1"/>
          </p:cNvSpPr>
          <p:nvPr>
            <p:ph idx="1"/>
          </p:nvPr>
        </p:nvSpPr>
        <p:spPr>
          <a:xfrm>
            <a:off x="539115" y="1252855"/>
            <a:ext cx="10515600" cy="4351655"/>
          </a:xfrm>
        </p:spPr>
        <p:txBody>
          <a:bodyPr vert="horz" wrap="square" lIns="91440" tIns="45720" rIns="91440" bIns="45720" anchor="t"/>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整个工程完成的时间为：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从有向图的源点到汇点的最长路径。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关键活动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”指的是：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该</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上的权值增加 将使有向图上的最长路径的长度增加。</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Oval 2"/>
          <p:cNvSpPr/>
          <p:nvPr/>
        </p:nvSpPr>
        <p:spPr>
          <a:xfrm>
            <a:off x="3189605" y="3764915"/>
            <a:ext cx="457200" cy="457200"/>
          </a:xfrm>
          <a:prstGeom prst="ellipse">
            <a:avLst/>
          </a:prstGeom>
          <a:solidFill>
            <a:srgbClr val="99CCFF"/>
          </a:solidFill>
          <a:ln w="25400"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a</a:t>
            </a:r>
            <a:endParaRPr lang="en-US" altLang="zh-CN" sz="1800" b="1" dirty="0">
              <a:solidFill>
                <a:srgbClr val="FFFFFF"/>
              </a:solidFill>
              <a:latin typeface="Consolas" panose="020B0609020204030204" pitchFamily="49" charset="0"/>
            </a:endParaRPr>
          </a:p>
        </p:txBody>
      </p:sp>
      <p:sp>
        <p:nvSpPr>
          <p:cNvPr id="2" name="Oval 5"/>
          <p:cNvSpPr/>
          <p:nvPr/>
        </p:nvSpPr>
        <p:spPr>
          <a:xfrm>
            <a:off x="4713605" y="29267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b</a:t>
            </a:r>
            <a:endParaRPr lang="en-US" altLang="zh-CN" sz="1800" b="1" dirty="0">
              <a:solidFill>
                <a:srgbClr val="FFFFFF"/>
              </a:solidFill>
              <a:latin typeface="Consolas" panose="020B0609020204030204" pitchFamily="49" charset="0"/>
            </a:endParaRPr>
          </a:p>
        </p:txBody>
      </p:sp>
      <p:sp>
        <p:nvSpPr>
          <p:cNvPr id="6" name="Oval 6"/>
          <p:cNvSpPr/>
          <p:nvPr/>
        </p:nvSpPr>
        <p:spPr>
          <a:xfrm>
            <a:off x="4713605" y="47555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c</a:t>
            </a:r>
            <a:endParaRPr lang="en-US" altLang="zh-CN" sz="1800" b="1" dirty="0">
              <a:solidFill>
                <a:srgbClr val="FFFFFF"/>
              </a:solidFill>
              <a:latin typeface="Consolas" panose="020B0609020204030204" pitchFamily="49" charset="0"/>
            </a:endParaRPr>
          </a:p>
        </p:txBody>
      </p:sp>
      <p:sp>
        <p:nvSpPr>
          <p:cNvPr id="8" name="Oval 7"/>
          <p:cNvSpPr/>
          <p:nvPr/>
        </p:nvSpPr>
        <p:spPr>
          <a:xfrm>
            <a:off x="3799205" y="56699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d</a:t>
            </a:r>
            <a:endParaRPr lang="en-US" altLang="zh-CN" sz="1800" b="1" dirty="0">
              <a:solidFill>
                <a:srgbClr val="FFFFFF"/>
              </a:solidFill>
              <a:latin typeface="Consolas" panose="020B0609020204030204" pitchFamily="49" charset="0"/>
            </a:endParaRPr>
          </a:p>
        </p:txBody>
      </p:sp>
      <p:sp>
        <p:nvSpPr>
          <p:cNvPr id="9" name="Oval 8"/>
          <p:cNvSpPr/>
          <p:nvPr/>
        </p:nvSpPr>
        <p:spPr>
          <a:xfrm>
            <a:off x="6237605" y="38411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e</a:t>
            </a:r>
            <a:endParaRPr lang="en-US" altLang="zh-CN" sz="1800" b="1" dirty="0">
              <a:solidFill>
                <a:srgbClr val="FFFFFF"/>
              </a:solidFill>
              <a:latin typeface="Consolas" panose="020B0609020204030204" pitchFamily="49" charset="0"/>
            </a:endParaRPr>
          </a:p>
        </p:txBody>
      </p:sp>
      <p:sp>
        <p:nvSpPr>
          <p:cNvPr id="10" name="Oval 9"/>
          <p:cNvSpPr/>
          <p:nvPr/>
        </p:nvSpPr>
        <p:spPr>
          <a:xfrm>
            <a:off x="6694805" y="56699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f</a:t>
            </a:r>
            <a:endParaRPr lang="en-US" altLang="zh-CN" sz="1800" b="1" dirty="0">
              <a:solidFill>
                <a:srgbClr val="FFFFFF"/>
              </a:solidFill>
              <a:latin typeface="Consolas" panose="020B0609020204030204" pitchFamily="49" charset="0"/>
            </a:endParaRPr>
          </a:p>
        </p:txBody>
      </p:sp>
      <p:sp>
        <p:nvSpPr>
          <p:cNvPr id="11" name="Oval 10"/>
          <p:cNvSpPr/>
          <p:nvPr/>
        </p:nvSpPr>
        <p:spPr>
          <a:xfrm>
            <a:off x="7761605" y="29267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g</a:t>
            </a:r>
            <a:endParaRPr lang="en-US" altLang="zh-CN" sz="1800" b="1" dirty="0">
              <a:solidFill>
                <a:srgbClr val="FFFFFF"/>
              </a:solidFill>
              <a:latin typeface="Consolas" panose="020B0609020204030204" pitchFamily="49" charset="0"/>
            </a:endParaRPr>
          </a:p>
        </p:txBody>
      </p:sp>
      <p:sp>
        <p:nvSpPr>
          <p:cNvPr id="12" name="Oval 11"/>
          <p:cNvSpPr/>
          <p:nvPr/>
        </p:nvSpPr>
        <p:spPr>
          <a:xfrm>
            <a:off x="7761605" y="475551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h</a:t>
            </a:r>
            <a:endParaRPr lang="en-US" altLang="zh-CN" sz="1800" b="1" dirty="0">
              <a:solidFill>
                <a:srgbClr val="FFFFFF"/>
              </a:solidFill>
              <a:latin typeface="Consolas" panose="020B0609020204030204" pitchFamily="49" charset="0"/>
            </a:endParaRPr>
          </a:p>
        </p:txBody>
      </p:sp>
      <p:sp>
        <p:nvSpPr>
          <p:cNvPr id="14" name="Oval 12"/>
          <p:cNvSpPr/>
          <p:nvPr/>
        </p:nvSpPr>
        <p:spPr>
          <a:xfrm>
            <a:off x="9285605" y="3841115"/>
            <a:ext cx="457200" cy="457200"/>
          </a:xfrm>
          <a:prstGeom prst="ellipse">
            <a:avLst/>
          </a:prstGeom>
          <a:solidFill>
            <a:srgbClr val="99CCFF"/>
          </a:solidFill>
          <a:ln w="25400"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k</a:t>
            </a:r>
            <a:endParaRPr lang="en-US" altLang="zh-CN" sz="1800" b="1" dirty="0">
              <a:solidFill>
                <a:srgbClr val="FFFFFF"/>
              </a:solidFill>
              <a:latin typeface="Consolas" panose="020B0609020204030204" pitchFamily="49" charset="0"/>
            </a:endParaRPr>
          </a:p>
        </p:txBody>
      </p:sp>
      <p:sp>
        <p:nvSpPr>
          <p:cNvPr id="15" name="Line 13"/>
          <p:cNvSpPr/>
          <p:nvPr/>
        </p:nvSpPr>
        <p:spPr>
          <a:xfrm flipV="1">
            <a:off x="3570605" y="3155315"/>
            <a:ext cx="1143000" cy="685800"/>
          </a:xfrm>
          <a:prstGeom prst="line">
            <a:avLst/>
          </a:prstGeom>
          <a:ln w="25400" cap="sq" cmpd="sng">
            <a:solidFill>
              <a:srgbClr val="800000"/>
            </a:solidFill>
            <a:prstDash val="solid"/>
            <a:headEnd type="none" w="sm" len="sm"/>
            <a:tailEnd type="stealth" w="med" len="lg"/>
          </a:ln>
        </p:spPr>
      </p:sp>
      <p:sp>
        <p:nvSpPr>
          <p:cNvPr id="16" name="Line 14"/>
          <p:cNvSpPr/>
          <p:nvPr/>
        </p:nvSpPr>
        <p:spPr>
          <a:xfrm>
            <a:off x="3646805" y="3993515"/>
            <a:ext cx="1066800" cy="838200"/>
          </a:xfrm>
          <a:prstGeom prst="line">
            <a:avLst/>
          </a:prstGeom>
          <a:ln w="25400" cap="sq" cmpd="sng">
            <a:solidFill>
              <a:srgbClr val="800000"/>
            </a:solidFill>
            <a:prstDash val="solid"/>
            <a:headEnd type="none" w="sm" len="sm"/>
            <a:tailEnd type="stealth" w="med" len="lg"/>
          </a:ln>
        </p:spPr>
      </p:sp>
      <p:sp>
        <p:nvSpPr>
          <p:cNvPr id="17" name="Line 15"/>
          <p:cNvSpPr/>
          <p:nvPr/>
        </p:nvSpPr>
        <p:spPr>
          <a:xfrm flipV="1">
            <a:off x="5170805" y="4145915"/>
            <a:ext cx="1143000" cy="762000"/>
          </a:xfrm>
          <a:prstGeom prst="line">
            <a:avLst/>
          </a:prstGeom>
          <a:ln w="25400" cap="sq" cmpd="sng">
            <a:solidFill>
              <a:srgbClr val="800000"/>
            </a:solidFill>
            <a:prstDash val="solid"/>
            <a:headEnd type="none" w="sm" len="sm"/>
            <a:tailEnd type="stealth" w="med" len="lg"/>
          </a:ln>
        </p:spPr>
      </p:sp>
      <p:sp>
        <p:nvSpPr>
          <p:cNvPr id="18" name="Line 16"/>
          <p:cNvSpPr/>
          <p:nvPr/>
        </p:nvSpPr>
        <p:spPr>
          <a:xfrm>
            <a:off x="5170805" y="3155315"/>
            <a:ext cx="1143000" cy="762000"/>
          </a:xfrm>
          <a:prstGeom prst="line">
            <a:avLst/>
          </a:prstGeom>
          <a:ln w="25400" cap="sq" cmpd="sng">
            <a:solidFill>
              <a:srgbClr val="800000"/>
            </a:solidFill>
            <a:prstDash val="solid"/>
            <a:headEnd type="none" w="sm" len="sm"/>
            <a:tailEnd type="stealth" w="med" len="lg"/>
          </a:ln>
        </p:spPr>
      </p:sp>
      <p:sp>
        <p:nvSpPr>
          <p:cNvPr id="19" name="Line 17"/>
          <p:cNvSpPr/>
          <p:nvPr/>
        </p:nvSpPr>
        <p:spPr>
          <a:xfrm flipV="1">
            <a:off x="6618605" y="3155315"/>
            <a:ext cx="1143000" cy="762000"/>
          </a:xfrm>
          <a:prstGeom prst="line">
            <a:avLst/>
          </a:prstGeom>
          <a:ln w="25400" cap="sq" cmpd="sng">
            <a:solidFill>
              <a:srgbClr val="800000"/>
            </a:solidFill>
            <a:prstDash val="solid"/>
            <a:headEnd type="none" w="sm" len="sm"/>
            <a:tailEnd type="stealth" w="med" len="lg"/>
          </a:ln>
        </p:spPr>
      </p:sp>
      <p:sp>
        <p:nvSpPr>
          <p:cNvPr id="20" name="Line 18"/>
          <p:cNvSpPr/>
          <p:nvPr/>
        </p:nvSpPr>
        <p:spPr>
          <a:xfrm>
            <a:off x="8218805" y="3155315"/>
            <a:ext cx="1143000" cy="762000"/>
          </a:xfrm>
          <a:prstGeom prst="line">
            <a:avLst/>
          </a:prstGeom>
          <a:ln w="25400" cap="sq" cmpd="sng">
            <a:solidFill>
              <a:srgbClr val="800000"/>
            </a:solidFill>
            <a:prstDash val="solid"/>
            <a:headEnd type="none" w="sm" len="sm"/>
            <a:tailEnd type="stealth" w="med" len="lg"/>
          </a:ln>
        </p:spPr>
      </p:sp>
      <p:sp>
        <p:nvSpPr>
          <p:cNvPr id="21" name="Line 19"/>
          <p:cNvSpPr/>
          <p:nvPr/>
        </p:nvSpPr>
        <p:spPr>
          <a:xfrm flipV="1">
            <a:off x="8218805" y="4222115"/>
            <a:ext cx="1143000" cy="685800"/>
          </a:xfrm>
          <a:prstGeom prst="line">
            <a:avLst/>
          </a:prstGeom>
          <a:ln w="25400" cap="sq" cmpd="sng">
            <a:solidFill>
              <a:srgbClr val="800000"/>
            </a:solidFill>
            <a:prstDash val="solid"/>
            <a:headEnd type="none" w="sm" len="sm"/>
            <a:tailEnd type="stealth" w="med" len="lg"/>
          </a:ln>
        </p:spPr>
      </p:sp>
      <p:sp>
        <p:nvSpPr>
          <p:cNvPr id="22" name="Line 20"/>
          <p:cNvSpPr/>
          <p:nvPr/>
        </p:nvSpPr>
        <p:spPr>
          <a:xfrm>
            <a:off x="6694805" y="4145915"/>
            <a:ext cx="1066800" cy="762000"/>
          </a:xfrm>
          <a:prstGeom prst="line">
            <a:avLst/>
          </a:prstGeom>
          <a:ln w="25400" cap="sq" cmpd="sng">
            <a:solidFill>
              <a:srgbClr val="800000"/>
            </a:solidFill>
            <a:prstDash val="solid"/>
            <a:headEnd type="none" w="sm" len="sm"/>
            <a:tailEnd type="stealth" w="med" len="lg"/>
          </a:ln>
        </p:spPr>
      </p:sp>
      <p:sp>
        <p:nvSpPr>
          <p:cNvPr id="23" name="Line 21"/>
          <p:cNvSpPr/>
          <p:nvPr/>
        </p:nvSpPr>
        <p:spPr>
          <a:xfrm>
            <a:off x="3418205" y="4222115"/>
            <a:ext cx="609600" cy="1447800"/>
          </a:xfrm>
          <a:prstGeom prst="line">
            <a:avLst/>
          </a:prstGeom>
          <a:ln w="25400" cap="sq" cmpd="sng">
            <a:solidFill>
              <a:srgbClr val="800000"/>
            </a:solidFill>
            <a:prstDash val="solid"/>
            <a:headEnd type="none" w="sm" len="sm"/>
            <a:tailEnd type="stealth" w="med" len="lg"/>
          </a:ln>
        </p:spPr>
      </p:sp>
      <p:sp>
        <p:nvSpPr>
          <p:cNvPr id="24" name="Line 22"/>
          <p:cNvSpPr/>
          <p:nvPr/>
        </p:nvSpPr>
        <p:spPr>
          <a:xfrm>
            <a:off x="4256405" y="5898515"/>
            <a:ext cx="2438400" cy="0"/>
          </a:xfrm>
          <a:prstGeom prst="line">
            <a:avLst/>
          </a:prstGeom>
          <a:ln w="25400" cap="sq" cmpd="sng">
            <a:solidFill>
              <a:srgbClr val="800000"/>
            </a:solidFill>
            <a:prstDash val="solid"/>
            <a:headEnd type="none" w="sm" len="sm"/>
            <a:tailEnd type="stealth" w="med" len="lg"/>
          </a:ln>
        </p:spPr>
      </p:sp>
      <p:sp>
        <p:nvSpPr>
          <p:cNvPr id="25" name="Line 23"/>
          <p:cNvSpPr/>
          <p:nvPr/>
        </p:nvSpPr>
        <p:spPr>
          <a:xfrm flipV="1">
            <a:off x="7152005" y="5136515"/>
            <a:ext cx="685800" cy="762000"/>
          </a:xfrm>
          <a:prstGeom prst="line">
            <a:avLst/>
          </a:prstGeom>
          <a:ln w="25400" cap="sq" cmpd="sng">
            <a:solidFill>
              <a:srgbClr val="800000"/>
            </a:solidFill>
            <a:prstDash val="solid"/>
            <a:headEnd type="none" w="sm" len="sm"/>
            <a:tailEnd type="stealth" w="med" len="lg"/>
          </a:ln>
        </p:spPr>
      </p:sp>
      <p:sp>
        <p:nvSpPr>
          <p:cNvPr id="26" name="Text Box 24"/>
          <p:cNvSpPr txBox="1"/>
          <p:nvPr/>
        </p:nvSpPr>
        <p:spPr>
          <a:xfrm>
            <a:off x="3792855" y="3033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6</a:t>
            </a:r>
            <a:endParaRPr lang="en-US" altLang="zh-CN" sz="1800" b="1" dirty="0">
              <a:solidFill>
                <a:srgbClr val="FFFFFF"/>
              </a:solidFill>
              <a:latin typeface="Consolas" panose="020B0609020204030204" pitchFamily="49" charset="0"/>
            </a:endParaRPr>
          </a:p>
        </p:txBody>
      </p:sp>
      <p:sp>
        <p:nvSpPr>
          <p:cNvPr id="27" name="Text Box 25"/>
          <p:cNvSpPr txBox="1"/>
          <p:nvPr/>
        </p:nvSpPr>
        <p:spPr>
          <a:xfrm>
            <a:off x="4027805" y="39477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28" name="Text Box 26"/>
          <p:cNvSpPr txBox="1"/>
          <p:nvPr/>
        </p:nvSpPr>
        <p:spPr>
          <a:xfrm>
            <a:off x="3716655" y="462216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5</a:t>
            </a:r>
            <a:endParaRPr lang="en-US" altLang="zh-CN" sz="1800" b="1" dirty="0">
              <a:solidFill>
                <a:srgbClr val="FFFFFF"/>
              </a:solidFill>
              <a:latin typeface="Consolas" panose="020B0609020204030204" pitchFamily="49" charset="0"/>
            </a:endParaRPr>
          </a:p>
        </p:txBody>
      </p:sp>
      <p:sp>
        <p:nvSpPr>
          <p:cNvPr id="29" name="Text Box 27"/>
          <p:cNvSpPr txBox="1"/>
          <p:nvPr/>
        </p:nvSpPr>
        <p:spPr>
          <a:xfrm>
            <a:off x="5240655" y="53955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2</a:t>
            </a:r>
            <a:endParaRPr lang="en-US" altLang="zh-CN" sz="1800" b="1" dirty="0">
              <a:solidFill>
                <a:srgbClr val="FFFFFF"/>
              </a:solidFill>
              <a:latin typeface="Consolas" panose="020B0609020204030204" pitchFamily="49" charset="0"/>
            </a:endParaRPr>
          </a:p>
        </p:txBody>
      </p:sp>
      <p:sp>
        <p:nvSpPr>
          <p:cNvPr id="30" name="Text Box 28"/>
          <p:cNvSpPr txBox="1"/>
          <p:nvPr/>
        </p:nvSpPr>
        <p:spPr>
          <a:xfrm>
            <a:off x="5551805" y="3033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1</a:t>
            </a:r>
            <a:endParaRPr lang="en-US" altLang="zh-CN" sz="1800" b="1" dirty="0">
              <a:solidFill>
                <a:srgbClr val="FFFFFF"/>
              </a:solidFill>
              <a:latin typeface="Consolas" panose="020B0609020204030204" pitchFamily="49" charset="0"/>
            </a:endParaRPr>
          </a:p>
        </p:txBody>
      </p:sp>
      <p:sp>
        <p:nvSpPr>
          <p:cNvPr id="31" name="Text Box 29"/>
          <p:cNvSpPr txBox="1"/>
          <p:nvPr/>
        </p:nvSpPr>
        <p:spPr>
          <a:xfrm>
            <a:off x="5459730" y="408876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1</a:t>
            </a:r>
            <a:endParaRPr lang="en-US" altLang="zh-CN" sz="1800" b="1" dirty="0">
              <a:solidFill>
                <a:srgbClr val="FFFFFF"/>
              </a:solidFill>
              <a:latin typeface="Consolas" panose="020B0609020204030204" pitchFamily="49" charset="0"/>
            </a:endParaRPr>
          </a:p>
        </p:txBody>
      </p:sp>
      <p:sp>
        <p:nvSpPr>
          <p:cNvPr id="32" name="Text Box 30"/>
          <p:cNvSpPr txBox="1"/>
          <p:nvPr/>
        </p:nvSpPr>
        <p:spPr>
          <a:xfrm>
            <a:off x="6917055" y="307911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8</a:t>
            </a:r>
            <a:endParaRPr lang="en-US" altLang="zh-CN" sz="1800" b="1" dirty="0">
              <a:solidFill>
                <a:srgbClr val="FFFFFF"/>
              </a:solidFill>
              <a:latin typeface="Consolas" panose="020B0609020204030204" pitchFamily="49" charset="0"/>
            </a:endParaRPr>
          </a:p>
        </p:txBody>
      </p:sp>
      <p:sp>
        <p:nvSpPr>
          <p:cNvPr id="33" name="Text Box 31"/>
          <p:cNvSpPr txBox="1"/>
          <p:nvPr/>
        </p:nvSpPr>
        <p:spPr>
          <a:xfrm>
            <a:off x="7075805" y="406971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7</a:t>
            </a:r>
            <a:endParaRPr lang="en-US" altLang="zh-CN" sz="1800" b="1" dirty="0">
              <a:solidFill>
                <a:srgbClr val="FFFFFF"/>
              </a:solidFill>
              <a:latin typeface="Consolas" panose="020B0609020204030204" pitchFamily="49" charset="0"/>
            </a:endParaRPr>
          </a:p>
        </p:txBody>
      </p:sp>
      <p:sp>
        <p:nvSpPr>
          <p:cNvPr id="34" name="Text Box 32"/>
          <p:cNvSpPr txBox="1"/>
          <p:nvPr/>
        </p:nvSpPr>
        <p:spPr>
          <a:xfrm>
            <a:off x="8669655" y="29571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2</a:t>
            </a:r>
            <a:endParaRPr lang="en-US" altLang="zh-CN" sz="1800" b="1" dirty="0">
              <a:solidFill>
                <a:srgbClr val="0000FF"/>
              </a:solidFill>
              <a:latin typeface="Consolas" panose="020B0609020204030204" pitchFamily="49" charset="0"/>
            </a:endParaRPr>
          </a:p>
        </p:txBody>
      </p:sp>
      <p:sp>
        <p:nvSpPr>
          <p:cNvPr id="35" name="Text Box 33"/>
          <p:cNvSpPr txBox="1"/>
          <p:nvPr/>
        </p:nvSpPr>
        <p:spPr>
          <a:xfrm>
            <a:off x="8279130" y="4176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36" name="Text Box 34"/>
          <p:cNvSpPr txBox="1"/>
          <p:nvPr/>
        </p:nvSpPr>
        <p:spPr>
          <a:xfrm>
            <a:off x="7059930" y="51669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37" name="Line 35"/>
          <p:cNvSpPr/>
          <p:nvPr/>
        </p:nvSpPr>
        <p:spPr>
          <a:xfrm flipV="1">
            <a:off x="3570605" y="3155315"/>
            <a:ext cx="1143000" cy="685800"/>
          </a:xfrm>
          <a:prstGeom prst="line">
            <a:avLst/>
          </a:prstGeom>
          <a:ln w="57150" cap="sq" cmpd="sng">
            <a:solidFill>
              <a:srgbClr val="0000FF"/>
            </a:solidFill>
            <a:prstDash val="solid"/>
            <a:headEnd type="none" w="sm" len="sm"/>
            <a:tailEnd type="stealth" w="med" len="lg"/>
          </a:ln>
        </p:spPr>
      </p:sp>
      <p:sp>
        <p:nvSpPr>
          <p:cNvPr id="38" name="Line 36"/>
          <p:cNvSpPr/>
          <p:nvPr/>
        </p:nvSpPr>
        <p:spPr>
          <a:xfrm>
            <a:off x="5170805" y="3155315"/>
            <a:ext cx="1143000" cy="762000"/>
          </a:xfrm>
          <a:prstGeom prst="line">
            <a:avLst/>
          </a:prstGeom>
          <a:ln w="57150" cap="sq" cmpd="sng">
            <a:solidFill>
              <a:srgbClr val="0000FF"/>
            </a:solidFill>
            <a:prstDash val="solid"/>
            <a:headEnd type="none" w="sm" len="sm"/>
            <a:tailEnd type="stealth" w="med" len="lg"/>
          </a:ln>
        </p:spPr>
      </p:sp>
      <p:sp>
        <p:nvSpPr>
          <p:cNvPr id="39" name="Line 37"/>
          <p:cNvSpPr/>
          <p:nvPr/>
        </p:nvSpPr>
        <p:spPr>
          <a:xfrm>
            <a:off x="6694805" y="4145915"/>
            <a:ext cx="1066800" cy="762000"/>
          </a:xfrm>
          <a:prstGeom prst="line">
            <a:avLst/>
          </a:prstGeom>
          <a:ln w="57150" cap="sq" cmpd="sng">
            <a:solidFill>
              <a:srgbClr val="0000FF"/>
            </a:solidFill>
            <a:prstDash val="solid"/>
            <a:headEnd type="none" w="sm" len="sm"/>
            <a:tailEnd type="stealth" w="med" len="lg"/>
          </a:ln>
        </p:spPr>
      </p:sp>
      <p:sp>
        <p:nvSpPr>
          <p:cNvPr id="40" name="Line 38"/>
          <p:cNvSpPr/>
          <p:nvPr/>
        </p:nvSpPr>
        <p:spPr>
          <a:xfrm flipV="1">
            <a:off x="8218805" y="4222115"/>
            <a:ext cx="1143000" cy="685800"/>
          </a:xfrm>
          <a:prstGeom prst="line">
            <a:avLst/>
          </a:prstGeom>
          <a:ln w="57150" cap="sq" cmpd="sng">
            <a:solidFill>
              <a:srgbClr val="0000FF"/>
            </a:solidFill>
            <a:prstDash val="solid"/>
            <a:headEnd type="none" w="sm" len="sm"/>
            <a:tailEnd type="stealth" w="med" len="lg"/>
          </a:ln>
        </p:spPr>
      </p:sp>
      <p:sp>
        <p:nvSpPr>
          <p:cNvPr id="41" name="AutoShape 42"/>
          <p:cNvSpPr/>
          <p:nvPr/>
        </p:nvSpPr>
        <p:spPr>
          <a:xfrm>
            <a:off x="2199005" y="4374515"/>
            <a:ext cx="914400" cy="457200"/>
          </a:xfrm>
          <a:prstGeom prst="wedgeRoundRectCallout">
            <a:avLst>
              <a:gd name="adj1" fmla="val 62847"/>
              <a:gd name="adj2" fmla="val -113194"/>
              <a:gd name="adj3" fmla="val 16667"/>
            </a:avLst>
          </a:prstGeom>
          <a:solidFill>
            <a:srgbClr val="CCFFFF">
              <a:alpha val="50195"/>
            </a:srgbClr>
          </a:solidFill>
          <a:ln w="12700" cap="sq" cmpd="sng">
            <a:solidFill>
              <a:srgbClr val="000080"/>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b="1" dirty="0">
                <a:solidFill>
                  <a:srgbClr val="0000FF"/>
                </a:solidFill>
                <a:latin typeface="Consolas" panose="020B0609020204030204" pitchFamily="49" charset="0"/>
              </a:rPr>
              <a:t>源点</a:t>
            </a:r>
            <a:endParaRPr lang="zh-CN" altLang="en-US" sz="1800" b="1" dirty="0">
              <a:solidFill>
                <a:srgbClr val="FFFFFF"/>
              </a:solidFill>
              <a:latin typeface="Consolas" panose="020B0609020204030204" pitchFamily="49" charset="0"/>
            </a:endParaRPr>
          </a:p>
        </p:txBody>
      </p:sp>
      <p:sp>
        <p:nvSpPr>
          <p:cNvPr id="42" name="AutoShape 43"/>
          <p:cNvSpPr/>
          <p:nvPr/>
        </p:nvSpPr>
        <p:spPr>
          <a:xfrm>
            <a:off x="9666605" y="2774315"/>
            <a:ext cx="914400" cy="457200"/>
          </a:xfrm>
          <a:prstGeom prst="wedgeRoundRectCallout">
            <a:avLst>
              <a:gd name="adj1" fmla="val -55731"/>
              <a:gd name="adj2" fmla="val 188542"/>
              <a:gd name="adj3" fmla="val 16667"/>
            </a:avLst>
          </a:prstGeom>
          <a:solidFill>
            <a:srgbClr val="CCFFFF">
              <a:alpha val="50195"/>
            </a:srgbClr>
          </a:solidFill>
          <a:ln w="12700" cap="sq" cmpd="sng">
            <a:solidFill>
              <a:srgbClr val="000080"/>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b="1" dirty="0">
                <a:solidFill>
                  <a:srgbClr val="0000FF"/>
                </a:solidFill>
                <a:latin typeface="Consolas" panose="020B0609020204030204" pitchFamily="49" charset="0"/>
              </a:rPr>
              <a:t>汇点</a:t>
            </a:r>
            <a:endParaRPr lang="zh-CN" altLang="en-US" sz="1800" b="1" dirty="0">
              <a:solidFill>
                <a:srgbClr val="FFFFFF"/>
              </a:solidFill>
              <a:latin typeface="Consolas" panose="020B0609020204030204" pitchFamily="49" charset="0"/>
            </a:endParaRPr>
          </a:p>
        </p:txBody>
      </p:sp>
      <p:sp>
        <p:nvSpPr>
          <p:cNvPr id="43" name="Text Box 44"/>
          <p:cNvSpPr txBox="1"/>
          <p:nvPr/>
        </p:nvSpPr>
        <p:spPr>
          <a:xfrm>
            <a:off x="3792855" y="3033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FF"/>
                </a:solidFill>
                <a:latin typeface="Consolas" panose="020B0609020204030204" pitchFamily="49" charset="0"/>
              </a:rPr>
              <a:t>6</a:t>
            </a:r>
            <a:endParaRPr lang="en-US" altLang="zh-CN" sz="1800" b="1" dirty="0">
              <a:solidFill>
                <a:srgbClr val="FFFFFF"/>
              </a:solidFill>
              <a:latin typeface="Consolas" panose="020B0609020204030204" pitchFamily="49" charset="0"/>
            </a:endParaRPr>
          </a:p>
        </p:txBody>
      </p:sp>
      <p:sp>
        <p:nvSpPr>
          <p:cNvPr id="44" name="Text Box 45"/>
          <p:cNvSpPr txBox="1"/>
          <p:nvPr/>
        </p:nvSpPr>
        <p:spPr>
          <a:xfrm>
            <a:off x="5551805" y="3033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FF"/>
                </a:solidFill>
                <a:latin typeface="Consolas" panose="020B0609020204030204" pitchFamily="49" charset="0"/>
              </a:rPr>
              <a:t>1</a:t>
            </a:r>
            <a:endParaRPr lang="en-US" altLang="zh-CN" sz="1800" b="1" dirty="0">
              <a:solidFill>
                <a:srgbClr val="FFFFFF"/>
              </a:solidFill>
              <a:latin typeface="Consolas" panose="020B0609020204030204" pitchFamily="49" charset="0"/>
            </a:endParaRPr>
          </a:p>
        </p:txBody>
      </p:sp>
      <p:sp>
        <p:nvSpPr>
          <p:cNvPr id="45" name="Text Box 46"/>
          <p:cNvSpPr txBox="1"/>
          <p:nvPr/>
        </p:nvSpPr>
        <p:spPr>
          <a:xfrm>
            <a:off x="7075805" y="406971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FF"/>
                </a:solidFill>
                <a:latin typeface="Consolas" panose="020B0609020204030204" pitchFamily="49" charset="0"/>
              </a:rPr>
              <a:t>7</a:t>
            </a:r>
            <a:endParaRPr lang="en-US" altLang="zh-CN" sz="1800" b="1" dirty="0">
              <a:solidFill>
                <a:srgbClr val="FFFFFF"/>
              </a:solidFill>
              <a:latin typeface="Consolas" panose="020B0609020204030204" pitchFamily="49" charset="0"/>
            </a:endParaRPr>
          </a:p>
        </p:txBody>
      </p:sp>
      <p:sp>
        <p:nvSpPr>
          <p:cNvPr id="46" name="Text Box 47"/>
          <p:cNvSpPr txBox="1"/>
          <p:nvPr/>
        </p:nvSpPr>
        <p:spPr>
          <a:xfrm>
            <a:off x="8288655" y="417639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0000FF"/>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2"/>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15"/>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16"/>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17"/>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18"/>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19"/>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20"/>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21"/>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22"/>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23"/>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24"/>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nodeType="afterEffect">
                                  <p:stCondLst>
                                    <p:cond delay="0"/>
                                  </p:stCondLst>
                                  <p:childTnLst>
                                    <p:set>
                                      <p:cBhvr>
                                        <p:cTn id="63" dur="1" fill="hold">
                                          <p:stCondLst>
                                            <p:cond delay="499"/>
                                          </p:stCondLst>
                                        </p:cTn>
                                        <p:tgtEl>
                                          <p:spTgt spid="25"/>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26"/>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27"/>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28"/>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29"/>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30"/>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31"/>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32"/>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33"/>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34"/>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grpId="0" nodeType="afterEffect">
                                  <p:stCondLst>
                                    <p:cond delay="0"/>
                                  </p:stCondLst>
                                  <p:childTnLst>
                                    <p:set>
                                      <p:cBhvr>
                                        <p:cTn id="93" dur="1" fill="hold">
                                          <p:stCondLst>
                                            <p:cond delay="499"/>
                                          </p:stCondLst>
                                        </p:cTn>
                                        <p:tgtEl>
                                          <p:spTgt spid="35"/>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grpId="0" nodeType="afterEffect">
                                  <p:stCondLst>
                                    <p:cond delay="0"/>
                                  </p:stCondLst>
                                  <p:childTnLst>
                                    <p:set>
                                      <p:cBhvr>
                                        <p:cTn id="96" dur="1" fill="hold">
                                          <p:stCondLst>
                                            <p:cond delay="499"/>
                                          </p:stCondLst>
                                        </p:cTn>
                                        <p:tgtEl>
                                          <p:spTgt spid="3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 presetClass="entr" presetSubtype="8" fill="hold" grpId="0" nodeType="clickEffect">
                                  <p:stCondLst>
                                    <p:cond delay="0"/>
                                  </p:stCondLst>
                                  <p:childTnLst>
                                    <p:set>
                                      <p:cBhvr>
                                        <p:cTn id="100" dur="1" fill="hold">
                                          <p:stCondLst>
                                            <p:cond delay="0"/>
                                          </p:stCondLst>
                                        </p:cTn>
                                        <p:tgtEl>
                                          <p:spTgt spid="41"/>
                                        </p:tgtEl>
                                        <p:attrNameLst>
                                          <p:attrName>style.visibility</p:attrName>
                                        </p:attrNameLst>
                                      </p:cBhvr>
                                      <p:to>
                                        <p:strVal val="visible"/>
                                      </p:to>
                                    </p:set>
                                    <p:anim calcmode="lin" valueType="num">
                                      <p:cBhvr additive="base">
                                        <p:cTn id="101" dur="500" fill="hold"/>
                                        <p:tgtEl>
                                          <p:spTgt spid="41"/>
                                        </p:tgtEl>
                                        <p:attrNameLst>
                                          <p:attrName>ppt_x</p:attrName>
                                        </p:attrNameLst>
                                      </p:cBhvr>
                                      <p:tavLst>
                                        <p:tav tm="0">
                                          <p:val>
                                            <p:strVal val="0-#ppt_w/2"/>
                                          </p:val>
                                        </p:tav>
                                        <p:tav tm="100000">
                                          <p:val>
                                            <p:strVal val="#ppt_x"/>
                                          </p:val>
                                        </p:tav>
                                      </p:tavLst>
                                    </p:anim>
                                    <p:anim calcmode="lin" valueType="num">
                                      <p:cBhvr additive="base">
                                        <p:cTn id="102"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2" fill="hold" grpId="0" nodeType="clickEffect">
                                  <p:stCondLst>
                                    <p:cond delay="0"/>
                                  </p:stCondLst>
                                  <p:childTnLst>
                                    <p:set>
                                      <p:cBhvr>
                                        <p:cTn id="106" dur="1" fill="hold">
                                          <p:stCondLst>
                                            <p:cond delay="0"/>
                                          </p:stCondLst>
                                        </p:cTn>
                                        <p:tgtEl>
                                          <p:spTgt spid="42"/>
                                        </p:tgtEl>
                                        <p:attrNameLst>
                                          <p:attrName>style.visibility</p:attrName>
                                        </p:attrNameLst>
                                      </p:cBhvr>
                                      <p:to>
                                        <p:strVal val="visible"/>
                                      </p:to>
                                    </p:set>
                                    <p:anim calcmode="lin" valueType="num">
                                      <p:cBhvr additive="base">
                                        <p:cTn id="107" dur="500" fill="hold"/>
                                        <p:tgtEl>
                                          <p:spTgt spid="42"/>
                                        </p:tgtEl>
                                        <p:attrNameLst>
                                          <p:attrName>ppt_x</p:attrName>
                                        </p:attrNameLst>
                                      </p:cBhvr>
                                      <p:tavLst>
                                        <p:tav tm="0">
                                          <p:val>
                                            <p:strVal val="1+#ppt_w/2"/>
                                          </p:val>
                                        </p:tav>
                                        <p:tav tm="100000">
                                          <p:val>
                                            <p:strVal val="#ppt_x"/>
                                          </p:val>
                                        </p:tav>
                                      </p:tavLst>
                                    </p:anim>
                                    <p:anim calcmode="lin" valueType="num">
                                      <p:cBhvr additive="base">
                                        <p:cTn id="108"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wipe(left)">
                                      <p:cBhvr>
                                        <p:cTn id="113" dur="500"/>
                                        <p:tgtEl>
                                          <p:spTgt spid="37"/>
                                        </p:tgtEl>
                                      </p:cBhvr>
                                    </p:animEffect>
                                  </p:childTnLst>
                                </p:cTn>
                              </p:par>
                            </p:childTnLst>
                          </p:cTn>
                        </p:par>
                        <p:par>
                          <p:cTn id="114" fill="hold">
                            <p:stCondLst>
                              <p:cond delay="500"/>
                            </p:stCondLst>
                            <p:childTnLst>
                              <p:par>
                                <p:cTn id="115" presetID="22" presetClass="entr" presetSubtype="8" fill="hold" nodeType="after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wipe(left)">
                                      <p:cBhvr>
                                        <p:cTn id="117" dur="500"/>
                                        <p:tgtEl>
                                          <p:spTgt spid="38"/>
                                        </p:tgtEl>
                                      </p:cBhvr>
                                    </p:animEffect>
                                  </p:childTnLst>
                                </p:cTn>
                              </p:par>
                            </p:childTnLst>
                          </p:cTn>
                        </p:par>
                        <p:par>
                          <p:cTn id="118" fill="hold">
                            <p:stCondLst>
                              <p:cond delay="1000"/>
                            </p:stCondLst>
                            <p:childTnLst>
                              <p:par>
                                <p:cTn id="119" presetID="22" presetClass="entr" presetSubtype="8" fill="hold" nodeType="after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wipe(left)">
                                      <p:cBhvr>
                                        <p:cTn id="121" dur="500"/>
                                        <p:tgtEl>
                                          <p:spTgt spid="39"/>
                                        </p:tgtEl>
                                      </p:cBhvr>
                                    </p:animEffect>
                                  </p:childTnLst>
                                </p:cTn>
                              </p:par>
                            </p:childTnLst>
                          </p:cTn>
                        </p:par>
                        <p:par>
                          <p:cTn id="122" fill="hold">
                            <p:stCondLst>
                              <p:cond delay="1500"/>
                            </p:stCondLst>
                            <p:childTnLst>
                              <p:par>
                                <p:cTn id="123" presetID="22" presetClass="entr" presetSubtype="8" fill="hold" nodeType="after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wipe(left)">
                                      <p:cBhvr>
                                        <p:cTn id="125" dur="500"/>
                                        <p:tgtEl>
                                          <p:spTgt spid="40"/>
                                        </p:tgtEl>
                                      </p:cBhvr>
                                    </p:animEffect>
                                  </p:childTnLst>
                                </p:cTn>
                              </p:par>
                            </p:childTnLst>
                          </p:cTn>
                        </p:par>
                        <p:par>
                          <p:cTn id="126" fill="hold">
                            <p:stCondLst>
                              <p:cond delay="2000"/>
                            </p:stCondLst>
                            <p:childTnLst>
                              <p:par>
                                <p:cTn id="127" presetID="22" presetClass="entr" presetSubtype="1" fill="hold" grpId="0" nodeType="afterEffect">
                                  <p:stCondLst>
                                    <p:cond delay="0"/>
                                  </p:stCondLst>
                                  <p:childTnLst>
                                    <p:set>
                                      <p:cBhvr>
                                        <p:cTn id="128" dur="1" fill="hold">
                                          <p:stCondLst>
                                            <p:cond delay="0"/>
                                          </p:stCondLst>
                                        </p:cTn>
                                        <p:tgtEl>
                                          <p:spTgt spid="43"/>
                                        </p:tgtEl>
                                        <p:attrNameLst>
                                          <p:attrName>style.visibility</p:attrName>
                                        </p:attrNameLst>
                                      </p:cBhvr>
                                      <p:to>
                                        <p:strVal val="visible"/>
                                      </p:to>
                                    </p:set>
                                    <p:animEffect transition="in" filter="wipe(up)">
                                      <p:cBhvr>
                                        <p:cTn id="129" dur="500"/>
                                        <p:tgtEl>
                                          <p:spTgt spid="43"/>
                                        </p:tgtEl>
                                      </p:cBhvr>
                                    </p:animEffect>
                                  </p:childTnLst>
                                </p:cTn>
                              </p:par>
                            </p:childTnLst>
                          </p:cTn>
                        </p:par>
                        <p:par>
                          <p:cTn id="130" fill="hold">
                            <p:stCondLst>
                              <p:cond delay="2500"/>
                            </p:stCondLst>
                            <p:childTnLst>
                              <p:par>
                                <p:cTn id="131" presetID="22" presetClass="entr" presetSubtype="1" fill="hold" grpId="0" nodeType="after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wipe(up)">
                                      <p:cBhvr>
                                        <p:cTn id="133" dur="500"/>
                                        <p:tgtEl>
                                          <p:spTgt spid="44"/>
                                        </p:tgtEl>
                                      </p:cBhvr>
                                    </p:animEffect>
                                  </p:childTnLst>
                                </p:cTn>
                              </p:par>
                            </p:childTnLst>
                          </p:cTn>
                        </p:par>
                        <p:par>
                          <p:cTn id="134" fill="hold">
                            <p:stCondLst>
                              <p:cond delay="3000"/>
                            </p:stCondLst>
                            <p:childTnLst>
                              <p:par>
                                <p:cTn id="135" presetID="22" presetClass="entr" presetSubtype="1" fill="hold" grpId="0" nodeType="after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wipe(up)">
                                      <p:cBhvr>
                                        <p:cTn id="137" dur="500"/>
                                        <p:tgtEl>
                                          <p:spTgt spid="45"/>
                                        </p:tgtEl>
                                      </p:cBhvr>
                                    </p:animEffect>
                                  </p:childTnLst>
                                </p:cTn>
                              </p:par>
                            </p:childTnLst>
                          </p:cTn>
                        </p:par>
                        <p:par>
                          <p:cTn id="138" fill="hold">
                            <p:stCondLst>
                              <p:cond delay="3500"/>
                            </p:stCondLst>
                            <p:childTnLst>
                              <p:par>
                                <p:cTn id="139" presetID="22" presetClass="entr" presetSubtype="1" fill="hold" grpId="0" nodeType="after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wipe(up)">
                                      <p:cBhvr>
                                        <p:cTn id="1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6" grpId="0" bldLvl="0" animBg="1"/>
      <p:bldP spid="8" grpId="0" bldLvl="0" animBg="1"/>
      <p:bldP spid="9" grpId="0" bldLvl="0" animBg="1"/>
      <p:bldP spid="10" grpId="0" bldLvl="0" animBg="1"/>
      <p:bldP spid="11" grpId="0" bldLvl="0" animBg="1"/>
      <p:bldP spid="12" grpId="0" bldLvl="0" animBg="1"/>
      <p:bldP spid="14" grpId="0" bldLvl="0" animBg="1"/>
      <p:bldP spid="26" grpId="0"/>
      <p:bldP spid="27" grpId="0"/>
      <p:bldP spid="28" grpId="0"/>
      <p:bldP spid="29" grpId="0"/>
      <p:bldP spid="30" grpId="0"/>
      <p:bldP spid="31" grpId="0"/>
      <p:bldP spid="32" grpId="0"/>
      <p:bldP spid="33" grpId="0"/>
      <p:bldP spid="34" grpId="0"/>
      <p:bldP spid="35" grpId="0"/>
      <p:bldP spid="36" grpId="0"/>
      <p:bldP spid="41" grpId="0" bldLvl="0" animBg="1"/>
      <p:bldP spid="42" grpId="0" bldLvl="0" animBg="1"/>
      <p:bldP spid="43" grpId="0"/>
      <p:bldP spid="44" grpId="0"/>
      <p:bldP spid="45" grpId="0"/>
      <p:bldP spid="4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如何求关键活动？</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8787" name="内容占位符 2"/>
          <p:cNvSpPr>
            <a:spLocks noGrp="1"/>
          </p:cNvSpPr>
          <p:nvPr>
            <p:ph idx="1"/>
          </p:nvPr>
        </p:nvSpPr>
        <p:spPr>
          <a:xfrm>
            <a:off x="714375" y="1080135"/>
            <a:ext cx="10441305" cy="5357495"/>
          </a:xfrm>
        </p:spPr>
        <p:txBody>
          <a:bodyPr vert="horz" wrap="square" lIns="91440" tIns="45720" rIns="91440" bIns="45720" anchor="t">
            <a:normAutofit lnSpcReduction="20000"/>
          </a:bodyPr>
          <a:p>
            <a:pPr fontAlgn="auto">
              <a:lnSpc>
                <a:spcPct val="15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首先介绍一组相关概念</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路径长度：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路径上所有活动的持续时间之和。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事件的最早发生时间：</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从源点到顶点vj 的最长路径长度称为事件vj 的最早发生时间， 通常用ve( j)表示。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活动的最早开始时间：</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事件vj 的最早发生时间决定了所有以vj 为尾的弧表示的活动的最早开始时间，通常用e(i)表示活动（弧）ai 的最早开始时间。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5000"/>
              </a:lnSpc>
              <a:buClrTx/>
              <a:buSzTx/>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事件的最迟发生时间：</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在不推迟整个工程完成的前提下，事件vj 允许的最迟发生时间通常用vl(j)表示。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5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活动的最迟开始时间：</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在不推迟整个工程完成的前提下，活动ai 最迟必须开始进行的时间。通常用l(i)表示活动（弧）ai 的最迟开始时间。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如何求关键活动？（续 </a:t>
            </a:r>
            <a:r>
              <a:rPr lang="en-US" altLang="zh-CN" sz="3600" b="1" dirty="0" smtClean="0">
                <a:solidFill>
                  <a:schemeClr val="bg1"/>
                </a:solidFill>
                <a:latin typeface="微软雅黑" panose="020B0503020204020204" pitchFamily="34" charset="-122"/>
                <a:ea typeface="微软雅黑" panose="020B0503020204020204" pitchFamily="34" charset="-122"/>
              </a:rPr>
              <a:t>1</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19811" name="内容占位符 2"/>
          <p:cNvSpPr>
            <a:spLocks noGrp="1"/>
          </p:cNvSpPr>
          <p:nvPr>
            <p:ph idx="1"/>
          </p:nvPr>
        </p:nvSpPr>
        <p:spPr>
          <a:xfrm>
            <a:off x="838200" y="1252855"/>
            <a:ext cx="10515600" cy="4351655"/>
          </a:xfrm>
        </p:spPr>
        <p:txBody>
          <a:bodyPr vert="horz" wrap="square" lIns="91440" tIns="45720" rIns="91440" bIns="45720" anchor="t"/>
          <a:p>
            <a:pPr lvl="1" fontAlgn="auto">
              <a:lnSpc>
                <a:spcPct val="125000"/>
              </a:lnSpc>
            </a:pP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完成活动</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的时间余量</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l(i)- e(i)。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关键路径：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从源点到汇点的</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路径长度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最长的路径。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关键活动：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关键路径上的活动。其特点是</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e(i)=l(i)。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如何求关键活动？找关键活动就是要找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的活动。</a:t>
            </a:r>
            <a:r>
              <a:rPr lang="zh-CN" altLang="en-US" dirty="0"/>
              <a:t> </a:t>
            </a:r>
            <a:endParaRPr lang="zh-CN" alt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如何求关键活动</a:t>
            </a:r>
            <a:r>
              <a:rPr lang="zh-CN" altLang="en-US" sz="3600" b="1" dirty="0" smtClean="0">
                <a:solidFill>
                  <a:schemeClr val="bg1"/>
                </a:solidFill>
                <a:latin typeface="微软雅黑" panose="020B0503020204020204" pitchFamily="34" charset="-122"/>
                <a:ea typeface="微软雅黑" panose="020B0503020204020204" pitchFamily="34" charset="-122"/>
              </a:rPr>
              <a:t>（续 </a:t>
            </a:r>
            <a:r>
              <a:rPr lang="en-US" altLang="zh-CN" sz="3600" b="1" dirty="0" smtClean="0">
                <a:solidFill>
                  <a:schemeClr val="bg1"/>
                </a:solidFill>
                <a:latin typeface="微软雅黑" panose="020B0503020204020204" pitchFamily="34" charset="-122"/>
                <a:ea typeface="微软雅黑" panose="020B0503020204020204" pitchFamily="34" charset="-122"/>
              </a:rPr>
              <a:t>2</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00355" name="内容占位符 2"/>
          <p:cNvSpPr>
            <a:spLocks noGrp="1"/>
          </p:cNvSpPr>
          <p:nvPr>
            <p:ph idx="1"/>
          </p:nvPr>
        </p:nvSpPr>
        <p:spPr>
          <a:xfrm>
            <a:off x="942340" y="1209675"/>
            <a:ext cx="10600690" cy="4876800"/>
          </a:xfrm>
        </p:spPr>
        <p:txBody>
          <a:bodyPr vert="horz" wrap="square" lIns="91440" tIns="45720" rIns="91440" bIns="45720" numCol="1" anchor="t" anchorCtr="0" compatLnSpc="1"/>
          <a:p>
            <a:pPr marL="342900" marR="0" lvl="0" indent="0" algn="l" defTabSz="914400" rtl="0" eaLnBrk="0" fontAlgn="base" hangingPunct="0">
              <a:lnSpc>
                <a:spcPct val="125000"/>
              </a:lnSpc>
              <a:spcBef>
                <a:spcPts val="0"/>
              </a:spcBef>
              <a:spcAft>
                <a:spcPct val="0"/>
              </a:spcAft>
              <a:buClrTx/>
              <a:buSzTx/>
              <a:buFontTx/>
              <a:buChar char="•"/>
              <a:defRPr/>
            </a:pP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事件发生时间的计算公式：</a:t>
            </a:r>
            <a:endPar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0" algn="l" defTabSz="914400" rtl="0" eaLnBrk="0" fontAlgn="base" hangingPunct="0">
              <a:lnSpc>
                <a:spcPct val="125000"/>
              </a:lnSpc>
              <a:spcBef>
                <a:spcPts val="0"/>
              </a:spcBef>
              <a:spcAft>
                <a:spcPct val="0"/>
              </a:spcAft>
              <a:buClrTx/>
              <a:buSzTx/>
              <a:buFontTx/>
              <a:buChar char="•"/>
              <a:defRPr/>
            </a:pPr>
            <a:endPar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0" i="1"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源点</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 </a:t>
            </a:r>
            <a:endPar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en-US" altLang="zh-CN" sz="2000" b="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)=Max{</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)+dut(&lt;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   T</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其中</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 </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是以顶点</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 </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弧</a:t>
            </a: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头</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的顶点的集合） </a:t>
            </a:r>
            <a:endPar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en-US" altLang="zh-CN" sz="2000" b="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vl</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(汇点)=</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ve</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(汇点) </a:t>
            </a:r>
            <a:endPar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hangingPunct="0">
              <a:lnSpc>
                <a:spcPct val="125000"/>
              </a:lnSpc>
              <a:spcBef>
                <a:spcPts val="0"/>
              </a:spcBef>
              <a:spcAft>
                <a:spcPct val="0"/>
              </a:spcAft>
              <a:buClrTx/>
              <a:buSzTx/>
              <a:buFontTx/>
              <a:buNone/>
              <a:defRPr/>
            </a:pPr>
            <a:r>
              <a:rPr kumimoji="0" lang="en-US" altLang="zh-CN" sz="2000" b="0" i="1"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vl</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)=Min{</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vl</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–dut(&lt;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    S</a:t>
            </a:r>
            <a:r>
              <a:rPr kumimoji="0" lang="zh-CN" altLang="en-US" sz="2000" b="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其中</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000" b="0"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是以顶点</a:t>
            </a:r>
            <a:r>
              <a:rPr kumimoji="0" lang="zh-CN" altLang="en-US" sz="2000" b="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000" b="0" i="1"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弧</a:t>
            </a:r>
            <a:endPar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尾</a:t>
            </a:r>
            <a:r>
              <a:rPr kumimoji="0" lang="zh-CN" altLang="en-US" sz="2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的顶点的集合） </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0836" name="Picture 4"/>
          <p:cNvPicPr>
            <a:picLocks noChangeAspect="1"/>
          </p:cNvPicPr>
          <p:nvPr/>
        </p:nvPicPr>
        <p:blipFill>
          <a:blip r:embed="rId1"/>
          <a:stretch>
            <a:fillRect/>
          </a:stretch>
        </p:blipFill>
        <p:spPr>
          <a:xfrm>
            <a:off x="4734560" y="2729865"/>
            <a:ext cx="304800" cy="304800"/>
          </a:xfrm>
          <a:prstGeom prst="rect">
            <a:avLst/>
          </a:prstGeom>
          <a:noFill/>
          <a:ln w="3175">
            <a:noFill/>
          </a:ln>
        </p:spPr>
      </p:pic>
      <p:pic>
        <p:nvPicPr>
          <p:cNvPr id="2" name="Picture 4"/>
          <p:cNvPicPr>
            <a:picLocks noChangeAspect="1"/>
          </p:cNvPicPr>
          <p:nvPr/>
        </p:nvPicPr>
        <p:blipFill>
          <a:blip r:embed="rId1"/>
          <a:stretch>
            <a:fillRect/>
          </a:stretch>
        </p:blipFill>
        <p:spPr>
          <a:xfrm>
            <a:off x="4725353" y="3877310"/>
            <a:ext cx="304800" cy="304800"/>
          </a:xfrm>
          <a:prstGeom prst="rect">
            <a:avLst/>
          </a:prstGeom>
          <a:noFill/>
          <a:ln w="3175">
            <a:noFill/>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如何求关键活动（续 </a:t>
            </a:r>
            <a:r>
              <a:rPr lang="en-US" altLang="zh-CN" sz="3600" b="1" dirty="0" smtClean="0">
                <a:solidFill>
                  <a:schemeClr val="bg1"/>
                </a:solidFill>
                <a:latin typeface="微软雅黑" panose="020B0503020204020204" pitchFamily="34" charset="-122"/>
                <a:ea typeface="微软雅黑" panose="020B0503020204020204" pitchFamily="34" charset="-122"/>
              </a:rPr>
              <a:t>3</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1859" name="内容占位符 2"/>
          <p:cNvSpPr>
            <a:spLocks noGrp="1"/>
          </p:cNvSpPr>
          <p:nvPr>
            <p:ph idx="1"/>
          </p:nvPr>
        </p:nvSpPr>
        <p:spPr>
          <a:xfrm>
            <a:off x="474980" y="1252855"/>
            <a:ext cx="11242040" cy="4351655"/>
          </a:xfrm>
        </p:spPr>
        <p:txBody>
          <a:bodyPr vert="horz" wrap="square" lIns="91440" tIns="45720" rIns="91440" bIns="45720" anchor="t">
            <a:normAutofit fontScale="70000"/>
          </a:bodyPr>
          <a:p>
            <a:pPr fontAlgn="auto">
              <a:lnSpc>
                <a:spcPct val="125000"/>
              </a:lnSpc>
            </a:pP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求关键路径的算法为： </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、建立</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AOE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网的存储结构。 </a:t>
            </a:r>
            <a:endParaRPr lang="en-US" altLang="zh-CN" sz="266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、从源点</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v1</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出发，令</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ve</a:t>
            </a:r>
            <a:r>
              <a:rPr lang="en-US" altLang="zh-CN" sz="2665"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665"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665"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665"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，按拓扑序列求得其余各顶点的最早发生时间，即</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ve(k)=Max{ve(j)+dut(&lt;j,k&gt;)}，j   T，</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是以顶点</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k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为弧头的顶点的集合。如果得到的拓扑序列中顶点的个数小于网中顶点个数</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，则说明网中有环，不能求出关键路径，算法结束。 </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、从汇点</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vn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出发，令</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vl(n)=ve(n)</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，按逆拓扑有序求其余各顶点的最晚发生时间，即 </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vl(j)=Min{vl(k) –dut(&lt;j,k&gt;)}，k    S，</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665"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是以顶点</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665"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为弧尾的顶点的集合。 </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、求每项活动</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ai=&lt;j,k&gt;（1≤i≤m）</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的最早开始时间</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e(i)=ve(j)</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和最晚开始时间</a:t>
            </a:r>
            <a:endParaRPr lang="zh-CN" altLang="en-US" sz="266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l(i)=vl(k) – dut(&lt;j,k&gt;)</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，若某条弧满足</a:t>
            </a:r>
            <a:r>
              <a:rPr lang="en-US" altLang="zh-CN" sz="2665" i="1" dirty="0">
                <a:latin typeface="Times New Roman" panose="02020603050405020304" pitchFamily="18" charset="0"/>
                <a:ea typeface="微软雅黑" panose="020B0503020204020204" pitchFamily="34" charset="-122"/>
                <a:cs typeface="Times New Roman" panose="02020603050405020304" pitchFamily="18" charset="0"/>
              </a:rPr>
              <a:t>e(i)=l(i)</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，则它是关键活动。</a:t>
            </a:r>
            <a:r>
              <a:rPr lang="zh-CN" altLang="en-US" dirty="0"/>
              <a:t> </a:t>
            </a:r>
            <a:endParaRPr lang="zh-CN" altLang="en-US" dirty="0"/>
          </a:p>
        </p:txBody>
      </p:sp>
      <p:pic>
        <p:nvPicPr>
          <p:cNvPr id="120836" name="Picture 4"/>
          <p:cNvPicPr>
            <a:picLocks noChangeAspect="1"/>
          </p:cNvPicPr>
          <p:nvPr/>
        </p:nvPicPr>
        <p:blipFill>
          <a:blip r:embed="rId1"/>
          <a:stretch>
            <a:fillRect/>
          </a:stretch>
        </p:blipFill>
        <p:spPr>
          <a:xfrm>
            <a:off x="3962083" y="2738120"/>
            <a:ext cx="304800" cy="304800"/>
          </a:xfrm>
          <a:prstGeom prst="rect">
            <a:avLst/>
          </a:prstGeom>
          <a:noFill/>
          <a:ln w="3175">
            <a:noFill/>
          </a:ln>
        </p:spPr>
      </p:pic>
      <p:pic>
        <p:nvPicPr>
          <p:cNvPr id="2" name="Picture 4"/>
          <p:cNvPicPr>
            <a:picLocks noChangeAspect="1"/>
          </p:cNvPicPr>
          <p:nvPr/>
        </p:nvPicPr>
        <p:blipFill>
          <a:blip r:embed="rId1"/>
          <a:stretch>
            <a:fillRect/>
          </a:stretch>
        </p:blipFill>
        <p:spPr>
          <a:xfrm>
            <a:off x="2392998" y="3931920"/>
            <a:ext cx="304800" cy="304800"/>
          </a:xfrm>
          <a:prstGeom prst="rect">
            <a:avLst/>
          </a:prstGeom>
          <a:noFill/>
          <a:ln w="3175">
            <a:noFill/>
          </a:ln>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如何求关键活动？（续 </a:t>
            </a:r>
            <a:r>
              <a:rPr lang="en-US" altLang="zh-CN" sz="3600" b="1" dirty="0" smtClean="0">
                <a:solidFill>
                  <a:schemeClr val="bg1"/>
                </a:solidFill>
                <a:latin typeface="微软雅黑" panose="020B0503020204020204" pitchFamily="34" charset="-122"/>
                <a:ea typeface="微软雅黑" panose="020B0503020204020204" pitchFamily="34" charset="-122"/>
              </a:rPr>
              <a:t>4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695960" y="1031875"/>
            <a:ext cx="8229600" cy="460375"/>
          </a:xfrm>
          <a:prstGeom prst="rect">
            <a:avLst/>
          </a:prstGeom>
          <a:noFill/>
        </p:spPr>
        <p:txBody>
          <a:bodyPr>
            <a:spAutoFit/>
          </a:bodyPr>
          <a:p>
            <a:pPr marR="0" defTabSz="914400" eaLnBrk="1" hangingPunct="1">
              <a:buClrTx/>
              <a:buSzTx/>
              <a:buFontTx/>
              <a:defRPr/>
            </a:pPr>
            <a:r>
              <a:rPr kumimoji="0" lang="zh-CN" altLang="en-US" sz="24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把各个顶点的最早发生时间和最迟发生时间列成表：</a:t>
            </a:r>
            <a:endParaRPr kumimoji="0" lang="zh-CN" altLang="en-US" sz="24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p:txBody>
      </p:sp>
      <p:graphicFrame>
        <p:nvGraphicFramePr>
          <p:cNvPr id="37" name="内容占位符 36"/>
          <p:cNvGraphicFramePr>
            <a:graphicFrameLocks noGrp="1"/>
          </p:cNvGraphicFramePr>
          <p:nvPr>
            <p:ph idx="1"/>
            <p:custDataLst>
              <p:tags r:id="rId1"/>
            </p:custDataLst>
          </p:nvPr>
        </p:nvGraphicFramePr>
        <p:xfrm>
          <a:off x="812165" y="1652905"/>
          <a:ext cx="8229600" cy="1371600"/>
        </p:xfrm>
        <a:graphic>
          <a:graphicData uri="http://schemas.openxmlformats.org/drawingml/2006/table">
            <a:tbl>
              <a:tblPr firstRow="1" bandRow="1">
                <a:tableStyleId>{5940675A-B579-460E-94D1-54222C63F5DA}</a:tableStyleId>
              </a:tblPr>
              <a:tblGrid>
                <a:gridCol w="822960"/>
                <a:gridCol w="822960"/>
                <a:gridCol w="822960"/>
                <a:gridCol w="822960"/>
                <a:gridCol w="822960"/>
                <a:gridCol w="822960"/>
                <a:gridCol w="822960"/>
                <a:gridCol w="822960"/>
                <a:gridCol w="822960"/>
                <a:gridCol w="822960"/>
              </a:tblGrid>
              <a:tr h="457200">
                <a:tc>
                  <a:txBody>
                    <a:bodyPr/>
                    <a:p>
                      <a:pPr algn="ctr"/>
                      <a:endParaRPr lang="zh-CN" altLang="en-US" sz="2400" dirty="0"/>
                    </a:p>
                  </a:txBody>
                  <a:tcPr/>
                </a:tc>
                <a:tc>
                  <a:txBody>
                    <a:bodyPr/>
                    <a:p>
                      <a:pPr algn="ctr"/>
                      <a:r>
                        <a:rPr lang="en-US" altLang="zh-CN" sz="2400" dirty="0" smtClean="0"/>
                        <a:t>a </a:t>
                      </a:r>
                      <a:endParaRPr lang="zh-CN" altLang="en-US" sz="2400" dirty="0"/>
                    </a:p>
                  </a:txBody>
                  <a:tcPr/>
                </a:tc>
                <a:tc>
                  <a:txBody>
                    <a:bodyPr/>
                    <a:p>
                      <a:pPr algn="ctr"/>
                      <a:r>
                        <a:rPr lang="en-US" altLang="zh-CN" sz="2400" dirty="0" smtClean="0"/>
                        <a:t>b</a:t>
                      </a:r>
                      <a:endParaRPr lang="zh-CN" altLang="en-US" sz="2400" dirty="0"/>
                    </a:p>
                  </a:txBody>
                  <a:tcPr/>
                </a:tc>
                <a:tc>
                  <a:txBody>
                    <a:bodyPr/>
                    <a:p>
                      <a:pPr algn="ctr"/>
                      <a:r>
                        <a:rPr lang="en-US" altLang="zh-CN" sz="2400" dirty="0" smtClean="0"/>
                        <a:t>c</a:t>
                      </a:r>
                      <a:endParaRPr lang="zh-CN" altLang="en-US" sz="2400" dirty="0"/>
                    </a:p>
                  </a:txBody>
                  <a:tcPr/>
                </a:tc>
                <a:tc>
                  <a:txBody>
                    <a:bodyPr/>
                    <a:p>
                      <a:pPr algn="ctr"/>
                      <a:r>
                        <a:rPr lang="en-US" altLang="zh-CN" sz="2400" dirty="0" smtClean="0"/>
                        <a:t>d</a:t>
                      </a:r>
                      <a:endParaRPr lang="zh-CN" altLang="en-US" sz="2400" dirty="0"/>
                    </a:p>
                  </a:txBody>
                  <a:tcPr/>
                </a:tc>
                <a:tc>
                  <a:txBody>
                    <a:bodyPr/>
                    <a:p>
                      <a:pPr algn="ctr"/>
                      <a:r>
                        <a:rPr lang="en-US" altLang="zh-CN" sz="2400" dirty="0" smtClean="0"/>
                        <a:t>e</a:t>
                      </a:r>
                      <a:endParaRPr lang="zh-CN" altLang="en-US" sz="2400" dirty="0"/>
                    </a:p>
                  </a:txBody>
                  <a:tcPr/>
                </a:tc>
                <a:tc>
                  <a:txBody>
                    <a:bodyPr/>
                    <a:p>
                      <a:pPr algn="ctr"/>
                      <a:r>
                        <a:rPr lang="en-US" altLang="zh-CN" sz="2400" dirty="0" smtClean="0"/>
                        <a:t>f</a:t>
                      </a:r>
                      <a:endParaRPr lang="zh-CN" altLang="en-US" sz="2400" dirty="0"/>
                    </a:p>
                  </a:txBody>
                  <a:tcPr/>
                </a:tc>
                <a:tc>
                  <a:txBody>
                    <a:bodyPr/>
                    <a:p>
                      <a:pPr algn="ctr"/>
                      <a:r>
                        <a:rPr lang="en-US" altLang="zh-CN" sz="2400" dirty="0" smtClean="0"/>
                        <a:t>g</a:t>
                      </a:r>
                      <a:endParaRPr lang="zh-CN" altLang="en-US" sz="2400" dirty="0"/>
                    </a:p>
                  </a:txBody>
                  <a:tcPr/>
                </a:tc>
                <a:tc>
                  <a:txBody>
                    <a:bodyPr/>
                    <a:p>
                      <a:pPr algn="ctr"/>
                      <a:r>
                        <a:rPr lang="en-US" altLang="zh-CN" sz="2400" dirty="0" smtClean="0"/>
                        <a:t>h</a:t>
                      </a:r>
                      <a:endParaRPr lang="zh-CN" altLang="en-US" sz="2400" dirty="0"/>
                    </a:p>
                  </a:txBody>
                  <a:tcPr/>
                </a:tc>
                <a:tc>
                  <a:txBody>
                    <a:bodyPr/>
                    <a:p>
                      <a:pPr algn="ctr"/>
                      <a:r>
                        <a:rPr lang="en-US" altLang="zh-CN" sz="2400" dirty="0" smtClean="0"/>
                        <a:t>k</a:t>
                      </a:r>
                      <a:endParaRPr lang="zh-CN" altLang="en-US" sz="2400" dirty="0"/>
                    </a:p>
                  </a:txBody>
                  <a:tcPr/>
                </a:tc>
              </a:tr>
              <a:tr h="370840">
                <a:tc>
                  <a:txBody>
                    <a:bodyPr/>
                    <a:p>
                      <a:pPr algn="ctr"/>
                      <a:r>
                        <a:rPr lang="en-US" altLang="zh-CN" sz="2400" dirty="0" err="1" smtClean="0"/>
                        <a:t>ve</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4</a:t>
                      </a:r>
                      <a:endParaRPr lang="zh-CN" altLang="en-US" sz="2400" dirty="0"/>
                    </a:p>
                  </a:txBody>
                  <a:tcPr/>
                </a:tc>
                <a:tc>
                  <a:txBody>
                    <a:bodyPr/>
                    <a:p>
                      <a:pPr algn="ctr"/>
                      <a:r>
                        <a:rPr lang="en-US" altLang="zh-CN" sz="2400" dirty="0" smtClean="0"/>
                        <a:t>5</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15</a:t>
                      </a:r>
                      <a:endParaRPr lang="zh-CN" altLang="en-US" sz="2400" dirty="0"/>
                    </a:p>
                  </a:txBody>
                  <a:tcPr/>
                </a:tc>
                <a:tc>
                  <a:txBody>
                    <a:bodyPr/>
                    <a:p>
                      <a:pPr algn="ctr"/>
                      <a:r>
                        <a:rPr lang="en-US" altLang="zh-CN" sz="2400" dirty="0" smtClean="0"/>
                        <a:t>14</a:t>
                      </a:r>
                      <a:endParaRPr lang="zh-CN" altLang="en-US" sz="2400" dirty="0"/>
                    </a:p>
                  </a:txBody>
                  <a:tcPr/>
                </a:tc>
                <a:tc>
                  <a:txBody>
                    <a:bodyPr/>
                    <a:p>
                      <a:pPr algn="ctr"/>
                      <a:r>
                        <a:rPr lang="en-US" altLang="zh-CN" sz="2400" dirty="0" smtClean="0"/>
                        <a:t>18</a:t>
                      </a:r>
                      <a:endParaRPr lang="zh-CN" altLang="en-US" sz="2400" dirty="0"/>
                    </a:p>
                  </a:txBody>
                  <a:tcPr/>
                </a:tc>
              </a:tr>
              <a:tr h="370840">
                <a:tc>
                  <a:txBody>
                    <a:bodyPr/>
                    <a:p>
                      <a:pPr algn="ctr"/>
                      <a:r>
                        <a:rPr lang="en-US" altLang="zh-CN" sz="2400" dirty="0" err="1" smtClean="0"/>
                        <a:t>vl</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8</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10</a:t>
                      </a:r>
                      <a:endParaRPr lang="zh-CN" altLang="en-US" sz="2400" dirty="0"/>
                    </a:p>
                  </a:txBody>
                  <a:tcPr/>
                </a:tc>
                <a:tc>
                  <a:txBody>
                    <a:bodyPr/>
                    <a:p>
                      <a:pPr algn="ctr"/>
                      <a:r>
                        <a:rPr lang="en-US" altLang="zh-CN" sz="2400" dirty="0" smtClean="0"/>
                        <a:t>16</a:t>
                      </a:r>
                      <a:endParaRPr lang="zh-CN" altLang="en-US" sz="2400" dirty="0"/>
                    </a:p>
                  </a:txBody>
                  <a:tcPr/>
                </a:tc>
                <a:tc>
                  <a:txBody>
                    <a:bodyPr/>
                    <a:p>
                      <a:pPr algn="ctr"/>
                      <a:r>
                        <a:rPr lang="en-US" altLang="zh-CN" sz="2400" dirty="0" smtClean="0"/>
                        <a:t>14</a:t>
                      </a:r>
                      <a:endParaRPr lang="zh-CN" altLang="en-US" sz="2400" dirty="0"/>
                    </a:p>
                  </a:txBody>
                  <a:tcPr/>
                </a:tc>
                <a:tc>
                  <a:txBody>
                    <a:bodyPr/>
                    <a:p>
                      <a:pPr algn="ctr"/>
                      <a:r>
                        <a:rPr lang="en-US" altLang="zh-CN" sz="2400" dirty="0" smtClean="0"/>
                        <a:t>18</a:t>
                      </a:r>
                      <a:endParaRPr lang="zh-CN" altLang="en-US" sz="2400" dirty="0"/>
                    </a:p>
                  </a:txBody>
                  <a:tcPr/>
                </a:tc>
              </a:tr>
            </a:tbl>
          </a:graphicData>
        </a:graphic>
      </p:graphicFrame>
      <p:sp>
        <p:nvSpPr>
          <p:cNvPr id="39" name="Oval 2"/>
          <p:cNvSpPr/>
          <p:nvPr/>
        </p:nvSpPr>
        <p:spPr>
          <a:xfrm>
            <a:off x="3215640" y="4021455"/>
            <a:ext cx="457200" cy="457200"/>
          </a:xfrm>
          <a:prstGeom prst="ellipse">
            <a:avLst/>
          </a:prstGeom>
          <a:solidFill>
            <a:srgbClr val="99CCFF"/>
          </a:solidFill>
          <a:ln w="25400"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a</a:t>
            </a:r>
            <a:endParaRPr lang="en-US" altLang="zh-CN" sz="1800" b="1" dirty="0">
              <a:solidFill>
                <a:srgbClr val="FFFFFF"/>
              </a:solidFill>
              <a:latin typeface="Consolas" panose="020B0609020204030204" pitchFamily="49" charset="0"/>
            </a:endParaRPr>
          </a:p>
        </p:txBody>
      </p:sp>
      <p:sp>
        <p:nvSpPr>
          <p:cNvPr id="40" name="Oval 3"/>
          <p:cNvSpPr/>
          <p:nvPr/>
        </p:nvSpPr>
        <p:spPr>
          <a:xfrm>
            <a:off x="4739640" y="31832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b</a:t>
            </a:r>
            <a:endParaRPr lang="en-US" altLang="zh-CN" sz="1800" b="1" dirty="0">
              <a:solidFill>
                <a:srgbClr val="FFFFFF"/>
              </a:solidFill>
              <a:latin typeface="Consolas" panose="020B0609020204030204" pitchFamily="49" charset="0"/>
            </a:endParaRPr>
          </a:p>
        </p:txBody>
      </p:sp>
      <p:sp>
        <p:nvSpPr>
          <p:cNvPr id="41" name="Oval 4"/>
          <p:cNvSpPr/>
          <p:nvPr/>
        </p:nvSpPr>
        <p:spPr>
          <a:xfrm>
            <a:off x="4739640" y="50120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c</a:t>
            </a:r>
            <a:endParaRPr lang="en-US" altLang="zh-CN" sz="1800" b="1" dirty="0">
              <a:solidFill>
                <a:srgbClr val="FFFFFF"/>
              </a:solidFill>
              <a:latin typeface="Consolas" panose="020B0609020204030204" pitchFamily="49" charset="0"/>
            </a:endParaRPr>
          </a:p>
        </p:txBody>
      </p:sp>
      <p:sp>
        <p:nvSpPr>
          <p:cNvPr id="42" name="Oval 5"/>
          <p:cNvSpPr/>
          <p:nvPr/>
        </p:nvSpPr>
        <p:spPr>
          <a:xfrm>
            <a:off x="3825240" y="59264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d</a:t>
            </a:r>
            <a:endParaRPr lang="en-US" altLang="zh-CN" sz="1800" b="1" dirty="0">
              <a:solidFill>
                <a:srgbClr val="FFFFFF"/>
              </a:solidFill>
              <a:latin typeface="Consolas" panose="020B0609020204030204" pitchFamily="49" charset="0"/>
            </a:endParaRPr>
          </a:p>
        </p:txBody>
      </p:sp>
      <p:sp>
        <p:nvSpPr>
          <p:cNvPr id="43" name="Oval 6"/>
          <p:cNvSpPr/>
          <p:nvPr/>
        </p:nvSpPr>
        <p:spPr>
          <a:xfrm>
            <a:off x="6263640" y="40976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e</a:t>
            </a:r>
            <a:endParaRPr lang="en-US" altLang="zh-CN" sz="1800" b="1" dirty="0">
              <a:solidFill>
                <a:srgbClr val="FFFFFF"/>
              </a:solidFill>
              <a:latin typeface="Consolas" panose="020B0609020204030204" pitchFamily="49" charset="0"/>
            </a:endParaRPr>
          </a:p>
        </p:txBody>
      </p:sp>
      <p:sp>
        <p:nvSpPr>
          <p:cNvPr id="44" name="Oval 7"/>
          <p:cNvSpPr/>
          <p:nvPr/>
        </p:nvSpPr>
        <p:spPr>
          <a:xfrm>
            <a:off x="6720840" y="59264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f</a:t>
            </a:r>
            <a:endParaRPr lang="en-US" altLang="zh-CN" sz="1800" b="1" dirty="0">
              <a:solidFill>
                <a:srgbClr val="FFFFFF"/>
              </a:solidFill>
              <a:latin typeface="Consolas" panose="020B0609020204030204" pitchFamily="49" charset="0"/>
            </a:endParaRPr>
          </a:p>
        </p:txBody>
      </p:sp>
      <p:sp>
        <p:nvSpPr>
          <p:cNvPr id="45" name="Oval 8"/>
          <p:cNvSpPr/>
          <p:nvPr/>
        </p:nvSpPr>
        <p:spPr>
          <a:xfrm>
            <a:off x="7787640" y="31832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g</a:t>
            </a:r>
            <a:endParaRPr lang="en-US" altLang="zh-CN" sz="1800" b="1" dirty="0">
              <a:solidFill>
                <a:srgbClr val="FFFFFF"/>
              </a:solidFill>
              <a:latin typeface="Consolas" panose="020B0609020204030204" pitchFamily="49" charset="0"/>
            </a:endParaRPr>
          </a:p>
        </p:txBody>
      </p:sp>
      <p:sp>
        <p:nvSpPr>
          <p:cNvPr id="46" name="Oval 9"/>
          <p:cNvSpPr/>
          <p:nvPr/>
        </p:nvSpPr>
        <p:spPr>
          <a:xfrm>
            <a:off x="7787640" y="5012055"/>
            <a:ext cx="457200" cy="457200"/>
          </a:xfrm>
          <a:prstGeom prst="ellipse">
            <a:avLst/>
          </a:prstGeom>
          <a:solidFill>
            <a:srgbClr val="FFFF99"/>
          </a:solidFill>
          <a:ln w="25400" cap="sq" cmpd="sng">
            <a:solidFill>
              <a:srgbClr val="80000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h</a:t>
            </a:r>
            <a:endParaRPr lang="en-US" altLang="zh-CN" sz="1800" b="1" dirty="0">
              <a:solidFill>
                <a:srgbClr val="FFFFFF"/>
              </a:solidFill>
              <a:latin typeface="Consolas" panose="020B0609020204030204" pitchFamily="49" charset="0"/>
            </a:endParaRPr>
          </a:p>
        </p:txBody>
      </p:sp>
      <p:sp>
        <p:nvSpPr>
          <p:cNvPr id="47" name="Oval 10"/>
          <p:cNvSpPr/>
          <p:nvPr/>
        </p:nvSpPr>
        <p:spPr>
          <a:xfrm>
            <a:off x="9311640" y="4097655"/>
            <a:ext cx="457200" cy="457200"/>
          </a:xfrm>
          <a:prstGeom prst="ellipse">
            <a:avLst/>
          </a:prstGeom>
          <a:solidFill>
            <a:srgbClr val="99CCFF"/>
          </a:solidFill>
          <a:ln w="25400" cap="sq" cmpd="sng">
            <a:solidFill>
              <a:srgbClr val="000080"/>
            </a:solidFill>
            <a:prstDash val="solid"/>
            <a:headEnd type="none" w="sm" len="sm"/>
            <a:tailEnd type="none" w="sm" len="sm"/>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k</a:t>
            </a:r>
            <a:endParaRPr lang="en-US" altLang="zh-CN" sz="1800" b="1" dirty="0">
              <a:solidFill>
                <a:srgbClr val="FFFFFF"/>
              </a:solidFill>
              <a:latin typeface="Consolas" panose="020B0609020204030204" pitchFamily="49" charset="0"/>
            </a:endParaRPr>
          </a:p>
        </p:txBody>
      </p:sp>
      <p:sp>
        <p:nvSpPr>
          <p:cNvPr id="48" name="Line 11"/>
          <p:cNvSpPr/>
          <p:nvPr/>
        </p:nvSpPr>
        <p:spPr>
          <a:xfrm flipV="1">
            <a:off x="3596640" y="3411855"/>
            <a:ext cx="1143000" cy="685800"/>
          </a:xfrm>
          <a:prstGeom prst="line">
            <a:avLst/>
          </a:prstGeom>
          <a:ln w="25400" cap="sq" cmpd="sng">
            <a:solidFill>
              <a:srgbClr val="800000"/>
            </a:solidFill>
            <a:prstDash val="solid"/>
            <a:headEnd type="none" w="sm" len="sm"/>
            <a:tailEnd type="stealth" w="med" len="lg"/>
          </a:ln>
        </p:spPr>
      </p:sp>
      <p:sp>
        <p:nvSpPr>
          <p:cNvPr id="49" name="Line 12"/>
          <p:cNvSpPr/>
          <p:nvPr/>
        </p:nvSpPr>
        <p:spPr>
          <a:xfrm>
            <a:off x="3672840" y="4250055"/>
            <a:ext cx="1143000" cy="914400"/>
          </a:xfrm>
          <a:prstGeom prst="line">
            <a:avLst/>
          </a:prstGeom>
          <a:ln w="25400" cap="sq" cmpd="sng">
            <a:solidFill>
              <a:srgbClr val="800000"/>
            </a:solidFill>
            <a:prstDash val="solid"/>
            <a:headEnd type="none" w="sm" len="sm"/>
            <a:tailEnd type="stealth" w="med" len="lg"/>
          </a:ln>
        </p:spPr>
      </p:sp>
      <p:sp>
        <p:nvSpPr>
          <p:cNvPr id="50" name="Line 13"/>
          <p:cNvSpPr/>
          <p:nvPr/>
        </p:nvSpPr>
        <p:spPr>
          <a:xfrm flipV="1">
            <a:off x="5196840" y="4402455"/>
            <a:ext cx="1143000" cy="762000"/>
          </a:xfrm>
          <a:prstGeom prst="line">
            <a:avLst/>
          </a:prstGeom>
          <a:ln w="25400" cap="sq" cmpd="sng">
            <a:solidFill>
              <a:srgbClr val="800000"/>
            </a:solidFill>
            <a:prstDash val="solid"/>
            <a:headEnd type="none" w="sm" len="sm"/>
            <a:tailEnd type="stealth" w="med" len="lg"/>
          </a:ln>
        </p:spPr>
      </p:sp>
      <p:sp>
        <p:nvSpPr>
          <p:cNvPr id="51" name="Line 14"/>
          <p:cNvSpPr/>
          <p:nvPr/>
        </p:nvSpPr>
        <p:spPr>
          <a:xfrm>
            <a:off x="5196840" y="3411855"/>
            <a:ext cx="1143000" cy="762000"/>
          </a:xfrm>
          <a:prstGeom prst="line">
            <a:avLst/>
          </a:prstGeom>
          <a:ln w="25400" cap="sq" cmpd="sng">
            <a:solidFill>
              <a:srgbClr val="800000"/>
            </a:solidFill>
            <a:prstDash val="solid"/>
            <a:headEnd type="none" w="sm" len="sm"/>
            <a:tailEnd type="stealth" w="med" len="lg"/>
          </a:ln>
        </p:spPr>
      </p:sp>
      <p:sp>
        <p:nvSpPr>
          <p:cNvPr id="52" name="Line 15"/>
          <p:cNvSpPr/>
          <p:nvPr/>
        </p:nvSpPr>
        <p:spPr>
          <a:xfrm flipV="1">
            <a:off x="6644640" y="3411855"/>
            <a:ext cx="1143000" cy="762000"/>
          </a:xfrm>
          <a:prstGeom prst="line">
            <a:avLst/>
          </a:prstGeom>
          <a:ln w="25400" cap="sq" cmpd="sng">
            <a:solidFill>
              <a:srgbClr val="800000"/>
            </a:solidFill>
            <a:prstDash val="solid"/>
            <a:headEnd type="none" w="sm" len="sm"/>
            <a:tailEnd type="stealth" w="med" len="lg"/>
          </a:ln>
        </p:spPr>
      </p:sp>
      <p:sp>
        <p:nvSpPr>
          <p:cNvPr id="53" name="Line 16"/>
          <p:cNvSpPr/>
          <p:nvPr/>
        </p:nvSpPr>
        <p:spPr>
          <a:xfrm>
            <a:off x="8244840" y="3411855"/>
            <a:ext cx="1143000" cy="762000"/>
          </a:xfrm>
          <a:prstGeom prst="line">
            <a:avLst/>
          </a:prstGeom>
          <a:ln w="25400" cap="sq" cmpd="sng">
            <a:solidFill>
              <a:srgbClr val="800000"/>
            </a:solidFill>
            <a:prstDash val="solid"/>
            <a:headEnd type="none" w="sm" len="sm"/>
            <a:tailEnd type="stealth" w="med" len="lg"/>
          </a:ln>
        </p:spPr>
      </p:sp>
      <p:sp>
        <p:nvSpPr>
          <p:cNvPr id="54" name="Line 17"/>
          <p:cNvSpPr/>
          <p:nvPr/>
        </p:nvSpPr>
        <p:spPr>
          <a:xfrm flipV="1">
            <a:off x="8244840" y="4478655"/>
            <a:ext cx="1143000" cy="685800"/>
          </a:xfrm>
          <a:prstGeom prst="line">
            <a:avLst/>
          </a:prstGeom>
          <a:ln w="25400" cap="sq" cmpd="sng">
            <a:solidFill>
              <a:srgbClr val="800000"/>
            </a:solidFill>
            <a:prstDash val="solid"/>
            <a:headEnd type="none" w="sm" len="sm"/>
            <a:tailEnd type="stealth" w="med" len="lg"/>
          </a:ln>
        </p:spPr>
      </p:sp>
      <p:sp>
        <p:nvSpPr>
          <p:cNvPr id="55" name="Line 18"/>
          <p:cNvSpPr/>
          <p:nvPr/>
        </p:nvSpPr>
        <p:spPr>
          <a:xfrm>
            <a:off x="6720840" y="4402455"/>
            <a:ext cx="1066800" cy="762000"/>
          </a:xfrm>
          <a:prstGeom prst="line">
            <a:avLst/>
          </a:prstGeom>
          <a:ln w="25400" cap="sq" cmpd="sng">
            <a:solidFill>
              <a:srgbClr val="800000"/>
            </a:solidFill>
            <a:prstDash val="solid"/>
            <a:headEnd type="none" w="sm" len="sm"/>
            <a:tailEnd type="stealth" w="med" len="lg"/>
          </a:ln>
        </p:spPr>
      </p:sp>
      <p:sp>
        <p:nvSpPr>
          <p:cNvPr id="56" name="Line 19"/>
          <p:cNvSpPr/>
          <p:nvPr/>
        </p:nvSpPr>
        <p:spPr>
          <a:xfrm>
            <a:off x="3444240" y="4478655"/>
            <a:ext cx="609600" cy="1447800"/>
          </a:xfrm>
          <a:prstGeom prst="line">
            <a:avLst/>
          </a:prstGeom>
          <a:ln w="25400" cap="sq" cmpd="sng">
            <a:solidFill>
              <a:srgbClr val="800000"/>
            </a:solidFill>
            <a:prstDash val="solid"/>
            <a:headEnd type="none" w="sm" len="sm"/>
            <a:tailEnd type="stealth" w="med" len="lg"/>
          </a:ln>
        </p:spPr>
      </p:sp>
      <p:sp>
        <p:nvSpPr>
          <p:cNvPr id="57" name="Line 20"/>
          <p:cNvSpPr/>
          <p:nvPr/>
        </p:nvSpPr>
        <p:spPr>
          <a:xfrm>
            <a:off x="4282440" y="6155055"/>
            <a:ext cx="2438400" cy="0"/>
          </a:xfrm>
          <a:prstGeom prst="line">
            <a:avLst/>
          </a:prstGeom>
          <a:ln w="25400" cap="sq" cmpd="sng">
            <a:solidFill>
              <a:srgbClr val="800000"/>
            </a:solidFill>
            <a:prstDash val="solid"/>
            <a:headEnd type="none" w="sm" len="sm"/>
            <a:tailEnd type="stealth" w="med" len="lg"/>
          </a:ln>
        </p:spPr>
      </p:sp>
      <p:sp>
        <p:nvSpPr>
          <p:cNvPr id="58" name="Line 21"/>
          <p:cNvSpPr/>
          <p:nvPr/>
        </p:nvSpPr>
        <p:spPr>
          <a:xfrm flipV="1">
            <a:off x="7178040" y="5393055"/>
            <a:ext cx="685800" cy="762000"/>
          </a:xfrm>
          <a:prstGeom prst="line">
            <a:avLst/>
          </a:prstGeom>
          <a:ln w="25400" cap="sq" cmpd="sng">
            <a:solidFill>
              <a:srgbClr val="800000"/>
            </a:solidFill>
            <a:prstDash val="solid"/>
            <a:headEnd type="none" w="sm" len="sm"/>
            <a:tailEnd type="stealth" w="med" len="lg"/>
          </a:ln>
        </p:spPr>
      </p:sp>
      <p:sp>
        <p:nvSpPr>
          <p:cNvPr id="59" name="Text Box 22"/>
          <p:cNvSpPr txBox="1"/>
          <p:nvPr/>
        </p:nvSpPr>
        <p:spPr>
          <a:xfrm>
            <a:off x="3818890" y="32899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6</a:t>
            </a:r>
            <a:endParaRPr lang="en-US" altLang="zh-CN" sz="1800" b="1" dirty="0">
              <a:solidFill>
                <a:srgbClr val="FFFFFF"/>
              </a:solidFill>
              <a:latin typeface="Consolas" panose="020B0609020204030204" pitchFamily="49" charset="0"/>
            </a:endParaRPr>
          </a:p>
        </p:txBody>
      </p:sp>
      <p:sp>
        <p:nvSpPr>
          <p:cNvPr id="60" name="Text Box 23"/>
          <p:cNvSpPr txBox="1"/>
          <p:nvPr/>
        </p:nvSpPr>
        <p:spPr>
          <a:xfrm>
            <a:off x="4053840" y="42043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61" name="Text Box 24"/>
          <p:cNvSpPr txBox="1"/>
          <p:nvPr/>
        </p:nvSpPr>
        <p:spPr>
          <a:xfrm>
            <a:off x="3742690" y="487870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5</a:t>
            </a:r>
            <a:endParaRPr lang="en-US" altLang="zh-CN" sz="1800" b="1" dirty="0">
              <a:solidFill>
                <a:srgbClr val="FFFFFF"/>
              </a:solidFill>
              <a:latin typeface="Consolas" panose="020B0609020204030204" pitchFamily="49" charset="0"/>
            </a:endParaRPr>
          </a:p>
        </p:txBody>
      </p:sp>
      <p:sp>
        <p:nvSpPr>
          <p:cNvPr id="62" name="Text Box 25"/>
          <p:cNvSpPr txBox="1"/>
          <p:nvPr/>
        </p:nvSpPr>
        <p:spPr>
          <a:xfrm>
            <a:off x="5266690" y="56521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2</a:t>
            </a:r>
            <a:endParaRPr lang="en-US" altLang="zh-CN" sz="1800" b="1" dirty="0">
              <a:solidFill>
                <a:srgbClr val="FFFFFF"/>
              </a:solidFill>
              <a:latin typeface="Consolas" panose="020B0609020204030204" pitchFamily="49" charset="0"/>
            </a:endParaRPr>
          </a:p>
        </p:txBody>
      </p:sp>
      <p:sp>
        <p:nvSpPr>
          <p:cNvPr id="63" name="Text Box 26"/>
          <p:cNvSpPr txBox="1"/>
          <p:nvPr/>
        </p:nvSpPr>
        <p:spPr>
          <a:xfrm>
            <a:off x="5577840" y="32899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1</a:t>
            </a:r>
            <a:endParaRPr lang="en-US" altLang="zh-CN" sz="1800" b="1" dirty="0">
              <a:solidFill>
                <a:srgbClr val="FFFFFF"/>
              </a:solidFill>
              <a:latin typeface="Consolas" panose="020B0609020204030204" pitchFamily="49" charset="0"/>
            </a:endParaRPr>
          </a:p>
        </p:txBody>
      </p:sp>
      <p:sp>
        <p:nvSpPr>
          <p:cNvPr id="64" name="Text Box 27"/>
          <p:cNvSpPr txBox="1"/>
          <p:nvPr/>
        </p:nvSpPr>
        <p:spPr>
          <a:xfrm>
            <a:off x="5485765" y="434530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1</a:t>
            </a:r>
            <a:endParaRPr lang="en-US" altLang="zh-CN" sz="1800" b="1" dirty="0">
              <a:solidFill>
                <a:srgbClr val="FFFFFF"/>
              </a:solidFill>
              <a:latin typeface="Consolas" panose="020B0609020204030204" pitchFamily="49" charset="0"/>
            </a:endParaRPr>
          </a:p>
        </p:txBody>
      </p:sp>
      <p:sp>
        <p:nvSpPr>
          <p:cNvPr id="65" name="Text Box 28"/>
          <p:cNvSpPr txBox="1"/>
          <p:nvPr/>
        </p:nvSpPr>
        <p:spPr>
          <a:xfrm>
            <a:off x="6943090" y="333565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8</a:t>
            </a:r>
            <a:endParaRPr lang="en-US" altLang="zh-CN" sz="1800" b="1" dirty="0">
              <a:solidFill>
                <a:srgbClr val="FFFFFF"/>
              </a:solidFill>
              <a:latin typeface="Consolas" panose="020B0609020204030204" pitchFamily="49" charset="0"/>
            </a:endParaRPr>
          </a:p>
        </p:txBody>
      </p:sp>
      <p:sp>
        <p:nvSpPr>
          <p:cNvPr id="66" name="Text Box 29"/>
          <p:cNvSpPr txBox="1"/>
          <p:nvPr/>
        </p:nvSpPr>
        <p:spPr>
          <a:xfrm>
            <a:off x="7101840" y="4326255"/>
            <a:ext cx="387350" cy="579755"/>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7</a:t>
            </a:r>
            <a:endParaRPr lang="en-US" altLang="zh-CN" sz="1800" b="1" dirty="0">
              <a:solidFill>
                <a:srgbClr val="FFFFFF"/>
              </a:solidFill>
              <a:latin typeface="Consolas" panose="020B0609020204030204" pitchFamily="49" charset="0"/>
            </a:endParaRPr>
          </a:p>
        </p:txBody>
      </p:sp>
      <p:sp>
        <p:nvSpPr>
          <p:cNvPr id="67" name="Text Box 30"/>
          <p:cNvSpPr txBox="1"/>
          <p:nvPr/>
        </p:nvSpPr>
        <p:spPr>
          <a:xfrm>
            <a:off x="8695690" y="32137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2</a:t>
            </a:r>
            <a:endParaRPr lang="en-US" altLang="zh-CN" sz="1800" b="1" dirty="0">
              <a:solidFill>
                <a:srgbClr val="0000FF"/>
              </a:solidFill>
              <a:latin typeface="Consolas" panose="020B0609020204030204" pitchFamily="49" charset="0"/>
            </a:endParaRPr>
          </a:p>
        </p:txBody>
      </p:sp>
      <p:sp>
        <p:nvSpPr>
          <p:cNvPr id="68" name="Text Box 31"/>
          <p:cNvSpPr txBox="1"/>
          <p:nvPr/>
        </p:nvSpPr>
        <p:spPr>
          <a:xfrm>
            <a:off x="8305165" y="44329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69" name="Text Box 32"/>
          <p:cNvSpPr txBox="1"/>
          <p:nvPr/>
        </p:nvSpPr>
        <p:spPr>
          <a:xfrm>
            <a:off x="7085965" y="5423535"/>
            <a:ext cx="387350" cy="57912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b="1" dirty="0">
                <a:solidFill>
                  <a:srgbClr val="800000"/>
                </a:solidFill>
                <a:latin typeface="Consolas" panose="020B0609020204030204" pitchFamily="49" charset="0"/>
              </a:rPr>
              <a:t>4</a:t>
            </a:r>
            <a:endParaRPr lang="en-US" altLang="zh-CN" sz="1800" b="1" dirty="0">
              <a:solidFill>
                <a:srgbClr val="FFFFFF"/>
              </a:solidFill>
              <a:latin typeface="Consolas" panose="020B0609020204030204" pitchFamily="49" charset="0"/>
            </a:endParaRPr>
          </a:p>
        </p:txBody>
      </p:sp>
      <p:sp>
        <p:nvSpPr>
          <p:cNvPr id="70" name="Text Box 82"/>
          <p:cNvSpPr txBox="1"/>
          <p:nvPr/>
        </p:nvSpPr>
        <p:spPr>
          <a:xfrm>
            <a:off x="1386840" y="4554855"/>
            <a:ext cx="1219200" cy="519430"/>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800" b="1" dirty="0">
                <a:latin typeface="Consolas" panose="020B0609020204030204" pitchFamily="49" charset="0"/>
              </a:rPr>
              <a:t>AOE</a:t>
            </a:r>
            <a:r>
              <a:rPr lang="zh-CN" altLang="en-US" sz="2800" b="1" dirty="0">
                <a:latin typeface="Consolas" panose="020B0609020204030204" pitchFamily="49" charset="0"/>
              </a:rPr>
              <a:t>网</a:t>
            </a:r>
            <a:endParaRPr lang="zh-CN" altLang="en-US" sz="2800" b="1"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41"/>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4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43"/>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44"/>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45"/>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46"/>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47"/>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48"/>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49"/>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50"/>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51"/>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52"/>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53"/>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54"/>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55"/>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56"/>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57"/>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nodeType="afterEffect">
                                  <p:stCondLst>
                                    <p:cond delay="0"/>
                                  </p:stCondLst>
                                  <p:childTnLst>
                                    <p:set>
                                      <p:cBhvr>
                                        <p:cTn id="63" dur="1" fill="hold">
                                          <p:stCondLst>
                                            <p:cond delay="499"/>
                                          </p:stCondLst>
                                        </p:cTn>
                                        <p:tgtEl>
                                          <p:spTgt spid="58"/>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59"/>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60"/>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61"/>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62"/>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63"/>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64"/>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65"/>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66"/>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67"/>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grpId="0" nodeType="afterEffect">
                                  <p:stCondLst>
                                    <p:cond delay="0"/>
                                  </p:stCondLst>
                                  <p:childTnLst>
                                    <p:set>
                                      <p:cBhvr>
                                        <p:cTn id="93" dur="1" fill="hold">
                                          <p:stCondLst>
                                            <p:cond delay="499"/>
                                          </p:stCondLst>
                                        </p:cTn>
                                        <p:tgtEl>
                                          <p:spTgt spid="68"/>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grpId="0" nodeType="afterEffect">
                                  <p:stCondLst>
                                    <p:cond delay="0"/>
                                  </p:stCondLst>
                                  <p:childTnLst>
                                    <p:set>
                                      <p:cBhvr>
                                        <p:cTn id="96" dur="1" fill="hold">
                                          <p:stCondLst>
                                            <p:cond delay="499"/>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40" grpId="0" bldLvl="0" animBg="1"/>
      <p:bldP spid="41" grpId="0" bldLvl="0" animBg="1"/>
      <p:bldP spid="42" grpId="0" bldLvl="0" animBg="1"/>
      <p:bldP spid="43" grpId="0" bldLvl="0" animBg="1"/>
      <p:bldP spid="44" grpId="0" bldLvl="0" animBg="1"/>
      <p:bldP spid="45" grpId="0" bldLvl="0" animBg="1"/>
      <p:bldP spid="46" grpId="0" bldLvl="0" animBg="1"/>
      <p:bldP spid="47" grpId="0" bldLvl="0" animBg="1"/>
      <p:bldP spid="59" grpId="0"/>
      <p:bldP spid="60" grpId="0"/>
      <p:bldP spid="61" grpId="0"/>
      <p:bldP spid="62" grpId="0"/>
      <p:bldP spid="63" grpId="0"/>
      <p:bldP spid="64" grpId="0"/>
      <p:bldP spid="65" grpId="0"/>
      <p:bldP spid="66" grpId="0"/>
      <p:bldP spid="67" grpId="0"/>
      <p:bldP spid="68" grpId="0"/>
      <p:bldP spid="69"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拓扑排序算法（续 </a:t>
            </a:r>
            <a:r>
              <a:rPr lang="en-US" altLang="zh-CN" sz="3600" b="1" dirty="0" smtClean="0">
                <a:solidFill>
                  <a:schemeClr val="bg1"/>
                </a:solidFill>
                <a:latin typeface="微软雅黑" panose="020B0503020204020204" pitchFamily="34" charset="-122"/>
                <a:ea typeface="微软雅黑" panose="020B0503020204020204" pitchFamily="34" charset="-122"/>
              </a:rPr>
              <a:t>2</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2" name="TextBox 6"/>
          <p:cNvSpPr txBox="1"/>
          <p:nvPr/>
        </p:nvSpPr>
        <p:spPr>
          <a:xfrm>
            <a:off x="213995" y="1009015"/>
            <a:ext cx="8229600" cy="460375"/>
          </a:xfrm>
          <a:prstGeom prst="rect">
            <a:avLst/>
          </a:prstGeom>
          <a:noFill/>
        </p:spPr>
        <p:txBody>
          <a:bodyPr>
            <a:spAutoFit/>
          </a:bodyPr>
          <a:p>
            <a:pPr marR="0" defTabSz="914400" eaLnBrk="1" hangingPunct="1">
              <a:buClrTx/>
              <a:buSzTx/>
              <a:buFontTx/>
              <a:defRPr/>
            </a:pPr>
            <a:r>
              <a:rPr kumimoji="0" lang="zh-CN" altLang="en-US" sz="24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把各项活动的最早开始时间和最迟开始时间也列成表：</a:t>
            </a:r>
            <a:endParaRPr kumimoji="0" lang="zh-CN" altLang="en-US" sz="24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p:txBody>
      </p:sp>
      <p:graphicFrame>
        <p:nvGraphicFramePr>
          <p:cNvPr id="6" name="内容占位符 5"/>
          <p:cNvGraphicFramePr>
            <a:graphicFrameLocks noGrp="1"/>
          </p:cNvGraphicFramePr>
          <p:nvPr>
            <p:ph idx="1"/>
            <p:custDataLst>
              <p:tags r:id="rId1"/>
            </p:custDataLst>
          </p:nvPr>
        </p:nvGraphicFramePr>
        <p:xfrm>
          <a:off x="2201545" y="1842770"/>
          <a:ext cx="8153400" cy="2362200"/>
        </p:xfrm>
        <a:graphic>
          <a:graphicData uri="http://schemas.openxmlformats.org/drawingml/2006/table">
            <a:tbl>
              <a:tblPr firstRow="1" bandRow="1">
                <a:tableStyleId>{5940675A-B579-460E-94D1-54222C63F5DA}</a:tableStyleId>
              </a:tblPr>
              <a:tblGrid>
                <a:gridCol w="1019175"/>
                <a:gridCol w="582385"/>
                <a:gridCol w="655184"/>
                <a:gridCol w="655184"/>
                <a:gridCol w="655184"/>
                <a:gridCol w="655184"/>
                <a:gridCol w="655184"/>
                <a:gridCol w="655184"/>
                <a:gridCol w="655184"/>
                <a:gridCol w="654685"/>
                <a:gridCol w="655683"/>
                <a:gridCol w="655184"/>
              </a:tblGrid>
              <a:tr h="457200">
                <a:tc>
                  <a:txBody>
                    <a:bodyPr/>
                    <a:p>
                      <a:pPr algn="ctr"/>
                      <a:endParaRPr lang="zh-CN" altLang="en-US" sz="2400" dirty="0"/>
                    </a:p>
                  </a:txBody>
                  <a:tcPr/>
                </a:tc>
                <a:tc>
                  <a:txBody>
                    <a:bodyPr/>
                    <a:p>
                      <a:pPr algn="ctr"/>
                      <a:r>
                        <a:rPr lang="en-US" altLang="zh-CN" sz="2400" dirty="0" err="1" smtClean="0"/>
                        <a:t>ab</a:t>
                      </a:r>
                      <a:endParaRPr lang="zh-CN" altLang="en-US" sz="2400" dirty="0"/>
                    </a:p>
                  </a:txBody>
                  <a:tcPr/>
                </a:tc>
                <a:tc>
                  <a:txBody>
                    <a:bodyPr/>
                    <a:p>
                      <a:pPr algn="ctr"/>
                      <a:r>
                        <a:rPr lang="en-US" altLang="zh-CN" sz="2400" dirty="0" smtClean="0"/>
                        <a:t>ac</a:t>
                      </a:r>
                      <a:endParaRPr lang="zh-CN" altLang="en-US" sz="2400" dirty="0"/>
                    </a:p>
                  </a:txBody>
                  <a:tcPr/>
                </a:tc>
                <a:tc>
                  <a:txBody>
                    <a:bodyPr/>
                    <a:p>
                      <a:pPr algn="ctr"/>
                      <a:r>
                        <a:rPr lang="en-US" altLang="zh-CN" sz="2400" dirty="0" smtClean="0"/>
                        <a:t>ad</a:t>
                      </a:r>
                      <a:endParaRPr lang="zh-CN" altLang="en-US" sz="2400" dirty="0"/>
                    </a:p>
                  </a:txBody>
                  <a:tcPr/>
                </a:tc>
                <a:tc>
                  <a:txBody>
                    <a:bodyPr/>
                    <a:p>
                      <a:pPr algn="ctr"/>
                      <a:r>
                        <a:rPr lang="en-US" altLang="zh-CN" sz="2400" dirty="0" smtClean="0"/>
                        <a:t>be</a:t>
                      </a:r>
                      <a:endParaRPr lang="zh-CN" altLang="en-US" sz="2400" dirty="0"/>
                    </a:p>
                  </a:txBody>
                  <a:tcPr/>
                </a:tc>
                <a:tc>
                  <a:txBody>
                    <a:bodyPr/>
                    <a:p>
                      <a:pPr algn="ctr"/>
                      <a:r>
                        <a:rPr lang="en-US" altLang="zh-CN" sz="2400" dirty="0" err="1" smtClean="0"/>
                        <a:t>ce</a:t>
                      </a:r>
                      <a:endParaRPr lang="zh-CN" altLang="en-US" sz="2400" dirty="0"/>
                    </a:p>
                  </a:txBody>
                  <a:tcPr/>
                </a:tc>
                <a:tc>
                  <a:txBody>
                    <a:bodyPr/>
                    <a:p>
                      <a:pPr algn="ctr"/>
                      <a:r>
                        <a:rPr lang="en-US" altLang="zh-CN" sz="2400" dirty="0" err="1" smtClean="0"/>
                        <a:t>df</a:t>
                      </a:r>
                      <a:endParaRPr lang="zh-CN" altLang="en-US" sz="2400" dirty="0"/>
                    </a:p>
                  </a:txBody>
                  <a:tcPr/>
                </a:tc>
                <a:tc>
                  <a:txBody>
                    <a:bodyPr/>
                    <a:p>
                      <a:pPr algn="ctr"/>
                      <a:r>
                        <a:rPr lang="en-US" altLang="zh-CN" sz="2400" dirty="0" err="1" smtClean="0"/>
                        <a:t>eg</a:t>
                      </a:r>
                      <a:endParaRPr lang="zh-CN" altLang="en-US" sz="2400" dirty="0"/>
                    </a:p>
                  </a:txBody>
                  <a:tcPr/>
                </a:tc>
                <a:tc>
                  <a:txBody>
                    <a:bodyPr/>
                    <a:p>
                      <a:pPr algn="ctr"/>
                      <a:r>
                        <a:rPr lang="en-US" altLang="zh-CN" sz="2400" dirty="0" smtClean="0"/>
                        <a:t>eh</a:t>
                      </a:r>
                      <a:endParaRPr lang="zh-CN" altLang="en-US" sz="2400" dirty="0"/>
                    </a:p>
                  </a:txBody>
                  <a:tcPr/>
                </a:tc>
                <a:tc>
                  <a:txBody>
                    <a:bodyPr/>
                    <a:p>
                      <a:pPr algn="ctr"/>
                      <a:r>
                        <a:rPr lang="en-US" altLang="zh-CN" sz="2400" dirty="0" err="1" smtClean="0"/>
                        <a:t>fh</a:t>
                      </a:r>
                      <a:endParaRPr lang="zh-CN" altLang="en-US" sz="2400" dirty="0"/>
                    </a:p>
                  </a:txBody>
                  <a:tcPr/>
                </a:tc>
                <a:tc>
                  <a:txBody>
                    <a:bodyPr/>
                    <a:p>
                      <a:pPr algn="ctr"/>
                      <a:r>
                        <a:rPr lang="en-US" altLang="zh-CN" sz="2400" dirty="0" err="1" smtClean="0"/>
                        <a:t>gk</a:t>
                      </a:r>
                      <a:endParaRPr lang="zh-CN" altLang="en-US" sz="2400" dirty="0"/>
                    </a:p>
                  </a:txBody>
                  <a:tcPr/>
                </a:tc>
                <a:tc>
                  <a:txBody>
                    <a:bodyPr/>
                    <a:p>
                      <a:pPr algn="ctr"/>
                      <a:r>
                        <a:rPr lang="en-US" altLang="zh-CN" sz="2400" dirty="0" err="1" smtClean="0"/>
                        <a:t>hk</a:t>
                      </a:r>
                      <a:endParaRPr lang="zh-CN" altLang="en-US" sz="2400" dirty="0"/>
                    </a:p>
                  </a:txBody>
                  <a:tcPr/>
                </a:tc>
              </a:tr>
              <a:tr h="533400">
                <a:tc>
                  <a:txBody>
                    <a:bodyPr/>
                    <a:p>
                      <a:pPr algn="ctr"/>
                      <a:r>
                        <a:rPr lang="zh-CN" altLang="en-US" sz="2400" dirty="0" smtClean="0"/>
                        <a:t>权值</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4</a:t>
                      </a:r>
                      <a:endParaRPr lang="zh-CN" altLang="en-US" sz="2400" dirty="0"/>
                    </a:p>
                  </a:txBody>
                  <a:tcPr/>
                </a:tc>
                <a:tc>
                  <a:txBody>
                    <a:bodyPr/>
                    <a:p>
                      <a:pPr algn="ctr"/>
                      <a:r>
                        <a:rPr lang="en-US" altLang="zh-CN" sz="2400" dirty="0" smtClean="0"/>
                        <a:t>5</a:t>
                      </a:r>
                      <a:endParaRPr lang="zh-CN" altLang="en-US" sz="2400" dirty="0"/>
                    </a:p>
                  </a:txBody>
                  <a:tcPr/>
                </a:tc>
                <a:tc>
                  <a:txBody>
                    <a:bodyPr/>
                    <a:p>
                      <a:pPr algn="ctr"/>
                      <a:r>
                        <a:rPr lang="en-US" altLang="zh-CN" sz="2400" dirty="0" smtClean="0"/>
                        <a:t>1</a:t>
                      </a:r>
                      <a:endParaRPr lang="zh-CN" altLang="en-US" sz="2400" dirty="0"/>
                    </a:p>
                  </a:txBody>
                  <a:tcPr/>
                </a:tc>
                <a:tc>
                  <a:txBody>
                    <a:bodyPr/>
                    <a:p>
                      <a:pPr algn="ctr"/>
                      <a:r>
                        <a:rPr lang="en-US" altLang="zh-CN" sz="2400" dirty="0" smtClean="0"/>
                        <a:t>1</a:t>
                      </a:r>
                      <a:endParaRPr lang="zh-CN" altLang="en-US" sz="2400" dirty="0"/>
                    </a:p>
                  </a:txBody>
                  <a:tcPr/>
                </a:tc>
                <a:tc>
                  <a:txBody>
                    <a:bodyPr/>
                    <a:p>
                      <a:pPr algn="ctr"/>
                      <a:r>
                        <a:rPr lang="en-US" altLang="zh-CN" sz="2400" dirty="0" smtClean="0"/>
                        <a:t>2</a:t>
                      </a:r>
                      <a:endParaRPr lang="zh-CN" altLang="en-US" sz="2400" dirty="0"/>
                    </a:p>
                  </a:txBody>
                  <a:tcPr/>
                </a:tc>
                <a:tc>
                  <a:txBody>
                    <a:bodyPr/>
                    <a:p>
                      <a:pPr algn="ctr"/>
                      <a:r>
                        <a:rPr lang="en-US" altLang="zh-CN" sz="2400" dirty="0" smtClean="0"/>
                        <a:t>8</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4</a:t>
                      </a:r>
                      <a:endParaRPr lang="zh-CN" altLang="en-US" sz="2400" dirty="0"/>
                    </a:p>
                  </a:txBody>
                  <a:tcPr/>
                </a:tc>
                <a:tc>
                  <a:txBody>
                    <a:bodyPr/>
                    <a:p>
                      <a:pPr algn="ctr"/>
                      <a:r>
                        <a:rPr lang="en-US" altLang="zh-CN" sz="2400" dirty="0" smtClean="0"/>
                        <a:t>2</a:t>
                      </a:r>
                      <a:endParaRPr lang="zh-CN" altLang="en-US" sz="2400" dirty="0"/>
                    </a:p>
                  </a:txBody>
                  <a:tcPr/>
                </a:tc>
                <a:tc>
                  <a:txBody>
                    <a:bodyPr/>
                    <a:p>
                      <a:pPr algn="ctr"/>
                      <a:r>
                        <a:rPr lang="en-US" altLang="zh-CN" sz="2400" dirty="0" smtClean="0"/>
                        <a:t>4</a:t>
                      </a:r>
                      <a:endParaRPr lang="zh-CN" altLang="en-US" sz="2400" dirty="0"/>
                    </a:p>
                  </a:txBody>
                  <a:tcPr/>
                </a:tc>
              </a:tr>
              <a:tr h="370840">
                <a:tc>
                  <a:txBody>
                    <a:bodyPr/>
                    <a:p>
                      <a:pPr algn="ctr"/>
                      <a:r>
                        <a:rPr lang="en-US" altLang="zh-CN" sz="2400" dirty="0" smtClean="0"/>
                        <a:t>e</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4</a:t>
                      </a:r>
                      <a:endParaRPr lang="zh-CN" altLang="en-US" sz="2400" dirty="0"/>
                    </a:p>
                  </a:txBody>
                  <a:tcPr/>
                </a:tc>
                <a:tc>
                  <a:txBody>
                    <a:bodyPr/>
                    <a:p>
                      <a:pPr algn="ctr"/>
                      <a:r>
                        <a:rPr lang="en-US" altLang="zh-CN" sz="2400" dirty="0" smtClean="0"/>
                        <a:t>5</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15</a:t>
                      </a:r>
                      <a:endParaRPr lang="zh-CN" altLang="en-US" sz="2400" dirty="0"/>
                    </a:p>
                  </a:txBody>
                  <a:tcPr/>
                </a:tc>
                <a:tc>
                  <a:txBody>
                    <a:bodyPr/>
                    <a:p>
                      <a:pPr algn="ctr"/>
                      <a:r>
                        <a:rPr lang="en-US" altLang="zh-CN" sz="2400" dirty="0" smtClean="0"/>
                        <a:t>14</a:t>
                      </a:r>
                      <a:endParaRPr lang="zh-CN" altLang="en-US" sz="2400" dirty="0"/>
                    </a:p>
                  </a:txBody>
                  <a:tcPr/>
                </a:tc>
              </a:tr>
              <a:tr h="370840">
                <a:tc>
                  <a:txBody>
                    <a:bodyPr/>
                    <a:p>
                      <a:pPr algn="ctr"/>
                      <a:r>
                        <a:rPr lang="en-US" altLang="zh-CN" sz="2400" dirty="0" smtClean="0"/>
                        <a:t>l</a:t>
                      </a:r>
                      <a:endParaRPr lang="zh-CN" altLang="en-US" sz="2400" dirty="0"/>
                    </a:p>
                  </a:txBody>
                  <a:tcPr/>
                </a:tc>
                <a:tc>
                  <a:txBody>
                    <a:bodyPr/>
                    <a:p>
                      <a:pPr algn="ctr"/>
                      <a:r>
                        <a:rPr lang="en-US" altLang="zh-CN" sz="2400" dirty="0" smtClean="0"/>
                        <a:t>0</a:t>
                      </a:r>
                      <a:endParaRPr lang="zh-CN" altLang="en-US" sz="2400" dirty="0"/>
                    </a:p>
                  </a:txBody>
                  <a:tcPr/>
                </a:tc>
                <a:tc>
                  <a:txBody>
                    <a:bodyPr/>
                    <a:p>
                      <a:pPr algn="ctr"/>
                      <a:r>
                        <a:rPr lang="en-US" altLang="zh-CN" sz="2400" dirty="0" smtClean="0"/>
                        <a:t>2</a:t>
                      </a:r>
                      <a:endParaRPr lang="zh-CN" altLang="en-US" sz="2400" dirty="0"/>
                    </a:p>
                  </a:txBody>
                  <a:tcPr/>
                </a:tc>
                <a:tc>
                  <a:txBody>
                    <a:bodyPr/>
                    <a:p>
                      <a:pPr algn="ctr"/>
                      <a:r>
                        <a:rPr lang="en-US" altLang="zh-CN" sz="2400" dirty="0" smtClean="0"/>
                        <a:t>3</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6</a:t>
                      </a:r>
                      <a:endParaRPr lang="zh-CN" altLang="en-US" sz="2400" dirty="0"/>
                    </a:p>
                  </a:txBody>
                  <a:tcPr/>
                </a:tc>
                <a:tc>
                  <a:txBody>
                    <a:bodyPr/>
                    <a:p>
                      <a:pPr algn="ctr"/>
                      <a:r>
                        <a:rPr lang="en-US" altLang="zh-CN" sz="2400" dirty="0" smtClean="0"/>
                        <a:t>8</a:t>
                      </a:r>
                      <a:endParaRPr lang="zh-CN" altLang="en-US" sz="2400" dirty="0"/>
                    </a:p>
                  </a:txBody>
                  <a:tcPr/>
                </a:tc>
                <a:tc>
                  <a:txBody>
                    <a:bodyPr/>
                    <a:p>
                      <a:pPr algn="ctr"/>
                      <a:r>
                        <a:rPr lang="en-US" altLang="zh-CN" sz="2400" dirty="0" smtClean="0"/>
                        <a:t>8</a:t>
                      </a:r>
                      <a:endParaRPr lang="zh-CN" altLang="en-US" sz="2400" dirty="0"/>
                    </a:p>
                  </a:txBody>
                  <a:tcPr/>
                </a:tc>
                <a:tc>
                  <a:txBody>
                    <a:bodyPr/>
                    <a:p>
                      <a:pPr algn="ctr"/>
                      <a:r>
                        <a:rPr lang="en-US" altLang="zh-CN" sz="2400" dirty="0" smtClean="0"/>
                        <a:t>7</a:t>
                      </a:r>
                      <a:endParaRPr lang="zh-CN" altLang="en-US" sz="2400" dirty="0"/>
                    </a:p>
                  </a:txBody>
                  <a:tcPr/>
                </a:tc>
                <a:tc>
                  <a:txBody>
                    <a:bodyPr/>
                    <a:p>
                      <a:pPr algn="ctr"/>
                      <a:r>
                        <a:rPr lang="en-US" altLang="zh-CN" sz="2400" dirty="0" smtClean="0"/>
                        <a:t>10</a:t>
                      </a:r>
                      <a:endParaRPr lang="zh-CN" altLang="en-US" sz="2400" dirty="0"/>
                    </a:p>
                  </a:txBody>
                  <a:tcPr/>
                </a:tc>
                <a:tc>
                  <a:txBody>
                    <a:bodyPr/>
                    <a:p>
                      <a:pPr algn="ctr"/>
                      <a:r>
                        <a:rPr lang="en-US" altLang="zh-CN" sz="2400" dirty="0" smtClean="0"/>
                        <a:t>16</a:t>
                      </a:r>
                      <a:endParaRPr lang="zh-CN" altLang="en-US" sz="2400" dirty="0"/>
                    </a:p>
                  </a:txBody>
                  <a:tcPr/>
                </a:tc>
                <a:tc>
                  <a:txBody>
                    <a:bodyPr/>
                    <a:p>
                      <a:pPr algn="ctr"/>
                      <a:r>
                        <a:rPr lang="en-US" altLang="zh-CN" sz="2400" dirty="0" smtClean="0"/>
                        <a:t>14</a:t>
                      </a:r>
                      <a:endParaRPr lang="zh-CN" altLang="en-US" sz="2400" dirty="0"/>
                    </a:p>
                  </a:txBody>
                  <a:tcPr/>
                </a:tc>
              </a:tr>
              <a:tr h="370840">
                <a:tc>
                  <a:txBody>
                    <a:bodyPr/>
                    <a:p>
                      <a:pPr algn="ctr"/>
                      <a:r>
                        <a:rPr lang="zh-CN" altLang="en-US" sz="2400" dirty="0" smtClean="0"/>
                        <a:t>结果</a:t>
                      </a:r>
                      <a:endParaRPr lang="zh-CN" altLang="en-US" sz="2400" dirty="0"/>
                    </a:p>
                  </a:txBody>
                  <a:tcPr/>
                </a:tc>
                <a:tc>
                  <a:txBody>
                    <a:bodyPr/>
                    <a:p>
                      <a:pPr algn="ctr"/>
                      <a:r>
                        <a:rPr lang="zh-CN" altLang="en-US" sz="2400" dirty="0" smtClean="0"/>
                        <a:t>√</a:t>
                      </a:r>
                      <a:endParaRPr lang="zh-CN" altLang="en-US" sz="2400" dirty="0"/>
                    </a:p>
                  </a:txBody>
                  <a:tcPr/>
                </a:tc>
                <a:tc>
                  <a:txBody>
                    <a:bodyPr/>
                    <a:p>
                      <a:pPr algn="ctr"/>
                      <a:endParaRPr lang="zh-CN" altLang="en-US" sz="2400" dirty="0"/>
                    </a:p>
                  </a:txBody>
                  <a:tcPr/>
                </a:tc>
                <a:tc>
                  <a:txBody>
                    <a:bodyPr/>
                    <a:p>
                      <a:pPr algn="ctr"/>
                      <a:endParaRPr lang="zh-CN" altLang="en-US" sz="2400" dirty="0"/>
                    </a:p>
                  </a:txBody>
                  <a:tcP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smtClean="0"/>
                        <a:t>√</a:t>
                      </a:r>
                      <a:endParaRPr lang="zh-CN" altLang="en-US" sz="2400" dirty="0"/>
                    </a:p>
                  </a:txBody>
                  <a:tcPr/>
                </a:tc>
                <a:tc>
                  <a:txBody>
                    <a:bodyPr/>
                    <a:p>
                      <a:pPr algn="ctr"/>
                      <a:endParaRPr lang="zh-CN" altLang="en-US" sz="2400" dirty="0"/>
                    </a:p>
                  </a:txBody>
                  <a:tcPr/>
                </a:tc>
                <a:tc>
                  <a:txBody>
                    <a:bodyPr/>
                    <a:p>
                      <a:pPr algn="ctr"/>
                      <a:endParaRPr lang="zh-CN" altLang="en-US" sz="2400" dirty="0"/>
                    </a:p>
                  </a:txBody>
                  <a:tcPr/>
                </a:tc>
                <a:tc>
                  <a:txBody>
                    <a:bodyPr/>
                    <a:p>
                      <a:pPr algn="ctr"/>
                      <a:endParaRPr lang="zh-CN" altLang="en-US" sz="2400" dirty="0"/>
                    </a:p>
                  </a:txBody>
                  <a:tcP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smtClean="0"/>
                        <a:t>√</a:t>
                      </a:r>
                      <a:endParaRPr lang="zh-CN" altLang="en-US" sz="2400" dirty="0"/>
                    </a:p>
                  </a:txBody>
                  <a:tcPr/>
                </a:tc>
                <a:tc>
                  <a:txBody>
                    <a:bodyPr/>
                    <a:p>
                      <a:pPr algn="ctr"/>
                      <a:endParaRPr lang="zh-CN" altLang="en-US" sz="2400" dirty="0"/>
                    </a:p>
                  </a:txBody>
                  <a:tcPr/>
                </a:tc>
                <a:tc>
                  <a:txBody>
                    <a:bodyPr/>
                    <a:p>
                      <a:pPr algn="ctr"/>
                      <a:endParaRPr lang="zh-CN" altLang="en-US" sz="2400" dirty="0"/>
                    </a:p>
                  </a:txBody>
                  <a:tcPr/>
                </a:tc>
                <a:tc>
                  <a:txBody>
                    <a:bodyPr/>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smtClean="0"/>
                        <a:t>√</a:t>
                      </a:r>
                      <a:endParaRPr lang="zh-CN" altLang="en-US" sz="2400" dirty="0"/>
                    </a:p>
                  </a:txBody>
                  <a:tcPr/>
                </a:tc>
              </a:tr>
            </a:tbl>
          </a:graphicData>
        </a:graphic>
      </p:graphicFrame>
      <p:sp>
        <p:nvSpPr>
          <p:cNvPr id="123987" name="TextBox 3"/>
          <p:cNvSpPr txBox="1"/>
          <p:nvPr/>
        </p:nvSpPr>
        <p:spPr>
          <a:xfrm>
            <a:off x="410845" y="4578350"/>
            <a:ext cx="10190480" cy="16300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spcBef>
                <a:spcPct val="0"/>
              </a:spcBef>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求出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网中所有关键活动后，只要删去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网中所有的非关键活动，可得到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网的关键路径。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spcBef>
                <a:spcPct val="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这时从源点到汇点的所有路径都是关键路径。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此例关键路径为</a:t>
            </a:r>
            <a:r>
              <a:rPr lang="pt-BR"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pt-BR" altLang="zh-CN"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a，b，e，h，k</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eaLnBrk="1" hangingPunct="1">
              <a:spcBef>
                <a:spcPct val="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一个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AOE</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网的关键路径可能不止一条。</a:t>
            </a:r>
            <a:endParaRPr lang="pt-BR"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gn="ctr" eaLnBrk="1" hangingPunct="1">
              <a:spcBef>
                <a:spcPct val="0"/>
              </a:spcBef>
              <a:buNone/>
            </a:pPr>
            <a:endParaRPr lang="zh-CN" altLang="en-US" sz="2000" b="1" i="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5797" name="Picture 85"/>
          <p:cNvPicPr>
            <a:picLocks noChangeAspect="1"/>
          </p:cNvPicPr>
          <p:nvPr/>
        </p:nvPicPr>
        <p:blipFill>
          <a:blip r:embed="rId2"/>
          <a:stretch>
            <a:fillRect/>
          </a:stretch>
        </p:blipFill>
        <p:spPr>
          <a:xfrm>
            <a:off x="1858645" y="106680"/>
            <a:ext cx="8496300" cy="1565275"/>
          </a:xfrm>
          <a:prstGeom prst="rect">
            <a:avLst/>
          </a:prstGeom>
          <a:noFill/>
          <a:ln w="3175">
            <a:noFill/>
          </a:ln>
        </p:spPr>
      </p:pic>
      <p:pic>
        <p:nvPicPr>
          <p:cNvPr id="115798" name="Picture 86"/>
          <p:cNvPicPr>
            <a:picLocks noChangeAspect="1"/>
          </p:cNvPicPr>
          <p:nvPr/>
        </p:nvPicPr>
        <p:blipFill>
          <a:blip r:embed="rId3"/>
          <a:stretch>
            <a:fillRect/>
          </a:stretch>
        </p:blipFill>
        <p:spPr>
          <a:xfrm>
            <a:off x="2895600" y="4343400"/>
            <a:ext cx="6400800" cy="2514600"/>
          </a:xfrm>
          <a:prstGeom prst="rect">
            <a:avLst/>
          </a:prstGeom>
          <a:noFill/>
          <a:ln w="317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5797"/>
                                        </p:tgtEl>
                                        <p:attrNameLst>
                                          <p:attrName>style.visibility</p:attrName>
                                        </p:attrNameLst>
                                      </p:cBhvr>
                                      <p:to>
                                        <p:strVal val="visible"/>
                                      </p:to>
                                    </p:set>
                                    <p:animEffect transition="in" filter="fade">
                                      <p:cBhvr>
                                        <p:cTn id="7" dur="1000"/>
                                        <p:tgtEl>
                                          <p:spTgt spid="115797"/>
                                        </p:tgtEl>
                                      </p:cBhvr>
                                    </p:animEffect>
                                    <p:anim calcmode="lin" valueType="num">
                                      <p:cBhvr>
                                        <p:cTn id="8" dur="1000" fill="hold"/>
                                        <p:tgtEl>
                                          <p:spTgt spid="115797"/>
                                        </p:tgtEl>
                                        <p:attrNameLst>
                                          <p:attrName>ppt_x</p:attrName>
                                        </p:attrNameLst>
                                      </p:cBhvr>
                                      <p:tavLst>
                                        <p:tav tm="0">
                                          <p:val>
                                            <p:strVal val="#ppt_x"/>
                                          </p:val>
                                        </p:tav>
                                        <p:tav tm="100000">
                                          <p:val>
                                            <p:strVal val="#ppt_x"/>
                                          </p:val>
                                        </p:tav>
                                      </p:tavLst>
                                    </p:anim>
                                    <p:anim calcmode="lin" valueType="num">
                                      <p:cBhvr>
                                        <p:cTn id="9" dur="1000" fill="hold"/>
                                        <p:tgtEl>
                                          <p:spTgt spid="11579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5798"/>
                                        </p:tgtEl>
                                        <p:attrNameLst>
                                          <p:attrName>style.visibility</p:attrName>
                                        </p:attrNameLst>
                                      </p:cBhvr>
                                      <p:to>
                                        <p:strVal val="visible"/>
                                      </p:to>
                                    </p:set>
                                    <p:animEffect transition="in" filter="fade">
                                      <p:cBhvr>
                                        <p:cTn id="14" dur="1000"/>
                                        <p:tgtEl>
                                          <p:spTgt spid="115798"/>
                                        </p:tgtEl>
                                      </p:cBhvr>
                                    </p:animEffect>
                                    <p:anim calcmode="lin" valueType="num">
                                      <p:cBhvr>
                                        <p:cTn id="15" dur="1000" fill="hold"/>
                                        <p:tgtEl>
                                          <p:spTgt spid="115798"/>
                                        </p:tgtEl>
                                        <p:attrNameLst>
                                          <p:attrName>ppt_x</p:attrName>
                                        </p:attrNameLst>
                                      </p:cBhvr>
                                      <p:tavLst>
                                        <p:tav tm="0">
                                          <p:val>
                                            <p:strVal val="#ppt_x"/>
                                          </p:val>
                                        </p:tav>
                                        <p:tav tm="100000">
                                          <p:val>
                                            <p:strVal val="#ppt_x"/>
                                          </p:val>
                                        </p:tav>
                                      </p:tavLst>
                                    </p:anim>
                                    <p:anim calcmode="lin" valueType="num">
                                      <p:cBhvr>
                                        <p:cTn id="16" dur="1000" fill="hold"/>
                                        <p:tgtEl>
                                          <p:spTgt spid="1157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算法的实现要点</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4931" name="内容占位符 2"/>
          <p:cNvSpPr>
            <a:spLocks noGrp="1"/>
          </p:cNvSpPr>
          <p:nvPr>
            <p:ph idx="1"/>
          </p:nvPr>
        </p:nvSpPr>
        <p:spPr>
          <a:xfrm>
            <a:off x="554990" y="1253490"/>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求</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的顺序应该是按拓扑有序的次序；</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求</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的顺序应该是按拓扑逆序的次序；</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因为拓扑逆序序列即为拓扑有序序列的逆序列，因此应该在拓扑排序的过程中，另设一个“栈”记下拓扑有序序列。</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关键路径算法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5955" name="Rectangle 4"/>
          <p:cNvSpPr>
            <a:spLocks noGrp="1"/>
          </p:cNvSpPr>
          <p:nvPr>
            <p:ph idx="1"/>
          </p:nvPr>
        </p:nvSpPr>
        <p:spPr>
          <a:xfrm>
            <a:off x="1981200" y="1073150"/>
            <a:ext cx="8229600"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打印有向网</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的关键路径</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template&lt;class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void PrintCriticalPath( ALGraph&lt;VertexType&gt;&amp; g)</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 j;</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VertexType vex, start, end;</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EdgeNode*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*ve;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*vl;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*pArr=new int[g.GetNumVertices()];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if(!TopologicalSort(g, pArr)){</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cout&lt;&lt;"Graph has a circle!"&lt;&lt;endl;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pArr;</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关键路径算法（续 </a:t>
            </a:r>
            <a:r>
              <a:rPr lang="en-US" altLang="zh-CN" sz="3600" b="1" dirty="0" smtClean="0">
                <a:solidFill>
                  <a:schemeClr val="bg1"/>
                </a:solidFill>
                <a:latin typeface="微软雅黑" panose="020B0503020204020204" pitchFamily="34" charset="-122"/>
                <a:ea typeface="微软雅黑" panose="020B0503020204020204" pitchFamily="34" charset="-122"/>
              </a:rPr>
              <a:t>1</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6979" name="Rectangle 4"/>
          <p:cNvSpPr>
            <a:spLocks noGrp="1"/>
          </p:cNvSpPr>
          <p:nvPr>
            <p:ph idx="1"/>
          </p:nvPr>
        </p:nvSpPr>
        <p:spPr>
          <a:xfrm>
            <a:off x="1981200" y="1055370"/>
            <a:ext cx="8229600"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p>
            <a:pPr>
              <a:buNone/>
            </a:pPr>
            <a:r>
              <a:rPr lang="en-US" altLang="zh-CN" sz="1800" dirty="0">
                <a:solidFill>
                  <a:schemeClr val="tx1"/>
                </a:solidFill>
                <a:latin typeface="Times New Roman" panose="02020603050405020304" pitchFamily="18" charset="0"/>
                <a:cs typeface="Times New Roman" panose="02020603050405020304" pitchFamily="18" charset="0"/>
              </a:rPr>
              <a:t>    ve=new int[g.GetNumVertices()];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vl=new int[g.GetNumVertices()];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ve[i]=0;</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for(w=g.GetFirstAdjVex(pArr[i]);w!=-1;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w=g.GetNextAdjVex(pArr[i], 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g.GetEdge(pArr[i], w,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ve[w]=max(ve[w], ve[pArr[i]]+edge-&gt;weight);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 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vl[i]=ve[g.GetNumVertices()-1];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关键路径算法（续 </a:t>
            </a:r>
            <a:r>
              <a:rPr lang="en-US" altLang="zh-CN" sz="3600" b="1" dirty="0" smtClean="0">
                <a:solidFill>
                  <a:schemeClr val="bg1"/>
                </a:solidFill>
                <a:latin typeface="微软雅黑" panose="020B0503020204020204" pitchFamily="34" charset="-122"/>
                <a:ea typeface="微软雅黑" panose="020B0503020204020204" pitchFamily="34" charset="-122"/>
              </a:rPr>
              <a:t>2</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8003" name="Rectangle 4"/>
          <p:cNvSpPr>
            <a:spLocks noGrp="1"/>
          </p:cNvSpPr>
          <p:nvPr>
            <p:ph idx="1"/>
          </p:nvPr>
        </p:nvSpPr>
        <p:spPr>
          <a:xfrm>
            <a:off x="1981200" y="1019175"/>
            <a:ext cx="8229600"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Times New Roman" panose="02020603050405020304" pitchFamily="18" charset="0"/>
                <a:cs typeface="Times New Roman" panose="02020603050405020304" pitchFamily="18" charset="0"/>
              </a:rPr>
              <a:t>    for(i=g.GetNumVertices()-1; i&gt;=0;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for(w=g.GetFirstAdjVex(pArr[i]);w!=-1;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w=g.GetNextAdjVex(pArr[i],w)){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g.GetEdge(pArr[i], w,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vl[pArr[i]]=min(vl[pArr[i]], vl[w]-edge-&gt;weight);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cout&lt;&lt;"</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起点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终点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最早开始时间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最迟完成时间 </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差值 |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备注 |"</a:t>
            </a:r>
            <a:r>
              <a:rPr lang="en-US" altLang="zh-CN" sz="1800" dirty="0">
                <a:solidFill>
                  <a:schemeClr val="tx1"/>
                </a:solidFill>
                <a:latin typeface="Times New Roman" panose="02020603050405020304" pitchFamily="18" charset="0"/>
                <a:cs typeface="Times New Roman" panose="02020603050405020304" pitchFamily="18" charset="0"/>
              </a:rPr>
              <a:t>&lt;&lt;endl;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j=0;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for(w=g.GetFirstAdjVex(i); w!=-1;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w=g.GetNextAdjVex(i, w), j++){</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g.GetEdge(i, w,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g.GetVertex(i, start);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g.GetVertex(w, end);</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关键路径算法（续 </a:t>
            </a:r>
            <a:r>
              <a:rPr lang="en-US" altLang="zh-CN" sz="3600" b="1" dirty="0" smtClean="0">
                <a:solidFill>
                  <a:schemeClr val="bg1"/>
                </a:solidFill>
                <a:latin typeface="微软雅黑" panose="020B0503020204020204" pitchFamily="34" charset="-122"/>
                <a:ea typeface="微软雅黑" panose="020B0503020204020204" pitchFamily="34" charset="-122"/>
              </a:rPr>
              <a:t>3</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9027" name="Rectangle 4"/>
          <p:cNvSpPr>
            <a:spLocks noGrp="1"/>
          </p:cNvSpPr>
          <p:nvPr>
            <p:ph idx="1"/>
          </p:nvPr>
        </p:nvSpPr>
        <p:spPr>
          <a:xfrm>
            <a:off x="1981200" y="1019175"/>
            <a:ext cx="8229600"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p>
            <a:pPr>
              <a:buNone/>
            </a:pPr>
            <a:r>
              <a:rPr lang="en-US" altLang="zh-CN" sz="1800" dirty="0">
                <a:solidFill>
                  <a:schemeClr val="tx1"/>
                </a:solidFill>
                <a:latin typeface="Times New Roman" panose="02020603050405020304" pitchFamily="18" charset="0"/>
                <a:cs typeface="Times New Roman" panose="02020603050405020304" pitchFamily="18" charset="0"/>
              </a:rPr>
              <a:t>            cout&lt;&lt;setiosflags(ios::right)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&lt;&lt;setw(6)&lt;&lt;start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&lt;&lt;setw(9)&lt;&lt;end</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&lt;&lt;setw(14)&lt;&lt;ve[i]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&lt;&lt;setw(19)&lt;&lt;vl[w]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&lt;&lt;setw(14)&lt;&lt;edge-&gt;weight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&lt;&lt;setw(12)&lt;&lt;(ve[i]==vl[w]-edge-&gt;weight?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r>
              <a:rPr lang="zh-CN" altLang="en-US" sz="1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关键路径</a:t>
            </a:r>
            <a:r>
              <a:rPr lang="en-US" altLang="zh-CN" sz="1800" dirty="0">
                <a:solidFill>
                  <a:schemeClr val="tx1"/>
                </a:solidFill>
                <a:latin typeface="Times New Roman" panose="02020603050405020304" pitchFamily="18" charset="0"/>
                <a:cs typeface="Times New Roman" panose="02020603050405020304" pitchFamily="18" charset="0"/>
              </a:rPr>
              <a:t>":"")&lt;&lt; endl;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ve;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vl;</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delete[] pArr;</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5.6 </a:t>
            </a:r>
            <a:r>
              <a:rPr lang="zh-CN" altLang="en-US" sz="3600" b="1" dirty="0" smtClean="0">
                <a:solidFill>
                  <a:schemeClr val="bg1"/>
                </a:solidFill>
                <a:latin typeface="微软雅黑" panose="020B0503020204020204" pitchFamily="34" charset="-122"/>
                <a:ea typeface="微软雅黑" panose="020B0503020204020204" pitchFamily="34" charset="-122"/>
              </a:rPr>
              <a:t>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0051" name="内容占位符 2"/>
          <p:cNvSpPr>
            <a:spLocks noGrp="1"/>
          </p:cNvSpPr>
          <p:nvPr>
            <p:ph idx="1"/>
          </p:nvPr>
        </p:nvSpPr>
        <p:spPr>
          <a:xfrm>
            <a:off x="410845" y="1252855"/>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在有向网中经常遇见的问题有判定图中两点间是否有通路或者哪条路径最短。</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本节主要讨论两类问题：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从一个顶点到其他顶点间的最短路径；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每一对顶点间的最短路径。</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5.6.1 </a:t>
            </a:r>
            <a:r>
              <a:rPr lang="zh-CN" altLang="en-US" sz="3600" b="1" dirty="0" smtClean="0">
                <a:solidFill>
                  <a:schemeClr val="bg1"/>
                </a:solidFill>
                <a:latin typeface="微软雅黑" panose="020B0503020204020204" pitchFamily="34" charset="-122"/>
                <a:ea typeface="微软雅黑" panose="020B0503020204020204" pitchFamily="34" charset="-122"/>
              </a:rPr>
              <a:t>单源最短路径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1075" name="内容占位符 2"/>
          <p:cNvSpPr>
            <a:spLocks noGrp="1"/>
          </p:cNvSpPr>
          <p:nvPr>
            <p:ph idx="1"/>
          </p:nvPr>
        </p:nvSpPr>
        <p:spPr>
          <a:xfrm>
            <a:off x="561340" y="1252855"/>
            <a:ext cx="10515600" cy="4351655"/>
          </a:xfrm>
        </p:spPr>
        <p:txBody>
          <a:bodyPr vert="horz" wrap="square" lIns="91440" tIns="45720" rIns="91440" bIns="45720" anchor="t"/>
          <a:p>
            <a:r>
              <a:rPr lang="zh-CN" altLang="en-US" sz="24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单源最短路径是指给定有向网和源点，求从源点到网中其余各顶点的最短路径。 </a:t>
            </a:r>
            <a:endParaRPr lang="en-US" altLang="zh-CN" sz="24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例右边的有向图中，若求顶点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到其余各顶点的最短路径如下表所示。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1126" name="Picture 1"/>
          <p:cNvPicPr>
            <a:picLocks noChangeAspect="1"/>
          </p:cNvPicPr>
          <p:nvPr/>
        </p:nvPicPr>
        <p:blipFill>
          <a:blip r:embed="rId1"/>
          <a:stretch>
            <a:fillRect/>
          </a:stretch>
        </p:blipFill>
        <p:spPr>
          <a:xfrm>
            <a:off x="7898765" y="2599690"/>
            <a:ext cx="3178175" cy="3657600"/>
          </a:xfrm>
          <a:prstGeom prst="rect">
            <a:avLst/>
          </a:prstGeom>
          <a:noFill/>
          <a:ln w="3175">
            <a:noFill/>
          </a:ln>
        </p:spPr>
      </p:pic>
      <p:graphicFrame>
        <p:nvGraphicFramePr>
          <p:cNvPr id="124985" name="Group 57"/>
          <p:cNvGraphicFramePr>
            <a:graphicFrameLocks noGrp="1"/>
          </p:cNvGraphicFramePr>
          <p:nvPr>
            <p:custDataLst>
              <p:tags r:id="rId2"/>
            </p:custDataLst>
          </p:nvPr>
        </p:nvGraphicFramePr>
        <p:xfrm>
          <a:off x="1445260" y="2651760"/>
          <a:ext cx="5181600" cy="3643630"/>
        </p:xfrm>
        <a:graphic>
          <a:graphicData uri="http://schemas.openxmlformats.org/drawingml/2006/table">
            <a:tbl>
              <a:tblPr/>
              <a:tblGrid>
                <a:gridCol w="874713"/>
                <a:gridCol w="947737"/>
                <a:gridCol w="1311275"/>
                <a:gridCol w="874713"/>
                <a:gridCol w="1173162"/>
              </a:tblGrid>
              <a:tr h="914399">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源点</a:t>
                      </a:r>
                      <a:endParaRPr kumimoji="0" 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终点</a:t>
                      </a:r>
                      <a:endParaRPr kumimoji="0" 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最短路径</a:t>
                      </a:r>
                      <a:endParaRPr kumimoji="0" 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r>
                        <a:rPr kumimoji="0" 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最短路径长度</a:t>
                      </a:r>
                      <a:endParaRPr kumimoji="0" 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长度次序</a:t>
                      </a:r>
                      <a:endParaRPr kumimoji="0" 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238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1</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2</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(1, 2)</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10</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r>
              <a:tr h="4238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(1, 3)</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30</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2</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r>
              <a:tr h="609600">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4</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(1, 2, 5, 6, 4)</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60</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5</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r>
              <a:tr h="4238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5</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(1, 2, 5)</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30</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r>
              <a:tr h="4238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6</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(1, 2, 5, 6)</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40</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4</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E4FF"/>
                    </a:solidFill>
                  </a:tcPr>
                </a:tc>
              </a:tr>
              <a:tr h="423863">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FEE9DE"/>
                          </a:solidFill>
                          <a:effectLst/>
                          <a:latin typeface="Times New Roman" panose="02020603050405020304" pitchFamily="18" charset="0"/>
                          <a:ea typeface="楷体_GB2312" panose="02010609030101010101" pitchFamily="49" charset="-122"/>
                        </a:rPr>
                        <a:t> </a:t>
                      </a:r>
                      <a:endParaRPr kumimoji="0" lang="zh-CN" altLang="zh-CN" sz="2000" b="1" i="0" u="none" strike="noStrike" cap="none" normalizeH="0" baseline="0" smtClean="0">
                        <a:ln>
                          <a:noFill/>
                        </a:ln>
                        <a:solidFill>
                          <a:srgbClr val="FEE9DE"/>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7</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无</a:t>
                      </a:r>
                      <a:endParaRPr kumimoji="0" 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c>
                  <a:txBody>
                    <a:bodyPr/>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6</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F2FF"/>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4985"/>
                                        </p:tgtEl>
                                        <p:attrNameLst>
                                          <p:attrName>style.visibility</p:attrName>
                                        </p:attrNameLst>
                                      </p:cBhvr>
                                      <p:to>
                                        <p:strVal val="visible"/>
                                      </p:to>
                                    </p:set>
                                    <p:anim calcmode="lin" valueType="num">
                                      <p:cBhvr additive="base">
                                        <p:cTn id="7" dur="500" fill="hold"/>
                                        <p:tgtEl>
                                          <p:spTgt spid="124985"/>
                                        </p:tgtEl>
                                        <p:attrNameLst>
                                          <p:attrName>ppt_x</p:attrName>
                                        </p:attrNameLst>
                                      </p:cBhvr>
                                      <p:tavLst>
                                        <p:tav tm="0">
                                          <p:val>
                                            <p:strVal val="#ppt_x"/>
                                          </p:val>
                                        </p:tav>
                                        <p:tav tm="100000">
                                          <p:val>
                                            <p:strVal val="#ppt_x"/>
                                          </p:val>
                                        </p:tav>
                                      </p:tavLst>
                                    </p:anim>
                                    <p:anim calcmode="lin" valueType="num">
                                      <p:cBhvr additive="base">
                                        <p:cTn id="8" dur="500" fill="hold"/>
                                        <p:tgtEl>
                                          <p:spTgt spid="1249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单源最短路径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2099" name="Rectangle 3"/>
          <p:cNvSpPr>
            <a:spLocks noGrp="1"/>
          </p:cNvSpPr>
          <p:nvPr>
            <p:ph idx="1"/>
          </p:nvPr>
        </p:nvSpPr>
        <p:spPr>
          <a:xfrm>
            <a:off x="410845" y="1252855"/>
            <a:ext cx="10515600"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这些最短路径的特点：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在这些最短路径中，长度最短的这条路径上必定只有一条弧，且它的权值是从源点出发的所有弧上权的最小值。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二条长度次短的最短路径只可能有两种情况：或者只含一条从源点出发的弧，且弧上的权值大于已求得最短路径的那条弧的权值，但小于其他从源点出发的弧上的权值；或者是一条只经过已求得最短路径的顶点，最后到达终点的路径。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Dijkstra</a:t>
            </a:r>
            <a:r>
              <a:rPr lang="zh-CN" altLang="en-US" sz="3600" b="1" dirty="0" smtClean="0">
                <a:solidFill>
                  <a:schemeClr val="bg1"/>
                </a:solidFill>
                <a:latin typeface="微软雅黑" panose="020B0503020204020204" pitchFamily="34" charset="-122"/>
                <a:ea typeface="微软雅黑" panose="020B0503020204020204" pitchFamily="34" charset="-122"/>
              </a:rPr>
              <a:t>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26979" name="内容占位符 2"/>
          <p:cNvSpPr>
            <a:spLocks noGrp="1"/>
          </p:cNvSpPr>
          <p:nvPr>
            <p:ph idx="1"/>
          </p:nvPr>
        </p:nvSpPr>
        <p:spPr>
          <a:xfrm>
            <a:off x="410845" y="1111885"/>
            <a:ext cx="11309350" cy="5486400"/>
          </a:xfrm>
        </p:spPr>
        <p:txBody>
          <a:bodyPr vert="horz" wrap="square" lIns="91440" tIns="45720" rIns="91440" bIns="45720" numCol="1" anchor="t" anchorCtr="0" compatLnSpc="1">
            <a:normAutofit/>
          </a:bodyPr>
          <a:p>
            <a:pPr marL="342900" marR="0" lvl="0" indent="-342900" algn="l" defTabSz="914400" rtl="0" eaLnBrk="0" fontAlgn="base" hangingPunct="0">
              <a:lnSpc>
                <a:spcPct val="125000"/>
              </a:lnSpc>
              <a:spcBef>
                <a:spcPts val="0"/>
              </a:spcBef>
              <a:spcAft>
                <a:spcPct val="0"/>
              </a:spcAft>
              <a:buClrTx/>
              <a:buSzTx/>
              <a:buFontTx/>
              <a:buChar char="•"/>
              <a:defRPr/>
            </a:pP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为了求得最短路径，荷兰籍计算机科学家</a:t>
            </a:r>
            <a:r>
              <a:rPr kumimoji="0" lang="en-US" altLang="zh-CN" sz="2400" b="0" i="0" u="none" strike="noStrike" kern="0" cap="none" spc="0" normalizeH="0" baseline="0" noProof="0" dirty="0" err="1"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Dijkstra</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提出一个</a:t>
            </a:r>
            <a:r>
              <a:rPr kumimoji="0" lang="zh-CN" altLang="en-US" sz="2400" b="1" i="0" u="none" strike="noStrike" kern="0" cap="none" spc="0" normalizeH="0" baseline="0" noProof="0" dirty="0" smtClean="0">
                <a:ln>
                  <a:noFill/>
                </a:ln>
                <a:solidFill>
                  <a:srgbClr val="0000CC"/>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按路径长度递增次序产生最短路径的想法</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，称之为</a:t>
            </a:r>
            <a:r>
              <a:rPr kumimoji="0" lang="en-US" altLang="zh-CN" sz="24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Dijkstra</a:t>
            </a:r>
            <a:r>
              <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单源最短路径算法。其思想如下：</a:t>
            </a:r>
            <a:endParaRPr kumimoji="0" lang="zh-CN" altLang="en-US" sz="24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l" defTabSz="914400" rtl="0" eaLnBrk="0" fontAlgn="base" hangingPunct="0">
              <a:lnSpc>
                <a:spcPct val="125000"/>
              </a:lnSpc>
              <a:spcBef>
                <a:spcPts val="0"/>
              </a:spcBef>
              <a:spcAft>
                <a:spcPct val="0"/>
              </a:spcAft>
              <a:buClrTx/>
              <a:buSzTx/>
              <a:buFontTx/>
              <a:buChar char="•"/>
              <a:defRPr/>
            </a:pP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0" fontAlgn="base" hangingPunct="0">
              <a:lnSpc>
                <a:spcPct val="125000"/>
              </a:lnSpc>
              <a:spcBef>
                <a:spcPts val="0"/>
              </a:spcBef>
              <a:spcAft>
                <a:spcPct val="0"/>
              </a:spcAft>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）求第一条长度最短路径</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265" algn="l" defTabSz="914400" rtl="0" eaLnBrk="0" fontAlgn="base" hangingPunct="0">
              <a:lnSpc>
                <a:spcPct val="125000"/>
              </a:lnSpc>
              <a:spcBef>
                <a:spcPts val="0"/>
              </a:spcBef>
              <a:spcAft>
                <a:spcPct val="0"/>
              </a:spcAft>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引进一个路径数组</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，它的每个分量</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表示当前所找到的从源点</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到每个终点的最短路径长度。其初态为：如果从</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到</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有弧，则</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为弧上的权值，否则设</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。显然，长度为</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]=Min{</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的路径就是从源点</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 </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出发的一条最短路径，此路径为</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algn="l" defTabSz="914400" rtl="0" eaLnBrk="0" fontAlgn="base" hangingPunct="0">
              <a:lnSpc>
                <a:spcPct val="125000"/>
              </a:lnSpc>
              <a:spcBef>
                <a:spcPts val="0"/>
              </a:spcBef>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2）求下一条长度次最短路径</a:t>
            </a:r>
            <a:endPar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265" algn="l" defTabSz="914400" rtl="0" eaLnBrk="0" fontAlgn="base" hangingPunct="0">
              <a:lnSpc>
                <a:spcPct val="125000"/>
              </a:lnSpc>
              <a:spcBef>
                <a:spcPts val="0"/>
              </a:spcBef>
              <a:spcAft>
                <a:spcPct val="0"/>
              </a:spcAft>
              <a:buClrTx/>
              <a:buSzTx/>
              <a:buFontTx/>
              <a:buNone/>
              <a:defRPr/>
            </a:pP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假设该次最短路径的终点是</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，这条路径</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或是</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1"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v</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1"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v</a:t>
            </a:r>
            <a:r>
              <a:rPr kumimoji="0" lang="zh-CN" altLang="en-US" sz="2000" b="1" u="none" strike="noStrike" kern="0" cap="none" spc="0" normalizeH="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k</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1" i="0" u="none" strike="noStrike" kern="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或是</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(v, v</a:t>
            </a:r>
            <a:r>
              <a:rPr kumimoji="0" lang="zh-CN" altLang="en-US" sz="2000" b="1" i="0" u="none" strike="noStrike" kern="0" cap="none" spc="0" normalizeH="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j</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 v</a:t>
            </a:r>
            <a:r>
              <a:rPr kumimoji="0" lang="zh-CN" altLang="en-US" sz="2000" b="1" i="0" u="none" strike="noStrike" kern="0" cap="none" spc="0" normalizeH="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k</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，即</a:t>
            </a:r>
            <a:r>
              <a:rPr kumimoji="0" lang="zh-CN" altLang="en-US" sz="2000" b="1" i="0" u="none" strike="noStrike" kern="0" cap="none" spc="0" normalizeH="0" baseline="0" noProof="0" dirty="0" smtClean="0">
                <a:ln>
                  <a:noFill/>
                </a:ln>
                <a:solidFill>
                  <a:srgbClr val="80008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每当求出一条从</a:t>
            </a:r>
            <a:r>
              <a:rPr kumimoji="0" lang="zh-CN" altLang="en-US" sz="2000" b="1" i="0" u="none" strike="noStrike" kern="0" cap="none" spc="0" normalizeH="0" baseline="0" noProof="0" dirty="0" smtClean="0">
                <a:ln>
                  <a:noFill/>
                </a:ln>
                <a:solidFill>
                  <a:srgbClr val="80008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v</a:t>
            </a:r>
            <a:r>
              <a:rPr kumimoji="0" lang="zh-CN" altLang="en-US" sz="2000" b="1" i="0" u="none" strike="noStrike" kern="0" cap="none" spc="0" normalizeH="0" noProof="0" dirty="0" smtClean="0">
                <a:ln>
                  <a:noFill/>
                </a:ln>
                <a:solidFill>
                  <a:srgbClr val="80008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0" lang="zh-CN" altLang="en-US" sz="2000" b="1" i="0" u="none" strike="noStrike" kern="0" cap="none" spc="0" normalizeH="0" baseline="0" noProof="0" dirty="0" smtClean="0">
                <a:ln>
                  <a:noFill/>
                </a:ln>
                <a:solidFill>
                  <a:srgbClr val="80008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到某个顶点的最短路径后，我们会用它来修正那些尚不是最短路径的路径</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；它的长度或是弧</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的权值，或是</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弧</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 </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a:t>
            </a:r>
            <a:r>
              <a:rPr kumimoji="0" lang="en-US" altLang="zh-CN" sz="2000" b="0" u="none" strike="noStrike" kern="0" cap="none" spc="0" normalizeH="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2000" b="0" i="0" u="none" strike="noStrike" kern="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en-US" sz="2000" b="0"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的权值。</a:t>
            </a:r>
            <a:endParaRPr kumimoji="0" lang="zh-CN" altLang="en-US" sz="2000" b="1" i="0" u="none" strike="noStrike" kern="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Dijkstra</a:t>
            </a:r>
            <a:r>
              <a:rPr lang="zh-CN" altLang="en-US" sz="3600" b="1" dirty="0" smtClean="0">
                <a:solidFill>
                  <a:schemeClr val="bg1"/>
                </a:solidFill>
                <a:latin typeface="微软雅黑" panose="020B0503020204020204" pitchFamily="34" charset="-122"/>
                <a:ea typeface="微软雅黑" panose="020B0503020204020204" pitchFamily="34" charset="-122"/>
              </a:rPr>
              <a:t>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4147" name="内容占位符 2"/>
          <p:cNvSpPr>
            <a:spLocks noGrp="1"/>
          </p:cNvSpPr>
          <p:nvPr>
            <p:ph idx="1"/>
          </p:nvPr>
        </p:nvSpPr>
        <p:spPr>
          <a:xfrm>
            <a:off x="367665" y="1058545"/>
            <a:ext cx="10515600" cy="4351655"/>
          </a:xfrm>
        </p:spPr>
        <p:txBody>
          <a:bodyPr vert="horz" wrap="square" lIns="91440" tIns="45720" rIns="91440" bIns="45720" anchor="t"/>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再设一个集合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用于存放当前已找出的各条最短路径的终点，即若</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   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，则表示源点到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v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的最短路径已被求出。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下一条长度次最短路径长度必是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D[j]=Min{ D[i]|vi   V-S}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或是弧</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&lt;v, vi&gt;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的权值，或是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D[k](vk   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弧</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&lt;vk, vi&gt;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的权值。</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在具体实现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Dijkstra</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算法时，可设计一个结构体</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TableEntry</a:t>
            </a:r>
            <a:endPar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4151" name="Rectangle 4"/>
          <p:cNvSpPr txBox="1"/>
          <p:nvPr/>
        </p:nvSpPr>
        <p:spPr>
          <a:xfrm>
            <a:off x="1670685" y="3737610"/>
            <a:ext cx="8229600" cy="2209800"/>
          </a:xfrm>
          <a:prstGeom prst="rect">
            <a:avLst/>
          </a:prstGeom>
          <a:solidFill>
            <a:schemeClr val="accent1">
              <a:lumMod val="20000"/>
              <a:lumOff val="80000"/>
            </a:schemeClr>
          </a:solidFill>
          <a:ln w="3175" cap="flat" cmpd="sng">
            <a:solidFill>
              <a:schemeClr val="tx2"/>
            </a:solidFill>
            <a:prstDash val="solid"/>
            <a:miter/>
            <a:headEnd type="none" w="med" len="med"/>
            <a:tailEnd type="none" w="med" len="med"/>
          </a:ln>
        </p:spPr>
        <p:txBody>
          <a:bodyPr wrap="none" lIns="90000" tIns="46800" rIns="90000" bIns="4680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struct TableEntry</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    bool known;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标识该顶点是否已经在集合</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    int dist;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//是源点到该顶点的最短路径长度</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    int preVertex;   </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//该顶点的前驱路径的终点编号</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marL="342900" lvl="0" indent="-342900">
              <a:buNone/>
            </a:pPr>
            <a:r>
              <a:rPr lang="en-US" altLang="zh-CN" sz="1800" b="1" dirty="0">
                <a:solidFill>
                  <a:srgbClr val="000066"/>
                </a:solidFill>
                <a:latin typeface="Consolas" panose="020B0609020204030204" pitchFamily="49" charset="0"/>
              </a:rPr>
              <a:t>        </a:t>
            </a:r>
            <a:endParaRPr lang="zh-CN" altLang="en-US" sz="1800" b="1" dirty="0">
              <a:solidFill>
                <a:srgbClr val="000066"/>
              </a:solidFill>
              <a:latin typeface="Consolas" panose="020B0609020204030204" pitchFamily="49" charset="0"/>
            </a:endParaRPr>
          </a:p>
        </p:txBody>
      </p:sp>
      <p:pic>
        <p:nvPicPr>
          <p:cNvPr id="134148" name="Picture 4"/>
          <p:cNvPicPr>
            <a:picLocks noChangeAspect="1"/>
          </p:cNvPicPr>
          <p:nvPr/>
        </p:nvPicPr>
        <p:blipFill>
          <a:blip r:embed="rId1"/>
          <a:stretch>
            <a:fillRect/>
          </a:stretch>
        </p:blipFill>
        <p:spPr>
          <a:xfrm>
            <a:off x="8079105" y="1207770"/>
            <a:ext cx="304800" cy="304800"/>
          </a:xfrm>
          <a:prstGeom prst="rect">
            <a:avLst/>
          </a:prstGeom>
          <a:noFill/>
          <a:ln w="3175">
            <a:noFill/>
          </a:ln>
        </p:spPr>
      </p:pic>
      <p:pic>
        <p:nvPicPr>
          <p:cNvPr id="2" name="Picture 4"/>
          <p:cNvPicPr>
            <a:picLocks noChangeAspect="1"/>
          </p:cNvPicPr>
          <p:nvPr/>
        </p:nvPicPr>
        <p:blipFill>
          <a:blip r:embed="rId1"/>
          <a:stretch>
            <a:fillRect/>
          </a:stretch>
        </p:blipFill>
        <p:spPr>
          <a:xfrm>
            <a:off x="6118225" y="2092325"/>
            <a:ext cx="304800" cy="304800"/>
          </a:xfrm>
          <a:prstGeom prst="rect">
            <a:avLst/>
          </a:prstGeom>
          <a:noFill/>
          <a:ln w="3175">
            <a:noFill/>
          </a:ln>
        </p:spPr>
      </p:pic>
      <p:pic>
        <p:nvPicPr>
          <p:cNvPr id="6" name="Picture 4"/>
          <p:cNvPicPr>
            <a:picLocks noChangeAspect="1"/>
          </p:cNvPicPr>
          <p:nvPr/>
        </p:nvPicPr>
        <p:blipFill>
          <a:blip r:embed="rId1"/>
          <a:stretch>
            <a:fillRect/>
          </a:stretch>
        </p:blipFill>
        <p:spPr>
          <a:xfrm>
            <a:off x="1964690" y="2468245"/>
            <a:ext cx="304800" cy="304800"/>
          </a:xfrm>
          <a:prstGeom prst="rect">
            <a:avLst/>
          </a:prstGeom>
          <a:noFill/>
          <a:ln w="3175">
            <a:noFill/>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1022223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5172" name="Text Box 25"/>
          <p:cNvSpPr txBox="1"/>
          <p:nvPr/>
        </p:nvSpPr>
        <p:spPr>
          <a:xfrm>
            <a:off x="252095" y="1058545"/>
            <a:ext cx="441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90000"/>
              </a:lnSpc>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⑴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写出该有向网的邻接矩阵</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35171" name="Group 3"/>
          <p:cNvGrpSpPr/>
          <p:nvPr/>
        </p:nvGrpSpPr>
        <p:grpSpPr>
          <a:xfrm>
            <a:off x="1589405" y="1797050"/>
            <a:ext cx="2789555" cy="2223770"/>
            <a:chOff x="4032" y="576"/>
            <a:chExt cx="1468" cy="1401"/>
          </a:xfrm>
        </p:grpSpPr>
        <p:sp>
          <p:nvSpPr>
            <p:cNvPr id="135216" name="Oval 4"/>
            <p:cNvSpPr/>
            <p:nvPr/>
          </p:nvSpPr>
          <p:spPr>
            <a:xfrm>
              <a:off x="4080" y="9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0</a:t>
              </a:r>
              <a:endParaRPr lang="en-US" altLang="zh-CN" b="1" baseline="-25000" dirty="0">
                <a:solidFill>
                  <a:srgbClr val="0000CC"/>
                </a:solidFill>
                <a:latin typeface="Consolas" panose="020B0609020204030204" pitchFamily="49" charset="0"/>
              </a:endParaRPr>
            </a:p>
          </p:txBody>
        </p:sp>
        <p:sp>
          <p:nvSpPr>
            <p:cNvPr id="135217" name="Oval 5"/>
            <p:cNvSpPr/>
            <p:nvPr/>
          </p:nvSpPr>
          <p:spPr>
            <a:xfrm>
              <a:off x="4656" y="576"/>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5</a:t>
              </a:r>
              <a:endParaRPr lang="en-US" altLang="zh-CN" b="1" baseline="-25000" dirty="0">
                <a:solidFill>
                  <a:srgbClr val="0000CC"/>
                </a:solidFill>
                <a:latin typeface="Consolas" panose="020B0609020204030204" pitchFamily="49" charset="0"/>
              </a:endParaRPr>
            </a:p>
          </p:txBody>
        </p:sp>
        <p:sp>
          <p:nvSpPr>
            <p:cNvPr id="135218" name="Oval 6"/>
            <p:cNvSpPr/>
            <p:nvPr/>
          </p:nvSpPr>
          <p:spPr>
            <a:xfrm>
              <a:off x="4032" y="134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1</a:t>
              </a:r>
              <a:endParaRPr lang="en-US" altLang="zh-CN" b="1" baseline="-25000" dirty="0">
                <a:solidFill>
                  <a:srgbClr val="0000CC"/>
                </a:solidFill>
                <a:latin typeface="Consolas" panose="020B0609020204030204" pitchFamily="49" charset="0"/>
              </a:endParaRPr>
            </a:p>
          </p:txBody>
        </p:sp>
        <p:sp>
          <p:nvSpPr>
            <p:cNvPr id="135219" name="Oval 7"/>
            <p:cNvSpPr/>
            <p:nvPr/>
          </p:nvSpPr>
          <p:spPr>
            <a:xfrm>
              <a:off x="4560" y="16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2</a:t>
              </a:r>
              <a:endParaRPr lang="en-US" altLang="zh-CN" b="1" baseline="-25000" dirty="0">
                <a:solidFill>
                  <a:srgbClr val="0000CC"/>
                </a:solidFill>
                <a:latin typeface="Consolas" panose="020B0609020204030204" pitchFamily="49" charset="0"/>
              </a:endParaRPr>
            </a:p>
          </p:txBody>
        </p:sp>
        <p:sp>
          <p:nvSpPr>
            <p:cNvPr id="135220" name="Oval 8"/>
            <p:cNvSpPr/>
            <p:nvPr/>
          </p:nvSpPr>
          <p:spPr>
            <a:xfrm>
              <a:off x="5184" y="9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4</a:t>
              </a:r>
              <a:endParaRPr lang="en-US" altLang="zh-CN" b="1" baseline="-25000" dirty="0">
                <a:solidFill>
                  <a:srgbClr val="0000CC"/>
                </a:solidFill>
                <a:latin typeface="Consolas" panose="020B0609020204030204" pitchFamily="49" charset="0"/>
              </a:endParaRPr>
            </a:p>
          </p:txBody>
        </p:sp>
        <p:sp>
          <p:nvSpPr>
            <p:cNvPr id="135221" name="Oval 9"/>
            <p:cNvSpPr/>
            <p:nvPr/>
          </p:nvSpPr>
          <p:spPr>
            <a:xfrm>
              <a:off x="5184" y="144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3</a:t>
              </a:r>
              <a:endParaRPr lang="en-US" altLang="zh-CN" b="1" baseline="-25000" dirty="0">
                <a:solidFill>
                  <a:srgbClr val="0000CC"/>
                </a:solidFill>
                <a:latin typeface="Consolas" panose="020B0609020204030204" pitchFamily="49" charset="0"/>
              </a:endParaRPr>
            </a:p>
          </p:txBody>
        </p:sp>
        <p:sp>
          <p:nvSpPr>
            <p:cNvPr id="135222" name="Line 10"/>
            <p:cNvSpPr/>
            <p:nvPr/>
          </p:nvSpPr>
          <p:spPr>
            <a:xfrm flipV="1">
              <a:off x="4368" y="768"/>
              <a:ext cx="288" cy="192"/>
            </a:xfrm>
            <a:prstGeom prst="line">
              <a:avLst/>
            </a:prstGeom>
            <a:ln w="28575" cap="flat" cmpd="sng">
              <a:solidFill>
                <a:srgbClr val="000000"/>
              </a:solidFill>
              <a:prstDash val="solid"/>
              <a:headEnd type="none" w="med" len="med"/>
              <a:tailEnd type="arrow" w="med" len="med"/>
            </a:ln>
          </p:spPr>
        </p:sp>
        <p:sp>
          <p:nvSpPr>
            <p:cNvPr id="135223" name="Line 11"/>
            <p:cNvSpPr/>
            <p:nvPr/>
          </p:nvSpPr>
          <p:spPr>
            <a:xfrm>
              <a:off x="4320" y="1584"/>
              <a:ext cx="240" cy="192"/>
            </a:xfrm>
            <a:prstGeom prst="line">
              <a:avLst/>
            </a:prstGeom>
            <a:ln w="28575" cap="flat" cmpd="sng">
              <a:solidFill>
                <a:srgbClr val="000000"/>
              </a:solidFill>
              <a:prstDash val="solid"/>
              <a:headEnd type="none" w="med" len="med"/>
              <a:tailEnd type="arrow" w="med" len="med"/>
            </a:ln>
          </p:spPr>
        </p:sp>
        <p:sp>
          <p:nvSpPr>
            <p:cNvPr id="135224" name="Line 12"/>
            <p:cNvSpPr/>
            <p:nvPr/>
          </p:nvSpPr>
          <p:spPr>
            <a:xfrm>
              <a:off x="4368" y="1152"/>
              <a:ext cx="288" cy="528"/>
            </a:xfrm>
            <a:prstGeom prst="line">
              <a:avLst/>
            </a:prstGeom>
            <a:ln w="28575" cap="flat" cmpd="sng">
              <a:solidFill>
                <a:srgbClr val="000000"/>
              </a:solidFill>
              <a:prstDash val="solid"/>
              <a:headEnd type="none" w="med" len="med"/>
              <a:tailEnd type="arrow" w="med" len="med"/>
            </a:ln>
          </p:spPr>
        </p:sp>
        <p:sp>
          <p:nvSpPr>
            <p:cNvPr id="135225" name="Line 13"/>
            <p:cNvSpPr/>
            <p:nvPr/>
          </p:nvSpPr>
          <p:spPr>
            <a:xfrm>
              <a:off x="4416" y="1056"/>
              <a:ext cx="768" cy="0"/>
            </a:xfrm>
            <a:prstGeom prst="line">
              <a:avLst/>
            </a:prstGeom>
            <a:ln w="28575" cap="flat" cmpd="sng">
              <a:solidFill>
                <a:srgbClr val="000000"/>
              </a:solidFill>
              <a:prstDash val="solid"/>
              <a:headEnd type="none" w="med" len="med"/>
              <a:tailEnd type="arrow" w="med" len="med"/>
            </a:ln>
          </p:spPr>
        </p:sp>
        <p:sp>
          <p:nvSpPr>
            <p:cNvPr id="135226" name="Line 14"/>
            <p:cNvSpPr/>
            <p:nvPr/>
          </p:nvSpPr>
          <p:spPr>
            <a:xfrm flipH="1" flipV="1">
              <a:off x="4992" y="768"/>
              <a:ext cx="240" cy="192"/>
            </a:xfrm>
            <a:prstGeom prst="line">
              <a:avLst/>
            </a:prstGeom>
            <a:ln w="28575" cap="flat" cmpd="sng">
              <a:solidFill>
                <a:srgbClr val="000000"/>
              </a:solidFill>
              <a:prstDash val="solid"/>
              <a:headEnd type="none" w="med" len="med"/>
              <a:tailEnd type="arrow" w="med" len="med"/>
            </a:ln>
          </p:spPr>
        </p:sp>
        <p:sp>
          <p:nvSpPr>
            <p:cNvPr id="135227" name="Line 15"/>
            <p:cNvSpPr/>
            <p:nvPr/>
          </p:nvSpPr>
          <p:spPr>
            <a:xfrm flipH="1" flipV="1">
              <a:off x="4896" y="864"/>
              <a:ext cx="336" cy="624"/>
            </a:xfrm>
            <a:prstGeom prst="line">
              <a:avLst/>
            </a:prstGeom>
            <a:ln w="28575" cap="flat" cmpd="sng">
              <a:solidFill>
                <a:srgbClr val="000000"/>
              </a:solidFill>
              <a:prstDash val="solid"/>
              <a:headEnd type="none" w="med" len="med"/>
              <a:tailEnd type="arrow" w="med" len="med"/>
            </a:ln>
          </p:spPr>
        </p:sp>
        <p:sp>
          <p:nvSpPr>
            <p:cNvPr id="135228" name="Line 16"/>
            <p:cNvSpPr/>
            <p:nvPr/>
          </p:nvSpPr>
          <p:spPr>
            <a:xfrm flipV="1">
              <a:off x="4896" y="1632"/>
              <a:ext cx="288" cy="144"/>
            </a:xfrm>
            <a:prstGeom prst="line">
              <a:avLst/>
            </a:prstGeom>
            <a:ln w="28575" cap="flat" cmpd="sng">
              <a:solidFill>
                <a:srgbClr val="000000"/>
              </a:solidFill>
              <a:prstDash val="solid"/>
              <a:headEnd type="none" w="med" len="med"/>
              <a:tailEnd type="arrow" w="med" len="med"/>
            </a:ln>
          </p:spPr>
        </p:sp>
        <p:sp>
          <p:nvSpPr>
            <p:cNvPr id="135229" name="Line 17"/>
            <p:cNvSpPr/>
            <p:nvPr/>
          </p:nvSpPr>
          <p:spPr>
            <a:xfrm>
              <a:off x="5328" y="1200"/>
              <a:ext cx="0" cy="240"/>
            </a:xfrm>
            <a:prstGeom prst="line">
              <a:avLst/>
            </a:prstGeom>
            <a:ln w="28575" cap="flat" cmpd="sng">
              <a:solidFill>
                <a:srgbClr val="000000"/>
              </a:solidFill>
              <a:prstDash val="solid"/>
              <a:headEnd type="none" w="med" len="med"/>
              <a:tailEnd type="arrow" w="med" len="med"/>
            </a:ln>
          </p:spPr>
        </p:sp>
        <p:sp>
          <p:nvSpPr>
            <p:cNvPr id="135230" name="Text Box 18"/>
            <p:cNvSpPr txBox="1"/>
            <p:nvPr/>
          </p:nvSpPr>
          <p:spPr>
            <a:xfrm rot="-1783855">
              <a:off x="4272" y="624"/>
              <a:ext cx="384"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1" name="Text Box 19"/>
            <p:cNvSpPr txBox="1"/>
            <p:nvPr/>
          </p:nvSpPr>
          <p:spPr>
            <a:xfrm rot="2316979">
              <a:off x="5136" y="691"/>
              <a:ext cx="240"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60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2" name="Text Box 20"/>
            <p:cNvSpPr txBox="1"/>
            <p:nvPr/>
          </p:nvSpPr>
          <p:spPr>
            <a:xfrm>
              <a:off x="4556" y="835"/>
              <a:ext cx="292"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30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3" name="Text Box 21"/>
            <p:cNvSpPr txBox="1"/>
            <p:nvPr/>
          </p:nvSpPr>
          <p:spPr>
            <a:xfrm>
              <a:off x="4892" y="1171"/>
              <a:ext cx="244"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4" name="Text Box 22"/>
            <p:cNvSpPr txBox="1"/>
            <p:nvPr/>
          </p:nvSpPr>
          <p:spPr>
            <a:xfrm>
              <a:off x="4460" y="1171"/>
              <a:ext cx="244"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5" name="Text Box 23"/>
            <p:cNvSpPr txBox="1"/>
            <p:nvPr/>
          </p:nvSpPr>
          <p:spPr>
            <a:xfrm>
              <a:off x="4320" y="1603"/>
              <a:ext cx="144"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5</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35236" name="Text Box 24"/>
            <p:cNvSpPr txBox="1"/>
            <p:nvPr/>
          </p:nvSpPr>
          <p:spPr>
            <a:xfrm>
              <a:off x="4848" y="1507"/>
              <a:ext cx="244" cy="269"/>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50</a:t>
              </a:r>
              <a:endParaRPr lang="en-US" altLang="zh-CN" sz="2200" b="1" dirty="0">
                <a:solidFill>
                  <a:srgbClr val="800080"/>
                </a:solidFill>
                <a:latin typeface="Arial" panose="020B0604020202020204" pitchFamily="34" charset="0"/>
                <a:ea typeface="宋体" panose="02010600030101010101" pitchFamily="2" charset="-122"/>
              </a:endParaRPr>
            </a:p>
          </p:txBody>
        </p:sp>
      </p:grpSp>
      <p:grpSp>
        <p:nvGrpSpPr>
          <p:cNvPr id="149531" name="Group 27"/>
          <p:cNvGrpSpPr/>
          <p:nvPr/>
        </p:nvGrpSpPr>
        <p:grpSpPr>
          <a:xfrm>
            <a:off x="6755765" y="1034415"/>
            <a:ext cx="3721100" cy="2971800"/>
            <a:chOff x="1488" y="672"/>
            <a:chExt cx="2344" cy="1872"/>
          </a:xfrm>
        </p:grpSpPr>
        <p:graphicFrame>
          <p:nvGraphicFramePr>
            <p:cNvPr id="135203" name="Object 28"/>
            <p:cNvGraphicFramePr>
              <a:graphicFrameLocks noChangeAspect="1"/>
            </p:cNvGraphicFramePr>
            <p:nvPr/>
          </p:nvGraphicFramePr>
          <p:xfrm>
            <a:off x="1735" y="919"/>
            <a:ext cx="2097" cy="1623"/>
          </p:xfrm>
          <a:graphic>
            <a:graphicData uri="http://schemas.openxmlformats.org/presentationml/2006/ole">
              <mc:AlternateContent xmlns:mc="http://schemas.openxmlformats.org/markup-compatibility/2006">
                <mc:Choice xmlns:v="urn:schemas-microsoft-com:vml" Requires="v">
                  <p:oleObj spid="_x0000_s3079" name="" r:id="rId1" imgW="1765300" imgH="1371600" progId="Equation.3">
                    <p:embed/>
                  </p:oleObj>
                </mc:Choice>
                <mc:Fallback>
                  <p:oleObj name="" r:id="rId1" imgW="1765300" imgH="1371600" progId="Equation.3">
                    <p:embed/>
                    <p:pic>
                      <p:nvPicPr>
                        <p:cNvPr id="0" name="图片 3078"/>
                        <p:cNvPicPr/>
                        <p:nvPr/>
                      </p:nvPicPr>
                      <p:blipFill>
                        <a:blip r:embed="rId2"/>
                        <a:stretch>
                          <a:fillRect/>
                        </a:stretch>
                      </p:blipFill>
                      <p:spPr>
                        <a:xfrm>
                          <a:off x="1735" y="919"/>
                          <a:ext cx="2097" cy="1623"/>
                        </a:xfrm>
                        <a:prstGeom prst="rect">
                          <a:avLst/>
                        </a:prstGeom>
                        <a:noFill/>
                        <a:ln w="38100">
                          <a:noFill/>
                          <a:miter/>
                        </a:ln>
                      </p:spPr>
                    </p:pic>
                  </p:oleObj>
                </mc:Fallback>
              </mc:AlternateContent>
            </a:graphicData>
          </a:graphic>
        </p:graphicFrame>
        <p:sp>
          <p:nvSpPr>
            <p:cNvPr id="135204" name="Text Box 29"/>
            <p:cNvSpPr txBox="1"/>
            <p:nvPr/>
          </p:nvSpPr>
          <p:spPr>
            <a:xfrm>
              <a:off x="1488" y="91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0</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05" name="Text Box 30"/>
            <p:cNvSpPr txBox="1"/>
            <p:nvPr/>
          </p:nvSpPr>
          <p:spPr>
            <a:xfrm>
              <a:off x="182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0</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06" name="Text Box 31"/>
            <p:cNvSpPr txBox="1"/>
            <p:nvPr/>
          </p:nvSpPr>
          <p:spPr>
            <a:xfrm>
              <a:off x="2112"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1</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07" name="Text Box 32"/>
            <p:cNvSpPr txBox="1"/>
            <p:nvPr/>
          </p:nvSpPr>
          <p:spPr>
            <a:xfrm>
              <a:off x="2448"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2</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08" name="Text Box 33"/>
            <p:cNvSpPr txBox="1"/>
            <p:nvPr/>
          </p:nvSpPr>
          <p:spPr>
            <a:xfrm>
              <a:off x="1488" y="115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1</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09" name="Text Box 34"/>
            <p:cNvSpPr txBox="1"/>
            <p:nvPr/>
          </p:nvSpPr>
          <p:spPr>
            <a:xfrm>
              <a:off x="278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3</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0" name="Text Box 35"/>
            <p:cNvSpPr txBox="1"/>
            <p:nvPr/>
          </p:nvSpPr>
          <p:spPr>
            <a:xfrm>
              <a:off x="3120"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4</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1" name="Text Box 36"/>
            <p:cNvSpPr txBox="1"/>
            <p:nvPr/>
          </p:nvSpPr>
          <p:spPr>
            <a:xfrm>
              <a:off x="350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5</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2" name="Text Box 37"/>
            <p:cNvSpPr txBox="1"/>
            <p:nvPr/>
          </p:nvSpPr>
          <p:spPr>
            <a:xfrm>
              <a:off x="1488" y="1440"/>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2</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3" name="Text Box 38"/>
            <p:cNvSpPr txBox="1"/>
            <p:nvPr/>
          </p:nvSpPr>
          <p:spPr>
            <a:xfrm>
              <a:off x="1488" y="1728"/>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3</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4" name="Text Box 39"/>
            <p:cNvSpPr txBox="1"/>
            <p:nvPr/>
          </p:nvSpPr>
          <p:spPr>
            <a:xfrm>
              <a:off x="1488" y="1968"/>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4</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35215" name="Text Box 40"/>
            <p:cNvSpPr txBox="1"/>
            <p:nvPr/>
          </p:nvSpPr>
          <p:spPr>
            <a:xfrm>
              <a:off x="1488" y="2256"/>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5</a:t>
              </a:r>
              <a:endParaRPr lang="en-US" altLang="zh-CN" b="1" baseline="-25000" dirty="0">
                <a:solidFill>
                  <a:srgbClr val="FF0000"/>
                </a:solidFill>
                <a:latin typeface="Arial" panose="020B0604020202020204" pitchFamily="34" charset="0"/>
                <a:ea typeface="宋体" panose="02010600030101010101" pitchFamily="2" charset="-122"/>
              </a:endParaRPr>
            </a:p>
          </p:txBody>
        </p:sp>
      </p:grpSp>
      <p:sp>
        <p:nvSpPr>
          <p:cNvPr id="149545" name="Text Box 41"/>
          <p:cNvSpPr txBox="1"/>
          <p:nvPr/>
        </p:nvSpPr>
        <p:spPr>
          <a:xfrm>
            <a:off x="877570" y="4403725"/>
            <a:ext cx="10436860"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l" eaLnBrk="1" hangingPunct="1">
              <a:lnSpc>
                <a:spcPct val="90000"/>
              </a:lnSpc>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⑵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由邻接矩阵可知，</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有弧，所以有路径；但是</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尚无路径。</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49546" name="Group 42"/>
          <p:cNvGraphicFramePr>
            <a:graphicFrameLocks noGrp="1"/>
          </p:cNvGraphicFramePr>
          <p:nvPr>
            <p:custDataLst>
              <p:tags r:id="rId3"/>
            </p:custDataLst>
          </p:nvPr>
        </p:nvGraphicFramePr>
        <p:xfrm>
          <a:off x="1802765" y="4918710"/>
          <a:ext cx="8153400" cy="1371600"/>
        </p:xfrm>
        <a:graphic>
          <a:graphicData uri="http://schemas.openxmlformats.org/drawingml/2006/table">
            <a:tbl>
              <a:tblPr/>
              <a:tblGrid>
                <a:gridCol w="2051050"/>
                <a:gridCol w="1220788"/>
                <a:gridCol w="1220470"/>
                <a:gridCol w="1221105"/>
                <a:gridCol w="1219200"/>
                <a:gridCol w="1220787"/>
              </a:tblGrid>
              <a:tr h="457200">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2</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5</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当前路径长度</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20663">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9531"/>
                                        </p:tgtEl>
                                        <p:attrNameLst>
                                          <p:attrName>style.visibility</p:attrName>
                                        </p:attrNameLst>
                                      </p:cBhvr>
                                      <p:to>
                                        <p:strVal val="visible"/>
                                      </p:to>
                                    </p:set>
                                    <p:animEffect transition="in" filter="wipe(left)">
                                      <p:cBhvr>
                                        <p:cTn id="7" dur="1000"/>
                                        <p:tgtEl>
                                          <p:spTgt spid="149531"/>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49545"/>
                                        </p:tgtEl>
                                        <p:attrNameLst>
                                          <p:attrName>style.visibility</p:attrName>
                                        </p:attrNameLst>
                                      </p:cBhvr>
                                      <p:to>
                                        <p:strVal val="visible"/>
                                      </p:to>
                                    </p:set>
                                    <p:animEffect transition="in" filter="slide(fromBottom)">
                                      <p:cBhvr>
                                        <p:cTn id="11" dur="500"/>
                                        <p:tgtEl>
                                          <p:spTgt spid="149545"/>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149546"/>
                                        </p:tgtEl>
                                        <p:attrNameLst>
                                          <p:attrName>style.visibility</p:attrName>
                                        </p:attrNameLst>
                                      </p:cBhvr>
                                      <p:to>
                                        <p:strVal val="visible"/>
                                      </p:to>
                                    </p:set>
                                    <p:animEffect transition="in" filter="wipe(left)">
                                      <p:cBhvr>
                                        <p:cTn id="15" dur="1000"/>
                                        <p:tgtEl>
                                          <p:spTgt spid="149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4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10222230" cy="645160"/>
          </a:xfrm>
          <a:prstGeom prst="rect">
            <a:avLst/>
          </a:prstGeom>
          <a:noFill/>
        </p:spPr>
        <p:txBody>
          <a:bodyPr wrap="square" rtlCol="0">
            <a:spAutoFit/>
          </a:bodyPr>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6223" name="Text Box 42"/>
          <p:cNvSpPr txBox="1"/>
          <p:nvPr/>
        </p:nvSpPr>
        <p:spPr>
          <a:xfrm>
            <a:off x="410845" y="1020445"/>
            <a:ext cx="10739755" cy="8604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⑶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从这些路径中选取长度最小的路径，可以证明，这就是第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短的最短路径。因此，</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短的最短路径，其终点是</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0532" name="Group 4"/>
          <p:cNvGraphicFramePr>
            <a:graphicFrameLocks noGrp="1"/>
          </p:cNvGraphicFramePr>
          <p:nvPr>
            <p:custDataLst>
              <p:tags r:id="rId1"/>
            </p:custDataLst>
          </p:nvPr>
        </p:nvGraphicFramePr>
        <p:xfrm>
          <a:off x="2019300" y="2618740"/>
          <a:ext cx="8153400" cy="1371600"/>
        </p:xfrm>
        <a:graphic>
          <a:graphicData uri="http://schemas.openxmlformats.org/drawingml/2006/table">
            <a:tbl>
              <a:tblPr/>
              <a:tblGrid>
                <a:gridCol w="2051050"/>
                <a:gridCol w="1220788"/>
                <a:gridCol w="1220787"/>
                <a:gridCol w="1220788"/>
                <a:gridCol w="1219200"/>
                <a:gridCol w="1220787"/>
              </a:tblGrid>
              <a:tr h="457200">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2</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5</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当前路径长度</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20663">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0571" name="Text Box 43"/>
          <p:cNvSpPr txBox="1"/>
          <p:nvPr/>
        </p:nvSpPr>
        <p:spPr>
          <a:xfrm>
            <a:off x="410845" y="2033270"/>
            <a:ext cx="84582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90000"/>
              </a:lnSpc>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⑷</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利用刚刚求出的最短路径</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修正那些尚不是最短路径的路径。</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0573" name="Rectangle 45"/>
          <p:cNvSpPr/>
          <p:nvPr/>
        </p:nvSpPr>
        <p:spPr>
          <a:xfrm>
            <a:off x="5278120" y="307594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pic>
        <p:nvPicPr>
          <p:cNvPr id="69705" name="Picture 73"/>
          <p:cNvPicPr>
            <a:picLocks noChangeAspect="1"/>
          </p:cNvPicPr>
          <p:nvPr/>
        </p:nvPicPr>
        <p:blipFill>
          <a:blip r:embed="rId2"/>
          <a:stretch>
            <a:fillRect/>
          </a:stretch>
        </p:blipFill>
        <p:spPr>
          <a:xfrm>
            <a:off x="532130" y="374650"/>
            <a:ext cx="3402330" cy="2503170"/>
          </a:xfrm>
          <a:prstGeom prst="rect">
            <a:avLst/>
          </a:prstGeom>
          <a:noFill/>
          <a:ln w="9525">
            <a:noFill/>
          </a:ln>
        </p:spPr>
      </p:pic>
      <p:graphicFrame>
        <p:nvGraphicFramePr>
          <p:cNvPr id="150574" name="Group 46"/>
          <p:cNvGraphicFramePr>
            <a:graphicFrameLocks noGrp="1"/>
          </p:cNvGraphicFramePr>
          <p:nvPr>
            <p:custDataLst>
              <p:tags r:id="rId3"/>
            </p:custDataLst>
          </p:nvPr>
        </p:nvGraphicFramePr>
        <p:xfrm>
          <a:off x="2019300" y="399034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0598" name="Text Box 70"/>
          <p:cNvSpPr txBox="1"/>
          <p:nvPr/>
        </p:nvSpPr>
        <p:spPr>
          <a:xfrm>
            <a:off x="4457700" y="391414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50599" name="Text Box 71"/>
          <p:cNvSpPr txBox="1"/>
          <p:nvPr/>
        </p:nvSpPr>
        <p:spPr>
          <a:xfrm>
            <a:off x="6438900" y="3990340"/>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60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2</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0600" name="Group 72"/>
          <p:cNvGraphicFramePr>
            <a:graphicFrameLocks noGrp="1"/>
          </p:cNvGraphicFramePr>
          <p:nvPr/>
        </p:nvGraphicFramePr>
        <p:xfrm>
          <a:off x="7734300" y="3990340"/>
          <a:ext cx="1219200" cy="914400"/>
        </p:xfrm>
        <a:graphic>
          <a:graphicData uri="http://schemas.openxmlformats.org/drawingml/2006/table">
            <a:tbl>
              <a:tblPr/>
              <a:tblGrid>
                <a:gridCol w="1219200"/>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50607" name="Group 79"/>
          <p:cNvGraphicFramePr>
            <a:graphicFrameLocks noGrp="1"/>
          </p:cNvGraphicFramePr>
          <p:nvPr/>
        </p:nvGraphicFramePr>
        <p:xfrm>
          <a:off x="8952230" y="3990340"/>
          <a:ext cx="1220787" cy="916305"/>
        </p:xfrm>
        <a:graphic>
          <a:graphicData uri="http://schemas.openxmlformats.org/drawingml/2006/table">
            <a:tbl>
              <a:tblPr/>
              <a:tblGrid>
                <a:gridCol w="1220787"/>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0572" name="Text Box 44"/>
          <p:cNvSpPr txBox="1"/>
          <p:nvPr/>
        </p:nvSpPr>
        <p:spPr>
          <a:xfrm>
            <a:off x="532130" y="5064760"/>
            <a:ext cx="1061910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Clr>
                <a:srgbClr val="000000"/>
              </a:buClr>
              <a:buSzPct val="80000"/>
              <a:buFont typeface="Wingdings" panose="05000000000000000000" pitchFamily="2" charset="2"/>
              <a:buChar char="Ø"/>
            </a:pP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对于目前尚无路径的顶点，看看经过终点是</a:t>
            </a:r>
            <a:r>
              <a:rPr lang="en-US" altLang="zh-CN"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1" baseline="-250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的最短路径能否到达这些顶点。</a:t>
            </a:r>
            <a:r>
              <a:rPr lang="zh-CN" altLang="en-US" sz="2200" b="1" dirty="0">
                <a:solidFill>
                  <a:srgbClr val="800080"/>
                </a:solidFill>
                <a:latin typeface="Arial" panose="020B0604020202020204" pitchFamily="34" charset="0"/>
                <a:ea typeface="宋体" panose="02010600030101010101" pitchFamily="2" charset="-122"/>
              </a:rPr>
              <a:t> </a:t>
            </a:r>
            <a:endParaRPr lang="zh-CN" altLang="en-US" sz="2200" b="1" dirty="0">
              <a:solidFill>
                <a:srgbClr val="800080"/>
              </a:solidFill>
              <a:latin typeface="Arial" panose="020B0604020202020204" pitchFamily="34" charset="0"/>
              <a:ea typeface="宋体" panose="02010600030101010101" pitchFamily="2" charset="-122"/>
            </a:endParaRPr>
          </a:p>
        </p:txBody>
      </p:sp>
      <p:sp>
        <p:nvSpPr>
          <p:cNvPr id="150597" name="Text Box 69"/>
          <p:cNvSpPr txBox="1"/>
          <p:nvPr/>
        </p:nvSpPr>
        <p:spPr>
          <a:xfrm>
            <a:off x="535940" y="5629910"/>
            <a:ext cx="1057973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Clr>
                <a:srgbClr val="000000"/>
              </a:buClr>
              <a:buSzPct val="80000"/>
              <a:buFont typeface="Wingdings" panose="05000000000000000000" pitchFamily="2" charset="2"/>
              <a:buChar char="Ø"/>
            </a:pP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对于有路径的顶点，看经过终点是</a:t>
            </a:r>
            <a:r>
              <a:rPr lang="en-US" altLang="zh-CN"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1" baseline="-250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的最短路径有没有到达这些顶点更短的路径。</a:t>
            </a:r>
            <a:r>
              <a:rPr lang="zh-CN" altLang="en-US" sz="2200" b="1" dirty="0">
                <a:solidFill>
                  <a:srgbClr val="800080"/>
                </a:solidFill>
                <a:latin typeface="Arial" panose="020B0604020202020204" pitchFamily="34" charset="0"/>
                <a:ea typeface="宋体" panose="02010600030101010101" pitchFamily="2" charset="-122"/>
              </a:rPr>
              <a:t> </a:t>
            </a:r>
            <a:endParaRPr lang="zh-CN" altLang="en-US" sz="2200" b="1" dirty="0">
              <a:solidFill>
                <a:srgbClr val="80008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50573"/>
                                        </p:tgtEl>
                                        <p:attrNameLst>
                                          <p:attrName>style.visibility</p:attrName>
                                        </p:attrNameLst>
                                      </p:cBhvr>
                                      <p:to>
                                        <p:strVal val="visible"/>
                                      </p:to>
                                    </p:set>
                                    <p:anim calcmode="lin" valueType="num">
                                      <p:cBhvr>
                                        <p:cTn id="7" dur="500" fill="hold"/>
                                        <p:tgtEl>
                                          <p:spTgt spid="150573"/>
                                        </p:tgtEl>
                                        <p:attrNameLst>
                                          <p:attrName>ppt_w</p:attrName>
                                        </p:attrNameLst>
                                      </p:cBhvr>
                                      <p:tavLst>
                                        <p:tav tm="0">
                                          <p:val>
                                            <p:strVal val="4*#ppt_w"/>
                                          </p:val>
                                        </p:tav>
                                        <p:tav tm="100000">
                                          <p:val>
                                            <p:strVal val="#ppt_w"/>
                                          </p:val>
                                        </p:tav>
                                      </p:tavLst>
                                    </p:anim>
                                    <p:anim calcmode="lin" valueType="num">
                                      <p:cBhvr>
                                        <p:cTn id="8" dur="500" fill="hold"/>
                                        <p:tgtEl>
                                          <p:spTgt spid="150573"/>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50571"/>
                                        </p:tgtEl>
                                        <p:attrNameLst>
                                          <p:attrName>style.visibility</p:attrName>
                                        </p:attrNameLst>
                                      </p:cBhvr>
                                      <p:to>
                                        <p:strVal val="visible"/>
                                      </p:to>
                                    </p:set>
                                    <p:anim calcmode="lin" valueType="num">
                                      <p:cBhvr>
                                        <p:cTn id="13" dur="500" fill="hold"/>
                                        <p:tgtEl>
                                          <p:spTgt spid="150571"/>
                                        </p:tgtEl>
                                        <p:attrNameLst>
                                          <p:attrName>ppt_x</p:attrName>
                                        </p:attrNameLst>
                                      </p:cBhvr>
                                      <p:tavLst>
                                        <p:tav tm="0">
                                          <p:val>
                                            <p:strVal val="#ppt_x"/>
                                          </p:val>
                                        </p:tav>
                                        <p:tav tm="100000">
                                          <p:val>
                                            <p:strVal val="#ppt_x"/>
                                          </p:val>
                                        </p:tav>
                                      </p:tavLst>
                                    </p:anim>
                                    <p:anim calcmode="lin" valueType="num">
                                      <p:cBhvr>
                                        <p:cTn id="14" dur="500" fill="hold"/>
                                        <p:tgtEl>
                                          <p:spTgt spid="150571"/>
                                        </p:tgtEl>
                                        <p:attrNameLst>
                                          <p:attrName>ppt_y</p:attrName>
                                        </p:attrNameLst>
                                      </p:cBhvr>
                                      <p:tavLst>
                                        <p:tav tm="0">
                                          <p:val>
                                            <p:strVal val="#ppt_y-#ppt_h/2"/>
                                          </p:val>
                                        </p:tav>
                                        <p:tav tm="100000">
                                          <p:val>
                                            <p:strVal val="#ppt_y"/>
                                          </p:val>
                                        </p:tav>
                                      </p:tavLst>
                                    </p:anim>
                                    <p:anim calcmode="lin" valueType="num">
                                      <p:cBhvr>
                                        <p:cTn id="15" dur="500" fill="hold"/>
                                        <p:tgtEl>
                                          <p:spTgt spid="150571"/>
                                        </p:tgtEl>
                                        <p:attrNameLst>
                                          <p:attrName>ppt_w</p:attrName>
                                        </p:attrNameLst>
                                      </p:cBhvr>
                                      <p:tavLst>
                                        <p:tav tm="0">
                                          <p:val>
                                            <p:strVal val="#ppt_w"/>
                                          </p:val>
                                        </p:tav>
                                        <p:tav tm="100000">
                                          <p:val>
                                            <p:strVal val="#ppt_w"/>
                                          </p:val>
                                        </p:tav>
                                      </p:tavLst>
                                    </p:anim>
                                    <p:anim calcmode="lin" valueType="num">
                                      <p:cBhvr>
                                        <p:cTn id="16" dur="500" fill="hold"/>
                                        <p:tgtEl>
                                          <p:spTgt spid="150571"/>
                                        </p:tgtEl>
                                        <p:attrNameLst>
                                          <p:attrName>ppt_h</p:attrName>
                                        </p:attrNameLst>
                                      </p:cBhvr>
                                      <p:tavLst>
                                        <p:tav tm="0">
                                          <p:val>
                                            <p:fltVal val="0.00000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9705"/>
                                        </p:tgtEl>
                                        <p:attrNameLst>
                                          <p:attrName>style.visibility</p:attrName>
                                        </p:attrNameLst>
                                      </p:cBhvr>
                                      <p:to>
                                        <p:strVal val="visible"/>
                                      </p:to>
                                    </p:set>
                                    <p:anim calcmode="lin" valueType="num">
                                      <p:cBhvr additive="base">
                                        <p:cTn id="21" dur="500" fill="hold"/>
                                        <p:tgtEl>
                                          <p:spTgt spid="69705"/>
                                        </p:tgtEl>
                                        <p:attrNameLst>
                                          <p:attrName>ppt_x</p:attrName>
                                        </p:attrNameLst>
                                      </p:cBhvr>
                                      <p:tavLst>
                                        <p:tav tm="0">
                                          <p:val>
                                            <p:strVal val="#ppt_x"/>
                                          </p:val>
                                        </p:tav>
                                        <p:tav tm="100000">
                                          <p:val>
                                            <p:strVal val="#ppt_x"/>
                                          </p:val>
                                        </p:tav>
                                      </p:tavLst>
                                    </p:anim>
                                    <p:anim calcmode="lin" valueType="num">
                                      <p:cBhvr additive="base">
                                        <p:cTn id="22" dur="500" fill="hold"/>
                                        <p:tgtEl>
                                          <p:spTgt spid="69705"/>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12" presetClass="entr" presetSubtype="4" fill="hold" nodeType="afterEffect">
                                  <p:stCondLst>
                                    <p:cond delay="0"/>
                                  </p:stCondLst>
                                  <p:childTnLst>
                                    <p:set>
                                      <p:cBhvr>
                                        <p:cTn id="25" dur="1" fill="hold">
                                          <p:stCondLst>
                                            <p:cond delay="0"/>
                                          </p:stCondLst>
                                        </p:cTn>
                                        <p:tgtEl>
                                          <p:spTgt spid="150574"/>
                                        </p:tgtEl>
                                        <p:attrNameLst>
                                          <p:attrName>style.visibility</p:attrName>
                                        </p:attrNameLst>
                                      </p:cBhvr>
                                      <p:to>
                                        <p:strVal val="visible"/>
                                      </p:to>
                                    </p:set>
                                    <p:animEffect transition="in" filter="slide(fromBottom)">
                                      <p:cBhvr>
                                        <p:cTn id="26" dur="500"/>
                                        <p:tgtEl>
                                          <p:spTgt spid="150574"/>
                                        </p:tgtEl>
                                      </p:cBhvr>
                                    </p:animEffect>
                                  </p:childTnLst>
                                </p:cTn>
                              </p:par>
                            </p:childTnLst>
                          </p:cTn>
                        </p:par>
                        <p:par>
                          <p:cTn id="27" fill="hold">
                            <p:stCondLst>
                              <p:cond delay="1000"/>
                            </p:stCondLst>
                            <p:childTnLst>
                              <p:par>
                                <p:cTn id="28" presetID="2" presetClass="entr" presetSubtype="8" fill="hold" grpId="0" nodeType="afterEffect">
                                  <p:stCondLst>
                                    <p:cond delay="0"/>
                                  </p:stCondLst>
                                  <p:childTnLst>
                                    <p:set>
                                      <p:cBhvr>
                                        <p:cTn id="29" dur="1" fill="hold">
                                          <p:stCondLst>
                                            <p:cond delay="0"/>
                                          </p:stCondLst>
                                        </p:cTn>
                                        <p:tgtEl>
                                          <p:spTgt spid="150572"/>
                                        </p:tgtEl>
                                        <p:attrNameLst>
                                          <p:attrName>style.visibility</p:attrName>
                                        </p:attrNameLst>
                                      </p:cBhvr>
                                      <p:to>
                                        <p:strVal val="visible"/>
                                      </p:to>
                                    </p:set>
                                    <p:anim calcmode="lin" valueType="num">
                                      <p:cBhvr additive="base">
                                        <p:cTn id="30" dur="500" fill="hold"/>
                                        <p:tgtEl>
                                          <p:spTgt spid="150572"/>
                                        </p:tgtEl>
                                        <p:attrNameLst>
                                          <p:attrName>ppt_x</p:attrName>
                                        </p:attrNameLst>
                                      </p:cBhvr>
                                      <p:tavLst>
                                        <p:tav tm="0">
                                          <p:val>
                                            <p:strVal val="0-#ppt_w/2"/>
                                          </p:val>
                                        </p:tav>
                                        <p:tav tm="100000">
                                          <p:val>
                                            <p:strVal val="#ppt_x"/>
                                          </p:val>
                                        </p:tav>
                                      </p:tavLst>
                                    </p:anim>
                                    <p:anim calcmode="lin" valueType="num">
                                      <p:cBhvr additive="base">
                                        <p:cTn id="31" dur="500" fill="hold"/>
                                        <p:tgtEl>
                                          <p:spTgt spid="150572"/>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0598"/>
                                        </p:tgtEl>
                                        <p:attrNameLst>
                                          <p:attrName>style.visibility</p:attrName>
                                        </p:attrNameLst>
                                      </p:cBhvr>
                                      <p:to>
                                        <p:strVal val="visible"/>
                                      </p:to>
                                    </p:set>
                                    <p:animEffect transition="in" filter="fade">
                                      <p:cBhvr>
                                        <p:cTn id="36" dur="2000"/>
                                        <p:tgtEl>
                                          <p:spTgt spid="15059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0599"/>
                                        </p:tgtEl>
                                        <p:attrNameLst>
                                          <p:attrName>style.visibility</p:attrName>
                                        </p:attrNameLst>
                                      </p:cBhvr>
                                      <p:to>
                                        <p:strVal val="visible"/>
                                      </p:to>
                                    </p:set>
                                    <p:animEffect transition="in" filter="fade">
                                      <p:cBhvr>
                                        <p:cTn id="41" dur="2000"/>
                                        <p:tgtEl>
                                          <p:spTgt spid="150599"/>
                                        </p:tgtEl>
                                      </p:cBhvr>
                                    </p:animEffect>
                                  </p:childTnLst>
                                </p:cTn>
                              </p:par>
                            </p:childTnLst>
                          </p:cTn>
                        </p:par>
                        <p:par>
                          <p:cTn id="42" fill="hold">
                            <p:stCondLst>
                              <p:cond delay="2000"/>
                            </p:stCondLst>
                            <p:childTnLst>
                              <p:par>
                                <p:cTn id="43" presetID="2" presetClass="entr" presetSubtype="8" fill="hold" grpId="0" nodeType="afterEffect">
                                  <p:stCondLst>
                                    <p:cond delay="0"/>
                                  </p:stCondLst>
                                  <p:childTnLst>
                                    <p:set>
                                      <p:cBhvr>
                                        <p:cTn id="44" dur="1" fill="hold">
                                          <p:stCondLst>
                                            <p:cond delay="0"/>
                                          </p:stCondLst>
                                        </p:cTn>
                                        <p:tgtEl>
                                          <p:spTgt spid="150597"/>
                                        </p:tgtEl>
                                        <p:attrNameLst>
                                          <p:attrName>style.visibility</p:attrName>
                                        </p:attrNameLst>
                                      </p:cBhvr>
                                      <p:to>
                                        <p:strVal val="visible"/>
                                      </p:to>
                                    </p:set>
                                    <p:anim calcmode="lin" valueType="num">
                                      <p:cBhvr additive="base">
                                        <p:cTn id="45" dur="500" fill="hold"/>
                                        <p:tgtEl>
                                          <p:spTgt spid="150597"/>
                                        </p:tgtEl>
                                        <p:attrNameLst>
                                          <p:attrName>ppt_x</p:attrName>
                                        </p:attrNameLst>
                                      </p:cBhvr>
                                      <p:tavLst>
                                        <p:tav tm="0">
                                          <p:val>
                                            <p:strVal val="0-#ppt_w/2"/>
                                          </p:val>
                                        </p:tav>
                                        <p:tav tm="100000">
                                          <p:val>
                                            <p:strVal val="#ppt_x"/>
                                          </p:val>
                                        </p:tav>
                                      </p:tavLst>
                                    </p:anim>
                                    <p:anim calcmode="lin" valueType="num">
                                      <p:cBhvr additive="base">
                                        <p:cTn id="46" dur="500" fill="hold"/>
                                        <p:tgtEl>
                                          <p:spTgt spid="15059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50600"/>
                                        </p:tgtEl>
                                        <p:attrNameLst>
                                          <p:attrName>style.visibility</p:attrName>
                                        </p:attrNameLst>
                                      </p:cBhvr>
                                      <p:to>
                                        <p:strVal val="visible"/>
                                      </p:to>
                                    </p:set>
                                    <p:animEffect transition="in" filter="fade">
                                      <p:cBhvr>
                                        <p:cTn id="51" dur="2000"/>
                                        <p:tgtEl>
                                          <p:spTgt spid="15060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0607"/>
                                        </p:tgtEl>
                                        <p:attrNameLst>
                                          <p:attrName>style.visibility</p:attrName>
                                        </p:attrNameLst>
                                      </p:cBhvr>
                                      <p:to>
                                        <p:strVal val="visible"/>
                                      </p:to>
                                    </p:set>
                                    <p:animEffect transition="in" filter="fade">
                                      <p:cBhvr>
                                        <p:cTn id="56" dur="2000"/>
                                        <p:tgtEl>
                                          <p:spTgt spid="150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71" grpId="0"/>
      <p:bldP spid="150573" grpId="0" bldLvl="0" animBg="1"/>
      <p:bldP spid="150598" grpId="0"/>
      <p:bldP spid="150599" grpId="0"/>
      <p:bldP spid="150572" grpId="0"/>
      <p:bldP spid="15059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9106535"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37219" name="Rectangle 3"/>
          <p:cNvSpPr/>
          <p:nvPr/>
        </p:nvSpPr>
        <p:spPr>
          <a:xfrm>
            <a:off x="601980" y="348170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1556" name="Group 4"/>
          <p:cNvGraphicFramePr>
            <a:graphicFrameLocks noGrp="1"/>
          </p:cNvGraphicFramePr>
          <p:nvPr/>
        </p:nvGraphicFramePr>
        <p:xfrm>
          <a:off x="3289935" y="2732405"/>
          <a:ext cx="8153400" cy="1371600"/>
        </p:xfrm>
        <a:graphic>
          <a:graphicData uri="http://schemas.openxmlformats.org/drawingml/2006/table">
            <a:tbl>
              <a:tblPr/>
              <a:tblGrid>
                <a:gridCol w="2051050"/>
                <a:gridCol w="1220788"/>
                <a:gridCol w="1220787"/>
                <a:gridCol w="1220788"/>
                <a:gridCol w="1219200"/>
                <a:gridCol w="1220787"/>
              </a:tblGrid>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2</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5</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当前路径长度</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7247" name="Text Box 42"/>
          <p:cNvSpPr txBox="1"/>
          <p:nvPr/>
        </p:nvSpPr>
        <p:spPr>
          <a:xfrm>
            <a:off x="2985135" y="1132205"/>
            <a:ext cx="8458200" cy="860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⑸</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从这些路径中选取长度最小的路径，可以证明，这就是第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短的最短路径。因此，</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短的最短路径，其终点是</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1595" name="Text Box 43"/>
          <p:cNvSpPr txBox="1"/>
          <p:nvPr/>
        </p:nvSpPr>
        <p:spPr>
          <a:xfrm>
            <a:off x="2985135" y="2056130"/>
            <a:ext cx="84582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90000"/>
              </a:lnSpc>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⑹</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利用刚刚求出的最短路径</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修正那些尚不是最短路径的路径。</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7249" name="Rectangle 44"/>
          <p:cNvSpPr/>
          <p:nvPr/>
        </p:nvSpPr>
        <p:spPr>
          <a:xfrm>
            <a:off x="6566535" y="318516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1597" name="Group 45"/>
          <p:cNvGraphicFramePr>
            <a:graphicFrameLocks noGrp="1"/>
          </p:cNvGraphicFramePr>
          <p:nvPr/>
        </p:nvGraphicFramePr>
        <p:xfrm>
          <a:off x="3289935" y="4104005"/>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7271" name="Text Box 68"/>
          <p:cNvSpPr txBox="1"/>
          <p:nvPr/>
        </p:nvSpPr>
        <p:spPr>
          <a:xfrm>
            <a:off x="5728335" y="4027805"/>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37272" name="Text Box 69"/>
          <p:cNvSpPr txBox="1"/>
          <p:nvPr/>
        </p:nvSpPr>
        <p:spPr>
          <a:xfrm>
            <a:off x="7709535" y="4104005"/>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60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2</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1622" name="Group 70"/>
          <p:cNvGraphicFramePr>
            <a:graphicFrameLocks noGrp="1"/>
          </p:cNvGraphicFramePr>
          <p:nvPr/>
        </p:nvGraphicFramePr>
        <p:xfrm>
          <a:off x="9004935" y="4104005"/>
          <a:ext cx="1219200" cy="914400"/>
        </p:xfrm>
        <a:graphic>
          <a:graphicData uri="http://schemas.openxmlformats.org/drawingml/2006/table">
            <a:tbl>
              <a:tblPr/>
              <a:tblGrid>
                <a:gridCol w="1219200"/>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51629" name="Group 77"/>
          <p:cNvGraphicFramePr>
            <a:graphicFrameLocks noGrp="1"/>
          </p:cNvGraphicFramePr>
          <p:nvPr/>
        </p:nvGraphicFramePr>
        <p:xfrm>
          <a:off x="10222865" y="4104005"/>
          <a:ext cx="1220787" cy="916305"/>
        </p:xfrm>
        <a:graphic>
          <a:graphicData uri="http://schemas.openxmlformats.org/drawingml/2006/table">
            <a:tbl>
              <a:tblPr/>
              <a:tblGrid>
                <a:gridCol w="1220787"/>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1636" name="Rectangle 84"/>
          <p:cNvSpPr/>
          <p:nvPr/>
        </p:nvSpPr>
        <p:spPr>
          <a:xfrm>
            <a:off x="9004935" y="4104005"/>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1637" name="Group 85"/>
          <p:cNvGraphicFramePr>
            <a:graphicFrameLocks noGrp="1"/>
          </p:cNvGraphicFramePr>
          <p:nvPr/>
        </p:nvGraphicFramePr>
        <p:xfrm>
          <a:off x="3289935" y="5018405"/>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dirty="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dirty="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dirty="0" smtClean="0">
                          <a:ln>
                            <a:noFill/>
                          </a:ln>
                          <a:solidFill>
                            <a:srgbClr val="800080"/>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dirty="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dirty="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1660" name="Text Box 108"/>
          <p:cNvSpPr txBox="1"/>
          <p:nvPr/>
        </p:nvSpPr>
        <p:spPr>
          <a:xfrm>
            <a:off x="5728335" y="4942205"/>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51661" name="Text Box 109"/>
          <p:cNvSpPr txBox="1"/>
          <p:nvPr/>
        </p:nvSpPr>
        <p:spPr>
          <a:xfrm>
            <a:off x="7709535" y="5018405"/>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50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4</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1662" name="Group 110"/>
          <p:cNvGraphicFramePr>
            <a:graphicFrameLocks noGrp="1"/>
          </p:cNvGraphicFramePr>
          <p:nvPr/>
        </p:nvGraphicFramePr>
        <p:xfrm>
          <a:off x="10147935" y="5018405"/>
          <a:ext cx="1371600" cy="916305"/>
        </p:xfrm>
        <a:graphic>
          <a:graphicData uri="http://schemas.openxmlformats.org/drawingml/2006/table">
            <a:tbl>
              <a:tblPr/>
              <a:tblGrid>
                <a:gridCol w="1371600"/>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tr>
            </a:tbl>
          </a:graphicData>
        </a:graphic>
      </p:graphicFrame>
      <p:grpSp>
        <p:nvGrpSpPr>
          <p:cNvPr id="137314" name="组合 2"/>
          <p:cNvGrpSpPr/>
          <p:nvPr/>
        </p:nvGrpSpPr>
        <p:grpSpPr>
          <a:xfrm>
            <a:off x="126365" y="1132205"/>
            <a:ext cx="2858770" cy="2167255"/>
            <a:chOff x="209550" y="204788"/>
            <a:chExt cx="3402013" cy="2503487"/>
          </a:xfrm>
        </p:grpSpPr>
        <p:pic>
          <p:nvPicPr>
            <p:cNvPr id="137315" name="Picture 73"/>
            <p:cNvPicPr>
              <a:picLocks noChangeAspect="1"/>
            </p:cNvPicPr>
            <p:nvPr/>
          </p:nvPicPr>
          <p:blipFill>
            <a:blip r:embed="rId1"/>
            <a:stretch>
              <a:fillRect/>
            </a:stretch>
          </p:blipFill>
          <p:spPr>
            <a:xfrm>
              <a:off x="209550" y="204788"/>
              <a:ext cx="3402013" cy="2503487"/>
            </a:xfrm>
            <a:prstGeom prst="rect">
              <a:avLst/>
            </a:prstGeom>
            <a:noFill/>
            <a:ln w="9525">
              <a:noFill/>
            </a:ln>
          </p:spPr>
        </p:pic>
        <p:sp>
          <p:nvSpPr>
            <p:cNvPr id="4" name="矩形 3"/>
            <p:cNvSpPr/>
            <p:nvPr/>
          </p:nvSpPr>
          <p:spPr>
            <a:xfrm>
              <a:off x="2886075" y="1154113"/>
              <a:ext cx="587375" cy="581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rPr>
                <a:t>20</a:t>
              </a:r>
              <a:endParaRPr kumimoji="0" lang="zh-CN" altLang="en-US"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51636"/>
                                        </p:tgtEl>
                                        <p:attrNameLst>
                                          <p:attrName>style.visibility</p:attrName>
                                        </p:attrNameLst>
                                      </p:cBhvr>
                                      <p:to>
                                        <p:strVal val="visible"/>
                                      </p:to>
                                    </p:set>
                                    <p:anim calcmode="lin" valueType="num">
                                      <p:cBhvr>
                                        <p:cTn id="7" dur="500" fill="hold"/>
                                        <p:tgtEl>
                                          <p:spTgt spid="151636"/>
                                        </p:tgtEl>
                                        <p:attrNameLst>
                                          <p:attrName>ppt_w</p:attrName>
                                        </p:attrNameLst>
                                      </p:cBhvr>
                                      <p:tavLst>
                                        <p:tav tm="0">
                                          <p:val>
                                            <p:strVal val="4*#ppt_w"/>
                                          </p:val>
                                        </p:tav>
                                        <p:tav tm="100000">
                                          <p:val>
                                            <p:strVal val="#ppt_w"/>
                                          </p:val>
                                        </p:tav>
                                      </p:tavLst>
                                    </p:anim>
                                    <p:anim calcmode="lin" valueType="num">
                                      <p:cBhvr>
                                        <p:cTn id="8" dur="500" fill="hold"/>
                                        <p:tgtEl>
                                          <p:spTgt spid="151636"/>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51595"/>
                                        </p:tgtEl>
                                        <p:attrNameLst>
                                          <p:attrName>style.visibility</p:attrName>
                                        </p:attrNameLst>
                                      </p:cBhvr>
                                      <p:to>
                                        <p:strVal val="visible"/>
                                      </p:to>
                                    </p:set>
                                    <p:anim calcmode="lin" valueType="num">
                                      <p:cBhvr>
                                        <p:cTn id="13" dur="500" fill="hold"/>
                                        <p:tgtEl>
                                          <p:spTgt spid="151595"/>
                                        </p:tgtEl>
                                        <p:attrNameLst>
                                          <p:attrName>ppt_x</p:attrName>
                                        </p:attrNameLst>
                                      </p:cBhvr>
                                      <p:tavLst>
                                        <p:tav tm="0">
                                          <p:val>
                                            <p:strVal val="#ppt_x"/>
                                          </p:val>
                                        </p:tav>
                                        <p:tav tm="100000">
                                          <p:val>
                                            <p:strVal val="#ppt_x"/>
                                          </p:val>
                                        </p:tav>
                                      </p:tavLst>
                                    </p:anim>
                                    <p:anim calcmode="lin" valueType="num">
                                      <p:cBhvr>
                                        <p:cTn id="14" dur="500" fill="hold"/>
                                        <p:tgtEl>
                                          <p:spTgt spid="151595"/>
                                        </p:tgtEl>
                                        <p:attrNameLst>
                                          <p:attrName>ppt_y</p:attrName>
                                        </p:attrNameLst>
                                      </p:cBhvr>
                                      <p:tavLst>
                                        <p:tav tm="0">
                                          <p:val>
                                            <p:strVal val="#ppt_y-#ppt_h/2"/>
                                          </p:val>
                                        </p:tav>
                                        <p:tav tm="100000">
                                          <p:val>
                                            <p:strVal val="#ppt_y"/>
                                          </p:val>
                                        </p:tav>
                                      </p:tavLst>
                                    </p:anim>
                                    <p:anim calcmode="lin" valueType="num">
                                      <p:cBhvr>
                                        <p:cTn id="15" dur="500" fill="hold"/>
                                        <p:tgtEl>
                                          <p:spTgt spid="151595"/>
                                        </p:tgtEl>
                                        <p:attrNameLst>
                                          <p:attrName>ppt_w</p:attrName>
                                        </p:attrNameLst>
                                      </p:cBhvr>
                                      <p:tavLst>
                                        <p:tav tm="0">
                                          <p:val>
                                            <p:strVal val="#ppt_w"/>
                                          </p:val>
                                        </p:tav>
                                        <p:tav tm="100000">
                                          <p:val>
                                            <p:strVal val="#ppt_w"/>
                                          </p:val>
                                        </p:tav>
                                      </p:tavLst>
                                    </p:anim>
                                    <p:anim calcmode="lin" valueType="num">
                                      <p:cBhvr>
                                        <p:cTn id="16" dur="500" fill="hold"/>
                                        <p:tgtEl>
                                          <p:spTgt spid="151595"/>
                                        </p:tgtEl>
                                        <p:attrNameLst>
                                          <p:attrName>ppt_h</p:attrName>
                                        </p:attrNameLst>
                                      </p:cBhvr>
                                      <p:tavLst>
                                        <p:tav tm="0">
                                          <p:val>
                                            <p:fltVal val="0.000000"/>
                                          </p:val>
                                        </p:tav>
                                        <p:tav tm="100000">
                                          <p:val>
                                            <p:strVal val="#ppt_h"/>
                                          </p:val>
                                        </p:tav>
                                      </p:tavLst>
                                    </p:anim>
                                  </p:childTnLst>
                                </p:cTn>
                              </p:par>
                            </p:childTnLst>
                          </p:cTn>
                        </p:par>
                        <p:par>
                          <p:cTn id="17" fill="hold">
                            <p:stCondLst>
                              <p:cond delay="500"/>
                            </p:stCondLst>
                            <p:childTnLst>
                              <p:par>
                                <p:cTn id="18" presetID="12" presetClass="entr" presetSubtype="4" fill="hold" nodeType="afterEffect">
                                  <p:stCondLst>
                                    <p:cond delay="0"/>
                                  </p:stCondLst>
                                  <p:childTnLst>
                                    <p:set>
                                      <p:cBhvr>
                                        <p:cTn id="19" dur="1" fill="hold">
                                          <p:stCondLst>
                                            <p:cond delay="0"/>
                                          </p:stCondLst>
                                        </p:cTn>
                                        <p:tgtEl>
                                          <p:spTgt spid="151637"/>
                                        </p:tgtEl>
                                        <p:attrNameLst>
                                          <p:attrName>style.visibility</p:attrName>
                                        </p:attrNameLst>
                                      </p:cBhvr>
                                      <p:to>
                                        <p:strVal val="visible"/>
                                      </p:to>
                                    </p:set>
                                    <p:animEffect transition="in" filter="slide(fromBottom)">
                                      <p:cBhvr>
                                        <p:cTn id="20" dur="500"/>
                                        <p:tgtEl>
                                          <p:spTgt spid="15163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1660"/>
                                        </p:tgtEl>
                                        <p:attrNameLst>
                                          <p:attrName>style.visibility</p:attrName>
                                        </p:attrNameLst>
                                      </p:cBhvr>
                                      <p:to>
                                        <p:strVal val="visible"/>
                                      </p:to>
                                    </p:set>
                                    <p:animEffect transition="in" filter="fade">
                                      <p:cBhvr>
                                        <p:cTn id="25" dur="2000"/>
                                        <p:tgtEl>
                                          <p:spTgt spid="15166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1661"/>
                                        </p:tgtEl>
                                        <p:attrNameLst>
                                          <p:attrName>style.visibility</p:attrName>
                                        </p:attrNameLst>
                                      </p:cBhvr>
                                      <p:to>
                                        <p:strVal val="visible"/>
                                      </p:to>
                                    </p:set>
                                    <p:animEffect transition="in" filter="fade">
                                      <p:cBhvr>
                                        <p:cTn id="30" dur="2000"/>
                                        <p:tgtEl>
                                          <p:spTgt spid="15166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1662"/>
                                        </p:tgtEl>
                                        <p:attrNameLst>
                                          <p:attrName>style.visibility</p:attrName>
                                        </p:attrNameLst>
                                      </p:cBhvr>
                                      <p:to>
                                        <p:strVal val="visible"/>
                                      </p:to>
                                    </p:set>
                                    <p:animEffect transition="in" filter="fade">
                                      <p:cBhvr>
                                        <p:cTn id="35" dur="2000"/>
                                        <p:tgtEl>
                                          <p:spTgt spid="151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95" grpId="0"/>
      <p:bldP spid="151636" grpId="0" bldLvl="0" animBg="1"/>
      <p:bldP spid="151660" grpId="0"/>
      <p:bldP spid="151661"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38243" name="Rectangle 3"/>
          <p:cNvSpPr/>
          <p:nvPr/>
        </p:nvSpPr>
        <p:spPr>
          <a:xfrm>
            <a:off x="116840" y="3514090"/>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2580" name="Group 4"/>
          <p:cNvGraphicFramePr>
            <a:graphicFrameLocks noGrp="1"/>
          </p:cNvGraphicFramePr>
          <p:nvPr/>
        </p:nvGraphicFramePr>
        <p:xfrm>
          <a:off x="3437255" y="2114550"/>
          <a:ext cx="8153400" cy="1371600"/>
        </p:xfrm>
        <a:graphic>
          <a:graphicData uri="http://schemas.openxmlformats.org/drawingml/2006/table">
            <a:tbl>
              <a:tblPr/>
              <a:tblGrid>
                <a:gridCol w="2051050"/>
                <a:gridCol w="1220788"/>
                <a:gridCol w="1220787"/>
                <a:gridCol w="1220788"/>
                <a:gridCol w="1219200"/>
                <a:gridCol w="1220787"/>
              </a:tblGrid>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2</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5</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当前路径长度</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8271" name="Text Box 42"/>
          <p:cNvSpPr txBox="1"/>
          <p:nvPr/>
        </p:nvSpPr>
        <p:spPr>
          <a:xfrm>
            <a:off x="3132455" y="971550"/>
            <a:ext cx="8458200" cy="860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⑺</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从这些路径中选取长度最小的路径，因此，</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短的最短路径，其终点是</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619" name="Text Box 43"/>
          <p:cNvSpPr txBox="1"/>
          <p:nvPr/>
        </p:nvSpPr>
        <p:spPr>
          <a:xfrm>
            <a:off x="3133090" y="1831975"/>
            <a:ext cx="84582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90000"/>
              </a:lnSpc>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⑻</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利用刚刚求出的最短路径</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修正那些尚不是最短路径的路径。</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8273" name="Rectangle 44"/>
          <p:cNvSpPr/>
          <p:nvPr/>
        </p:nvSpPr>
        <p:spPr>
          <a:xfrm>
            <a:off x="6713855" y="2567305"/>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2621" name="Group 45"/>
          <p:cNvGraphicFramePr>
            <a:graphicFrameLocks noGrp="1"/>
          </p:cNvGraphicFramePr>
          <p:nvPr/>
        </p:nvGraphicFramePr>
        <p:xfrm>
          <a:off x="3437255" y="348615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8295" name="Text Box 68"/>
          <p:cNvSpPr txBox="1"/>
          <p:nvPr/>
        </p:nvSpPr>
        <p:spPr>
          <a:xfrm>
            <a:off x="5875655" y="340995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38296" name="Text Box 69"/>
          <p:cNvSpPr txBox="1"/>
          <p:nvPr/>
        </p:nvSpPr>
        <p:spPr>
          <a:xfrm>
            <a:off x="7856855" y="3486150"/>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60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2</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2646" name="Group 70"/>
          <p:cNvGraphicFramePr>
            <a:graphicFrameLocks noGrp="1"/>
          </p:cNvGraphicFramePr>
          <p:nvPr/>
        </p:nvGraphicFramePr>
        <p:xfrm>
          <a:off x="9152255" y="3486150"/>
          <a:ext cx="1219200" cy="914400"/>
        </p:xfrm>
        <a:graphic>
          <a:graphicData uri="http://schemas.openxmlformats.org/drawingml/2006/table">
            <a:tbl>
              <a:tblPr/>
              <a:tblGrid>
                <a:gridCol w="1219200"/>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52653" name="Group 77"/>
          <p:cNvGraphicFramePr>
            <a:graphicFrameLocks noGrp="1"/>
          </p:cNvGraphicFramePr>
          <p:nvPr/>
        </p:nvGraphicFramePr>
        <p:xfrm>
          <a:off x="10370185" y="3486150"/>
          <a:ext cx="1220787" cy="916305"/>
        </p:xfrm>
        <a:graphic>
          <a:graphicData uri="http://schemas.openxmlformats.org/drawingml/2006/table">
            <a:tbl>
              <a:tblPr/>
              <a:tblGrid>
                <a:gridCol w="1220787"/>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8311" name="Rectangle 84"/>
          <p:cNvSpPr/>
          <p:nvPr/>
        </p:nvSpPr>
        <p:spPr>
          <a:xfrm>
            <a:off x="9152255" y="348615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2661" name="Group 85"/>
          <p:cNvGraphicFramePr>
            <a:graphicFrameLocks noGrp="1"/>
          </p:cNvGraphicFramePr>
          <p:nvPr/>
        </p:nvGraphicFramePr>
        <p:xfrm>
          <a:off x="3437255" y="440055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8333" name="Text Box 108"/>
          <p:cNvSpPr txBox="1"/>
          <p:nvPr/>
        </p:nvSpPr>
        <p:spPr>
          <a:xfrm>
            <a:off x="5875655" y="432435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38334" name="Text Box 109"/>
          <p:cNvSpPr txBox="1"/>
          <p:nvPr/>
        </p:nvSpPr>
        <p:spPr>
          <a:xfrm>
            <a:off x="7856855" y="4400550"/>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50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4</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2686" name="Group 110"/>
          <p:cNvGraphicFramePr>
            <a:graphicFrameLocks noGrp="1"/>
          </p:cNvGraphicFramePr>
          <p:nvPr/>
        </p:nvGraphicFramePr>
        <p:xfrm>
          <a:off x="10295255" y="4400550"/>
          <a:ext cx="1371600" cy="916305"/>
        </p:xfrm>
        <a:graphic>
          <a:graphicData uri="http://schemas.openxmlformats.org/drawingml/2006/table">
            <a:tbl>
              <a:tblPr/>
              <a:tblGrid>
                <a:gridCol w="1371600"/>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tr>
            </a:tbl>
          </a:graphicData>
        </a:graphic>
      </p:graphicFrame>
      <p:sp>
        <p:nvSpPr>
          <p:cNvPr id="152695" name="Rectangle 119"/>
          <p:cNvSpPr/>
          <p:nvPr/>
        </p:nvSpPr>
        <p:spPr>
          <a:xfrm>
            <a:off x="7933055" y="440055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52696" name="Group 120"/>
          <p:cNvGraphicFramePr>
            <a:graphicFrameLocks noGrp="1"/>
          </p:cNvGraphicFramePr>
          <p:nvPr/>
        </p:nvGraphicFramePr>
        <p:xfrm>
          <a:off x="3437255" y="531495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4 </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2719" name="Text Box 143"/>
          <p:cNvSpPr txBox="1"/>
          <p:nvPr/>
        </p:nvSpPr>
        <p:spPr>
          <a:xfrm>
            <a:off x="5875655" y="523875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52720" name="Group 144"/>
          <p:cNvGraphicFramePr>
            <a:graphicFrameLocks noGrp="1"/>
          </p:cNvGraphicFramePr>
          <p:nvPr/>
        </p:nvGraphicFramePr>
        <p:xfrm>
          <a:off x="10066655" y="5314950"/>
          <a:ext cx="1676400" cy="916305"/>
        </p:xfrm>
        <a:graphic>
          <a:graphicData uri="http://schemas.openxmlformats.org/drawingml/2006/table">
            <a:tbl>
              <a:tblPr/>
              <a:tblGrid>
                <a:gridCol w="1676400"/>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tr>
            </a:tbl>
          </a:graphicData>
        </a:graphic>
      </p:graphicFrame>
      <p:grpSp>
        <p:nvGrpSpPr>
          <p:cNvPr id="2" name="组合 1"/>
          <p:cNvGrpSpPr/>
          <p:nvPr/>
        </p:nvGrpSpPr>
        <p:grpSpPr>
          <a:xfrm>
            <a:off x="116840" y="1115060"/>
            <a:ext cx="2814320" cy="2142490"/>
            <a:chOff x="209550" y="188913"/>
            <a:chExt cx="3402013" cy="2503487"/>
          </a:xfrm>
        </p:grpSpPr>
        <p:pic>
          <p:nvPicPr>
            <p:cNvPr id="138365" name="Picture 73"/>
            <p:cNvPicPr>
              <a:picLocks noChangeAspect="1"/>
            </p:cNvPicPr>
            <p:nvPr/>
          </p:nvPicPr>
          <p:blipFill>
            <a:blip r:embed="rId1"/>
            <a:stretch>
              <a:fillRect/>
            </a:stretch>
          </p:blipFill>
          <p:spPr>
            <a:xfrm>
              <a:off x="209550" y="188913"/>
              <a:ext cx="3402013" cy="2503487"/>
            </a:xfrm>
            <a:prstGeom prst="rect">
              <a:avLst/>
            </a:prstGeom>
            <a:noFill/>
            <a:ln w="9525">
              <a:noFill/>
            </a:ln>
          </p:spPr>
        </p:pic>
        <p:sp>
          <p:nvSpPr>
            <p:cNvPr id="23" name="矩形 22"/>
            <p:cNvSpPr/>
            <p:nvPr/>
          </p:nvSpPr>
          <p:spPr>
            <a:xfrm>
              <a:off x="2886075" y="1154113"/>
              <a:ext cx="587375" cy="581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rPr>
                <a:t>20</a:t>
              </a:r>
              <a:endParaRPr kumimoji="0" lang="zh-CN" altLang="en-US"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endParaRPr>
            </a:p>
          </p:txBody>
        </p:sp>
      </p:grpSp>
      <p:sp>
        <p:nvSpPr>
          <p:cNvPr id="4" name="文本框 3"/>
          <p:cNvSpPr txBox="1"/>
          <p:nvPr/>
        </p:nvSpPr>
        <p:spPr>
          <a:xfrm>
            <a:off x="410845" y="106680"/>
            <a:ext cx="9106535" cy="645160"/>
          </a:xfrm>
          <a:prstGeom prst="rect">
            <a:avLst/>
          </a:prstGeom>
          <a:noFill/>
        </p:spPr>
        <p:txBody>
          <a:bodyPr wrap="square" rtlCol="0">
            <a:spAutoFit/>
          </a:bodyPr>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52695"/>
                                        </p:tgtEl>
                                        <p:attrNameLst>
                                          <p:attrName>style.visibility</p:attrName>
                                        </p:attrNameLst>
                                      </p:cBhvr>
                                      <p:to>
                                        <p:strVal val="visible"/>
                                      </p:to>
                                    </p:set>
                                    <p:anim calcmode="lin" valueType="num">
                                      <p:cBhvr>
                                        <p:cTn id="7" dur="500" fill="hold"/>
                                        <p:tgtEl>
                                          <p:spTgt spid="152695"/>
                                        </p:tgtEl>
                                        <p:attrNameLst>
                                          <p:attrName>ppt_w</p:attrName>
                                        </p:attrNameLst>
                                      </p:cBhvr>
                                      <p:tavLst>
                                        <p:tav tm="0">
                                          <p:val>
                                            <p:strVal val="4*#ppt_w"/>
                                          </p:val>
                                        </p:tav>
                                        <p:tav tm="100000">
                                          <p:val>
                                            <p:strVal val="#ppt_w"/>
                                          </p:val>
                                        </p:tav>
                                      </p:tavLst>
                                    </p:anim>
                                    <p:anim calcmode="lin" valueType="num">
                                      <p:cBhvr>
                                        <p:cTn id="8" dur="500" fill="hold"/>
                                        <p:tgtEl>
                                          <p:spTgt spid="152695"/>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grpId="0" nodeType="clickEffect">
                                  <p:stCondLst>
                                    <p:cond delay="0"/>
                                  </p:stCondLst>
                                  <p:childTnLst>
                                    <p:set>
                                      <p:cBhvr>
                                        <p:cTn id="12" dur="1" fill="hold">
                                          <p:stCondLst>
                                            <p:cond delay="0"/>
                                          </p:stCondLst>
                                        </p:cTn>
                                        <p:tgtEl>
                                          <p:spTgt spid="152619"/>
                                        </p:tgtEl>
                                        <p:attrNameLst>
                                          <p:attrName>style.visibility</p:attrName>
                                        </p:attrNameLst>
                                      </p:cBhvr>
                                      <p:to>
                                        <p:strVal val="visible"/>
                                      </p:to>
                                    </p:set>
                                    <p:anim calcmode="lin" valueType="num">
                                      <p:cBhvr>
                                        <p:cTn id="13" dur="500" fill="hold"/>
                                        <p:tgtEl>
                                          <p:spTgt spid="152619"/>
                                        </p:tgtEl>
                                        <p:attrNameLst>
                                          <p:attrName>ppt_x</p:attrName>
                                        </p:attrNameLst>
                                      </p:cBhvr>
                                      <p:tavLst>
                                        <p:tav tm="0">
                                          <p:val>
                                            <p:strVal val="#ppt_x"/>
                                          </p:val>
                                        </p:tav>
                                        <p:tav tm="100000">
                                          <p:val>
                                            <p:strVal val="#ppt_x"/>
                                          </p:val>
                                        </p:tav>
                                      </p:tavLst>
                                    </p:anim>
                                    <p:anim calcmode="lin" valueType="num">
                                      <p:cBhvr>
                                        <p:cTn id="14" dur="500" fill="hold"/>
                                        <p:tgtEl>
                                          <p:spTgt spid="152619"/>
                                        </p:tgtEl>
                                        <p:attrNameLst>
                                          <p:attrName>ppt_y</p:attrName>
                                        </p:attrNameLst>
                                      </p:cBhvr>
                                      <p:tavLst>
                                        <p:tav tm="0">
                                          <p:val>
                                            <p:strVal val="#ppt_y-#ppt_h/2"/>
                                          </p:val>
                                        </p:tav>
                                        <p:tav tm="100000">
                                          <p:val>
                                            <p:strVal val="#ppt_y"/>
                                          </p:val>
                                        </p:tav>
                                      </p:tavLst>
                                    </p:anim>
                                    <p:anim calcmode="lin" valueType="num">
                                      <p:cBhvr>
                                        <p:cTn id="15" dur="500" fill="hold"/>
                                        <p:tgtEl>
                                          <p:spTgt spid="152619"/>
                                        </p:tgtEl>
                                        <p:attrNameLst>
                                          <p:attrName>ppt_w</p:attrName>
                                        </p:attrNameLst>
                                      </p:cBhvr>
                                      <p:tavLst>
                                        <p:tav tm="0">
                                          <p:val>
                                            <p:strVal val="#ppt_w"/>
                                          </p:val>
                                        </p:tav>
                                        <p:tav tm="100000">
                                          <p:val>
                                            <p:strVal val="#ppt_w"/>
                                          </p:val>
                                        </p:tav>
                                      </p:tavLst>
                                    </p:anim>
                                    <p:anim calcmode="lin" valueType="num">
                                      <p:cBhvr>
                                        <p:cTn id="16" dur="500" fill="hold"/>
                                        <p:tgtEl>
                                          <p:spTgt spid="152619"/>
                                        </p:tgtEl>
                                        <p:attrNameLst>
                                          <p:attrName>ppt_h</p:attrName>
                                        </p:attrNameLst>
                                      </p:cBhvr>
                                      <p:tavLst>
                                        <p:tav tm="0">
                                          <p:val>
                                            <p:fltVal val="0.000000"/>
                                          </p:val>
                                        </p:tav>
                                        <p:tav tm="100000">
                                          <p:val>
                                            <p:strVal val="#ppt_h"/>
                                          </p:val>
                                        </p:tav>
                                      </p:tavLst>
                                    </p:anim>
                                  </p:childTnLst>
                                </p:cTn>
                              </p:par>
                            </p:childTnLst>
                          </p:cTn>
                        </p:par>
                        <p:par>
                          <p:cTn id="17" fill="hold">
                            <p:stCondLst>
                              <p:cond delay="500"/>
                            </p:stCondLst>
                            <p:childTnLst>
                              <p:par>
                                <p:cTn id="18" presetID="12" presetClass="entr" presetSubtype="4" fill="hold" nodeType="afterEffect">
                                  <p:stCondLst>
                                    <p:cond delay="0"/>
                                  </p:stCondLst>
                                  <p:childTnLst>
                                    <p:set>
                                      <p:cBhvr>
                                        <p:cTn id="19" dur="1" fill="hold">
                                          <p:stCondLst>
                                            <p:cond delay="0"/>
                                          </p:stCondLst>
                                        </p:cTn>
                                        <p:tgtEl>
                                          <p:spTgt spid="152696"/>
                                        </p:tgtEl>
                                        <p:attrNameLst>
                                          <p:attrName>style.visibility</p:attrName>
                                        </p:attrNameLst>
                                      </p:cBhvr>
                                      <p:to>
                                        <p:strVal val="visible"/>
                                      </p:to>
                                    </p:set>
                                    <p:animEffect transition="in" filter="slide(fromBottom)">
                                      <p:cBhvr>
                                        <p:cTn id="20" dur="500"/>
                                        <p:tgtEl>
                                          <p:spTgt spid="15269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2719"/>
                                        </p:tgtEl>
                                        <p:attrNameLst>
                                          <p:attrName>style.visibility</p:attrName>
                                        </p:attrNameLst>
                                      </p:cBhvr>
                                      <p:to>
                                        <p:strVal val="visible"/>
                                      </p:to>
                                    </p:set>
                                    <p:animEffect transition="in" filter="fade">
                                      <p:cBhvr>
                                        <p:cTn id="25" dur="2000"/>
                                        <p:tgtEl>
                                          <p:spTgt spid="1527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2720"/>
                                        </p:tgtEl>
                                        <p:attrNameLst>
                                          <p:attrName>style.visibility</p:attrName>
                                        </p:attrNameLst>
                                      </p:cBhvr>
                                      <p:to>
                                        <p:strVal val="visible"/>
                                      </p:to>
                                    </p:set>
                                    <p:animEffect transition="in" filter="fade">
                                      <p:cBhvr>
                                        <p:cTn id="30" dur="2000"/>
                                        <p:tgtEl>
                                          <p:spTgt spid="152720"/>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619" grpId="0"/>
      <p:bldP spid="152695" grpId="0" bldLvl="0" animBg="1"/>
      <p:bldP spid="152719"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83724" y="4428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9106535"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pic>
        <p:nvPicPr>
          <p:cNvPr id="25" name="Picture 73"/>
          <p:cNvPicPr>
            <a:picLocks noChangeAspect="1"/>
          </p:cNvPicPr>
          <p:nvPr/>
        </p:nvPicPr>
        <p:blipFill>
          <a:blip r:embed="rId1"/>
          <a:stretch>
            <a:fillRect/>
          </a:stretch>
        </p:blipFill>
        <p:spPr>
          <a:xfrm>
            <a:off x="0" y="858520"/>
            <a:ext cx="2988310" cy="2199005"/>
          </a:xfrm>
          <a:prstGeom prst="rect">
            <a:avLst/>
          </a:prstGeom>
          <a:noFill/>
          <a:ln w="9525">
            <a:noFill/>
          </a:ln>
        </p:spPr>
      </p:pic>
      <p:sp>
        <p:nvSpPr>
          <p:cNvPr id="139266" name="Rectangle 2"/>
          <p:cNvSpPr/>
          <p:nvPr/>
        </p:nvSpPr>
        <p:spPr>
          <a:xfrm>
            <a:off x="2336800" y="275907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4" name="Group 3"/>
          <p:cNvGraphicFramePr>
            <a:graphicFrameLocks noGrp="1"/>
          </p:cNvGraphicFramePr>
          <p:nvPr>
            <p:custDataLst>
              <p:tags r:id="rId2"/>
            </p:custDataLst>
          </p:nvPr>
        </p:nvGraphicFramePr>
        <p:xfrm>
          <a:off x="2988310" y="1833880"/>
          <a:ext cx="8153400" cy="1371600"/>
        </p:xfrm>
        <a:graphic>
          <a:graphicData uri="http://schemas.openxmlformats.org/drawingml/2006/table">
            <a:tbl>
              <a:tblPr/>
              <a:tblGrid>
                <a:gridCol w="2051050"/>
                <a:gridCol w="1220788"/>
                <a:gridCol w="1220787"/>
                <a:gridCol w="1220788"/>
                <a:gridCol w="1219200"/>
                <a:gridCol w="1220787"/>
              </a:tblGrid>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1</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2</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3</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rPr>
                        <a:t>5</a:t>
                      </a:r>
                      <a:endParaRPr kumimoji="0" lang="en-US" altLang="zh-CN" sz="2400" b="1" i="0" u="none" strike="noStrike" cap="none" normalizeH="0" baseline="-25000" smtClean="0">
                        <a:ln>
                          <a:noFill/>
                        </a:ln>
                        <a:solidFill>
                          <a:srgbClr val="FF0000"/>
                        </a:solidFill>
                        <a:effectLst/>
                        <a:latin typeface="Arial" panose="020B0604020202020204" pitchFamily="34" charset="0"/>
                        <a:ea typeface="宋体" panose="02010600030101010101" pitchFamily="2" charset="-122"/>
                      </a:endParaRPr>
                    </a:p>
                  </a:txBody>
                  <a:tcP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190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当前路径长度</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206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当前路径</a:t>
                      </a:r>
                      <a:endParaRPr kumimoji="0" lang="zh-CN" altLang="en-US"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Text Box 41"/>
          <p:cNvSpPr txBox="1"/>
          <p:nvPr/>
        </p:nvSpPr>
        <p:spPr>
          <a:xfrm>
            <a:off x="2759710" y="751840"/>
            <a:ext cx="8458200" cy="860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⑼</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从这些路径中选取长度最小的路径，因此，</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是第</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短的最短路径，其终点是</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，长度为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Text Box 42"/>
          <p:cNvSpPr txBox="1"/>
          <p:nvPr/>
        </p:nvSpPr>
        <p:spPr>
          <a:xfrm>
            <a:off x="2759710" y="1426210"/>
            <a:ext cx="8458200" cy="860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5000"/>
              </a:lnSpc>
              <a:spcBef>
                <a:spcPts val="0"/>
              </a:spcBef>
              <a:buClr>
                <a:schemeClr val="hlink"/>
              </a:buClr>
              <a:buSzPct val="70000"/>
              <a:buFont typeface="Wingdings" panose="05000000000000000000" pitchFamily="2" charset="2"/>
              <a:buNone/>
            </a:pP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⑽</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利用刚刚求出的最短路径</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修正那些尚不是最短路径的路径。</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Rectangle 43"/>
          <p:cNvSpPr/>
          <p:nvPr/>
        </p:nvSpPr>
        <p:spPr>
          <a:xfrm>
            <a:off x="6264910" y="2286635"/>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0" name="Group 44"/>
          <p:cNvGraphicFramePr>
            <a:graphicFrameLocks noGrp="1"/>
          </p:cNvGraphicFramePr>
          <p:nvPr/>
        </p:nvGraphicFramePr>
        <p:xfrm>
          <a:off x="2988310" y="320548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2</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 name="Text Box 67"/>
          <p:cNvSpPr txBox="1"/>
          <p:nvPr/>
        </p:nvSpPr>
        <p:spPr>
          <a:xfrm>
            <a:off x="5426710" y="312928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2" name="Text Box 68"/>
          <p:cNvSpPr txBox="1"/>
          <p:nvPr/>
        </p:nvSpPr>
        <p:spPr>
          <a:xfrm>
            <a:off x="7407910" y="3205480"/>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60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2</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14" name="Group 69"/>
          <p:cNvGraphicFramePr>
            <a:graphicFrameLocks noGrp="1"/>
          </p:cNvGraphicFramePr>
          <p:nvPr/>
        </p:nvGraphicFramePr>
        <p:xfrm>
          <a:off x="8703310" y="3205480"/>
          <a:ext cx="1219200" cy="914400"/>
        </p:xfrm>
        <a:graphic>
          <a:graphicData uri="http://schemas.openxmlformats.org/drawingml/2006/table">
            <a:tbl>
              <a:tblPr/>
              <a:tblGrid>
                <a:gridCol w="1219200"/>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5" name="Group 76"/>
          <p:cNvGraphicFramePr>
            <a:graphicFrameLocks noGrp="1"/>
          </p:cNvGraphicFramePr>
          <p:nvPr/>
        </p:nvGraphicFramePr>
        <p:xfrm>
          <a:off x="9921240" y="3205480"/>
          <a:ext cx="1220787" cy="916305"/>
        </p:xfrm>
        <a:graphic>
          <a:graphicData uri="http://schemas.openxmlformats.org/drawingml/2006/table">
            <a:tbl>
              <a:tblPr/>
              <a:tblGrid>
                <a:gridCol w="1220787"/>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6" name="Rectangle 83"/>
          <p:cNvSpPr/>
          <p:nvPr/>
        </p:nvSpPr>
        <p:spPr>
          <a:xfrm>
            <a:off x="8703310" y="320548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7" name="Group 84"/>
          <p:cNvGraphicFramePr>
            <a:graphicFrameLocks noGrp="1"/>
          </p:cNvGraphicFramePr>
          <p:nvPr/>
        </p:nvGraphicFramePr>
        <p:xfrm>
          <a:off x="2988310" y="411988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8" name="Text Box 107"/>
          <p:cNvSpPr txBox="1"/>
          <p:nvPr/>
        </p:nvSpPr>
        <p:spPr>
          <a:xfrm>
            <a:off x="5426710" y="404368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19" name="Text Box 108"/>
          <p:cNvSpPr txBox="1"/>
          <p:nvPr/>
        </p:nvSpPr>
        <p:spPr>
          <a:xfrm>
            <a:off x="7407910" y="4119880"/>
            <a:ext cx="1371600" cy="9144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50</a:t>
            </a:r>
            <a:endParaRPr lang="en-US" altLang="zh-CN" b="1" dirty="0">
              <a:solidFill>
                <a:srgbClr val="0000CC"/>
              </a:solidFill>
              <a:latin typeface="Arial" panose="020B0604020202020204" pitchFamily="34" charset="0"/>
              <a:ea typeface="宋体" panose="02010600030101010101" pitchFamily="2" charset="-122"/>
            </a:endParaRPr>
          </a:p>
          <a:p>
            <a:pPr marL="0" lvl="0" indent="0" algn="ctr" eaLnBrk="1" hangingPunct="1">
              <a:spcBef>
                <a:spcPct val="25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0</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4</a:t>
            </a:r>
            <a:r>
              <a:rPr lang="en-US" altLang="zh-CN" b="1" dirty="0">
                <a:solidFill>
                  <a:srgbClr val="0000CC"/>
                </a:solidFill>
                <a:latin typeface="Arial" panose="020B0604020202020204" pitchFamily="34" charset="0"/>
                <a:ea typeface="宋体" panose="02010600030101010101" pitchFamily="2" charset="-122"/>
              </a:rPr>
              <a:t>,v</a:t>
            </a:r>
            <a:r>
              <a:rPr lang="en-US" altLang="zh-CN" b="1" baseline="-25000" dirty="0">
                <a:solidFill>
                  <a:srgbClr val="0000CC"/>
                </a:solidFill>
                <a:latin typeface="Arial" panose="020B0604020202020204" pitchFamily="34" charset="0"/>
                <a:ea typeface="宋体" panose="02010600030101010101" pitchFamily="2" charset="-122"/>
              </a:rPr>
              <a:t>3</a:t>
            </a: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20" name="Group 109"/>
          <p:cNvGraphicFramePr>
            <a:graphicFrameLocks noGrp="1"/>
          </p:cNvGraphicFramePr>
          <p:nvPr/>
        </p:nvGraphicFramePr>
        <p:xfrm>
          <a:off x="9846310" y="4119880"/>
          <a:ext cx="1371600" cy="916305"/>
        </p:xfrm>
        <a:graphic>
          <a:graphicData uri="http://schemas.openxmlformats.org/drawingml/2006/table">
            <a:tbl>
              <a:tblPr/>
              <a:tblGrid>
                <a:gridCol w="1371600"/>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tr>
            </a:tbl>
          </a:graphicData>
        </a:graphic>
      </p:graphicFrame>
      <p:sp>
        <p:nvSpPr>
          <p:cNvPr id="21" name="Rectangle 118"/>
          <p:cNvSpPr/>
          <p:nvPr/>
        </p:nvSpPr>
        <p:spPr>
          <a:xfrm>
            <a:off x="7484110" y="411988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22" name="Group 119"/>
          <p:cNvGraphicFramePr>
            <a:graphicFrameLocks noGrp="1"/>
          </p:cNvGraphicFramePr>
          <p:nvPr/>
        </p:nvGraphicFramePr>
        <p:xfrm>
          <a:off x="2988310" y="503428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4 </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3" name="Text Box 142"/>
          <p:cNvSpPr txBox="1"/>
          <p:nvPr/>
        </p:nvSpPr>
        <p:spPr>
          <a:xfrm>
            <a:off x="5426710" y="495808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graphicFrame>
        <p:nvGraphicFramePr>
          <p:cNvPr id="24" name="Group 143"/>
          <p:cNvGraphicFramePr>
            <a:graphicFrameLocks noGrp="1"/>
          </p:cNvGraphicFramePr>
          <p:nvPr/>
        </p:nvGraphicFramePr>
        <p:xfrm>
          <a:off x="9617710" y="5034280"/>
          <a:ext cx="1676400" cy="916305"/>
        </p:xfrm>
        <a:graphic>
          <a:graphicData uri="http://schemas.openxmlformats.org/drawingml/2006/table">
            <a:tbl>
              <a:tblPr/>
              <a:tblGrid>
                <a:gridCol w="1676400"/>
              </a:tblGrid>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60</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cap="flat">
                      <a:noFill/>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4</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3</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tr>
            </a:tbl>
          </a:graphicData>
        </a:graphic>
      </p:graphicFrame>
      <p:sp>
        <p:nvSpPr>
          <p:cNvPr id="27" name="Rectangle 152"/>
          <p:cNvSpPr/>
          <p:nvPr/>
        </p:nvSpPr>
        <p:spPr>
          <a:xfrm>
            <a:off x="9922510" y="5034280"/>
            <a:ext cx="1219200" cy="914400"/>
          </a:xfrm>
          <a:prstGeom prst="rect">
            <a:avLst/>
          </a:prstGeom>
          <a:noFill/>
          <a:ln w="381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28" name="Group 153"/>
          <p:cNvGraphicFramePr>
            <a:graphicFrameLocks noGrp="1"/>
          </p:cNvGraphicFramePr>
          <p:nvPr/>
        </p:nvGraphicFramePr>
        <p:xfrm>
          <a:off x="2988310" y="5948680"/>
          <a:ext cx="8153400" cy="914400"/>
        </p:xfrm>
        <a:graphic>
          <a:graphicData uri="http://schemas.openxmlformats.org/drawingml/2006/table">
            <a:tbl>
              <a:tblPr/>
              <a:tblGrid>
                <a:gridCol w="2051050"/>
                <a:gridCol w="1220788"/>
                <a:gridCol w="1220787"/>
                <a:gridCol w="1220788"/>
                <a:gridCol w="1219200"/>
                <a:gridCol w="1220787"/>
              </a:tblGrid>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0</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4 </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3 </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 v</a:t>
                      </a:r>
                      <a:r>
                        <a:rPr kumimoji="0" lang="en-US" altLang="zh-CN" sz="2400" b="1" i="0" u="none" strike="noStrike" cap="none" normalizeH="0" baseline="-25000" smtClean="0">
                          <a:ln>
                            <a:noFill/>
                          </a:ln>
                          <a:solidFill>
                            <a:srgbClr val="800080"/>
                          </a:solidFill>
                          <a:effectLst/>
                          <a:latin typeface="Arial" panose="020B0604020202020204" pitchFamily="34" charset="0"/>
                          <a:ea typeface="宋体" panose="02010600030101010101" pitchFamily="2" charset="-122"/>
                        </a:rPr>
                        <a:t>5</a:t>
                      </a:r>
                      <a:r>
                        <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rgbClr val="800080"/>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9" name="Text Box 176"/>
          <p:cNvSpPr txBox="1"/>
          <p:nvPr/>
        </p:nvSpPr>
        <p:spPr>
          <a:xfrm>
            <a:off x="5426710" y="5872480"/>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0000CC"/>
                </a:solidFill>
                <a:latin typeface="Arial" panose="020B0604020202020204" pitchFamily="34" charset="0"/>
                <a:ea typeface="宋体" panose="02010600030101010101" pitchFamily="2" charset="-122"/>
              </a:rPr>
              <a:t>∞</a:t>
            </a:r>
            <a:endParaRPr lang="en-US" altLang="zh-CN" b="1" dirty="0">
              <a:solidFill>
                <a:srgbClr val="0000CC"/>
              </a:solidFill>
              <a:latin typeface="Arial" panose="020B0604020202020204" pitchFamily="34" charset="0"/>
              <a:ea typeface="宋体" panose="02010600030101010101" pitchFamily="2" charset="-122"/>
            </a:endParaRPr>
          </a:p>
        </p:txBody>
      </p:sp>
      <p:sp>
        <p:nvSpPr>
          <p:cNvPr id="30" name="AutoShape 177"/>
          <p:cNvSpPr/>
          <p:nvPr/>
        </p:nvSpPr>
        <p:spPr>
          <a:xfrm>
            <a:off x="6569710" y="5339080"/>
            <a:ext cx="1981200" cy="914400"/>
          </a:xfrm>
          <a:prstGeom prst="wedgeRoundRectCallout">
            <a:avLst>
              <a:gd name="adj1" fmla="val -80931"/>
              <a:gd name="adj2" fmla="val 38542"/>
              <a:gd name="adj3" fmla="val 16667"/>
            </a:avLst>
          </a:prstGeom>
          <a:solidFill>
            <a:schemeClr val="bg1"/>
          </a:solidFill>
          <a:ln w="9525" cap="flat" cmpd="sng">
            <a:solidFill>
              <a:srgbClr val="FF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buClr>
                <a:schemeClr val="hlink"/>
              </a:buClr>
              <a:buSzPct val="70000"/>
              <a:buFont typeface="Wingdings" panose="05000000000000000000" pitchFamily="2" charset="2"/>
              <a:buNone/>
            </a:pPr>
            <a:r>
              <a:rPr lang="zh-CN" altLang="en-US" b="1" dirty="0">
                <a:solidFill>
                  <a:srgbClr val="FF0000"/>
                </a:solidFill>
                <a:latin typeface="Consolas" panose="020B0609020204030204" pitchFamily="49" charset="0"/>
              </a:rPr>
              <a:t>说明</a:t>
            </a:r>
            <a:r>
              <a:rPr lang="en-US" altLang="zh-CN" b="1" dirty="0">
                <a:solidFill>
                  <a:srgbClr val="FF0000"/>
                </a:solidFill>
                <a:latin typeface="Consolas" panose="020B0609020204030204" pitchFamily="49" charset="0"/>
              </a:rPr>
              <a:t>v</a:t>
            </a:r>
            <a:r>
              <a:rPr lang="en-US" altLang="zh-CN" b="1" baseline="-25000" dirty="0">
                <a:solidFill>
                  <a:srgbClr val="FF0000"/>
                </a:solidFill>
                <a:latin typeface="Consolas" panose="020B0609020204030204" pitchFamily="49" charset="0"/>
              </a:rPr>
              <a:t>0</a:t>
            </a:r>
            <a:r>
              <a:rPr lang="zh-CN" altLang="en-US" b="1" dirty="0">
                <a:solidFill>
                  <a:srgbClr val="FF0000"/>
                </a:solidFill>
                <a:latin typeface="Consolas" panose="020B0609020204030204" pitchFamily="49" charset="0"/>
              </a:rPr>
              <a:t>到</a:t>
            </a:r>
            <a:r>
              <a:rPr lang="en-US" altLang="zh-CN" b="1" dirty="0">
                <a:solidFill>
                  <a:srgbClr val="FF0000"/>
                </a:solidFill>
                <a:latin typeface="Consolas" panose="020B0609020204030204" pitchFamily="49" charset="0"/>
              </a:rPr>
              <a:t>v</a:t>
            </a:r>
            <a:r>
              <a:rPr lang="en-US" altLang="zh-CN" b="1" baseline="-25000" dirty="0">
                <a:solidFill>
                  <a:srgbClr val="FF0000"/>
                </a:solidFill>
                <a:latin typeface="Consolas" panose="020B0609020204030204" pitchFamily="49" charset="0"/>
              </a:rPr>
              <a:t>1</a:t>
            </a:r>
            <a:r>
              <a:rPr lang="zh-CN" altLang="en-US" b="1" dirty="0">
                <a:solidFill>
                  <a:srgbClr val="FF0000"/>
                </a:solidFill>
                <a:latin typeface="Consolas" panose="020B0609020204030204" pitchFamily="49" charset="0"/>
              </a:rPr>
              <a:t>无路径</a:t>
            </a:r>
            <a:endParaRPr lang="zh-CN" altLang="en-US" b="1" dirty="0">
              <a:solidFill>
                <a:srgbClr val="FF0000"/>
              </a:solidFill>
              <a:latin typeface="Consolas" panose="020B0609020204030204" pitchFamily="49" charset="0"/>
            </a:endParaRPr>
          </a:p>
        </p:txBody>
      </p:sp>
      <p:sp>
        <p:nvSpPr>
          <p:cNvPr id="31" name="矩形 30"/>
          <p:cNvSpPr/>
          <p:nvPr/>
        </p:nvSpPr>
        <p:spPr>
          <a:xfrm>
            <a:off x="3363595" y="1705610"/>
            <a:ext cx="587375" cy="581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rPr>
              <a:t>20</a:t>
            </a:r>
            <a:endParaRPr kumimoji="0" lang="zh-CN" altLang="en-US" sz="1800" b="1" i="0" u="none" strike="noStrike" kern="1200" cap="none" spc="0" normalizeH="0" baseline="0" noProof="0" dirty="0">
              <a:ln>
                <a:noFill/>
              </a:ln>
              <a:solidFill>
                <a:srgbClr val="D60093"/>
              </a:solidFill>
              <a:effectLst>
                <a:outerShdw blurRad="38100" dist="38100" dir="2700000" algn="tl">
                  <a:srgbClr val="000000">
                    <a:alpha val="43137"/>
                  </a:srgbClr>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strVal val="4*#ppt_w"/>
                                          </p:val>
                                        </p:tav>
                                        <p:tav tm="100000">
                                          <p:val>
                                            <p:strVal val="#ppt_w"/>
                                          </p:val>
                                        </p:tav>
                                      </p:tavLst>
                                    </p:anim>
                                    <p:anim calcmode="lin" valueType="num">
                                      <p:cBhvr>
                                        <p:cTn id="8" dur="500" fill="hold"/>
                                        <p:tgtEl>
                                          <p:spTgt spid="27"/>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ppt_h/2"/>
                                          </p:val>
                                        </p:tav>
                                        <p:tav tm="100000">
                                          <p:val>
                                            <p:strVal val="#ppt_y"/>
                                          </p:val>
                                        </p:tav>
                                      </p:tavLst>
                                    </p:anim>
                                    <p:anim calcmode="lin" valueType="num">
                                      <p:cBhvr>
                                        <p:cTn id="21" dur="500" fill="hold"/>
                                        <p:tgtEl>
                                          <p:spTgt spid="8"/>
                                        </p:tgtEl>
                                        <p:attrNameLst>
                                          <p:attrName>ppt_w</p:attrName>
                                        </p:attrNameLst>
                                      </p:cBhvr>
                                      <p:tavLst>
                                        <p:tav tm="0">
                                          <p:val>
                                            <p:strVal val="#ppt_w"/>
                                          </p:val>
                                        </p:tav>
                                        <p:tav tm="100000">
                                          <p:val>
                                            <p:strVal val="#ppt_w"/>
                                          </p:val>
                                        </p:tav>
                                      </p:tavLst>
                                    </p:anim>
                                    <p:anim calcmode="lin" valueType="num">
                                      <p:cBhvr>
                                        <p:cTn id="22" dur="500" fill="hold"/>
                                        <p:tgtEl>
                                          <p:spTgt spid="8"/>
                                        </p:tgtEl>
                                        <p:attrNameLst>
                                          <p:attrName>ppt_h</p:attrName>
                                        </p:attrNameLst>
                                      </p:cBhvr>
                                      <p:tavLst>
                                        <p:tav tm="0">
                                          <p:val>
                                            <p:fltVal val="0.000000"/>
                                          </p:val>
                                        </p:tav>
                                        <p:tav tm="100000">
                                          <p:val>
                                            <p:strVal val="#ppt_h"/>
                                          </p:val>
                                        </p:tav>
                                      </p:tavLst>
                                    </p:anim>
                                  </p:childTnLst>
                                </p:cTn>
                              </p:par>
                            </p:childTnLst>
                          </p:cTn>
                        </p:par>
                        <p:par>
                          <p:cTn id="23" fill="hold">
                            <p:stCondLst>
                              <p:cond delay="500"/>
                            </p:stCondLst>
                            <p:childTnLst>
                              <p:par>
                                <p:cTn id="24" presetID="12" presetClass="entr" presetSubtype="4"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slide(fromBottom)">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2000"/>
                                        <p:tgtEl>
                                          <p:spTgt spid="29"/>
                                        </p:tgtEl>
                                      </p:cBhvr>
                                    </p:animEffect>
                                  </p:childTnLst>
                                </p:cTn>
                              </p:par>
                            </p:childTnLst>
                          </p:cTn>
                        </p:par>
                        <p:par>
                          <p:cTn id="32" fill="hold">
                            <p:stCondLst>
                              <p:cond delay="2000"/>
                            </p:stCondLst>
                            <p:childTnLst>
                              <p:par>
                                <p:cTn id="33" presetID="20"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edge">
                                      <p:cBhvr>
                                        <p:cTn id="35"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7" grpId="0" bldLvl="0" animBg="1"/>
      <p:bldP spid="29" grpId="0"/>
      <p:bldP spid="30"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9106535" cy="645160"/>
          </a:xfrm>
          <a:prstGeom prst="rect">
            <a:avLst/>
          </a:prstGeom>
          <a:noFill/>
        </p:spPr>
        <p:txBody>
          <a:bodyPr wrap="square" rtlCol="0">
            <a:spAutoFit/>
          </a:bodyPr>
          <a:p>
            <a:r>
              <a:rPr lang="en-US" sz="3600" b="1" dirty="0" smtClean="0">
                <a:solidFill>
                  <a:schemeClr val="bg1"/>
                </a:solidFill>
                <a:latin typeface="微软雅黑" panose="020B0503020204020204" pitchFamily="34" charset="-122"/>
                <a:ea typeface="微软雅黑" panose="020B0503020204020204" pitchFamily="34" charset="-122"/>
              </a:rPr>
              <a:t>7.6.1 </a:t>
            </a:r>
            <a:r>
              <a:rPr lang="zh-CN" altLang="en-US" sz="3600" b="1" dirty="0" smtClean="0">
                <a:solidFill>
                  <a:schemeClr val="bg1"/>
                </a:solidFill>
                <a:latin typeface="微软雅黑" panose="020B0503020204020204" pitchFamily="34" charset="-122"/>
                <a:ea typeface="微软雅黑" panose="020B0503020204020204" pitchFamily="34" charset="-122"/>
              </a:rPr>
              <a:t>从某个源点到其余顶点的最短路径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grpSp>
        <p:nvGrpSpPr>
          <p:cNvPr id="140291" name="Group 3"/>
          <p:cNvGrpSpPr/>
          <p:nvPr/>
        </p:nvGrpSpPr>
        <p:grpSpPr>
          <a:xfrm>
            <a:off x="2001520" y="1676400"/>
            <a:ext cx="2878455" cy="2362835"/>
            <a:chOff x="4032" y="576"/>
            <a:chExt cx="1468" cy="1401"/>
          </a:xfrm>
        </p:grpSpPr>
        <p:sp>
          <p:nvSpPr>
            <p:cNvPr id="140308" name="Oval 4"/>
            <p:cNvSpPr/>
            <p:nvPr/>
          </p:nvSpPr>
          <p:spPr>
            <a:xfrm>
              <a:off x="4080" y="9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0</a:t>
              </a:r>
              <a:endParaRPr lang="en-US" altLang="zh-CN" b="1" baseline="-25000" dirty="0">
                <a:solidFill>
                  <a:srgbClr val="0000CC"/>
                </a:solidFill>
                <a:latin typeface="Consolas" panose="020B0609020204030204" pitchFamily="49" charset="0"/>
              </a:endParaRPr>
            </a:p>
          </p:txBody>
        </p:sp>
        <p:sp>
          <p:nvSpPr>
            <p:cNvPr id="140309" name="Oval 5"/>
            <p:cNvSpPr/>
            <p:nvPr/>
          </p:nvSpPr>
          <p:spPr>
            <a:xfrm>
              <a:off x="4656" y="576"/>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5</a:t>
              </a:r>
              <a:endParaRPr lang="en-US" altLang="zh-CN" b="1" baseline="-25000" dirty="0">
                <a:solidFill>
                  <a:srgbClr val="0000CC"/>
                </a:solidFill>
                <a:latin typeface="Consolas" panose="020B0609020204030204" pitchFamily="49" charset="0"/>
              </a:endParaRPr>
            </a:p>
          </p:txBody>
        </p:sp>
        <p:sp>
          <p:nvSpPr>
            <p:cNvPr id="140310" name="Oval 6"/>
            <p:cNvSpPr/>
            <p:nvPr/>
          </p:nvSpPr>
          <p:spPr>
            <a:xfrm>
              <a:off x="4032" y="134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1</a:t>
              </a:r>
              <a:endParaRPr lang="en-US" altLang="zh-CN" b="1" baseline="-25000" dirty="0">
                <a:solidFill>
                  <a:srgbClr val="0000CC"/>
                </a:solidFill>
                <a:latin typeface="Consolas" panose="020B0609020204030204" pitchFamily="49" charset="0"/>
              </a:endParaRPr>
            </a:p>
          </p:txBody>
        </p:sp>
        <p:sp>
          <p:nvSpPr>
            <p:cNvPr id="140311" name="Oval 7"/>
            <p:cNvSpPr/>
            <p:nvPr/>
          </p:nvSpPr>
          <p:spPr>
            <a:xfrm>
              <a:off x="4560" y="168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2</a:t>
              </a:r>
              <a:endParaRPr lang="en-US" altLang="zh-CN" b="1" baseline="-25000" dirty="0">
                <a:solidFill>
                  <a:srgbClr val="0000CC"/>
                </a:solidFill>
                <a:latin typeface="Consolas" panose="020B0609020204030204" pitchFamily="49" charset="0"/>
              </a:endParaRPr>
            </a:p>
          </p:txBody>
        </p:sp>
        <p:sp>
          <p:nvSpPr>
            <p:cNvPr id="140312" name="Oval 8"/>
            <p:cNvSpPr/>
            <p:nvPr/>
          </p:nvSpPr>
          <p:spPr>
            <a:xfrm>
              <a:off x="5184" y="9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4</a:t>
              </a:r>
              <a:endParaRPr lang="en-US" altLang="zh-CN" b="1" baseline="-25000" dirty="0">
                <a:solidFill>
                  <a:srgbClr val="0000CC"/>
                </a:solidFill>
                <a:latin typeface="Consolas" panose="020B0609020204030204" pitchFamily="49" charset="0"/>
              </a:endParaRPr>
            </a:p>
          </p:txBody>
        </p:sp>
        <p:sp>
          <p:nvSpPr>
            <p:cNvPr id="140313" name="Oval 9"/>
            <p:cNvSpPr/>
            <p:nvPr/>
          </p:nvSpPr>
          <p:spPr>
            <a:xfrm>
              <a:off x="5184" y="144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CC"/>
                  </a:solidFill>
                  <a:latin typeface="Consolas" panose="020B0609020204030204" pitchFamily="49" charset="0"/>
                </a:rPr>
                <a:t>v</a:t>
              </a:r>
              <a:r>
                <a:rPr lang="en-US" altLang="zh-CN" b="1" baseline="-25000" dirty="0">
                  <a:solidFill>
                    <a:srgbClr val="0000CC"/>
                  </a:solidFill>
                  <a:latin typeface="Consolas" panose="020B0609020204030204" pitchFamily="49" charset="0"/>
                </a:rPr>
                <a:t>3</a:t>
              </a:r>
              <a:endParaRPr lang="en-US" altLang="zh-CN" b="1" baseline="-25000" dirty="0">
                <a:solidFill>
                  <a:srgbClr val="0000CC"/>
                </a:solidFill>
                <a:latin typeface="Consolas" panose="020B0609020204030204" pitchFamily="49" charset="0"/>
              </a:endParaRPr>
            </a:p>
          </p:txBody>
        </p:sp>
        <p:sp>
          <p:nvSpPr>
            <p:cNvPr id="140314" name="Line 10"/>
            <p:cNvSpPr/>
            <p:nvPr/>
          </p:nvSpPr>
          <p:spPr>
            <a:xfrm flipV="1">
              <a:off x="4368" y="768"/>
              <a:ext cx="288" cy="192"/>
            </a:xfrm>
            <a:prstGeom prst="line">
              <a:avLst/>
            </a:prstGeom>
            <a:ln w="28575" cap="flat" cmpd="sng">
              <a:solidFill>
                <a:srgbClr val="000000"/>
              </a:solidFill>
              <a:prstDash val="solid"/>
              <a:headEnd type="none" w="med" len="med"/>
              <a:tailEnd type="arrow" w="med" len="med"/>
            </a:ln>
          </p:spPr>
        </p:sp>
        <p:sp>
          <p:nvSpPr>
            <p:cNvPr id="140315" name="Line 11"/>
            <p:cNvSpPr/>
            <p:nvPr/>
          </p:nvSpPr>
          <p:spPr>
            <a:xfrm>
              <a:off x="4320" y="1584"/>
              <a:ext cx="240" cy="192"/>
            </a:xfrm>
            <a:prstGeom prst="line">
              <a:avLst/>
            </a:prstGeom>
            <a:ln w="28575" cap="flat" cmpd="sng">
              <a:solidFill>
                <a:srgbClr val="000000"/>
              </a:solidFill>
              <a:prstDash val="solid"/>
              <a:headEnd type="none" w="med" len="med"/>
              <a:tailEnd type="arrow" w="med" len="med"/>
            </a:ln>
          </p:spPr>
        </p:sp>
        <p:sp>
          <p:nvSpPr>
            <p:cNvPr id="140316" name="Line 12"/>
            <p:cNvSpPr/>
            <p:nvPr/>
          </p:nvSpPr>
          <p:spPr>
            <a:xfrm>
              <a:off x="4368" y="1152"/>
              <a:ext cx="288" cy="528"/>
            </a:xfrm>
            <a:prstGeom prst="line">
              <a:avLst/>
            </a:prstGeom>
            <a:ln w="28575" cap="flat" cmpd="sng">
              <a:solidFill>
                <a:srgbClr val="000000"/>
              </a:solidFill>
              <a:prstDash val="solid"/>
              <a:headEnd type="none" w="med" len="med"/>
              <a:tailEnd type="arrow" w="med" len="med"/>
            </a:ln>
          </p:spPr>
        </p:sp>
        <p:sp>
          <p:nvSpPr>
            <p:cNvPr id="140317" name="Line 13"/>
            <p:cNvSpPr/>
            <p:nvPr/>
          </p:nvSpPr>
          <p:spPr>
            <a:xfrm>
              <a:off x="4416" y="1056"/>
              <a:ext cx="768" cy="0"/>
            </a:xfrm>
            <a:prstGeom prst="line">
              <a:avLst/>
            </a:prstGeom>
            <a:ln w="28575" cap="flat" cmpd="sng">
              <a:solidFill>
                <a:srgbClr val="000000"/>
              </a:solidFill>
              <a:prstDash val="solid"/>
              <a:headEnd type="none" w="med" len="med"/>
              <a:tailEnd type="arrow" w="med" len="med"/>
            </a:ln>
          </p:spPr>
        </p:sp>
        <p:sp>
          <p:nvSpPr>
            <p:cNvPr id="140318" name="Line 14"/>
            <p:cNvSpPr/>
            <p:nvPr/>
          </p:nvSpPr>
          <p:spPr>
            <a:xfrm flipH="1" flipV="1">
              <a:off x="4992" y="768"/>
              <a:ext cx="240" cy="192"/>
            </a:xfrm>
            <a:prstGeom prst="line">
              <a:avLst/>
            </a:prstGeom>
            <a:ln w="28575" cap="flat" cmpd="sng">
              <a:solidFill>
                <a:srgbClr val="000000"/>
              </a:solidFill>
              <a:prstDash val="solid"/>
              <a:headEnd type="none" w="med" len="med"/>
              <a:tailEnd type="arrow" w="med" len="med"/>
            </a:ln>
          </p:spPr>
        </p:sp>
        <p:sp>
          <p:nvSpPr>
            <p:cNvPr id="140319" name="Line 15"/>
            <p:cNvSpPr/>
            <p:nvPr/>
          </p:nvSpPr>
          <p:spPr>
            <a:xfrm flipH="1" flipV="1">
              <a:off x="4896" y="864"/>
              <a:ext cx="336" cy="624"/>
            </a:xfrm>
            <a:prstGeom prst="line">
              <a:avLst/>
            </a:prstGeom>
            <a:ln w="28575" cap="flat" cmpd="sng">
              <a:solidFill>
                <a:srgbClr val="000000"/>
              </a:solidFill>
              <a:prstDash val="solid"/>
              <a:headEnd type="none" w="med" len="med"/>
              <a:tailEnd type="arrow" w="med" len="med"/>
            </a:ln>
          </p:spPr>
        </p:sp>
        <p:sp>
          <p:nvSpPr>
            <p:cNvPr id="140320" name="Line 16"/>
            <p:cNvSpPr/>
            <p:nvPr/>
          </p:nvSpPr>
          <p:spPr>
            <a:xfrm flipV="1">
              <a:off x="4896" y="1632"/>
              <a:ext cx="288" cy="144"/>
            </a:xfrm>
            <a:prstGeom prst="line">
              <a:avLst/>
            </a:prstGeom>
            <a:ln w="28575" cap="flat" cmpd="sng">
              <a:solidFill>
                <a:srgbClr val="000000"/>
              </a:solidFill>
              <a:prstDash val="solid"/>
              <a:headEnd type="none" w="med" len="med"/>
              <a:tailEnd type="arrow" w="med" len="med"/>
            </a:ln>
          </p:spPr>
        </p:sp>
        <p:sp>
          <p:nvSpPr>
            <p:cNvPr id="140321" name="Line 17"/>
            <p:cNvSpPr/>
            <p:nvPr/>
          </p:nvSpPr>
          <p:spPr>
            <a:xfrm>
              <a:off x="5328" y="1200"/>
              <a:ext cx="0" cy="240"/>
            </a:xfrm>
            <a:prstGeom prst="line">
              <a:avLst/>
            </a:prstGeom>
            <a:ln w="28575" cap="flat" cmpd="sng">
              <a:solidFill>
                <a:srgbClr val="000000"/>
              </a:solidFill>
              <a:prstDash val="solid"/>
              <a:headEnd type="none" w="med" len="med"/>
              <a:tailEnd type="arrow" w="med" len="med"/>
            </a:ln>
          </p:spPr>
        </p:sp>
        <p:sp>
          <p:nvSpPr>
            <p:cNvPr id="140322" name="Text Box 18"/>
            <p:cNvSpPr txBox="1"/>
            <p:nvPr/>
          </p:nvSpPr>
          <p:spPr>
            <a:xfrm rot="-1783855">
              <a:off x="4272" y="624"/>
              <a:ext cx="384"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3" name="Text Box 19"/>
            <p:cNvSpPr txBox="1"/>
            <p:nvPr/>
          </p:nvSpPr>
          <p:spPr>
            <a:xfrm rot="2316979">
              <a:off x="5136" y="691"/>
              <a:ext cx="240"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60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4" name="Text Box 20"/>
            <p:cNvSpPr txBox="1"/>
            <p:nvPr/>
          </p:nvSpPr>
          <p:spPr>
            <a:xfrm>
              <a:off x="4556" y="835"/>
              <a:ext cx="292"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30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5" name="Text Box 21"/>
            <p:cNvSpPr txBox="1"/>
            <p:nvPr/>
          </p:nvSpPr>
          <p:spPr>
            <a:xfrm>
              <a:off x="4892" y="1171"/>
              <a:ext cx="244"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6" name="Text Box 22"/>
            <p:cNvSpPr txBox="1"/>
            <p:nvPr/>
          </p:nvSpPr>
          <p:spPr>
            <a:xfrm>
              <a:off x="4460" y="1171"/>
              <a:ext cx="244"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10</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7" name="Text Box 23"/>
            <p:cNvSpPr txBox="1"/>
            <p:nvPr/>
          </p:nvSpPr>
          <p:spPr>
            <a:xfrm>
              <a:off x="4320" y="1603"/>
              <a:ext cx="144"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5</a:t>
              </a:r>
              <a:endParaRPr lang="en-US" altLang="zh-CN" sz="2200" b="1" dirty="0">
                <a:solidFill>
                  <a:srgbClr val="800080"/>
                </a:solidFill>
                <a:latin typeface="Arial" panose="020B0604020202020204" pitchFamily="34" charset="0"/>
                <a:ea typeface="宋体" panose="02010600030101010101" pitchFamily="2" charset="-122"/>
              </a:endParaRPr>
            </a:p>
          </p:txBody>
        </p:sp>
        <p:sp>
          <p:nvSpPr>
            <p:cNvPr id="140328" name="Text Box 24"/>
            <p:cNvSpPr txBox="1"/>
            <p:nvPr/>
          </p:nvSpPr>
          <p:spPr>
            <a:xfrm>
              <a:off x="4848" y="1507"/>
              <a:ext cx="244" cy="25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sz="2200" b="1" dirty="0">
                  <a:solidFill>
                    <a:srgbClr val="800080"/>
                  </a:solidFill>
                  <a:latin typeface="Arial" panose="020B0604020202020204" pitchFamily="34" charset="0"/>
                  <a:ea typeface="宋体" panose="02010600030101010101" pitchFamily="2" charset="-122"/>
                </a:rPr>
                <a:t>50</a:t>
              </a:r>
              <a:endParaRPr lang="en-US" altLang="zh-CN" sz="2200" b="1" dirty="0">
                <a:solidFill>
                  <a:srgbClr val="800080"/>
                </a:solidFill>
                <a:latin typeface="Arial" panose="020B0604020202020204" pitchFamily="34" charset="0"/>
                <a:ea typeface="宋体" panose="02010600030101010101" pitchFamily="2" charset="-122"/>
              </a:endParaRPr>
            </a:p>
          </p:txBody>
        </p:sp>
      </p:grpSp>
      <p:grpSp>
        <p:nvGrpSpPr>
          <p:cNvPr id="140293" name="Group 26"/>
          <p:cNvGrpSpPr/>
          <p:nvPr/>
        </p:nvGrpSpPr>
        <p:grpSpPr>
          <a:xfrm>
            <a:off x="6468745" y="1213485"/>
            <a:ext cx="3721100" cy="2971800"/>
            <a:chOff x="1488" y="672"/>
            <a:chExt cx="2344" cy="1872"/>
          </a:xfrm>
        </p:grpSpPr>
        <p:graphicFrame>
          <p:nvGraphicFramePr>
            <p:cNvPr id="140295" name="Object 27"/>
            <p:cNvGraphicFramePr>
              <a:graphicFrameLocks noChangeAspect="1"/>
            </p:cNvGraphicFramePr>
            <p:nvPr/>
          </p:nvGraphicFramePr>
          <p:xfrm>
            <a:off x="1735" y="919"/>
            <a:ext cx="2097" cy="1623"/>
          </p:xfrm>
          <a:graphic>
            <a:graphicData uri="http://schemas.openxmlformats.org/presentationml/2006/ole">
              <mc:AlternateContent xmlns:mc="http://schemas.openxmlformats.org/markup-compatibility/2006">
                <mc:Choice xmlns:v="urn:schemas-microsoft-com:vml" Requires="v">
                  <p:oleObj spid="_x0000_s3080" name="" r:id="rId1" imgW="1765300" imgH="1371600" progId="Equation.3">
                    <p:embed/>
                  </p:oleObj>
                </mc:Choice>
                <mc:Fallback>
                  <p:oleObj name="" r:id="rId1" imgW="1765300" imgH="1371600" progId="Equation.3">
                    <p:embed/>
                    <p:pic>
                      <p:nvPicPr>
                        <p:cNvPr id="0" name="图片 3079"/>
                        <p:cNvPicPr/>
                        <p:nvPr/>
                      </p:nvPicPr>
                      <p:blipFill>
                        <a:blip r:embed="rId2"/>
                        <a:stretch>
                          <a:fillRect/>
                        </a:stretch>
                      </p:blipFill>
                      <p:spPr>
                        <a:xfrm>
                          <a:off x="1735" y="919"/>
                          <a:ext cx="2097" cy="1623"/>
                        </a:xfrm>
                        <a:prstGeom prst="rect">
                          <a:avLst/>
                        </a:prstGeom>
                        <a:noFill/>
                        <a:ln w="38100">
                          <a:noFill/>
                          <a:miter/>
                        </a:ln>
                      </p:spPr>
                    </p:pic>
                  </p:oleObj>
                </mc:Fallback>
              </mc:AlternateContent>
            </a:graphicData>
          </a:graphic>
        </p:graphicFrame>
        <p:sp>
          <p:nvSpPr>
            <p:cNvPr id="140296" name="Text Box 28"/>
            <p:cNvSpPr txBox="1"/>
            <p:nvPr/>
          </p:nvSpPr>
          <p:spPr>
            <a:xfrm>
              <a:off x="1488" y="91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0</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297" name="Text Box 29"/>
            <p:cNvSpPr txBox="1"/>
            <p:nvPr/>
          </p:nvSpPr>
          <p:spPr>
            <a:xfrm>
              <a:off x="182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0</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298" name="Text Box 30"/>
            <p:cNvSpPr txBox="1"/>
            <p:nvPr/>
          </p:nvSpPr>
          <p:spPr>
            <a:xfrm>
              <a:off x="2112"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1</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299" name="Text Box 31"/>
            <p:cNvSpPr txBox="1"/>
            <p:nvPr/>
          </p:nvSpPr>
          <p:spPr>
            <a:xfrm>
              <a:off x="2448"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2</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0" name="Text Box 32"/>
            <p:cNvSpPr txBox="1"/>
            <p:nvPr/>
          </p:nvSpPr>
          <p:spPr>
            <a:xfrm>
              <a:off x="1488" y="115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1</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1" name="Text Box 33"/>
            <p:cNvSpPr txBox="1"/>
            <p:nvPr/>
          </p:nvSpPr>
          <p:spPr>
            <a:xfrm>
              <a:off x="278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3</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2" name="Text Box 34"/>
            <p:cNvSpPr txBox="1"/>
            <p:nvPr/>
          </p:nvSpPr>
          <p:spPr>
            <a:xfrm>
              <a:off x="3120"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4</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3" name="Text Box 35"/>
            <p:cNvSpPr txBox="1"/>
            <p:nvPr/>
          </p:nvSpPr>
          <p:spPr>
            <a:xfrm>
              <a:off x="3504" y="672"/>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5</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4" name="Text Box 36"/>
            <p:cNvSpPr txBox="1"/>
            <p:nvPr/>
          </p:nvSpPr>
          <p:spPr>
            <a:xfrm>
              <a:off x="1488" y="1440"/>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2</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5" name="Text Box 37"/>
            <p:cNvSpPr txBox="1"/>
            <p:nvPr/>
          </p:nvSpPr>
          <p:spPr>
            <a:xfrm>
              <a:off x="1488" y="1728"/>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3</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6" name="Text Box 38"/>
            <p:cNvSpPr txBox="1"/>
            <p:nvPr/>
          </p:nvSpPr>
          <p:spPr>
            <a:xfrm>
              <a:off x="1488" y="1968"/>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4</a:t>
              </a:r>
              <a:endParaRPr lang="en-US" altLang="zh-CN" b="1" baseline="-25000" dirty="0">
                <a:solidFill>
                  <a:srgbClr val="FF0000"/>
                </a:solidFill>
                <a:latin typeface="Arial" panose="020B0604020202020204" pitchFamily="34" charset="0"/>
                <a:ea typeface="宋体" panose="02010600030101010101" pitchFamily="2" charset="-122"/>
              </a:endParaRPr>
            </a:p>
          </p:txBody>
        </p:sp>
        <p:sp>
          <p:nvSpPr>
            <p:cNvPr id="140307" name="Text Box 39"/>
            <p:cNvSpPr txBox="1"/>
            <p:nvPr/>
          </p:nvSpPr>
          <p:spPr>
            <a:xfrm>
              <a:off x="1488" y="2256"/>
              <a:ext cx="240" cy="288"/>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Clr>
                  <a:schemeClr val="hlink"/>
                </a:buClr>
                <a:buSzPct val="70000"/>
                <a:buFont typeface="Wingdings" panose="05000000000000000000" pitchFamily="2" charset="2"/>
                <a:buNone/>
              </a:pPr>
              <a:r>
                <a:rPr lang="en-US" altLang="zh-CN" b="1" dirty="0">
                  <a:solidFill>
                    <a:srgbClr val="FF0000"/>
                  </a:solidFill>
                  <a:latin typeface="Arial" panose="020B0604020202020204" pitchFamily="34" charset="0"/>
                  <a:ea typeface="宋体" panose="02010600030101010101" pitchFamily="2" charset="-122"/>
                </a:rPr>
                <a:t>v</a:t>
              </a:r>
              <a:r>
                <a:rPr lang="en-US" altLang="zh-CN" b="1" baseline="-25000" dirty="0">
                  <a:solidFill>
                    <a:srgbClr val="FF0000"/>
                  </a:solidFill>
                  <a:latin typeface="Arial" panose="020B0604020202020204" pitchFamily="34" charset="0"/>
                  <a:ea typeface="宋体" panose="02010600030101010101" pitchFamily="2" charset="-122"/>
                </a:rPr>
                <a:t>5</a:t>
              </a:r>
              <a:endParaRPr lang="en-US" altLang="zh-CN" b="1" baseline="-25000" dirty="0">
                <a:solidFill>
                  <a:srgbClr val="FF0000"/>
                </a:solidFill>
                <a:latin typeface="Arial" panose="020B0604020202020204" pitchFamily="34" charset="0"/>
                <a:ea typeface="宋体" panose="02010600030101010101" pitchFamily="2" charset="-122"/>
              </a:endParaRPr>
            </a:p>
          </p:txBody>
        </p:sp>
      </p:grpSp>
      <p:sp>
        <p:nvSpPr>
          <p:cNvPr id="140294" name="Text Box 40"/>
          <p:cNvSpPr txBox="1"/>
          <p:nvPr/>
        </p:nvSpPr>
        <p:spPr>
          <a:xfrm>
            <a:off x="1504950" y="4824095"/>
            <a:ext cx="9504680" cy="101473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457200" eaLnBrk="1" hangingPunct="1">
              <a:lnSpc>
                <a:spcPct val="125000"/>
              </a:lnSpc>
              <a:spcBef>
                <a:spcPts val="0"/>
              </a:spcBef>
              <a:buClr>
                <a:schemeClr val="hlink"/>
              </a:buClr>
              <a:buSzPct val="70000"/>
              <a:buFont typeface="Wingdings" panose="05000000000000000000" pitchFamily="2" charset="2"/>
              <a:buNone/>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由上述过程可以看出，</a:t>
            </a: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Dijkstra</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算法是一种按路径长度递增的次序产生最短路径的方法。</a:t>
            </a:r>
            <a:r>
              <a:rPr lang="zh-CN" altLang="en-US" b="1" dirty="0">
                <a:solidFill>
                  <a:srgbClr val="000000"/>
                </a:solidFill>
                <a:latin typeface="Arial" panose="020B0604020202020204" pitchFamily="34" charset="0"/>
                <a:ea typeface="宋体" panose="02010600030101010101" pitchFamily="2" charset="-122"/>
              </a:rPr>
              <a:t> </a:t>
            </a:r>
            <a:endParaRPr lang="zh-CN" altLang="en-US" b="1"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Dijkstra</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1315" name="Rectangle 4"/>
          <p:cNvSpPr>
            <a:spLocks noGrp="1"/>
          </p:cNvSpPr>
          <p:nvPr>
            <p:ph idx="1"/>
          </p:nvPr>
        </p:nvSpPr>
        <p:spPr>
          <a:xfrm>
            <a:off x="1981200" y="981075"/>
            <a:ext cx="8229600" cy="53340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table(</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长度为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中</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known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false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且</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dist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最小的元素的位置</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int SmallestUnknownDistIndex(TableEntry table[], int 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min=INT_MAX;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index=-1;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i&lt;n;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if(table[i].known)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continue;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if(table[i].dist&lt;min){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min=table[i].dist;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index=i;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index;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6978650" cy="645160"/>
          </a:xfrm>
          <a:prstGeom prst="rect">
            <a:avLst/>
          </a:prstGeom>
          <a:noFill/>
        </p:spPr>
        <p:txBody>
          <a:bodyPr wrap="square" rtlCol="0">
            <a:spAutoFit/>
          </a:bodyPr>
          <a:p>
            <a:r>
              <a:rPr lang="en-US" altLang="zh-CN" sz="3600" b="1" dirty="0" smtClean="0">
                <a:solidFill>
                  <a:schemeClr val="bg1"/>
                </a:solidFill>
                <a:latin typeface="微软雅黑" panose="020B0503020204020204" pitchFamily="34" charset="-122"/>
                <a:ea typeface="微软雅黑" panose="020B0503020204020204" pitchFamily="34" charset="-122"/>
              </a:rPr>
              <a:t>Dijkstra</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算法程序实现（续 </a:t>
            </a:r>
            <a:r>
              <a:rPr lang="en-US" altLang="zh-CN" sz="3600" b="1" dirty="0" smtClean="0">
                <a:solidFill>
                  <a:schemeClr val="bg1"/>
                </a:solidFill>
                <a:latin typeface="微软雅黑" panose="020B0503020204020204" pitchFamily="34" charset="-122"/>
                <a:ea typeface="微软雅黑" panose="020B0503020204020204" pitchFamily="34" charset="-122"/>
              </a:rPr>
              <a:t>1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2339" name="Rectangle 4"/>
          <p:cNvSpPr>
            <a:spLocks noGrp="1"/>
          </p:cNvSpPr>
          <p:nvPr>
            <p:ph idx="1"/>
          </p:nvPr>
        </p:nvSpPr>
        <p:spPr>
          <a:xfrm>
            <a:off x="1505268" y="1019175"/>
            <a:ext cx="9181465" cy="525780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Dijkstra</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算法求有向图</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的顶点</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vex</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到其余顶点的最短路径，返回</a:t>
            </a:r>
            <a:endPar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TableEntry</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类型数组</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template &lt;class VertexType&gt;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TableEntry* ShortestPath_DIJ(ALGraph&lt;VertexType&gt;&amp; g, VertexType vex)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i, v, 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int start=g.LocateVertex(vex);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EdgeNode*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TableEntry* table=new TableEntry[g.GetNumVertices()];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//init table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for(i=0; i&lt;g.GetNumVertices(); i++){</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table[i].known=false;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table[i].dist=INT_MAX;</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table[i].preVertex=-1;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table[start].dist=0;</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2" name="文本框 1"/>
          <p:cNvSpPr txBox="1"/>
          <p:nvPr/>
        </p:nvSpPr>
        <p:spPr>
          <a:xfrm>
            <a:off x="410845" y="106680"/>
            <a:ext cx="6978650"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Dijkstra</a:t>
            </a:r>
            <a:r>
              <a:rPr lang="zh-CN" altLang="en-US" sz="3600" b="1" dirty="0" smtClean="0">
                <a:solidFill>
                  <a:schemeClr val="bg1"/>
                </a:solidFill>
                <a:latin typeface="微软雅黑" panose="020B0503020204020204" pitchFamily="34" charset="-122"/>
                <a:ea typeface="微软雅黑" panose="020B0503020204020204" pitchFamily="34" charset="-122"/>
              </a:rPr>
              <a:t>算法程序实现（续 </a:t>
            </a:r>
            <a:r>
              <a:rPr lang="en-US" altLang="zh-CN" sz="3600" b="1" dirty="0" smtClean="0">
                <a:solidFill>
                  <a:schemeClr val="bg1"/>
                </a:solidFill>
                <a:latin typeface="微软雅黑" panose="020B0503020204020204" pitchFamily="34" charset="-122"/>
                <a:ea typeface="微软雅黑" panose="020B0503020204020204" pitchFamily="34" charset="-122"/>
              </a:rPr>
              <a:t>2 </a:t>
            </a:r>
            <a:r>
              <a:rPr lang="zh-CN" altLang="en-US" sz="3600" b="1" dirty="0" smtClean="0">
                <a:solidFill>
                  <a:schemeClr val="bg1"/>
                </a:solidFill>
                <a:latin typeface="微软雅黑" panose="020B0503020204020204" pitchFamily="34" charset="-122"/>
                <a:ea typeface="微软雅黑" panose="020B0503020204020204" pitchFamily="34" charset="-122"/>
              </a:rPr>
              <a:t>）</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3363" name="Rectangle 4"/>
          <p:cNvSpPr>
            <a:spLocks noGrp="1"/>
          </p:cNvSpPr>
          <p:nvPr>
            <p:ph idx="1"/>
          </p:nvPr>
        </p:nvSpPr>
        <p:spPr>
          <a:xfrm>
            <a:off x="1743710" y="858520"/>
            <a:ext cx="8705215" cy="5579110"/>
          </a:xfrm>
          <a:solidFill>
            <a:schemeClr val="accent1">
              <a:lumMod val="20000"/>
              <a:lumOff val="80000"/>
            </a:schemeClr>
          </a:solidFill>
          <a:ln w="3175">
            <a:solidFill>
              <a:schemeClr val="tx2">
                <a:alpha val="100000"/>
              </a:schemeClr>
            </a:solidFill>
            <a:miter lim="800000"/>
          </a:ln>
        </p:spPr>
        <p:txBody>
          <a:bodyPr vert="horz" wrap="none" lIns="90000" tIns="46800" rIns="90000" bIns="46800" anchor="ctr">
            <a:normAutofit lnSpcReduction="20000"/>
          </a:bodyPr>
          <a:p>
            <a:pPr>
              <a:buNone/>
            </a:pPr>
            <a:r>
              <a:rPr lang="en-US" altLang="zh-CN" sz="1800" dirty="0">
                <a:solidFill>
                  <a:schemeClr val="tx1"/>
                </a:solidFill>
                <a:latin typeface="Times New Roman" panose="02020603050405020304" pitchFamily="18" charset="0"/>
                <a:cs typeface="Times New Roman" panose="02020603050405020304" pitchFamily="18" charset="0"/>
              </a:rPr>
              <a:t>    while(true){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v=SmallestUnknownDistIndex(table, g.GetNumVertices());</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if(v==-1)</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break;</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table[v].known=true;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for(w=g.GetFirstAdjVex(v); w!=-1; w=g.GetNextAdjVex(v,w)){</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if(!table[w].known){</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g.GetEdge(v, w, edge);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if(table[v].dist+edge-&gt;weight&lt;table[w].dist){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table[w].dist=table[v].dist+edge-&gt;weight;</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table[w].preVertex=v;</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    return table;</a:t>
            </a:r>
            <a:endParaRPr lang="en-US" altLang="zh-CN" sz="1800" dirty="0">
              <a:solidFill>
                <a:schemeClr val="tx1"/>
              </a:solidFill>
              <a:latin typeface="Times New Roman" panose="02020603050405020304" pitchFamily="18" charset="0"/>
              <a:cs typeface="Times New Roman" panose="02020603050405020304" pitchFamily="18" charset="0"/>
            </a:endParaRPr>
          </a:p>
          <a:p>
            <a:pPr>
              <a:buNone/>
            </a:pPr>
            <a:r>
              <a:rPr lang="en-US" altLang="zh-CN" sz="1800" dirty="0">
                <a:solidFill>
                  <a:schemeClr val="tx1"/>
                </a:solidFill>
                <a:latin typeface="Times New Roman" panose="02020603050405020304" pitchFamily="18" charset="0"/>
                <a:cs typeface="Times New Roman" panose="02020603050405020304" pitchFamily="18" charset="0"/>
              </a:rPr>
              <a:t>}</a:t>
            </a:r>
            <a:endParaRPr lang="en-US" altLang="zh-C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en-US" sz="3600" b="1" dirty="0" smtClean="0">
                <a:solidFill>
                  <a:schemeClr val="bg1"/>
                </a:solidFill>
                <a:latin typeface="微软雅黑" panose="020B0503020204020204" pitchFamily="34" charset="-122"/>
                <a:ea typeface="微软雅黑" panose="020B0503020204020204" pitchFamily="34" charset="-122"/>
              </a:rPr>
              <a:t>5.6.2 </a:t>
            </a:r>
            <a:r>
              <a:rPr lang="zh-CN" altLang="en-US" sz="3600" b="1" dirty="0" smtClean="0">
                <a:solidFill>
                  <a:schemeClr val="bg1"/>
                </a:solidFill>
                <a:latin typeface="微软雅黑" panose="020B0503020204020204" pitchFamily="34" charset="-122"/>
                <a:ea typeface="微软雅黑" panose="020B0503020204020204" pitchFamily="34" charset="-122"/>
              </a:rPr>
              <a:t>每对顶点间的最短路径</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5411" name="内容占位符 2"/>
          <p:cNvSpPr>
            <a:spLocks noGrp="1"/>
          </p:cNvSpPr>
          <p:nvPr>
            <p:ph idx="1"/>
          </p:nvPr>
        </p:nvSpPr>
        <p:spPr>
          <a:xfrm>
            <a:off x="556260" y="1253490"/>
            <a:ext cx="10972165" cy="4351655"/>
          </a:xfrm>
        </p:spPr>
        <p:txBody>
          <a:bodyPr vert="horz" wrap="square" lIns="91440" tIns="45720" rIns="91440" bIns="45720" anchor="t"/>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个顶点的图，求每一对顶点间的最短路径，方法有二：</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Dijkstra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算法，求每个顶点到其他各顶点间的最短路径，每次以一个顶点为源点，重复执行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Dijkstra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算法。总时间复杂度是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弗洛伊德</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（Floyd）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提出来的，时间复杂度也是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O(n3)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，但形式上简单。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弗洛伊德算法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6435" name="内容占位符 2"/>
          <p:cNvSpPr>
            <a:spLocks noGrp="1"/>
          </p:cNvSpPr>
          <p:nvPr>
            <p:ph idx="1"/>
          </p:nvPr>
        </p:nvSpPr>
        <p:spPr>
          <a:xfrm>
            <a:off x="410845" y="1252855"/>
            <a:ext cx="10515600" cy="4942205"/>
          </a:xfrm>
        </p:spPr>
        <p:txBody>
          <a:bodyPr vert="horz" wrap="square" lIns="91440" tIns="45720" rIns="91440" bIns="45720" anchor="t">
            <a:normAutofit lnSpcReduction="20000"/>
          </a:bodyPr>
          <a:p>
            <a:pPr fontAlgn="auto">
              <a:lnSpc>
                <a:spcPct val="125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基本思想</a:t>
            </a:r>
            <a:r>
              <a:rPr lang="zh-CN" altLang="en-US" sz="222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vj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的所有可能存在的路径中，选出一条长度最短的路径。</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&lt;vi,vj&gt;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存在，则存在路径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{vi,vj}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路径中不含其它顶点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&lt;vi,v1&gt;,&lt;v1,vj&gt;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存在，则存在路径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{vi,v1,vj}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路径中所含顶点序号不大于</a:t>
            </a:r>
            <a:r>
              <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{vi,…,v2}, {v2,…,vj}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存在，则存在一条路径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{vi, …, v2, …vj}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路径中所含顶点序号不大于</a:t>
            </a:r>
            <a:r>
              <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20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依次类推，则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vi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至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vj </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的最短路径应是上述这些路径中，路径长度最小者</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弗洛伊德算法</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7459" name="内容占位符 2"/>
          <p:cNvSpPr>
            <a:spLocks noGrp="1"/>
          </p:cNvSpPr>
          <p:nvPr>
            <p:ph idx="1"/>
          </p:nvPr>
        </p:nvSpPr>
        <p:spPr>
          <a:xfrm>
            <a:off x="217170" y="1128395"/>
            <a:ext cx="11600815" cy="4351655"/>
          </a:xfrm>
        </p:spPr>
        <p:txBody>
          <a:bodyPr vert="horz" wrap="square" lIns="91440" tIns="45720" rIns="91440" bIns="45720" anchor="t">
            <a:normAutofit/>
          </a:bodyPr>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i="1" baseline="30000"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的中间顶点序号不大于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的最短路径长度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（k=1，2，„，n）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，那么对它做</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次迭代，第</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次迭代后，</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即为</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的最短路径值，因为它中间的顶点不受限制，即允许为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。算法递推地产生各矩阵序列（逻辑上）：</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其始基是</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（即图的邻接矩阵）。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设图顶点是从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起编的连续自然数，每条弧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都有一个非负的权值</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cost(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不存在时，</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cost(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∞；对任意不同的顶点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，定义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为顶点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中间顶点序号不大于</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的最短路径长度，那么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25000"/>
              </a:lnSpc>
              <a:buNone/>
            </a:pP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cost(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fontAlgn="auto">
              <a:lnSpc>
                <a:spcPct val="125000"/>
              </a:lnSpc>
              <a:buNone/>
            </a:pP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)=Min{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 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7" name="矩形 6"/>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3" name="文本框 12"/>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3" name="文本框 2"/>
          <p:cNvSpPr txBox="1"/>
          <p:nvPr/>
        </p:nvSpPr>
        <p:spPr>
          <a:xfrm>
            <a:off x="410845" y="106680"/>
            <a:ext cx="6978650" cy="645160"/>
          </a:xfrm>
          <a:prstGeom prst="rect">
            <a:avLst/>
          </a:prstGeom>
          <a:noFill/>
        </p:spPr>
        <p:txBody>
          <a:bodyPr wrap="square" rtlCol="0">
            <a:spAutoFit/>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本章小结</a:t>
            </a:r>
            <a:endParaRPr lang="zh-CN" altLang="en-US" sz="3600" b="1" dirty="0" smtClean="0">
              <a:solidFill>
                <a:schemeClr val="bg1"/>
              </a:solidFill>
              <a:latin typeface="微软雅黑" panose="020B0503020204020204" pitchFamily="34" charset="-122"/>
              <a:ea typeface="微软雅黑" panose="020B0503020204020204" pitchFamily="34" charset="-122"/>
            </a:endParaRPr>
          </a:p>
        </p:txBody>
      </p:sp>
      <p:sp>
        <p:nvSpPr>
          <p:cNvPr id="148483" name="内容占位符 2"/>
          <p:cNvSpPr>
            <a:spLocks noGrp="1"/>
          </p:cNvSpPr>
          <p:nvPr>
            <p:ph idx="1"/>
          </p:nvPr>
        </p:nvSpPr>
        <p:spPr>
          <a:xfrm>
            <a:off x="514985" y="1252855"/>
            <a:ext cx="10779125" cy="4351655"/>
          </a:xfrm>
        </p:spPr>
        <p:txBody>
          <a:bodyPr vert="horz" wrap="square" lIns="91440" tIns="45720" rIns="91440" bIns="45720" anchor="t"/>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熟悉图的各种存储结构及其构造算法，了解实际问题的求解效率与采用何种存储结构和算法有密切联系。</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熟练掌握图的两种搜索路径的遍历：遍历的逻辑定义、深度优先搜索和广度优先搜索的算法。 在学习中应注意图的遍历算法与树的遍历算法之间的类似和差异。</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应用图的遍历算法求解各种简单路径问题。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5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理解教科书中讨论的各种图的算法。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2015067"/>
            <a:ext cx="12191999" cy="30818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OPPOSans B" panose="00020600040101010101" pitchFamily="18" charset="-122"/>
              <a:ea typeface="思源黑体 CN Regular"/>
              <a:cs typeface="+mn-cs"/>
            </a:endParaRPr>
          </a:p>
        </p:txBody>
      </p:sp>
      <p:sp>
        <p:nvSpPr>
          <p:cNvPr id="17" name="文本框 283"/>
          <p:cNvSpPr txBox="1"/>
          <p:nvPr/>
        </p:nvSpPr>
        <p:spPr>
          <a:xfrm>
            <a:off x="-161290" y="2459894"/>
            <a:ext cx="12191999" cy="1938020"/>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8000" b="1" i="0" u="none" strike="noStrike" kern="1200" cap="none" spc="1000" normalizeH="0" baseline="0" noProof="0" dirty="0" smtClean="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Thank You!</a:t>
            </a:r>
            <a:endParaRPr kumimoji="0" lang="en-US" altLang="en-US" sz="8000" b="1" i="0" u="none" strike="noStrike" kern="1200" cap="none" spc="1000" normalizeH="0" baseline="0" noProof="0" dirty="0" smtClean="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KSO_WM_UNIT_TABLE_BEAUTIFY" val="smartTable{a2e991c2-01e0-4f9b-8021-f0c54ec38a27}"/>
</p:tagLst>
</file>

<file path=ppt/tags/tag3.xml><?xml version="1.0" encoding="utf-8"?>
<p:tagLst xmlns:p="http://schemas.openxmlformats.org/presentationml/2006/main">
  <p:tag name="KSO_WM_UNIT_TABLE_BEAUTIFY" val="smartTable{0cb1335c-8047-440e-962b-41e8c920a156}"/>
</p:tagLst>
</file>

<file path=ppt/tags/tag4.xml><?xml version="1.0" encoding="utf-8"?>
<p:tagLst xmlns:p="http://schemas.openxmlformats.org/presentationml/2006/main">
  <p:tag name="KSO_WM_UNIT_TABLE_BEAUTIFY" val="smartTable{44fa6b4e-f216-455a-80be-9d6ca5440e69}"/>
</p:tagLst>
</file>

<file path=ppt/tags/tag5.xml><?xml version="1.0" encoding="utf-8"?>
<p:tagLst xmlns:p="http://schemas.openxmlformats.org/presentationml/2006/main">
  <p:tag name="KSO_WM_UNIT_TABLE_BEAUTIFY" val="smartTable{ce9e274d-87e1-4b0c-b6fa-f290ff9cde95}"/>
</p:tagLst>
</file>

<file path=ppt/tags/tag6.xml><?xml version="1.0" encoding="utf-8"?>
<p:tagLst xmlns:p="http://schemas.openxmlformats.org/presentationml/2006/main">
  <p:tag name="KSO_WM_UNIT_TABLE_BEAUTIFY" val="smartTable{2f4fd21f-71f5-4da6-8730-ff68439fda21}"/>
</p:tagLst>
</file>

<file path=ppt/tags/tag7.xml><?xml version="1.0" encoding="utf-8"?>
<p:tagLst xmlns:p="http://schemas.openxmlformats.org/presentationml/2006/main">
  <p:tag name="KSO_WM_UNIT_TABLE_BEAUTIFY" val="smartTable{7b0e2f27-14ba-4227-b2be-e3ac0f4b628f}"/>
</p:tagLst>
</file>

<file path=ppt/tags/tag8.xml><?xml version="1.0" encoding="utf-8"?>
<p:tagLst xmlns:p="http://schemas.openxmlformats.org/presentationml/2006/main">
  <p:tag name="KSO_WM_UNIT_TABLE_BEAUTIFY" val="smartTable{aafc29fa-8e9f-4b41-8905-8a40ea17724f}"/>
</p:tagLst>
</file>

<file path=ppt/tags/tag9.xml><?xml version="1.0" encoding="utf-8"?>
<p:tagLst xmlns:p="http://schemas.openxmlformats.org/presentationml/2006/main">
  <p:tag name="KSO_WM_UNIT_TABLE_BEAUTIFY" val="smartTable{6a4cbae3-3824-4b07-b46d-a9681c18d5ce}"/>
</p:tagLst>
</file>

<file path=ppt/tags/tag10.xml><?xml version="1.0" encoding="utf-8"?>
<p:tagLst xmlns:p="http://schemas.openxmlformats.org/presentationml/2006/main">
  <p:tag name="KSO_WM_UNIT_TABLE_BEAUTIFY" val="smartTable{8171e09d-6cc0-496c-a7f1-40f44e00e358}"/>
</p:tagLst>
</file>

<file path=ppt/tags/tag11.xml><?xml version="1.0" encoding="utf-8"?>
<p:tagLst xmlns:p="http://schemas.openxmlformats.org/presentationml/2006/main">
  <p:tag name="KSO_WM_UNIT_TABLE_BEAUTIFY" val="smartTable{acd92c8d-6150-4561-ae32-503602f83240}"/>
</p:tagLst>
</file>

<file path=ppt/tags/tag12.xml><?xml version="1.0" encoding="utf-8"?>
<p:tagLst xmlns:p="http://schemas.openxmlformats.org/presentationml/2006/main">
  <p:tag name="ISLIDE.ICON" val="#404870;#405337;#404870;#393849;#394159;#171092;#134425;#37043;#393940;"/>
</p:tagLst>
</file>

<file path=ppt/tags/tag13.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ppt/theme/themeOverride2.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35937</Words>
  <Application>WPS 演示</Application>
  <PresentationFormat>宽屏</PresentationFormat>
  <Paragraphs>3355</Paragraphs>
  <Slides>136</Slides>
  <Notes>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5</vt:i4>
      </vt:variant>
      <vt:variant>
        <vt:lpstr>幻灯片标题</vt:lpstr>
      </vt:variant>
      <vt:variant>
        <vt:i4>136</vt:i4>
      </vt:variant>
    </vt:vector>
  </HeadingPairs>
  <TitlesOfParts>
    <vt:vector size="157" baseType="lpstr">
      <vt:lpstr>Arial</vt:lpstr>
      <vt:lpstr>宋体</vt:lpstr>
      <vt:lpstr>Wingdings</vt:lpstr>
      <vt:lpstr>OPPOSans R</vt:lpstr>
      <vt:lpstr>OPPOSans B</vt:lpstr>
      <vt:lpstr>微软雅黑</vt:lpstr>
      <vt:lpstr>Times New Roman</vt:lpstr>
      <vt:lpstr>华文行楷</vt:lpstr>
      <vt:lpstr>Arial Unicode MS</vt:lpstr>
      <vt:lpstr>Consolas</vt:lpstr>
      <vt:lpstr>楷体_GB2312</vt:lpstr>
      <vt:lpstr>思源黑体 CN Regular</vt:lpstr>
      <vt:lpstr>黑体</vt:lpstr>
      <vt:lpstr>Calibri</vt:lpstr>
      <vt:lpstr>办公资源网：www.bangongziyuan.com</vt:lpstr>
      <vt:lpstr>自定义设计方案</vt:lpstr>
      <vt:lpstr>Equation.3</vt:lpstr>
      <vt:lpstr>Visio.Drawing.11</vt:lpstr>
      <vt:lpstr>Word.Document.8</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3292</cp:revision>
  <dcterms:created xsi:type="dcterms:W3CDTF">2020-11-24T06:30:00Z</dcterms:created>
  <dcterms:modified xsi:type="dcterms:W3CDTF">2024-10-31T10:20:07Z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E768EAE30F044B0BBE89FA13384F7B8B_12</vt:lpwstr>
  </property>
</Properties>
</file>