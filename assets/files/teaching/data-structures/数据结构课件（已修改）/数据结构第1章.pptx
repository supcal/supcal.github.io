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58"/>
  </p:handoutMasterIdLst>
  <p:sldIdLst>
    <p:sldId id="15714979" r:id="rId4"/>
    <p:sldId id="15714907" r:id="rId6"/>
    <p:sldId id="15714961" r:id="rId7"/>
    <p:sldId id="15714962" r:id="rId8"/>
    <p:sldId id="15714980" r:id="rId9"/>
    <p:sldId id="15714981" r:id="rId10"/>
    <p:sldId id="15714982" r:id="rId11"/>
    <p:sldId id="15714983" r:id="rId12"/>
    <p:sldId id="15714984" r:id="rId13"/>
    <p:sldId id="15714985" r:id="rId14"/>
    <p:sldId id="15714986" r:id="rId15"/>
    <p:sldId id="15714987" r:id="rId16"/>
    <p:sldId id="15714988" r:id="rId17"/>
    <p:sldId id="15714989" r:id="rId18"/>
    <p:sldId id="15714990" r:id="rId19"/>
    <p:sldId id="15714991" r:id="rId20"/>
    <p:sldId id="15714992" r:id="rId21"/>
    <p:sldId id="15714993" r:id="rId22"/>
    <p:sldId id="15714994" r:id="rId23"/>
    <p:sldId id="15714995" r:id="rId24"/>
    <p:sldId id="15714996" r:id="rId25"/>
    <p:sldId id="15714997" r:id="rId26"/>
    <p:sldId id="15714998" r:id="rId27"/>
    <p:sldId id="15714999" r:id="rId28"/>
    <p:sldId id="15715000" r:id="rId29"/>
    <p:sldId id="15715001" r:id="rId30"/>
    <p:sldId id="15715002" r:id="rId31"/>
    <p:sldId id="15715003" r:id="rId32"/>
    <p:sldId id="15715004" r:id="rId33"/>
    <p:sldId id="15715005" r:id="rId34"/>
    <p:sldId id="15715006" r:id="rId35"/>
    <p:sldId id="15715007" r:id="rId36"/>
    <p:sldId id="15715008" r:id="rId37"/>
    <p:sldId id="15715009" r:id="rId38"/>
    <p:sldId id="15715010" r:id="rId39"/>
    <p:sldId id="15715011" r:id="rId40"/>
    <p:sldId id="15715012" r:id="rId41"/>
    <p:sldId id="15715013" r:id="rId42"/>
    <p:sldId id="15715014" r:id="rId43"/>
    <p:sldId id="15715015" r:id="rId44"/>
    <p:sldId id="15715016" r:id="rId45"/>
    <p:sldId id="15715017" r:id="rId46"/>
    <p:sldId id="15715018" r:id="rId47"/>
    <p:sldId id="15715019" r:id="rId48"/>
    <p:sldId id="15715020" r:id="rId49"/>
    <p:sldId id="15715021" r:id="rId50"/>
    <p:sldId id="15715022" r:id="rId51"/>
    <p:sldId id="15715023" r:id="rId52"/>
    <p:sldId id="15715024" r:id="rId53"/>
    <p:sldId id="15715025" r:id="rId54"/>
    <p:sldId id="15715026" r:id="rId55"/>
    <p:sldId id="15715027" r:id="rId56"/>
    <p:sldId id="15715028" r:id="rId57"/>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9E"/>
    <a:srgbClr val="000000"/>
    <a:srgbClr val="FFFFFF"/>
    <a:srgbClr val="ADA19D"/>
    <a:srgbClr val="F0ECF2"/>
    <a:srgbClr val="494958"/>
    <a:srgbClr val="484C58"/>
    <a:srgbClr val="A8A8A8"/>
    <a:srgbClr val="015B9F"/>
    <a:srgbClr val="0291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64" autoAdjust="0"/>
    <p:restoredTop sz="94660"/>
  </p:normalViewPr>
  <p:slideViewPr>
    <p:cSldViewPr snapToGrid="0">
      <p:cViewPr varScale="1">
        <p:scale>
          <a:sx n="38" d="100"/>
          <a:sy n="38" d="100"/>
        </p:scale>
        <p:origin x="48" y="480"/>
      </p:cViewPr>
      <p:guideLst/>
    </p:cSldViewPr>
  </p:slideViewPr>
  <p:notesTextViewPr>
    <p:cViewPr>
      <p:scale>
        <a:sx n="3" d="2"/>
        <a:sy n="3" d="2"/>
      </p:scale>
      <p:origin x="0" y="0"/>
    </p:cViewPr>
  </p:notesTextViewPr>
  <p:sorterViewPr>
    <p:cViewPr>
      <p:scale>
        <a:sx n="100" d="100"/>
        <a:sy n="100" d="100"/>
      </p:scale>
      <p:origin x="0" y="-642"/>
    </p:cViewPr>
  </p:sorterViewPr>
  <p:notesViewPr>
    <p:cSldViewPr snapToGrid="0">
      <p:cViewPr varScale="1">
        <p:scale>
          <a:sx n="60" d="100"/>
          <a:sy n="60" d="100"/>
        </p:scale>
        <p:origin x="1014"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2" Type="http://schemas.openxmlformats.org/officeDocument/2006/relationships/tags" Target="tags/tag2.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2.xml"/><Relationship Id="rId59" Type="http://schemas.openxmlformats.org/officeDocument/2006/relationships/presProps" Target="presProps.xml"/><Relationship Id="rId58" Type="http://schemas.openxmlformats.org/officeDocument/2006/relationships/handoutMaster" Target="handoutMasters/handoutMaster1.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5C2F0C-902B-40A3-A4BD-4EF077EA43A2}" type="datetimeFigureOut">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2C1B7-04C4-46E7-9BAA-4B759B4AC2C1}" type="slidenum">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3C9F0365-6E51-42DF-A7F1-912A2B6B56F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830FE25F-8BC0-4BE2-A57A-787CA670B11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1" Type="http://schemas.openxmlformats.org/officeDocument/2006/relationships/theme" Target="../theme/theme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07C27E53-8393-4364-8F27-75C13D97A0E8}"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93D2807F-E77D-47AF-BE97-7F279468F5B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65A674D8-D595-481B-98B3-1F39AF99B99A}"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B35DD3EC-14B0-476A-A7B6-2379185BAD17}" type="slidenum">
              <a:rPr lang="zh-CN" altLang="en-US" smtClean="0"/>
            </a:fld>
            <a:endParaRPr lang="zh-CN" altLang="en-US" dirty="0"/>
          </a:p>
        </p:txBody>
      </p:sp>
      <p:cxnSp>
        <p:nvCxnSpPr>
          <p:cNvPr id="7" name="直接连接符 6"/>
          <p:cNvCxnSpPr/>
          <p:nvPr userDrawn="1"/>
        </p:nvCxnSpPr>
        <p:spPr>
          <a:xfrm>
            <a:off x="527050" y="923086"/>
            <a:ext cx="111379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等腰三角形 7"/>
          <p:cNvSpPr/>
          <p:nvPr userDrawn="1"/>
        </p:nvSpPr>
        <p:spPr>
          <a:xfrm rot="5400000">
            <a:off x="478876" y="414720"/>
            <a:ext cx="441960" cy="267628"/>
          </a:xfrm>
          <a:prstGeom prst="triangle">
            <a:avLst/>
          </a:prstGeom>
          <a:solidFill>
            <a:srgbClr val="005A9E"/>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5" rIns="91428" bIns="45715" rtlCol="0" anchor="ctr"/>
          <a:lstStyle/>
          <a:p>
            <a:pPr algn="ctr"/>
            <a:endParaRPr lang="zh-CN" altLang="en-US" sz="2400" dirty="0">
              <a:latin typeface="OPPOSans B"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3.bin"/></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课程简介</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4" name="矩形 193"/>
          <p:cNvSpPr/>
          <p:nvPr/>
        </p:nvSpPr>
        <p:spPr>
          <a:xfrm>
            <a:off x="616154" y="1482332"/>
            <a:ext cx="11099391" cy="3351046"/>
          </a:xfrm>
          <a:prstGeom prst="rect">
            <a:avLst/>
          </a:prstGeom>
        </p:spPr>
        <p:txBody>
          <a:bodyPr wrap="square">
            <a:spAutoFit/>
          </a:bodyPr>
          <a:lstStyle/>
          <a:p>
            <a:pPr fontAlgn="base">
              <a:lnSpc>
                <a:spcPct val="150000"/>
              </a:lnSpc>
              <a:spcBef>
                <a:spcPct val="0"/>
              </a:spcBef>
              <a:spcAft>
                <a:spcPct val="0"/>
              </a:spcAft>
            </a:pP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数据结构</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是软件工程专业的基础课、主干课。</a:t>
            </a:r>
            <a:endParaRPr lang="zh-CN" altLang="en-US" sz="2400" dirty="0">
              <a:solidFill>
                <a:srgbClr val="000000"/>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课程学习将使学生掌握各种数据结构的逻辑结构、物理结构和各种操作算法。</a:t>
            </a:r>
            <a:endParaRPr lang="zh-CN" altLang="en-US" sz="2400" dirty="0">
              <a:solidFill>
                <a:srgbClr val="000000"/>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课程的教学目标是培养学生分析问题、解决问题、灵活使用各种结构的能力。</a:t>
            </a:r>
            <a:endParaRPr lang="zh-CN" altLang="en-US" sz="2400" dirty="0">
              <a:solidFill>
                <a:srgbClr val="000000"/>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pPr>
            <a:r>
              <a:rPr lang="en-US" altLang="zh-CN" sz="2400" dirty="0">
                <a:solidFill>
                  <a:srgbClr val="FF0000"/>
                </a:solidFill>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考核构成：</a:t>
            </a:r>
            <a:endParaRPr lang="zh-CN" altLang="en-US" sz="2400" dirty="0">
              <a:solidFill>
                <a:srgbClr val="FF0000"/>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pPr>
            <a:r>
              <a:rPr lang="zh-CN" altLang="en-US"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5A9E"/>
                </a:solidFill>
                <a:latin typeface="微软雅黑" panose="020B0503020204020204" pitchFamily="34" charset="-122"/>
                <a:ea typeface="微软雅黑" panose="020B0503020204020204" pitchFamily="34" charset="-122"/>
              </a:rPr>
              <a:t>数据结构：平时</a:t>
            </a:r>
            <a:r>
              <a:rPr lang="en-US" altLang="zh-CN" sz="2400" dirty="0">
                <a:solidFill>
                  <a:srgbClr val="005A9E"/>
                </a:solidFill>
                <a:latin typeface="微软雅黑" panose="020B0503020204020204" pitchFamily="34" charset="-122"/>
                <a:ea typeface="微软雅黑" panose="020B0503020204020204" pitchFamily="34" charset="-122"/>
              </a:rPr>
              <a:t>+</a:t>
            </a:r>
            <a:r>
              <a:rPr lang="zh-CN" altLang="en-US" sz="2400" dirty="0">
                <a:solidFill>
                  <a:srgbClr val="005A9E"/>
                </a:solidFill>
                <a:latin typeface="微软雅黑" panose="020B0503020204020204" pitchFamily="34" charset="-122"/>
                <a:ea typeface="微软雅黑" panose="020B0503020204020204" pitchFamily="34" charset="-122"/>
              </a:rPr>
              <a:t>期中</a:t>
            </a:r>
            <a:r>
              <a:rPr lang="en-US" altLang="zh-CN" sz="2400" dirty="0">
                <a:solidFill>
                  <a:srgbClr val="005A9E"/>
                </a:solidFill>
                <a:latin typeface="微软雅黑" panose="020B0503020204020204" pitchFamily="34" charset="-122"/>
                <a:ea typeface="微软雅黑" panose="020B0503020204020204" pitchFamily="34" charset="-122"/>
              </a:rPr>
              <a:t>+</a:t>
            </a:r>
            <a:r>
              <a:rPr lang="zh-CN" altLang="en-US" sz="2400" dirty="0">
                <a:solidFill>
                  <a:srgbClr val="005A9E"/>
                </a:solidFill>
                <a:latin typeface="微软雅黑" panose="020B0503020204020204" pitchFamily="34" charset="-122"/>
                <a:ea typeface="微软雅黑" panose="020B0503020204020204" pitchFamily="34" charset="-122"/>
              </a:rPr>
              <a:t>期末</a:t>
            </a:r>
            <a:endParaRPr lang="zh-CN" altLang="en-US" sz="2400" dirty="0">
              <a:solidFill>
                <a:srgbClr val="005A9E"/>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pPr>
            <a:r>
              <a:rPr lang="zh-CN" altLang="en-US" sz="2400" dirty="0">
                <a:solidFill>
                  <a:srgbClr val="005A9E"/>
                </a:solidFill>
                <a:latin typeface="微软雅黑" panose="020B0503020204020204" pitchFamily="34" charset="-122"/>
                <a:ea typeface="微软雅黑" panose="020B0503020204020204" pitchFamily="34" charset="-122"/>
              </a:rPr>
              <a:t>      数据结构实验：平时</a:t>
            </a:r>
            <a:r>
              <a:rPr lang="en-US" altLang="zh-CN" sz="2400" dirty="0">
                <a:solidFill>
                  <a:srgbClr val="005A9E"/>
                </a:solidFill>
                <a:latin typeface="微软雅黑" panose="020B0503020204020204" pitchFamily="34" charset="-122"/>
                <a:ea typeface="微软雅黑" panose="020B0503020204020204" pitchFamily="34" charset="-122"/>
              </a:rPr>
              <a:t>+</a:t>
            </a:r>
            <a:r>
              <a:rPr lang="zh-CN" altLang="en-US" sz="2400" dirty="0">
                <a:solidFill>
                  <a:srgbClr val="005A9E"/>
                </a:solidFill>
                <a:latin typeface="微软雅黑" panose="020B0503020204020204" pitchFamily="34" charset="-122"/>
                <a:ea typeface="微软雅黑" panose="020B0503020204020204" pitchFamily="34" charset="-122"/>
              </a:rPr>
              <a:t>期中</a:t>
            </a:r>
            <a:r>
              <a:rPr lang="en-US" altLang="zh-CN" sz="2400" dirty="0">
                <a:solidFill>
                  <a:srgbClr val="005A9E"/>
                </a:solidFill>
                <a:latin typeface="微软雅黑" panose="020B0503020204020204" pitchFamily="34" charset="-122"/>
                <a:ea typeface="微软雅黑" panose="020B0503020204020204" pitchFamily="34" charset="-122"/>
              </a:rPr>
              <a:t>+</a:t>
            </a:r>
            <a:r>
              <a:rPr lang="zh-CN" altLang="en-US" sz="2400" dirty="0">
                <a:solidFill>
                  <a:srgbClr val="005A9E"/>
                </a:solidFill>
                <a:latin typeface="微软雅黑" panose="020B0503020204020204" pitchFamily="34" charset="-122"/>
                <a:ea typeface="微软雅黑" panose="020B0503020204020204" pitchFamily="34" charset="-122"/>
              </a:rPr>
              <a:t>上机考试</a:t>
            </a:r>
            <a:endParaRPr lang="zh-CN" altLang="en-US" sz="2400" dirty="0">
              <a:solidFill>
                <a:srgbClr val="005A9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wipe(left)">
                                      <p:cBhvr>
                                        <p:cTn id="7" dur="5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94">
                                            <p:txEl>
                                              <p:pRg st="0" end="0"/>
                                            </p:txEl>
                                          </p:spTgt>
                                        </p:tgtEl>
                                        <p:attrNameLst>
                                          <p:attrName>style.visibility</p:attrName>
                                        </p:attrNameLst>
                                      </p:cBhvr>
                                      <p:to>
                                        <p:strVal val="visible"/>
                                      </p:to>
                                    </p:set>
                                    <p:anim calcmode="lin" valueType="num">
                                      <p:cBhvr additive="base">
                                        <p:cTn id="12" dur="500" fill="hold"/>
                                        <p:tgtEl>
                                          <p:spTgt spid="19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94">
                                            <p:txEl>
                                              <p:pRg st="1" end="1"/>
                                            </p:txEl>
                                          </p:spTgt>
                                        </p:tgtEl>
                                        <p:attrNameLst>
                                          <p:attrName>style.visibility</p:attrName>
                                        </p:attrNameLst>
                                      </p:cBhvr>
                                      <p:to>
                                        <p:strVal val="visible"/>
                                      </p:to>
                                    </p:set>
                                    <p:anim calcmode="lin" valueType="num">
                                      <p:cBhvr additive="base">
                                        <p:cTn id="18"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94">
                                            <p:txEl>
                                              <p:pRg st="2" end="2"/>
                                            </p:txEl>
                                          </p:spTgt>
                                        </p:tgtEl>
                                        <p:attrNameLst>
                                          <p:attrName>style.visibility</p:attrName>
                                        </p:attrNameLst>
                                      </p:cBhvr>
                                      <p:to>
                                        <p:strVal val="visible"/>
                                      </p:to>
                                    </p:set>
                                    <p:anim calcmode="lin" valueType="num">
                                      <p:cBhvr additive="base">
                                        <p:cTn id="24" dur="500" fill="hold"/>
                                        <p:tgtEl>
                                          <p:spTgt spid="19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94">
                                            <p:txEl>
                                              <p:pRg st="3" end="3"/>
                                            </p:txEl>
                                          </p:spTgt>
                                        </p:tgtEl>
                                        <p:attrNameLst>
                                          <p:attrName>style.visibility</p:attrName>
                                        </p:attrNameLst>
                                      </p:cBhvr>
                                      <p:to>
                                        <p:strVal val="visible"/>
                                      </p:to>
                                    </p:set>
                                    <p:anim calcmode="lin" valueType="num">
                                      <p:cBhvr additive="base">
                                        <p:cTn id="30" dur="500" fill="hold"/>
                                        <p:tgtEl>
                                          <p:spTgt spid="194">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94">
                                            <p:txEl>
                                              <p:pRg st="3" end="3"/>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94">
                                            <p:txEl>
                                              <p:pRg st="4" end="4"/>
                                            </p:txEl>
                                          </p:spTgt>
                                        </p:tgtEl>
                                        <p:attrNameLst>
                                          <p:attrName>style.visibility</p:attrName>
                                        </p:attrNameLst>
                                      </p:cBhvr>
                                      <p:to>
                                        <p:strVal val="visible"/>
                                      </p:to>
                                    </p:set>
                                    <p:anim calcmode="lin" valueType="num">
                                      <p:cBhvr additive="base">
                                        <p:cTn id="34" dur="500" fill="hold"/>
                                        <p:tgtEl>
                                          <p:spTgt spid="194">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94">
                                            <p:txEl>
                                              <p:pRg st="4" end="4"/>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94">
                                            <p:txEl>
                                              <p:pRg st="5" end="5"/>
                                            </p:txEl>
                                          </p:spTgt>
                                        </p:tgtEl>
                                        <p:attrNameLst>
                                          <p:attrName>style.visibility</p:attrName>
                                        </p:attrNameLst>
                                      </p:cBhvr>
                                      <p:to>
                                        <p:strVal val="visible"/>
                                      </p:to>
                                    </p:set>
                                    <p:anim calcmode="lin" valueType="num">
                                      <p:cBhvr additive="base">
                                        <p:cTn id="38" dur="500" fill="hold"/>
                                        <p:tgtEl>
                                          <p:spTgt spid="194">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9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342900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7" name="文本框 283"/>
          <p:cNvSpPr txBox="1"/>
          <p:nvPr/>
        </p:nvSpPr>
        <p:spPr>
          <a:xfrm>
            <a:off x="4567040" y="1726222"/>
            <a:ext cx="3251200" cy="120032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绪论</a:t>
            </a:r>
            <a:endPar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grpSp>
        <p:nvGrpSpPr>
          <p:cNvPr id="8" name="组合 7"/>
          <p:cNvGrpSpPr/>
          <p:nvPr/>
        </p:nvGrpSpPr>
        <p:grpSpPr>
          <a:xfrm>
            <a:off x="4356353" y="4939300"/>
            <a:ext cx="3950519" cy="1029628"/>
            <a:chOff x="4293107" y="4891174"/>
            <a:chExt cx="3479292" cy="1029628"/>
          </a:xfrm>
        </p:grpSpPr>
        <p:sp>
          <p:nvSpPr>
            <p:cNvPr id="28" name="文本框 27"/>
            <p:cNvSpPr txBox="1"/>
            <p:nvPr/>
          </p:nvSpPr>
          <p:spPr>
            <a:xfrm flipH="1">
              <a:off x="4293107" y="4891174"/>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课程性质：专业必修课</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sp>
          <p:nvSpPr>
            <p:cNvPr id="30" name="文本框 29"/>
            <p:cNvSpPr txBox="1"/>
            <p:nvPr/>
          </p:nvSpPr>
          <p:spPr>
            <a:xfrm flipH="1">
              <a:off x="4293107" y="5520692"/>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授课对象：本科二年级</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grpSp>
      <p:sp>
        <p:nvSpPr>
          <p:cNvPr id="16" name="矩形 15"/>
          <p:cNvSpPr/>
          <p:nvPr/>
        </p:nvSpPr>
        <p:spPr>
          <a:xfrm>
            <a:off x="2253378" y="3947028"/>
            <a:ext cx="7685244" cy="5868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1796779" y="6270902"/>
            <a:ext cx="8598443" cy="0"/>
          </a:xfrm>
          <a:prstGeom prst="line">
            <a:avLst/>
          </a:prstGeom>
          <a:ln w="12700">
            <a:gradFill>
              <a:gsLst>
                <a:gs pos="0">
                  <a:schemeClr val="accent1">
                    <a:lumMod val="5000"/>
                    <a:lumOff val="95000"/>
                    <a:alpha val="0"/>
                  </a:schemeClr>
                </a:gs>
                <a:gs pos="50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3" name="文本框 283"/>
          <p:cNvSpPr txBox="1"/>
          <p:nvPr/>
        </p:nvSpPr>
        <p:spPr>
          <a:xfrm>
            <a:off x="3000776" y="3992461"/>
            <a:ext cx="638372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课程名称：数据结构</a:t>
            </a:r>
            <a:endPar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2" name="文本框 283"/>
          <p:cNvSpPr txBox="1"/>
          <p:nvPr/>
        </p:nvSpPr>
        <p:spPr>
          <a:xfrm>
            <a:off x="-910553" y="331577"/>
            <a:ext cx="6001746" cy="46166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0"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r>
              <a:rPr lang="zh-CN" altLang="en-US" dirty="0"/>
              <a:t>节选自第一章 绪论</a:t>
            </a:r>
            <a:endParaRPr lang="zh-CN" altLang="en-US" dirty="0"/>
          </a:p>
        </p:txBody>
      </p:sp>
      <p:sp>
        <p:nvSpPr>
          <p:cNvPr id="2" name="文本框 283"/>
          <p:cNvSpPr txBox="1"/>
          <p:nvPr/>
        </p:nvSpPr>
        <p:spPr>
          <a:xfrm>
            <a:off x="9384504" y="331579"/>
            <a:ext cx="2379313" cy="461664"/>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1"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pPr algn="dist"/>
            <a:r>
              <a:rPr lang="en-US" altLang="zh-CN" i="0" spc="0" dirty="0"/>
              <a:t>《</a:t>
            </a:r>
            <a:r>
              <a:rPr lang="en-US" altLang="zh-CN" spc="0" dirty="0"/>
              <a:t>Introduction</a:t>
            </a:r>
            <a:r>
              <a:rPr lang="en-US" altLang="zh-CN" i="0" spc="0" dirty="0"/>
              <a:t>》</a:t>
            </a:r>
            <a:endParaRPr lang="zh-CN" altLang="en-US" i="0" spc="0"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5" name="文本框 4"/>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1.1 </a:t>
            </a:r>
            <a:r>
              <a:rPr lang="zh-CN" altLang="en-US" sz="3600" b="1" dirty="0">
                <a:solidFill>
                  <a:schemeClr val="bg1"/>
                </a:solidFill>
                <a:latin typeface="微软雅黑" panose="020B0503020204020204" pitchFamily="34" charset="-122"/>
                <a:ea typeface="微软雅黑" panose="020B0503020204020204" pitchFamily="34" charset="-122"/>
              </a:rPr>
              <a:t>基本概念</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数据与数据类型</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541866" y="1162681"/>
            <a:ext cx="11108267" cy="2873992"/>
          </a:xfrm>
          <a:prstGeom prst="rect">
            <a:avLst/>
          </a:prstGeom>
          <a:noFill/>
        </p:spPr>
        <p:txBody>
          <a:bodyPr wrap="square">
            <a:spAutoFit/>
          </a:bodyPr>
          <a:lstStyle/>
          <a:p>
            <a:pPr>
              <a:lnSpc>
                <a:spcPct val="150000"/>
              </a:lnSpc>
              <a:defRPr/>
            </a:pP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计算机的应用越来越广泛</a:t>
            </a:r>
            <a:endParaRPr lang="en-US" altLang="zh-CN" sz="2400" b="1" dirty="0">
              <a:latin typeface="微软雅黑" panose="020B0503020204020204" pitchFamily="34" charset="-122"/>
              <a:ea typeface="微软雅黑" panose="020B0503020204020204" pitchFamily="34" charset="-122"/>
            </a:endParaRPr>
          </a:p>
          <a:p>
            <a:pPr marL="0" indent="0">
              <a:lnSpc>
                <a:spcPct val="150000"/>
              </a:lnSpc>
              <a:buFontTx/>
              <a:buNone/>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在日常生活中，计算机主要用来做什么呢？</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50000"/>
              </a:lnSpc>
              <a:spcAft>
                <a:spcPts val="600"/>
              </a:spcAft>
              <a:defRPr/>
            </a:pP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计算机的工作过程</a:t>
            </a:r>
            <a:endParaRPr lang="en-US" altLang="zh-CN" sz="2400" b="1" dirty="0">
              <a:latin typeface="微软雅黑" panose="020B0503020204020204" pitchFamily="34" charset="-122"/>
              <a:ea typeface="微软雅黑" panose="020B0503020204020204" pitchFamily="34" charset="-122"/>
            </a:endParaRPr>
          </a:p>
          <a:p>
            <a:pPr marL="0" indent="0">
              <a:lnSpc>
                <a:spcPct val="150000"/>
              </a:lnSpc>
              <a:buFontTx/>
              <a:buNone/>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数据表示：对待处理事物的数据组织与表达</a:t>
            </a:r>
            <a:endParaRPr lang="en-US" altLang="zh-CN" sz="2400" dirty="0">
              <a:latin typeface="微软雅黑" panose="020B0503020204020204" pitchFamily="34" charset="-122"/>
              <a:ea typeface="微软雅黑" panose="020B0503020204020204" pitchFamily="34" charset="-122"/>
            </a:endParaRPr>
          </a:p>
          <a:p>
            <a:pPr marL="0" indent="0">
              <a:lnSpc>
                <a:spcPct val="150000"/>
              </a:lnSpc>
              <a:buFontTx/>
              <a:buNone/>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数据处理：依据特定程序对数据进行处理</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6720018"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数据、数据项、数据元素例</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文本框 4"/>
          <p:cNvSpPr txBox="1"/>
          <p:nvPr/>
        </p:nvSpPr>
        <p:spPr>
          <a:xfrm>
            <a:off x="541867" y="1166842"/>
            <a:ext cx="11057465" cy="4135235"/>
          </a:xfrm>
          <a:prstGeom prst="rect">
            <a:avLst/>
          </a:prstGeom>
          <a:noFill/>
        </p:spPr>
        <p:txBody>
          <a:bodyPr wrap="square">
            <a:spAutoFit/>
          </a:bodyPr>
          <a:lstStyle/>
          <a:p>
            <a:pPr>
              <a:lnSpc>
                <a:spcPct val="125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 </a:t>
            </a:r>
            <a:endParaRPr lang="en-US" altLang="zh-CN" sz="24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某个学生的姓名为“张三”，年龄为</a:t>
            </a:r>
            <a:r>
              <a:rPr lang="en-US" altLang="zh-CN" sz="2000" dirty="0">
                <a:latin typeface="微软雅黑" panose="020B0503020204020204" pitchFamily="34" charset="-122"/>
                <a:ea typeface="微软雅黑" panose="020B0503020204020204" pitchFamily="34" charset="-122"/>
              </a:rPr>
              <a:t>21</a:t>
            </a:r>
            <a:r>
              <a:rPr lang="zh-CN" altLang="en-US" sz="2000" dirty="0">
                <a:latin typeface="微软雅黑" panose="020B0503020204020204" pitchFamily="34" charset="-122"/>
                <a:ea typeface="微软雅黑" panose="020B0503020204020204" pitchFamily="34" charset="-122"/>
              </a:rPr>
              <a:t>岁，并有一张个人照片，那么“张三”、</a:t>
            </a:r>
            <a:r>
              <a:rPr lang="en-US" altLang="zh-CN" sz="2000" dirty="0">
                <a:latin typeface="微软雅黑" panose="020B0503020204020204" pitchFamily="34" charset="-122"/>
                <a:ea typeface="微软雅黑" panose="020B0503020204020204" pitchFamily="34" charset="-122"/>
              </a:rPr>
              <a:t>21</a:t>
            </a:r>
            <a:r>
              <a:rPr lang="zh-CN" altLang="en-US" sz="2000" dirty="0">
                <a:latin typeface="微软雅黑" panose="020B0503020204020204" pitchFamily="34" charset="-122"/>
                <a:ea typeface="微软雅黑" panose="020B0503020204020204" pitchFamily="34" charset="-122"/>
              </a:rPr>
              <a:t>岁、照片图像就是三个不同的</a:t>
            </a:r>
            <a:r>
              <a:rPr lang="zh-CN" altLang="en-US" sz="2000" dirty="0">
                <a:solidFill>
                  <a:srgbClr val="FF1818"/>
                </a:solidFill>
                <a:latin typeface="微软雅黑" panose="020B0503020204020204" pitchFamily="34" charset="-122"/>
                <a:ea typeface="微软雅黑" panose="020B0503020204020204" pitchFamily="34" charset="-122"/>
              </a:rPr>
              <a:t>数据</a:t>
            </a:r>
            <a:r>
              <a:rPr lang="zh-CN" altLang="en-US" sz="2000" dirty="0">
                <a:latin typeface="微软雅黑" panose="020B0503020204020204" pitchFamily="34" charset="-122"/>
                <a:ea typeface="微软雅黑" panose="020B0503020204020204" pitchFamily="34" charset="-122"/>
              </a:rPr>
              <a:t>，分别用字符、数字和图像三种数据类型来表示。</a:t>
            </a:r>
            <a:endParaRPr lang="en-US" altLang="zh-CN" sz="2000" dirty="0">
              <a:latin typeface="微软雅黑" panose="020B0503020204020204" pitchFamily="34" charset="-122"/>
              <a:ea typeface="微软雅黑" panose="020B0503020204020204" pitchFamily="34" charset="-122"/>
            </a:endParaRPr>
          </a:p>
          <a:p>
            <a:pPr>
              <a:lnSpc>
                <a:spcPct val="125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2</a:t>
            </a:r>
            <a:endParaRPr lang="en-US" altLang="zh-CN" sz="24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结合姓名、年龄、照片三个数据，就构成了描述张三这个人的一个相对完整的组合数据</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学生”</a:t>
            </a:r>
            <a:endParaRPr lang="en-US" altLang="zh-CN"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对于“学生”这个数据而言，“姓名”、“年龄”、“照片”是三个分立的数据单位，也称</a:t>
            </a:r>
            <a:r>
              <a:rPr lang="zh-CN" altLang="en-US" sz="2000" dirty="0">
                <a:solidFill>
                  <a:srgbClr val="FF1818"/>
                </a:solidFill>
                <a:latin typeface="微软雅黑" panose="020B0503020204020204" pitchFamily="34" charset="-122"/>
                <a:ea typeface="微软雅黑" panose="020B0503020204020204" pitchFamily="34" charset="-122"/>
              </a:rPr>
              <a:t>数据项。</a:t>
            </a:r>
            <a:endParaRPr lang="en-US" altLang="zh-CN" sz="2000" dirty="0">
              <a:solidFill>
                <a:srgbClr val="FF1818"/>
              </a:solidFill>
              <a:latin typeface="微软雅黑" panose="020B0503020204020204" pitchFamily="34" charset="-122"/>
              <a:ea typeface="微软雅黑" panose="020B0503020204020204" pitchFamily="34" charset="-122"/>
            </a:endParaRPr>
          </a:p>
          <a:p>
            <a:pPr>
              <a:lnSpc>
                <a:spcPct val="125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3</a:t>
            </a:r>
            <a:endParaRPr lang="en-US" altLang="zh-CN" sz="24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一个班级由多个学生组成，那么张三、李四等每个学生就是构成“班级”这个数据的</a:t>
            </a:r>
            <a:r>
              <a:rPr lang="zh-CN" altLang="en-US" sz="2000" dirty="0">
                <a:solidFill>
                  <a:srgbClr val="FF1818"/>
                </a:solidFill>
                <a:latin typeface="微软雅黑" panose="020B0503020204020204" pitchFamily="34" charset="-122"/>
                <a:ea typeface="微软雅黑" panose="020B0503020204020204" pitchFamily="34" charset="-122"/>
              </a:rPr>
              <a:t>数据元素。</a:t>
            </a:r>
            <a:endParaRPr lang="zh-CN" altLang="en-US" sz="2000" dirty="0">
              <a:solidFill>
                <a:srgbClr val="FF1818"/>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基本概念</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数据与数据类型</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3"/>
          <p:cNvSpPr txBox="1">
            <a:spLocks noChangeArrowheads="1"/>
          </p:cNvSpPr>
          <p:nvPr/>
        </p:nvSpPr>
        <p:spPr>
          <a:xfrm>
            <a:off x="457199" y="1295400"/>
            <a:ext cx="11192933" cy="556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rPr>
              <a:t>数据（</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data</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是对客观事物的符号化表示，是构成信息和知识的原始材料。</a:t>
            </a:r>
            <a:endParaRPr lang="en-US" altLang="zh-CN" sz="20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数据项（</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data item</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是构成数据的相对独立的基本单位，它反映客观事物的某种特性。</a:t>
            </a:r>
            <a:endParaRPr lang="en-US" altLang="zh-CN" sz="20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数据元素（</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data element</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是构成数据的基本单元</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数据对象（</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data object</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是性质相同的数据元素的集合。    </a:t>
            </a:r>
            <a:r>
              <a:rPr lang="zh-CN" altLang="en-US" sz="2000" dirty="0"/>
              <a:t>      </a:t>
            </a:r>
            <a:endParaRPr lang="en-US" altLang="zh-C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数据的计算机表示与数据类型</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Rectangle 3"/>
          <p:cNvSpPr txBox="1">
            <a:spLocks noChangeArrowheads="1"/>
          </p:cNvSpPr>
          <p:nvPr/>
        </p:nvSpPr>
        <p:spPr>
          <a:xfrm>
            <a:off x="524933" y="1256241"/>
            <a:ext cx="11142133" cy="45942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defRPr/>
            </a:pPr>
            <a:r>
              <a:rPr lang="zh-CN" altLang="en-US" sz="2400" dirty="0">
                <a:solidFill>
                  <a:srgbClr val="0000CC"/>
                </a:solidFill>
                <a:latin typeface="微软雅黑" panose="020B0503020204020204" pitchFamily="34" charset="-122"/>
                <a:ea typeface="微软雅黑" panose="020B0503020204020204" pitchFamily="34" charset="-122"/>
              </a:rPr>
              <a:t>在计算机内部</a:t>
            </a:r>
            <a:endParaRPr lang="en-US" altLang="zh-CN" sz="2400" dirty="0">
              <a:solidFill>
                <a:srgbClr val="0000CC"/>
              </a:solidFill>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32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以电子信号的出现</a:t>
            </a:r>
            <a:r>
              <a:rPr lang="en-US"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Arial Unicode MS" panose="020B0604020202020204" pitchFamily="34" charset="-122"/>
              </a:rPr>
              <a:t>‘1’</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和消失</a:t>
            </a:r>
            <a:r>
              <a:rPr lang="en-US"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Arial Unicode MS" panose="020B0604020202020204" pitchFamily="34" charset="-122"/>
              </a:rPr>
              <a:t>‘0’</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来存储数据</a:t>
            </a:r>
            <a:endParaRPr lang="en-US" altLang="zh-CN" dirty="0">
              <a:latin typeface="微软雅黑" panose="020B0503020204020204" pitchFamily="34" charset="-122"/>
              <a:ea typeface="微软雅黑" panose="020B0503020204020204" pitchFamily="34" charset="-122"/>
            </a:endParaRPr>
          </a:p>
          <a:p>
            <a:pPr>
              <a:lnSpc>
                <a:spcPct val="125000"/>
              </a:lnSpc>
              <a:defRPr/>
            </a:pPr>
            <a:r>
              <a:rPr lang="zh-CN" altLang="en-US" sz="2400" dirty="0">
                <a:solidFill>
                  <a:srgbClr val="0000CC"/>
                </a:solidFill>
                <a:latin typeface="微软雅黑" panose="020B0503020204020204" pitchFamily="34" charset="-122"/>
                <a:ea typeface="微软雅黑" panose="020B0503020204020204" pitchFamily="34" charset="-122"/>
              </a:rPr>
              <a:t>在计算机外部</a:t>
            </a:r>
            <a:endParaRPr lang="en-US" altLang="zh-CN" sz="2400" dirty="0">
              <a:solidFill>
                <a:srgbClr val="0000CC"/>
              </a:solidFill>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32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文本、数字、图形、音频、视频等形式</a:t>
            </a:r>
            <a:endParaRPr lang="en-US" altLang="zh-CN" dirty="0">
              <a:latin typeface="微软雅黑" panose="020B0503020204020204" pitchFamily="34" charset="-122"/>
              <a:ea typeface="微软雅黑" panose="020B0503020204020204" pitchFamily="34" charset="-122"/>
            </a:endParaRPr>
          </a:p>
          <a:p>
            <a:pPr>
              <a:lnSpc>
                <a:spcPct val="125000"/>
              </a:lnSpc>
              <a:defRPr/>
            </a:pPr>
            <a:r>
              <a:rPr lang="zh-CN" altLang="en-US" sz="2400" dirty="0">
                <a:solidFill>
                  <a:srgbClr val="0000CC"/>
                </a:solidFill>
                <a:latin typeface="微软雅黑" panose="020B0503020204020204" pitchFamily="34" charset="-122"/>
                <a:ea typeface="微软雅黑" panose="020B0503020204020204" pitchFamily="34" charset="-122"/>
              </a:rPr>
              <a:t>编码方式决定了数据的不同类型</a:t>
            </a:r>
            <a:endParaRPr lang="en-US" altLang="zh-CN" sz="2400" dirty="0">
              <a:solidFill>
                <a:srgbClr val="0000CC"/>
              </a:solidFill>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6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文字、整数、浮点数、图像、音频等数据类型各有多种编码方式</a:t>
            </a:r>
            <a:endParaRPr lang="en-US" altLang="zh-CN" sz="2000" dirty="0">
              <a:latin typeface="微软雅黑" panose="020B0503020204020204" pitchFamily="34" charset="-122"/>
              <a:ea typeface="微软雅黑" panose="020B0503020204020204" pitchFamily="34" charset="-122"/>
            </a:endParaRPr>
          </a:p>
          <a:p>
            <a:pPr>
              <a:defRPr/>
            </a:pPr>
            <a:endParaRPr lang="en-US" altLang="zh-CN" sz="3200" dirty="0">
              <a:solidFill>
                <a:srgbClr val="0000CC"/>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42" presetClass="entr" presetSubtype="0" fill="hold" grpId="0" nodeType="after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数据的计算机表示与数据类型</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文本框 3"/>
          <p:cNvSpPr txBox="1"/>
          <p:nvPr/>
        </p:nvSpPr>
        <p:spPr>
          <a:xfrm>
            <a:off x="516465" y="1295069"/>
            <a:ext cx="11032067" cy="2096984"/>
          </a:xfrm>
          <a:prstGeom prst="rect">
            <a:avLst/>
          </a:prstGeom>
          <a:noFill/>
        </p:spPr>
        <p:txBody>
          <a:bodyPr wrap="square">
            <a:spAutoFit/>
          </a:bodyPr>
          <a:lstStyle/>
          <a:p>
            <a:pPr>
              <a:lnSpc>
                <a:spcPct val="125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数据类型</a:t>
            </a:r>
            <a:endParaRPr lang="en-US" altLang="zh-CN" sz="2400" dirty="0">
              <a:latin typeface="微软雅黑" panose="020B0503020204020204" pitchFamily="34" charset="-122"/>
              <a:ea typeface="微软雅黑" panose="020B0503020204020204" pitchFamily="34" charset="-122"/>
            </a:endParaRPr>
          </a:p>
          <a:p>
            <a:pPr lvl="1">
              <a:lnSpc>
                <a:spcPct val="125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是对具有相同性质的数据的抽象，定义了一个</a:t>
            </a:r>
            <a:r>
              <a:rPr lang="zh-CN" altLang="en-US" sz="2000" dirty="0">
                <a:solidFill>
                  <a:srgbClr val="FF0000"/>
                </a:solidFill>
                <a:latin typeface="微软雅黑" panose="020B0503020204020204" pitchFamily="34" charset="-122"/>
                <a:ea typeface="微软雅黑" panose="020B0503020204020204" pitchFamily="34" charset="-122"/>
              </a:rPr>
              <a:t>值域</a:t>
            </a:r>
            <a:r>
              <a:rPr lang="zh-CN" altLang="en-US" sz="2000" dirty="0">
                <a:latin typeface="微软雅黑" panose="020B0503020204020204" pitchFamily="34" charset="-122"/>
                <a:ea typeface="微软雅黑" panose="020B0503020204020204" pitchFamily="34" charset="-122"/>
              </a:rPr>
              <a:t>和定义在这个值域上的一组</a:t>
            </a:r>
            <a:r>
              <a:rPr lang="zh-CN" altLang="en-US" sz="2000" dirty="0">
                <a:solidFill>
                  <a:srgbClr val="FF0000"/>
                </a:solidFill>
                <a:latin typeface="微软雅黑" panose="020B0503020204020204" pitchFamily="34" charset="-122"/>
                <a:ea typeface="微软雅黑" panose="020B0503020204020204" pitchFamily="34" charset="-122"/>
              </a:rPr>
              <a:t>操作</a:t>
            </a:r>
            <a:r>
              <a:rPr lang="zh-CN" altLang="en-US" sz="2000" dirty="0">
                <a:latin typeface="微软雅黑" panose="020B0503020204020204" pitchFamily="34" charset="-122"/>
                <a:ea typeface="微软雅黑" panose="020B0503020204020204" pitchFamily="34" charset="-122"/>
              </a:rPr>
              <a:t>的总称。</a:t>
            </a:r>
            <a:endParaRPr lang="en-US" altLang="zh-CN" sz="2000" dirty="0">
              <a:latin typeface="微软雅黑" panose="020B0503020204020204" pitchFamily="34" charset="-122"/>
              <a:ea typeface="微软雅黑" panose="020B0503020204020204" pitchFamily="34" charset="-122"/>
            </a:endParaRPr>
          </a:p>
          <a:p>
            <a:pPr lvl="1">
              <a:lnSpc>
                <a:spcPct val="125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数据类型可分为</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原子类型：数据的值是不可分解的</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结构类型（复合类型）：数据的值是由若干成份（数据项或数据元素）构成的</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基本概念</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数据类型（</a:t>
            </a:r>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为例）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文本框 2"/>
          <p:cNvSpPr txBox="1"/>
          <p:nvPr/>
        </p:nvSpPr>
        <p:spPr>
          <a:xfrm>
            <a:off x="590770" y="1418749"/>
            <a:ext cx="11010459" cy="3050963"/>
          </a:xfrm>
          <a:prstGeom prst="rect">
            <a:avLst/>
          </a:prstGeom>
          <a:noFill/>
        </p:spPr>
        <p:txBody>
          <a:bodyPr wrap="square">
            <a:spAutoFit/>
          </a:bodyPr>
          <a:lstStyle/>
          <a:p>
            <a:pPr>
              <a:lnSpc>
                <a:spcPct val="125000"/>
              </a:lnSpc>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基本数据类型</a:t>
            </a:r>
            <a:endParaRPr lang="zh-CN" altLang="en-US" sz="2400" dirty="0">
              <a:latin typeface="微软雅黑" panose="020B0503020204020204" pitchFamily="34" charset="-122"/>
              <a:ea typeface="微软雅黑" panose="020B0503020204020204" pitchFamily="34" charset="-122"/>
            </a:endParaRPr>
          </a:p>
          <a:p>
            <a:pPr lvl="1">
              <a:lnSpc>
                <a:spcPct val="125000"/>
              </a:lnSpc>
              <a:defRPr/>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字符（</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char</a:t>
            </a:r>
            <a:r>
              <a:rPr lang="zh-CN" altLang="en-US" sz="2000" dirty="0">
                <a:latin typeface="微软雅黑" panose="020B0503020204020204" pitchFamily="34" charset="-122"/>
                <a:ea typeface="微软雅黑" panose="020B0503020204020204" pitchFamily="34" charset="-122"/>
              </a:rPr>
              <a:t>）、整数（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int</a:t>
            </a:r>
            <a:r>
              <a:rPr lang="zh-CN" altLang="en-US" sz="2000" dirty="0">
                <a:latin typeface="微软雅黑" panose="020B0503020204020204" pitchFamily="34" charset="-122"/>
                <a:ea typeface="微软雅黑" panose="020B0503020204020204" pitchFamily="34" charset="-122"/>
              </a:rPr>
              <a:t>）、浮点数（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float/ double</a:t>
            </a:r>
            <a:r>
              <a:rPr lang="zh-CN" altLang="en-US" sz="2000" dirty="0">
                <a:latin typeface="微软雅黑" panose="020B0503020204020204" pitchFamily="34" charset="-122"/>
                <a:ea typeface="微软雅黑" panose="020B0503020204020204" pitchFamily="34" charset="-122"/>
              </a:rPr>
              <a:t>）、指针（</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）、引用（</a:t>
            </a:r>
            <a:r>
              <a:rPr lang="en-US" altLang="zh-CN" sz="2000" dirty="0">
                <a:latin typeface="微软雅黑" panose="020B0503020204020204" pitchFamily="34" charset="-122"/>
                <a:ea typeface="微软雅黑" panose="020B0503020204020204" pitchFamily="34" charset="-122"/>
              </a:rPr>
              <a:t>&amp;</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a:lnSpc>
                <a:spcPct val="125000"/>
              </a:lnSpc>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复杂数据类型</a:t>
            </a:r>
            <a:endParaRPr lang="zh-CN" altLang="en-US" sz="2400" dirty="0">
              <a:latin typeface="微软雅黑" panose="020B0503020204020204" pitchFamily="34" charset="-122"/>
              <a:ea typeface="微软雅黑" panose="020B0503020204020204" pitchFamily="34" charset="-122"/>
            </a:endParaRPr>
          </a:p>
          <a:p>
            <a:pPr lvl="1">
              <a:lnSpc>
                <a:spcPct val="125000"/>
              </a:lnSpc>
              <a:defRPr/>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数组（</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）、结构（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struct</a:t>
            </a:r>
            <a:r>
              <a:rPr lang="zh-CN" altLang="en-US" sz="2000" dirty="0">
                <a:latin typeface="微软雅黑" panose="020B0503020204020204" pitchFamily="34" charset="-122"/>
                <a:ea typeface="微软雅黑" panose="020B0503020204020204" pitchFamily="34" charset="-122"/>
              </a:rPr>
              <a:t>）、枚举（</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enum</a:t>
            </a:r>
            <a:r>
              <a:rPr lang="zh-CN" altLang="en-US" sz="2000" dirty="0">
                <a:latin typeface="微软雅黑" panose="020B0503020204020204" pitchFamily="34" charset="-122"/>
                <a:ea typeface="微软雅黑" panose="020B0503020204020204" pitchFamily="34" charset="-122"/>
              </a:rPr>
              <a:t>）、类（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class</a:t>
            </a:r>
            <a:r>
              <a:rPr lang="zh-CN" altLang="en-US" sz="2000" dirty="0">
                <a:latin typeface="微软雅黑" panose="020B0503020204020204" pitchFamily="34" charset="-122"/>
                <a:ea typeface="微软雅黑" panose="020B0503020204020204" pitchFamily="34" charset="-122"/>
              </a:rPr>
              <a:t>）、联合（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union</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spcBef>
                <a:spcPts val="1200"/>
              </a:spcBef>
              <a:spcAft>
                <a:spcPts val="1200"/>
              </a:spcAft>
              <a:buFontTx/>
              <a:buNone/>
              <a:defRPr/>
            </a:pPr>
            <a:r>
              <a:rPr lang="en-US" altLang="zh-CN" sz="2400" b="1" u="sng" dirty="0">
                <a:solidFill>
                  <a:srgbClr val="0000CC"/>
                </a:solidFill>
                <a:latin typeface="微软雅黑" panose="020B0503020204020204" pitchFamily="34" charset="-122"/>
                <a:ea typeface="微软雅黑" panose="020B0503020204020204" pitchFamily="34" charset="-122"/>
              </a:rPr>
              <a:t>P4</a:t>
            </a:r>
            <a:r>
              <a:rPr lang="zh-CN" altLang="en-US" sz="2400" b="1" u="sng" dirty="0">
                <a:solidFill>
                  <a:srgbClr val="0000CC"/>
                </a:solidFill>
                <a:latin typeface="微软雅黑" panose="020B0503020204020204" pitchFamily="34" charset="-122"/>
                <a:ea typeface="微软雅黑" panose="020B0503020204020204" pitchFamily="34" charset="-122"/>
              </a:rPr>
              <a:t>例题</a:t>
            </a:r>
            <a:endParaRPr lang="en-US" altLang="zh-CN" sz="2400" b="1" u="sng" dirty="0">
              <a:solidFill>
                <a:srgbClr val="0000CC"/>
              </a:solidFill>
              <a:latin typeface="微软雅黑" panose="020B0503020204020204" pitchFamily="34" charset="-122"/>
              <a:ea typeface="微软雅黑" panose="020B0503020204020204" pitchFamily="34" charset="-122"/>
            </a:endParaRPr>
          </a:p>
          <a:p>
            <a:pPr>
              <a:lnSpc>
                <a:spcPct val="125000"/>
              </a:lnSpc>
              <a:spcBef>
                <a:spcPts val="600"/>
              </a:spcBef>
              <a:defRPr/>
            </a:pPr>
            <a:r>
              <a:rPr lang="en-US" altLang="zh-CN" sz="2400" dirty="0">
                <a:solidFill>
                  <a:srgbClr val="FF0000"/>
                </a:solidFill>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不同类型的变量，其所能取的值的范围不同，所能进行的操作不同。</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数据的计算机表示与数据类型</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文本框 3"/>
          <p:cNvSpPr txBox="1"/>
          <p:nvPr/>
        </p:nvSpPr>
        <p:spPr>
          <a:xfrm>
            <a:off x="558801" y="1363975"/>
            <a:ext cx="11074398" cy="3089564"/>
          </a:xfrm>
          <a:prstGeom prst="rect">
            <a:avLst/>
          </a:prstGeom>
          <a:noFill/>
        </p:spPr>
        <p:txBody>
          <a:bodyPr wrap="square">
            <a:spAutoFit/>
          </a:bodyPr>
          <a:lstStyle/>
          <a:p>
            <a:pPr>
              <a:lnSpc>
                <a:spcPct val="12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抽象数据类型（</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ADT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Abstract Data Type</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是与具体计算机内部表示与实现方式无关的数据类型，由一个逻辑上的</a:t>
            </a:r>
            <a:r>
              <a:rPr lang="zh-CN" altLang="en-US" sz="2000" dirty="0">
                <a:solidFill>
                  <a:srgbClr val="FF0000"/>
                </a:solidFill>
                <a:latin typeface="微软雅黑" panose="020B0503020204020204" pitchFamily="34" charset="-122"/>
                <a:ea typeface="微软雅黑" panose="020B0503020204020204" pitchFamily="34" charset="-122"/>
              </a:rPr>
              <a:t>数学模型</a:t>
            </a:r>
            <a:r>
              <a:rPr lang="zh-CN" altLang="en-US" sz="2000" dirty="0">
                <a:latin typeface="微软雅黑" panose="020B0503020204020204" pitchFamily="34" charset="-122"/>
                <a:ea typeface="微软雅黑" panose="020B0503020204020204" pitchFamily="34" charset="-122"/>
              </a:rPr>
              <a:t>以及定义在该模型上的一组</a:t>
            </a:r>
            <a:r>
              <a:rPr lang="zh-CN" altLang="en-US" sz="2000" dirty="0">
                <a:solidFill>
                  <a:srgbClr val="FF0000"/>
                </a:solidFill>
                <a:latin typeface="微软雅黑" panose="020B0503020204020204" pitchFamily="34" charset="-122"/>
                <a:ea typeface="微软雅黑" panose="020B0503020204020204" pitchFamily="34" charset="-122"/>
              </a:rPr>
              <a:t>操作构成。</a:t>
            </a:r>
            <a:endParaRPr lang="en-US" altLang="zh-CN" sz="2000" dirty="0">
              <a:solidFill>
                <a:srgbClr val="FF0000"/>
              </a:solidFill>
              <a:latin typeface="微软雅黑" panose="020B0503020204020204" pitchFamily="34" charset="-122"/>
              <a:ea typeface="微软雅黑" panose="020B0503020204020204" pitchFamily="34" charset="-122"/>
            </a:endParaRPr>
          </a:p>
          <a:p>
            <a:pPr lvl="1">
              <a:lnSpc>
                <a:spcPct val="120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可以用三元组定义</a:t>
            </a:r>
            <a:r>
              <a:rPr lang="en-US" altLang="zh-CN" sz="2000" dirty="0">
                <a:latin typeface="微软雅黑" panose="020B0503020204020204" pitchFamily="34" charset="-122"/>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 S, P</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2">
              <a:lnSpc>
                <a:spcPct val="120000"/>
              </a:lnSpc>
            </a:pPr>
            <a:r>
              <a:rPr lang="en-US" altLang="zh-CN"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D </a:t>
            </a:r>
            <a:r>
              <a:rPr lang="zh-CN" altLang="en-US" dirty="0">
                <a:latin typeface="微软雅黑" panose="020B0503020204020204" pitchFamily="34" charset="-122"/>
                <a:ea typeface="微软雅黑" panose="020B0503020204020204" pitchFamily="34" charset="-122"/>
              </a:rPr>
              <a:t>是数据对象</a:t>
            </a:r>
            <a:endParaRPr lang="en-US" altLang="zh-CN" dirty="0">
              <a:latin typeface="微软雅黑" panose="020B0503020204020204" pitchFamily="34" charset="-122"/>
              <a:ea typeface="微软雅黑" panose="020B0503020204020204" pitchFamily="34" charset="-122"/>
            </a:endParaRPr>
          </a:p>
          <a:p>
            <a:pPr lvl="2">
              <a:lnSpc>
                <a:spcPct val="120000"/>
              </a:lnSpc>
            </a:pPr>
            <a:r>
              <a:rPr lang="en-US" altLang="zh-CN"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S </a:t>
            </a:r>
            <a:r>
              <a:rPr lang="zh-CN" altLang="en-US" dirty="0">
                <a:latin typeface="微软雅黑" panose="020B0503020204020204" pitchFamily="34" charset="-122"/>
                <a:ea typeface="微软雅黑" panose="020B0503020204020204" pitchFamily="34" charset="-122"/>
              </a:rPr>
              <a:t>是 </a:t>
            </a:r>
            <a:r>
              <a:rPr lang="en-US" altLang="zh-CN" i="1" dirty="0">
                <a:latin typeface="微软雅黑" panose="020B0503020204020204" pitchFamily="34" charset="-122"/>
                <a:ea typeface="微软雅黑" panose="020B0503020204020204" pitchFamily="34" charset="-122"/>
              </a:rPr>
              <a:t>D </a:t>
            </a:r>
            <a:r>
              <a:rPr lang="zh-CN" altLang="en-US" dirty="0">
                <a:latin typeface="微软雅黑" panose="020B0503020204020204" pitchFamily="34" charset="-122"/>
                <a:ea typeface="微软雅黑" panose="020B0503020204020204" pitchFamily="34" charset="-122"/>
              </a:rPr>
              <a:t>上的关系集</a:t>
            </a:r>
            <a:endParaRPr lang="en-US" altLang="zh-CN" dirty="0">
              <a:latin typeface="微软雅黑" panose="020B0503020204020204" pitchFamily="34" charset="-122"/>
              <a:ea typeface="微软雅黑" panose="020B0503020204020204" pitchFamily="34" charset="-122"/>
            </a:endParaRPr>
          </a:p>
          <a:p>
            <a:pPr lvl="2">
              <a:lnSpc>
                <a:spcPct val="120000"/>
              </a:lnSpc>
            </a:pPr>
            <a:r>
              <a:rPr lang="en-US" altLang="zh-CN"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P </a:t>
            </a:r>
            <a:r>
              <a:rPr lang="zh-CN" altLang="en-US" dirty="0">
                <a:latin typeface="微软雅黑" panose="020B0503020204020204" pitchFamily="34" charset="-122"/>
                <a:ea typeface="微软雅黑" panose="020B0503020204020204" pitchFamily="34" charset="-122"/>
              </a:rPr>
              <a:t>是对 </a:t>
            </a:r>
            <a:r>
              <a:rPr lang="en-US" altLang="zh-CN" i="1" dirty="0">
                <a:latin typeface="微软雅黑" panose="020B0503020204020204" pitchFamily="34" charset="-122"/>
                <a:ea typeface="微软雅黑" panose="020B0503020204020204" pitchFamily="34" charset="-122"/>
              </a:rPr>
              <a:t>D </a:t>
            </a:r>
            <a:r>
              <a:rPr lang="zh-CN" altLang="en-US" dirty="0">
                <a:latin typeface="微软雅黑" panose="020B0503020204020204" pitchFamily="34" charset="-122"/>
                <a:ea typeface="微软雅黑" panose="020B0503020204020204" pitchFamily="34" charset="-122"/>
              </a:rPr>
              <a:t>的基本操作集</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抽象数据类型和数据类型实际上是一个概念。</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软件系统开发过程中的数据层次模型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文本框 2"/>
          <p:cNvSpPr txBox="1"/>
          <p:nvPr/>
        </p:nvSpPr>
        <p:spPr>
          <a:xfrm>
            <a:off x="610447" y="1451890"/>
            <a:ext cx="6096000" cy="4438650"/>
          </a:xfrm>
          <a:prstGeom prst="rect">
            <a:avLst/>
          </a:prstGeom>
          <a:noFill/>
        </p:spPr>
        <p:txBody>
          <a:bodyPr wrap="square">
            <a:spAutoFit/>
          </a:bodyPr>
          <a:lstStyle/>
          <a:p>
            <a:pPr>
              <a:lnSpc>
                <a:spcPct val="125000"/>
              </a:lnSpc>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在软件系统开发的全过程中，对客观现实中存在的事物，存在三个观察层面：</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nSpc>
                <a:spcPct val="125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应用层是用户通过物理观察得到的客观事物的视图，是可以用</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自然语言</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描述的，或用图形、图像、音频、视频等</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物理量</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表达的在概念层次上的数据。</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nSpc>
                <a:spcPct val="125000"/>
              </a:lnSpc>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nSpc>
                <a:spcPct val="125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逻辑层（抽象层）是从应用层次抽象出来的数据视图，</a:t>
            </a:r>
            <a:r>
              <a:rPr lang="zh-CN" altLang="en-US" b="1" u="sng" dirty="0">
                <a:latin typeface="微软雅黑" panose="020B0503020204020204" pitchFamily="34" charset="-122"/>
                <a:ea typeface="微软雅黑" panose="020B0503020204020204" pitchFamily="34" charset="-122"/>
                <a:cs typeface="微软雅黑" panose="020B0503020204020204" pitchFamily="34" charset="-122"/>
              </a:rPr>
              <a:t>利用</a:t>
            </a:r>
            <a:r>
              <a:rPr lang="zh-CN" altLang="en-US"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抽象数据类型</a:t>
            </a:r>
            <a:r>
              <a:rPr lang="zh-CN" altLang="en-US" b="1" u="sng" dirty="0">
                <a:latin typeface="微软雅黑" panose="020B0503020204020204" pitchFamily="34" charset="-122"/>
                <a:ea typeface="微软雅黑" panose="020B0503020204020204" pitchFamily="34" charset="-122"/>
                <a:cs typeface="微软雅黑" panose="020B0503020204020204" pitchFamily="34" charset="-122"/>
              </a:rPr>
              <a:t>进行形式化描述</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nSpc>
                <a:spcPct val="125000"/>
              </a:lnSpc>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nSpc>
                <a:spcPct val="125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实现层明确地</a:t>
            </a:r>
            <a:r>
              <a:rPr lang="zh-CN" altLang="en-US" b="1" u="sng" dirty="0">
                <a:latin typeface="微软雅黑" panose="020B0503020204020204" pitchFamily="34" charset="-122"/>
                <a:ea typeface="微软雅黑" panose="020B0503020204020204" pitchFamily="34" charset="-122"/>
                <a:cs typeface="微软雅黑" panose="020B0503020204020204" pitchFamily="34" charset="-122"/>
              </a:rPr>
              <a:t>用某种</a:t>
            </a:r>
            <a:r>
              <a:rPr lang="zh-CN" altLang="en-US"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数据结构</a:t>
            </a:r>
            <a:r>
              <a:rPr lang="zh-CN" altLang="en-US" b="1" u="sng"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来</a:t>
            </a:r>
            <a:r>
              <a:rPr lang="zh-CN" altLang="en-US" b="1" u="sng" dirty="0">
                <a:solidFill>
                  <a:srgbClr val="2E1101"/>
                </a:solidFill>
                <a:latin typeface="微软雅黑" panose="020B0503020204020204" pitchFamily="34" charset="-122"/>
                <a:ea typeface="微软雅黑" panose="020B0503020204020204" pitchFamily="34" charset="-122"/>
                <a:cs typeface="微软雅黑" panose="020B0503020204020204" pitchFamily="34" charset="-122"/>
              </a:rPr>
              <a:t>表达抽象数据类型</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，并用某种具体的程序设计语言进行代码实现。</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Object 1"/>
          <p:cNvGraphicFramePr>
            <a:graphicFrameLocks noChangeAspect="1"/>
          </p:cNvGraphicFramePr>
          <p:nvPr/>
        </p:nvGraphicFramePr>
        <p:xfrm>
          <a:off x="7857065" y="1146228"/>
          <a:ext cx="3031067" cy="5222292"/>
        </p:xfrm>
        <a:graphic>
          <a:graphicData uri="http://schemas.openxmlformats.org/presentationml/2006/ole">
            <mc:AlternateContent xmlns:mc="http://schemas.openxmlformats.org/markup-compatibility/2006">
              <mc:Choice xmlns:v="urn:schemas-microsoft-com:vml" Requires="v">
                <p:oleObj spid="_x0000_s3077" name="Visio" r:id="rId1" imgW="2438400" imgH="4191000" progId="Visio.Drawing.11">
                  <p:embed/>
                </p:oleObj>
              </mc:Choice>
              <mc:Fallback>
                <p:oleObj name="Visio" r:id="rId1" imgW="2438400" imgH="41910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065" y="1146228"/>
                        <a:ext cx="3031067" cy="5222292"/>
                      </a:xfrm>
                      <a:prstGeom prst="rect">
                        <a:avLst/>
                      </a:prstGeom>
                      <a:noFill/>
                      <a:ln>
                        <a:noFill/>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基本概念</a:t>
            </a:r>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抽象数据类型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文本框 3"/>
          <p:cNvSpPr txBox="1"/>
          <p:nvPr/>
        </p:nvSpPr>
        <p:spPr>
          <a:xfrm>
            <a:off x="558800" y="1332862"/>
            <a:ext cx="11023600" cy="2473882"/>
          </a:xfrm>
          <a:prstGeom prst="rect">
            <a:avLst/>
          </a:prstGeom>
          <a:noFill/>
        </p:spPr>
        <p:txBody>
          <a:bodyPr wrap="square">
            <a:spAutoFit/>
          </a:bodyPr>
          <a:lstStyle/>
          <a:p>
            <a:pPr>
              <a:lnSpc>
                <a:spcPct val="125000"/>
              </a:lnSpc>
              <a:buFontTx/>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ADT</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有两个重要特征</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一、数据抽象</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ADT</a:t>
            </a:r>
            <a:r>
              <a:rPr lang="zh-CN" altLang="en-US" dirty="0">
                <a:latin typeface="微软雅黑" panose="020B0503020204020204" pitchFamily="34" charset="-122"/>
                <a:ea typeface="微软雅黑" panose="020B0503020204020204" pitchFamily="34" charset="-122"/>
              </a:rPr>
              <a:t>描述程序处理的实体时，强调的是其本质的特征、其所能完成的功能以及它和外部用户的接口（即外界使用它的方法）。</a:t>
            </a:r>
            <a:endParaRPr lang="zh-CN" altLang="en-US"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二、数据封装</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将实体的外部特性和其内部实现细节分离，并且对外部用户隐藏其内部实现细节。</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抽象数据类型例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7" name="圆角矩形 134"/>
          <p:cNvSpPr/>
          <p:nvPr/>
        </p:nvSpPr>
        <p:spPr>
          <a:xfrm>
            <a:off x="533400" y="1344295"/>
            <a:ext cx="11125200" cy="4715510"/>
          </a:xfrm>
          <a:prstGeom prst="roundRect">
            <a:avLst>
              <a:gd name="adj" fmla="val 0"/>
            </a:avLst>
          </a:prstGeom>
          <a:solidFill>
            <a:schemeClr val="accent1">
              <a:lumMod val="20000"/>
              <a:lumOff val="80000"/>
            </a:schemeClr>
          </a:solidFill>
          <a:ln w="28575">
            <a:noFill/>
          </a:ln>
          <a:effectLst/>
        </p:spPr>
        <p:txBody>
          <a:bodyPr wrap="square">
            <a:noAutofit/>
          </a:bodyPr>
          <a:lstStyle/>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ADT Set			//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集合的抽象数据类型</a:t>
            </a:r>
            <a:endPar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数据对象：</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{ai | </a:t>
            </a:r>
            <a:r>
              <a:rPr lang="en-US" altLang="zh-CN"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ai∈ElemType</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1, 2, ..., n, n ≥ 0}</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数据关系：</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 = {</a:t>
            </a:r>
            <a:r>
              <a:rPr lang="en-US" altLang="zh-CN" b="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ai≠aj</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b="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ai,aj∈D</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基本操作：</a:t>
            </a:r>
            <a:endPar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Init()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操作结果：构造一个空的集合。</a:t>
            </a:r>
            <a:endPar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Destroy()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操作结果：销毁集合。</a:t>
            </a:r>
            <a:endPar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IsEmpty</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操作结果：判断集合是否为空，如为空，则返回</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否则返回</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Insert(e)</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操作结果：在集合中加入一个元素。如元素已存在，</a:t>
            </a:r>
            <a:endPar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返回</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；否则返回</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Remove(e)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操作结果：在集合中移除一个元素。如元素存在，</a:t>
            </a:r>
            <a:endPar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则返回</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；否则返回</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IsMember</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操作结果：判断在集合中是否存在元素。</a:t>
            </a:r>
            <a:endPar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FindFirst</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(&amp;e)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操作结果：找到集合中的第一个元素。</a:t>
            </a:r>
            <a:endPar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如成功，返回</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；如果集合为空，返回</a:t>
            </a:r>
            <a:r>
              <a:rPr lang="en-US" altLang="zh-CN"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FALSE</a:t>
            </a:r>
            <a:endParaRPr lang="zh-CN" altLang="en-US"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14000"/>
              </a:lnSpc>
              <a:spcBef>
                <a:spcPct val="0"/>
              </a:spcBef>
              <a:spcAft>
                <a:spcPct val="0"/>
              </a:spcAft>
              <a:buClrTx/>
              <a:buSzTx/>
              <a:buFontTx/>
              <a:buNone/>
              <a:defRPr/>
            </a:pPr>
            <a:endParaRPr kumimoji="0" lang="zh-CN" altLang="en-US" b="0" i="0" u="none" strike="noStrike" kern="1200" cap="none" spc="0" normalizeH="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抽象数据类型例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圆角矩形 134"/>
          <p:cNvSpPr/>
          <p:nvPr/>
        </p:nvSpPr>
        <p:spPr>
          <a:xfrm>
            <a:off x="691515" y="1555115"/>
            <a:ext cx="11148060" cy="3369945"/>
          </a:xfrm>
          <a:prstGeom prst="roundRect">
            <a:avLst>
              <a:gd name="adj" fmla="val 0"/>
            </a:avLst>
          </a:prstGeom>
          <a:solidFill>
            <a:schemeClr val="accent1">
              <a:lumMod val="20000"/>
              <a:lumOff val="80000"/>
            </a:schemeClr>
          </a:solidFill>
          <a:ln w="28575">
            <a:noFill/>
          </a:ln>
          <a:effectLst/>
        </p:spPr>
        <p:txBody>
          <a:bodyPr wrap="square">
            <a:noAutofit/>
          </a:bodyPr>
          <a:lstStyle/>
          <a:p>
            <a:pPr>
              <a:spcBef>
                <a:spcPct val="0"/>
              </a:spcBef>
            </a:pPr>
            <a:endParaRPr lang="en-US" altLang="zh-CN"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en-US" altLang="zh-CN"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FindFirst</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(&amp;e)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操作结果：找到集合中的第一个元素。</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如成功，返回</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；如果集合为空，返回</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FALSE</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FindNext</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(&amp;e)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初始条件：已经执行过</a:t>
            </a:r>
            <a:r>
              <a:rPr lang="en-US" altLang="zh-CN"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FindFirst</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FindNext</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操作结果：在上一次查找的前提下，找到集合中的下</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一个元素；如成功，返回</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；如上次查找已到最后</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一个元素，返回</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Union(s)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操作结果：与另一个集合</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做并运算，返回并集。</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Intersection(s)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操作结果：与另一个集合</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做交运算，返回交集。</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Difference(s)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操作结果：与另一个集合</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做差运算，返回差集。</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什么是数据结构</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23"/>
          <p:cNvSpPr>
            <a:spLocks noChangeArrowheads="1"/>
          </p:cNvSpPr>
          <p:nvPr/>
        </p:nvSpPr>
        <p:spPr bwMode="auto">
          <a:xfrm>
            <a:off x="711200" y="1346200"/>
            <a:ext cx="10837545" cy="1669415"/>
          </a:xfrm>
          <a:prstGeom prst="rect">
            <a:avLst/>
          </a:prstGeom>
          <a:solidFill>
            <a:schemeClr val="accent1">
              <a:lumMod val="20000"/>
              <a:lumOff val="80000"/>
            </a:schemeClr>
          </a:solidFill>
          <a:ln w="3175" algn="ctr">
            <a:solidFill>
              <a:schemeClr val="tx2"/>
            </a:solidFill>
            <a:miter lim="800000"/>
          </a:ln>
        </p:spPr>
        <p:txBody>
          <a:bodyPr wrap="none" lIns="90000" tIns="46800" rIns="90000" bIns="46800" anchor="ctr"/>
          <a:lstStyle/>
          <a:p>
            <a:pPr eaLnBrk="1" hangingPunct="1">
              <a:defRPr/>
            </a:pPr>
            <a:r>
              <a:rPr lang="en-US" altLang="zh-CN" sz="2400" b="0" i="1" dirty="0">
                <a:solidFill>
                  <a:schemeClr val="accent1"/>
                </a:solidFill>
                <a:latin typeface="Times New Roman" panose="02020603050405020304" pitchFamily="18" charset="0"/>
                <a:cs typeface="Times New Roman" panose="02020603050405020304" pitchFamily="18" charset="0"/>
              </a:rPr>
              <a:t>Algorithm + Data Structures = Programs</a:t>
            </a:r>
            <a:endParaRPr lang="en-US" altLang="zh-CN" sz="2400" b="0" i="1" dirty="0">
              <a:solidFill>
                <a:schemeClr val="accent1"/>
              </a:solidFill>
              <a:latin typeface="Times New Roman" panose="02020603050405020304" pitchFamily="18" charset="0"/>
              <a:cs typeface="Times New Roman" panose="02020603050405020304" pitchFamily="18" charset="0"/>
            </a:endParaRPr>
          </a:p>
          <a:p>
            <a:pPr eaLnBrk="1" hangingPunct="1">
              <a:defRPr/>
            </a:pPr>
            <a:r>
              <a:rPr lang="zh-CN" altLang="en-US" sz="2400" b="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算法 </a:t>
            </a:r>
            <a:r>
              <a:rPr lang="en-US" altLang="zh-CN" sz="2400" b="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数据结构 </a:t>
            </a:r>
            <a:r>
              <a:rPr lang="en-US" altLang="zh-CN" sz="2400" b="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程序</a:t>
            </a:r>
            <a:endParaRPr lang="en-US" altLang="zh-CN" sz="2400" b="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gn="ctr" eaLnBrk="1" hangingPunct="1">
              <a:defRPr/>
            </a:pPr>
            <a:r>
              <a:rPr lang="en-US" altLang="zh-CN" sz="3200" b="0" dirty="0">
                <a:solidFill>
                  <a:schemeClr val="accent1"/>
                </a:solidFill>
                <a:latin typeface="Arial" panose="020B0604020202020204" pitchFamily="34" charset="0"/>
                <a:cs typeface="Arial" panose="020B0604020202020204" pitchFamily="34" charset="0"/>
              </a:rPr>
              <a:t>                                   </a:t>
            </a:r>
            <a:r>
              <a:rPr lang="en-US" altLang="zh-CN" sz="3200" b="0" dirty="0">
                <a:solidFill>
                  <a:schemeClr val="accent1"/>
                </a:solidFill>
                <a:latin typeface="Times New Roman" panose="02020603050405020304" pitchFamily="18" charset="0"/>
                <a:cs typeface="Times New Roman" panose="02020603050405020304" pitchFamily="18" charset="0"/>
              </a:rPr>
              <a:t> </a:t>
            </a:r>
            <a:r>
              <a:rPr lang="en-US" altLang="zh-CN" sz="2000" b="0" dirty="0">
                <a:solidFill>
                  <a:schemeClr val="accent1"/>
                </a:solidFill>
                <a:latin typeface="Times New Roman" panose="02020603050405020304" pitchFamily="18" charset="0"/>
                <a:cs typeface="Times New Roman" panose="02020603050405020304" pitchFamily="18" charset="0"/>
              </a:rPr>
              <a:t>-- </a:t>
            </a:r>
            <a:r>
              <a:rPr lang="en-US" altLang="zh-CN" sz="2000" b="0" i="1" dirty="0" err="1">
                <a:solidFill>
                  <a:schemeClr val="accent1"/>
                </a:solidFill>
                <a:latin typeface="Times New Roman" panose="02020603050405020304" pitchFamily="18" charset="0"/>
                <a:cs typeface="Times New Roman" panose="02020603050405020304" pitchFamily="18" charset="0"/>
              </a:rPr>
              <a:t>Niklaus</a:t>
            </a:r>
            <a:r>
              <a:rPr lang="en-US" altLang="zh-CN" sz="2000" b="0" i="1" dirty="0">
                <a:solidFill>
                  <a:schemeClr val="accent1"/>
                </a:solidFill>
                <a:latin typeface="Times New Roman" panose="02020603050405020304" pitchFamily="18" charset="0"/>
                <a:cs typeface="Times New Roman" panose="02020603050405020304" pitchFamily="18" charset="0"/>
              </a:rPr>
              <a:t> Wirth</a:t>
            </a:r>
            <a:endParaRPr lang="en-US" altLang="zh-CN" sz="2000" b="0" i="1" dirty="0">
              <a:solidFill>
                <a:schemeClr val="accent1"/>
              </a:solidFill>
              <a:latin typeface="Times New Roman" panose="02020603050405020304" pitchFamily="18" charset="0"/>
              <a:cs typeface="Times New Roman" panose="02020603050405020304" pitchFamily="18" charset="0"/>
            </a:endParaRPr>
          </a:p>
        </p:txBody>
      </p:sp>
      <p:sp>
        <p:nvSpPr>
          <p:cNvPr id="5" name="文本框 4"/>
          <p:cNvSpPr txBox="1"/>
          <p:nvPr/>
        </p:nvSpPr>
        <p:spPr>
          <a:xfrm>
            <a:off x="711201" y="3609128"/>
            <a:ext cx="10701866" cy="2630170"/>
          </a:xfrm>
          <a:prstGeom prst="rect">
            <a:avLst/>
          </a:prstGeom>
          <a:noFill/>
        </p:spPr>
        <p:txBody>
          <a:bodyPr wrap="square">
            <a:spAutoFit/>
          </a:bodyPr>
          <a:lstStyle/>
          <a:p>
            <a:pPr indent="0" fontAlgn="auto">
              <a:lnSpc>
                <a:spcPct val="125000"/>
              </a:lnSpc>
            </a:pP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程序</a:t>
            </a:r>
            <a:endParaRPr lang="en-US" altLang="zh-CN" sz="2400" b="1" dirty="0">
              <a:latin typeface="微软雅黑" panose="020B0503020204020204" pitchFamily="34" charset="-122"/>
              <a:ea typeface="微软雅黑" panose="020B0503020204020204" pitchFamily="34" charset="-122"/>
            </a:endParaRPr>
          </a:p>
          <a:p>
            <a:pPr lvl="1" indent="0" fontAlgn="auto">
              <a:lnSpc>
                <a:spcPct val="125000"/>
              </a:lnSpc>
            </a:pP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为计算机处理问题编制一组指令集</a:t>
            </a:r>
            <a:r>
              <a:rPr lang="zh-CN" altLang="en-US" sz="2000" b="1" dirty="0">
                <a:latin typeface="微软雅黑" panose="020B0503020204020204" pitchFamily="34" charset="-122"/>
                <a:ea typeface="微软雅黑" panose="020B0503020204020204" pitchFamily="34" charset="-122"/>
              </a:rPr>
              <a:t> </a:t>
            </a:r>
            <a:endParaRPr lang="en-US" altLang="zh-CN" sz="2000" b="1" dirty="0">
              <a:latin typeface="微软雅黑" panose="020B0503020204020204" pitchFamily="34" charset="-122"/>
              <a:ea typeface="微软雅黑" panose="020B0503020204020204" pitchFamily="34" charset="-122"/>
            </a:endParaRPr>
          </a:p>
          <a:p>
            <a:pPr indent="0" fontAlgn="auto">
              <a:lnSpc>
                <a:spcPct val="125000"/>
              </a:lnSpc>
            </a:pP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算法</a:t>
            </a:r>
            <a:endParaRPr lang="en-US" altLang="zh-CN" sz="2400" b="1" dirty="0">
              <a:latin typeface="微软雅黑" panose="020B0503020204020204" pitchFamily="34" charset="-122"/>
              <a:ea typeface="微软雅黑" panose="020B0503020204020204" pitchFamily="34" charset="-122"/>
            </a:endParaRPr>
          </a:p>
          <a:p>
            <a:pPr lvl="1" indent="0" fontAlgn="auto">
              <a:lnSpc>
                <a:spcPct val="125000"/>
              </a:lnSpc>
            </a:pP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处理问题的策略</a:t>
            </a:r>
            <a:endParaRPr lang="zh-CN" altLang="en-US" sz="2000" b="1" dirty="0">
              <a:latin typeface="微软雅黑" panose="020B0503020204020204" pitchFamily="34" charset="-122"/>
              <a:ea typeface="微软雅黑" panose="020B0503020204020204" pitchFamily="34" charset="-122"/>
            </a:endParaRPr>
          </a:p>
          <a:p>
            <a:pPr indent="0" fontAlgn="auto">
              <a:lnSpc>
                <a:spcPct val="125000"/>
              </a:lnSpc>
            </a:pP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数据结构</a:t>
            </a:r>
            <a:endParaRPr lang="en-US" altLang="zh-CN" sz="2400" b="1" dirty="0">
              <a:latin typeface="微软雅黑" panose="020B0503020204020204" pitchFamily="34" charset="-122"/>
              <a:ea typeface="微软雅黑" panose="020B0503020204020204" pitchFamily="34" charset="-122"/>
            </a:endParaRPr>
          </a:p>
          <a:p>
            <a:pPr lvl="1" indent="0" fontAlgn="auto">
              <a:lnSpc>
                <a:spcPct val="125000"/>
              </a:lnSpc>
            </a:pP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问题的数学模型</a:t>
            </a:r>
            <a:endParaRPr lang="zh-CN" altLang="en-US" sz="2000" dirty="0">
              <a:latin typeface="微软雅黑" panose="020B0503020204020204" pitchFamily="34" charset="-122"/>
              <a:ea typeface="微软雅黑" panose="020B0503020204020204" pitchFamily="34" charset="-122"/>
            </a:endParaRPr>
          </a:p>
        </p:txBody>
      </p:sp>
      <p:pic>
        <p:nvPicPr>
          <p:cNvPr id="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117966" y="3556000"/>
            <a:ext cx="2400507" cy="3252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什么是数据结构</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文本框 3"/>
          <p:cNvSpPr txBox="1"/>
          <p:nvPr/>
        </p:nvSpPr>
        <p:spPr>
          <a:xfrm>
            <a:off x="626534" y="1431771"/>
            <a:ext cx="10820400" cy="973472"/>
          </a:xfrm>
          <a:prstGeom prst="rect">
            <a:avLst/>
          </a:prstGeom>
          <a:noFill/>
        </p:spPr>
        <p:txBody>
          <a:bodyPr wrap="square">
            <a:spAutoFit/>
          </a:bodyPr>
          <a:lstStyle/>
          <a:p>
            <a:pPr eaLnBrk="1" hangingPunct="1">
              <a:lnSpc>
                <a:spcPct val="125000"/>
              </a:lnSpc>
              <a:spcBef>
                <a:spcPts val="1200"/>
              </a:spcBef>
              <a:spcAft>
                <a:spcPts val="600"/>
              </a:spcAft>
            </a:pPr>
            <a:r>
              <a:rPr lang="en-US" altLang="zh-CN" sz="20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数据结构是一门讨论</a:t>
            </a:r>
            <a:r>
              <a:rPr lang="zh-CN" altLang="en-US" sz="2000" dirty="0">
                <a:latin typeface="微软雅黑" panose="020B0503020204020204" pitchFamily="34" charset="-122"/>
                <a:ea typeface="微软雅黑" panose="020B0503020204020204" pitchFamily="34" charset="-122"/>
              </a:rPr>
              <a:t>“描述现实世界实体的</a:t>
            </a:r>
            <a:r>
              <a:rPr lang="zh-CN" altLang="en-US" sz="2000" b="1" dirty="0">
                <a:solidFill>
                  <a:srgbClr val="FF0000"/>
                </a:solidFill>
                <a:latin typeface="微软雅黑" panose="020B0503020204020204" pitchFamily="34" charset="-122"/>
                <a:ea typeface="微软雅黑" panose="020B0503020204020204" pitchFamily="34" charset="-122"/>
              </a:rPr>
              <a:t>数学模型</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非数值计算</a:t>
            </a:r>
            <a:r>
              <a:rPr lang="en-US" altLang="zh-CN" sz="2000"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及其上的操作</a:t>
            </a:r>
            <a:r>
              <a:rPr lang="zh-CN" altLang="en-US" sz="2000" dirty="0">
                <a:latin typeface="微软雅黑" panose="020B0503020204020204" pitchFamily="34" charset="-122"/>
                <a:ea typeface="微软雅黑" panose="020B0503020204020204" pitchFamily="34" charset="-122"/>
              </a:rPr>
              <a:t>在计算机中如何表示和实现”</a:t>
            </a:r>
            <a:r>
              <a:rPr lang="zh-CN" altLang="en-US" sz="2400" dirty="0">
                <a:latin typeface="微软雅黑" panose="020B0503020204020204" pitchFamily="34" charset="-122"/>
                <a:ea typeface="微软雅黑" panose="020B0503020204020204" pitchFamily="34" charset="-122"/>
              </a:rPr>
              <a:t>的学科</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什么是数据结构</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文本框 2"/>
          <p:cNvSpPr txBox="1"/>
          <p:nvPr/>
        </p:nvSpPr>
        <p:spPr>
          <a:xfrm>
            <a:off x="592665" y="1247269"/>
            <a:ext cx="11006667" cy="903581"/>
          </a:xfrm>
          <a:prstGeom prst="rect">
            <a:avLst/>
          </a:prstGeom>
          <a:noFill/>
        </p:spPr>
        <p:txBody>
          <a:bodyPr wrap="square">
            <a:spAutoFit/>
          </a:bodyPr>
          <a:lstStyle/>
          <a:p>
            <a:pPr eaLnBrk="1" hangingPunct="1">
              <a:lnSpc>
                <a:spcPct val="125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数据结构（</a:t>
            </a:r>
            <a:r>
              <a:rPr lang="en-US" altLang="zh-CN" sz="2400" dirty="0">
                <a:latin typeface="微软雅黑" panose="020B0503020204020204" pitchFamily="34" charset="-122"/>
                <a:ea typeface="微软雅黑" panose="020B0503020204020204" pitchFamily="34" charset="-122"/>
              </a:rPr>
              <a:t>data structure</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lvl="1" eaLnBrk="1" hangingPunct="1">
              <a:lnSpc>
                <a:spcPct val="125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相互之间存在一种或多种</a:t>
            </a:r>
            <a:r>
              <a:rPr lang="zh-CN" altLang="en-US" sz="2000" b="1" dirty="0">
                <a:solidFill>
                  <a:srgbClr val="FF0000"/>
                </a:solidFill>
                <a:latin typeface="微软雅黑" panose="020B0503020204020204" pitchFamily="34" charset="-122"/>
                <a:ea typeface="微软雅黑" panose="020B0503020204020204" pitchFamily="34" charset="-122"/>
              </a:rPr>
              <a:t>特定关系</a:t>
            </a:r>
            <a:r>
              <a:rPr lang="zh-CN" altLang="en-US" sz="2000" dirty="0">
                <a:latin typeface="微软雅黑" panose="020B0503020204020204" pitchFamily="34" charset="-122"/>
                <a:ea typeface="微软雅黑" panose="020B0503020204020204" pitchFamily="34" charset="-122"/>
              </a:rPr>
              <a:t>的</a:t>
            </a:r>
            <a:r>
              <a:rPr lang="zh-CN" altLang="en-US" sz="2000" b="1" dirty="0">
                <a:solidFill>
                  <a:srgbClr val="FF0000"/>
                </a:solidFill>
                <a:latin typeface="微软雅黑" panose="020B0503020204020204" pitchFamily="34" charset="-122"/>
                <a:ea typeface="微软雅黑" panose="020B0503020204020204" pitchFamily="34" charset="-122"/>
              </a:rPr>
              <a:t>数据元素</a:t>
            </a:r>
            <a:r>
              <a:rPr lang="zh-CN" altLang="en-US" sz="2000" dirty="0">
                <a:latin typeface="微软雅黑" panose="020B0503020204020204" pitchFamily="34" charset="-122"/>
                <a:ea typeface="微软雅黑" panose="020B0503020204020204" pitchFamily="34" charset="-122"/>
              </a:rPr>
              <a:t>的集合。</a:t>
            </a:r>
            <a:endParaRPr lang="en-US" altLang="zh-CN" sz="2000" dirty="0">
              <a:latin typeface="微软雅黑" panose="020B0503020204020204" pitchFamily="34" charset="-122"/>
              <a:ea typeface="微软雅黑" panose="020B0503020204020204" pitchFamily="34" charset="-122"/>
            </a:endParaRPr>
          </a:p>
        </p:txBody>
      </p:sp>
      <p:sp>
        <p:nvSpPr>
          <p:cNvPr id="6" name="Rectangle 25"/>
          <p:cNvSpPr>
            <a:spLocks noChangeArrowheads="1"/>
          </p:cNvSpPr>
          <p:nvPr/>
        </p:nvSpPr>
        <p:spPr bwMode="auto">
          <a:xfrm>
            <a:off x="782320" y="3429635"/>
            <a:ext cx="10626725" cy="1626870"/>
          </a:xfrm>
          <a:prstGeom prst="rect">
            <a:avLst/>
          </a:prstGeom>
          <a:solidFill>
            <a:srgbClr val="80808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endParaRPr lang="zh-CN" altLang="en-US" sz="1800" b="0">
              <a:solidFill>
                <a:srgbClr val="000066"/>
              </a:solidFill>
              <a:latin typeface="Consolas" panose="020B0609020204030204" pitchFamily="49" charset="0"/>
            </a:endParaRPr>
          </a:p>
        </p:txBody>
      </p:sp>
      <p:sp>
        <p:nvSpPr>
          <p:cNvPr id="7" name="Rectangle 23"/>
          <p:cNvSpPr>
            <a:spLocks noChangeArrowheads="1"/>
          </p:cNvSpPr>
          <p:nvPr/>
        </p:nvSpPr>
        <p:spPr bwMode="auto">
          <a:xfrm>
            <a:off x="749300" y="3656965"/>
            <a:ext cx="10702925" cy="1398905"/>
          </a:xfrm>
          <a:prstGeom prst="rect">
            <a:avLst/>
          </a:prstGeom>
          <a:solidFill>
            <a:schemeClr val="accent1">
              <a:lumMod val="20000"/>
              <a:lumOff val="80000"/>
            </a:schemeClr>
          </a:solidFill>
          <a:ln w="3175" algn="ctr">
            <a:solidFill>
              <a:schemeClr val="tx2"/>
            </a:solidFill>
            <a:miter lim="800000"/>
          </a:ln>
        </p:spPr>
        <p:txBody>
          <a:bodyPr wrap="none" lIns="90000" tIns="180000" rIns="90000" bIns="1440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数据结构的二元组表示：</a:t>
            </a:r>
            <a:endParaRPr lang="en-US" altLang="zh-CN"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algn="ctr" eaLnBrk="1" hangingPunct="1">
              <a:spcBef>
                <a:spcPct val="0"/>
              </a:spcBef>
              <a:buFontTx/>
              <a:buNone/>
            </a:pPr>
            <a:r>
              <a:rPr lang="en-US" altLang="zh-CN" sz="2000" b="0" i="1" dirty="0" err="1">
                <a:solidFill>
                  <a:schemeClr val="accent1"/>
                </a:solidFill>
                <a:latin typeface="微软雅黑" panose="020B0503020204020204" pitchFamily="34" charset="-122"/>
                <a:ea typeface="微软雅黑" panose="020B0503020204020204" pitchFamily="34" charset="-122"/>
                <a:cs typeface="Arial" panose="020B0604020202020204" pitchFamily="34" charset="0"/>
              </a:rPr>
              <a:t>Data_Structure</a:t>
            </a:r>
            <a:r>
              <a:rPr lang="en-US" altLang="zh-CN"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 = (</a:t>
            </a:r>
            <a:r>
              <a:rPr lang="en-US" altLang="zh-CN" sz="2000" b="0" i="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D</a:t>
            </a:r>
            <a:r>
              <a:rPr lang="en-US" altLang="zh-CN"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000" b="0" i="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S</a:t>
            </a:r>
            <a:r>
              <a:rPr lang="en-US" altLang="zh-CN"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algn="ctr" eaLnBrk="1" hangingPunct="1">
              <a:spcBef>
                <a:spcPct val="0"/>
              </a:spcBef>
              <a:buFontTx/>
              <a:buNone/>
            </a:pPr>
            <a:r>
              <a:rPr lang="zh-CN" altLang="en-US"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其中：</a:t>
            </a:r>
            <a:r>
              <a:rPr lang="en-US" altLang="zh-CN" sz="2000" b="0" i="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D</a:t>
            </a:r>
            <a:r>
              <a:rPr lang="zh-CN" altLang="en-US"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是数据元素的有限集，</a:t>
            </a:r>
            <a:r>
              <a:rPr lang="en-US" altLang="zh-CN" sz="2000" b="0" i="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S</a:t>
            </a:r>
            <a:r>
              <a:rPr lang="zh-CN" altLang="en-US"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是</a:t>
            </a:r>
            <a:r>
              <a:rPr lang="en-US" altLang="zh-CN" sz="2000" b="0" i="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D</a:t>
            </a:r>
            <a:r>
              <a:rPr lang="zh-CN" altLang="en-US"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上关系的有限集</a:t>
            </a:r>
            <a:endParaRPr lang="zh-CN" altLang="en-US" sz="2000" b="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文本框 3"/>
          <p:cNvSpPr txBox="1"/>
          <p:nvPr/>
        </p:nvSpPr>
        <p:spPr>
          <a:xfrm>
            <a:off x="533400" y="1274370"/>
            <a:ext cx="11082867" cy="3820213"/>
          </a:xfrm>
          <a:prstGeom prst="rect">
            <a:avLst/>
          </a:prstGeom>
          <a:noFill/>
        </p:spPr>
        <p:txBody>
          <a:bodyPr wrap="square">
            <a:spAutoFit/>
          </a:bodyPr>
          <a:lstStyle/>
          <a:p>
            <a:pPr eaLnBrk="1" hangingPunct="1">
              <a:lnSpc>
                <a:spcPct val="125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例如一维数组是一种线性的数据结构，是由</a:t>
            </a:r>
            <a:r>
              <a:rPr lang="en-US" altLang="zh-CN" sz="2400" i="1"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个元素有序排列而成的。可以表示为：</a:t>
            </a:r>
            <a:endParaRPr lang="zh-CN" altLang="en-US" sz="2400" dirty="0">
              <a:latin typeface="微软雅黑" panose="020B0503020204020204" pitchFamily="34" charset="-122"/>
              <a:ea typeface="微软雅黑" panose="020B0503020204020204" pitchFamily="34" charset="-122"/>
            </a:endParaRPr>
          </a:p>
          <a:p>
            <a:pPr algn="ctr" eaLnBrk="1" hangingPunct="1">
              <a:lnSpc>
                <a:spcPct val="125000"/>
              </a:lnSpc>
              <a:buFontTx/>
              <a:buNone/>
            </a:pPr>
            <a:r>
              <a:rPr lang="zh-CN" altLang="en-US" sz="2400" dirty="0">
                <a:latin typeface="微软雅黑" panose="020B0503020204020204" pitchFamily="34" charset="-122"/>
                <a:ea typeface="微软雅黑" panose="020B0503020204020204" pitchFamily="34" charset="-122"/>
              </a:rPr>
              <a:t> </a:t>
            </a:r>
            <a:r>
              <a:rPr lang="en-US" altLang="zh-CN" sz="240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Array = &lt;</a:t>
            </a:r>
            <a:r>
              <a:rPr lang="en-US" altLang="zh-CN" sz="2400" i="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D, S</a:t>
            </a:r>
            <a:r>
              <a:rPr lang="en-US" altLang="zh-CN" sz="240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&gt;</a:t>
            </a:r>
            <a:endParaRPr lang="en-US" altLang="zh-CN" sz="240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25000"/>
              </a:lnSpc>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数据元素的集合是</a:t>
            </a:r>
            <a:endParaRPr lang="en-US" altLang="zh-CN" sz="2400" dirty="0">
              <a:latin typeface="微软雅黑" panose="020B0503020204020204" pitchFamily="34" charset="-122"/>
              <a:ea typeface="微软雅黑" panose="020B0503020204020204" pitchFamily="34" charset="-122"/>
            </a:endParaRPr>
          </a:p>
          <a:p>
            <a:pPr lvl="1" algn="ctr" eaLnBrk="1" hangingPunct="1">
              <a:lnSpc>
                <a:spcPct val="125000"/>
              </a:lnSpc>
              <a:buFontTx/>
              <a:buNone/>
            </a:pP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 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25000"/>
              </a:lnSpc>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数据元素关系的集合是</a:t>
            </a:r>
            <a:endParaRPr lang="en-US" altLang="zh-CN" sz="2400" dirty="0">
              <a:latin typeface="微软雅黑" panose="020B0503020204020204" pitchFamily="34" charset="-122"/>
              <a:ea typeface="微软雅黑" panose="020B0503020204020204" pitchFamily="34" charset="-122"/>
            </a:endParaRPr>
          </a:p>
          <a:p>
            <a:pPr lvl="1" algn="ctr" eaLnBrk="1" hangingPunct="1">
              <a:lnSpc>
                <a:spcPct val="125000"/>
              </a:lnSpc>
              <a:buFontTx/>
              <a:buNone/>
            </a:pP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&lt;a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&gt;, &lt;a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&gt;, … &lt;a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n-1</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&gt;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25000"/>
              </a:lnSpc>
              <a:spcBef>
                <a:spcPts val="600"/>
              </a:spcBef>
              <a:spcAft>
                <a:spcPts val="600"/>
              </a:spcAft>
              <a:buFontTx/>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其中</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i-1</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2400" dirty="0">
                <a:latin typeface="微软雅黑" panose="020B0503020204020204" pitchFamily="34" charset="-122"/>
                <a:ea typeface="微软雅黑" panose="020B0503020204020204" pitchFamily="34" charset="-122"/>
              </a:rPr>
              <a:t>为有序对。</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基本概念</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文本框 2"/>
          <p:cNvSpPr txBox="1"/>
          <p:nvPr/>
        </p:nvSpPr>
        <p:spPr>
          <a:xfrm>
            <a:off x="392805" y="1185949"/>
            <a:ext cx="11325062" cy="1330301"/>
          </a:xfrm>
          <a:prstGeom prst="rect">
            <a:avLst/>
          </a:prstGeom>
          <a:noFill/>
        </p:spPr>
        <p:txBody>
          <a:bodyPr wrap="square">
            <a:spAutoFit/>
          </a:bodyPr>
          <a:lstStyle/>
          <a:p>
            <a:pPr>
              <a:lnSpc>
                <a:spcPct val="125000"/>
              </a:lnSpc>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数据之间存在两种结构关系</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4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）数据的</a:t>
            </a:r>
            <a:r>
              <a:rPr lang="zh-CN" altLang="en-US" sz="2000" b="1" dirty="0">
                <a:solidFill>
                  <a:srgbClr val="FF0000"/>
                </a:solidFill>
                <a:latin typeface="微软雅黑" panose="020B0503020204020204" pitchFamily="34" charset="-122"/>
                <a:ea typeface="微软雅黑" panose="020B0503020204020204" pitchFamily="34" charset="-122"/>
              </a:rPr>
              <a:t>逻辑结构</a:t>
            </a:r>
            <a:r>
              <a:rPr lang="zh-CN" altLang="en-US" sz="2000" b="1" dirty="0">
                <a:latin typeface="微软雅黑" panose="020B0503020204020204" pitchFamily="34" charset="-122"/>
                <a:ea typeface="微软雅黑" panose="020B0503020204020204" pitchFamily="34" charset="-122"/>
              </a:rPr>
              <a:t>（位于逻辑层），反映数据元素之间的逻辑关系，由抽象数据类型来表达</a:t>
            </a:r>
            <a:endParaRPr lang="en-US" altLang="zh-CN" sz="2000" b="1" dirty="0">
              <a:latin typeface="微软雅黑" panose="020B0503020204020204" pitchFamily="34" charset="-122"/>
              <a:ea typeface="微软雅黑" panose="020B0503020204020204" pitchFamily="34" charset="-122"/>
            </a:endParaRPr>
          </a:p>
          <a:p>
            <a:pPr lvl="1">
              <a:lnSpc>
                <a:spcPct val="125000"/>
              </a:lnSpc>
              <a:defRPr/>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集合、线性、树状、图状结构</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基本概念</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文本框 3"/>
          <p:cNvSpPr txBox="1"/>
          <p:nvPr/>
        </p:nvSpPr>
        <p:spPr>
          <a:xfrm>
            <a:off x="392805" y="1185331"/>
            <a:ext cx="11274262" cy="1984326"/>
          </a:xfrm>
          <a:prstGeom prst="rect">
            <a:avLst/>
          </a:prstGeom>
          <a:noFill/>
        </p:spPr>
        <p:txBody>
          <a:bodyPr wrap="square">
            <a:spAutoFit/>
          </a:bodyPr>
          <a:lstStyle/>
          <a:p>
            <a:pPr>
              <a:lnSpc>
                <a:spcPct val="125000"/>
              </a:lnSpc>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数据之间存在两种结构关系</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FontTx/>
              <a:buNone/>
              <a:defRPr/>
            </a:pP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）数据的</a:t>
            </a:r>
            <a:r>
              <a:rPr lang="zh-CN" altLang="en-US" sz="2000" b="1" dirty="0">
                <a:solidFill>
                  <a:srgbClr val="FF0000"/>
                </a:solidFill>
                <a:latin typeface="微软雅黑" panose="020B0503020204020204" pitchFamily="34" charset="-122"/>
                <a:ea typeface="微软雅黑" panose="020B0503020204020204" pitchFamily="34" charset="-122"/>
              </a:rPr>
              <a:t>物理结构</a:t>
            </a:r>
            <a:r>
              <a:rPr lang="zh-CN" altLang="en-US" sz="2000" b="1" dirty="0">
                <a:latin typeface="微软雅黑" panose="020B0503020204020204" pitchFamily="34" charset="-122"/>
                <a:ea typeface="微软雅黑" panose="020B0503020204020204" pitchFamily="34" charset="-122"/>
              </a:rPr>
              <a:t>（位于实现层），也称</a:t>
            </a:r>
            <a:r>
              <a:rPr lang="zh-CN" altLang="en-US" sz="2000" b="1" dirty="0">
                <a:solidFill>
                  <a:srgbClr val="FF0000"/>
                </a:solidFill>
                <a:latin typeface="微软雅黑" panose="020B0503020204020204" pitchFamily="34" charset="-122"/>
                <a:ea typeface="微软雅黑" panose="020B0503020204020204" pitchFamily="34" charset="-122"/>
              </a:rPr>
              <a:t>存储结构</a:t>
            </a:r>
            <a:r>
              <a:rPr lang="zh-CN" altLang="en-US" sz="2000" b="1" dirty="0">
                <a:solidFill>
                  <a:srgbClr val="0000CC"/>
                </a:solidFill>
                <a:latin typeface="微软雅黑" panose="020B0503020204020204" pitchFamily="34" charset="-122"/>
                <a:ea typeface="微软雅黑" panose="020B0503020204020204" pitchFamily="34" charset="-122"/>
              </a:rPr>
              <a:t>考虑的是数据在计算机中是如何存储和组织的</a:t>
            </a:r>
            <a:endParaRPr lang="en-US" altLang="zh-CN" sz="2000" b="1" dirty="0">
              <a:solidFill>
                <a:srgbClr val="0000CC"/>
              </a:solidFill>
              <a:latin typeface="微软雅黑" panose="020B0503020204020204" pitchFamily="34" charset="-122"/>
              <a:ea typeface="微软雅黑" panose="020B0503020204020204" pitchFamily="34" charset="-122"/>
            </a:endParaRPr>
          </a:p>
          <a:p>
            <a:pPr lvl="1">
              <a:lnSpc>
                <a:spcPct val="125000"/>
              </a:lnSpc>
              <a:buFontTx/>
              <a:buChar char="-"/>
              <a:defRPr/>
            </a:pPr>
            <a:r>
              <a:rPr lang="zh-CN" altLang="en-US" dirty="0">
                <a:latin typeface="微软雅黑" panose="020B0503020204020204" pitchFamily="34" charset="-122"/>
                <a:ea typeface="微软雅黑" panose="020B0503020204020204" pitchFamily="34" charset="-122"/>
              </a:rPr>
              <a:t>顺序存储结构：在物理存储上数据是顺序存放的</a:t>
            </a:r>
            <a:endParaRPr lang="en-US" altLang="zh-CN" dirty="0">
              <a:latin typeface="微软雅黑" panose="020B0503020204020204" pitchFamily="34" charset="-122"/>
              <a:ea typeface="微软雅黑" panose="020B0503020204020204" pitchFamily="34" charset="-122"/>
            </a:endParaRPr>
          </a:p>
          <a:p>
            <a:pPr lvl="1">
              <a:lnSpc>
                <a:spcPct val="125000"/>
              </a:lnSpc>
              <a:buFontTx/>
              <a:buChar char="-"/>
              <a:defRPr/>
            </a:pPr>
            <a:r>
              <a:rPr lang="zh-CN" altLang="en-US" dirty="0">
                <a:latin typeface="微软雅黑" panose="020B0503020204020204" pitchFamily="34" charset="-122"/>
                <a:ea typeface="微软雅黑" panose="020B0503020204020204" pitchFamily="34" charset="-122"/>
              </a:rPr>
              <a:t>链式存储结构：在物理存储上数据非顺序存放，而是通过指针链来描述数据间的逻辑关系</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基本概念</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文本框 2"/>
          <p:cNvSpPr txBox="1"/>
          <p:nvPr/>
        </p:nvSpPr>
        <p:spPr>
          <a:xfrm>
            <a:off x="108375" y="1286933"/>
            <a:ext cx="11541758" cy="1288751"/>
          </a:xfrm>
          <a:prstGeom prst="rect">
            <a:avLst/>
          </a:prstGeom>
          <a:noFill/>
        </p:spPr>
        <p:txBody>
          <a:bodyPr wrap="square">
            <a:spAutoFit/>
          </a:bodyPr>
          <a:lstStyle/>
          <a:p>
            <a:pPr lvl="1">
              <a:lnSpc>
                <a:spcPct val="125000"/>
              </a:lnSpc>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在软件开发过程中，数据的逻辑结构和存储结构分别在不同的时期考虑</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25000"/>
              </a:lnSpc>
              <a:buFontTx/>
              <a:buNone/>
            </a:pPr>
            <a:r>
              <a:rPr lang="zh-CN"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Wingdings 2" panose="05020102010507070707" pitchFamily="18" charset="2"/>
              </a:rPr>
              <a:t> </a:t>
            </a:r>
            <a:r>
              <a:rPr lang="zh-CN" altLang="en-US" sz="2000" dirty="0">
                <a:latin typeface="微软雅黑" panose="020B0503020204020204" pitchFamily="34" charset="-122"/>
                <a:ea typeface="微软雅黑" panose="020B0503020204020204" pitchFamily="34" charset="-122"/>
              </a:rPr>
              <a:t>  算法设计时，考虑的是数据的逻辑结构</a:t>
            </a:r>
            <a:endParaRPr lang="en-US" altLang="zh-CN" sz="2000" dirty="0">
              <a:latin typeface="微软雅黑" panose="020B0503020204020204" pitchFamily="34" charset="-122"/>
              <a:ea typeface="微软雅黑" panose="020B0503020204020204" pitchFamily="34" charset="-122"/>
            </a:endParaRPr>
          </a:p>
          <a:p>
            <a:pPr lvl="1" eaLnBrk="1" hangingPunct="1">
              <a:lnSpc>
                <a:spcPct val="125000"/>
              </a:lnSpc>
              <a:buFontTx/>
              <a:buNone/>
            </a:pPr>
            <a:r>
              <a:rPr lang="zh-CN"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Wingdings 2" panose="05020102010507070707" pitchFamily="18" charset="2"/>
              </a:rPr>
              <a:t> </a:t>
            </a:r>
            <a:r>
              <a:rPr lang="zh-CN" altLang="en-US" sz="2000" dirty="0">
                <a:latin typeface="微软雅黑" panose="020B0503020204020204" pitchFamily="34" charset="-122"/>
                <a:ea typeface="微软雅黑" panose="020B0503020204020204" pitchFamily="34" charset="-122"/>
              </a:rPr>
              <a:t>  算法实现时，考虑的是数据的存储结构</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数据的逻辑结构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文本框 3"/>
          <p:cNvSpPr txBox="1"/>
          <p:nvPr/>
        </p:nvSpPr>
        <p:spPr>
          <a:xfrm>
            <a:off x="626533" y="1219199"/>
            <a:ext cx="11142134" cy="3446264"/>
          </a:xfrm>
          <a:prstGeom prst="rect">
            <a:avLst/>
          </a:prstGeom>
          <a:noFill/>
        </p:spPr>
        <p:txBody>
          <a:bodyPr wrap="square">
            <a:spAutoFit/>
          </a:bodyPr>
          <a:lstStyle/>
          <a:p>
            <a:pPr eaLnBrk="1" hangingPunct="1">
              <a:lnSpc>
                <a:spcPct val="125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在一个数据结构中，数据元素之间的逻辑结构通常可分为</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类：</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25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集合结构</a:t>
            </a:r>
            <a:endParaRPr lang="en-US" altLang="zh-CN" sz="2000" dirty="0">
              <a:latin typeface="微软雅黑" panose="020B0503020204020204" pitchFamily="34" charset="-122"/>
              <a:ea typeface="微软雅黑" panose="020B0503020204020204" pitchFamily="34" charset="-122"/>
            </a:endParaRPr>
          </a:p>
          <a:p>
            <a:pPr lvl="2" eaLnBrk="1" hangingPunct="1">
              <a:lnSpc>
                <a:spcPct val="125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结构中的数据元素同属一个集合</a:t>
            </a:r>
            <a:endParaRPr lang="en-US" altLang="zh-CN" dirty="0">
              <a:latin typeface="微软雅黑" panose="020B0503020204020204" pitchFamily="34" charset="-122"/>
              <a:ea typeface="微软雅黑" panose="020B0503020204020204" pitchFamily="34" charset="-122"/>
            </a:endParaRPr>
          </a:p>
          <a:p>
            <a:pPr lvl="1" eaLnBrk="1" hangingPunct="1">
              <a:lnSpc>
                <a:spcPct val="125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线性结构</a:t>
            </a:r>
            <a:endParaRPr lang="en-US" altLang="zh-CN" sz="2000" dirty="0">
              <a:latin typeface="微软雅黑" panose="020B0503020204020204" pitchFamily="34" charset="-122"/>
              <a:ea typeface="微软雅黑" panose="020B0503020204020204" pitchFamily="34" charset="-122"/>
            </a:endParaRPr>
          </a:p>
          <a:p>
            <a:pPr lvl="2" eaLnBrk="1" hangingPunct="1">
              <a:lnSpc>
                <a:spcPct val="125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结构中的元素之间存在一对一的关系</a:t>
            </a:r>
            <a:endParaRPr lang="en-US" altLang="zh-CN" dirty="0">
              <a:latin typeface="微软雅黑" panose="020B0503020204020204" pitchFamily="34" charset="-122"/>
              <a:ea typeface="微软雅黑" panose="020B0503020204020204" pitchFamily="34" charset="-122"/>
            </a:endParaRPr>
          </a:p>
          <a:p>
            <a:pPr lvl="1" eaLnBrk="1" hangingPunct="1">
              <a:lnSpc>
                <a:spcPct val="125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树型结构</a:t>
            </a:r>
            <a:endParaRPr lang="en-US" altLang="zh-CN" sz="2000" dirty="0">
              <a:latin typeface="微软雅黑" panose="020B0503020204020204" pitchFamily="34" charset="-122"/>
              <a:ea typeface="微软雅黑" panose="020B0503020204020204" pitchFamily="34" charset="-122"/>
            </a:endParaRPr>
          </a:p>
          <a:p>
            <a:pPr lvl="2" eaLnBrk="1" hangingPunct="1">
              <a:lnSpc>
                <a:spcPct val="125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结构中的数据元素之间存在一对多的关系</a:t>
            </a:r>
            <a:endParaRPr lang="en-US" altLang="zh-CN" dirty="0">
              <a:latin typeface="微软雅黑" panose="020B0503020204020204" pitchFamily="34" charset="-122"/>
              <a:ea typeface="微软雅黑" panose="020B0503020204020204" pitchFamily="34" charset="-122"/>
            </a:endParaRPr>
          </a:p>
          <a:p>
            <a:pPr lvl="1" eaLnBrk="1" hangingPunct="1">
              <a:lnSpc>
                <a:spcPct val="125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图状结构或网状结构</a:t>
            </a:r>
            <a:endParaRPr lang="en-US" altLang="zh-CN" sz="2000" dirty="0">
              <a:latin typeface="微软雅黑" panose="020B0503020204020204" pitchFamily="34" charset="-122"/>
              <a:ea typeface="微软雅黑" panose="020B0503020204020204" pitchFamily="34" charset="-122"/>
            </a:endParaRPr>
          </a:p>
          <a:p>
            <a:pPr lvl="2" eaLnBrk="1" hangingPunct="1">
              <a:lnSpc>
                <a:spcPct val="125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结构中的数据元素之间存在多对多的关系</a:t>
            </a:r>
            <a:endParaRPr lang="en-US" altLang="zh-CN" dirty="0">
              <a:latin typeface="微软雅黑" panose="020B0503020204020204" pitchFamily="34" charset="-122"/>
              <a:ea typeface="微软雅黑" panose="020B0503020204020204" pitchFamily="34" charset="-122"/>
            </a:endParaRPr>
          </a:p>
        </p:txBody>
      </p:sp>
      <p:grpSp>
        <p:nvGrpSpPr>
          <p:cNvPr id="5" name="Group 5"/>
          <p:cNvGrpSpPr/>
          <p:nvPr/>
        </p:nvGrpSpPr>
        <p:grpSpPr bwMode="auto">
          <a:xfrm>
            <a:off x="8998037" y="1827216"/>
            <a:ext cx="1676400" cy="581025"/>
            <a:chOff x="3774" y="1252"/>
            <a:chExt cx="1056" cy="366"/>
          </a:xfrm>
        </p:grpSpPr>
        <p:sp>
          <p:nvSpPr>
            <p:cNvPr id="6" name="Oval 6"/>
            <p:cNvSpPr>
              <a:spLocks noChangeArrowheads="1"/>
            </p:cNvSpPr>
            <p:nvPr/>
          </p:nvSpPr>
          <p:spPr bwMode="auto">
            <a:xfrm>
              <a:off x="3774" y="1307"/>
              <a:ext cx="156" cy="144"/>
            </a:xfrm>
            <a:prstGeom prst="ellipse">
              <a:avLst/>
            </a:prstGeom>
            <a:noFill/>
            <a:ln w="38100">
              <a:solidFill>
                <a:schemeClr val="tx1"/>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7" name="Oval 7"/>
            <p:cNvSpPr>
              <a:spLocks noChangeArrowheads="1"/>
            </p:cNvSpPr>
            <p:nvPr/>
          </p:nvSpPr>
          <p:spPr bwMode="auto">
            <a:xfrm>
              <a:off x="4096" y="1252"/>
              <a:ext cx="156" cy="144"/>
            </a:xfrm>
            <a:prstGeom prst="ellipse">
              <a:avLst/>
            </a:prstGeom>
            <a:noFill/>
            <a:ln w="38100">
              <a:solidFill>
                <a:schemeClr val="tx1"/>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8" name="Oval 8"/>
            <p:cNvSpPr>
              <a:spLocks noChangeArrowheads="1"/>
            </p:cNvSpPr>
            <p:nvPr/>
          </p:nvSpPr>
          <p:spPr bwMode="auto">
            <a:xfrm>
              <a:off x="4063" y="1474"/>
              <a:ext cx="156" cy="144"/>
            </a:xfrm>
            <a:prstGeom prst="ellipse">
              <a:avLst/>
            </a:prstGeom>
            <a:noFill/>
            <a:ln w="38100">
              <a:solidFill>
                <a:schemeClr val="tx1"/>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9" name="Oval 9"/>
            <p:cNvSpPr>
              <a:spLocks noChangeArrowheads="1"/>
            </p:cNvSpPr>
            <p:nvPr/>
          </p:nvSpPr>
          <p:spPr bwMode="auto">
            <a:xfrm>
              <a:off x="4373" y="1396"/>
              <a:ext cx="156" cy="144"/>
            </a:xfrm>
            <a:prstGeom prst="ellipse">
              <a:avLst/>
            </a:prstGeom>
            <a:noFill/>
            <a:ln w="38100">
              <a:solidFill>
                <a:schemeClr val="tx1"/>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latin typeface="Consolas" panose="020B0609020204030204" pitchFamily="49" charset="0"/>
              </a:endParaRPr>
            </a:p>
          </p:txBody>
        </p:sp>
        <p:sp>
          <p:nvSpPr>
            <p:cNvPr id="10" name="Oval 10"/>
            <p:cNvSpPr>
              <a:spLocks noChangeArrowheads="1"/>
            </p:cNvSpPr>
            <p:nvPr/>
          </p:nvSpPr>
          <p:spPr bwMode="auto">
            <a:xfrm>
              <a:off x="4674" y="1385"/>
              <a:ext cx="156" cy="144"/>
            </a:xfrm>
            <a:prstGeom prst="ellipse">
              <a:avLst/>
            </a:prstGeom>
            <a:noFill/>
            <a:ln w="38100">
              <a:solidFill>
                <a:schemeClr val="tx1"/>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grpSp>
      <p:grpSp>
        <p:nvGrpSpPr>
          <p:cNvPr id="11" name="Group 11"/>
          <p:cNvGrpSpPr/>
          <p:nvPr/>
        </p:nvGrpSpPr>
        <p:grpSpPr bwMode="auto">
          <a:xfrm>
            <a:off x="8774905" y="2768608"/>
            <a:ext cx="2268538" cy="211137"/>
            <a:chOff x="3056" y="2100"/>
            <a:chExt cx="1429" cy="133"/>
          </a:xfrm>
        </p:grpSpPr>
        <p:sp>
          <p:nvSpPr>
            <p:cNvPr id="12" name="Oval 12"/>
            <p:cNvSpPr>
              <a:spLocks noChangeArrowheads="1"/>
            </p:cNvSpPr>
            <p:nvPr/>
          </p:nvSpPr>
          <p:spPr bwMode="auto">
            <a:xfrm>
              <a:off x="3056" y="2100"/>
              <a:ext cx="144" cy="133"/>
            </a:xfrm>
            <a:prstGeom prst="ellipse">
              <a:avLst/>
            </a:prstGeom>
            <a:noFill/>
            <a:ln w="38100">
              <a:solidFill>
                <a:srgbClr val="FD2703"/>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13" name="Oval 13"/>
            <p:cNvSpPr>
              <a:spLocks noChangeArrowheads="1"/>
            </p:cNvSpPr>
            <p:nvPr/>
          </p:nvSpPr>
          <p:spPr bwMode="auto">
            <a:xfrm>
              <a:off x="3474" y="2100"/>
              <a:ext cx="144" cy="133"/>
            </a:xfrm>
            <a:prstGeom prst="ellipse">
              <a:avLst/>
            </a:prstGeom>
            <a:noFill/>
            <a:ln w="38100">
              <a:solidFill>
                <a:srgbClr val="FD2703"/>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14" name="Oval 14"/>
            <p:cNvSpPr>
              <a:spLocks noChangeArrowheads="1"/>
            </p:cNvSpPr>
            <p:nvPr/>
          </p:nvSpPr>
          <p:spPr bwMode="auto">
            <a:xfrm>
              <a:off x="3919" y="2100"/>
              <a:ext cx="144" cy="133"/>
            </a:xfrm>
            <a:prstGeom prst="ellipse">
              <a:avLst/>
            </a:prstGeom>
            <a:noFill/>
            <a:ln w="38100">
              <a:solidFill>
                <a:srgbClr val="FD2703"/>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15" name="Oval 15"/>
            <p:cNvSpPr>
              <a:spLocks noChangeArrowheads="1"/>
            </p:cNvSpPr>
            <p:nvPr/>
          </p:nvSpPr>
          <p:spPr bwMode="auto">
            <a:xfrm>
              <a:off x="4341" y="2100"/>
              <a:ext cx="144" cy="133"/>
            </a:xfrm>
            <a:prstGeom prst="ellipse">
              <a:avLst/>
            </a:prstGeom>
            <a:noFill/>
            <a:ln w="38100">
              <a:solidFill>
                <a:srgbClr val="FD2703"/>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16" name="Line 16"/>
            <p:cNvSpPr>
              <a:spLocks noChangeShapeType="1"/>
            </p:cNvSpPr>
            <p:nvPr/>
          </p:nvSpPr>
          <p:spPr bwMode="auto">
            <a:xfrm>
              <a:off x="3200" y="2166"/>
              <a:ext cx="267" cy="0"/>
            </a:xfrm>
            <a:prstGeom prst="line">
              <a:avLst/>
            </a:prstGeom>
            <a:noFill/>
            <a:ln w="38100">
              <a:solidFill>
                <a:srgbClr val="FD270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17" name="Line 17"/>
            <p:cNvSpPr>
              <a:spLocks noChangeShapeType="1"/>
            </p:cNvSpPr>
            <p:nvPr/>
          </p:nvSpPr>
          <p:spPr bwMode="auto">
            <a:xfrm>
              <a:off x="3612" y="2166"/>
              <a:ext cx="311" cy="0"/>
            </a:xfrm>
            <a:prstGeom prst="line">
              <a:avLst/>
            </a:prstGeom>
            <a:noFill/>
            <a:ln w="38100">
              <a:solidFill>
                <a:srgbClr val="FD270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18" name="Line 18"/>
            <p:cNvSpPr>
              <a:spLocks noChangeShapeType="1"/>
            </p:cNvSpPr>
            <p:nvPr/>
          </p:nvSpPr>
          <p:spPr bwMode="auto">
            <a:xfrm>
              <a:off x="4078" y="2166"/>
              <a:ext cx="256" cy="0"/>
            </a:xfrm>
            <a:prstGeom prst="line">
              <a:avLst/>
            </a:prstGeom>
            <a:noFill/>
            <a:ln w="38100">
              <a:solidFill>
                <a:srgbClr val="FD270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grpSp>
      <p:grpSp>
        <p:nvGrpSpPr>
          <p:cNvPr id="19" name="Group 19"/>
          <p:cNvGrpSpPr/>
          <p:nvPr/>
        </p:nvGrpSpPr>
        <p:grpSpPr bwMode="auto">
          <a:xfrm>
            <a:off x="8970255" y="3355175"/>
            <a:ext cx="1941513" cy="1000125"/>
            <a:chOff x="4185" y="2055"/>
            <a:chExt cx="1223" cy="630"/>
          </a:xfrm>
        </p:grpSpPr>
        <p:grpSp>
          <p:nvGrpSpPr>
            <p:cNvPr id="20" name="Group 20"/>
            <p:cNvGrpSpPr/>
            <p:nvPr/>
          </p:nvGrpSpPr>
          <p:grpSpPr bwMode="auto">
            <a:xfrm>
              <a:off x="4185" y="2055"/>
              <a:ext cx="629" cy="336"/>
              <a:chOff x="2474" y="2489"/>
              <a:chExt cx="629" cy="336"/>
            </a:xfrm>
          </p:grpSpPr>
          <p:sp>
            <p:nvSpPr>
              <p:cNvPr id="29" name="Oval 21"/>
              <p:cNvSpPr>
                <a:spLocks noChangeArrowheads="1"/>
              </p:cNvSpPr>
              <p:nvPr/>
            </p:nvSpPr>
            <p:spPr bwMode="auto">
              <a:xfrm>
                <a:off x="2711" y="2489"/>
                <a:ext cx="156" cy="144"/>
              </a:xfrm>
              <a:prstGeom prst="ellipse">
                <a:avLst/>
              </a:prstGeom>
              <a:noFill/>
              <a:ln w="38100">
                <a:solidFill>
                  <a:srgbClr val="0000FF"/>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0" name="Oval 22"/>
              <p:cNvSpPr>
                <a:spLocks noChangeArrowheads="1"/>
              </p:cNvSpPr>
              <p:nvPr/>
            </p:nvSpPr>
            <p:spPr bwMode="auto">
              <a:xfrm>
                <a:off x="2474" y="2674"/>
                <a:ext cx="156" cy="144"/>
              </a:xfrm>
              <a:prstGeom prst="ellipse">
                <a:avLst/>
              </a:prstGeom>
              <a:noFill/>
              <a:ln w="38100">
                <a:solidFill>
                  <a:srgbClr val="0000FF"/>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1" name="Oval 23"/>
              <p:cNvSpPr>
                <a:spLocks noChangeArrowheads="1"/>
              </p:cNvSpPr>
              <p:nvPr/>
            </p:nvSpPr>
            <p:spPr bwMode="auto">
              <a:xfrm>
                <a:off x="2947" y="2681"/>
                <a:ext cx="156" cy="144"/>
              </a:xfrm>
              <a:prstGeom prst="ellipse">
                <a:avLst/>
              </a:prstGeom>
              <a:noFill/>
              <a:ln w="38100">
                <a:solidFill>
                  <a:srgbClr val="0000FF"/>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grpSp>
        <p:sp>
          <p:nvSpPr>
            <p:cNvPr id="21" name="Oval 24"/>
            <p:cNvSpPr>
              <a:spLocks noChangeArrowheads="1"/>
            </p:cNvSpPr>
            <p:nvPr/>
          </p:nvSpPr>
          <p:spPr bwMode="auto">
            <a:xfrm>
              <a:off x="4374" y="2519"/>
              <a:ext cx="156" cy="144"/>
            </a:xfrm>
            <a:prstGeom prst="ellipse">
              <a:avLst/>
            </a:prstGeom>
            <a:noFill/>
            <a:ln w="38100">
              <a:solidFill>
                <a:srgbClr val="0000FF"/>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22" name="Oval 25"/>
            <p:cNvSpPr>
              <a:spLocks noChangeArrowheads="1"/>
            </p:cNvSpPr>
            <p:nvPr/>
          </p:nvSpPr>
          <p:spPr bwMode="auto">
            <a:xfrm>
              <a:off x="4897" y="2530"/>
              <a:ext cx="156" cy="144"/>
            </a:xfrm>
            <a:prstGeom prst="ellipse">
              <a:avLst/>
            </a:prstGeom>
            <a:noFill/>
            <a:ln w="38100">
              <a:solidFill>
                <a:srgbClr val="0000FF"/>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23" name="Oval 26"/>
            <p:cNvSpPr>
              <a:spLocks noChangeArrowheads="1"/>
            </p:cNvSpPr>
            <p:nvPr/>
          </p:nvSpPr>
          <p:spPr bwMode="auto">
            <a:xfrm>
              <a:off x="5252" y="2541"/>
              <a:ext cx="156" cy="144"/>
            </a:xfrm>
            <a:prstGeom prst="ellipse">
              <a:avLst/>
            </a:prstGeom>
            <a:noFill/>
            <a:ln w="38100">
              <a:solidFill>
                <a:srgbClr val="0000FF"/>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24" name="Line 27"/>
            <p:cNvSpPr>
              <a:spLocks noChangeShapeType="1"/>
            </p:cNvSpPr>
            <p:nvPr/>
          </p:nvSpPr>
          <p:spPr bwMode="auto">
            <a:xfrm flipH="1">
              <a:off x="4334" y="2189"/>
              <a:ext cx="111" cy="111"/>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25" name="Line 28"/>
            <p:cNvSpPr>
              <a:spLocks noChangeShapeType="1"/>
            </p:cNvSpPr>
            <p:nvPr/>
          </p:nvSpPr>
          <p:spPr bwMode="auto">
            <a:xfrm flipH="1">
              <a:off x="4501" y="2378"/>
              <a:ext cx="166" cy="166"/>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26" name="Line 29"/>
            <p:cNvSpPr>
              <a:spLocks noChangeShapeType="1"/>
            </p:cNvSpPr>
            <p:nvPr/>
          </p:nvSpPr>
          <p:spPr bwMode="auto">
            <a:xfrm>
              <a:off x="4534" y="2178"/>
              <a:ext cx="122" cy="122"/>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27" name="Line 30"/>
            <p:cNvSpPr>
              <a:spLocks noChangeShapeType="1"/>
            </p:cNvSpPr>
            <p:nvPr/>
          </p:nvSpPr>
          <p:spPr bwMode="auto">
            <a:xfrm>
              <a:off x="4778" y="2366"/>
              <a:ext cx="178" cy="178"/>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28" name="Line 31"/>
            <p:cNvSpPr>
              <a:spLocks noChangeShapeType="1"/>
            </p:cNvSpPr>
            <p:nvPr/>
          </p:nvSpPr>
          <p:spPr bwMode="auto">
            <a:xfrm>
              <a:off x="4812" y="2333"/>
              <a:ext cx="466" cy="233"/>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grpSp>
      <p:grpSp>
        <p:nvGrpSpPr>
          <p:cNvPr id="32" name="Group 32"/>
          <p:cNvGrpSpPr/>
          <p:nvPr/>
        </p:nvGrpSpPr>
        <p:grpSpPr bwMode="auto">
          <a:xfrm>
            <a:off x="9046455" y="4684692"/>
            <a:ext cx="1658938" cy="882650"/>
            <a:chOff x="4363" y="2073"/>
            <a:chExt cx="1045" cy="556"/>
          </a:xfrm>
        </p:grpSpPr>
        <p:sp>
          <p:nvSpPr>
            <p:cNvPr id="33" name="Oval 33"/>
            <p:cNvSpPr>
              <a:spLocks noChangeArrowheads="1"/>
            </p:cNvSpPr>
            <p:nvPr/>
          </p:nvSpPr>
          <p:spPr bwMode="auto">
            <a:xfrm>
              <a:off x="4819" y="2073"/>
              <a:ext cx="156" cy="144"/>
            </a:xfrm>
            <a:prstGeom prst="ellipse">
              <a:avLst/>
            </a:prstGeom>
            <a:noFill/>
            <a:ln w="38100">
              <a:solidFill>
                <a:srgbClr val="FF9900"/>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4" name="Oval 34"/>
            <p:cNvSpPr>
              <a:spLocks noChangeArrowheads="1"/>
            </p:cNvSpPr>
            <p:nvPr/>
          </p:nvSpPr>
          <p:spPr bwMode="auto">
            <a:xfrm>
              <a:off x="4385" y="2485"/>
              <a:ext cx="156" cy="144"/>
            </a:xfrm>
            <a:prstGeom prst="ellipse">
              <a:avLst/>
            </a:prstGeom>
            <a:noFill/>
            <a:ln w="38100">
              <a:solidFill>
                <a:srgbClr val="FF9900"/>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5" name="Oval 35"/>
            <p:cNvSpPr>
              <a:spLocks noChangeArrowheads="1"/>
            </p:cNvSpPr>
            <p:nvPr/>
          </p:nvSpPr>
          <p:spPr bwMode="auto">
            <a:xfrm>
              <a:off x="4841" y="2474"/>
              <a:ext cx="156" cy="144"/>
            </a:xfrm>
            <a:prstGeom prst="ellipse">
              <a:avLst/>
            </a:prstGeom>
            <a:noFill/>
            <a:ln w="38100">
              <a:solidFill>
                <a:srgbClr val="FF9900"/>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6" name="Oval 36"/>
            <p:cNvSpPr>
              <a:spLocks noChangeArrowheads="1"/>
            </p:cNvSpPr>
            <p:nvPr/>
          </p:nvSpPr>
          <p:spPr bwMode="auto">
            <a:xfrm>
              <a:off x="5252" y="2252"/>
              <a:ext cx="156" cy="144"/>
            </a:xfrm>
            <a:prstGeom prst="ellipse">
              <a:avLst/>
            </a:prstGeom>
            <a:noFill/>
            <a:ln w="38100">
              <a:solidFill>
                <a:srgbClr val="FF9900"/>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7" name="Oval 37"/>
            <p:cNvSpPr>
              <a:spLocks noChangeArrowheads="1"/>
            </p:cNvSpPr>
            <p:nvPr/>
          </p:nvSpPr>
          <p:spPr bwMode="auto">
            <a:xfrm>
              <a:off x="4363" y="2107"/>
              <a:ext cx="156" cy="144"/>
            </a:xfrm>
            <a:prstGeom prst="ellipse">
              <a:avLst/>
            </a:prstGeom>
            <a:noFill/>
            <a:ln w="38100">
              <a:solidFill>
                <a:srgbClr val="FF9900"/>
              </a:solidFill>
              <a:rou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8" name="Line 38"/>
            <p:cNvSpPr>
              <a:spLocks noChangeShapeType="1"/>
            </p:cNvSpPr>
            <p:nvPr/>
          </p:nvSpPr>
          <p:spPr bwMode="auto">
            <a:xfrm>
              <a:off x="4445" y="2266"/>
              <a:ext cx="0" cy="245"/>
            </a:xfrm>
            <a:prstGeom prst="line">
              <a:avLst/>
            </a:prstGeom>
            <a:noFill/>
            <a:ln w="3810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39" name="Line 39"/>
            <p:cNvSpPr>
              <a:spLocks noChangeShapeType="1"/>
            </p:cNvSpPr>
            <p:nvPr/>
          </p:nvSpPr>
          <p:spPr bwMode="auto">
            <a:xfrm>
              <a:off x="4512" y="2211"/>
              <a:ext cx="366" cy="289"/>
            </a:xfrm>
            <a:prstGeom prst="line">
              <a:avLst/>
            </a:prstGeom>
            <a:noFill/>
            <a:ln w="3810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40" name="Line 40"/>
            <p:cNvSpPr>
              <a:spLocks noChangeShapeType="1"/>
            </p:cNvSpPr>
            <p:nvPr/>
          </p:nvSpPr>
          <p:spPr bwMode="auto">
            <a:xfrm>
              <a:off x="4967" y="2189"/>
              <a:ext cx="300" cy="133"/>
            </a:xfrm>
            <a:prstGeom prst="line">
              <a:avLst/>
            </a:prstGeom>
            <a:noFill/>
            <a:ln w="3810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41" name="Line 41"/>
            <p:cNvSpPr>
              <a:spLocks noChangeShapeType="1"/>
            </p:cNvSpPr>
            <p:nvPr/>
          </p:nvSpPr>
          <p:spPr bwMode="auto">
            <a:xfrm flipH="1">
              <a:off x="4523" y="2200"/>
              <a:ext cx="322" cy="322"/>
            </a:xfrm>
            <a:prstGeom prst="line">
              <a:avLst/>
            </a:prstGeom>
            <a:noFill/>
            <a:ln w="3810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42" name="Line 42"/>
            <p:cNvSpPr>
              <a:spLocks noChangeShapeType="1"/>
            </p:cNvSpPr>
            <p:nvPr/>
          </p:nvSpPr>
          <p:spPr bwMode="auto">
            <a:xfrm flipH="1">
              <a:off x="5001" y="2400"/>
              <a:ext cx="277" cy="144"/>
            </a:xfrm>
            <a:prstGeom prst="line">
              <a:avLst/>
            </a:prstGeom>
            <a:noFill/>
            <a:ln w="3810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sp>
          <p:nvSpPr>
            <p:cNvPr id="43" name="Line 43"/>
            <p:cNvSpPr>
              <a:spLocks noChangeShapeType="1"/>
            </p:cNvSpPr>
            <p:nvPr/>
          </p:nvSpPr>
          <p:spPr bwMode="auto">
            <a:xfrm>
              <a:off x="4512" y="2144"/>
              <a:ext cx="311" cy="0"/>
            </a:xfrm>
            <a:prstGeom prst="line">
              <a:avLst/>
            </a:prstGeom>
            <a:noFill/>
            <a:ln w="3810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1+#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1+#ppt_w/2"/>
                                          </p:val>
                                        </p:tav>
                                        <p:tav tm="100000">
                                          <p:val>
                                            <p:strVal val="#ppt_x"/>
                                          </p:val>
                                        </p:tav>
                                      </p:tavLst>
                                    </p:anim>
                                    <p:anim calcmode="lin" valueType="num">
                                      <p:cBhvr additive="base">
                                        <p:cTn id="26"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逻辑结构：集合结构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文本框 2"/>
          <p:cNvSpPr txBox="1"/>
          <p:nvPr/>
        </p:nvSpPr>
        <p:spPr>
          <a:xfrm>
            <a:off x="684147" y="1199363"/>
            <a:ext cx="10634133" cy="1598771"/>
          </a:xfrm>
          <a:prstGeom prst="rect">
            <a:avLst/>
          </a:prstGeom>
          <a:noFill/>
        </p:spPr>
        <p:txBody>
          <a:bodyPr wrap="square">
            <a:spAutoFit/>
          </a:bodyPr>
          <a:lstStyle/>
          <a:p>
            <a:pPr>
              <a:lnSpc>
                <a:spcPct val="125000"/>
              </a:lnSpc>
            </a:pPr>
            <a:r>
              <a:rPr lang="en-US" altLang="zh-CN" sz="2400" b="1" dirty="0">
                <a:solidFill>
                  <a:srgbClr val="FC0404"/>
                </a:solidFill>
                <a:latin typeface="微软雅黑" panose="020B0503020204020204" pitchFamily="34" charset="-122"/>
                <a:ea typeface="微软雅黑" panose="020B0503020204020204" pitchFamily="34" charset="-122"/>
              </a:rPr>
              <a:t>Example 1:</a:t>
            </a:r>
            <a:r>
              <a:rPr lang="en-US" altLang="zh-CN" sz="2400" dirty="0">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如何表示一个集合？</a:t>
            </a:r>
            <a:endParaRPr lang="zh-CN" altLang="en-US" sz="2400" b="1" dirty="0">
              <a:solidFill>
                <a:srgbClr val="FF0000"/>
              </a:solidFill>
              <a:latin typeface="微软雅黑" panose="020B0503020204020204" pitchFamily="34" charset="-122"/>
              <a:ea typeface="微软雅黑" panose="020B0503020204020204" pitchFamily="34" charset="-122"/>
            </a:endParaRPr>
          </a:p>
          <a:p>
            <a:pPr>
              <a:lnSpc>
                <a:spcPct val="125000"/>
              </a:lnSpc>
              <a:buFontTx/>
              <a:buNone/>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SET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 R</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K = {01, 02, 03, 04, 05, 06, 07, 08, 09, 10}</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R = {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55" name="Group 5"/>
          <p:cNvGrpSpPr/>
          <p:nvPr/>
        </p:nvGrpSpPr>
        <p:grpSpPr bwMode="auto">
          <a:xfrm>
            <a:off x="4025900" y="3170524"/>
            <a:ext cx="4140200" cy="2680758"/>
            <a:chOff x="2064" y="2160"/>
            <a:chExt cx="1968" cy="1296"/>
          </a:xfrm>
        </p:grpSpPr>
        <p:sp>
          <p:nvSpPr>
            <p:cNvPr id="56" name="AutoShape 6"/>
            <p:cNvSpPr>
              <a:spLocks noChangeArrowheads="1"/>
            </p:cNvSpPr>
            <p:nvPr/>
          </p:nvSpPr>
          <p:spPr bwMode="auto">
            <a:xfrm>
              <a:off x="2112" y="2496"/>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08</a:t>
              </a:r>
              <a:endParaRPr kumimoji="1" lang="en-US" altLang="zh-CN" dirty="0">
                <a:ea typeface="宋体" panose="02010600030101010101" pitchFamily="2" charset="-122"/>
              </a:endParaRPr>
            </a:p>
          </p:txBody>
        </p:sp>
        <p:sp>
          <p:nvSpPr>
            <p:cNvPr id="57" name="AutoShape 7"/>
            <p:cNvSpPr>
              <a:spLocks noChangeArrowheads="1"/>
            </p:cNvSpPr>
            <p:nvPr/>
          </p:nvSpPr>
          <p:spPr bwMode="auto">
            <a:xfrm>
              <a:off x="2064" y="307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01</a:t>
              </a:r>
              <a:endParaRPr kumimoji="1" lang="en-US" altLang="zh-CN" dirty="0">
                <a:ea typeface="宋体" panose="02010600030101010101" pitchFamily="2" charset="-122"/>
              </a:endParaRPr>
            </a:p>
          </p:txBody>
        </p:sp>
        <p:sp>
          <p:nvSpPr>
            <p:cNvPr id="58" name="AutoShape 8"/>
            <p:cNvSpPr>
              <a:spLocks noChangeArrowheads="1"/>
            </p:cNvSpPr>
            <p:nvPr/>
          </p:nvSpPr>
          <p:spPr bwMode="auto">
            <a:xfrm>
              <a:off x="2544" y="2784"/>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03</a:t>
              </a:r>
              <a:endParaRPr kumimoji="1" lang="en-US" altLang="zh-CN" dirty="0">
                <a:ea typeface="宋体" panose="02010600030101010101" pitchFamily="2" charset="-122"/>
              </a:endParaRPr>
            </a:p>
          </p:txBody>
        </p:sp>
        <p:sp>
          <p:nvSpPr>
            <p:cNvPr id="59" name="AutoShape 9"/>
            <p:cNvSpPr>
              <a:spLocks noChangeArrowheads="1"/>
            </p:cNvSpPr>
            <p:nvPr/>
          </p:nvSpPr>
          <p:spPr bwMode="auto">
            <a:xfrm>
              <a:off x="2784" y="2400"/>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05</a:t>
              </a:r>
              <a:endParaRPr kumimoji="1" lang="en-US" altLang="zh-CN" dirty="0">
                <a:ea typeface="宋体" panose="02010600030101010101" pitchFamily="2" charset="-122"/>
              </a:endParaRPr>
            </a:p>
          </p:txBody>
        </p:sp>
        <p:sp>
          <p:nvSpPr>
            <p:cNvPr id="60" name="AutoShape 10"/>
            <p:cNvSpPr>
              <a:spLocks noChangeArrowheads="1"/>
            </p:cNvSpPr>
            <p:nvPr/>
          </p:nvSpPr>
          <p:spPr bwMode="auto">
            <a:xfrm>
              <a:off x="3168" y="2784"/>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02</a:t>
              </a:r>
              <a:endParaRPr kumimoji="1" lang="en-US" altLang="zh-CN" dirty="0">
                <a:ea typeface="宋体" panose="02010600030101010101" pitchFamily="2" charset="-122"/>
              </a:endParaRPr>
            </a:p>
          </p:txBody>
        </p:sp>
        <p:sp>
          <p:nvSpPr>
            <p:cNvPr id="61" name="AutoShape 11"/>
            <p:cNvSpPr>
              <a:spLocks noChangeArrowheads="1"/>
            </p:cNvSpPr>
            <p:nvPr/>
          </p:nvSpPr>
          <p:spPr bwMode="auto">
            <a:xfrm>
              <a:off x="3504" y="2448"/>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07</a:t>
              </a:r>
              <a:endParaRPr kumimoji="1" lang="en-US" altLang="zh-CN" dirty="0">
                <a:ea typeface="宋体" panose="02010600030101010101" pitchFamily="2" charset="-122"/>
              </a:endParaRPr>
            </a:p>
          </p:txBody>
        </p:sp>
        <p:sp>
          <p:nvSpPr>
            <p:cNvPr id="62" name="AutoShape 12"/>
            <p:cNvSpPr>
              <a:spLocks noChangeArrowheads="1"/>
            </p:cNvSpPr>
            <p:nvPr/>
          </p:nvSpPr>
          <p:spPr bwMode="auto">
            <a:xfrm>
              <a:off x="2784" y="3120"/>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04</a:t>
              </a:r>
              <a:endParaRPr kumimoji="1" lang="en-US" altLang="zh-CN" dirty="0">
                <a:ea typeface="宋体" panose="02010600030101010101" pitchFamily="2" charset="-122"/>
              </a:endParaRPr>
            </a:p>
          </p:txBody>
        </p:sp>
        <p:sp>
          <p:nvSpPr>
            <p:cNvPr id="63" name="AutoShape 13"/>
            <p:cNvSpPr>
              <a:spLocks noChangeArrowheads="1"/>
            </p:cNvSpPr>
            <p:nvPr/>
          </p:nvSpPr>
          <p:spPr bwMode="auto">
            <a:xfrm>
              <a:off x="3792" y="2736"/>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06</a:t>
              </a:r>
              <a:endParaRPr kumimoji="1" lang="en-US" altLang="zh-CN" dirty="0">
                <a:ea typeface="宋体" panose="02010600030101010101" pitchFamily="2" charset="-122"/>
              </a:endParaRPr>
            </a:p>
          </p:txBody>
        </p:sp>
        <p:sp>
          <p:nvSpPr>
            <p:cNvPr id="128" name="AutoShape 14"/>
            <p:cNvSpPr>
              <a:spLocks noChangeArrowheads="1"/>
            </p:cNvSpPr>
            <p:nvPr/>
          </p:nvSpPr>
          <p:spPr bwMode="auto">
            <a:xfrm>
              <a:off x="3264" y="2160"/>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09</a:t>
              </a:r>
              <a:endParaRPr kumimoji="1" lang="en-US" altLang="zh-CN" dirty="0">
                <a:ea typeface="宋体" panose="02010600030101010101" pitchFamily="2" charset="-122"/>
              </a:endParaRPr>
            </a:p>
          </p:txBody>
        </p:sp>
        <p:sp>
          <p:nvSpPr>
            <p:cNvPr id="129" name="AutoShape 15"/>
            <p:cNvSpPr>
              <a:spLocks noChangeArrowheads="1"/>
            </p:cNvSpPr>
            <p:nvPr/>
          </p:nvSpPr>
          <p:spPr bwMode="auto">
            <a:xfrm>
              <a:off x="3408" y="3216"/>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10</a:t>
              </a:r>
              <a:endParaRPr kumimoji="1" lang="en-US" altLang="zh-CN" dirty="0">
                <a:ea typeface="宋体" panose="02010600030101010101" pitchFamily="2" charset="-122"/>
              </a:endParaRPr>
            </a:p>
          </p:txBody>
        </p:sp>
      </p:grpSp>
      <p:sp>
        <p:nvSpPr>
          <p:cNvPr id="130" name="Text Box 16"/>
          <p:cNvSpPr txBox="1">
            <a:spLocks noChangeArrowheads="1"/>
          </p:cNvSpPr>
          <p:nvPr/>
        </p:nvSpPr>
        <p:spPr bwMode="auto">
          <a:xfrm>
            <a:off x="4025900" y="6100590"/>
            <a:ext cx="4128029" cy="369332"/>
          </a:xfrm>
          <a:prstGeom prst="rect">
            <a:avLst/>
          </a:prstGeom>
          <a:solidFill>
            <a:srgbClr val="CCECFF"/>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1800" dirty="0">
                <a:ea typeface="黑体" panose="02010609060101010101" pitchFamily="49" charset="-122"/>
              </a:rPr>
              <a:t>Illustration of a set</a:t>
            </a:r>
            <a:endParaRPr kumimoji="1" lang="en-US" altLang="zh-CN" sz="1800" dirty="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ppt_x"/>
                                          </p:val>
                                        </p:tav>
                                        <p:tav tm="100000">
                                          <p:val>
                                            <p:strVal val="#ppt_x"/>
                                          </p:val>
                                        </p:tav>
                                      </p:tavLst>
                                    </p:anim>
                                    <p:anim calcmode="lin" valueType="num">
                                      <p:cBhvr additive="base">
                                        <p:cTn id="8" dur="500" fill="hold"/>
                                        <p:tgtEl>
                                          <p:spTgt spid="5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0"/>
                                        </p:tgtEl>
                                        <p:attrNameLst>
                                          <p:attrName>style.visibility</p:attrName>
                                        </p:attrNameLst>
                                      </p:cBhvr>
                                      <p:to>
                                        <p:strVal val="visible"/>
                                      </p:to>
                                    </p:set>
                                    <p:anim calcmode="lin" valueType="num">
                                      <p:cBhvr additive="base">
                                        <p:cTn id="12" dur="500" fill="hold"/>
                                        <p:tgtEl>
                                          <p:spTgt spid="130"/>
                                        </p:tgtEl>
                                        <p:attrNameLst>
                                          <p:attrName>ppt_x</p:attrName>
                                        </p:attrNameLst>
                                      </p:cBhvr>
                                      <p:tavLst>
                                        <p:tav tm="0">
                                          <p:val>
                                            <p:strVal val="#ppt_x"/>
                                          </p:val>
                                        </p:tav>
                                        <p:tav tm="100000">
                                          <p:val>
                                            <p:strVal val="#ppt_x"/>
                                          </p:val>
                                        </p:tav>
                                      </p:tavLst>
                                    </p:anim>
                                    <p:anim calcmode="lin" valueType="num">
                                      <p:cBhvr additive="base">
                                        <p:cTn id="13" dur="500" fill="hold"/>
                                        <p:tgtEl>
                                          <p:spTgt spid="1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逻辑结构：线性结构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3"/>
          <p:cNvSpPr txBox="1">
            <a:spLocks noChangeArrowheads="1"/>
          </p:cNvSpPr>
          <p:nvPr/>
        </p:nvSpPr>
        <p:spPr>
          <a:xfrm>
            <a:off x="683586" y="1135580"/>
            <a:ext cx="10414000" cy="48090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altLang="zh-CN" sz="2400" b="1" dirty="0">
                <a:solidFill>
                  <a:srgbClr val="FC0404"/>
                </a:solidFill>
                <a:latin typeface="微软雅黑" panose="020B0503020204020204" pitchFamily="34" charset="-122"/>
                <a:ea typeface="微软雅黑" panose="020B0503020204020204" pitchFamily="34" charset="-122"/>
              </a:rPr>
              <a:t>Example 2.1:</a:t>
            </a:r>
            <a:r>
              <a:rPr lang="en-US" altLang="zh-CN" sz="2400" dirty="0">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如何表示一个线性结构？</a:t>
            </a:r>
            <a:endParaRPr lang="en-US" altLang="zh-CN" sz="2400" b="1" dirty="0">
              <a:solidFill>
                <a:schemeClr val="hlink"/>
              </a:solidFill>
              <a:latin typeface="微软雅黑" panose="020B0503020204020204" pitchFamily="34" charset="-122"/>
              <a:ea typeface="微软雅黑" panose="020B0503020204020204" pitchFamily="34" charset="-122"/>
            </a:endParaRPr>
          </a:p>
          <a:p>
            <a:pPr marL="0" indent="0">
              <a:lnSpc>
                <a:spcPct val="125000"/>
              </a:lnSpc>
              <a:buNone/>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LINEAR = ( K, R )</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5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K = { 01, 02, 03, 04, 05, 06, 07, 08, 09, 10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5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 = {&lt;01,02&gt;,&lt;02,03&gt;,&lt;03,04&gt;,&lt;04,05&gt;,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5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&lt;05,06&gt;,&lt;06,07&gt;,&lt;07,08&gt;,&lt;08,09&gt;,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5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&lt;09,10&gt;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buFontTx/>
              <a:buNone/>
            </a:pPr>
            <a:endParaRPr lang="zh-CN" altLang="en-US" dirty="0"/>
          </a:p>
        </p:txBody>
      </p:sp>
      <p:grpSp>
        <p:nvGrpSpPr>
          <p:cNvPr id="4" name="Group 5"/>
          <p:cNvGrpSpPr/>
          <p:nvPr/>
        </p:nvGrpSpPr>
        <p:grpSpPr bwMode="auto">
          <a:xfrm>
            <a:off x="1081749" y="4504268"/>
            <a:ext cx="10045436" cy="614892"/>
            <a:chOff x="960" y="3312"/>
            <a:chExt cx="4128" cy="240"/>
          </a:xfrm>
        </p:grpSpPr>
        <p:sp>
          <p:nvSpPr>
            <p:cNvPr id="5" name="AutoShape 6"/>
            <p:cNvSpPr>
              <a:spLocks noChangeArrowheads="1"/>
            </p:cNvSpPr>
            <p:nvPr/>
          </p:nvSpPr>
          <p:spPr bwMode="auto">
            <a:xfrm>
              <a:off x="960"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01</a:t>
              </a:r>
              <a:endParaRPr kumimoji="1" lang="en-US" altLang="zh-CN" sz="3000" dirty="0">
                <a:ea typeface="宋体" panose="02010600030101010101" pitchFamily="2" charset="-122"/>
              </a:endParaRPr>
            </a:p>
          </p:txBody>
        </p:sp>
        <p:sp>
          <p:nvSpPr>
            <p:cNvPr id="6" name="AutoShape 7"/>
            <p:cNvSpPr>
              <a:spLocks noChangeArrowheads="1"/>
            </p:cNvSpPr>
            <p:nvPr/>
          </p:nvSpPr>
          <p:spPr bwMode="auto">
            <a:xfrm>
              <a:off x="1392"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02</a:t>
              </a:r>
              <a:endParaRPr kumimoji="1" lang="en-US" altLang="zh-CN" sz="3000" dirty="0">
                <a:ea typeface="宋体" panose="02010600030101010101" pitchFamily="2" charset="-122"/>
              </a:endParaRPr>
            </a:p>
          </p:txBody>
        </p:sp>
        <p:sp>
          <p:nvSpPr>
            <p:cNvPr id="7" name="AutoShape 8"/>
            <p:cNvSpPr>
              <a:spLocks noChangeArrowheads="1"/>
            </p:cNvSpPr>
            <p:nvPr/>
          </p:nvSpPr>
          <p:spPr bwMode="auto">
            <a:xfrm>
              <a:off x="1824"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03</a:t>
              </a:r>
              <a:endParaRPr kumimoji="1" lang="en-US" altLang="zh-CN" sz="3000" dirty="0">
                <a:ea typeface="宋体" panose="02010600030101010101" pitchFamily="2" charset="-122"/>
              </a:endParaRPr>
            </a:p>
          </p:txBody>
        </p:sp>
        <p:sp>
          <p:nvSpPr>
            <p:cNvPr id="8" name="AutoShape 9"/>
            <p:cNvSpPr>
              <a:spLocks noChangeArrowheads="1"/>
            </p:cNvSpPr>
            <p:nvPr/>
          </p:nvSpPr>
          <p:spPr bwMode="auto">
            <a:xfrm>
              <a:off x="2256"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04</a:t>
              </a:r>
              <a:endParaRPr kumimoji="1" lang="en-US" altLang="zh-CN" sz="3000" dirty="0">
                <a:ea typeface="宋体" panose="02010600030101010101" pitchFamily="2" charset="-122"/>
              </a:endParaRPr>
            </a:p>
          </p:txBody>
        </p:sp>
        <p:sp>
          <p:nvSpPr>
            <p:cNvPr id="9" name="AutoShape 10"/>
            <p:cNvSpPr>
              <a:spLocks noChangeArrowheads="1"/>
            </p:cNvSpPr>
            <p:nvPr/>
          </p:nvSpPr>
          <p:spPr bwMode="auto">
            <a:xfrm>
              <a:off x="2688"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05</a:t>
              </a:r>
              <a:endParaRPr kumimoji="1" lang="en-US" altLang="zh-CN" sz="3000" dirty="0">
                <a:ea typeface="宋体" panose="02010600030101010101" pitchFamily="2" charset="-122"/>
              </a:endParaRPr>
            </a:p>
          </p:txBody>
        </p:sp>
        <p:sp>
          <p:nvSpPr>
            <p:cNvPr id="10" name="AutoShape 11"/>
            <p:cNvSpPr>
              <a:spLocks noChangeArrowheads="1"/>
            </p:cNvSpPr>
            <p:nvPr/>
          </p:nvSpPr>
          <p:spPr bwMode="auto">
            <a:xfrm>
              <a:off x="3120"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06</a:t>
              </a:r>
              <a:endParaRPr kumimoji="1" lang="en-US" altLang="zh-CN" sz="3000" dirty="0">
                <a:ea typeface="宋体" panose="02010600030101010101" pitchFamily="2" charset="-122"/>
              </a:endParaRPr>
            </a:p>
          </p:txBody>
        </p:sp>
        <p:sp>
          <p:nvSpPr>
            <p:cNvPr id="11" name="AutoShape 12"/>
            <p:cNvSpPr>
              <a:spLocks noChangeArrowheads="1"/>
            </p:cNvSpPr>
            <p:nvPr/>
          </p:nvSpPr>
          <p:spPr bwMode="auto">
            <a:xfrm>
              <a:off x="3552"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07</a:t>
              </a:r>
              <a:endParaRPr kumimoji="1" lang="en-US" altLang="zh-CN" sz="3000" dirty="0">
                <a:ea typeface="宋体" panose="02010600030101010101" pitchFamily="2" charset="-122"/>
              </a:endParaRPr>
            </a:p>
          </p:txBody>
        </p:sp>
        <p:sp>
          <p:nvSpPr>
            <p:cNvPr id="12" name="AutoShape 13"/>
            <p:cNvSpPr>
              <a:spLocks noChangeArrowheads="1"/>
            </p:cNvSpPr>
            <p:nvPr/>
          </p:nvSpPr>
          <p:spPr bwMode="auto">
            <a:xfrm>
              <a:off x="3984"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08</a:t>
              </a:r>
              <a:endParaRPr kumimoji="1" lang="en-US" altLang="zh-CN" sz="3000" dirty="0">
                <a:ea typeface="宋体" panose="02010600030101010101" pitchFamily="2" charset="-122"/>
              </a:endParaRPr>
            </a:p>
          </p:txBody>
        </p:sp>
        <p:sp>
          <p:nvSpPr>
            <p:cNvPr id="13" name="AutoShape 14"/>
            <p:cNvSpPr>
              <a:spLocks noChangeArrowheads="1"/>
            </p:cNvSpPr>
            <p:nvPr/>
          </p:nvSpPr>
          <p:spPr bwMode="auto">
            <a:xfrm>
              <a:off x="4416"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09</a:t>
              </a:r>
              <a:endParaRPr kumimoji="1" lang="en-US" altLang="zh-CN" sz="3000" dirty="0">
                <a:ea typeface="宋体" panose="02010600030101010101" pitchFamily="2" charset="-122"/>
              </a:endParaRPr>
            </a:p>
          </p:txBody>
        </p:sp>
        <p:sp>
          <p:nvSpPr>
            <p:cNvPr id="14" name="AutoShape 15"/>
            <p:cNvSpPr>
              <a:spLocks noChangeArrowheads="1"/>
            </p:cNvSpPr>
            <p:nvPr/>
          </p:nvSpPr>
          <p:spPr bwMode="auto">
            <a:xfrm>
              <a:off x="4848"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10</a:t>
              </a:r>
              <a:endParaRPr kumimoji="1" lang="en-US" altLang="zh-CN" sz="3000" dirty="0">
                <a:ea typeface="宋体" panose="02010600030101010101" pitchFamily="2" charset="-122"/>
              </a:endParaRPr>
            </a:p>
          </p:txBody>
        </p:sp>
        <p:sp>
          <p:nvSpPr>
            <p:cNvPr id="15" name="Line 16"/>
            <p:cNvSpPr>
              <a:spLocks noChangeShapeType="1"/>
            </p:cNvSpPr>
            <p:nvPr/>
          </p:nvSpPr>
          <p:spPr bwMode="auto">
            <a:xfrm>
              <a:off x="1200"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7"/>
            <p:cNvSpPr>
              <a:spLocks noChangeShapeType="1"/>
            </p:cNvSpPr>
            <p:nvPr/>
          </p:nvSpPr>
          <p:spPr bwMode="auto">
            <a:xfrm>
              <a:off x="1632"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8"/>
            <p:cNvSpPr>
              <a:spLocks noChangeShapeType="1"/>
            </p:cNvSpPr>
            <p:nvPr/>
          </p:nvSpPr>
          <p:spPr bwMode="auto">
            <a:xfrm>
              <a:off x="2064"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9"/>
            <p:cNvSpPr>
              <a:spLocks noChangeShapeType="1"/>
            </p:cNvSpPr>
            <p:nvPr/>
          </p:nvSpPr>
          <p:spPr bwMode="auto">
            <a:xfrm>
              <a:off x="2496"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0"/>
            <p:cNvSpPr>
              <a:spLocks noChangeShapeType="1"/>
            </p:cNvSpPr>
            <p:nvPr/>
          </p:nvSpPr>
          <p:spPr bwMode="auto">
            <a:xfrm>
              <a:off x="2928"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1"/>
            <p:cNvSpPr>
              <a:spLocks noChangeShapeType="1"/>
            </p:cNvSpPr>
            <p:nvPr/>
          </p:nvSpPr>
          <p:spPr bwMode="auto">
            <a:xfrm>
              <a:off x="3360"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2"/>
            <p:cNvSpPr>
              <a:spLocks noChangeShapeType="1"/>
            </p:cNvSpPr>
            <p:nvPr/>
          </p:nvSpPr>
          <p:spPr bwMode="auto">
            <a:xfrm>
              <a:off x="3792"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3"/>
            <p:cNvSpPr>
              <a:spLocks noChangeShapeType="1"/>
            </p:cNvSpPr>
            <p:nvPr/>
          </p:nvSpPr>
          <p:spPr bwMode="auto">
            <a:xfrm>
              <a:off x="4224"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
            <p:cNvSpPr>
              <a:spLocks noChangeShapeType="1"/>
            </p:cNvSpPr>
            <p:nvPr/>
          </p:nvSpPr>
          <p:spPr bwMode="auto">
            <a:xfrm>
              <a:off x="4656"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4" name="Rectangle 4"/>
          <p:cNvSpPr>
            <a:spLocks noChangeArrowheads="1"/>
          </p:cNvSpPr>
          <p:nvPr/>
        </p:nvSpPr>
        <p:spPr bwMode="auto">
          <a:xfrm>
            <a:off x="3700487" y="5759981"/>
            <a:ext cx="4807959" cy="369332"/>
          </a:xfrm>
          <a:prstGeom prst="rect">
            <a:avLst/>
          </a:prstGeom>
          <a:solidFill>
            <a:schemeClr val="accent1">
              <a:lumMod val="20000"/>
              <a:lumOff val="80000"/>
            </a:schemeClr>
          </a:solidFill>
          <a:ln w="9525">
            <a:solidFill>
              <a:schemeClr val="bg2"/>
            </a:solidFill>
            <a:miter lim="800000"/>
          </a:ln>
          <a:effec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1800" b="0" dirty="0">
                <a:ea typeface="宋体" panose="02010600030101010101" pitchFamily="2" charset="-122"/>
                <a:cs typeface="Times New Roman" panose="02020603050405020304" pitchFamily="18" charset="0"/>
              </a:rPr>
              <a:t>Illustration of a linear structure</a:t>
            </a:r>
            <a:endParaRPr kumimoji="1" lang="en-US" altLang="zh-CN" sz="1800" b="0" dirty="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wipe(down)">
                                      <p:cBhvr>
                                        <p:cTn id="10" dur="500"/>
                                        <p:tgtEl>
                                          <p:spTgt spid="2">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down)">
                                      <p:cBhvr>
                                        <p:cTn id="13" dur="500"/>
                                        <p:tgtEl>
                                          <p:spTgt spid="2">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wipe(down)">
                                      <p:cBhvr>
                                        <p:cTn id="16" dur="500"/>
                                        <p:tgtEl>
                                          <p:spTgt spid="2">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逻辑结构：线性结构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Rectangle 3"/>
          <p:cNvSpPr txBox="1">
            <a:spLocks noChangeArrowheads="1"/>
          </p:cNvSpPr>
          <p:nvPr/>
        </p:nvSpPr>
        <p:spPr>
          <a:xfrm>
            <a:off x="648861" y="1237199"/>
            <a:ext cx="11381405" cy="58345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buFontTx/>
              <a:buNone/>
            </a:pPr>
            <a:r>
              <a:rPr lang="en-US" altLang="zh-CN" sz="2400" b="1" dirty="0">
                <a:solidFill>
                  <a:srgbClr val="FC0404"/>
                </a:solidFill>
                <a:latin typeface="微软雅黑" panose="020B0503020204020204" pitchFamily="34" charset="-122"/>
                <a:ea typeface="微软雅黑" panose="020B0503020204020204" pitchFamily="34" charset="-122"/>
              </a:rPr>
              <a:t>Example 2.2:</a:t>
            </a:r>
            <a:r>
              <a:rPr lang="en-US" altLang="zh-CN" sz="2400" dirty="0">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如何表示一个线性结构？</a:t>
            </a:r>
            <a:endParaRPr lang="en-US" altLang="zh-CN" sz="2400" b="1" dirty="0">
              <a:solidFill>
                <a:srgbClr val="FF0000"/>
              </a:solidFill>
              <a:latin typeface="微软雅黑" panose="020B0503020204020204" pitchFamily="34" charset="-122"/>
              <a:ea typeface="微软雅黑" panose="020B0503020204020204" pitchFamily="34" charset="-122"/>
            </a:endParaRPr>
          </a:p>
          <a:p>
            <a:pPr>
              <a:lnSpc>
                <a:spcPct val="125000"/>
              </a:lnSpc>
              <a:spcBef>
                <a:spcPct val="0"/>
              </a:spcBef>
              <a:buFontTx/>
              <a:buNone/>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LINEAR = ( K, R )</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10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K = { 01, 02, 03, 04, 05, 06, 07, 08, 09, 10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10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 = {&lt;05,01&gt;,&lt;01,03&gt;,&lt;03,08&gt;,&lt;08,02&gt;, &lt;02,07&gt;</a:t>
            </a:r>
            <a:b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b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&lt;07,04&gt;,&lt;04,06&gt;,&lt;06,09&gt;,&lt;09,10&gt;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buFontTx/>
              <a:buNone/>
            </a:pPr>
            <a:endParaRPr lang="zh-CN" altLang="en-US" sz="2100" dirty="0"/>
          </a:p>
        </p:txBody>
      </p:sp>
      <p:grpSp>
        <p:nvGrpSpPr>
          <p:cNvPr id="25" name="Group 5"/>
          <p:cNvGrpSpPr/>
          <p:nvPr/>
        </p:nvGrpSpPr>
        <p:grpSpPr bwMode="auto">
          <a:xfrm>
            <a:off x="859366" y="4154495"/>
            <a:ext cx="10473267" cy="666221"/>
            <a:chOff x="960" y="3312"/>
            <a:chExt cx="4128" cy="240"/>
          </a:xfrm>
        </p:grpSpPr>
        <p:sp>
          <p:nvSpPr>
            <p:cNvPr id="26" name="AutoShape 6"/>
            <p:cNvSpPr>
              <a:spLocks noChangeArrowheads="1"/>
            </p:cNvSpPr>
            <p:nvPr/>
          </p:nvSpPr>
          <p:spPr bwMode="auto">
            <a:xfrm>
              <a:off x="960"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05</a:t>
              </a:r>
              <a:endParaRPr kumimoji="1" lang="en-US" altLang="zh-CN" sz="3000" dirty="0">
                <a:ea typeface="宋体" panose="02010600030101010101" pitchFamily="2" charset="-122"/>
              </a:endParaRPr>
            </a:p>
          </p:txBody>
        </p:sp>
        <p:sp>
          <p:nvSpPr>
            <p:cNvPr id="27" name="AutoShape 7"/>
            <p:cNvSpPr>
              <a:spLocks noChangeArrowheads="1"/>
            </p:cNvSpPr>
            <p:nvPr/>
          </p:nvSpPr>
          <p:spPr bwMode="auto">
            <a:xfrm>
              <a:off x="1392"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01</a:t>
              </a:r>
              <a:endParaRPr kumimoji="1" lang="en-US" altLang="zh-CN" sz="3000" dirty="0">
                <a:ea typeface="宋体" panose="02010600030101010101" pitchFamily="2" charset="-122"/>
              </a:endParaRPr>
            </a:p>
          </p:txBody>
        </p:sp>
        <p:sp>
          <p:nvSpPr>
            <p:cNvPr id="28" name="AutoShape 8"/>
            <p:cNvSpPr>
              <a:spLocks noChangeArrowheads="1"/>
            </p:cNvSpPr>
            <p:nvPr/>
          </p:nvSpPr>
          <p:spPr bwMode="auto">
            <a:xfrm>
              <a:off x="1824"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03</a:t>
              </a:r>
              <a:endParaRPr kumimoji="1" lang="en-US" altLang="zh-CN" sz="3000" dirty="0">
                <a:ea typeface="宋体" panose="02010600030101010101" pitchFamily="2" charset="-122"/>
              </a:endParaRPr>
            </a:p>
          </p:txBody>
        </p:sp>
        <p:sp>
          <p:nvSpPr>
            <p:cNvPr id="29" name="AutoShape 9"/>
            <p:cNvSpPr>
              <a:spLocks noChangeArrowheads="1"/>
            </p:cNvSpPr>
            <p:nvPr/>
          </p:nvSpPr>
          <p:spPr bwMode="auto">
            <a:xfrm>
              <a:off x="2256"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08</a:t>
              </a:r>
              <a:endParaRPr kumimoji="1" lang="en-US" altLang="zh-CN" sz="3000" dirty="0">
                <a:ea typeface="宋体" panose="02010600030101010101" pitchFamily="2" charset="-122"/>
              </a:endParaRPr>
            </a:p>
          </p:txBody>
        </p:sp>
        <p:sp>
          <p:nvSpPr>
            <p:cNvPr id="30" name="AutoShape 10"/>
            <p:cNvSpPr>
              <a:spLocks noChangeArrowheads="1"/>
            </p:cNvSpPr>
            <p:nvPr/>
          </p:nvSpPr>
          <p:spPr bwMode="auto">
            <a:xfrm>
              <a:off x="2688"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02</a:t>
              </a:r>
              <a:endParaRPr kumimoji="1" lang="en-US" altLang="zh-CN" sz="3000" dirty="0">
                <a:ea typeface="宋体" panose="02010600030101010101" pitchFamily="2" charset="-122"/>
              </a:endParaRPr>
            </a:p>
          </p:txBody>
        </p:sp>
        <p:sp>
          <p:nvSpPr>
            <p:cNvPr id="31" name="AutoShape 11"/>
            <p:cNvSpPr>
              <a:spLocks noChangeArrowheads="1"/>
            </p:cNvSpPr>
            <p:nvPr/>
          </p:nvSpPr>
          <p:spPr bwMode="auto">
            <a:xfrm>
              <a:off x="3120"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07</a:t>
              </a:r>
              <a:endParaRPr kumimoji="1" lang="en-US" altLang="zh-CN" sz="3000" dirty="0">
                <a:ea typeface="宋体" panose="02010600030101010101" pitchFamily="2" charset="-122"/>
              </a:endParaRPr>
            </a:p>
          </p:txBody>
        </p:sp>
        <p:sp>
          <p:nvSpPr>
            <p:cNvPr id="32" name="AutoShape 12"/>
            <p:cNvSpPr>
              <a:spLocks noChangeArrowheads="1"/>
            </p:cNvSpPr>
            <p:nvPr/>
          </p:nvSpPr>
          <p:spPr bwMode="auto">
            <a:xfrm>
              <a:off x="3552"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04</a:t>
              </a:r>
              <a:endParaRPr kumimoji="1" lang="en-US" altLang="zh-CN" sz="3000" dirty="0">
                <a:ea typeface="宋体" panose="02010600030101010101" pitchFamily="2" charset="-122"/>
              </a:endParaRPr>
            </a:p>
          </p:txBody>
        </p:sp>
        <p:sp>
          <p:nvSpPr>
            <p:cNvPr id="33" name="AutoShape 13"/>
            <p:cNvSpPr>
              <a:spLocks noChangeArrowheads="1"/>
            </p:cNvSpPr>
            <p:nvPr/>
          </p:nvSpPr>
          <p:spPr bwMode="auto">
            <a:xfrm>
              <a:off x="3984"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06</a:t>
              </a:r>
              <a:endParaRPr kumimoji="1" lang="en-US" altLang="zh-CN" sz="3000" dirty="0">
                <a:ea typeface="宋体" panose="02010600030101010101" pitchFamily="2" charset="-122"/>
              </a:endParaRPr>
            </a:p>
          </p:txBody>
        </p:sp>
        <p:sp>
          <p:nvSpPr>
            <p:cNvPr id="34" name="AutoShape 14"/>
            <p:cNvSpPr>
              <a:spLocks noChangeArrowheads="1"/>
            </p:cNvSpPr>
            <p:nvPr/>
          </p:nvSpPr>
          <p:spPr bwMode="auto">
            <a:xfrm>
              <a:off x="4416"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09</a:t>
              </a:r>
              <a:endParaRPr kumimoji="1" lang="en-US" altLang="zh-CN" sz="3000" dirty="0">
                <a:ea typeface="宋体" panose="02010600030101010101" pitchFamily="2" charset="-122"/>
              </a:endParaRPr>
            </a:p>
          </p:txBody>
        </p:sp>
        <p:sp>
          <p:nvSpPr>
            <p:cNvPr id="35" name="AutoShape 15"/>
            <p:cNvSpPr>
              <a:spLocks noChangeArrowheads="1"/>
            </p:cNvSpPr>
            <p:nvPr/>
          </p:nvSpPr>
          <p:spPr bwMode="auto">
            <a:xfrm>
              <a:off x="4848" y="3312"/>
              <a:ext cx="240" cy="240"/>
            </a:xfrm>
            <a:prstGeom prst="flowChartConnector">
              <a:avLst/>
            </a:prstGeom>
            <a:solidFill>
              <a:srgbClr val="FC0404"/>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3000" dirty="0">
                  <a:ea typeface="宋体" panose="02010600030101010101" pitchFamily="2" charset="-122"/>
                </a:rPr>
                <a:t>10</a:t>
              </a:r>
              <a:endParaRPr kumimoji="1" lang="en-US" altLang="zh-CN" sz="3000" dirty="0">
                <a:ea typeface="宋体" panose="02010600030101010101" pitchFamily="2" charset="-122"/>
              </a:endParaRPr>
            </a:p>
          </p:txBody>
        </p:sp>
        <p:sp>
          <p:nvSpPr>
            <p:cNvPr id="36" name="Line 16"/>
            <p:cNvSpPr>
              <a:spLocks noChangeShapeType="1"/>
            </p:cNvSpPr>
            <p:nvPr/>
          </p:nvSpPr>
          <p:spPr bwMode="auto">
            <a:xfrm>
              <a:off x="1200"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17"/>
            <p:cNvSpPr>
              <a:spLocks noChangeShapeType="1"/>
            </p:cNvSpPr>
            <p:nvPr/>
          </p:nvSpPr>
          <p:spPr bwMode="auto">
            <a:xfrm>
              <a:off x="1632"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18"/>
            <p:cNvSpPr>
              <a:spLocks noChangeShapeType="1"/>
            </p:cNvSpPr>
            <p:nvPr/>
          </p:nvSpPr>
          <p:spPr bwMode="auto">
            <a:xfrm>
              <a:off x="2064"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19"/>
            <p:cNvSpPr>
              <a:spLocks noChangeShapeType="1"/>
            </p:cNvSpPr>
            <p:nvPr/>
          </p:nvSpPr>
          <p:spPr bwMode="auto">
            <a:xfrm>
              <a:off x="2496"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20"/>
            <p:cNvSpPr>
              <a:spLocks noChangeShapeType="1"/>
            </p:cNvSpPr>
            <p:nvPr/>
          </p:nvSpPr>
          <p:spPr bwMode="auto">
            <a:xfrm>
              <a:off x="2928"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21"/>
            <p:cNvSpPr>
              <a:spLocks noChangeShapeType="1"/>
            </p:cNvSpPr>
            <p:nvPr/>
          </p:nvSpPr>
          <p:spPr bwMode="auto">
            <a:xfrm>
              <a:off x="3360"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2"/>
            <p:cNvSpPr>
              <a:spLocks noChangeShapeType="1"/>
            </p:cNvSpPr>
            <p:nvPr/>
          </p:nvSpPr>
          <p:spPr bwMode="auto">
            <a:xfrm>
              <a:off x="3792"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3"/>
            <p:cNvSpPr>
              <a:spLocks noChangeShapeType="1"/>
            </p:cNvSpPr>
            <p:nvPr/>
          </p:nvSpPr>
          <p:spPr bwMode="auto">
            <a:xfrm>
              <a:off x="4224"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4"/>
            <p:cNvSpPr>
              <a:spLocks noChangeShapeType="1"/>
            </p:cNvSpPr>
            <p:nvPr/>
          </p:nvSpPr>
          <p:spPr bwMode="auto">
            <a:xfrm>
              <a:off x="4656" y="3419"/>
              <a:ext cx="19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5" name="Rectangle 4"/>
          <p:cNvSpPr>
            <a:spLocks noChangeArrowheads="1"/>
          </p:cNvSpPr>
          <p:nvPr/>
        </p:nvSpPr>
        <p:spPr bwMode="auto">
          <a:xfrm>
            <a:off x="3372759" y="5583254"/>
            <a:ext cx="4959351" cy="369332"/>
          </a:xfrm>
          <a:prstGeom prst="rect">
            <a:avLst/>
          </a:prstGeom>
          <a:solidFill>
            <a:schemeClr val="accent1">
              <a:lumMod val="20000"/>
              <a:lumOff val="80000"/>
            </a:schemeClr>
          </a:solidFill>
          <a:ln w="9525">
            <a:solidFill>
              <a:schemeClr val="bg2"/>
            </a:solidFill>
            <a:miter lim="800000"/>
          </a:ln>
          <a:effec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1800" b="0" dirty="0">
                <a:ea typeface="Segoe UI Historic" panose="020B0502040204020203" pitchFamily="34" charset="0"/>
                <a:cs typeface="Times New Roman" panose="02020603050405020304" pitchFamily="18" charset="0"/>
              </a:rPr>
              <a:t>Illustration of a linear structure</a:t>
            </a:r>
            <a:endParaRPr kumimoji="1" lang="en-US" altLang="zh-CN" sz="1800" b="0" dirty="0">
              <a:ea typeface="Segoe UI Historic" panose="020B0502040204020203" pitchFamily="3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fill="hold"/>
                                        <p:tgtEl>
                                          <p:spTgt spid="45"/>
                                        </p:tgtEl>
                                        <p:attrNameLst>
                                          <p:attrName>ppt_x</p:attrName>
                                        </p:attrNameLst>
                                      </p:cBhvr>
                                      <p:tavLst>
                                        <p:tav tm="0">
                                          <p:val>
                                            <p:strVal val="#ppt_x"/>
                                          </p:val>
                                        </p:tav>
                                        <p:tav tm="100000">
                                          <p:val>
                                            <p:strVal val="#ppt_x"/>
                                          </p:val>
                                        </p:tav>
                                      </p:tavLst>
                                    </p:anim>
                                    <p:anim calcmode="lin" valueType="num">
                                      <p:cBhvr additive="base">
                                        <p:cTn id="2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逻辑结构：树型结构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3"/>
          <p:cNvSpPr txBox="1">
            <a:spLocks noChangeArrowheads="1"/>
          </p:cNvSpPr>
          <p:nvPr/>
        </p:nvSpPr>
        <p:spPr>
          <a:xfrm>
            <a:off x="598064" y="1172290"/>
            <a:ext cx="11142133" cy="4856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buFontTx/>
              <a:buNone/>
            </a:pPr>
            <a:r>
              <a:rPr lang="en-US" altLang="zh-CN" sz="2400" b="1" dirty="0">
                <a:solidFill>
                  <a:srgbClr val="FC0404"/>
                </a:solidFill>
                <a:latin typeface="微软雅黑" panose="020B0503020204020204" pitchFamily="34" charset="-122"/>
                <a:ea typeface="微软雅黑" panose="020B0503020204020204" pitchFamily="34" charset="-122"/>
              </a:rPr>
              <a:t>Example 3:</a:t>
            </a:r>
            <a:r>
              <a:rPr lang="en-US" altLang="zh-CN" sz="2400" dirty="0">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如何表示一个树型结构？</a:t>
            </a:r>
            <a:endParaRPr lang="zh-CN" altLang="en-US" sz="2400" b="1" dirty="0">
              <a:solidFill>
                <a:srgbClr val="FF0000"/>
              </a:solidFill>
              <a:latin typeface="微软雅黑" panose="020B0503020204020204" pitchFamily="34" charset="-122"/>
              <a:ea typeface="微软雅黑" panose="020B0503020204020204" pitchFamily="34" charset="-122"/>
            </a:endParaRPr>
          </a:p>
          <a:p>
            <a:pPr>
              <a:lnSpc>
                <a:spcPct val="125000"/>
              </a:lnSpc>
              <a:spcBef>
                <a:spcPct val="0"/>
              </a:spcBef>
              <a:buFontTx/>
              <a:buNone/>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TREE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K,R</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10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K = { 01,02,03,04,05,06,07,08,09,10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10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 = { &lt;01,02&gt;,&lt;01,03&gt;,&lt;01,04&gt;,&lt;02,05&gt;,</a:t>
            </a:r>
            <a:b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b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&lt;02,06&gt;,&lt;03,07&gt;,&lt;03,08&gt;,&lt;03,09&gt;,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1000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&lt;04,10&gt;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buFontTx/>
              <a:buNone/>
            </a:pPr>
            <a:endParaRPr lang="zh-CN" altLang="en-US" b="1" dirty="0"/>
          </a:p>
        </p:txBody>
      </p:sp>
      <p:grpSp>
        <p:nvGrpSpPr>
          <p:cNvPr id="4" name="Group 4"/>
          <p:cNvGrpSpPr/>
          <p:nvPr/>
        </p:nvGrpSpPr>
        <p:grpSpPr bwMode="auto">
          <a:xfrm>
            <a:off x="3920067" y="2760134"/>
            <a:ext cx="6019800" cy="3072871"/>
            <a:chOff x="1296" y="768"/>
            <a:chExt cx="2880" cy="1536"/>
          </a:xfrm>
        </p:grpSpPr>
        <p:sp>
          <p:nvSpPr>
            <p:cNvPr id="5" name="AutoShape 5"/>
            <p:cNvSpPr>
              <a:spLocks noChangeArrowheads="1"/>
            </p:cNvSpPr>
            <p:nvPr/>
          </p:nvSpPr>
          <p:spPr bwMode="auto">
            <a:xfrm>
              <a:off x="2544" y="768"/>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01</a:t>
              </a:r>
              <a:endParaRPr kumimoji="1" lang="en-US" altLang="zh-CN" dirty="0">
                <a:ea typeface="宋体" panose="02010600030101010101" pitchFamily="2" charset="-122"/>
              </a:endParaRPr>
            </a:p>
          </p:txBody>
        </p:sp>
        <p:sp>
          <p:nvSpPr>
            <p:cNvPr id="6" name="AutoShape 6"/>
            <p:cNvSpPr>
              <a:spLocks noChangeArrowheads="1"/>
            </p:cNvSpPr>
            <p:nvPr/>
          </p:nvSpPr>
          <p:spPr bwMode="auto">
            <a:xfrm>
              <a:off x="1632" y="134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02</a:t>
              </a:r>
              <a:endParaRPr kumimoji="1" lang="en-US" altLang="zh-CN" dirty="0">
                <a:ea typeface="宋体" panose="02010600030101010101" pitchFamily="2" charset="-122"/>
              </a:endParaRPr>
            </a:p>
          </p:txBody>
        </p:sp>
        <p:sp>
          <p:nvSpPr>
            <p:cNvPr id="7" name="AutoShape 7"/>
            <p:cNvSpPr>
              <a:spLocks noChangeArrowheads="1"/>
            </p:cNvSpPr>
            <p:nvPr/>
          </p:nvSpPr>
          <p:spPr bwMode="auto">
            <a:xfrm>
              <a:off x="2544" y="134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03</a:t>
              </a:r>
              <a:endParaRPr kumimoji="1" lang="en-US" altLang="zh-CN" dirty="0">
                <a:ea typeface="宋体" panose="02010600030101010101" pitchFamily="2" charset="-122"/>
              </a:endParaRPr>
            </a:p>
          </p:txBody>
        </p:sp>
        <p:sp>
          <p:nvSpPr>
            <p:cNvPr id="8" name="AutoShape 8"/>
            <p:cNvSpPr>
              <a:spLocks noChangeArrowheads="1"/>
            </p:cNvSpPr>
            <p:nvPr/>
          </p:nvSpPr>
          <p:spPr bwMode="auto">
            <a:xfrm>
              <a:off x="3600" y="134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04</a:t>
              </a:r>
              <a:endParaRPr kumimoji="1" lang="en-US" altLang="zh-CN" dirty="0">
                <a:ea typeface="宋体" panose="02010600030101010101" pitchFamily="2" charset="-122"/>
              </a:endParaRPr>
            </a:p>
          </p:txBody>
        </p:sp>
        <p:sp>
          <p:nvSpPr>
            <p:cNvPr id="9" name="AutoShape 9"/>
            <p:cNvSpPr>
              <a:spLocks noChangeArrowheads="1"/>
            </p:cNvSpPr>
            <p:nvPr/>
          </p:nvSpPr>
          <p:spPr bwMode="auto">
            <a:xfrm>
              <a:off x="2208" y="206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07</a:t>
              </a:r>
              <a:endParaRPr kumimoji="1" lang="en-US" altLang="zh-CN" dirty="0">
                <a:ea typeface="宋体" panose="02010600030101010101" pitchFamily="2" charset="-122"/>
              </a:endParaRPr>
            </a:p>
          </p:txBody>
        </p:sp>
        <p:sp>
          <p:nvSpPr>
            <p:cNvPr id="10" name="AutoShape 10"/>
            <p:cNvSpPr>
              <a:spLocks noChangeArrowheads="1"/>
            </p:cNvSpPr>
            <p:nvPr/>
          </p:nvSpPr>
          <p:spPr bwMode="auto">
            <a:xfrm>
              <a:off x="2592" y="206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08</a:t>
              </a:r>
              <a:endParaRPr kumimoji="1" lang="en-US" altLang="zh-CN" dirty="0">
                <a:ea typeface="宋体" panose="02010600030101010101" pitchFamily="2" charset="-122"/>
              </a:endParaRPr>
            </a:p>
          </p:txBody>
        </p:sp>
        <p:sp>
          <p:nvSpPr>
            <p:cNvPr id="11" name="AutoShape 11"/>
            <p:cNvSpPr>
              <a:spLocks noChangeArrowheads="1"/>
            </p:cNvSpPr>
            <p:nvPr/>
          </p:nvSpPr>
          <p:spPr bwMode="auto">
            <a:xfrm>
              <a:off x="2976" y="206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09</a:t>
              </a:r>
              <a:endParaRPr kumimoji="1" lang="en-US" altLang="zh-CN" dirty="0">
                <a:ea typeface="宋体" panose="02010600030101010101" pitchFamily="2" charset="-122"/>
              </a:endParaRPr>
            </a:p>
          </p:txBody>
        </p:sp>
        <p:sp>
          <p:nvSpPr>
            <p:cNvPr id="12" name="AutoShape 12"/>
            <p:cNvSpPr>
              <a:spLocks noChangeArrowheads="1"/>
            </p:cNvSpPr>
            <p:nvPr/>
          </p:nvSpPr>
          <p:spPr bwMode="auto">
            <a:xfrm>
              <a:off x="1296" y="206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05</a:t>
              </a:r>
              <a:endParaRPr kumimoji="1" lang="en-US" altLang="zh-CN" dirty="0">
                <a:ea typeface="宋体" panose="02010600030101010101" pitchFamily="2" charset="-122"/>
              </a:endParaRPr>
            </a:p>
          </p:txBody>
        </p:sp>
        <p:sp>
          <p:nvSpPr>
            <p:cNvPr id="13" name="AutoShape 13"/>
            <p:cNvSpPr>
              <a:spLocks noChangeArrowheads="1"/>
            </p:cNvSpPr>
            <p:nvPr/>
          </p:nvSpPr>
          <p:spPr bwMode="auto">
            <a:xfrm>
              <a:off x="1680" y="206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06</a:t>
              </a:r>
              <a:endParaRPr kumimoji="1" lang="en-US" altLang="zh-CN" dirty="0">
                <a:ea typeface="宋体" panose="02010600030101010101" pitchFamily="2" charset="-122"/>
              </a:endParaRPr>
            </a:p>
          </p:txBody>
        </p:sp>
        <p:sp>
          <p:nvSpPr>
            <p:cNvPr id="14" name="AutoShape 14"/>
            <p:cNvSpPr>
              <a:spLocks noChangeArrowheads="1"/>
            </p:cNvSpPr>
            <p:nvPr/>
          </p:nvSpPr>
          <p:spPr bwMode="auto">
            <a:xfrm>
              <a:off x="3936" y="2064"/>
              <a:ext cx="240" cy="240"/>
            </a:xfrm>
            <a:prstGeom prst="flowChartConnector">
              <a:avLst/>
            </a:prstGeom>
            <a:solidFill>
              <a:srgbClr val="FC0404"/>
            </a:solidFill>
            <a:ln w="38100">
              <a:solidFill>
                <a:schemeClr val="tx1"/>
              </a:solidFill>
              <a:round/>
            </a:ln>
            <a:effectLst>
              <a:outerShdw dist="107763" dir="2700000" algn="ctr" rotWithShape="0">
                <a:schemeClr val="bg2">
                  <a:alpha val="50000"/>
                </a:schemeClr>
              </a:outerShdw>
            </a:effec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10</a:t>
              </a:r>
              <a:endParaRPr kumimoji="1" lang="en-US" altLang="zh-CN" dirty="0">
                <a:ea typeface="宋体" panose="02010600030101010101" pitchFamily="2" charset="-122"/>
              </a:endParaRPr>
            </a:p>
          </p:txBody>
        </p:sp>
        <p:sp>
          <p:nvSpPr>
            <p:cNvPr id="15" name="Line 15"/>
            <p:cNvSpPr>
              <a:spLocks noChangeShapeType="1"/>
            </p:cNvSpPr>
            <p:nvPr/>
          </p:nvSpPr>
          <p:spPr bwMode="auto">
            <a:xfrm>
              <a:off x="2664" y="1020"/>
              <a:ext cx="0" cy="336"/>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6" name="Line 16"/>
            <p:cNvSpPr>
              <a:spLocks noChangeShapeType="1"/>
            </p:cNvSpPr>
            <p:nvPr/>
          </p:nvSpPr>
          <p:spPr bwMode="auto">
            <a:xfrm flipH="1">
              <a:off x="1848" y="1020"/>
              <a:ext cx="804" cy="348"/>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 name="Line 17"/>
            <p:cNvSpPr>
              <a:spLocks noChangeShapeType="1"/>
            </p:cNvSpPr>
            <p:nvPr/>
          </p:nvSpPr>
          <p:spPr bwMode="auto">
            <a:xfrm>
              <a:off x="2652" y="1020"/>
              <a:ext cx="960" cy="360"/>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 name="Line 18"/>
            <p:cNvSpPr>
              <a:spLocks noChangeShapeType="1"/>
            </p:cNvSpPr>
            <p:nvPr/>
          </p:nvSpPr>
          <p:spPr bwMode="auto">
            <a:xfrm flipH="1">
              <a:off x="1457" y="1581"/>
              <a:ext cx="260" cy="497"/>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9" name="Line 19"/>
            <p:cNvSpPr>
              <a:spLocks noChangeShapeType="1"/>
            </p:cNvSpPr>
            <p:nvPr/>
          </p:nvSpPr>
          <p:spPr bwMode="auto">
            <a:xfrm>
              <a:off x="1717" y="1570"/>
              <a:ext cx="79" cy="508"/>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20" name="Line 20"/>
            <p:cNvSpPr>
              <a:spLocks noChangeShapeType="1"/>
            </p:cNvSpPr>
            <p:nvPr/>
          </p:nvSpPr>
          <p:spPr bwMode="auto">
            <a:xfrm flipH="1">
              <a:off x="2372" y="1581"/>
              <a:ext cx="293" cy="486"/>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2665" y="1581"/>
              <a:ext cx="34" cy="486"/>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2665" y="1581"/>
              <a:ext cx="396" cy="486"/>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3761" y="1581"/>
              <a:ext cx="237" cy="475"/>
            </a:xfrm>
            <a:prstGeom prst="line">
              <a:avLst/>
            </a:prstGeom>
            <a:noFill/>
            <a:ln w="38100">
              <a:solidFill>
                <a:schemeClr val="tx1"/>
              </a:solidFill>
              <a:round/>
              <a:tailEnd type="triangle" w="med" len="me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24" name="Text Box 24"/>
          <p:cNvSpPr txBox="1">
            <a:spLocks noChangeArrowheads="1"/>
          </p:cNvSpPr>
          <p:nvPr/>
        </p:nvSpPr>
        <p:spPr bwMode="auto">
          <a:xfrm>
            <a:off x="5105981" y="6134477"/>
            <a:ext cx="3422227" cy="369332"/>
          </a:xfrm>
          <a:prstGeom prst="rect">
            <a:avLst/>
          </a:prstGeom>
          <a:solidFill>
            <a:schemeClr val="accent1">
              <a:lumMod val="20000"/>
              <a:lumOff val="80000"/>
            </a:schemeClr>
          </a:solidFill>
          <a:ln w="9525" algn="ctr">
            <a:solidFill>
              <a:schemeClr val="bg2"/>
            </a:solidFill>
            <a:miter lim="800000"/>
          </a:ln>
          <a:effec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1800" b="0" dirty="0">
                <a:ea typeface="宋体" panose="02010600030101010101" pitchFamily="2" charset="-122"/>
                <a:cs typeface="Times New Roman" panose="02020603050405020304" pitchFamily="18" charset="0"/>
              </a:rPr>
              <a:t>Illustration of a tree</a:t>
            </a:r>
            <a:endParaRPr kumimoji="1" lang="en-US" altLang="zh-CN" sz="1800" b="0" dirty="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up)">
                                      <p:cBhvr>
                                        <p:cTn id="7" dur="500"/>
                                        <p:tgtEl>
                                          <p:spTgt spid="2">
                                            <p:txEl>
                                              <p:pRg st="2" end="2"/>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Effect transition="in" filter="wipe(up)">
                                      <p:cBhvr>
                                        <p:cTn id="11" dur="500"/>
                                        <p:tgtEl>
                                          <p:spTgt spid="2">
                                            <p:txEl>
                                              <p:pRg st="3" end="3"/>
                                            </p:txEl>
                                          </p:spTgt>
                                        </p:tgtEl>
                                      </p:cBhvr>
                                    </p:animEffect>
                                  </p:childTnLst>
                                </p:cTn>
                              </p:par>
                              <p:par>
                                <p:cTn id="12" presetID="22" presetClass="entr" presetSubtype="1" fill="hold" nodeType="with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Effect transition="in" filter="wipe(up)">
                                      <p:cBhvr>
                                        <p:cTn id="14" dur="500"/>
                                        <p:tgtEl>
                                          <p:spTgt spid="2">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逻辑结构：图状结构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Rectangle 3"/>
          <p:cNvSpPr txBox="1">
            <a:spLocks noChangeArrowheads="1"/>
          </p:cNvSpPr>
          <p:nvPr/>
        </p:nvSpPr>
        <p:spPr>
          <a:xfrm>
            <a:off x="657489" y="1185335"/>
            <a:ext cx="11114087" cy="49355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buFontTx/>
              <a:buNone/>
            </a:pPr>
            <a:r>
              <a:rPr lang="en-US" altLang="zh-CN" sz="2400" b="1" dirty="0">
                <a:solidFill>
                  <a:srgbClr val="FC0404"/>
                </a:solidFill>
                <a:latin typeface="微软雅黑" panose="020B0503020204020204" pitchFamily="34" charset="-122"/>
                <a:ea typeface="微软雅黑" panose="020B0503020204020204" pitchFamily="34" charset="-122"/>
              </a:rPr>
              <a:t>Example 4:</a:t>
            </a:r>
            <a:r>
              <a:rPr lang="en-US" altLang="zh-CN" sz="2400" dirty="0">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如何表示一个图状结构？</a:t>
            </a:r>
            <a:endParaRPr lang="zh-CN" altLang="en-US" sz="2400" b="1" dirty="0">
              <a:solidFill>
                <a:srgbClr val="FF0000"/>
              </a:solidFill>
              <a:latin typeface="微软雅黑" panose="020B0503020204020204" pitchFamily="34" charset="-122"/>
              <a:ea typeface="微软雅黑" panose="020B0503020204020204" pitchFamily="34" charset="-122"/>
            </a:endParaRPr>
          </a:p>
          <a:p>
            <a:pPr>
              <a:lnSpc>
                <a:spcPct val="125000"/>
              </a:lnSpc>
              <a:spcBef>
                <a:spcPct val="0"/>
              </a:spcBef>
              <a:buFontTx/>
              <a:buNone/>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GRAPH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 R</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K = {01,02,03,04,05,06,07,08,09,10,}</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spcBef>
                <a:spcPct val="0"/>
              </a:spcBef>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 = {&lt;01,02&gt;,&lt;02,01&gt;,&lt;01,04&gt;,&lt;04,01&gt;,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&lt;02,03&gt;,&lt;03,02&gt;,&lt;02,06&gt;,&lt;06,02&gt;,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&lt;02,07&gt;,&lt;07,02&gt;,&lt;03,07&gt;,&lt;07,03&gt;,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&lt;04,06&gt;,&lt;06,04&gt;,&lt;05,07&gt;,&lt;07,05&gt;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逻辑结构：图状结构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3"/>
          <p:cNvSpPr txBox="1">
            <a:spLocks noChangeArrowheads="1"/>
          </p:cNvSpPr>
          <p:nvPr/>
        </p:nvSpPr>
        <p:spPr>
          <a:xfrm>
            <a:off x="620712" y="1212819"/>
            <a:ext cx="9945687" cy="50032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FontTx/>
              <a:buNone/>
            </a:pPr>
            <a:r>
              <a:rPr lang="en-US" altLang="zh-CN" sz="2400" b="1" dirty="0">
                <a:solidFill>
                  <a:srgbClr val="FC0404"/>
                </a:solidFill>
                <a:latin typeface="微软雅黑" panose="020B0503020204020204" pitchFamily="34" charset="-122"/>
                <a:ea typeface="微软雅黑" panose="020B0503020204020204" pitchFamily="34" charset="-122"/>
              </a:rPr>
              <a:t>Example 4:</a:t>
            </a:r>
            <a:r>
              <a:rPr lang="en-US" altLang="zh-CN" sz="2400" dirty="0">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如何表示一个图状结构？</a:t>
            </a:r>
            <a:endParaRPr lang="zh-CN" altLang="en-US" sz="2400" b="1" dirty="0">
              <a:solidFill>
                <a:srgbClr val="FF0000"/>
              </a:solidFill>
              <a:latin typeface="微软雅黑" panose="020B0503020204020204" pitchFamily="34" charset="-122"/>
              <a:ea typeface="微软雅黑" panose="020B0503020204020204" pitchFamily="34" charset="-122"/>
            </a:endParaRPr>
          </a:p>
          <a:p>
            <a:pPr>
              <a:buFontTx/>
              <a:buNone/>
            </a:pPr>
            <a:r>
              <a:rPr lang="en-US" altLang="zh-CN" dirty="0">
                <a:latin typeface="微软雅黑" panose="020B0503020204020204" pitchFamily="34" charset="-122"/>
                <a:ea typeface="微软雅黑" panose="020B0503020204020204" pitchFamily="34" charset="-122"/>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GRAPH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 R</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 name="Group 4"/>
          <p:cNvGrpSpPr/>
          <p:nvPr/>
        </p:nvGrpSpPr>
        <p:grpSpPr bwMode="auto">
          <a:xfrm>
            <a:off x="2438400" y="2028614"/>
            <a:ext cx="5536893" cy="4139851"/>
            <a:chOff x="288" y="576"/>
            <a:chExt cx="2208" cy="1968"/>
          </a:xfrm>
        </p:grpSpPr>
        <p:grpSp>
          <p:nvGrpSpPr>
            <p:cNvPr id="5" name="Group 5"/>
            <p:cNvGrpSpPr/>
            <p:nvPr/>
          </p:nvGrpSpPr>
          <p:grpSpPr bwMode="auto">
            <a:xfrm>
              <a:off x="288" y="576"/>
              <a:ext cx="2208" cy="1968"/>
              <a:chOff x="288" y="576"/>
              <a:chExt cx="2208" cy="1968"/>
            </a:xfrm>
          </p:grpSpPr>
          <p:sp>
            <p:nvSpPr>
              <p:cNvPr id="30" name="AutoShape 6"/>
              <p:cNvSpPr>
                <a:spLocks noChangeArrowheads="1"/>
              </p:cNvSpPr>
              <p:nvPr/>
            </p:nvSpPr>
            <p:spPr bwMode="auto">
              <a:xfrm>
                <a:off x="1558" y="576"/>
                <a:ext cx="240" cy="240"/>
              </a:xfrm>
              <a:prstGeom prst="flowChartConnector">
                <a:avLst/>
              </a:prstGeom>
              <a:solidFill>
                <a:srgbClr val="FC0404"/>
              </a:solidFill>
              <a:ln w="254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01</a:t>
                </a:r>
                <a:endParaRPr kumimoji="1" lang="en-US" altLang="zh-CN" dirty="0">
                  <a:ea typeface="宋体" panose="02010600030101010101" pitchFamily="2" charset="-122"/>
                </a:endParaRPr>
              </a:p>
            </p:txBody>
          </p:sp>
          <p:sp>
            <p:nvSpPr>
              <p:cNvPr id="31" name="AutoShape 7"/>
              <p:cNvSpPr>
                <a:spLocks noChangeArrowheads="1"/>
              </p:cNvSpPr>
              <p:nvPr/>
            </p:nvSpPr>
            <p:spPr bwMode="auto">
              <a:xfrm>
                <a:off x="912" y="1008"/>
                <a:ext cx="240" cy="240"/>
              </a:xfrm>
              <a:prstGeom prst="flowChartConnector">
                <a:avLst/>
              </a:prstGeom>
              <a:solidFill>
                <a:srgbClr val="FC0404"/>
              </a:solidFill>
              <a:ln w="254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02</a:t>
                </a:r>
                <a:endParaRPr kumimoji="1" lang="en-US" altLang="zh-CN" dirty="0">
                  <a:ea typeface="宋体" panose="02010600030101010101" pitchFamily="2" charset="-122"/>
                </a:endParaRPr>
              </a:p>
            </p:txBody>
          </p:sp>
          <p:sp>
            <p:nvSpPr>
              <p:cNvPr id="32" name="AutoShape 8"/>
              <p:cNvSpPr>
                <a:spLocks noChangeArrowheads="1"/>
              </p:cNvSpPr>
              <p:nvPr/>
            </p:nvSpPr>
            <p:spPr bwMode="auto">
              <a:xfrm>
                <a:off x="288" y="1440"/>
                <a:ext cx="240" cy="240"/>
              </a:xfrm>
              <a:prstGeom prst="flowChartConnector">
                <a:avLst/>
              </a:prstGeom>
              <a:solidFill>
                <a:srgbClr val="FC0404"/>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03</a:t>
                </a:r>
                <a:endParaRPr kumimoji="1" lang="en-US" altLang="zh-CN" dirty="0">
                  <a:ea typeface="宋体" panose="02010600030101010101" pitchFamily="2" charset="-122"/>
                </a:endParaRPr>
              </a:p>
            </p:txBody>
          </p:sp>
          <p:sp>
            <p:nvSpPr>
              <p:cNvPr id="33" name="AutoShape 9"/>
              <p:cNvSpPr>
                <a:spLocks noChangeArrowheads="1"/>
              </p:cNvSpPr>
              <p:nvPr/>
            </p:nvSpPr>
            <p:spPr bwMode="auto">
              <a:xfrm>
                <a:off x="2256" y="971"/>
                <a:ext cx="240" cy="240"/>
              </a:xfrm>
              <a:prstGeom prst="flowChartConnector">
                <a:avLst/>
              </a:prstGeom>
              <a:solidFill>
                <a:srgbClr val="FC0404"/>
              </a:solidFill>
              <a:ln w="254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04</a:t>
                </a:r>
                <a:endParaRPr kumimoji="1" lang="en-US" altLang="zh-CN" dirty="0">
                  <a:ea typeface="宋体" panose="02010600030101010101" pitchFamily="2" charset="-122"/>
                </a:endParaRPr>
              </a:p>
            </p:txBody>
          </p:sp>
          <p:sp>
            <p:nvSpPr>
              <p:cNvPr id="34" name="AutoShape 10"/>
              <p:cNvSpPr>
                <a:spLocks noChangeArrowheads="1"/>
              </p:cNvSpPr>
              <p:nvPr/>
            </p:nvSpPr>
            <p:spPr bwMode="auto">
              <a:xfrm>
                <a:off x="934" y="1835"/>
                <a:ext cx="240" cy="240"/>
              </a:xfrm>
              <a:prstGeom prst="flowChartConnector">
                <a:avLst/>
              </a:prstGeom>
              <a:solidFill>
                <a:srgbClr val="FC0404"/>
              </a:solidFill>
              <a:ln w="254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07</a:t>
                </a:r>
                <a:endParaRPr kumimoji="1" lang="en-US" altLang="zh-CN" dirty="0">
                  <a:ea typeface="宋体" panose="02010600030101010101" pitchFamily="2" charset="-122"/>
                </a:endParaRPr>
              </a:p>
            </p:txBody>
          </p:sp>
          <p:sp>
            <p:nvSpPr>
              <p:cNvPr id="35" name="AutoShape 11"/>
              <p:cNvSpPr>
                <a:spLocks noChangeArrowheads="1"/>
              </p:cNvSpPr>
              <p:nvPr/>
            </p:nvSpPr>
            <p:spPr bwMode="auto">
              <a:xfrm>
                <a:off x="1558" y="2304"/>
                <a:ext cx="240" cy="240"/>
              </a:xfrm>
              <a:prstGeom prst="flowChartConnector">
                <a:avLst/>
              </a:prstGeom>
              <a:solidFill>
                <a:srgbClr val="FC0404"/>
              </a:solidFill>
              <a:ln w="254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05</a:t>
                </a:r>
                <a:endParaRPr kumimoji="1" lang="en-US" altLang="zh-CN" dirty="0">
                  <a:ea typeface="宋体" panose="02010600030101010101" pitchFamily="2" charset="-122"/>
                </a:endParaRPr>
              </a:p>
            </p:txBody>
          </p:sp>
          <p:sp>
            <p:nvSpPr>
              <p:cNvPr id="36" name="AutoShape 12"/>
              <p:cNvSpPr>
                <a:spLocks noChangeArrowheads="1"/>
              </p:cNvSpPr>
              <p:nvPr/>
            </p:nvSpPr>
            <p:spPr bwMode="auto">
              <a:xfrm>
                <a:off x="1558" y="1440"/>
                <a:ext cx="240" cy="240"/>
              </a:xfrm>
              <a:prstGeom prst="flowChartConnector">
                <a:avLst/>
              </a:prstGeom>
              <a:solidFill>
                <a:srgbClr val="FC0404"/>
              </a:solidFill>
              <a:ln w="254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dirty="0">
                    <a:ea typeface="宋体" panose="02010600030101010101" pitchFamily="2" charset="-122"/>
                  </a:rPr>
                  <a:t>06</a:t>
                </a:r>
                <a:endParaRPr kumimoji="1" lang="en-US" altLang="zh-CN" dirty="0">
                  <a:ea typeface="宋体" panose="02010600030101010101" pitchFamily="2" charset="-122"/>
                </a:endParaRPr>
              </a:p>
            </p:txBody>
          </p:sp>
        </p:grpSp>
        <p:grpSp>
          <p:nvGrpSpPr>
            <p:cNvPr id="6" name="Group 13"/>
            <p:cNvGrpSpPr/>
            <p:nvPr/>
          </p:nvGrpSpPr>
          <p:grpSpPr bwMode="auto">
            <a:xfrm>
              <a:off x="480" y="1152"/>
              <a:ext cx="432" cy="336"/>
              <a:chOff x="480" y="1152"/>
              <a:chExt cx="432" cy="336"/>
            </a:xfrm>
          </p:grpSpPr>
          <p:sp>
            <p:nvSpPr>
              <p:cNvPr id="28" name="Freeform 14"/>
              <p:cNvSpPr/>
              <p:nvPr/>
            </p:nvSpPr>
            <p:spPr bwMode="auto">
              <a:xfrm>
                <a:off x="480" y="1152"/>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Freeform 15"/>
              <p:cNvSpPr/>
              <p:nvPr/>
            </p:nvSpPr>
            <p:spPr bwMode="auto">
              <a:xfrm rot="10649992">
                <a:off x="480" y="1200"/>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 name="Group 16"/>
            <p:cNvGrpSpPr/>
            <p:nvPr/>
          </p:nvGrpSpPr>
          <p:grpSpPr bwMode="auto">
            <a:xfrm>
              <a:off x="1126" y="720"/>
              <a:ext cx="432" cy="336"/>
              <a:chOff x="480" y="1152"/>
              <a:chExt cx="432" cy="336"/>
            </a:xfrm>
          </p:grpSpPr>
          <p:sp>
            <p:nvSpPr>
              <p:cNvPr id="26" name="Freeform 17"/>
              <p:cNvSpPr/>
              <p:nvPr/>
            </p:nvSpPr>
            <p:spPr bwMode="auto">
              <a:xfrm>
                <a:off x="480" y="1152"/>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Freeform 18"/>
              <p:cNvSpPr/>
              <p:nvPr/>
            </p:nvSpPr>
            <p:spPr bwMode="auto">
              <a:xfrm rot="10649992">
                <a:off x="480" y="1200"/>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 name="Group 19"/>
            <p:cNvGrpSpPr/>
            <p:nvPr/>
          </p:nvGrpSpPr>
          <p:grpSpPr bwMode="auto">
            <a:xfrm rot="3950920">
              <a:off x="506" y="1610"/>
              <a:ext cx="432" cy="336"/>
              <a:chOff x="480" y="1152"/>
              <a:chExt cx="432" cy="336"/>
            </a:xfrm>
          </p:grpSpPr>
          <p:sp>
            <p:nvSpPr>
              <p:cNvPr id="24" name="Freeform 20"/>
              <p:cNvSpPr/>
              <p:nvPr/>
            </p:nvSpPr>
            <p:spPr bwMode="auto">
              <a:xfrm>
                <a:off x="480" y="1152"/>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Freeform 21"/>
              <p:cNvSpPr/>
              <p:nvPr/>
            </p:nvSpPr>
            <p:spPr bwMode="auto">
              <a:xfrm rot="10649992">
                <a:off x="480" y="1200"/>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 name="Group 22"/>
            <p:cNvGrpSpPr/>
            <p:nvPr/>
          </p:nvGrpSpPr>
          <p:grpSpPr bwMode="auto">
            <a:xfrm rot="3950920">
              <a:off x="1152" y="2016"/>
              <a:ext cx="432" cy="336"/>
              <a:chOff x="480" y="1152"/>
              <a:chExt cx="432" cy="336"/>
            </a:xfrm>
          </p:grpSpPr>
          <p:sp>
            <p:nvSpPr>
              <p:cNvPr id="22" name="Freeform 23"/>
              <p:cNvSpPr/>
              <p:nvPr/>
            </p:nvSpPr>
            <p:spPr bwMode="auto">
              <a:xfrm>
                <a:off x="480" y="1152"/>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Freeform 24"/>
              <p:cNvSpPr/>
              <p:nvPr/>
            </p:nvSpPr>
            <p:spPr bwMode="auto">
              <a:xfrm rot="10649992">
                <a:off x="480" y="1200"/>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 name="Group 25"/>
            <p:cNvGrpSpPr/>
            <p:nvPr/>
          </p:nvGrpSpPr>
          <p:grpSpPr bwMode="auto">
            <a:xfrm rot="3950920">
              <a:off x="1141" y="1174"/>
              <a:ext cx="432" cy="336"/>
              <a:chOff x="480" y="1152"/>
              <a:chExt cx="432" cy="336"/>
            </a:xfrm>
          </p:grpSpPr>
          <p:sp>
            <p:nvSpPr>
              <p:cNvPr id="20" name="Freeform 26"/>
              <p:cNvSpPr/>
              <p:nvPr/>
            </p:nvSpPr>
            <p:spPr bwMode="auto">
              <a:xfrm>
                <a:off x="480" y="1152"/>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Freeform 27"/>
              <p:cNvSpPr/>
              <p:nvPr/>
            </p:nvSpPr>
            <p:spPr bwMode="auto">
              <a:xfrm rot="10649992">
                <a:off x="480" y="1200"/>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 name="Group 28"/>
            <p:cNvGrpSpPr/>
            <p:nvPr/>
          </p:nvGrpSpPr>
          <p:grpSpPr bwMode="auto">
            <a:xfrm rot="3950920">
              <a:off x="1824" y="720"/>
              <a:ext cx="432" cy="336"/>
              <a:chOff x="480" y="1152"/>
              <a:chExt cx="432" cy="336"/>
            </a:xfrm>
          </p:grpSpPr>
          <p:sp>
            <p:nvSpPr>
              <p:cNvPr id="18" name="Freeform 29"/>
              <p:cNvSpPr/>
              <p:nvPr/>
            </p:nvSpPr>
            <p:spPr bwMode="auto">
              <a:xfrm>
                <a:off x="480" y="1152"/>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Freeform 30"/>
              <p:cNvSpPr/>
              <p:nvPr/>
            </p:nvSpPr>
            <p:spPr bwMode="auto">
              <a:xfrm rot="10649992">
                <a:off x="480" y="1200"/>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 name="Group 31"/>
            <p:cNvGrpSpPr/>
            <p:nvPr/>
          </p:nvGrpSpPr>
          <p:grpSpPr bwMode="auto">
            <a:xfrm>
              <a:off x="1813" y="1159"/>
              <a:ext cx="432" cy="336"/>
              <a:chOff x="480" y="1152"/>
              <a:chExt cx="432" cy="336"/>
            </a:xfrm>
          </p:grpSpPr>
          <p:sp>
            <p:nvSpPr>
              <p:cNvPr id="16" name="Freeform 32"/>
              <p:cNvSpPr/>
              <p:nvPr/>
            </p:nvSpPr>
            <p:spPr bwMode="auto">
              <a:xfrm>
                <a:off x="480" y="1152"/>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Freeform 33"/>
              <p:cNvSpPr/>
              <p:nvPr/>
            </p:nvSpPr>
            <p:spPr bwMode="auto">
              <a:xfrm rot="10649992">
                <a:off x="480" y="1200"/>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 name="Group 34"/>
            <p:cNvGrpSpPr/>
            <p:nvPr/>
          </p:nvGrpSpPr>
          <p:grpSpPr bwMode="auto">
            <a:xfrm rot="7584371">
              <a:off x="816" y="1381"/>
              <a:ext cx="432" cy="336"/>
              <a:chOff x="480" y="1152"/>
              <a:chExt cx="432" cy="336"/>
            </a:xfrm>
          </p:grpSpPr>
          <p:sp>
            <p:nvSpPr>
              <p:cNvPr id="14" name="Freeform 35"/>
              <p:cNvSpPr/>
              <p:nvPr/>
            </p:nvSpPr>
            <p:spPr bwMode="auto">
              <a:xfrm>
                <a:off x="480" y="1152"/>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Freeform 36"/>
              <p:cNvSpPr/>
              <p:nvPr/>
            </p:nvSpPr>
            <p:spPr bwMode="auto">
              <a:xfrm rot="10649992">
                <a:off x="480" y="1200"/>
                <a:ext cx="432" cy="288"/>
              </a:xfrm>
              <a:custGeom>
                <a:avLst/>
                <a:gdLst>
                  <a:gd name="T0" fmla="*/ 0 w 432"/>
                  <a:gd name="T1" fmla="*/ 288 h 288"/>
                  <a:gd name="T2" fmla="*/ 144 w 432"/>
                  <a:gd name="T3" fmla="*/ 96 h 288"/>
                  <a:gd name="T4" fmla="*/ 432 w 432"/>
                  <a:gd name="T5" fmla="*/ 0 h 288"/>
                  <a:gd name="T6" fmla="*/ 0 60000 65536"/>
                  <a:gd name="T7" fmla="*/ 0 60000 65536"/>
                  <a:gd name="T8" fmla="*/ 0 60000 65536"/>
                </a:gdLst>
                <a:ahLst/>
                <a:cxnLst>
                  <a:cxn ang="T6">
                    <a:pos x="T0" y="T1"/>
                  </a:cxn>
                  <a:cxn ang="T7">
                    <a:pos x="T2" y="T3"/>
                  </a:cxn>
                  <a:cxn ang="T8">
                    <a:pos x="T4" y="T5"/>
                  </a:cxn>
                </a:cxnLst>
                <a:rect l="0" t="0" r="r" b="b"/>
                <a:pathLst>
                  <a:path w="432" h="288">
                    <a:moveTo>
                      <a:pt x="0" y="288"/>
                    </a:moveTo>
                    <a:cubicBezTo>
                      <a:pt x="36" y="216"/>
                      <a:pt x="72" y="144"/>
                      <a:pt x="144" y="96"/>
                    </a:cubicBezTo>
                    <a:cubicBezTo>
                      <a:pt x="216" y="48"/>
                      <a:pt x="360" y="8"/>
                      <a:pt x="432"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7" name="Text Box 37"/>
          <p:cNvSpPr txBox="1">
            <a:spLocks noChangeArrowheads="1"/>
          </p:cNvSpPr>
          <p:nvPr/>
        </p:nvSpPr>
        <p:spPr bwMode="auto">
          <a:xfrm>
            <a:off x="3860800" y="6320862"/>
            <a:ext cx="3393890" cy="369332"/>
          </a:xfrm>
          <a:prstGeom prst="rect">
            <a:avLst/>
          </a:prstGeom>
          <a:solidFill>
            <a:schemeClr val="accent1">
              <a:lumMod val="20000"/>
              <a:lumOff val="80000"/>
            </a:schemeClr>
          </a:solidFill>
          <a:ln w="9525" algn="ctr">
            <a:solidFill>
              <a:schemeClr val="accent1">
                <a:lumMod val="20000"/>
                <a:lumOff val="80000"/>
              </a:schemeClr>
            </a:solidFill>
            <a:miter lim="800000"/>
          </a:ln>
          <a:effec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kumimoji="1" lang="en-US" altLang="zh-CN" sz="1800" b="0" dirty="0">
                <a:ea typeface="宋体" panose="02010600030101010101" pitchFamily="2" charset="-122"/>
                <a:cs typeface="Times New Roman" panose="02020603050405020304" pitchFamily="18" charset="0"/>
              </a:rPr>
              <a:t>Illustration of a graph</a:t>
            </a:r>
            <a:endParaRPr kumimoji="1" lang="en-US" altLang="zh-CN" sz="1800" b="0" dirty="0">
              <a:ea typeface="宋体" panose="02010600030101010101" pitchFamily="2" charset="-122"/>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457199" y="925056"/>
            <a:ext cx="11345333" cy="5560411"/>
          </a:xfrm>
        </p:spPr>
        <p:txBody>
          <a:bodyPr>
            <a:normAutofit lnSpcReduction="10000"/>
          </a:bodyPr>
          <a:lstStyle/>
          <a:p>
            <a:r>
              <a:rPr lang="zh-CN" altLang="en-US" sz="2400" dirty="0">
                <a:latin typeface="微软雅黑" panose="020B0503020204020204" pitchFamily="34" charset="-122"/>
                <a:ea typeface="微软雅黑" panose="020B0503020204020204" pitchFamily="34" charset="-122"/>
              </a:rPr>
              <a:t>学生选课问题</a:t>
            </a:r>
            <a:endParaRPr lang="en-US" altLang="zh-CN" sz="24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457200" lvl="1" indent="0">
              <a:lnSpc>
                <a:spcPct val="125000"/>
              </a:lnSpc>
              <a:buNone/>
            </a:pPr>
            <a:endParaRPr lang="en-US" altLang="zh-CN"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该问题可以用三张数据表来表示，每张表中每条记录为数据元素</a:t>
            </a:r>
            <a:endParaRPr lang="en-US" altLang="zh-CN" dirty="0">
              <a:latin typeface="微软雅黑" panose="020B0503020204020204" pitchFamily="34" charset="-122"/>
              <a:ea typeface="微软雅黑" panose="020B0503020204020204" pitchFamily="34" charset="-122"/>
            </a:endParaRPr>
          </a:p>
          <a:p>
            <a:pPr lvl="2">
              <a:lnSpc>
                <a:spcPct val="125000"/>
              </a:lnSpc>
            </a:pPr>
            <a:r>
              <a:rPr lang="zh-CN" altLang="en-US" dirty="0">
                <a:latin typeface="微软雅黑" panose="020B0503020204020204" pitchFamily="34" charset="-122"/>
                <a:ea typeface="微软雅黑" panose="020B0503020204020204" pitchFamily="34" charset="-122"/>
              </a:rPr>
              <a:t>如表中数据元素是无序的，则数据表构成集合结构</a:t>
            </a:r>
            <a:endParaRPr lang="en-US" altLang="zh-CN" dirty="0">
              <a:latin typeface="微软雅黑" panose="020B0503020204020204" pitchFamily="34" charset="-122"/>
              <a:ea typeface="微软雅黑" panose="020B0503020204020204" pitchFamily="34" charset="-122"/>
            </a:endParaRPr>
          </a:p>
          <a:p>
            <a:pPr lvl="2">
              <a:lnSpc>
                <a:spcPct val="125000"/>
              </a:lnSpc>
            </a:pPr>
            <a:r>
              <a:rPr lang="zh-CN" altLang="en-US" dirty="0">
                <a:latin typeface="微软雅黑" panose="020B0503020204020204" pitchFamily="34" charset="-122"/>
                <a:ea typeface="微软雅黑" panose="020B0503020204020204" pitchFamily="34" charset="-122"/>
              </a:rPr>
              <a:t>如表中数据元素是有序的，则数据表构成线性结构</a:t>
            </a:r>
            <a:endParaRPr lang="en-US" altLang="zh-CN" sz="2400" dirty="0">
              <a:latin typeface="微软雅黑" panose="020B0503020204020204" pitchFamily="34" charset="-122"/>
              <a:ea typeface="微软雅黑" panose="020B0503020204020204" pitchFamily="34" charset="-122"/>
            </a:endParaRPr>
          </a:p>
        </p:txBody>
      </p:sp>
      <p:graphicFrame>
        <p:nvGraphicFramePr>
          <p:cNvPr id="38" name="Object 1"/>
          <p:cNvGraphicFramePr>
            <a:graphicFrameLocks noChangeAspect="1"/>
          </p:cNvGraphicFramePr>
          <p:nvPr/>
        </p:nvGraphicFramePr>
        <p:xfrm>
          <a:off x="216253" y="1647853"/>
          <a:ext cx="3072694" cy="3228312"/>
        </p:xfrm>
        <a:graphic>
          <a:graphicData uri="http://schemas.openxmlformats.org/presentationml/2006/ole">
            <mc:AlternateContent xmlns:mc="http://schemas.openxmlformats.org/markup-compatibility/2006">
              <mc:Choice xmlns:v="urn:schemas-microsoft-com:vml" Requires="v">
                <p:oleObj spid="_x0000_s3077" name="Visio" r:id="rId1" imgW="2984500" imgH="2959100" progId="Visio.Drawing.11">
                  <p:embed/>
                </p:oleObj>
              </mc:Choice>
              <mc:Fallback>
                <p:oleObj name="Visio" r:id="rId1" imgW="2984500" imgH="29591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53" y="1647853"/>
                        <a:ext cx="3072694" cy="3228312"/>
                      </a:xfrm>
                      <a:prstGeom prst="rect">
                        <a:avLst/>
                      </a:prstGeom>
                      <a:noFill/>
                      <a:ln>
                        <a:noFill/>
                      </a:ln>
                    </p:spPr>
                  </p:pic>
                </p:oleObj>
              </mc:Fallback>
            </mc:AlternateContent>
          </a:graphicData>
        </a:graphic>
      </p:graphicFrame>
      <p:graphicFrame>
        <p:nvGraphicFramePr>
          <p:cNvPr id="39" name="Group 96"/>
          <p:cNvGraphicFramePr>
            <a:graphicFrameLocks noGrp="1"/>
          </p:cNvGraphicFramePr>
          <p:nvPr/>
        </p:nvGraphicFramePr>
        <p:xfrm>
          <a:off x="4326309" y="1569239"/>
          <a:ext cx="6933259" cy="3306926"/>
        </p:xfrm>
        <a:graphic>
          <a:graphicData uri="http://schemas.openxmlformats.org/drawingml/2006/table">
            <a:tbl>
              <a:tblPr/>
              <a:tblGrid>
                <a:gridCol w="825076"/>
                <a:gridCol w="827264"/>
                <a:gridCol w="378615"/>
                <a:gridCol w="770362"/>
                <a:gridCol w="1037363"/>
                <a:gridCol w="385181"/>
                <a:gridCol w="772551"/>
                <a:gridCol w="1035173"/>
                <a:gridCol w="901674"/>
              </a:tblGrid>
              <a:tr h="472418">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学生表</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课程表</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选课表</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47241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学号</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姓名</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课程号</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课程名称</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学号</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课程号</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成绩</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47241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S0001</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张三</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C0001</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数据结构</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S0001</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C0001</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85</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41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S0002</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李四</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C0002</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操作系统</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S0001</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C0003</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76</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41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S0005</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王五</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C0003</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编译原理</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S0002</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C0001</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41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C0004</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数据库原理</a:t>
                      </a:r>
                      <a:endPar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S0002</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C0004</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41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S0003  </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C0002</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a:t>
                      </a:r>
                      <a:endPar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0" name="右箭头 6"/>
          <p:cNvSpPr>
            <a:spLocks noChangeArrowheads="1"/>
          </p:cNvSpPr>
          <p:nvPr/>
        </p:nvSpPr>
        <p:spPr bwMode="auto">
          <a:xfrm>
            <a:off x="3363048" y="2871042"/>
            <a:ext cx="735346" cy="781933"/>
          </a:xfrm>
          <a:prstGeom prst="rightArrow">
            <a:avLst>
              <a:gd name="adj1" fmla="val 50000"/>
              <a:gd name="adj2" fmla="val 50000"/>
            </a:avLst>
          </a:prstGeom>
          <a:solidFill>
            <a:srgbClr val="FFFF99"/>
          </a:solidFill>
          <a:ln w="3175" algn="ctr">
            <a:solidFill>
              <a:schemeClr val="tx2"/>
            </a:solidFill>
            <a:round/>
          </a:ln>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 name="Object 3"/>
          <p:cNvGraphicFramePr>
            <a:graphicFrameLocks noChangeAspect="1"/>
          </p:cNvGraphicFramePr>
          <p:nvPr/>
        </p:nvGraphicFramePr>
        <p:xfrm>
          <a:off x="1134532" y="1368311"/>
          <a:ext cx="8402595" cy="3043881"/>
        </p:xfrm>
        <a:graphic>
          <a:graphicData uri="http://schemas.openxmlformats.org/presentationml/2006/ole">
            <mc:AlternateContent xmlns:mc="http://schemas.openxmlformats.org/markup-compatibility/2006">
              <mc:Choice xmlns:v="urn:schemas-microsoft-com:vml" Requires="v">
                <p:oleObj spid="_x0000_s3077" name="Visio" r:id="rId1" imgW="6896100" imgH="2501900" progId="Visio.Drawing.11">
                  <p:embed/>
                </p:oleObj>
              </mc:Choice>
              <mc:Fallback>
                <p:oleObj name="Visio" r:id="rId1" imgW="6896100" imgH="25019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4532" y="1368311"/>
                        <a:ext cx="8402595" cy="3043881"/>
                      </a:xfrm>
                      <a:prstGeom prst="rect">
                        <a:avLst/>
                      </a:prstGeom>
                      <a:noFill/>
                      <a:ln>
                        <a:noFill/>
                      </a:ln>
                    </p:spPr>
                  </p:pic>
                </p:oleObj>
              </mc:Fallback>
            </mc:AlternateContent>
          </a:graphicData>
        </a:graphic>
      </p:graphicFrame>
      <p:sp>
        <p:nvSpPr>
          <p:cNvPr id="6" name="内容占位符 2"/>
          <p:cNvSpPr>
            <a:spLocks noGrp="1"/>
          </p:cNvSpPr>
          <p:nvPr>
            <p:ph idx="1"/>
          </p:nvPr>
        </p:nvSpPr>
        <p:spPr>
          <a:xfrm>
            <a:off x="509049" y="925056"/>
            <a:ext cx="10972800" cy="5393267"/>
          </a:xfrm>
        </p:spPr>
        <p:txBody>
          <a:bodyPr>
            <a:normAutofit/>
          </a:bodyPr>
          <a:lstStyle/>
          <a:p>
            <a:r>
              <a:rPr lang="zh-CN" altLang="en-US" sz="2400" dirty="0">
                <a:latin typeface="微软雅黑" panose="020B0503020204020204" pitchFamily="34" charset="-122"/>
                <a:ea typeface="微软雅黑" panose="020B0503020204020204" pitchFamily="34" charset="-122"/>
              </a:rPr>
              <a:t>三维实体造型问题</a:t>
            </a:r>
            <a:r>
              <a:rPr lang="en-US" altLang="zh-CN" sz="2400" dirty="0">
                <a:latin typeface="微软雅黑" panose="020B0503020204020204" pitchFamily="34" charset="-122"/>
                <a:ea typeface="微软雅黑" panose="020B0503020204020204" pitchFamily="34" charset="-122"/>
              </a:rPr>
              <a:t>——CSG</a:t>
            </a:r>
            <a:r>
              <a:rPr lang="zh-CN" altLang="en-US" sz="2400" dirty="0">
                <a:latin typeface="微软雅黑" panose="020B0503020204020204" pitchFamily="34" charset="-122"/>
                <a:ea typeface="微软雅黑" panose="020B0503020204020204" pitchFamily="34" charset="-122"/>
              </a:rPr>
              <a:t>法（构造实体几何方法）</a:t>
            </a:r>
            <a:endParaRPr lang="zh-CN" altLang="en-US" sz="2400" dirty="0">
              <a:latin typeface="微软雅黑" panose="020B0503020204020204" pitchFamily="34" charset="-122"/>
              <a:ea typeface="微软雅黑" panose="020B0503020204020204" pitchFamily="34" charset="-122"/>
            </a:endParaRPr>
          </a:p>
          <a:p>
            <a:endParaRPr lang="en-US" altLang="zh-CN" sz="32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457200" lvl="1" indent="0">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左图的机械零件可以分解成三个基本的实体模型通过布尔运算“</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”（并运算）和“</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（差运算）操作得到；</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右图构成了一个树型的数据结构，每一个节点为一个基本实体模型或通过布尔运算得到的复合实体模型。</a:t>
            </a:r>
            <a:endParaRPr lang="en-US" altLang="zh-CN" sz="2000" dirty="0">
              <a:latin typeface="微软雅黑" panose="020B0503020204020204" pitchFamily="34" charset="-122"/>
              <a:ea typeface="微软雅黑" panose="020B0503020204020204" pitchFamily="34" charset="-122"/>
            </a:endParaRPr>
          </a:p>
        </p:txBody>
      </p:sp>
      <p:sp>
        <p:nvSpPr>
          <p:cNvPr id="7" name="右箭头 6"/>
          <p:cNvSpPr>
            <a:spLocks noChangeArrowheads="1"/>
          </p:cNvSpPr>
          <p:nvPr/>
        </p:nvSpPr>
        <p:spPr bwMode="auto">
          <a:xfrm>
            <a:off x="3572933" y="2876052"/>
            <a:ext cx="691978" cy="713815"/>
          </a:xfrm>
          <a:prstGeom prst="rightArrow">
            <a:avLst>
              <a:gd name="adj1" fmla="val 50000"/>
              <a:gd name="adj2" fmla="val 50000"/>
            </a:avLst>
          </a:prstGeom>
          <a:solidFill>
            <a:srgbClr val="FFFF99"/>
          </a:solidFill>
          <a:ln w="3175" algn="ctr">
            <a:solidFill>
              <a:schemeClr val="tx2"/>
            </a:solidFill>
            <a:round/>
          </a:ln>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516466" y="925056"/>
            <a:ext cx="11159067" cy="5452533"/>
          </a:xfrm>
        </p:spPr>
        <p:txBody>
          <a:bodyPr>
            <a:normAutofit/>
          </a:bodyPr>
          <a:lstStyle/>
          <a:p>
            <a:r>
              <a:rPr lang="zh-CN" altLang="en-US" sz="2400" dirty="0">
                <a:latin typeface="微软雅黑" panose="020B0503020204020204" pitchFamily="34" charset="-122"/>
                <a:ea typeface="微软雅黑" panose="020B0503020204020204" pitchFamily="34" charset="-122"/>
              </a:rPr>
              <a:t>地图表示问题</a:t>
            </a:r>
            <a:endParaRPr lang="en-US" altLang="zh-CN" sz="24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为了在计算机中记录城市与主要的高速公路干线，左图的地图经抽象可以得到右图的结构。</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右图构成了图状的数据结构，图中的数据元素之间存在多对多的关系。</a:t>
            </a:r>
            <a:endParaRPr lang="en-US" altLang="zh-CN" sz="2000" dirty="0">
              <a:latin typeface="微软雅黑" panose="020B0503020204020204" pitchFamily="34" charset="-122"/>
              <a:ea typeface="微软雅黑" panose="020B0503020204020204" pitchFamily="34" charset="-122"/>
            </a:endParaRPr>
          </a:p>
        </p:txBody>
      </p:sp>
      <p:graphicFrame>
        <p:nvGraphicFramePr>
          <p:cNvPr id="8" name="Object 3"/>
          <p:cNvGraphicFramePr>
            <a:graphicFrameLocks noChangeAspect="1"/>
          </p:cNvGraphicFramePr>
          <p:nvPr/>
        </p:nvGraphicFramePr>
        <p:xfrm>
          <a:off x="1631106" y="1354549"/>
          <a:ext cx="9053826" cy="3728299"/>
        </p:xfrm>
        <a:graphic>
          <a:graphicData uri="http://schemas.openxmlformats.org/presentationml/2006/ole">
            <mc:AlternateContent xmlns:mc="http://schemas.openxmlformats.org/markup-compatibility/2006">
              <mc:Choice xmlns:v="urn:schemas-microsoft-com:vml" Requires="v">
                <p:oleObj spid="_x0000_s3077" name="Visio" r:id="rId1" imgW="7289800" imgH="3009900" progId="Visio.Drawing.11">
                  <p:embed/>
                </p:oleObj>
              </mc:Choice>
              <mc:Fallback>
                <p:oleObj name="Visio" r:id="rId1" imgW="7289800" imgH="30099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106" y="1354549"/>
                        <a:ext cx="9053826" cy="3728299"/>
                      </a:xfrm>
                      <a:prstGeom prst="rect">
                        <a:avLst/>
                      </a:prstGeom>
                      <a:noFill/>
                      <a:ln>
                        <a:noFill/>
                      </a:ln>
                    </p:spPr>
                  </p:pic>
                </p:oleObj>
              </mc:Fallback>
            </mc:AlternateContent>
          </a:graphicData>
        </a:graphic>
      </p:graphicFrame>
      <p:sp>
        <p:nvSpPr>
          <p:cNvPr id="9" name="右箭头 9"/>
          <p:cNvSpPr>
            <a:spLocks noChangeArrowheads="1"/>
          </p:cNvSpPr>
          <p:nvPr/>
        </p:nvSpPr>
        <p:spPr bwMode="auto">
          <a:xfrm>
            <a:off x="4693286" y="3061431"/>
            <a:ext cx="723273" cy="711200"/>
          </a:xfrm>
          <a:prstGeom prst="rightArrow">
            <a:avLst>
              <a:gd name="adj1" fmla="val 50000"/>
              <a:gd name="adj2" fmla="val 50000"/>
            </a:avLst>
          </a:prstGeom>
          <a:solidFill>
            <a:srgbClr val="FFFF99"/>
          </a:solidFill>
          <a:ln w="3175" algn="ctr">
            <a:solidFill>
              <a:schemeClr val="tx2"/>
            </a:solidFill>
            <a:round/>
          </a:ln>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txBox="1"/>
          <p:nvPr/>
        </p:nvSpPr>
        <p:spPr>
          <a:xfrm>
            <a:off x="458869" y="1117482"/>
            <a:ext cx="11274262" cy="52408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FontTx/>
              <a:buNone/>
              <a:defRPr/>
            </a:pPr>
            <a:r>
              <a:rPr lang="zh-CN" altLang="en-US" sz="2400" dirty="0">
                <a:latin typeface="微软雅黑" panose="020B0503020204020204" pitchFamily="34" charset="-122"/>
                <a:ea typeface="微软雅黑" panose="020B0503020204020204" pitchFamily="34" charset="-122"/>
              </a:rPr>
              <a:t>数据的存储结构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逻辑结构在存储器中的映象。</a:t>
            </a:r>
            <a:endParaRPr lang="en-US" altLang="zh-CN" sz="2400" dirty="0">
              <a:latin typeface="微软雅黑" panose="020B0503020204020204" pitchFamily="34" charset="-122"/>
              <a:ea typeface="微软雅黑" panose="020B0503020204020204" pitchFamily="34" charset="-122"/>
            </a:endParaRPr>
          </a:p>
          <a:p>
            <a:pPr>
              <a:lnSpc>
                <a:spcPct val="125000"/>
              </a:lnSpc>
              <a:defRPr/>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数据元素”如何映象  ？</a:t>
            </a:r>
            <a:endParaRPr lang="zh-CN" altLang="en-US" sz="2000" dirty="0">
              <a:latin typeface="微软雅黑" panose="020B0503020204020204" pitchFamily="34" charset="-122"/>
              <a:ea typeface="微软雅黑" panose="020B0503020204020204" pitchFamily="34" charset="-122"/>
            </a:endParaRPr>
          </a:p>
          <a:p>
            <a:pPr>
              <a:lnSpc>
                <a:spcPct val="125000"/>
              </a:lnSpc>
              <a:defRPr/>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关系”如何映象  ？</a:t>
            </a:r>
            <a:endParaRPr lang="zh-CN" altLang="en-US" sz="2000" dirty="0">
              <a:latin typeface="微软雅黑" panose="020B0503020204020204" pitchFamily="34" charset="-122"/>
              <a:ea typeface="微软雅黑" panose="020B0503020204020204" pitchFamily="34" charset="-122"/>
            </a:endParaRPr>
          </a:p>
          <a:p>
            <a:pPr>
              <a:defRPr/>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数据的物理结构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3"/>
          <p:cNvSpPr txBox="1">
            <a:spLocks noChangeArrowheads="1"/>
          </p:cNvSpPr>
          <p:nvPr/>
        </p:nvSpPr>
        <p:spPr>
          <a:xfrm>
            <a:off x="392806" y="1151467"/>
            <a:ext cx="11257328" cy="58208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rPr>
              <a:t>数据元素在计算机内部实际存储时，根据各数据元素之间相对的存储位置及相互之间的关系，存在着两种存储结构</a:t>
            </a:r>
            <a:endParaRPr lang="zh-CN" altLang="en-US"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顺序存储结构</a:t>
            </a:r>
            <a:endParaRPr lang="zh-CN" altLang="en-US" sz="2000" b="1" dirty="0">
              <a:solidFill>
                <a:srgbClr val="FF0000"/>
              </a:solidFill>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在存储器中，数据元素是依次存放的，数据元素在物理存储器上的位置关系体现了它们在逻辑上的顺序关系</a:t>
            </a:r>
            <a:endParaRPr lang="zh-CN" altLang="en-US" sz="18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链式存储结构</a:t>
            </a:r>
            <a:endParaRPr lang="zh-CN" altLang="en-US" sz="2000" b="1" dirty="0">
              <a:solidFill>
                <a:srgbClr val="FF0000"/>
              </a:solidFill>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在存储器中，数据元素是分散存放的，在一个数据元素中，必须有一个或若干专门的数据项来指示其他相关联的数据元素在存储器中的位置</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000"/>
                                        <p:tgtEl>
                                          <p:spTgt spid="2">
                                            <p:txEl>
                                              <p:pRg st="3" end="3"/>
                                            </p:txEl>
                                          </p:spTgt>
                                        </p:tgtEl>
                                      </p:cBhvr>
                                    </p:animEffect>
                                    <p:anim calcmode="lin" valueType="num">
                                      <p:cBhvr>
                                        <p:cTn id="2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fade">
                                      <p:cBhvr>
                                        <p:cTn id="24" dur="1000"/>
                                        <p:tgtEl>
                                          <p:spTgt spid="2">
                                            <p:txEl>
                                              <p:pRg st="4" end="4"/>
                                            </p:txEl>
                                          </p:spTgt>
                                        </p:tgtEl>
                                      </p:cBhvr>
                                    </p:animEffect>
                                    <p:anim calcmode="lin" valueType="num">
                                      <p:cBhvr>
                                        <p:cTn id="2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数据的物理结构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Rectangle 3"/>
          <p:cNvSpPr txBox="1">
            <a:spLocks noChangeArrowheads="1"/>
          </p:cNvSpPr>
          <p:nvPr/>
        </p:nvSpPr>
        <p:spPr>
          <a:xfrm>
            <a:off x="457199" y="1088214"/>
            <a:ext cx="11277601" cy="56635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分别用顺序结构和链式结构来存储数列“</a:t>
            </a:r>
            <a:r>
              <a:rPr lang="en-US" altLang="zh-CN" sz="2400" dirty="0">
                <a:latin typeface="微软雅黑" panose="020B0503020204020204" pitchFamily="34" charset="-122"/>
                <a:ea typeface="微软雅黑" panose="020B0503020204020204" pitchFamily="34" charset="-122"/>
              </a:rPr>
              <a:t>10,20,30,40”</a:t>
            </a:r>
            <a:endParaRPr lang="en-US" altLang="zh-CN" sz="2400" dirty="0">
              <a:latin typeface="微软雅黑" panose="020B0503020204020204" pitchFamily="34" charset="-122"/>
              <a:ea typeface="微软雅黑" panose="020B0503020204020204" pitchFamily="34" charset="-122"/>
            </a:endParaRPr>
          </a:p>
          <a:p>
            <a:endParaRPr lang="en-US" altLang="zh-CN" dirty="0"/>
          </a:p>
        </p:txBody>
      </p:sp>
      <p:graphicFrame>
        <p:nvGraphicFramePr>
          <p:cNvPr id="4" name="Object 4"/>
          <p:cNvGraphicFramePr>
            <a:graphicFrameLocks noChangeAspect="1"/>
          </p:cNvGraphicFramePr>
          <p:nvPr/>
        </p:nvGraphicFramePr>
        <p:xfrm>
          <a:off x="1661157" y="1506309"/>
          <a:ext cx="8869683" cy="4581465"/>
        </p:xfrm>
        <a:graphic>
          <a:graphicData uri="http://schemas.openxmlformats.org/presentationml/2006/ole">
            <mc:AlternateContent xmlns:mc="http://schemas.openxmlformats.org/markup-compatibility/2006">
              <mc:Choice xmlns:v="urn:schemas-microsoft-com:vml" Requires="v">
                <p:oleObj spid="_x0000_s3077" name="" r:id="rId1" imgW="7721600" imgH="4000500" progId="Visio.Drawing.11">
                  <p:embed/>
                </p:oleObj>
              </mc:Choice>
              <mc:Fallback>
                <p:oleObj name="" r:id="rId1" imgW="7721600" imgH="400050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157" y="1506309"/>
                        <a:ext cx="8869683" cy="4581465"/>
                      </a:xfrm>
                      <a:prstGeom prst="rect">
                        <a:avLst/>
                      </a:prstGeom>
                      <a:noFill/>
                      <a:ln>
                        <a:noFill/>
                      </a:ln>
                    </p:spPr>
                  </p:pic>
                </p:oleObj>
              </mc:Fallback>
            </mc:AlternateContent>
          </a:graphicData>
        </a:graphic>
      </p:graphicFrame>
      <p:sp>
        <p:nvSpPr>
          <p:cNvPr id="5" name="Text Box 6"/>
          <p:cNvSpPr txBox="1">
            <a:spLocks noChangeArrowheads="1"/>
          </p:cNvSpPr>
          <p:nvPr/>
        </p:nvSpPr>
        <p:spPr bwMode="auto">
          <a:xfrm>
            <a:off x="1930400" y="6146152"/>
            <a:ext cx="3067403" cy="40229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1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2000" b="0" dirty="0">
                <a:solidFill>
                  <a:srgbClr val="000066"/>
                </a:solidFill>
                <a:latin typeface="微软雅黑" panose="020B0503020204020204" pitchFamily="34" charset="-122"/>
                <a:ea typeface="微软雅黑" panose="020B0503020204020204" pitchFamily="34" charset="-122"/>
              </a:rPr>
              <a:t>数列的顺序存储结构</a:t>
            </a:r>
            <a:endParaRPr lang="zh-CN" altLang="en-US" sz="2000" b="0" dirty="0">
              <a:solidFill>
                <a:srgbClr val="000066"/>
              </a:solidFill>
              <a:latin typeface="微软雅黑" panose="020B0503020204020204" pitchFamily="34" charset="-122"/>
              <a:ea typeface="微软雅黑" panose="020B0503020204020204" pitchFamily="34" charset="-122"/>
            </a:endParaRPr>
          </a:p>
        </p:txBody>
      </p:sp>
      <p:sp>
        <p:nvSpPr>
          <p:cNvPr id="6" name="Text Box 7"/>
          <p:cNvSpPr txBox="1">
            <a:spLocks noChangeArrowheads="1"/>
          </p:cNvSpPr>
          <p:nvPr/>
        </p:nvSpPr>
        <p:spPr bwMode="auto">
          <a:xfrm>
            <a:off x="5909733" y="6146152"/>
            <a:ext cx="3067403" cy="40229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1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2000" b="0" dirty="0">
                <a:solidFill>
                  <a:srgbClr val="000066"/>
                </a:solidFill>
                <a:latin typeface="微软雅黑" panose="020B0503020204020204" pitchFamily="34" charset="-122"/>
                <a:ea typeface="微软雅黑" panose="020B0503020204020204" pitchFamily="34" charset="-122"/>
              </a:rPr>
              <a:t>数列的链式存储结构</a:t>
            </a:r>
            <a:endParaRPr lang="zh-CN" altLang="en-US" sz="2000" b="0" dirty="0">
              <a:solidFill>
                <a:srgbClr val="00006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7718261"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数据的物理结构</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内容占位符 2"/>
          <p:cNvSpPr txBox="1"/>
          <p:nvPr/>
        </p:nvSpPr>
        <p:spPr>
          <a:xfrm>
            <a:off x="521595" y="564883"/>
            <a:ext cx="11277600" cy="5207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p>
          <a:p>
            <a:r>
              <a:rPr lang="zh-CN" altLang="en-US" sz="2400" dirty="0">
                <a:latin typeface="微软雅黑" panose="020B0503020204020204" pitchFamily="34" charset="-122"/>
                <a:ea typeface="微软雅黑" panose="020B0503020204020204" pitchFamily="34" charset="-122"/>
              </a:rPr>
              <a:t>链式映象需要用一个附加信息指示下一元素的存储位置</a:t>
            </a:r>
            <a:endParaRPr lang="en-US" altLang="zh-CN" sz="2400" dirty="0">
              <a:latin typeface="微软雅黑" panose="020B0503020204020204" pitchFamily="34" charset="-122"/>
              <a:ea typeface="微软雅黑" panose="020B0503020204020204" pitchFamily="34" charset="-122"/>
            </a:endParaRPr>
          </a:p>
          <a:p>
            <a:endParaRPr lang="en-US" altLang="zh-CN" dirty="0"/>
          </a:p>
          <a:p>
            <a:endParaRPr lang="en-US" altLang="zh-CN" dirty="0"/>
          </a:p>
          <a:p>
            <a:endParaRPr lang="en-US" altLang="zh-CN" dirty="0"/>
          </a:p>
          <a:p>
            <a:endParaRPr lang="en-US" altLang="zh-CN" dirty="0"/>
          </a:p>
          <a:p>
            <a:endParaRPr lang="zh-CN" altLang="en-US" dirty="0"/>
          </a:p>
          <a:p>
            <a:endParaRPr lang="zh-CN" altLang="en-US" dirty="0"/>
          </a:p>
        </p:txBody>
      </p:sp>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3999" y="2388306"/>
            <a:ext cx="6752637" cy="103116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1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1.3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（基本操作的主体：应注重其性能）</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txBox="1"/>
          <p:nvPr/>
        </p:nvSpPr>
        <p:spPr>
          <a:xfrm>
            <a:off x="392805" y="1107017"/>
            <a:ext cx="11108267" cy="50715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defRPr/>
            </a:pPr>
            <a:r>
              <a:rPr lang="zh-CN" altLang="en-US" sz="2400" dirty="0">
                <a:latin typeface="微软雅黑" panose="020B0503020204020204" pitchFamily="34" charset="-122"/>
                <a:ea typeface="微软雅黑" panose="020B0503020204020204" pitchFamily="34" charset="-122"/>
              </a:rPr>
              <a:t>算法（</a:t>
            </a:r>
            <a:r>
              <a:rPr lang="en-US" altLang="zh-CN" sz="2400" dirty="0">
                <a:latin typeface="微软雅黑" panose="020B0503020204020204" pitchFamily="34" charset="-122"/>
                <a:ea typeface="微软雅黑" panose="020B0503020204020204" pitchFamily="34" charset="-122"/>
              </a:rPr>
              <a:t>algorithm</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defRPr/>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解决某一特定问题的具体步骤的描述，是指令的有限序列</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None/>
              <a:defRPr/>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算法的五个重要特征</a:t>
            </a:r>
            <a:endParaRPr lang="en-US" altLang="zh-CN" sz="2000" dirty="0">
              <a:latin typeface="微软雅黑" panose="020B0503020204020204" pitchFamily="34" charset="-122"/>
              <a:ea typeface="微软雅黑" panose="020B0503020204020204" pitchFamily="34" charset="-122"/>
            </a:endParaRPr>
          </a:p>
          <a:p>
            <a:pPr lvl="2">
              <a:lnSpc>
                <a:spcPct val="125000"/>
              </a:lnSpc>
              <a:defRPr/>
            </a:pPr>
            <a:r>
              <a:rPr lang="zh-CN" altLang="en-US" sz="1800" dirty="0">
                <a:latin typeface="微软雅黑" panose="020B0503020204020204" pitchFamily="34" charset="-122"/>
                <a:ea typeface="微软雅黑" panose="020B0503020204020204" pitchFamily="34" charset="-122"/>
              </a:rPr>
              <a:t>有穷性</a:t>
            </a:r>
            <a:endParaRPr lang="en-US" altLang="zh-CN" sz="1800" dirty="0">
              <a:latin typeface="微软雅黑" panose="020B0503020204020204" pitchFamily="34" charset="-122"/>
              <a:ea typeface="微软雅黑" panose="020B0503020204020204" pitchFamily="34" charset="-122"/>
            </a:endParaRPr>
          </a:p>
          <a:p>
            <a:pPr lvl="2">
              <a:lnSpc>
                <a:spcPct val="125000"/>
              </a:lnSpc>
              <a:defRPr/>
            </a:pPr>
            <a:r>
              <a:rPr lang="zh-CN" altLang="en-US" sz="1800" dirty="0">
                <a:latin typeface="微软雅黑" panose="020B0503020204020204" pitchFamily="34" charset="-122"/>
                <a:ea typeface="微软雅黑" panose="020B0503020204020204" pitchFamily="34" charset="-122"/>
              </a:rPr>
              <a:t>确定性</a:t>
            </a:r>
            <a:endParaRPr lang="en-US" altLang="zh-CN" sz="1800" dirty="0">
              <a:latin typeface="微软雅黑" panose="020B0503020204020204" pitchFamily="34" charset="-122"/>
              <a:ea typeface="微软雅黑" panose="020B0503020204020204" pitchFamily="34" charset="-122"/>
            </a:endParaRPr>
          </a:p>
          <a:p>
            <a:pPr lvl="2">
              <a:lnSpc>
                <a:spcPct val="125000"/>
              </a:lnSpc>
              <a:defRPr/>
            </a:pPr>
            <a:r>
              <a:rPr lang="zh-CN" altLang="en-US" sz="1800" dirty="0">
                <a:latin typeface="微软雅黑" panose="020B0503020204020204" pitchFamily="34" charset="-122"/>
                <a:ea typeface="微软雅黑" panose="020B0503020204020204" pitchFamily="34" charset="-122"/>
              </a:rPr>
              <a:t>可行性</a:t>
            </a:r>
            <a:endParaRPr lang="en-US" altLang="zh-CN" sz="1800" dirty="0">
              <a:latin typeface="微软雅黑" panose="020B0503020204020204" pitchFamily="34" charset="-122"/>
              <a:ea typeface="微软雅黑" panose="020B0503020204020204" pitchFamily="34" charset="-122"/>
            </a:endParaRPr>
          </a:p>
          <a:p>
            <a:pPr lvl="2">
              <a:lnSpc>
                <a:spcPct val="125000"/>
              </a:lnSpc>
              <a:defRPr/>
            </a:pPr>
            <a:r>
              <a:rPr lang="zh-CN" altLang="en-US" sz="1800" dirty="0">
                <a:latin typeface="微软雅黑" panose="020B0503020204020204" pitchFamily="34" charset="-122"/>
                <a:ea typeface="微软雅黑" panose="020B0503020204020204" pitchFamily="34" charset="-122"/>
              </a:rPr>
              <a:t>输入</a:t>
            </a:r>
            <a:endParaRPr lang="en-US" altLang="zh-CN" sz="1800" dirty="0">
              <a:latin typeface="微软雅黑" panose="020B0503020204020204" pitchFamily="34" charset="-122"/>
              <a:ea typeface="微软雅黑" panose="020B0503020204020204" pitchFamily="34" charset="-122"/>
            </a:endParaRPr>
          </a:p>
          <a:p>
            <a:pPr lvl="2">
              <a:lnSpc>
                <a:spcPct val="125000"/>
              </a:lnSpc>
              <a:defRPr/>
            </a:pPr>
            <a:r>
              <a:rPr lang="zh-CN" altLang="en-US" sz="1800" dirty="0">
                <a:latin typeface="微软雅黑" panose="020B0503020204020204" pitchFamily="34" charset="-122"/>
                <a:ea typeface="微软雅黑" panose="020B0503020204020204" pitchFamily="34" charset="-122"/>
              </a:rPr>
              <a:t>输出</a:t>
            </a:r>
            <a:endParaRPr lang="en-US" altLang="zh-CN" sz="1800" dirty="0">
              <a:latin typeface="微软雅黑" panose="020B0503020204020204" pitchFamily="34" charset="-122"/>
              <a:ea typeface="微软雅黑" panose="020B0503020204020204" pitchFamily="34" charset="-122"/>
            </a:endParaRPr>
          </a:p>
          <a:p>
            <a:pPr marL="914400" lvl="2" indent="0">
              <a:lnSpc>
                <a:spcPct val="125000"/>
              </a:lnSpc>
              <a:buFontTx/>
              <a:buNone/>
              <a:defRPr/>
            </a:pPr>
            <a:endParaRPr lang="en-US" altLang="zh-CN" sz="2200" b="1" i="1" dirty="0"/>
          </a:p>
          <a:p>
            <a:pPr marL="914400" lvl="2" indent="0">
              <a:buFontTx/>
              <a:buNone/>
              <a:defRPr/>
            </a:pPr>
            <a:endParaRPr lang="zh-CN" altLang="en-US" sz="2200" b="1" i="1" dirty="0"/>
          </a:p>
          <a:p>
            <a:pPr>
              <a:defRPr/>
            </a:pPr>
            <a:endParaRPr lang="en-US" altLang="zh-CN" sz="1800" dirty="0"/>
          </a:p>
          <a:p>
            <a:pPr lvl="1">
              <a:defRPr/>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txBox="1"/>
          <p:nvPr/>
        </p:nvSpPr>
        <p:spPr>
          <a:xfrm>
            <a:off x="457199" y="1151467"/>
            <a:ext cx="11142133" cy="50207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．有穷性  </a:t>
            </a:r>
            <a:endParaRPr lang="en-US" altLang="zh-CN"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对于任意一组合法输入值，在执行有穷步骤之后一定能结束，即：算法中的每个步骤都能在有限时间内完成。</a:t>
            </a:r>
            <a:endParaRPr lang="en-US" altLang="zh-CN"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．确定性</a:t>
            </a:r>
            <a:endParaRPr lang="en-US" altLang="zh-CN"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对于每种情况下所应执行的操作，在算法中都有确切的规定，使算法的执行者或阅读者都能明确其含义及如何执行。并且在任何条件下，算法都只有一条执行路径。</a:t>
            </a:r>
            <a:endParaRPr lang="zh-CN" altLang="en-US" sz="2400" dirty="0">
              <a:latin typeface="微软雅黑" panose="020B0503020204020204" pitchFamily="34" charset="-122"/>
              <a:ea typeface="微软雅黑" panose="020B0503020204020204" pitchFamily="34" charset="-122"/>
            </a:endParaRPr>
          </a:p>
          <a:p>
            <a:pPr>
              <a:lnSpc>
                <a:spcPct val="120000"/>
              </a:lnSpc>
              <a:defRPr/>
            </a:pP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txBox="1"/>
          <p:nvPr/>
        </p:nvSpPr>
        <p:spPr>
          <a:xfrm>
            <a:off x="457200" y="1219200"/>
            <a:ext cx="11226800" cy="4953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．可行性</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有效性 </a:t>
            </a:r>
            <a:endParaRPr lang="en-US" altLang="zh-CN"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算法中的所有操作都必须足够基本，都可以通过已经实现的基本操作运算有限次实现之。</a:t>
            </a:r>
            <a:endParaRPr lang="zh-CN" altLang="en-US" sz="20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．有输入  </a:t>
            </a:r>
            <a:endParaRPr lang="en-US" altLang="zh-CN"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作为算法加工对象的量值，通常体现为算法中的一组变量。有些输入量需要在算法执行过程中输入，而有的算法表面上可以没有输入，实际上已被嵌入算法之中。</a:t>
            </a:r>
            <a:endParaRPr lang="en-US" altLang="zh-CN"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．有输出</a:t>
            </a:r>
            <a:endParaRPr lang="en-US" altLang="zh-CN"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它是一组与“输入”有确定关系的量值，是算法进行信息加工后得到的结果，这种确定关系即为算法的功能。</a:t>
            </a:r>
            <a:endParaRPr lang="zh-CN" altLang="en-US" sz="2000" dirty="0">
              <a:latin typeface="微软雅黑" panose="020B0503020204020204" pitchFamily="34" charset="-122"/>
              <a:ea typeface="微软雅黑" panose="020B0503020204020204" pitchFamily="34" charset="-122"/>
            </a:endParaRPr>
          </a:p>
          <a:p>
            <a:pPr>
              <a:defRPr/>
            </a:pP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算法的性能分析与度量</a:t>
            </a:r>
            <a:endParaRPr lang="zh-CN" altLang="en-US" sz="32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txBox="1"/>
          <p:nvPr/>
        </p:nvSpPr>
        <p:spPr>
          <a:xfrm>
            <a:off x="392805" y="1185334"/>
            <a:ext cx="11209867" cy="50715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rPr>
              <a:t>算法的性能度量方法</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事后测试</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可采用一些程序运行性能跟踪与测量工具（如</a:t>
            </a:r>
            <a:r>
              <a:rPr lang="en-US" altLang="zh-CN" sz="1800" dirty="0">
                <a:latin typeface="微软雅黑" panose="020B0503020204020204" pitchFamily="34" charset="-122"/>
                <a:ea typeface="微软雅黑" panose="020B0503020204020204" pitchFamily="34" charset="-122"/>
              </a:rPr>
              <a:t>Profiler</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预先评做</a:t>
            </a:r>
            <a:endParaRPr lang="en-US" altLang="zh-CN" sz="2000" b="1"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不考虑算法的实现语言、编译器、运行的硬件平台，只考虑在一定问题规模下算法运行的</a:t>
            </a:r>
            <a:r>
              <a:rPr lang="zh-CN" altLang="en-US" sz="1800" dirty="0">
                <a:solidFill>
                  <a:srgbClr val="FF0000"/>
                </a:solidFill>
                <a:latin typeface="微软雅黑" panose="020B0503020204020204" pitchFamily="34" charset="-122"/>
                <a:ea typeface="微软雅黑" panose="020B0503020204020204" pitchFamily="34" charset="-122"/>
              </a:rPr>
              <a:t>时间复杂度</a:t>
            </a:r>
            <a:r>
              <a:rPr lang="zh-CN" altLang="en-US" sz="1800" dirty="0">
                <a:latin typeface="微软雅黑" panose="020B0503020204020204" pitchFamily="34" charset="-122"/>
                <a:ea typeface="微软雅黑" panose="020B0503020204020204" pitchFamily="34" charset="-122"/>
              </a:rPr>
              <a:t>和</a:t>
            </a:r>
            <a:r>
              <a:rPr lang="zh-CN" altLang="en-US" sz="1800" dirty="0">
                <a:solidFill>
                  <a:srgbClr val="FF0000"/>
                </a:solidFill>
                <a:latin typeface="微软雅黑" panose="020B0503020204020204" pitchFamily="34" charset="-122"/>
                <a:ea typeface="微软雅黑" panose="020B0503020204020204" pitchFamily="34" charset="-122"/>
              </a:rPr>
              <a:t>空间复杂度</a:t>
            </a:r>
            <a:endParaRPr lang="zh-CN" altLang="en-US" sz="1800" dirty="0">
              <a:solidFill>
                <a:srgbClr val="FF0000"/>
              </a:solidFill>
              <a:latin typeface="微软雅黑" panose="020B0503020204020204" pitchFamily="34" charset="-122"/>
              <a:ea typeface="微软雅黑" panose="020B0503020204020204" pitchFamily="34" charset="-122"/>
            </a:endParaRPr>
          </a:p>
          <a:p>
            <a:pPr>
              <a:lnSpc>
                <a:spcPct val="125000"/>
              </a:lnSpc>
            </a:pPr>
            <a:r>
              <a:rPr lang="zh-CN" altLang="en-US" sz="2400" b="1" dirty="0">
                <a:latin typeface="微软雅黑" panose="020B0503020204020204" pitchFamily="34" charset="-122"/>
                <a:ea typeface="微软雅黑" panose="020B0503020204020204" pitchFamily="34" charset="-122"/>
              </a:rPr>
              <a:t>性能度量指标</a:t>
            </a:r>
            <a:endParaRPr lang="zh-CN" altLang="en-US" sz="2400" b="1"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时间复杂度</a:t>
            </a:r>
            <a:endParaRPr lang="zh-CN" altLang="en-US"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按某种算法设计的程序在计算机上执行时花费的</a:t>
            </a:r>
            <a:r>
              <a:rPr lang="en-US" altLang="zh-CN" sz="1800" dirty="0">
                <a:latin typeface="微软雅黑" panose="020B0503020204020204" pitchFamily="34" charset="-122"/>
                <a:ea typeface="微软雅黑" panose="020B0503020204020204" pitchFamily="34" charset="-122"/>
              </a:rPr>
              <a:t>CPU</a:t>
            </a:r>
            <a:r>
              <a:rPr lang="zh-CN" altLang="en-US" sz="1800" dirty="0">
                <a:latin typeface="微软雅黑" panose="020B0503020204020204" pitchFamily="34" charset="-122"/>
                <a:ea typeface="微软雅黑" panose="020B0503020204020204" pitchFamily="34" charset="-122"/>
              </a:rPr>
              <a:t>时间的度量</a:t>
            </a:r>
            <a:endParaRPr lang="zh-CN" altLang="en-US" sz="18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空间复杂度</a:t>
            </a:r>
            <a:endParaRPr lang="zh-CN" altLang="en-US"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按某种算法设计的程序在计算机上执行时需要使用的存储空间的度量</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算法的性能分析与度量</a:t>
            </a:r>
            <a:endParaRPr lang="zh-CN" altLang="en-US" sz="32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txBox="1"/>
          <p:nvPr/>
        </p:nvSpPr>
        <p:spPr>
          <a:xfrm>
            <a:off x="541866" y="1100548"/>
            <a:ext cx="11108267" cy="5207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Aft>
                <a:spcPct val="35000"/>
              </a:spcAft>
              <a:buFontTx/>
              <a:buNone/>
            </a:pPr>
            <a:r>
              <a:rPr lang="zh-CN" altLang="en-US" sz="2400" dirty="0">
                <a:latin typeface="微软雅黑" panose="020B0503020204020204" pitchFamily="34" charset="-122"/>
                <a:ea typeface="微软雅黑" panose="020B0503020204020204" pitchFamily="34" charset="-122"/>
              </a:rPr>
              <a:t>和算法执行时间相关的因素：</a:t>
            </a:r>
            <a:endParaRPr lang="zh-CN" altLang="en-US" sz="2400" dirty="0">
              <a:latin typeface="微软雅黑" panose="020B0503020204020204" pitchFamily="34" charset="-122"/>
              <a:ea typeface="微软雅黑" panose="020B0503020204020204" pitchFamily="34" charset="-122"/>
            </a:endParaRPr>
          </a:p>
          <a:p>
            <a:pPr>
              <a:lnSpc>
                <a:spcPct val="125000"/>
              </a:lnSpc>
            </a:pP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算法选用的策略</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问题的规模</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．编写程序的语言</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．编译程序产生的机器代码的质量</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．计算机执行指令的速度</a:t>
            </a:r>
            <a:endParaRPr lang="zh-CN" altLang="en-US" sz="20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算法的性能分析与度量</a:t>
            </a:r>
            <a:endParaRPr lang="zh-CN" altLang="en-US" sz="32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txBox="1"/>
          <p:nvPr/>
        </p:nvSpPr>
        <p:spPr>
          <a:xfrm>
            <a:off x="392805" y="1015882"/>
            <a:ext cx="11159067" cy="508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defRPr/>
            </a:pPr>
            <a:r>
              <a:rPr lang="zh-CN" altLang="en-US" sz="2400" dirty="0">
                <a:latin typeface="微软雅黑" panose="020B0503020204020204" pitchFamily="34" charset="-122"/>
                <a:ea typeface="微软雅黑" panose="020B0503020204020204" pitchFamily="34" charset="-122"/>
              </a:rPr>
              <a:t>一个特定算法的“运行工作量”的大小，只依赖于问题的规模（通常用整数量</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表示），或者说，它</a:t>
            </a:r>
            <a:r>
              <a:rPr lang="zh-CN" altLang="en-US" sz="2400" dirty="0">
                <a:solidFill>
                  <a:srgbClr val="FF0000"/>
                </a:solidFill>
                <a:latin typeface="微软雅黑" panose="020B0503020204020204" pitchFamily="34" charset="-122"/>
                <a:ea typeface="微软雅黑" panose="020B0503020204020204" pitchFamily="34" charset="-122"/>
              </a:rPr>
              <a:t>是问题规模的函数</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0" indent="0">
              <a:lnSpc>
                <a:spcPct val="125000"/>
              </a:lnSpc>
              <a:buFontTx/>
              <a:buNone/>
              <a:defRPr/>
            </a:pPr>
            <a:r>
              <a:rPr lang="zh-CN" altLang="en-US" sz="2000" dirty="0">
                <a:latin typeface="微软雅黑" panose="020B0503020204020204" pitchFamily="34" charset="-122"/>
                <a:ea typeface="微软雅黑" panose="020B0503020204020204" pitchFamily="34" charset="-122"/>
              </a:rPr>
              <a:t>           算法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控制结构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原操作</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defRPr/>
            </a:pPr>
            <a:r>
              <a:rPr lang="zh-CN" altLang="en-US" sz="2000" dirty="0">
                <a:latin typeface="微软雅黑" panose="020B0503020204020204" pitchFamily="34" charset="-122"/>
                <a:ea typeface="微软雅黑" panose="020B0503020204020204" pitchFamily="34" charset="-122"/>
              </a:rPr>
              <a:t>                            （固有数据类型的操作）</a:t>
            </a:r>
            <a:endParaRPr lang="en-US" altLang="zh-CN" sz="2000" dirty="0">
              <a:latin typeface="微软雅黑" panose="020B0503020204020204" pitchFamily="34" charset="-122"/>
              <a:ea typeface="微软雅黑" panose="020B0503020204020204" pitchFamily="34" charset="-122"/>
            </a:endParaRPr>
          </a:p>
          <a:p>
            <a:pPr>
              <a:lnSpc>
                <a:spcPct val="125000"/>
              </a:lnSpc>
              <a:defRPr/>
            </a:pPr>
            <a:r>
              <a:rPr lang="zh-CN" altLang="en-US" sz="2400" dirty="0">
                <a:latin typeface="微软雅黑" panose="020B0503020204020204" pitchFamily="34" charset="-122"/>
                <a:ea typeface="微软雅黑" panose="020B0503020204020204" pitchFamily="34" charset="-122"/>
              </a:rPr>
              <a:t>算法的执行时间 </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25000"/>
              </a:lnSpc>
              <a:buFontTx/>
              <a:buNone/>
              <a:defRPr/>
            </a:pPr>
            <a:r>
              <a:rPr lang="zh-CN" altLang="en-US" sz="2000" dirty="0">
                <a:latin typeface="微软雅黑" panose="020B0503020204020204" pitchFamily="34" charset="-122"/>
                <a:ea typeface="微软雅黑" panose="020B0503020204020204" pitchFamily="34" charset="-122"/>
              </a:rPr>
              <a:t>       ∑原操作</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的执行次数</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原操作</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的执行时间</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1.3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算法和算法分析</a:t>
            </a:r>
            <a:endParaRPr lang="zh-CN" altLang="en-US" sz="32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a:spLocks noGrp="1"/>
          </p:cNvSpPr>
          <p:nvPr>
            <p:ph idx="1"/>
          </p:nvPr>
        </p:nvSpPr>
        <p:spPr>
          <a:xfrm>
            <a:off x="392805" y="1083733"/>
            <a:ext cx="11345333" cy="5003800"/>
          </a:xfrm>
        </p:spPr>
        <p:txBody>
          <a:bodyPr>
            <a:normAutofit/>
          </a:bodyPr>
          <a:lstStyle/>
          <a:p>
            <a:pPr>
              <a:lnSpc>
                <a:spcPct val="125000"/>
              </a:lnSpc>
            </a:pPr>
            <a:r>
              <a:rPr lang="zh-CN" altLang="en-US" sz="2400" dirty="0">
                <a:latin typeface="微软雅黑" panose="020B0503020204020204" pitchFamily="34" charset="-122"/>
                <a:ea typeface="微软雅黑" panose="020B0503020204020204" pitchFamily="34" charset="-122"/>
              </a:rPr>
              <a:t>时间的复杂度</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从算法中选取一种对于所处理问题来说是基本操作的原操作，该</a:t>
            </a:r>
            <a:r>
              <a:rPr lang="zh-CN" altLang="en-US" sz="2000" b="1" dirty="0">
                <a:solidFill>
                  <a:srgbClr val="FF0000"/>
                </a:solidFill>
                <a:latin typeface="微软雅黑" panose="020B0503020204020204" pitchFamily="34" charset="-122"/>
                <a:ea typeface="微软雅黑" panose="020B0503020204020204" pitchFamily="34" charset="-122"/>
              </a:rPr>
              <a:t>基本操作</a:t>
            </a:r>
            <a:r>
              <a:rPr lang="zh-CN" altLang="en-US" sz="2000" dirty="0">
                <a:solidFill>
                  <a:srgbClr val="FF0000"/>
                </a:solidFill>
                <a:latin typeface="微软雅黑" panose="020B0503020204020204" pitchFamily="34" charset="-122"/>
                <a:ea typeface="微软雅黑" panose="020B0503020204020204" pitchFamily="34" charset="-122"/>
              </a:rPr>
              <a:t>重复执行的次数</a:t>
            </a:r>
            <a:r>
              <a:rPr lang="zh-CN" altLang="en-US" sz="2000" dirty="0">
                <a:latin typeface="微软雅黑" panose="020B0503020204020204" pitchFamily="34" charset="-122"/>
                <a:ea typeface="微软雅黑" panose="020B0503020204020204" pitchFamily="34" charset="-122"/>
              </a:rPr>
              <a:t>作为算法的时间量度。</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基本操作重复执行的次数一般为问题规模</a:t>
            </a:r>
            <a:r>
              <a:rPr lang="en-US" altLang="zh-CN" sz="2000" i="1" dirty="0">
                <a:latin typeface="微软雅黑" panose="020B0503020204020204" pitchFamily="34" charset="-122"/>
                <a:ea typeface="微软雅黑" panose="020B0503020204020204" pitchFamily="34" charset="-122"/>
              </a:rPr>
              <a:t>n </a:t>
            </a:r>
            <a:r>
              <a:rPr lang="zh-CN" altLang="en-US" sz="2000" dirty="0">
                <a:latin typeface="微软雅黑" panose="020B0503020204020204" pitchFamily="34" charset="-122"/>
                <a:ea typeface="微软雅黑" panose="020B0503020204020204" pitchFamily="34" charset="-122"/>
              </a:rPr>
              <a:t>的某个函数</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rPr>
              <a:t>，因此时间的复杂度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 (n)</a:t>
            </a:r>
            <a:r>
              <a:rPr lang="zh-CN" altLang="en-US" sz="2000" dirty="0">
                <a:latin typeface="微软雅黑" panose="020B0503020204020204" pitchFamily="34" charset="-122"/>
                <a:ea typeface="微软雅黑" panose="020B0503020204020204" pitchFamily="34" charset="-122"/>
              </a:rPr>
              <a:t>记作</a:t>
            </a:r>
            <a:endParaRPr lang="zh-CN" altLang="en-US" sz="2000" dirty="0">
              <a:latin typeface="微软雅黑" panose="020B0503020204020204" pitchFamily="34" charset="-122"/>
              <a:ea typeface="微软雅黑" panose="020B0503020204020204" pitchFamily="34" charset="-122"/>
            </a:endParaRPr>
          </a:p>
          <a:p>
            <a:pPr lvl="1" algn="ctr">
              <a:lnSpc>
                <a:spcPct val="125000"/>
              </a:lnSpc>
              <a:buFontTx/>
              <a:buNone/>
            </a:pP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 = O</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f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125000"/>
              </a:lnSpc>
            </a:pPr>
            <a:endParaRPr lang="en-US" altLang="zh-CN" sz="2400" dirty="0">
              <a:latin typeface="微软雅黑" panose="020B0503020204020204" pitchFamily="34" charset="-122"/>
              <a:ea typeface="微软雅黑" panose="020B0503020204020204" pitchFamily="34" charset="-122"/>
            </a:endParaRPr>
          </a:p>
          <a:p>
            <a:pPr lvl="2">
              <a:lnSpc>
                <a:spcPct val="125000"/>
              </a:lnSpc>
            </a:pPr>
            <a:r>
              <a:rPr lang="zh-CN" altLang="en-US" dirty="0">
                <a:latin typeface="微软雅黑" panose="020B0503020204020204" pitchFamily="34" charset="-122"/>
                <a:ea typeface="微软雅黑" panose="020B0503020204020204" pitchFamily="34" charset="-122"/>
              </a:rPr>
              <a:t>上式表示随着问题规模</a:t>
            </a:r>
            <a:r>
              <a:rPr lang="en-US" altLang="zh-CN" i="1"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的增长，算法执行时间</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和</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f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同比增长</a:t>
            </a:r>
            <a:endParaRPr lang="en-US" altLang="zh-CN"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在计算时，</a:t>
            </a:r>
            <a:r>
              <a:rPr lang="zh-CN" altLang="en-US" sz="2000" b="1" dirty="0">
                <a:solidFill>
                  <a:srgbClr val="FF0000"/>
                </a:solidFill>
                <a:latin typeface="微软雅黑" panose="020B0503020204020204" pitchFamily="34" charset="-122"/>
                <a:ea typeface="微软雅黑" panose="020B0503020204020204" pitchFamily="34" charset="-122"/>
              </a:rPr>
              <a:t>不需要精确计算基本操作的执行次数</a:t>
            </a:r>
            <a:r>
              <a:rPr lang="zh-CN" altLang="en-US" sz="2000" dirty="0">
                <a:latin typeface="微软雅黑" panose="020B0503020204020204" pitchFamily="34" charset="-122"/>
                <a:ea typeface="微软雅黑" panose="020B0503020204020204" pitchFamily="34" charset="-122"/>
              </a:rPr>
              <a:t>，而只是关注</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rPr>
              <a:t>中阶数最高的项，同时忽略掉低阶项的系数以及其他低阶的项。</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时间复杂度例</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6488414" y="1481667"/>
            <a:ext cx="4267200" cy="4876800"/>
          </a:xfrm>
        </p:spPr>
        <p:txBody>
          <a:bodyPr>
            <a:noAutofit/>
          </a:bodyPr>
          <a:lstStyle/>
          <a:p>
            <a:r>
              <a:rPr lang="zh-CN" altLang="en-US" sz="2000" dirty="0">
                <a:latin typeface="微软雅黑" panose="020B0503020204020204" pitchFamily="34" charset="-122"/>
                <a:ea typeface="微软雅黑" panose="020B0503020204020204" pitchFamily="34" charset="-122"/>
              </a:rPr>
              <a:t>语句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latin typeface="微软雅黑" panose="020B0503020204020204" pitchFamily="34" charset="-122"/>
                <a:ea typeface="微软雅黑" panose="020B0503020204020204" pitchFamily="34" charset="-122"/>
              </a:rPr>
              <a:t>为三个算法的基本操作，问题规模为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endPar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latin typeface="微软雅黑" panose="020B0503020204020204" pitchFamily="34" charset="-122"/>
                <a:ea typeface="微软雅黑" panose="020B0503020204020204" pitchFamily="34" charset="-122"/>
              </a:rPr>
              <a:t>三段程序中基本操作的执行次数分别为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rPr>
              <a:t>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latin typeface="微软雅黑" panose="020B0503020204020204" pitchFamily="34" charset="-122"/>
                <a:ea typeface="微软雅黑" panose="020B0503020204020204" pitchFamily="34" charset="-122"/>
              </a:rPr>
              <a:t>故三段程序的时间复杂度分别为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O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rPr>
              <a:t>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O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rPr>
              <a:t>，称为常量阶、线性阶和平方阶</a:t>
            </a:r>
            <a:endParaRPr lang="zh-CN" altLang="en-US" sz="2000" dirty="0">
              <a:latin typeface="微软雅黑" panose="020B0503020204020204" pitchFamily="34" charset="-122"/>
              <a:ea typeface="微软雅黑" panose="020B0503020204020204" pitchFamily="34" charset="-122"/>
            </a:endParaRPr>
          </a:p>
        </p:txBody>
      </p:sp>
      <p:sp>
        <p:nvSpPr>
          <p:cNvPr id="6" name="Rectangle 25"/>
          <p:cNvSpPr>
            <a:spLocks noChangeArrowheads="1"/>
          </p:cNvSpPr>
          <p:nvPr/>
        </p:nvSpPr>
        <p:spPr bwMode="auto">
          <a:xfrm>
            <a:off x="1806893" y="1219200"/>
            <a:ext cx="3519487" cy="1524000"/>
          </a:xfrm>
          <a:prstGeom prst="rect">
            <a:avLst/>
          </a:prstGeom>
          <a:solidFill>
            <a:srgbClr val="80808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endParaRPr lang="zh-CN" altLang="en-US" sz="1800" b="0">
              <a:solidFill>
                <a:srgbClr val="000066"/>
              </a:solidFill>
              <a:latin typeface="Consolas" panose="020B0609020204030204" pitchFamily="49" charset="0"/>
            </a:endParaRPr>
          </a:p>
        </p:txBody>
      </p:sp>
      <p:sp>
        <p:nvSpPr>
          <p:cNvPr id="7" name="Rectangle 23"/>
          <p:cNvSpPr>
            <a:spLocks noChangeArrowheads="1"/>
          </p:cNvSpPr>
          <p:nvPr/>
        </p:nvSpPr>
        <p:spPr bwMode="auto">
          <a:xfrm>
            <a:off x="1612900" y="965082"/>
            <a:ext cx="3962400" cy="1701918"/>
          </a:xfrm>
          <a:prstGeom prst="rect">
            <a:avLst/>
          </a:prstGeom>
          <a:solidFill>
            <a:schemeClr val="accent1">
              <a:lumMod val="20000"/>
              <a:lumOff val="80000"/>
            </a:schemeClr>
          </a:solidFill>
          <a:ln w="3175" algn="ctr">
            <a:solidFill>
              <a:schemeClr val="tx2"/>
            </a:solidFill>
            <a:miter lim="800000"/>
          </a:ln>
        </p:spPr>
        <p:txBody>
          <a:bodyPr wrap="none" lIns="90000" tIns="46800" rIns="90000" bIns="46800"/>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r>
              <a:rPr lang="zh-CN" altLang="en-US" sz="1800" b="0" dirty="0">
                <a:solidFill>
                  <a:srgbClr val="000066"/>
                </a:solidFill>
                <a:latin typeface="微软雅黑" panose="020B0503020204020204" pitchFamily="34" charset="-122"/>
                <a:ea typeface="微软雅黑" panose="020B0503020204020204" pitchFamily="34" charset="-122"/>
              </a:rPr>
              <a:t>例</a:t>
            </a:r>
            <a:r>
              <a:rPr lang="en-US" altLang="zh-CN" sz="1800" b="0" dirty="0">
                <a:solidFill>
                  <a:srgbClr val="000066"/>
                </a:solidFill>
                <a:latin typeface="微软雅黑" panose="020B0503020204020204" pitchFamily="34" charset="-122"/>
                <a:ea typeface="微软雅黑" panose="020B0503020204020204" pitchFamily="34" charset="-122"/>
              </a:rPr>
              <a:t>1</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r>
              <a:rPr lang="en-US" altLang="zh-CN" sz="1800" b="0" dirty="0">
                <a:solidFill>
                  <a:srgbClr val="000066"/>
                </a:solidFill>
                <a:ea typeface="微软雅黑" panose="020B0503020204020204" pitchFamily="34" charset="-122"/>
                <a:cs typeface="Times New Roman" panose="02020603050405020304" pitchFamily="18" charset="0"/>
              </a:rPr>
              <a:t>++x;</a:t>
            </a:r>
            <a:r>
              <a:rPr lang="en-US" altLang="zh-CN" sz="1800" b="0" dirty="0">
                <a:solidFill>
                  <a:srgbClr val="000066"/>
                </a:solidFill>
                <a:latin typeface="微软雅黑" panose="020B0503020204020204" pitchFamily="34" charset="-122"/>
                <a:ea typeface="微软雅黑" panose="020B0503020204020204" pitchFamily="34" charset="-122"/>
              </a:rPr>
              <a:t>	//</a:t>
            </a:r>
            <a:r>
              <a:rPr lang="zh-CN" altLang="en-US" sz="1800" b="0" dirty="0">
                <a:solidFill>
                  <a:srgbClr val="000066"/>
                </a:solidFill>
                <a:latin typeface="微软雅黑" panose="020B0503020204020204" pitchFamily="34" charset="-122"/>
                <a:ea typeface="微软雅黑" panose="020B0503020204020204" pitchFamily="34" charset="-122"/>
              </a:rPr>
              <a:t>基本操作</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r>
              <a:rPr lang="en-US" altLang="zh-CN" sz="1800" dirty="0">
                <a:solidFill>
                  <a:srgbClr val="000066"/>
                </a:solidFill>
                <a:ea typeface="微软雅黑" panose="020B0503020204020204" pitchFamily="34" charset="-122"/>
                <a:cs typeface="Times New Roman" panose="02020603050405020304" pitchFamily="18" charset="0"/>
              </a:rPr>
              <a:t>s = 0;</a:t>
            </a:r>
            <a:endParaRPr lang="en-US" altLang="zh-CN" sz="180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a:t>
            </a:r>
            <a:endParaRPr lang="zh-CN" altLang="en-US" sz="1800" b="0" dirty="0">
              <a:solidFill>
                <a:srgbClr val="000066"/>
              </a:solidFill>
              <a:latin typeface="微软雅黑" panose="020B0503020204020204" pitchFamily="34" charset="-122"/>
              <a:ea typeface="微软雅黑" panose="020B0503020204020204" pitchFamily="34" charset="-122"/>
            </a:endParaRPr>
          </a:p>
        </p:txBody>
      </p:sp>
      <p:sp>
        <p:nvSpPr>
          <p:cNvPr id="8" name="Rectangle 25"/>
          <p:cNvSpPr>
            <a:spLocks noChangeArrowheads="1"/>
          </p:cNvSpPr>
          <p:nvPr/>
        </p:nvSpPr>
        <p:spPr bwMode="auto">
          <a:xfrm>
            <a:off x="1821180" y="2819400"/>
            <a:ext cx="3519488" cy="1752600"/>
          </a:xfrm>
          <a:prstGeom prst="rect">
            <a:avLst/>
          </a:prstGeom>
          <a:solidFill>
            <a:srgbClr val="80808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endParaRPr lang="zh-CN" altLang="en-US" sz="1800" b="0">
              <a:solidFill>
                <a:srgbClr val="000066"/>
              </a:solidFill>
              <a:latin typeface="Consolas" panose="020B0609020204030204" pitchFamily="49" charset="0"/>
            </a:endParaRPr>
          </a:p>
        </p:txBody>
      </p:sp>
      <p:sp>
        <p:nvSpPr>
          <p:cNvPr id="9" name="Rectangle 23"/>
          <p:cNvSpPr>
            <a:spLocks noChangeArrowheads="1"/>
          </p:cNvSpPr>
          <p:nvPr/>
        </p:nvSpPr>
        <p:spPr bwMode="auto">
          <a:xfrm>
            <a:off x="1612900" y="2706468"/>
            <a:ext cx="3962400" cy="1914418"/>
          </a:xfrm>
          <a:prstGeom prst="rect">
            <a:avLst/>
          </a:prstGeom>
          <a:solidFill>
            <a:schemeClr val="accent1">
              <a:lumMod val="20000"/>
              <a:lumOff val="80000"/>
            </a:schemeClr>
          </a:solidFill>
          <a:ln w="3175" algn="ctr">
            <a:solidFill>
              <a:schemeClr val="tx2"/>
            </a:solidFill>
            <a:miter lim="800000"/>
          </a:ln>
        </p:spPr>
        <p:txBody>
          <a:bodyPr wrap="none" lIns="90000" tIns="46800" rIns="90000" bIns="46800"/>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a:t>
            </a:r>
            <a:r>
              <a:rPr lang="zh-CN" altLang="en-US" sz="1800" b="0" dirty="0">
                <a:solidFill>
                  <a:srgbClr val="000066"/>
                </a:solidFill>
                <a:latin typeface="微软雅黑" panose="020B0503020204020204" pitchFamily="34" charset="-122"/>
                <a:ea typeface="微软雅黑" panose="020B0503020204020204" pitchFamily="34" charset="-122"/>
              </a:rPr>
              <a:t> 例</a:t>
            </a:r>
            <a:r>
              <a:rPr lang="en-US" altLang="zh-CN" sz="1800" b="0" dirty="0">
                <a:solidFill>
                  <a:srgbClr val="000066"/>
                </a:solidFill>
                <a:latin typeface="微软雅黑" panose="020B0503020204020204" pitchFamily="34" charset="-122"/>
                <a:ea typeface="微软雅黑" panose="020B0503020204020204" pitchFamily="34" charset="-122"/>
              </a:rPr>
              <a:t>2</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ea typeface="微软雅黑" panose="020B0503020204020204" pitchFamily="34" charset="-122"/>
                <a:cs typeface="Times New Roman" panose="02020603050405020304" pitchFamily="18" charset="0"/>
              </a:rPr>
              <a:t>for (</a:t>
            </a:r>
            <a:r>
              <a:rPr lang="en-US" altLang="zh-CN" sz="1800" b="0" dirty="0" err="1">
                <a:solidFill>
                  <a:srgbClr val="000066"/>
                </a:solidFill>
                <a:ea typeface="微软雅黑" panose="020B0503020204020204" pitchFamily="34" charset="-122"/>
                <a:cs typeface="Times New Roman" panose="02020603050405020304" pitchFamily="18" charset="0"/>
              </a:rPr>
              <a:t>i</a:t>
            </a:r>
            <a:r>
              <a:rPr lang="en-US" altLang="zh-CN" sz="1800" b="0" dirty="0">
                <a:solidFill>
                  <a:srgbClr val="000066"/>
                </a:solidFill>
                <a:ea typeface="微软雅黑" panose="020B0503020204020204" pitchFamily="34" charset="-122"/>
                <a:cs typeface="Times New Roman" panose="02020603050405020304" pitchFamily="18" charset="0"/>
              </a:rPr>
              <a:t> = 0; </a:t>
            </a:r>
            <a:r>
              <a:rPr lang="en-US" altLang="zh-CN" sz="1800" b="0" dirty="0" err="1">
                <a:solidFill>
                  <a:srgbClr val="000066"/>
                </a:solidFill>
                <a:ea typeface="微软雅黑" panose="020B0503020204020204" pitchFamily="34" charset="-122"/>
                <a:cs typeface="Times New Roman" panose="02020603050405020304" pitchFamily="18" charset="0"/>
              </a:rPr>
              <a:t>i</a:t>
            </a:r>
            <a:r>
              <a:rPr lang="en-US" altLang="zh-CN" sz="1800" b="0" dirty="0">
                <a:solidFill>
                  <a:srgbClr val="000066"/>
                </a:solidFill>
                <a:ea typeface="微软雅黑" panose="020B0503020204020204" pitchFamily="34" charset="-122"/>
                <a:cs typeface="Times New Roman" panose="02020603050405020304" pitchFamily="18" charset="0"/>
              </a:rPr>
              <a:t> &lt; n; ++</a:t>
            </a:r>
            <a:r>
              <a:rPr lang="en-US" altLang="zh-CN" sz="1800" b="0" dirty="0" err="1">
                <a:solidFill>
                  <a:srgbClr val="000066"/>
                </a:solidFill>
                <a:ea typeface="微软雅黑" panose="020B0503020204020204" pitchFamily="34" charset="-122"/>
                <a:cs typeface="Times New Roman" panose="02020603050405020304" pitchFamily="18" charset="0"/>
              </a:rPr>
              <a:t>i</a:t>
            </a:r>
            <a:r>
              <a:rPr lang="en-US" altLang="zh-CN" sz="1800" b="0" dirty="0">
                <a:solidFill>
                  <a:srgbClr val="000066"/>
                </a:solidFill>
                <a:ea typeface="微软雅黑" panose="020B0503020204020204" pitchFamily="34" charset="-122"/>
                <a:cs typeface="Times New Roman" panose="02020603050405020304" pitchFamily="18" charset="0"/>
              </a:rPr>
              <a:t>)</a:t>
            </a:r>
            <a:endParaRPr lang="en-US" altLang="zh-CN" sz="1800" b="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r>
              <a:rPr lang="en-US" altLang="zh-CN" sz="1800" dirty="0">
                <a:solidFill>
                  <a:srgbClr val="000066"/>
                </a:solidFill>
                <a:ea typeface="微软雅黑" panose="020B0503020204020204" pitchFamily="34" charset="-122"/>
                <a:cs typeface="Times New Roman" panose="02020603050405020304" pitchFamily="18" charset="0"/>
              </a:rPr>
              <a:t>++x;</a:t>
            </a:r>
            <a:r>
              <a:rPr lang="en-US" altLang="zh-CN" sz="1800" b="0" dirty="0">
                <a:solidFill>
                  <a:srgbClr val="000066"/>
                </a:solidFill>
                <a:latin typeface="微软雅黑" panose="020B0503020204020204" pitchFamily="34" charset="-122"/>
                <a:ea typeface="微软雅黑" panose="020B0503020204020204" pitchFamily="34" charset="-122"/>
              </a:rPr>
              <a:t>	//</a:t>
            </a:r>
            <a:r>
              <a:rPr lang="zh-CN" altLang="en-US" sz="1800" b="0" dirty="0">
                <a:solidFill>
                  <a:srgbClr val="000066"/>
                </a:solidFill>
                <a:latin typeface="微软雅黑" panose="020B0503020204020204" pitchFamily="34" charset="-122"/>
                <a:ea typeface="微软雅黑" panose="020B0503020204020204" pitchFamily="34" charset="-122"/>
              </a:rPr>
              <a:t>基本操作</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r>
              <a:rPr lang="en-US" altLang="zh-CN" sz="1800" dirty="0">
                <a:solidFill>
                  <a:srgbClr val="000066"/>
                </a:solidFill>
                <a:ea typeface="微软雅黑" panose="020B0503020204020204" pitchFamily="34" charset="-122"/>
                <a:cs typeface="Times New Roman" panose="02020603050405020304" pitchFamily="18" charset="0"/>
              </a:rPr>
              <a:t>s += x;</a:t>
            </a:r>
            <a:endParaRPr lang="en-US" altLang="zh-CN" sz="180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a:t>
            </a:r>
            <a:endParaRPr lang="en-US" altLang="zh-CN" sz="1800" b="0" dirty="0">
              <a:solidFill>
                <a:srgbClr val="000066"/>
              </a:solidFill>
              <a:latin typeface="微软雅黑" panose="020B0503020204020204" pitchFamily="34" charset="-122"/>
              <a:ea typeface="微软雅黑" panose="020B0503020204020204" pitchFamily="34" charset="-122"/>
            </a:endParaRPr>
          </a:p>
        </p:txBody>
      </p:sp>
      <p:sp>
        <p:nvSpPr>
          <p:cNvPr id="10" name="Rectangle 25"/>
          <p:cNvSpPr>
            <a:spLocks noChangeArrowheads="1"/>
          </p:cNvSpPr>
          <p:nvPr/>
        </p:nvSpPr>
        <p:spPr bwMode="auto">
          <a:xfrm>
            <a:off x="1821180" y="4648200"/>
            <a:ext cx="3519488" cy="1981200"/>
          </a:xfrm>
          <a:prstGeom prst="rect">
            <a:avLst/>
          </a:prstGeom>
          <a:solidFill>
            <a:srgbClr val="80808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endParaRPr lang="zh-CN" altLang="en-US" sz="1800" b="0">
              <a:solidFill>
                <a:srgbClr val="000066"/>
              </a:solidFill>
              <a:latin typeface="Consolas" panose="020B0609020204030204" pitchFamily="49" charset="0"/>
            </a:endParaRPr>
          </a:p>
        </p:txBody>
      </p:sp>
      <p:sp>
        <p:nvSpPr>
          <p:cNvPr id="11" name="Rectangle 23"/>
          <p:cNvSpPr>
            <a:spLocks noChangeArrowheads="1"/>
          </p:cNvSpPr>
          <p:nvPr/>
        </p:nvSpPr>
        <p:spPr bwMode="auto">
          <a:xfrm>
            <a:off x="1612900" y="4684932"/>
            <a:ext cx="3962400" cy="2163650"/>
          </a:xfrm>
          <a:prstGeom prst="rect">
            <a:avLst/>
          </a:prstGeom>
          <a:solidFill>
            <a:schemeClr val="accent1">
              <a:lumMod val="20000"/>
              <a:lumOff val="80000"/>
            </a:schemeClr>
          </a:solidFill>
          <a:ln w="3175" algn="ctr">
            <a:solidFill>
              <a:schemeClr val="tx2"/>
            </a:solidFill>
            <a:miter lim="800000"/>
          </a:ln>
        </p:spPr>
        <p:txBody>
          <a:bodyPr wrap="none" lIns="90000" tIns="46800" rIns="90000" bIns="46800"/>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a:t>
            </a:r>
            <a:r>
              <a:rPr lang="zh-CN" altLang="en-US" sz="1800" b="0" dirty="0">
                <a:solidFill>
                  <a:srgbClr val="000066"/>
                </a:solidFill>
                <a:latin typeface="微软雅黑" panose="020B0503020204020204" pitchFamily="34" charset="-122"/>
                <a:ea typeface="微软雅黑" panose="020B0503020204020204" pitchFamily="34" charset="-122"/>
              </a:rPr>
              <a:t> 例</a:t>
            </a:r>
            <a:r>
              <a:rPr lang="en-US" altLang="zh-CN" sz="1800" b="0" dirty="0">
                <a:solidFill>
                  <a:srgbClr val="000066"/>
                </a:solidFill>
                <a:latin typeface="微软雅黑" panose="020B0503020204020204" pitchFamily="34" charset="-122"/>
                <a:ea typeface="微软雅黑" panose="020B0503020204020204" pitchFamily="34" charset="-122"/>
              </a:rPr>
              <a:t>3</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ea typeface="微软雅黑" panose="020B0503020204020204" pitchFamily="34" charset="-122"/>
                <a:cs typeface="Times New Roman" panose="02020603050405020304" pitchFamily="18" charset="0"/>
              </a:rPr>
              <a:t>for (</a:t>
            </a:r>
            <a:r>
              <a:rPr lang="en-US" altLang="zh-CN" sz="1800" b="0" dirty="0" err="1">
                <a:solidFill>
                  <a:srgbClr val="000066"/>
                </a:solidFill>
                <a:ea typeface="微软雅黑" panose="020B0503020204020204" pitchFamily="34" charset="-122"/>
                <a:cs typeface="Times New Roman" panose="02020603050405020304" pitchFamily="18" charset="0"/>
              </a:rPr>
              <a:t>i</a:t>
            </a:r>
            <a:r>
              <a:rPr lang="en-US" altLang="zh-CN" sz="1800" b="0" dirty="0">
                <a:solidFill>
                  <a:srgbClr val="000066"/>
                </a:solidFill>
                <a:ea typeface="微软雅黑" panose="020B0503020204020204" pitchFamily="34" charset="-122"/>
                <a:cs typeface="Times New Roman" panose="02020603050405020304" pitchFamily="18" charset="0"/>
              </a:rPr>
              <a:t> = 0; </a:t>
            </a:r>
            <a:r>
              <a:rPr lang="en-US" altLang="zh-CN" sz="1800" b="0" dirty="0" err="1">
                <a:solidFill>
                  <a:srgbClr val="000066"/>
                </a:solidFill>
                <a:ea typeface="微软雅黑" panose="020B0503020204020204" pitchFamily="34" charset="-122"/>
                <a:cs typeface="Times New Roman" panose="02020603050405020304" pitchFamily="18" charset="0"/>
              </a:rPr>
              <a:t>i</a:t>
            </a:r>
            <a:r>
              <a:rPr lang="en-US" altLang="zh-CN" sz="1800" b="0" dirty="0">
                <a:solidFill>
                  <a:srgbClr val="000066"/>
                </a:solidFill>
                <a:ea typeface="微软雅黑" panose="020B0503020204020204" pitchFamily="34" charset="-122"/>
                <a:cs typeface="Times New Roman" panose="02020603050405020304" pitchFamily="18" charset="0"/>
              </a:rPr>
              <a:t> &lt; n; ++</a:t>
            </a:r>
            <a:r>
              <a:rPr lang="en-US" altLang="zh-CN" sz="1800" b="0" dirty="0" err="1">
                <a:solidFill>
                  <a:srgbClr val="000066"/>
                </a:solidFill>
                <a:ea typeface="微软雅黑" panose="020B0503020204020204" pitchFamily="34" charset="-122"/>
                <a:cs typeface="Times New Roman" panose="02020603050405020304" pitchFamily="18" charset="0"/>
              </a:rPr>
              <a:t>i</a:t>
            </a:r>
            <a:r>
              <a:rPr lang="en-US" altLang="zh-CN" sz="1800" b="0" dirty="0">
                <a:solidFill>
                  <a:srgbClr val="000066"/>
                </a:solidFill>
                <a:ea typeface="微软雅黑" panose="020B0503020204020204" pitchFamily="34" charset="-122"/>
                <a:cs typeface="Times New Roman" panose="02020603050405020304" pitchFamily="18" charset="0"/>
              </a:rPr>
              <a:t>)</a:t>
            </a:r>
            <a:endParaRPr lang="en-US" altLang="zh-CN" sz="1800" b="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1800" b="0" dirty="0">
                <a:solidFill>
                  <a:srgbClr val="000066"/>
                </a:solidFill>
                <a:ea typeface="微软雅黑" panose="020B0503020204020204" pitchFamily="34" charset="-122"/>
                <a:cs typeface="Times New Roman" panose="02020603050405020304" pitchFamily="18" charset="0"/>
              </a:rPr>
              <a:t>    for (j = 0; j &lt; n; ++j)</a:t>
            </a:r>
            <a:endParaRPr lang="en-US" altLang="zh-CN" sz="1800" b="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r>
              <a:rPr lang="en-US" altLang="zh-CN" sz="1800" dirty="0">
                <a:solidFill>
                  <a:srgbClr val="000066"/>
                </a:solidFill>
                <a:ea typeface="微软雅黑" panose="020B0503020204020204" pitchFamily="34" charset="-122"/>
                <a:cs typeface="Times New Roman" panose="02020603050405020304" pitchFamily="18" charset="0"/>
              </a:rPr>
              <a:t>++x;</a:t>
            </a:r>
            <a:r>
              <a:rPr lang="en-US" altLang="zh-CN" sz="1800" b="0" dirty="0">
                <a:solidFill>
                  <a:srgbClr val="000066"/>
                </a:solidFill>
                <a:latin typeface="微软雅黑" panose="020B0503020204020204" pitchFamily="34" charset="-122"/>
                <a:ea typeface="微软雅黑" panose="020B0503020204020204" pitchFamily="34" charset="-122"/>
              </a:rPr>
              <a:t>	//</a:t>
            </a:r>
            <a:r>
              <a:rPr lang="zh-CN" altLang="en-US" sz="1800" b="0" dirty="0">
                <a:solidFill>
                  <a:srgbClr val="000066"/>
                </a:solidFill>
                <a:latin typeface="微软雅黑" panose="020B0503020204020204" pitchFamily="34" charset="-122"/>
                <a:ea typeface="微软雅黑" panose="020B0503020204020204" pitchFamily="34" charset="-122"/>
              </a:rPr>
              <a:t>基本操作</a:t>
            </a:r>
            <a:endParaRPr lang="en-US" altLang="zh-CN" sz="18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r>
              <a:rPr lang="en-US" altLang="zh-CN" sz="1800" b="0" dirty="0">
                <a:solidFill>
                  <a:srgbClr val="000066"/>
                </a:solidFill>
                <a:ea typeface="微软雅黑" panose="020B0503020204020204" pitchFamily="34" charset="-122"/>
                <a:cs typeface="Times New Roman" panose="02020603050405020304" pitchFamily="18" charset="0"/>
              </a:rPr>
              <a:t>s += x;</a:t>
            </a:r>
            <a:endParaRPr lang="en-US" altLang="zh-CN" sz="1800" b="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1800" b="0" dirty="0">
                <a:solidFill>
                  <a:srgbClr val="000066"/>
                </a:solidFill>
                <a:latin typeface="微软雅黑" panose="020B0503020204020204" pitchFamily="34" charset="-122"/>
                <a:ea typeface="微软雅黑" panose="020B0503020204020204" pitchFamily="34" charset="-122"/>
              </a:rPr>
              <a:t>    }</a:t>
            </a:r>
            <a:endParaRPr lang="en-US" altLang="zh-CN" sz="1800" b="0" dirty="0">
              <a:solidFill>
                <a:srgbClr val="00006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时间复杂度例</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550334" y="3803027"/>
            <a:ext cx="11388074" cy="3124200"/>
          </a:xfrm>
        </p:spPr>
        <p:txBody>
          <a:bodyPr>
            <a:normAutofit/>
          </a:bodyPr>
          <a:lstStyle/>
          <a:p>
            <a:r>
              <a:rPr lang="zh-CN" altLang="en-US" sz="2400" dirty="0">
                <a:latin typeface="微软雅黑" panose="020B0503020204020204" pitchFamily="34" charset="-122"/>
                <a:ea typeface="微软雅黑" panose="020B0503020204020204" pitchFamily="34" charset="-122"/>
              </a:rPr>
              <a:t>语句</a:t>
            </a:r>
            <a:r>
              <a:rPr lang="en-US" altLang="zh-CN" sz="2400" dirty="0">
                <a:latin typeface="微软雅黑" panose="020B0503020204020204" pitchFamily="34" charset="-122"/>
                <a:ea typeface="微软雅黑" panose="020B0503020204020204" pitchFamily="34" charset="-122"/>
              </a:rPr>
              <a:t>++x</a:t>
            </a:r>
            <a:r>
              <a:rPr lang="zh-CN" altLang="en-US" sz="2400" dirty="0">
                <a:latin typeface="微软雅黑" panose="020B0503020204020204" pitchFamily="34" charset="-122"/>
                <a:ea typeface="微软雅黑" panose="020B0503020204020204" pitchFamily="34" charset="-122"/>
              </a:rPr>
              <a:t>为算法的基本操作</a:t>
            </a:r>
            <a:endParaRPr lang="en-US" altLang="zh-CN" sz="2400" i="1"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算法中基本操作的执行次数是</a:t>
            </a:r>
            <a:endParaRPr lang="en-US" altLang="zh-CN" sz="2400" dirty="0">
              <a:latin typeface="微软雅黑" panose="020B0503020204020204" pitchFamily="34" charset="-122"/>
              <a:ea typeface="微软雅黑" panose="020B0503020204020204" pitchFamily="34" charset="-122"/>
            </a:endParaRPr>
          </a:p>
          <a:p>
            <a:pPr lvl="1" algn="ctr">
              <a:buFontTx/>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0 + 1 + …. +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 2) =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 1)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 2)  / 2</a:t>
            </a:r>
            <a:endParaRPr lang="en-US" altLang="zh-CN" baseline="30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400" dirty="0">
                <a:latin typeface="微软雅黑" panose="020B0503020204020204" pitchFamily="34" charset="-122"/>
                <a:ea typeface="微软雅黑" panose="020B0503020204020204" pitchFamily="34" charset="-122"/>
              </a:rPr>
              <a:t>上式中随着</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的增长，增长率最快的项是</a:t>
            </a:r>
            <a:r>
              <a:rPr lang="en-US" altLang="zh-CN" sz="2400" i="1" dirty="0">
                <a:latin typeface="微软雅黑" panose="020B0503020204020204" pitchFamily="34" charset="-122"/>
                <a:ea typeface="微软雅黑" panose="020B0503020204020204" pitchFamily="34" charset="-122"/>
              </a:rPr>
              <a:t>n</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 ，故该算法的时间复杂度分别为</a:t>
            </a:r>
            <a:r>
              <a:rPr lang="en-US" altLang="zh-CN" sz="2400" i="1" dirty="0">
                <a:latin typeface="微软雅黑" panose="020B0503020204020204" pitchFamily="34" charset="-122"/>
                <a:ea typeface="微软雅黑" panose="020B0503020204020204" pitchFamily="34" charset="-122"/>
              </a:rPr>
              <a:t>O </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n</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4" name="Rectangle 25"/>
          <p:cNvSpPr>
            <a:spLocks noChangeArrowheads="1"/>
          </p:cNvSpPr>
          <p:nvPr/>
        </p:nvSpPr>
        <p:spPr bwMode="auto">
          <a:xfrm>
            <a:off x="550334" y="1371600"/>
            <a:ext cx="6323096" cy="2389094"/>
          </a:xfrm>
          <a:prstGeom prst="rect">
            <a:avLst/>
          </a:prstGeom>
          <a:solidFill>
            <a:srgbClr val="80808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endParaRPr lang="zh-CN" altLang="en-US" sz="1800" b="0">
              <a:solidFill>
                <a:srgbClr val="000066"/>
              </a:solidFill>
              <a:latin typeface="Consolas" panose="020B0609020204030204" pitchFamily="49" charset="0"/>
            </a:endParaRPr>
          </a:p>
        </p:txBody>
      </p:sp>
      <p:sp>
        <p:nvSpPr>
          <p:cNvPr id="12" name="Rectangle 23"/>
          <p:cNvSpPr>
            <a:spLocks noChangeArrowheads="1"/>
          </p:cNvSpPr>
          <p:nvPr/>
        </p:nvSpPr>
        <p:spPr bwMode="auto">
          <a:xfrm>
            <a:off x="474134" y="1295400"/>
            <a:ext cx="6323096" cy="2389094"/>
          </a:xfrm>
          <a:prstGeom prst="rect">
            <a:avLst/>
          </a:prstGeom>
          <a:solidFill>
            <a:schemeClr val="accent1">
              <a:lumMod val="20000"/>
              <a:lumOff val="80000"/>
            </a:schemeClr>
          </a:solidFill>
          <a:ln w="3175" algn="ctr">
            <a:solidFill>
              <a:schemeClr val="tx2"/>
            </a:solidFill>
            <a:miter lim="800000"/>
          </a:ln>
        </p:spPr>
        <p:txBody>
          <a:bodyPr wrap="none" lIns="90000" tIns="46800" rIns="90000" bIns="46800"/>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en-US" altLang="zh-CN" sz="2000" b="0" dirty="0">
                <a:solidFill>
                  <a:srgbClr val="000066"/>
                </a:solidFill>
                <a:latin typeface="微软雅黑" panose="020B0503020204020204" pitchFamily="34" charset="-122"/>
                <a:ea typeface="微软雅黑" panose="020B0503020204020204" pitchFamily="34" charset="-122"/>
              </a:rPr>
              <a:t>//</a:t>
            </a:r>
            <a:r>
              <a:rPr lang="zh-CN" altLang="en-US" sz="2000" b="0" dirty="0">
                <a:solidFill>
                  <a:srgbClr val="000066"/>
                </a:solidFill>
                <a:latin typeface="微软雅黑" panose="020B0503020204020204" pitchFamily="34" charset="-122"/>
                <a:ea typeface="微软雅黑" panose="020B0503020204020204" pitchFamily="34" charset="-122"/>
              </a:rPr>
              <a:t> 例</a:t>
            </a:r>
            <a:r>
              <a:rPr lang="en-US" altLang="zh-CN" sz="2000" b="0" dirty="0">
                <a:solidFill>
                  <a:srgbClr val="000066"/>
                </a:solidFill>
                <a:latin typeface="微软雅黑" panose="020B0503020204020204" pitchFamily="34" charset="-122"/>
                <a:ea typeface="微软雅黑" panose="020B0503020204020204" pitchFamily="34" charset="-122"/>
              </a:rPr>
              <a:t>4</a:t>
            </a:r>
            <a:endParaRPr lang="en-US" altLang="zh-CN" sz="20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0" dirty="0">
                <a:solidFill>
                  <a:srgbClr val="000066"/>
                </a:solidFill>
                <a:ea typeface="微软雅黑" panose="020B0503020204020204" pitchFamily="34" charset="-122"/>
                <a:cs typeface="Times New Roman" panose="02020603050405020304" pitchFamily="18" charset="0"/>
              </a:rPr>
              <a:t>for (</a:t>
            </a:r>
            <a:r>
              <a:rPr lang="en-US" altLang="zh-CN" sz="2000" b="0" dirty="0" err="1">
                <a:solidFill>
                  <a:srgbClr val="000066"/>
                </a:solidFill>
                <a:ea typeface="微软雅黑" panose="020B0503020204020204" pitchFamily="34" charset="-122"/>
                <a:cs typeface="Times New Roman" panose="02020603050405020304" pitchFamily="18" charset="0"/>
              </a:rPr>
              <a:t>i</a:t>
            </a:r>
            <a:r>
              <a:rPr lang="en-US" altLang="zh-CN" sz="2000" b="0" dirty="0">
                <a:solidFill>
                  <a:srgbClr val="000066"/>
                </a:solidFill>
                <a:ea typeface="微软雅黑" panose="020B0503020204020204" pitchFamily="34" charset="-122"/>
                <a:cs typeface="Times New Roman" panose="02020603050405020304" pitchFamily="18" charset="0"/>
              </a:rPr>
              <a:t> = 2; </a:t>
            </a:r>
            <a:r>
              <a:rPr lang="en-US" altLang="zh-CN" sz="2000" b="0" dirty="0" err="1">
                <a:solidFill>
                  <a:srgbClr val="000066"/>
                </a:solidFill>
                <a:ea typeface="微软雅黑" panose="020B0503020204020204" pitchFamily="34" charset="-122"/>
                <a:cs typeface="Times New Roman" panose="02020603050405020304" pitchFamily="18" charset="0"/>
              </a:rPr>
              <a:t>i</a:t>
            </a:r>
            <a:r>
              <a:rPr lang="en-US" altLang="zh-CN" sz="2000" b="0" dirty="0">
                <a:solidFill>
                  <a:srgbClr val="000066"/>
                </a:solidFill>
                <a:ea typeface="微软雅黑" panose="020B0503020204020204" pitchFamily="34" charset="-122"/>
                <a:cs typeface="Times New Roman" panose="02020603050405020304" pitchFamily="18" charset="0"/>
              </a:rPr>
              <a:t> &lt;= n; ++</a:t>
            </a:r>
            <a:r>
              <a:rPr lang="en-US" altLang="zh-CN" sz="2000" b="0" dirty="0" err="1">
                <a:solidFill>
                  <a:srgbClr val="000066"/>
                </a:solidFill>
                <a:ea typeface="微软雅黑" panose="020B0503020204020204" pitchFamily="34" charset="-122"/>
                <a:cs typeface="Times New Roman" panose="02020603050405020304" pitchFamily="18" charset="0"/>
              </a:rPr>
              <a:t>i</a:t>
            </a:r>
            <a:r>
              <a:rPr lang="en-US" altLang="zh-CN" sz="2000" b="0" dirty="0">
                <a:solidFill>
                  <a:srgbClr val="000066"/>
                </a:solidFill>
                <a:ea typeface="微软雅黑" panose="020B0503020204020204" pitchFamily="34" charset="-122"/>
                <a:cs typeface="Times New Roman" panose="02020603050405020304" pitchFamily="18" charset="0"/>
              </a:rPr>
              <a:t>)</a:t>
            </a:r>
            <a:endParaRPr lang="en-US" altLang="zh-CN" sz="2000" b="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2000" b="0" dirty="0">
                <a:solidFill>
                  <a:srgbClr val="000066"/>
                </a:solidFill>
                <a:ea typeface="微软雅黑" panose="020B0503020204020204" pitchFamily="34" charset="-122"/>
                <a:cs typeface="Times New Roman" panose="02020603050405020304" pitchFamily="18" charset="0"/>
              </a:rPr>
              <a:t>    for (j = 2; j &lt;= </a:t>
            </a:r>
            <a:r>
              <a:rPr lang="en-US" altLang="zh-CN" sz="2000" b="0" dirty="0" err="1">
                <a:solidFill>
                  <a:srgbClr val="000066"/>
                </a:solidFill>
                <a:ea typeface="微软雅黑" panose="020B0503020204020204" pitchFamily="34" charset="-122"/>
                <a:cs typeface="Times New Roman" panose="02020603050405020304" pitchFamily="18" charset="0"/>
              </a:rPr>
              <a:t>i</a:t>
            </a:r>
            <a:r>
              <a:rPr lang="en-US" altLang="zh-CN" sz="2000" b="0" dirty="0">
                <a:solidFill>
                  <a:srgbClr val="000066"/>
                </a:solidFill>
                <a:ea typeface="微软雅黑" panose="020B0503020204020204" pitchFamily="34" charset="-122"/>
                <a:cs typeface="Times New Roman" panose="02020603050405020304" pitchFamily="18" charset="0"/>
              </a:rPr>
              <a:t> - 1; ++j)</a:t>
            </a:r>
            <a:endParaRPr lang="en-US" altLang="zh-CN" sz="2000" b="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2000" b="0" dirty="0">
                <a:solidFill>
                  <a:srgbClr val="000066"/>
                </a:solidFill>
                <a:latin typeface="微软雅黑" panose="020B0503020204020204" pitchFamily="34" charset="-122"/>
                <a:ea typeface="微软雅黑" panose="020B0503020204020204" pitchFamily="34" charset="-122"/>
              </a:rPr>
              <a:t>    {</a:t>
            </a:r>
            <a:endParaRPr lang="en-US" altLang="zh-CN" sz="20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0" dirty="0">
                <a:solidFill>
                  <a:srgbClr val="000066"/>
                </a:solidFill>
                <a:latin typeface="微软雅黑" panose="020B0503020204020204" pitchFamily="34" charset="-122"/>
                <a:ea typeface="微软雅黑" panose="020B0503020204020204" pitchFamily="34" charset="-122"/>
              </a:rPr>
              <a:t>    	</a:t>
            </a:r>
            <a:r>
              <a:rPr lang="en-US" altLang="zh-CN" sz="2000" dirty="0">
                <a:solidFill>
                  <a:srgbClr val="000066"/>
                </a:solidFill>
                <a:ea typeface="微软雅黑" panose="020B0503020204020204" pitchFamily="34" charset="-122"/>
                <a:cs typeface="Times New Roman" panose="02020603050405020304" pitchFamily="18" charset="0"/>
              </a:rPr>
              <a:t>++x;</a:t>
            </a:r>
            <a:r>
              <a:rPr lang="en-US" altLang="zh-CN" sz="2000" b="0" dirty="0">
                <a:solidFill>
                  <a:srgbClr val="000066"/>
                </a:solidFill>
                <a:latin typeface="微软雅黑" panose="020B0503020204020204" pitchFamily="34" charset="-122"/>
                <a:ea typeface="微软雅黑" panose="020B0503020204020204" pitchFamily="34" charset="-122"/>
              </a:rPr>
              <a:t>	//</a:t>
            </a:r>
            <a:r>
              <a:rPr lang="zh-CN" altLang="en-US" sz="2000" b="0" dirty="0">
                <a:solidFill>
                  <a:srgbClr val="000066"/>
                </a:solidFill>
                <a:latin typeface="微软雅黑" panose="020B0503020204020204" pitchFamily="34" charset="-122"/>
                <a:ea typeface="微软雅黑" panose="020B0503020204020204" pitchFamily="34" charset="-122"/>
              </a:rPr>
              <a:t>基本操作</a:t>
            </a:r>
            <a:endParaRPr lang="en-US" altLang="zh-CN" sz="2000" b="0" dirty="0">
              <a:solidFill>
                <a:srgbClr val="000066"/>
              </a:solidFill>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0" dirty="0">
                <a:solidFill>
                  <a:srgbClr val="000066"/>
                </a:solidFill>
                <a:latin typeface="微软雅黑" panose="020B0503020204020204" pitchFamily="34" charset="-122"/>
                <a:ea typeface="微软雅黑" panose="020B0503020204020204" pitchFamily="34" charset="-122"/>
              </a:rPr>
              <a:t>    	</a:t>
            </a:r>
            <a:r>
              <a:rPr lang="en-US" altLang="zh-CN" sz="2000" dirty="0">
                <a:solidFill>
                  <a:srgbClr val="000066"/>
                </a:solidFill>
                <a:ea typeface="微软雅黑" panose="020B0503020204020204" pitchFamily="34" charset="-122"/>
                <a:cs typeface="Times New Roman" panose="02020603050405020304" pitchFamily="18" charset="0"/>
              </a:rPr>
              <a:t>s += x;</a:t>
            </a:r>
            <a:endParaRPr lang="en-US" altLang="zh-CN" sz="2000" dirty="0">
              <a:solidFill>
                <a:srgbClr val="000066"/>
              </a:solidFill>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2000" b="0" dirty="0">
                <a:solidFill>
                  <a:srgbClr val="000066"/>
                </a:solidFill>
                <a:latin typeface="微软雅黑" panose="020B0503020204020204" pitchFamily="34" charset="-122"/>
                <a:ea typeface="微软雅黑" panose="020B0503020204020204" pitchFamily="34" charset="-122"/>
              </a:rPr>
              <a:t>    }</a:t>
            </a:r>
            <a:endParaRPr lang="en-US" altLang="zh-CN" sz="2000" b="0" dirty="0">
              <a:solidFill>
                <a:srgbClr val="00006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时间复杂度例</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txBox="1"/>
          <p:nvPr/>
        </p:nvSpPr>
        <p:spPr>
          <a:xfrm>
            <a:off x="640715" y="1168400"/>
            <a:ext cx="11226800" cy="558334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3400" b="1" dirty="0">
                <a:solidFill>
                  <a:srgbClr val="FF0000"/>
                </a:solidFill>
                <a:latin typeface="微软雅黑" panose="020B0503020204020204" pitchFamily="34" charset="-122"/>
                <a:ea typeface="微软雅黑" panose="020B0503020204020204" pitchFamily="34" charset="-122"/>
              </a:rPr>
              <a:t>例</a:t>
            </a:r>
            <a:r>
              <a:rPr lang="en-US" altLang="zh-CN" sz="3400" b="1" dirty="0">
                <a:solidFill>
                  <a:srgbClr val="FF0000"/>
                </a:solidFill>
                <a:latin typeface="微软雅黑" panose="020B0503020204020204" pitchFamily="34" charset="-122"/>
                <a:ea typeface="微软雅黑" panose="020B0503020204020204" pitchFamily="34" charset="-122"/>
              </a:rPr>
              <a:t>: </a:t>
            </a:r>
            <a:r>
              <a:rPr lang="zh-CN" altLang="en-US" sz="3400" b="1" dirty="0">
                <a:solidFill>
                  <a:srgbClr val="FF0000"/>
                </a:solidFill>
                <a:latin typeface="微软雅黑" panose="020B0503020204020204" pitchFamily="34" charset="-122"/>
                <a:ea typeface="微软雅黑" panose="020B0503020204020204" pitchFamily="34" charset="-122"/>
              </a:rPr>
              <a:t>两个矩阵相乘</a:t>
            </a:r>
            <a:endParaRPr lang="en-US" altLang="zh-CN" sz="3400" b="1" dirty="0">
              <a:solidFill>
                <a:srgbClr val="FF0000"/>
              </a:solidFill>
              <a:latin typeface="微软雅黑" panose="020B0503020204020204" pitchFamily="34" charset="-122"/>
              <a:ea typeface="微软雅黑" panose="020B0503020204020204" pitchFamily="34" charset="-122"/>
            </a:endParaRPr>
          </a:p>
          <a:p>
            <a:pPr>
              <a:lnSpc>
                <a:spcPct val="120000"/>
              </a:lnSpc>
              <a:defRPr/>
            </a:pP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void </a:t>
            </a:r>
            <a:r>
              <a:rPr lang="en-US" altLang="zh-CN" sz="2600" dirty="0" err="1">
                <a:latin typeface="Times New Roman" panose="02020603050405020304" pitchFamily="18" charset="0"/>
                <a:ea typeface="微软雅黑" panose="020B0503020204020204" pitchFamily="34" charset="-122"/>
                <a:cs typeface="Times New Roman" panose="02020603050405020304" pitchFamily="18" charset="0"/>
              </a:rPr>
              <a:t>mult</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a[], </a:t>
            </a: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b[], </a:t>
            </a: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int&amp;</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c[] ) </a:t>
            </a: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6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以二维数组存储矩阵元素，</a:t>
            </a:r>
            <a:r>
              <a:rPr lang="en-US" altLang="zh-CN" sz="26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c </a:t>
            </a:r>
            <a:r>
              <a:rPr lang="zh-CN" altLang="en-US" sz="26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为 </a:t>
            </a:r>
            <a:r>
              <a:rPr lang="en-US" altLang="zh-CN" sz="26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6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6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6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的乘积</a:t>
            </a:r>
            <a:endParaRPr lang="zh-CN" altLang="en-US" sz="26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zh-CN" altLang="en-US" sz="26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for</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6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&lt;=n; ++</a:t>
            </a:r>
            <a:r>
              <a:rPr lang="en-US" altLang="zh-CN" sz="26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for</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(j=1; j&lt;=n; ++j) </a:t>
            </a: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c[</a:t>
            </a:r>
            <a:r>
              <a:rPr lang="en-US" altLang="zh-CN" sz="2600" dirty="0" err="1">
                <a:latin typeface="Times New Roman" panose="02020603050405020304" pitchFamily="18" charset="0"/>
                <a:ea typeface="微软雅黑" panose="020B0503020204020204" pitchFamily="34" charset="-122"/>
                <a:cs typeface="Times New Roman" panose="02020603050405020304" pitchFamily="18" charset="0"/>
              </a:rPr>
              <a:t>i,j</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 0;</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for</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(k=1; k&lt;=n; </a:t>
            </a: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k)</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c[</a:t>
            </a:r>
            <a:r>
              <a:rPr lang="en-US" altLang="zh-CN" sz="2600" dirty="0" err="1">
                <a:latin typeface="Times New Roman" panose="02020603050405020304" pitchFamily="18" charset="0"/>
                <a:ea typeface="微软雅黑" panose="020B0503020204020204" pitchFamily="34" charset="-122"/>
                <a:cs typeface="Times New Roman" panose="02020603050405020304" pitchFamily="18" charset="0"/>
              </a:rPr>
              <a:t>i,j</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6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600" dirty="0" err="1">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i,k</a:t>
            </a:r>
            <a:r>
              <a:rPr lang="en-US" altLang="zh-CN" sz="26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6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600" dirty="0" err="1">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k,j</a:t>
            </a:r>
            <a:r>
              <a:rPr lang="en-US" altLang="zh-CN" sz="26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//for</a:t>
            </a:r>
            <a:endPar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600" dirty="0" err="1">
                <a:latin typeface="Times New Roman" panose="02020603050405020304" pitchFamily="18" charset="0"/>
                <a:ea typeface="微软雅黑" panose="020B0503020204020204" pitchFamily="34" charset="-122"/>
                <a:cs typeface="Times New Roman" panose="02020603050405020304" pitchFamily="18" charset="0"/>
              </a:rPr>
              <a:t>mult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endParaRPr lang="en-US" altLang="zh-CN" sz="4500" b="1" dirty="0">
              <a:latin typeface="微软雅黑" panose="020B0503020204020204" pitchFamily="34" charset="-122"/>
              <a:ea typeface="微软雅黑" panose="020B0503020204020204" pitchFamily="34" charset="-122"/>
            </a:endParaRPr>
          </a:p>
          <a:p>
            <a:pPr>
              <a:lnSpc>
                <a:spcPct val="120000"/>
              </a:lnSpc>
              <a:defRPr/>
            </a:pPr>
            <a:r>
              <a:rPr lang="zh-CN" altLang="en-US" sz="2900" dirty="0">
                <a:latin typeface="微软雅黑" panose="020B0503020204020204" pitchFamily="34" charset="-122"/>
                <a:ea typeface="微软雅黑" panose="020B0503020204020204" pitchFamily="34" charset="-122"/>
              </a:rPr>
              <a:t>基本操作</a:t>
            </a:r>
            <a:r>
              <a:rPr lang="en-US" altLang="zh-CN" sz="2900" dirty="0">
                <a:latin typeface="微软雅黑" panose="020B0503020204020204" pitchFamily="34" charset="-122"/>
                <a:ea typeface="微软雅黑" panose="020B0503020204020204" pitchFamily="34" charset="-122"/>
              </a:rPr>
              <a:t>: </a:t>
            </a:r>
            <a:r>
              <a:rPr lang="zh-CN" altLang="en-US" sz="2900" b="1" dirty="0">
                <a:solidFill>
                  <a:srgbClr val="CC0000"/>
                </a:solidFill>
                <a:latin typeface="微软雅黑" panose="020B0503020204020204" pitchFamily="34" charset="-122"/>
                <a:ea typeface="微软雅黑" panose="020B0503020204020204" pitchFamily="34" charset="-122"/>
              </a:rPr>
              <a:t>乘法</a:t>
            </a:r>
            <a:r>
              <a:rPr lang="zh-CN" altLang="en-US" sz="2900" dirty="0">
                <a:solidFill>
                  <a:srgbClr val="CC0000"/>
                </a:solidFill>
                <a:latin typeface="微软雅黑" panose="020B0503020204020204" pitchFamily="34" charset="-122"/>
                <a:ea typeface="微软雅黑" panose="020B0503020204020204" pitchFamily="34" charset="-122"/>
              </a:rPr>
              <a:t>操作</a:t>
            </a:r>
            <a:endParaRPr lang="zh-CN" altLang="en-US" sz="2900" dirty="0">
              <a:latin typeface="微软雅黑" panose="020B0503020204020204" pitchFamily="34" charset="-122"/>
              <a:ea typeface="微软雅黑" panose="020B0503020204020204" pitchFamily="34" charset="-122"/>
            </a:endParaRPr>
          </a:p>
          <a:p>
            <a:pPr>
              <a:lnSpc>
                <a:spcPct val="120000"/>
              </a:lnSpc>
              <a:defRPr/>
            </a:pPr>
            <a:r>
              <a:rPr lang="zh-CN" altLang="en-US" sz="2900" dirty="0">
                <a:latin typeface="微软雅黑" panose="020B0503020204020204" pitchFamily="34" charset="-122"/>
                <a:ea typeface="微软雅黑" panose="020B0503020204020204" pitchFamily="34" charset="-122"/>
              </a:rPr>
              <a:t>时间复杂度</a:t>
            </a:r>
            <a:r>
              <a:rPr lang="en-US" altLang="zh-CN" sz="2900" dirty="0">
                <a:latin typeface="微软雅黑" panose="020B0503020204020204" pitchFamily="34" charset="-122"/>
                <a:ea typeface="微软雅黑" panose="020B0503020204020204" pitchFamily="34" charset="-122"/>
              </a:rPr>
              <a:t>:  </a:t>
            </a:r>
            <a:r>
              <a:rPr lang="en-US" altLang="zh-CN" sz="2900" b="1" dirty="0">
                <a:solidFill>
                  <a:srgbClr val="6600CC"/>
                </a:solidFill>
                <a:latin typeface="微软雅黑" panose="020B0503020204020204" pitchFamily="34" charset="-122"/>
                <a:ea typeface="微软雅黑" panose="020B0503020204020204" pitchFamily="34" charset="-122"/>
              </a:rPr>
              <a:t>O(n</a:t>
            </a:r>
            <a:r>
              <a:rPr lang="en-US" altLang="zh-CN" sz="2900" b="1" baseline="30000" dirty="0">
                <a:solidFill>
                  <a:srgbClr val="6600CC"/>
                </a:solidFill>
                <a:latin typeface="微软雅黑" panose="020B0503020204020204" pitchFamily="34" charset="-122"/>
                <a:ea typeface="微软雅黑" panose="020B0503020204020204" pitchFamily="34" charset="-122"/>
              </a:rPr>
              <a:t>3</a:t>
            </a:r>
            <a:r>
              <a:rPr lang="en-US" altLang="zh-CN" sz="2900" b="1" dirty="0">
                <a:solidFill>
                  <a:srgbClr val="6600CC"/>
                </a:solidFill>
                <a:latin typeface="微软雅黑" panose="020B0503020204020204" pitchFamily="34" charset="-122"/>
                <a:ea typeface="微软雅黑" panose="020B0503020204020204" pitchFamily="34" charset="-122"/>
              </a:rPr>
              <a:t>)</a:t>
            </a:r>
            <a:endParaRPr lang="en-US" altLang="zh-CN" sz="2900" dirty="0">
              <a:latin typeface="微软雅黑" panose="020B0503020204020204" pitchFamily="34" charset="-122"/>
              <a:ea typeface="微软雅黑" panose="020B0503020204020204" pitchFamily="34" charset="-122"/>
            </a:endParaRPr>
          </a:p>
          <a:p>
            <a:pPr>
              <a:lnSpc>
                <a:spcPct val="120000"/>
              </a:lnSpc>
              <a:defRPr/>
            </a:pPr>
            <a:endParaRPr lang="zh-CN" altLang="en-US" sz="1600" b="1" dirty="0"/>
          </a:p>
          <a:p>
            <a:pPr marL="0" indent="0">
              <a:buFontTx/>
              <a:buNone/>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1" end="11"/>
                                            </p:txEl>
                                          </p:spTgt>
                                        </p:tgtEl>
                                        <p:attrNameLst>
                                          <p:attrName>style.visibility</p:attrName>
                                        </p:attrNameLst>
                                      </p:cBhvr>
                                      <p:to>
                                        <p:strVal val="visible"/>
                                      </p:to>
                                    </p:set>
                                    <p:animEffect transition="in" filter="fade">
                                      <p:cBhvr>
                                        <p:cTn id="7" dur="1000"/>
                                        <p:tgtEl>
                                          <p:spTgt spid="5">
                                            <p:txEl>
                                              <p:pRg st="11" end="11"/>
                                            </p:txEl>
                                          </p:spTgt>
                                        </p:tgtEl>
                                      </p:cBhvr>
                                    </p:animEffect>
                                    <p:anim calcmode="lin" valueType="num">
                                      <p:cBhvr>
                                        <p:cTn id="8"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1" end="1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2" end="12"/>
                                            </p:txEl>
                                          </p:spTgt>
                                        </p:tgtEl>
                                        <p:attrNameLst>
                                          <p:attrName>style.visibility</p:attrName>
                                        </p:attrNameLst>
                                      </p:cBhvr>
                                      <p:to>
                                        <p:strVal val="visible"/>
                                      </p:to>
                                    </p:set>
                                    <p:animEffect transition="in" filter="fade">
                                      <p:cBhvr>
                                        <p:cTn id="12" dur="1000"/>
                                        <p:tgtEl>
                                          <p:spTgt spid="5">
                                            <p:txEl>
                                              <p:pRg st="12" end="12"/>
                                            </p:txEl>
                                          </p:spTgt>
                                        </p:tgtEl>
                                      </p:cBhvr>
                                    </p:animEffect>
                                    <p:anim calcmode="lin" valueType="num">
                                      <p:cBhvr>
                                        <p:cTn id="13"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时间复杂度例</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txBox="1"/>
          <p:nvPr/>
        </p:nvSpPr>
        <p:spPr>
          <a:xfrm>
            <a:off x="457199" y="1151467"/>
            <a:ext cx="11159067" cy="5892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2400" b="1" dirty="0">
                <a:solidFill>
                  <a:srgbClr val="FF0000"/>
                </a:solidFill>
                <a:latin typeface="微软雅黑" panose="020B0503020204020204" pitchFamily="34" charset="-122"/>
                <a:ea typeface="微软雅黑" panose="020B0503020204020204" pitchFamily="34" charset="-122"/>
              </a:rPr>
              <a:t>例</a:t>
            </a:r>
            <a:r>
              <a:rPr lang="en-US" altLang="zh-CN" sz="2400" b="1" dirty="0">
                <a:solidFill>
                  <a:srgbClr val="FF0000"/>
                </a:solidFill>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选择排序</a:t>
            </a:r>
            <a:endParaRPr lang="en-US" altLang="zh-CN" sz="1600" b="1" dirty="0">
              <a:solidFill>
                <a:srgbClr val="FF0000"/>
              </a:solidFill>
              <a:latin typeface="微软雅黑" panose="020B0503020204020204" pitchFamily="34" charset="-122"/>
              <a:ea typeface="微软雅黑" panose="020B0503020204020204" pitchFamily="34" charset="-122"/>
            </a:endParaRPr>
          </a:p>
          <a:p>
            <a:pPr>
              <a:defRPr/>
            </a:pP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void</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select_sort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int&amp;</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n)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defRPr/>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1800" b="1"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将 </a:t>
            </a:r>
            <a:r>
              <a:rPr lang="en-US" altLang="zh-CN" sz="1800" b="1"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1800" b="1"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中整数序列重新排列成自小至大有序的整数序列</a:t>
            </a:r>
            <a:r>
              <a:rPr lang="zh-CN" altLang="en-US" sz="18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5000"/>
              </a:lnSpc>
              <a:defRPr/>
            </a:pPr>
            <a:r>
              <a:rPr lang="en-US" altLang="zh-CN" sz="18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for </a:t>
            </a:r>
            <a:r>
              <a:rPr lang="en-US" altLang="zh-CN" sz="1800"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err="1">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 = 0;  </a:t>
            </a:r>
            <a:r>
              <a:rPr lang="en-US" altLang="zh-CN" sz="1800" dirty="0" err="1">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&lt; n-1;  </a:t>
            </a:r>
            <a:r>
              <a:rPr lang="en-US" altLang="zh-CN" sz="18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err="1">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8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5000"/>
              </a:lnSpc>
              <a:defRPr/>
            </a:pPr>
            <a:r>
              <a:rPr lang="en-US" altLang="zh-CN" sz="18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      j = </a:t>
            </a:r>
            <a:r>
              <a:rPr lang="en-US" altLang="zh-CN" sz="1800" dirty="0" err="1">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1"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b="1"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选择第 </a:t>
            </a:r>
            <a:r>
              <a:rPr lang="en-US" altLang="zh-CN" sz="1800" b="1" dirty="0" err="1">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b="1"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b="1" dirty="0">
                <a:solidFill>
                  <a:srgbClr val="333399"/>
                </a:solidFill>
                <a:latin typeface="Times New Roman" panose="02020603050405020304" pitchFamily="18" charset="0"/>
                <a:ea typeface="微软雅黑" panose="020B0503020204020204" pitchFamily="34" charset="-122"/>
                <a:cs typeface="Times New Roman" panose="02020603050405020304" pitchFamily="18" charset="0"/>
              </a:rPr>
              <a:t>个最小元素</a:t>
            </a:r>
            <a:endPar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5000"/>
              </a:lnSpc>
              <a:defRPr/>
            </a:pPr>
            <a:r>
              <a:rPr lang="en-US" altLang="zh-CN" sz="18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     for</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k = i+1;  k &lt; n;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k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defRPr/>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if </a:t>
            </a:r>
            <a:r>
              <a:rPr lang="en-US" altLang="zh-CN" sz="18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(a[k] </a:t>
            </a:r>
            <a:r>
              <a:rPr lang="en-US" altLang="zh-CN" sz="18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18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 a[j]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j = k;</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15000"/>
              </a:lnSpc>
              <a:buFontTx/>
              <a:buNone/>
              <a:defRPr/>
            </a:pP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           if</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j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a[j]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defRPr/>
            </a:pPr>
            <a:r>
              <a:rPr lang="en-US" altLang="zh-CN" sz="1800" b="1" dirty="0">
                <a:solidFill>
                  <a:srgbClr val="66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defRPr/>
            </a:pP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select_sort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defRPr/>
            </a:pPr>
            <a:endParaRPr lang="en-US" altLang="zh-CN" sz="1600" dirty="0">
              <a:latin typeface="微软雅黑" panose="020B0503020204020204" pitchFamily="34" charset="-122"/>
              <a:ea typeface="微软雅黑" panose="020B0503020204020204" pitchFamily="34" charset="-122"/>
            </a:endParaRPr>
          </a:p>
          <a:p>
            <a:pPr>
              <a:defRPr/>
            </a:pPr>
            <a:endParaRPr lang="en-US" altLang="zh-CN" sz="1050" dirty="0">
              <a:latin typeface="微软雅黑" panose="020B0503020204020204" pitchFamily="34" charset="-122"/>
              <a:ea typeface="微软雅黑" panose="020B0503020204020204" pitchFamily="34" charset="-122"/>
            </a:endParaRPr>
          </a:p>
          <a:p>
            <a:pPr>
              <a:defRPr/>
            </a:pPr>
            <a:r>
              <a:rPr lang="zh-CN" altLang="en-US" sz="2000" dirty="0">
                <a:latin typeface="微软雅黑" panose="020B0503020204020204" pitchFamily="34" charset="-122"/>
                <a:ea typeface="微软雅黑" panose="020B0503020204020204" pitchFamily="34" charset="-122"/>
              </a:rPr>
              <a:t>基本操作</a:t>
            </a:r>
            <a:r>
              <a:rPr lang="en-US" altLang="zh-CN" sz="2000" dirty="0">
                <a:latin typeface="微软雅黑" panose="020B0503020204020204" pitchFamily="34" charset="-122"/>
                <a:ea typeface="微软雅黑" panose="020B0503020204020204" pitchFamily="34" charset="-122"/>
              </a:rPr>
              <a:t>:</a:t>
            </a:r>
            <a:r>
              <a:rPr lang="zh-CN" altLang="en-US" sz="2000" b="1" dirty="0">
                <a:solidFill>
                  <a:srgbClr val="CC0000"/>
                </a:solidFill>
                <a:latin typeface="微软雅黑" panose="020B0503020204020204" pitchFamily="34" charset="-122"/>
                <a:ea typeface="微软雅黑" panose="020B0503020204020204" pitchFamily="34" charset="-122"/>
              </a:rPr>
              <a:t>比较</a:t>
            </a:r>
            <a:r>
              <a:rPr lang="en-US" altLang="zh-CN" sz="2000" dirty="0">
                <a:solidFill>
                  <a:srgbClr val="CC0000"/>
                </a:solidFill>
                <a:latin typeface="微软雅黑" panose="020B0503020204020204" pitchFamily="34" charset="-122"/>
                <a:ea typeface="微软雅黑" panose="020B0503020204020204" pitchFamily="34" charset="-122"/>
              </a:rPr>
              <a:t>(</a:t>
            </a:r>
            <a:r>
              <a:rPr lang="zh-CN" altLang="en-US" sz="2000" dirty="0">
                <a:solidFill>
                  <a:srgbClr val="CC0000"/>
                </a:solidFill>
                <a:latin typeface="微软雅黑" panose="020B0503020204020204" pitchFamily="34" charset="-122"/>
                <a:ea typeface="微软雅黑" panose="020B0503020204020204" pitchFamily="34" charset="-122"/>
              </a:rPr>
              <a:t>数据元素</a:t>
            </a:r>
            <a:r>
              <a:rPr lang="en-US" altLang="zh-CN" sz="2000" dirty="0">
                <a:solidFill>
                  <a:srgbClr val="CC0000"/>
                </a:solidFill>
                <a:latin typeface="微软雅黑" panose="020B0503020204020204" pitchFamily="34" charset="-122"/>
                <a:ea typeface="微软雅黑" panose="020B0503020204020204" pitchFamily="34" charset="-122"/>
              </a:rPr>
              <a:t>)</a:t>
            </a:r>
            <a:r>
              <a:rPr lang="zh-CN" altLang="en-US" sz="2000" b="1" dirty="0">
                <a:solidFill>
                  <a:srgbClr val="CC0000"/>
                </a:solidFill>
                <a:latin typeface="微软雅黑" panose="020B0503020204020204" pitchFamily="34" charset="-122"/>
                <a:ea typeface="微软雅黑" panose="020B0503020204020204" pitchFamily="34" charset="-122"/>
              </a:rPr>
              <a:t>操作</a:t>
            </a:r>
            <a:endParaRPr lang="zh-CN" altLang="en-US" sz="2000" dirty="0">
              <a:latin typeface="微软雅黑" panose="020B0503020204020204" pitchFamily="34" charset="-122"/>
              <a:ea typeface="微软雅黑" panose="020B0503020204020204" pitchFamily="34" charset="-122"/>
            </a:endParaRPr>
          </a:p>
          <a:p>
            <a:pPr>
              <a:defRPr/>
            </a:pPr>
            <a:r>
              <a:rPr lang="zh-CN" altLang="en-US" sz="2000" dirty="0">
                <a:latin typeface="微软雅黑" panose="020B0503020204020204" pitchFamily="34" charset="-122"/>
                <a:ea typeface="微软雅黑" panose="020B0503020204020204" pitchFamily="34" charset="-122"/>
              </a:rPr>
              <a:t>时间复杂度</a:t>
            </a:r>
            <a:r>
              <a:rPr lang="en-US" altLang="zh-CN" sz="2000" dirty="0">
                <a:latin typeface="微软雅黑" panose="020B0503020204020204" pitchFamily="34" charset="-122"/>
                <a:ea typeface="微软雅黑" panose="020B0503020204020204" pitchFamily="34" charset="-122"/>
              </a:rPr>
              <a:t>: </a:t>
            </a:r>
            <a:r>
              <a:rPr lang="en-US" altLang="zh-CN" sz="2000" b="1" dirty="0">
                <a:solidFill>
                  <a:srgbClr val="6600CC"/>
                </a:solidFill>
                <a:latin typeface="微软雅黑" panose="020B0503020204020204" pitchFamily="34" charset="-122"/>
                <a:ea typeface="微软雅黑" panose="020B0503020204020204" pitchFamily="34" charset="-122"/>
              </a:rPr>
              <a:t>O(n</a:t>
            </a:r>
            <a:r>
              <a:rPr lang="en-US" altLang="zh-CN" sz="2000" b="1" baseline="30000" dirty="0">
                <a:solidFill>
                  <a:srgbClr val="6600CC"/>
                </a:solidFill>
                <a:latin typeface="微软雅黑" panose="020B0503020204020204" pitchFamily="34" charset="-122"/>
                <a:ea typeface="微软雅黑" panose="020B0503020204020204" pitchFamily="34" charset="-122"/>
              </a:rPr>
              <a:t>2</a:t>
            </a:r>
            <a:r>
              <a:rPr lang="en-US" altLang="zh-CN" sz="2000" b="1" dirty="0">
                <a:solidFill>
                  <a:srgbClr val="6600CC"/>
                </a:solidFill>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defRPr/>
            </a:pPr>
            <a:endParaRPr lang="zh-CN" altLang="en-US" sz="1600" b="1" dirty="0"/>
          </a:p>
        </p:txBody>
      </p:sp>
      <p:sp>
        <p:nvSpPr>
          <p:cNvPr id="3" name="TextBox 3"/>
          <p:cNvSpPr txBox="1">
            <a:spLocks noChangeArrowheads="1"/>
          </p:cNvSpPr>
          <p:nvPr/>
        </p:nvSpPr>
        <p:spPr bwMode="auto">
          <a:xfrm>
            <a:off x="5105400" y="4767746"/>
            <a:ext cx="42363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en-US" dirty="0">
                <a:solidFill>
                  <a:srgbClr val="0000CC"/>
                </a:solidFill>
                <a:latin typeface="微软雅黑" panose="020B0503020204020204" pitchFamily="34" charset="-122"/>
                <a:ea typeface="微软雅黑" panose="020B0503020204020204" pitchFamily="34" charset="-122"/>
              </a:rPr>
              <a:t>请独立思考</a:t>
            </a:r>
            <a:r>
              <a:rPr lang="en-US" altLang="zh-CN" dirty="0">
                <a:solidFill>
                  <a:srgbClr val="0000CC"/>
                </a:solidFill>
                <a:latin typeface="微软雅黑" panose="020B0503020204020204" pitchFamily="34" charset="-122"/>
                <a:ea typeface="微软雅黑" panose="020B0503020204020204" pitchFamily="34" charset="-122"/>
              </a:rPr>
              <a:t>P12</a:t>
            </a:r>
            <a:r>
              <a:rPr lang="zh-CN" altLang="en-US" dirty="0">
                <a:solidFill>
                  <a:srgbClr val="0000CC"/>
                </a:solidFill>
                <a:latin typeface="微软雅黑" panose="020B0503020204020204" pitchFamily="34" charset="-122"/>
                <a:ea typeface="微软雅黑" panose="020B0503020204020204" pitchFamily="34" charset="-122"/>
              </a:rPr>
              <a:t>页给出的</a:t>
            </a:r>
            <a:r>
              <a:rPr lang="en-US" altLang="zh-CN" dirty="0">
                <a:solidFill>
                  <a:srgbClr val="0000CC"/>
                </a:solidFill>
                <a:latin typeface="微软雅黑" panose="020B0503020204020204" pitchFamily="34" charset="-122"/>
                <a:ea typeface="微软雅黑" panose="020B0503020204020204" pitchFamily="34" charset="-122"/>
              </a:rPr>
              <a:t>6</a:t>
            </a:r>
            <a:r>
              <a:rPr lang="zh-CN" altLang="en-US" dirty="0">
                <a:solidFill>
                  <a:srgbClr val="0000CC"/>
                </a:solidFill>
                <a:latin typeface="微软雅黑" panose="020B0503020204020204" pitchFamily="34" charset="-122"/>
                <a:ea typeface="微软雅黑" panose="020B0503020204020204" pitchFamily="34" charset="-122"/>
              </a:rPr>
              <a:t>个算法的时间复杂度！！</a:t>
            </a:r>
            <a:endParaRPr lang="zh-CN" altLang="en-US" dirty="0">
              <a:solidFill>
                <a:srgbClr val="0000CC"/>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2" end="12"/>
                                            </p:txEl>
                                          </p:spTgt>
                                        </p:tgtEl>
                                        <p:attrNameLst>
                                          <p:attrName>style.visibility</p:attrName>
                                        </p:attrNameLst>
                                      </p:cBhvr>
                                      <p:to>
                                        <p:strVal val="visible"/>
                                      </p:to>
                                    </p:set>
                                    <p:animEffect transition="in" filter="fade">
                                      <p:cBhvr>
                                        <p:cTn id="7" dur="1000"/>
                                        <p:tgtEl>
                                          <p:spTgt spid="2">
                                            <p:txEl>
                                              <p:pRg st="12" end="12"/>
                                            </p:txEl>
                                          </p:spTgt>
                                        </p:tgtEl>
                                      </p:cBhvr>
                                    </p:animEffect>
                                    <p:anim calcmode="lin" valueType="num">
                                      <p:cBhvr>
                                        <p:cTn id="8"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2" end="1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13" end="13"/>
                                            </p:txEl>
                                          </p:spTgt>
                                        </p:tgtEl>
                                        <p:attrNameLst>
                                          <p:attrName>style.visibility</p:attrName>
                                        </p:attrNameLst>
                                      </p:cBhvr>
                                      <p:to>
                                        <p:strVal val="visible"/>
                                      </p:to>
                                    </p:set>
                                    <p:animEffect transition="in" filter="fade">
                                      <p:cBhvr>
                                        <p:cTn id="12" dur="1000"/>
                                        <p:tgtEl>
                                          <p:spTgt spid="2">
                                            <p:txEl>
                                              <p:pRg st="13" end="13"/>
                                            </p:txEl>
                                          </p:spTgt>
                                        </p:tgtEl>
                                      </p:cBhvr>
                                    </p:animEffect>
                                    <p:anim calcmode="lin" valueType="num">
                                      <p:cBhvr>
                                        <p:cTn id="13"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算法的性能分析与度量</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72354" y="1219579"/>
            <a:ext cx="5847292" cy="5155821"/>
          </a:xfrm>
          <a:prstGeom prst="rect">
            <a:avLst/>
          </a:prstGeom>
          <a:noFill/>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175">
                <a:solidFill>
                  <a:schemeClr val="tx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算法的空间复杂度</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txBox="1"/>
          <p:nvPr/>
        </p:nvSpPr>
        <p:spPr>
          <a:xfrm>
            <a:off x="558800" y="609600"/>
            <a:ext cx="11074400" cy="5003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36905" indent="-636905"/>
            <a:endParaRPr lang="en-US" altLang="zh-CN" dirty="0"/>
          </a:p>
          <a:p>
            <a:pPr marL="636905" indent="-636905">
              <a:lnSpc>
                <a:spcPct val="125000"/>
              </a:lnSpc>
              <a:spcAft>
                <a:spcPct val="30000"/>
              </a:spcAft>
              <a:buFontTx/>
              <a:buNone/>
            </a:pPr>
            <a:r>
              <a:rPr lang="zh-CN" altLang="en-US" dirty="0">
                <a:latin typeface="微软雅黑" panose="020B0503020204020204" pitchFamily="34" charset="-122"/>
                <a:ea typeface="微软雅黑" panose="020B0503020204020204" pitchFamily="34" charset="-122"/>
              </a:rPr>
              <a:t>算法的存储量包括</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636905" indent="-636905">
              <a:lnSpc>
                <a:spcPct val="125000"/>
              </a:lnSpc>
              <a:buFontTx/>
              <a:buNone/>
            </a:pPr>
            <a:r>
              <a:rPr lang="en-US" altLang="zh-CN" sz="2000" dirty="0">
                <a:latin typeface="微软雅黑" panose="020B0503020204020204" pitchFamily="34" charset="-122"/>
                <a:ea typeface="微软雅黑" panose="020B0503020204020204" pitchFamily="34" charset="-122"/>
              </a:rPr>
              <a:t>           1</a:t>
            </a:r>
            <a:r>
              <a:rPr lang="zh-CN" altLang="en-US" sz="2000" dirty="0">
                <a:latin typeface="微软雅黑" panose="020B0503020204020204" pitchFamily="34" charset="-122"/>
                <a:ea typeface="微软雅黑" panose="020B0503020204020204" pitchFamily="34" charset="-122"/>
              </a:rPr>
              <a:t>．输入数据所占空间</a:t>
            </a:r>
            <a:endParaRPr lang="zh-CN" altLang="en-US" sz="2000" dirty="0">
              <a:latin typeface="微软雅黑" panose="020B0503020204020204" pitchFamily="34" charset="-122"/>
              <a:ea typeface="微软雅黑" panose="020B0503020204020204" pitchFamily="34" charset="-122"/>
            </a:endParaRPr>
          </a:p>
          <a:p>
            <a:pPr marL="636905" indent="-636905">
              <a:lnSpc>
                <a:spcPct val="125000"/>
              </a:lnSpc>
              <a:buFontTx/>
              <a:buNone/>
            </a:pPr>
            <a:r>
              <a:rPr lang="en-US" altLang="zh-CN" sz="2000" dirty="0">
                <a:latin typeface="微软雅黑" panose="020B0503020204020204" pitchFamily="34" charset="-122"/>
                <a:ea typeface="微软雅黑" panose="020B0503020204020204" pitchFamily="34" charset="-122"/>
              </a:rPr>
              <a:t>           2</a:t>
            </a:r>
            <a:r>
              <a:rPr lang="zh-CN" altLang="en-US" sz="2000" dirty="0">
                <a:latin typeface="微软雅黑" panose="020B0503020204020204" pitchFamily="34" charset="-122"/>
                <a:ea typeface="微软雅黑" panose="020B0503020204020204" pitchFamily="34" charset="-122"/>
              </a:rPr>
              <a:t>．程序本身所占空间</a:t>
            </a:r>
            <a:endParaRPr lang="zh-CN" altLang="en-US" sz="2000" dirty="0">
              <a:latin typeface="微软雅黑" panose="020B0503020204020204" pitchFamily="34" charset="-122"/>
              <a:ea typeface="微软雅黑" panose="020B0503020204020204" pitchFamily="34" charset="-122"/>
            </a:endParaRPr>
          </a:p>
          <a:p>
            <a:pPr marL="636905" indent="-636905">
              <a:lnSpc>
                <a:spcPct val="125000"/>
              </a:lnSpc>
              <a:buFontTx/>
              <a:buNone/>
            </a:pPr>
            <a:r>
              <a:rPr lang="en-US" altLang="zh-CN" sz="2000" dirty="0">
                <a:latin typeface="微软雅黑" panose="020B0503020204020204" pitchFamily="34" charset="-122"/>
                <a:ea typeface="微软雅黑" panose="020B0503020204020204" pitchFamily="34" charset="-122"/>
              </a:rPr>
              <a:t>           3</a:t>
            </a:r>
            <a:r>
              <a:rPr lang="zh-CN" altLang="en-US" sz="2000" dirty="0">
                <a:latin typeface="微软雅黑" panose="020B0503020204020204" pitchFamily="34" charset="-122"/>
                <a:ea typeface="微软雅黑" panose="020B0503020204020204" pitchFamily="34" charset="-122"/>
              </a:rPr>
              <a:t>．辅助变量所占空间</a:t>
            </a:r>
            <a:endParaRPr lang="zh-CN" altLang="en-US" sz="2000" dirty="0">
              <a:latin typeface="微软雅黑" panose="020B0503020204020204" pitchFamily="34" charset="-122"/>
              <a:ea typeface="微软雅黑" panose="020B0503020204020204" pitchFamily="34" charset="-122"/>
            </a:endParaRPr>
          </a:p>
          <a:p>
            <a:pPr marL="636905" indent="-636905"/>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算法的空间复杂度</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txBox="1"/>
          <p:nvPr/>
        </p:nvSpPr>
        <p:spPr>
          <a:xfrm>
            <a:off x="546099" y="1252220"/>
            <a:ext cx="10761133" cy="50207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rPr>
              <a:t>若输入数据所占空间只取决于问题本身，和算法无关，则</a:t>
            </a:r>
            <a:r>
              <a:rPr lang="zh-CN" altLang="en-US" sz="2400" b="1" dirty="0">
                <a:solidFill>
                  <a:srgbClr val="FF0000"/>
                </a:solidFill>
                <a:latin typeface="微软雅黑" panose="020B0503020204020204" pitchFamily="34" charset="-122"/>
                <a:ea typeface="微软雅黑" panose="020B0503020204020204" pitchFamily="34" charset="-122"/>
              </a:rPr>
              <a:t>只需要分析</a:t>
            </a:r>
            <a:r>
              <a:rPr lang="zh-CN" altLang="en-US" sz="2400" dirty="0">
                <a:latin typeface="微软雅黑" panose="020B0503020204020204" pitchFamily="34" charset="-122"/>
                <a:ea typeface="微软雅黑" panose="020B0503020204020204" pitchFamily="34" charset="-122"/>
              </a:rPr>
              <a:t>除输入和程序之外的</a:t>
            </a:r>
            <a:r>
              <a:rPr lang="zh-CN" altLang="en-US" sz="2400" b="1" dirty="0">
                <a:solidFill>
                  <a:srgbClr val="FF0000"/>
                </a:solidFill>
                <a:latin typeface="微软雅黑" panose="020B0503020204020204" pitchFamily="34" charset="-122"/>
                <a:ea typeface="微软雅黑" panose="020B0503020204020204" pitchFamily="34" charset="-122"/>
              </a:rPr>
              <a:t>辅助变量所占额外空间</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 若所需额外空间相对于输入数据量来说是常数，则称此算法为原地工作。</a:t>
            </a:r>
            <a:endParaRPr lang="zh-CN" altLang="en-US"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 若所需存储量依赖于特定的输入，则通常按最坏情况考虑。</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算法的空间复杂度</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txBox="1"/>
          <p:nvPr/>
        </p:nvSpPr>
        <p:spPr>
          <a:xfrm>
            <a:off x="392805" y="1109132"/>
            <a:ext cx="11006667" cy="5054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dirty="0">
                <a:latin typeface="微软雅黑" panose="020B0503020204020204" pitchFamily="34" charset="-122"/>
                <a:ea typeface="微软雅黑" panose="020B0503020204020204" pitchFamily="34" charset="-122"/>
              </a:rPr>
              <a:t>空间的复杂度</a:t>
            </a:r>
            <a:endParaRPr lang="en-US" altLang="zh-CN"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根据问题规模</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rPr>
              <a:t>，算法执行所需要的额外存储空间大小的度</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空间的复杂度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 (n )</a:t>
            </a:r>
            <a:r>
              <a:rPr lang="zh-CN" altLang="en-US" sz="2000" dirty="0">
                <a:latin typeface="微软雅黑" panose="020B0503020204020204" pitchFamily="34" charset="-122"/>
                <a:ea typeface="微软雅黑" panose="020B0503020204020204" pitchFamily="34" charset="-122"/>
              </a:rPr>
              <a:t>记作</a:t>
            </a:r>
            <a:endParaRPr lang="en-US" altLang="zh-CN" sz="2000" dirty="0">
              <a:latin typeface="微软雅黑" panose="020B0503020204020204" pitchFamily="34" charset="-122"/>
              <a:ea typeface="微软雅黑" panose="020B0503020204020204" pitchFamily="34" charset="-122"/>
            </a:endParaRPr>
          </a:p>
          <a:p>
            <a:pPr lvl="1" algn="ctr">
              <a:lnSpc>
                <a:spcPct val="125000"/>
              </a:lnSpc>
              <a:buFontTx/>
              <a:buNone/>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 O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描述算法的语言</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392805" y="1092201"/>
            <a:ext cx="11074400" cy="5325533"/>
          </a:xfrm>
        </p:spPr>
        <p:txBody>
          <a:bodyPr>
            <a:normAutofit/>
          </a:bodyPr>
          <a:lstStyle/>
          <a:p>
            <a:pPr indent="457200" fontAlgn="auto">
              <a:lnSpc>
                <a:spcPct val="125000"/>
              </a:lnSpc>
              <a:buNone/>
              <a:defRPr/>
            </a:pPr>
            <a:r>
              <a:rPr lang="zh-CN" altLang="en-US" sz="2400" dirty="0">
                <a:latin typeface="微软雅黑" panose="020B0503020204020204" pitchFamily="34" charset="-122"/>
                <a:ea typeface="微软雅黑" panose="020B0503020204020204" pitchFamily="34" charset="-122"/>
              </a:rPr>
              <a:t>一个算法可以采用多种表述方式，比如，人类的自然语言可以用来表述算法，但在很多情况下，算法描述更多地采用一些</a:t>
            </a:r>
            <a:r>
              <a:rPr lang="zh-CN" altLang="en-US" sz="2400" b="1" u="sng" dirty="0">
                <a:solidFill>
                  <a:srgbClr val="FF0000"/>
                </a:solidFill>
                <a:latin typeface="微软雅黑" panose="020B0503020204020204" pitchFamily="34" charset="-122"/>
                <a:ea typeface="微软雅黑" panose="020B0503020204020204" pitchFamily="34" charset="-122"/>
              </a:rPr>
              <a:t>形式化方法</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indent="457200" fontAlgn="auto">
              <a:lnSpc>
                <a:spcPct val="125000"/>
              </a:lnSpc>
              <a:buNone/>
              <a:defRPr/>
            </a:pPr>
            <a:r>
              <a:rPr lang="zh-CN" altLang="en-US" sz="2400" b="1" dirty="0">
                <a:solidFill>
                  <a:srgbClr val="0070C0"/>
                </a:solidFill>
                <a:latin typeface="微软雅黑" panose="020B0503020204020204" pitchFamily="34" charset="-122"/>
                <a:ea typeface="微软雅黑" panose="020B0503020204020204" pitchFamily="34" charset="-122"/>
              </a:rPr>
              <a:t>程序流程图</a:t>
            </a:r>
            <a:r>
              <a:rPr lang="zh-CN" altLang="en-US" sz="2400" dirty="0">
                <a:latin typeface="微软雅黑" panose="020B0503020204020204" pitchFamily="34" charset="-122"/>
                <a:ea typeface="微软雅黑" panose="020B0503020204020204" pitchFamily="34" charset="-122"/>
              </a:rPr>
              <a:t>就是一种形式化的算法描述，还可能采用</a:t>
            </a:r>
            <a:r>
              <a:rPr lang="zh-CN" altLang="en-US" sz="2400" b="1" dirty="0">
                <a:solidFill>
                  <a:srgbClr val="0070C0"/>
                </a:solidFill>
                <a:latin typeface="微软雅黑" panose="020B0503020204020204" pitchFamily="34" charset="-122"/>
                <a:ea typeface="微软雅黑" panose="020B0503020204020204" pitchFamily="34" charset="-122"/>
              </a:rPr>
              <a:t>判定表、判定树及状态转移图</a:t>
            </a:r>
            <a:r>
              <a:rPr lang="zh-CN" altLang="en-US" sz="2400" dirty="0">
                <a:latin typeface="微软雅黑" panose="020B0503020204020204" pitchFamily="34" charset="-122"/>
                <a:ea typeface="微软雅黑" panose="020B0503020204020204" pitchFamily="34" charset="-122"/>
              </a:rPr>
              <a:t>等多种方式。</a:t>
            </a:r>
            <a:endParaRPr lang="zh-CN" altLang="en-US" sz="2400" dirty="0">
              <a:latin typeface="微软雅黑" panose="020B0503020204020204" pitchFamily="34" charset="-122"/>
              <a:ea typeface="微软雅黑" panose="020B0503020204020204" pitchFamily="34" charset="-122"/>
            </a:endParaRPr>
          </a:p>
          <a:p>
            <a:pPr indent="457200" fontAlgn="auto">
              <a:lnSpc>
                <a:spcPct val="125000"/>
              </a:lnSpc>
              <a:buNone/>
              <a:defRPr/>
            </a:pPr>
            <a:r>
              <a:rPr lang="zh-CN" altLang="en-US" sz="2400" dirty="0">
                <a:latin typeface="微软雅黑" panose="020B0503020204020204" pitchFamily="34" charset="-122"/>
                <a:ea typeface="微软雅黑" panose="020B0503020204020204" pitchFamily="34" charset="-122"/>
              </a:rPr>
              <a:t>一种广泛使用的形式化算法描述方法，就是参照某种程序设计语言，设计出一种算法描述语言。</a:t>
            </a:r>
            <a:endParaRPr lang="zh-CN" altLang="en-US" sz="2400" dirty="0">
              <a:latin typeface="微软雅黑" panose="020B0503020204020204" pitchFamily="34" charset="-122"/>
              <a:ea typeface="微软雅黑" panose="020B0503020204020204" pitchFamily="34" charset="-122"/>
            </a:endParaRPr>
          </a:p>
          <a:p>
            <a:pPr indent="457200" fontAlgn="auto">
              <a:lnSpc>
                <a:spcPct val="125000"/>
              </a:lnSpc>
              <a:buNone/>
              <a:defRPr/>
            </a:pPr>
            <a:r>
              <a:rPr lang="zh-CN" altLang="en-US" sz="2400" dirty="0">
                <a:latin typeface="微软雅黑" panose="020B0503020204020204" pitchFamily="34" charset="-122"/>
                <a:ea typeface="微软雅黑" panose="020B0503020204020204" pitchFamily="34" charset="-122"/>
              </a:rPr>
              <a:t>算法描述语言和程序设计语言比较类似，但没有严格的语法规则，甚至可以在其中加入一些自然语言描述。</a:t>
            </a:r>
            <a:endParaRPr lang="zh-CN" altLang="en-US" sz="2400" dirty="0">
              <a:latin typeface="微软雅黑" panose="020B0503020204020204" pitchFamily="34" charset="-122"/>
              <a:ea typeface="微软雅黑" panose="020B0503020204020204" pitchFamily="34" charset="-122"/>
            </a:endParaRPr>
          </a:p>
          <a:p>
            <a:pPr indent="457200" fontAlgn="auto">
              <a:lnSpc>
                <a:spcPct val="125000"/>
              </a:lnSpc>
              <a:buNone/>
              <a:defRPr/>
            </a:pPr>
            <a:r>
              <a:rPr lang="zh-CN" altLang="en-US" sz="2400" dirty="0">
                <a:latin typeface="微软雅黑" panose="020B0503020204020204" pitchFamily="34" charset="-122"/>
                <a:ea typeface="微软雅黑" panose="020B0503020204020204" pitchFamily="34" charset="-122"/>
              </a:rPr>
              <a:t>有了用算法描述语言描述的算法，可以很容易地转换成实际可运行的程序。</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描述算法的语言</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393065" y="1114425"/>
            <a:ext cx="11180445" cy="4919345"/>
          </a:xfrm>
        </p:spPr>
        <p:txBody>
          <a:bodyPr>
            <a:normAutofit/>
          </a:bodyPr>
          <a:lstStyle/>
          <a:p>
            <a:pPr>
              <a:lnSpc>
                <a:spcPct val="125000"/>
              </a:lnSpc>
            </a:pPr>
            <a:r>
              <a:rPr lang="zh-CN" altLang="zh-CN" sz="2400" b="1" dirty="0">
                <a:latin typeface="微软雅黑" panose="020B0503020204020204" pitchFamily="34" charset="-122"/>
                <a:ea typeface="微软雅黑" panose="020B0503020204020204" pitchFamily="34" charset="-122"/>
              </a:rPr>
              <a:t>选择</a:t>
            </a:r>
            <a:r>
              <a:rPr lang="en-US" altLang="zh-CN" sz="2400" b="1" dirty="0">
                <a:latin typeface="微软雅黑" panose="020B0503020204020204" pitchFamily="34" charset="-122"/>
                <a:ea typeface="微软雅黑" panose="020B0503020204020204" pitchFamily="34" charset="-122"/>
              </a:rPr>
              <a:t>C++</a:t>
            </a:r>
            <a:r>
              <a:rPr lang="zh-CN" altLang="zh-CN" sz="2400" b="1" dirty="0">
                <a:latin typeface="微软雅黑" panose="020B0503020204020204" pitchFamily="34" charset="-122"/>
                <a:ea typeface="微软雅黑" panose="020B0503020204020204" pitchFamily="34" charset="-122"/>
              </a:rPr>
              <a:t>语言描述算法</a:t>
            </a:r>
            <a:endParaRPr lang="zh-CN" altLang="zh-CN" sz="2400" b="1" dirty="0">
              <a:latin typeface="微软雅黑" panose="020B0503020204020204" pitchFamily="34" charset="-122"/>
              <a:ea typeface="微软雅黑" panose="020B0503020204020204" pitchFamily="34" charset="-122"/>
            </a:endParaRPr>
          </a:p>
          <a:p>
            <a:pPr marL="0" indent="0">
              <a:lnSpc>
                <a:spcPct val="125000"/>
              </a:lnSpc>
              <a:buNone/>
            </a:pPr>
            <a:r>
              <a:rPr lang="en-US" altLang="zh-CN" sz="24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本教材另一个特点是将面向对象的方法引入到数据结构领域。面向对象技术不仅是一种程序设计方法学，而且是一种认识方法学，数据结构讨论的正是数据的描述与处理，与面向对象的认知方法具有天然的联系。面向对象程序设计语言提供的封装、继承、多态和泛型程序设计等机制，为数据结构抽象数据类型的程序实现提供了很好的描述工具。</a:t>
            </a:r>
            <a:endParaRPr lang="zh-CN"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描述算法的语言</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内容占位符 2"/>
          <p:cNvSpPr>
            <a:spLocks noGrp="1"/>
          </p:cNvSpPr>
          <p:nvPr>
            <p:ph idx="1"/>
          </p:nvPr>
        </p:nvSpPr>
        <p:spPr>
          <a:xfrm>
            <a:off x="392805" y="1117599"/>
            <a:ext cx="11125200" cy="4868333"/>
          </a:xfrm>
        </p:spPr>
        <p:txBody>
          <a:bodyPr>
            <a:normAutofit/>
          </a:bodyPr>
          <a:lstStyle/>
          <a:p>
            <a:pPr indent="457200" fontAlgn="auto">
              <a:lnSpc>
                <a:spcPct val="125000"/>
              </a:lnSpc>
              <a:buNone/>
            </a:pPr>
            <a:r>
              <a:rPr lang="zh-CN" altLang="zh-CN" sz="2400" dirty="0">
                <a:latin typeface="微软雅黑" panose="020B0503020204020204" pitchFamily="34" charset="-122"/>
                <a:ea typeface="微软雅黑" panose="020B0503020204020204" pitchFamily="34" charset="-122"/>
              </a:rPr>
              <a:t>此外，面向对象的最大好处是复用、复用、再复用。数据结构中涉及的各类结构下的基本操作在实际应用中也是常用的基本操作，而选择面向对象的高级语言</a:t>
            </a:r>
            <a:r>
              <a:rPr lang="en-US" altLang="zh-CN" sz="2400" dirty="0">
                <a:latin typeface="微软雅黑" panose="020B0503020204020204" pitchFamily="34" charset="-122"/>
                <a:ea typeface="微软雅黑" panose="020B0503020204020204" pitchFamily="34" charset="-122"/>
              </a:rPr>
              <a:t>C++</a:t>
            </a:r>
            <a:r>
              <a:rPr lang="zh-CN" altLang="zh-CN" sz="2400" dirty="0">
                <a:latin typeface="微软雅黑" panose="020B0503020204020204" pitchFamily="34" charset="-122"/>
                <a:ea typeface="微软雅黑" panose="020B0503020204020204" pitchFamily="34" charset="-122"/>
              </a:rPr>
              <a:t>作为描述算法的工具，既能将高级语言程序设计与数据结构紧密结合，又能通过数据结构进一步地认识</a:t>
            </a:r>
            <a:r>
              <a:rPr lang="en-US" altLang="zh-CN" sz="2400" dirty="0">
                <a:latin typeface="微软雅黑" panose="020B0503020204020204" pitchFamily="34" charset="-122"/>
                <a:ea typeface="微软雅黑" panose="020B0503020204020204" pitchFamily="34" charset="-122"/>
              </a:rPr>
              <a:t>C++</a:t>
            </a:r>
            <a:r>
              <a:rPr lang="zh-CN" altLang="zh-CN" sz="2400" dirty="0">
                <a:latin typeface="微软雅黑" panose="020B0503020204020204" pitchFamily="34" charset="-122"/>
                <a:ea typeface="微软雅黑" panose="020B0503020204020204" pitchFamily="34" charset="-122"/>
              </a:rPr>
              <a:t>中的</a:t>
            </a:r>
            <a:r>
              <a:rPr lang="en-US" altLang="zh-CN" sz="2400" dirty="0">
                <a:latin typeface="微软雅黑" panose="020B0503020204020204" pitchFamily="34" charset="-122"/>
                <a:ea typeface="微软雅黑" panose="020B0503020204020204" pitchFamily="34" charset="-122"/>
              </a:rPr>
              <a:t>STL</a:t>
            </a:r>
            <a:r>
              <a:rPr lang="zh-CN" altLang="zh-CN" sz="2400" dirty="0">
                <a:latin typeface="微软雅黑" panose="020B0503020204020204" pitchFamily="34" charset="-122"/>
                <a:ea typeface="微软雅黑" panose="020B0503020204020204" pitchFamily="34" charset="-122"/>
              </a:rPr>
              <a:t>（标准模板库），从而为实际编程的复用带来方便。显然，在数据结构的学习过程中，面向对象的主流语言</a:t>
            </a:r>
            <a:r>
              <a:rPr lang="en-US" altLang="zh-CN" sz="2400" dirty="0">
                <a:latin typeface="微软雅黑" panose="020B0503020204020204" pitchFamily="34" charset="-122"/>
                <a:ea typeface="微软雅黑" panose="020B0503020204020204" pitchFamily="34" charset="-122"/>
              </a:rPr>
              <a:t>C++</a:t>
            </a:r>
            <a:r>
              <a:rPr lang="zh-CN" altLang="zh-CN" sz="2400" dirty="0">
                <a:latin typeface="微软雅黑" panose="020B0503020204020204" pitchFamily="34" charset="-122"/>
                <a:ea typeface="微软雅黑" panose="020B0503020204020204" pitchFamily="34" charset="-122"/>
              </a:rPr>
              <a:t>较伪码语言更值得推崇。</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9797269"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本章学习要点</a:t>
            </a:r>
            <a:endParaRPr lang="zh-CN" altLang="en-US" sz="3200" b="1" i="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Text Box 6"/>
          <p:cNvSpPr txBox="1">
            <a:spLocks noChangeArrowheads="1"/>
          </p:cNvSpPr>
          <p:nvPr/>
        </p:nvSpPr>
        <p:spPr bwMode="auto">
          <a:xfrm>
            <a:off x="762000" y="1123957"/>
            <a:ext cx="10972800" cy="504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20000"/>
              </a:lnSpc>
              <a:defRPr/>
            </a:pPr>
            <a:r>
              <a:rPr lang="en-US" altLang="zh-CN" sz="2400" b="0" dirty="0">
                <a:solidFill>
                  <a:schemeClr val="tx1"/>
                </a:solidFill>
                <a:latin typeface="+mn-lt"/>
                <a:ea typeface="+mn-ea"/>
              </a:rPr>
              <a:t> </a:t>
            </a:r>
            <a:r>
              <a:rPr lang="en-US" altLang="zh-CN" sz="2400" b="0" dirty="0">
                <a:solidFill>
                  <a:schemeClr val="tx1"/>
                </a:solidFill>
                <a:latin typeface="微软雅黑" panose="020B0503020204020204" pitchFamily="34" charset="-122"/>
                <a:ea typeface="微软雅黑" panose="020B0503020204020204" pitchFamily="34" charset="-122"/>
              </a:rPr>
              <a:t>1. </a:t>
            </a:r>
            <a:r>
              <a:rPr lang="zh-CN" altLang="en-US" sz="2400" b="0" dirty="0">
                <a:solidFill>
                  <a:schemeClr val="tx1"/>
                </a:solidFill>
                <a:latin typeface="微软雅黑" panose="020B0503020204020204" pitchFamily="34" charset="-122"/>
                <a:ea typeface="微软雅黑" panose="020B0503020204020204" pitchFamily="34" charset="-122"/>
              </a:rPr>
              <a:t>熟悉各名词、术语的含义，掌握基本概念。</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5" name="Text Box 7"/>
          <p:cNvSpPr txBox="1">
            <a:spLocks noChangeArrowheads="1"/>
          </p:cNvSpPr>
          <p:nvPr/>
        </p:nvSpPr>
        <p:spPr bwMode="auto">
          <a:xfrm>
            <a:off x="838200" y="1979375"/>
            <a:ext cx="67115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理解算法五个要素的确切含义。</a:t>
            </a:r>
            <a:endParaRPr lang="zh-CN" altLang="en-US" sz="2400" dirty="0">
              <a:latin typeface="微软雅黑" panose="020B0503020204020204" pitchFamily="34" charset="-122"/>
              <a:ea typeface="微软雅黑" panose="020B0503020204020204" pitchFamily="34" charset="-122"/>
            </a:endParaRPr>
          </a:p>
        </p:txBody>
      </p:sp>
      <p:sp>
        <p:nvSpPr>
          <p:cNvPr id="6" name="Text Box 9"/>
          <p:cNvSpPr txBox="1">
            <a:spLocks noChangeArrowheads="1"/>
          </p:cNvSpPr>
          <p:nvPr/>
        </p:nvSpPr>
        <p:spPr bwMode="auto">
          <a:xfrm>
            <a:off x="655468" y="2792217"/>
            <a:ext cx="11185864" cy="504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20000"/>
              </a:lnSpc>
              <a:defRPr/>
            </a:pPr>
            <a:r>
              <a:rPr lang="en-US" altLang="zh-CN" sz="2400" b="0" dirty="0">
                <a:solidFill>
                  <a:schemeClr val="tx1"/>
                </a:solidFill>
                <a:latin typeface="+mn-lt"/>
                <a:ea typeface="+mn-ea"/>
              </a:rPr>
              <a:t>   </a:t>
            </a: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掌握计算语句频度和估算算法时间复杂度的方法。</a:t>
            </a:r>
            <a:endParaRPr lang="zh-CN" altLang="en-US" sz="2400" dirty="0">
              <a:latin typeface="微软雅黑" panose="020B0503020204020204" pitchFamily="34" charset="-122"/>
              <a:ea typeface="微软雅黑" panose="020B0503020204020204" pitchFamily="34" charset="-122"/>
            </a:endParaRPr>
          </a:p>
        </p:txBody>
      </p:sp>
      <p:pic>
        <p:nvPicPr>
          <p:cNvPr id="7" name="Picture 10" descr="doorin">
            <a:hlinkClick r:id="" action="ppaction://hlinkshowjump?jump=endshow" highlightClick="1"/>
          </p:cNvP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44060" y="5241269"/>
            <a:ext cx="1090740" cy="134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p="http://schemas.openxmlformats.org/presentationml/2006/main">
  <p:tag name="ISLIDE.ICON" val="#404870;#405337;#404870;#393849;#394159;#171092;#134425;#37043;#393940;"/>
</p:tagLst>
</file>

<file path=ppt/tags/tag2.xml><?xml version="1.0" encoding="utf-8"?>
<p:tagLst xmlns:p="http://schemas.openxmlformats.org/presentationml/2006/main">
  <p:tag name="commondata" val="eyJoZGlkIjoiZjQ4NDFjNWE2YjY1NTA0MjhjMmU2NTU4MDRhMDIxYjgifQ=="/>
</p:tagLst>
</file>

<file path=ppt/theme/theme1.xml><?xml version="1.0" encoding="utf-8"?>
<a:theme xmlns:a="http://schemas.openxmlformats.org/drawingml/2006/main" name="办公资源网：www.bangongziyuan.com">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9452</Words>
  <Application>WPS 演示</Application>
  <PresentationFormat>宽屏</PresentationFormat>
  <Paragraphs>880</Paragraphs>
  <Slides>53</Slides>
  <Notes>52</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5</vt:i4>
      </vt:variant>
      <vt:variant>
        <vt:lpstr>幻灯片标题</vt:lpstr>
      </vt:variant>
      <vt:variant>
        <vt:i4>53</vt:i4>
      </vt:variant>
    </vt:vector>
  </HeadingPairs>
  <TitlesOfParts>
    <vt:vector size="79" baseType="lpstr">
      <vt:lpstr>Arial</vt:lpstr>
      <vt:lpstr>宋体</vt:lpstr>
      <vt:lpstr>Wingdings</vt:lpstr>
      <vt:lpstr>OPPOSans R</vt:lpstr>
      <vt:lpstr>OPPOSans B</vt:lpstr>
      <vt:lpstr>华文行楷</vt:lpstr>
      <vt:lpstr>Times New Roman</vt:lpstr>
      <vt:lpstr>微软雅黑</vt:lpstr>
      <vt:lpstr>Arial Unicode MS</vt:lpstr>
      <vt:lpstr>黑体</vt:lpstr>
      <vt:lpstr>Calibri</vt:lpstr>
      <vt:lpstr>Times New Roman</vt:lpstr>
      <vt:lpstr>楷体_GB2312</vt:lpstr>
      <vt:lpstr>Consolas</vt:lpstr>
      <vt:lpstr>Wingdings 2</vt:lpstr>
      <vt:lpstr>Segoe UI Historic</vt:lpstr>
      <vt:lpstr>思源黑体 CN Regular</vt:lpstr>
      <vt:lpstr>Yu Gothic</vt:lpstr>
      <vt:lpstr>Algerian</vt:lpstr>
      <vt:lpstr>办公资源网：www.bangongziyuan.com</vt:lpstr>
      <vt:lpstr>自定义设计方案</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刘雅茜</cp:lastModifiedBy>
  <cp:revision>3293</cp:revision>
  <dcterms:created xsi:type="dcterms:W3CDTF">2020-11-24T06:30:00Z</dcterms:created>
  <dcterms:modified xsi:type="dcterms:W3CDTF">2024-10-29T09:01:15Z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D01F964B9A334D1691F2166E3BF8F24C_12</vt:lpwstr>
  </property>
  <property fmtid="{D5CDD505-2E9C-101B-9397-08002B2CF9AE}" pid="3" name="KSOProductBuildVer">
    <vt:lpwstr>2052-12.1.0.18608</vt:lpwstr>
  </property>
</Properties>
</file>