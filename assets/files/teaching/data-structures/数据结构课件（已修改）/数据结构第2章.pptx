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96"/>
  </p:handoutMasterIdLst>
  <p:sldIdLst>
    <p:sldId id="15714907" r:id="rId4"/>
    <p:sldId id="15714962" r:id="rId6"/>
    <p:sldId id="15714897" r:id="rId7"/>
    <p:sldId id="15714979" r:id="rId8"/>
    <p:sldId id="15714980" r:id="rId9"/>
    <p:sldId id="15714982" r:id="rId10"/>
    <p:sldId id="15714983" r:id="rId11"/>
    <p:sldId id="15714984" r:id="rId12"/>
    <p:sldId id="15714964" r:id="rId13"/>
    <p:sldId id="15714985" r:id="rId14"/>
    <p:sldId id="15714986" r:id="rId15"/>
    <p:sldId id="15714987" r:id="rId16"/>
    <p:sldId id="15714988" r:id="rId17"/>
    <p:sldId id="15714989" r:id="rId18"/>
    <p:sldId id="15714990" r:id="rId19"/>
    <p:sldId id="15714991" r:id="rId20"/>
    <p:sldId id="15714992" r:id="rId21"/>
    <p:sldId id="15714993" r:id="rId22"/>
    <p:sldId id="15714994" r:id="rId23"/>
    <p:sldId id="15714995" r:id="rId24"/>
    <p:sldId id="15714996" r:id="rId25"/>
    <p:sldId id="15714997" r:id="rId26"/>
    <p:sldId id="15714998" r:id="rId27"/>
    <p:sldId id="15714999" r:id="rId28"/>
    <p:sldId id="15715000" r:id="rId29"/>
    <p:sldId id="15715001" r:id="rId30"/>
    <p:sldId id="15715002" r:id="rId31"/>
    <p:sldId id="15715003" r:id="rId32"/>
    <p:sldId id="15715004" r:id="rId33"/>
    <p:sldId id="15715005" r:id="rId34"/>
    <p:sldId id="15715006" r:id="rId35"/>
    <p:sldId id="15715007" r:id="rId36"/>
    <p:sldId id="15715008" r:id="rId37"/>
    <p:sldId id="15715009" r:id="rId38"/>
    <p:sldId id="468" r:id="rId39"/>
    <p:sldId id="15715010" r:id="rId40"/>
    <p:sldId id="15715011" r:id="rId41"/>
    <p:sldId id="15715013" r:id="rId42"/>
    <p:sldId id="15715014" r:id="rId43"/>
    <p:sldId id="15715015" r:id="rId44"/>
    <p:sldId id="15715016" r:id="rId45"/>
    <p:sldId id="15715017" r:id="rId46"/>
    <p:sldId id="15715018" r:id="rId47"/>
    <p:sldId id="480" r:id="rId48"/>
    <p:sldId id="15715020" r:id="rId49"/>
    <p:sldId id="482" r:id="rId50"/>
    <p:sldId id="483" r:id="rId51"/>
    <p:sldId id="484" r:id="rId52"/>
    <p:sldId id="485" r:id="rId53"/>
    <p:sldId id="486" r:id="rId54"/>
    <p:sldId id="15715019" r:id="rId55"/>
    <p:sldId id="15715021" r:id="rId56"/>
    <p:sldId id="15715022" r:id="rId57"/>
    <p:sldId id="15715023" r:id="rId58"/>
    <p:sldId id="15715024" r:id="rId59"/>
    <p:sldId id="15715025" r:id="rId60"/>
    <p:sldId id="15715026" r:id="rId61"/>
    <p:sldId id="15715027" r:id="rId62"/>
    <p:sldId id="15715028" r:id="rId63"/>
    <p:sldId id="15715029" r:id="rId64"/>
    <p:sldId id="492" r:id="rId65"/>
    <p:sldId id="15715031" r:id="rId66"/>
    <p:sldId id="15715032" r:id="rId67"/>
    <p:sldId id="15715033" r:id="rId68"/>
    <p:sldId id="15715034" r:id="rId69"/>
    <p:sldId id="497" r:id="rId70"/>
    <p:sldId id="15715036" r:id="rId71"/>
    <p:sldId id="15715037" r:id="rId72"/>
    <p:sldId id="15715038" r:id="rId73"/>
    <p:sldId id="15715039" r:id="rId74"/>
    <p:sldId id="15715040" r:id="rId75"/>
    <p:sldId id="504" r:id="rId76"/>
    <p:sldId id="505" r:id="rId77"/>
    <p:sldId id="506" r:id="rId78"/>
    <p:sldId id="15715045" r:id="rId79"/>
    <p:sldId id="15715046" r:id="rId80"/>
    <p:sldId id="15715047" r:id="rId81"/>
    <p:sldId id="15715053" r:id="rId82"/>
    <p:sldId id="511" r:id="rId83"/>
    <p:sldId id="512" r:id="rId84"/>
    <p:sldId id="15715055" r:id="rId85"/>
    <p:sldId id="15715056" r:id="rId86"/>
    <p:sldId id="515" r:id="rId87"/>
    <p:sldId id="516" r:id="rId88"/>
    <p:sldId id="517" r:id="rId89"/>
    <p:sldId id="15715057" r:id="rId90"/>
    <p:sldId id="15715058" r:id="rId91"/>
    <p:sldId id="15715059" r:id="rId92"/>
    <p:sldId id="15715060" r:id="rId93"/>
    <p:sldId id="15715061" r:id="rId94"/>
    <p:sldId id="15715012" r:id="rId95"/>
  </p:sldIdLst>
  <p:sldSz cx="12192000" cy="6858000"/>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a:srgbClr val="005A9E"/>
    <a:srgbClr val="000000"/>
    <a:srgbClr val="ADA19D"/>
    <a:srgbClr val="F0ECF2"/>
    <a:srgbClr val="494958"/>
    <a:srgbClr val="484C58"/>
    <a:srgbClr val="A8A8A8"/>
    <a:srgbClr val="015B9F"/>
    <a:srgbClr val="029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4" autoAdjust="0"/>
    <p:restoredTop sz="94660"/>
  </p:normalViewPr>
  <p:slideViewPr>
    <p:cSldViewPr snapToGrid="0">
      <p:cViewPr varScale="1">
        <p:scale>
          <a:sx n="86" d="100"/>
          <a:sy n="86" d="100"/>
        </p:scale>
        <p:origin x="302" y="62"/>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0" Type="http://schemas.openxmlformats.org/officeDocument/2006/relationships/tags" Target="tags/tag3.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25438"/>
            <a:ext cx="10972800" cy="927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295400"/>
            <a:ext cx="53848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295400"/>
            <a:ext cx="5384800" cy="2362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3810000"/>
            <a:ext cx="5384800" cy="2362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fld id="{92719A47-724C-4AFB-910C-5B4B4B4AFC97}"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25438"/>
            <a:ext cx="10972800" cy="927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295400"/>
            <a:ext cx="53848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295400"/>
            <a:ext cx="53848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B58CF84F-BB00-4C07-B2EB-63E1EADB381D}" type="slidenum">
              <a:rPr lang="zh-CN" altLang="en-US"/>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OPPOSans B"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5.emf"/><Relationship Id="rId1"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5.emf"/><Relationship Id="rId1" Type="http://schemas.openxmlformats.org/officeDocument/2006/relationships/oleObject" Target="../embeddings/oleObject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5.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6.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61.xml"/><Relationship Id="rId1" Type="http://schemas.openxmlformats.org/officeDocument/2006/relationships/slide" Target="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66.xml"/><Relationship Id="rId2" Type="http://schemas.openxmlformats.org/officeDocument/2006/relationships/slide" Target="slide50.xml"/><Relationship Id="rId1" Type="http://schemas.openxmlformats.org/officeDocument/2006/relationships/slide" Target="slide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7.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9.emf"/><Relationship Id="rId1" Type="http://schemas.openxmlformats.org/officeDocument/2006/relationships/oleObject" Target="../embeddings/oleObject8.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9.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0.bin"/></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11.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6.wmf"/><Relationship Id="rId7" Type="http://schemas.openxmlformats.org/officeDocument/2006/relationships/oleObject" Target="../embeddings/oleObject15.bin"/><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 Id="rId3" Type="http://schemas.openxmlformats.org/officeDocument/2006/relationships/oleObject" Target="../embeddings/oleObject13.bin"/><Relationship Id="rId2" Type="http://schemas.openxmlformats.org/officeDocument/2006/relationships/image" Target="../media/image13.wmf"/><Relationship Id="rId12" Type="http://schemas.openxmlformats.org/officeDocument/2006/relationships/vmlDrawing" Target="../drawings/vmlDrawing12.vml"/><Relationship Id="rId11" Type="http://schemas.openxmlformats.org/officeDocument/2006/relationships/slideLayout" Target="../slideLayouts/slideLayout12.xml"/><Relationship Id="rId10" Type="http://schemas.openxmlformats.org/officeDocument/2006/relationships/image" Target="../media/image17.wmf"/><Relationship Id="rId1" Type="http://schemas.openxmlformats.org/officeDocument/2006/relationships/oleObject" Target="../embeddings/oleObject12.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13.xml"/><Relationship Id="rId4" Type="http://schemas.openxmlformats.org/officeDocument/2006/relationships/image" Target="../media/image19.emf"/><Relationship Id="rId3" Type="http://schemas.openxmlformats.org/officeDocument/2006/relationships/oleObject" Target="../embeddings/oleObject18.bin"/><Relationship Id="rId2" Type="http://schemas.openxmlformats.org/officeDocument/2006/relationships/image" Target="../media/image18.wmf"/><Relationship Id="rId1" Type="http://schemas.openxmlformats.org/officeDocument/2006/relationships/oleObject" Target="../embeddings/oleObject17.bin"/></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13.xml"/><Relationship Id="rId2" Type="http://schemas.openxmlformats.org/officeDocument/2006/relationships/image" Target="../media/image20.wmf"/><Relationship Id="rId1" Type="http://schemas.openxmlformats.org/officeDocument/2006/relationships/oleObject" Target="../embeddings/oleObject19.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4314897" y="1762925"/>
            <a:ext cx="3562206"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线性表</a:t>
            </a:r>
            <a:endPar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课程性质：专业必修课</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2" name="文本框 283"/>
          <p:cNvSpPr txBox="1"/>
          <p:nvPr/>
        </p:nvSpPr>
        <p:spPr>
          <a:xfrm>
            <a:off x="9118262" y="331578"/>
            <a:ext cx="2202010" cy="46166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1"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dist"/>
            <a:r>
              <a:rPr lang="en-US" altLang="zh-CN" i="0" spc="0" dirty="0"/>
              <a:t>《</a:t>
            </a:r>
            <a:r>
              <a:rPr lang="en-US" altLang="zh-CN" spc="0" dirty="0"/>
              <a:t>Linear   table</a:t>
            </a:r>
            <a:r>
              <a:rPr lang="en-US" altLang="zh-CN" i="0" spc="0" dirty="0"/>
              <a:t>》</a:t>
            </a:r>
            <a:endParaRPr lang="zh-CN" altLang="en-US" i="0" spc="0" dirty="0"/>
          </a:p>
        </p:txBody>
      </p:sp>
      <p:sp>
        <p:nvSpPr>
          <p:cNvPr id="3" name="文本框 283"/>
          <p:cNvSpPr txBox="1"/>
          <p:nvPr/>
        </p:nvSpPr>
        <p:spPr>
          <a:xfrm>
            <a:off x="461047" y="326856"/>
            <a:ext cx="3895306" cy="466387"/>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r>
              <a:rPr lang="zh-CN" altLang="en-US" dirty="0"/>
              <a:t>节选自第二章 线性表</a:t>
            </a:r>
            <a:endParaRPr lang="zh-CN" altLang="en-US"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学习要点</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4" name="矩形 193"/>
          <p:cNvSpPr/>
          <p:nvPr/>
        </p:nvSpPr>
        <p:spPr>
          <a:xfrm>
            <a:off x="546304" y="1016206"/>
            <a:ext cx="11099391" cy="4412234"/>
          </a:xfrm>
          <a:prstGeom prst="rect">
            <a:avLst/>
          </a:prstGeom>
        </p:spPr>
        <p:txBody>
          <a:bodyPr wrap="square">
            <a:spAutoFit/>
          </a:bodyPr>
          <a:lstStyle/>
          <a:p>
            <a:pPr marL="457200" indent="-457200">
              <a:buFont typeface="Wingdings" panose="05000000000000000000" pitchFamily="2" charset="2"/>
              <a:buChar char="n"/>
            </a:pPr>
            <a:endParaRPr lang="en-US" altLang="zh-CN" sz="2800" dirty="0">
              <a:latin typeface="微软雅黑" panose="020B0503020204020204" pitchFamily="34" charset="-122"/>
              <a:ea typeface="微软雅黑" panose="020B0503020204020204" pitchFamily="34" charset="-122"/>
            </a:endParaRPr>
          </a:p>
          <a:p>
            <a:pPr marL="457200" indent="-457200">
              <a:lnSpc>
                <a:spcPct val="125000"/>
              </a:lnSpc>
              <a:spcAft>
                <a:spcPts val="1200"/>
              </a:spcAft>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线性表的特性</a:t>
            </a:r>
            <a:r>
              <a:rPr lang="zh-CN" altLang="en-US" sz="2000" dirty="0">
                <a:latin typeface="微软雅黑" panose="020B0503020204020204" pitchFamily="34" charset="-122"/>
                <a:ea typeface="微软雅黑" panose="020B0503020204020204" pitchFamily="34" charset="-122"/>
              </a:rPr>
              <a:t>是数据元素之间在逻辑结构上存在着</a:t>
            </a: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线性关系</a:t>
            </a:r>
            <a:r>
              <a:rPr lang="zh-CN" altLang="en-US" sz="2000" dirty="0">
                <a:latin typeface="微软雅黑" panose="020B0503020204020204" pitchFamily="34" charset="-122"/>
                <a:ea typeface="微软雅黑" panose="020B0503020204020204" pitchFamily="34" charset="-122"/>
              </a:rPr>
              <a:t>，在计算机中表示这种关系的两类不同的存储结构是顺序存储结构和链式存储结构。用前者表示的线性表简称为顺序表，用后者表示的线性表简称为链表。 </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spcAft>
                <a:spcPts val="1200"/>
              </a:spcAft>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熟练掌握线性表在顺序存储结构和链式存储结构的表示方法、线性表在顺序存储结构和链式存储结构下各种基本操作的实现。 </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spcAft>
                <a:spcPts val="1200"/>
              </a:spcAft>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能够从时间和空间复杂度出发，综合比较线性表两种存储结构的不同特点、适用场合及操作效率。 </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spcAft>
                <a:spcPts val="1200"/>
              </a:spcAft>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通过若干具体应用实例的学习，能够举一反三，在丰富线性表类模板的基础上展开更多关于线性表应用的实践。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wipe(left)">
                                      <p:cBhvr>
                                        <p:cTn id="7" dur="5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0"/>
            <a:ext cx="3510069"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grpSp>
        <p:nvGrpSpPr>
          <p:cNvPr id="35" name="组合 34"/>
          <p:cNvGrpSpPr/>
          <p:nvPr/>
        </p:nvGrpSpPr>
        <p:grpSpPr>
          <a:xfrm>
            <a:off x="538579" y="2731214"/>
            <a:ext cx="2732672" cy="1290429"/>
            <a:chOff x="1960631" y="2033950"/>
            <a:chExt cx="2732672" cy="1290429"/>
          </a:xfrm>
        </p:grpSpPr>
        <p:sp>
          <p:nvSpPr>
            <p:cNvPr id="36" name="Title 1"/>
            <p:cNvSpPr txBox="1"/>
            <p:nvPr/>
          </p:nvSpPr>
          <p:spPr>
            <a:xfrm>
              <a:off x="2390080" y="2033950"/>
              <a:ext cx="1873774" cy="761875"/>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i="0"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rPr>
                <a:t>目录</a:t>
              </a:r>
              <a:endParaRPr kumimoji="0" lang="en-US" sz="5400" i="0"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endParaRPr>
            </a:p>
          </p:txBody>
        </p:sp>
        <p:sp>
          <p:nvSpPr>
            <p:cNvPr id="37" name="文本框 36"/>
            <p:cNvSpPr txBox="1"/>
            <p:nvPr/>
          </p:nvSpPr>
          <p:spPr>
            <a:xfrm>
              <a:off x="1960631" y="2924269"/>
              <a:ext cx="2732672" cy="400110"/>
            </a:xfrm>
            <a:prstGeom prst="rect">
              <a:avLst/>
            </a:prstGeom>
            <a:noFill/>
          </p:spPr>
          <p:txBody>
            <a:bodyPr wrap="square">
              <a:spAutoFit/>
            </a:bodyPr>
            <a:lstStyle/>
            <a:p>
              <a:pPr algn="ctr"/>
              <a:r>
                <a:rPr lang="en-US" altLang="zh-CN" sz="2000" b="1" spc="3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rPr>
                <a:t>CONTENTS</a:t>
              </a:r>
              <a:endParaRPr lang="zh-CN" altLang="en-US" sz="2000" b="1" spc="3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endParaRPr>
            </a:p>
          </p:txBody>
        </p:sp>
      </p:grpSp>
      <p:grpSp>
        <p:nvGrpSpPr>
          <p:cNvPr id="12" name="组合 11"/>
          <p:cNvGrpSpPr/>
          <p:nvPr/>
        </p:nvGrpSpPr>
        <p:grpSpPr>
          <a:xfrm>
            <a:off x="3271251" y="1595567"/>
            <a:ext cx="8743965" cy="3662002"/>
            <a:chOff x="5054619" y="1998178"/>
            <a:chExt cx="6137122" cy="3662002"/>
          </a:xfrm>
        </p:grpSpPr>
        <p:grpSp>
          <p:nvGrpSpPr>
            <p:cNvPr id="7" name="组合 6"/>
            <p:cNvGrpSpPr/>
            <p:nvPr/>
          </p:nvGrpSpPr>
          <p:grpSpPr>
            <a:xfrm>
              <a:off x="5054619" y="1998178"/>
              <a:ext cx="6129485" cy="654571"/>
              <a:chOff x="5054619" y="1192955"/>
              <a:chExt cx="6129485" cy="654571"/>
            </a:xfrm>
          </p:grpSpPr>
          <p:sp>
            <p:nvSpPr>
              <p:cNvPr id="51" name="矩形 50"/>
              <p:cNvSpPr/>
              <p:nvPr/>
            </p:nvSpPr>
            <p:spPr>
              <a:xfrm>
                <a:off x="5265495" y="1197820"/>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2" name="矩形 51"/>
              <p:cNvSpPr/>
              <p:nvPr/>
            </p:nvSpPr>
            <p:spPr>
              <a:xfrm>
                <a:off x="6173030" y="1192955"/>
                <a:ext cx="5011074"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3" name="文本框 9"/>
              <p:cNvSpPr txBox="1"/>
              <p:nvPr/>
            </p:nvSpPr>
            <p:spPr>
              <a:xfrm>
                <a:off x="5054619" y="1286814"/>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2.1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54" name="TextBox 49"/>
              <p:cNvSpPr txBox="1"/>
              <p:nvPr/>
            </p:nvSpPr>
            <p:spPr>
              <a:xfrm>
                <a:off x="6771477" y="1256036"/>
                <a:ext cx="4412627"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rPr>
                  <a:t>线性表的类型定义及结构特征</a:t>
                </a:r>
                <a:endPar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endParaRPr>
              </a:p>
            </p:txBody>
          </p:sp>
          <p:sp>
            <p:nvSpPr>
              <p:cNvPr id="72" name="progress-report_18229"/>
              <p:cNvSpPr/>
              <p:nvPr/>
            </p:nvSpPr>
            <p:spPr>
              <a:xfrm>
                <a:off x="6290438" y="1262746"/>
                <a:ext cx="473328" cy="453283"/>
              </a:xfrm>
              <a:custGeom>
                <a:avLst/>
                <a:gdLst>
                  <a:gd name="T0" fmla="*/ 9715 w 10362"/>
                  <a:gd name="T1" fmla="*/ 3586 h 10386"/>
                  <a:gd name="T2" fmla="*/ 8844 w 10362"/>
                  <a:gd name="T3" fmla="*/ 3586 h 10386"/>
                  <a:gd name="T4" fmla="*/ 5353 w 10362"/>
                  <a:gd name="T5" fmla="*/ 95 h 10386"/>
                  <a:gd name="T6" fmla="*/ 5010 w 10362"/>
                  <a:gd name="T7" fmla="*/ 95 h 10386"/>
                  <a:gd name="T8" fmla="*/ 1519 w 10362"/>
                  <a:gd name="T9" fmla="*/ 3586 h 10386"/>
                  <a:gd name="T10" fmla="*/ 647 w 10362"/>
                  <a:gd name="T11" fmla="*/ 3586 h 10386"/>
                  <a:gd name="T12" fmla="*/ 0 w 10362"/>
                  <a:gd name="T13" fmla="*/ 4234 h 10386"/>
                  <a:gd name="T14" fmla="*/ 0 w 10362"/>
                  <a:gd name="T15" fmla="*/ 9739 h 10386"/>
                  <a:gd name="T16" fmla="*/ 647 w 10362"/>
                  <a:gd name="T17" fmla="*/ 10386 h 10386"/>
                  <a:gd name="T18" fmla="*/ 9715 w 10362"/>
                  <a:gd name="T19" fmla="*/ 10386 h 10386"/>
                  <a:gd name="T20" fmla="*/ 10362 w 10362"/>
                  <a:gd name="T21" fmla="*/ 9739 h 10386"/>
                  <a:gd name="T22" fmla="*/ 10362 w 10362"/>
                  <a:gd name="T23" fmla="*/ 4234 h 10386"/>
                  <a:gd name="T24" fmla="*/ 9715 w 10362"/>
                  <a:gd name="T25" fmla="*/ 3586 h 10386"/>
                  <a:gd name="T26" fmla="*/ 5181 w 10362"/>
                  <a:gd name="T27" fmla="*/ 610 h 10386"/>
                  <a:gd name="T28" fmla="*/ 8157 w 10362"/>
                  <a:gd name="T29" fmla="*/ 3586 h 10386"/>
                  <a:gd name="T30" fmla="*/ 2206 w 10362"/>
                  <a:gd name="T31" fmla="*/ 3586 h 10386"/>
                  <a:gd name="T32" fmla="*/ 5181 w 10362"/>
                  <a:gd name="T33" fmla="*/ 610 h 10386"/>
                  <a:gd name="T34" fmla="*/ 2031 w 10362"/>
                  <a:gd name="T35" fmla="*/ 9091 h 10386"/>
                  <a:gd name="T36" fmla="*/ 1545 w 10362"/>
                  <a:gd name="T37" fmla="*/ 8605 h 10386"/>
                  <a:gd name="T38" fmla="*/ 2031 w 10362"/>
                  <a:gd name="T39" fmla="*/ 8119 h 10386"/>
                  <a:gd name="T40" fmla="*/ 2517 w 10362"/>
                  <a:gd name="T41" fmla="*/ 8605 h 10386"/>
                  <a:gd name="T42" fmla="*/ 2031 w 10362"/>
                  <a:gd name="T43" fmla="*/ 9091 h 10386"/>
                  <a:gd name="T44" fmla="*/ 2031 w 10362"/>
                  <a:gd name="T45" fmla="*/ 7471 h 10386"/>
                  <a:gd name="T46" fmla="*/ 1545 w 10362"/>
                  <a:gd name="T47" fmla="*/ 6985 h 10386"/>
                  <a:gd name="T48" fmla="*/ 2031 w 10362"/>
                  <a:gd name="T49" fmla="*/ 6499 h 10386"/>
                  <a:gd name="T50" fmla="*/ 2517 w 10362"/>
                  <a:gd name="T51" fmla="*/ 6985 h 10386"/>
                  <a:gd name="T52" fmla="*/ 2031 w 10362"/>
                  <a:gd name="T53" fmla="*/ 7471 h 10386"/>
                  <a:gd name="T54" fmla="*/ 2031 w 10362"/>
                  <a:gd name="T55" fmla="*/ 5852 h 10386"/>
                  <a:gd name="T56" fmla="*/ 1545 w 10362"/>
                  <a:gd name="T57" fmla="*/ 5366 h 10386"/>
                  <a:gd name="T58" fmla="*/ 2031 w 10362"/>
                  <a:gd name="T59" fmla="*/ 4880 h 10386"/>
                  <a:gd name="T60" fmla="*/ 2517 w 10362"/>
                  <a:gd name="T61" fmla="*/ 5366 h 10386"/>
                  <a:gd name="T62" fmla="*/ 2031 w 10362"/>
                  <a:gd name="T63" fmla="*/ 5852 h 10386"/>
                  <a:gd name="T64" fmla="*/ 8817 w 10362"/>
                  <a:gd name="T65" fmla="*/ 8848 h 10386"/>
                  <a:gd name="T66" fmla="*/ 3636 w 10362"/>
                  <a:gd name="T67" fmla="*/ 8848 h 10386"/>
                  <a:gd name="T68" fmla="*/ 3394 w 10362"/>
                  <a:gd name="T69" fmla="*/ 8605 h 10386"/>
                  <a:gd name="T70" fmla="*/ 3636 w 10362"/>
                  <a:gd name="T71" fmla="*/ 8363 h 10386"/>
                  <a:gd name="T72" fmla="*/ 8817 w 10362"/>
                  <a:gd name="T73" fmla="*/ 8363 h 10386"/>
                  <a:gd name="T74" fmla="*/ 9060 w 10362"/>
                  <a:gd name="T75" fmla="*/ 8605 h 10386"/>
                  <a:gd name="T76" fmla="*/ 8817 w 10362"/>
                  <a:gd name="T77" fmla="*/ 8848 h 10386"/>
                  <a:gd name="T78" fmla="*/ 8817 w 10362"/>
                  <a:gd name="T79" fmla="*/ 7229 h 10386"/>
                  <a:gd name="T80" fmla="*/ 3636 w 10362"/>
                  <a:gd name="T81" fmla="*/ 7229 h 10386"/>
                  <a:gd name="T82" fmla="*/ 3394 w 10362"/>
                  <a:gd name="T83" fmla="*/ 6986 h 10386"/>
                  <a:gd name="T84" fmla="*/ 3636 w 10362"/>
                  <a:gd name="T85" fmla="*/ 6744 h 10386"/>
                  <a:gd name="T86" fmla="*/ 8817 w 10362"/>
                  <a:gd name="T87" fmla="*/ 6744 h 10386"/>
                  <a:gd name="T88" fmla="*/ 9060 w 10362"/>
                  <a:gd name="T89" fmla="*/ 6986 h 10386"/>
                  <a:gd name="T90" fmla="*/ 8817 w 10362"/>
                  <a:gd name="T91" fmla="*/ 7229 h 10386"/>
                  <a:gd name="T92" fmla="*/ 8817 w 10362"/>
                  <a:gd name="T93" fmla="*/ 5610 h 10386"/>
                  <a:gd name="T94" fmla="*/ 3636 w 10362"/>
                  <a:gd name="T95" fmla="*/ 5610 h 10386"/>
                  <a:gd name="T96" fmla="*/ 3394 w 10362"/>
                  <a:gd name="T97" fmla="*/ 5368 h 10386"/>
                  <a:gd name="T98" fmla="*/ 3636 w 10362"/>
                  <a:gd name="T99" fmla="*/ 5125 h 10386"/>
                  <a:gd name="T100" fmla="*/ 8817 w 10362"/>
                  <a:gd name="T101" fmla="*/ 5125 h 10386"/>
                  <a:gd name="T102" fmla="*/ 9060 w 10362"/>
                  <a:gd name="T103" fmla="*/ 5368 h 10386"/>
                  <a:gd name="T104" fmla="*/ 8817 w 10362"/>
                  <a:gd name="T105" fmla="*/ 5610 h 10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362" h="10386">
                    <a:moveTo>
                      <a:pt x="9715" y="3586"/>
                    </a:moveTo>
                    <a:lnTo>
                      <a:pt x="8844" y="3586"/>
                    </a:lnTo>
                    <a:lnTo>
                      <a:pt x="5353" y="95"/>
                    </a:lnTo>
                    <a:cubicBezTo>
                      <a:pt x="5258" y="0"/>
                      <a:pt x="5105" y="0"/>
                      <a:pt x="5010" y="95"/>
                    </a:cubicBezTo>
                    <a:lnTo>
                      <a:pt x="1519" y="3586"/>
                    </a:lnTo>
                    <a:lnTo>
                      <a:pt x="647" y="3586"/>
                    </a:lnTo>
                    <a:cubicBezTo>
                      <a:pt x="290" y="3586"/>
                      <a:pt x="0" y="3876"/>
                      <a:pt x="0" y="4234"/>
                    </a:cubicBezTo>
                    <a:lnTo>
                      <a:pt x="0" y="9739"/>
                    </a:lnTo>
                    <a:cubicBezTo>
                      <a:pt x="0" y="10096"/>
                      <a:pt x="290" y="10386"/>
                      <a:pt x="647" y="10386"/>
                    </a:cubicBezTo>
                    <a:lnTo>
                      <a:pt x="9715" y="10386"/>
                    </a:lnTo>
                    <a:cubicBezTo>
                      <a:pt x="10072" y="10386"/>
                      <a:pt x="10362" y="10096"/>
                      <a:pt x="10362" y="9739"/>
                    </a:cubicBezTo>
                    <a:lnTo>
                      <a:pt x="10362" y="4234"/>
                    </a:lnTo>
                    <a:cubicBezTo>
                      <a:pt x="10362" y="3876"/>
                      <a:pt x="10072" y="3586"/>
                      <a:pt x="9715" y="3586"/>
                    </a:cubicBezTo>
                    <a:close/>
                    <a:moveTo>
                      <a:pt x="5181" y="610"/>
                    </a:moveTo>
                    <a:lnTo>
                      <a:pt x="8157" y="3586"/>
                    </a:lnTo>
                    <a:lnTo>
                      <a:pt x="2206" y="3586"/>
                    </a:lnTo>
                    <a:lnTo>
                      <a:pt x="5181" y="610"/>
                    </a:lnTo>
                    <a:close/>
                    <a:moveTo>
                      <a:pt x="2031" y="9091"/>
                    </a:moveTo>
                    <a:cubicBezTo>
                      <a:pt x="1762" y="9091"/>
                      <a:pt x="1545" y="8874"/>
                      <a:pt x="1545" y="8605"/>
                    </a:cubicBezTo>
                    <a:cubicBezTo>
                      <a:pt x="1545" y="8336"/>
                      <a:pt x="1762" y="8119"/>
                      <a:pt x="2031" y="8119"/>
                    </a:cubicBezTo>
                    <a:cubicBezTo>
                      <a:pt x="2300" y="8119"/>
                      <a:pt x="2517" y="8336"/>
                      <a:pt x="2517" y="8605"/>
                    </a:cubicBezTo>
                    <a:cubicBezTo>
                      <a:pt x="2517" y="8874"/>
                      <a:pt x="2300" y="9091"/>
                      <a:pt x="2031" y="9091"/>
                    </a:cubicBezTo>
                    <a:close/>
                    <a:moveTo>
                      <a:pt x="2031" y="7471"/>
                    </a:moveTo>
                    <a:cubicBezTo>
                      <a:pt x="1762" y="7471"/>
                      <a:pt x="1545" y="7254"/>
                      <a:pt x="1545" y="6985"/>
                    </a:cubicBezTo>
                    <a:cubicBezTo>
                      <a:pt x="1545" y="6716"/>
                      <a:pt x="1762" y="6499"/>
                      <a:pt x="2031" y="6499"/>
                    </a:cubicBezTo>
                    <a:cubicBezTo>
                      <a:pt x="2300" y="6499"/>
                      <a:pt x="2517" y="6716"/>
                      <a:pt x="2517" y="6985"/>
                    </a:cubicBezTo>
                    <a:cubicBezTo>
                      <a:pt x="2517" y="7254"/>
                      <a:pt x="2300" y="7471"/>
                      <a:pt x="2031" y="7471"/>
                    </a:cubicBezTo>
                    <a:close/>
                    <a:moveTo>
                      <a:pt x="2031" y="5852"/>
                    </a:moveTo>
                    <a:cubicBezTo>
                      <a:pt x="1762" y="5852"/>
                      <a:pt x="1545" y="5635"/>
                      <a:pt x="1545" y="5366"/>
                    </a:cubicBezTo>
                    <a:cubicBezTo>
                      <a:pt x="1545" y="5098"/>
                      <a:pt x="1762" y="4880"/>
                      <a:pt x="2031" y="4880"/>
                    </a:cubicBezTo>
                    <a:cubicBezTo>
                      <a:pt x="2300" y="4880"/>
                      <a:pt x="2517" y="5098"/>
                      <a:pt x="2517" y="5366"/>
                    </a:cubicBezTo>
                    <a:cubicBezTo>
                      <a:pt x="2517" y="5635"/>
                      <a:pt x="2300" y="5852"/>
                      <a:pt x="2031" y="5852"/>
                    </a:cubicBezTo>
                    <a:close/>
                    <a:moveTo>
                      <a:pt x="8817" y="8848"/>
                    </a:moveTo>
                    <a:lnTo>
                      <a:pt x="3636" y="8848"/>
                    </a:lnTo>
                    <a:cubicBezTo>
                      <a:pt x="3502" y="8848"/>
                      <a:pt x="3394" y="8739"/>
                      <a:pt x="3394" y="8605"/>
                    </a:cubicBezTo>
                    <a:cubicBezTo>
                      <a:pt x="3394" y="8471"/>
                      <a:pt x="3502" y="8363"/>
                      <a:pt x="3636" y="8363"/>
                    </a:cubicBezTo>
                    <a:lnTo>
                      <a:pt x="8817" y="8363"/>
                    </a:lnTo>
                    <a:cubicBezTo>
                      <a:pt x="8951" y="8363"/>
                      <a:pt x="9060" y="8471"/>
                      <a:pt x="9060" y="8605"/>
                    </a:cubicBezTo>
                    <a:cubicBezTo>
                      <a:pt x="9060" y="8739"/>
                      <a:pt x="8951" y="8848"/>
                      <a:pt x="8817" y="8848"/>
                    </a:cubicBezTo>
                    <a:close/>
                    <a:moveTo>
                      <a:pt x="8817" y="7229"/>
                    </a:moveTo>
                    <a:lnTo>
                      <a:pt x="3636" y="7229"/>
                    </a:lnTo>
                    <a:cubicBezTo>
                      <a:pt x="3502" y="7229"/>
                      <a:pt x="3394" y="7120"/>
                      <a:pt x="3394" y="6986"/>
                    </a:cubicBezTo>
                    <a:cubicBezTo>
                      <a:pt x="3394" y="6853"/>
                      <a:pt x="3502" y="6744"/>
                      <a:pt x="3636" y="6744"/>
                    </a:cubicBezTo>
                    <a:lnTo>
                      <a:pt x="8817" y="6744"/>
                    </a:lnTo>
                    <a:cubicBezTo>
                      <a:pt x="8951" y="6744"/>
                      <a:pt x="9060" y="6853"/>
                      <a:pt x="9060" y="6986"/>
                    </a:cubicBezTo>
                    <a:cubicBezTo>
                      <a:pt x="9060" y="7120"/>
                      <a:pt x="8951" y="7229"/>
                      <a:pt x="8817" y="7229"/>
                    </a:cubicBezTo>
                    <a:close/>
                    <a:moveTo>
                      <a:pt x="8817" y="5610"/>
                    </a:moveTo>
                    <a:lnTo>
                      <a:pt x="3636" y="5610"/>
                    </a:lnTo>
                    <a:cubicBezTo>
                      <a:pt x="3502" y="5610"/>
                      <a:pt x="3394" y="5501"/>
                      <a:pt x="3394" y="5368"/>
                    </a:cubicBezTo>
                    <a:cubicBezTo>
                      <a:pt x="3394" y="5234"/>
                      <a:pt x="3502" y="5125"/>
                      <a:pt x="3636" y="5125"/>
                    </a:cubicBezTo>
                    <a:lnTo>
                      <a:pt x="8817" y="5125"/>
                    </a:lnTo>
                    <a:cubicBezTo>
                      <a:pt x="8951" y="5125"/>
                      <a:pt x="9060" y="5234"/>
                      <a:pt x="9060" y="5368"/>
                    </a:cubicBezTo>
                    <a:cubicBezTo>
                      <a:pt x="9060" y="5501"/>
                      <a:pt x="8951" y="5610"/>
                      <a:pt x="8817" y="56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5054619" y="3005520"/>
              <a:ext cx="6137122" cy="649706"/>
              <a:chOff x="5054619" y="3078396"/>
              <a:chExt cx="6137122" cy="649706"/>
            </a:xfrm>
          </p:grpSpPr>
          <p:sp>
            <p:nvSpPr>
              <p:cNvPr id="38" name="矩形 37"/>
              <p:cNvSpPr/>
              <p:nvPr/>
            </p:nvSpPr>
            <p:spPr>
              <a:xfrm>
                <a:off x="5265495" y="3078396"/>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9" name="矩形 38"/>
              <p:cNvSpPr/>
              <p:nvPr/>
            </p:nvSpPr>
            <p:spPr>
              <a:xfrm>
                <a:off x="6180667" y="3078396"/>
                <a:ext cx="5011074"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40" name="文本框 9"/>
              <p:cNvSpPr txBox="1"/>
              <p:nvPr/>
            </p:nvSpPr>
            <p:spPr>
              <a:xfrm>
                <a:off x="5054619" y="3167390"/>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2.2</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41" name="TextBox 49"/>
              <p:cNvSpPr txBox="1"/>
              <p:nvPr/>
            </p:nvSpPr>
            <p:spPr>
              <a:xfrm>
                <a:off x="6870322" y="3136612"/>
                <a:ext cx="4313782"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400" b="1" spc="600" dirty="0">
                    <a:solidFill>
                      <a:schemeClr val="bg1"/>
                    </a:solidFill>
                    <a:latin typeface="微软雅黑" panose="020B0503020204020204" pitchFamily="34" charset="-122"/>
                    <a:ea typeface="微软雅黑" panose="020B0503020204020204" pitchFamily="34" charset="-122"/>
                  </a:rPr>
                  <a:t>线性表类型的实现</a:t>
                </a:r>
                <a:r>
                  <a:rPr lang="en-US" altLang="zh-CN" sz="2400" b="1" spc="600" dirty="0">
                    <a:solidFill>
                      <a:schemeClr val="bg1"/>
                    </a:solidFill>
                    <a:latin typeface="微软雅黑" panose="020B0503020204020204" pitchFamily="34" charset="-122"/>
                    <a:ea typeface="微软雅黑" panose="020B0503020204020204" pitchFamily="34" charset="-122"/>
                  </a:rPr>
                  <a:t>--</a:t>
                </a:r>
                <a:r>
                  <a:rPr lang="zh-CN" altLang="en-US" sz="2400" b="1" spc="600" dirty="0">
                    <a:solidFill>
                      <a:schemeClr val="bg1"/>
                    </a:solidFill>
                    <a:latin typeface="微软雅黑" panose="020B0503020204020204" pitchFamily="34" charset="-122"/>
                    <a:ea typeface="微软雅黑" panose="020B0503020204020204" pitchFamily="34" charset="-122"/>
                  </a:rPr>
                  <a:t>顺序映象</a:t>
                </a:r>
                <a:endPar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endParaRPr>
              </a:p>
            </p:txBody>
          </p:sp>
          <p:sp>
            <p:nvSpPr>
              <p:cNvPr id="81" name="progress-report_18229"/>
              <p:cNvSpPr/>
              <p:nvPr/>
            </p:nvSpPr>
            <p:spPr>
              <a:xfrm>
                <a:off x="6395928" y="3167390"/>
                <a:ext cx="474393" cy="453283"/>
              </a:xfrm>
              <a:custGeom>
                <a:avLst/>
                <a:gdLst>
                  <a:gd name="T0" fmla="*/ 12774 w 12774"/>
                  <a:gd name="T1" fmla="*/ 3193 h 12774"/>
                  <a:gd name="T2" fmla="*/ 9581 w 12774"/>
                  <a:gd name="T3" fmla="*/ 0 h 12774"/>
                  <a:gd name="T4" fmla="*/ 6387 w 12774"/>
                  <a:gd name="T5" fmla="*/ 3193 h 12774"/>
                  <a:gd name="T6" fmla="*/ 3193 w 12774"/>
                  <a:gd name="T7" fmla="*/ 0 h 12774"/>
                  <a:gd name="T8" fmla="*/ 0 w 12774"/>
                  <a:gd name="T9" fmla="*/ 3193 h 12774"/>
                  <a:gd name="T10" fmla="*/ 3193 w 12774"/>
                  <a:gd name="T11" fmla="*/ 6387 h 12774"/>
                  <a:gd name="T12" fmla="*/ 0 w 12774"/>
                  <a:gd name="T13" fmla="*/ 9581 h 12774"/>
                  <a:gd name="T14" fmla="*/ 0 w 12774"/>
                  <a:gd name="T15" fmla="*/ 12774 h 12774"/>
                  <a:gd name="T16" fmla="*/ 3193 w 12774"/>
                  <a:gd name="T17" fmla="*/ 12774 h 12774"/>
                  <a:gd name="T18" fmla="*/ 6387 w 12774"/>
                  <a:gd name="T19" fmla="*/ 9581 h 12774"/>
                  <a:gd name="T20" fmla="*/ 9581 w 12774"/>
                  <a:gd name="T21" fmla="*/ 12774 h 12774"/>
                  <a:gd name="T22" fmla="*/ 12774 w 12774"/>
                  <a:gd name="T23" fmla="*/ 9581 h 12774"/>
                  <a:gd name="T24" fmla="*/ 9581 w 12774"/>
                  <a:gd name="T25" fmla="*/ 6387 h 12774"/>
                  <a:gd name="T26" fmla="*/ 12774 w 12774"/>
                  <a:gd name="T27" fmla="*/ 3193 h 12774"/>
                  <a:gd name="T28" fmla="*/ 3273 w 12774"/>
                  <a:gd name="T29" fmla="*/ 5349 h 12774"/>
                  <a:gd name="T30" fmla="*/ 4630 w 12774"/>
                  <a:gd name="T31" fmla="*/ 3992 h 12774"/>
                  <a:gd name="T32" fmla="*/ 4072 w 12774"/>
                  <a:gd name="T33" fmla="*/ 3433 h 12774"/>
                  <a:gd name="T34" fmla="*/ 2714 w 12774"/>
                  <a:gd name="T35" fmla="*/ 4790 h 12774"/>
                  <a:gd name="T36" fmla="*/ 2235 w 12774"/>
                  <a:gd name="T37" fmla="*/ 4311 h 12774"/>
                  <a:gd name="T38" fmla="*/ 3673 w 12774"/>
                  <a:gd name="T39" fmla="*/ 2875 h 12774"/>
                  <a:gd name="T40" fmla="*/ 3033 w 12774"/>
                  <a:gd name="T41" fmla="*/ 2315 h 12774"/>
                  <a:gd name="T42" fmla="*/ 1677 w 12774"/>
                  <a:gd name="T43" fmla="*/ 3753 h 12774"/>
                  <a:gd name="T44" fmla="*/ 1117 w 12774"/>
                  <a:gd name="T45" fmla="*/ 3194 h 12774"/>
                  <a:gd name="T46" fmla="*/ 3193 w 12774"/>
                  <a:gd name="T47" fmla="*/ 1118 h 12774"/>
                  <a:gd name="T48" fmla="*/ 5827 w 12774"/>
                  <a:gd name="T49" fmla="*/ 3752 h 12774"/>
                  <a:gd name="T50" fmla="*/ 3752 w 12774"/>
                  <a:gd name="T51" fmla="*/ 5828 h 12774"/>
                  <a:gd name="T52" fmla="*/ 3273 w 12774"/>
                  <a:gd name="T53" fmla="*/ 5349 h 12774"/>
                  <a:gd name="T54" fmla="*/ 798 w 12774"/>
                  <a:gd name="T55" fmla="*/ 11976 h 12774"/>
                  <a:gd name="T56" fmla="*/ 798 w 12774"/>
                  <a:gd name="T57" fmla="*/ 10379 h 12774"/>
                  <a:gd name="T58" fmla="*/ 2395 w 12774"/>
                  <a:gd name="T59" fmla="*/ 11976 h 12774"/>
                  <a:gd name="T60" fmla="*/ 798 w 12774"/>
                  <a:gd name="T61" fmla="*/ 11976 h 12774"/>
                  <a:gd name="T62" fmla="*/ 3193 w 12774"/>
                  <a:gd name="T63" fmla="*/ 11657 h 12774"/>
                  <a:gd name="T64" fmla="*/ 1117 w 12774"/>
                  <a:gd name="T65" fmla="*/ 9581 h 12774"/>
                  <a:gd name="T66" fmla="*/ 9581 w 12774"/>
                  <a:gd name="T67" fmla="*/ 1117 h 12774"/>
                  <a:gd name="T68" fmla="*/ 11657 w 12774"/>
                  <a:gd name="T69" fmla="*/ 3193 h 12774"/>
                  <a:gd name="T70" fmla="*/ 3193 w 12774"/>
                  <a:gd name="T71" fmla="*/ 11657 h 12774"/>
                  <a:gd name="T72" fmla="*/ 11657 w 12774"/>
                  <a:gd name="T73" fmla="*/ 9581 h 12774"/>
                  <a:gd name="T74" fmla="*/ 9581 w 12774"/>
                  <a:gd name="T75" fmla="*/ 11657 h 12774"/>
                  <a:gd name="T76" fmla="*/ 9022 w 12774"/>
                  <a:gd name="T77" fmla="*/ 11097 h 12774"/>
                  <a:gd name="T78" fmla="*/ 10459 w 12774"/>
                  <a:gd name="T79" fmla="*/ 9661 h 12774"/>
                  <a:gd name="T80" fmla="*/ 9900 w 12774"/>
                  <a:gd name="T81" fmla="*/ 9101 h 12774"/>
                  <a:gd name="T82" fmla="*/ 8463 w 12774"/>
                  <a:gd name="T83" fmla="*/ 10539 h 12774"/>
                  <a:gd name="T84" fmla="*/ 7984 w 12774"/>
                  <a:gd name="T85" fmla="*/ 10060 h 12774"/>
                  <a:gd name="T86" fmla="*/ 9421 w 12774"/>
                  <a:gd name="T87" fmla="*/ 8623 h 12774"/>
                  <a:gd name="T88" fmla="*/ 8782 w 12774"/>
                  <a:gd name="T89" fmla="*/ 8063 h 12774"/>
                  <a:gd name="T90" fmla="*/ 7345 w 12774"/>
                  <a:gd name="T91" fmla="*/ 9501 h 12774"/>
                  <a:gd name="T92" fmla="*/ 6865 w 12774"/>
                  <a:gd name="T93" fmla="*/ 9022 h 12774"/>
                  <a:gd name="T94" fmla="*/ 8942 w 12774"/>
                  <a:gd name="T95" fmla="*/ 6946 h 12774"/>
                  <a:gd name="T96" fmla="*/ 11657 w 12774"/>
                  <a:gd name="T97" fmla="*/ 9581 h 12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74" h="12774">
                    <a:moveTo>
                      <a:pt x="12774" y="3193"/>
                    </a:moveTo>
                    <a:lnTo>
                      <a:pt x="9581" y="0"/>
                    </a:lnTo>
                    <a:lnTo>
                      <a:pt x="6387" y="3193"/>
                    </a:lnTo>
                    <a:lnTo>
                      <a:pt x="3193" y="0"/>
                    </a:lnTo>
                    <a:lnTo>
                      <a:pt x="0" y="3193"/>
                    </a:lnTo>
                    <a:lnTo>
                      <a:pt x="3193" y="6387"/>
                    </a:lnTo>
                    <a:lnTo>
                      <a:pt x="0" y="9581"/>
                    </a:lnTo>
                    <a:lnTo>
                      <a:pt x="0" y="12774"/>
                    </a:lnTo>
                    <a:lnTo>
                      <a:pt x="3193" y="12774"/>
                    </a:lnTo>
                    <a:lnTo>
                      <a:pt x="6387" y="9581"/>
                    </a:lnTo>
                    <a:lnTo>
                      <a:pt x="9581" y="12774"/>
                    </a:lnTo>
                    <a:lnTo>
                      <a:pt x="12774" y="9581"/>
                    </a:lnTo>
                    <a:lnTo>
                      <a:pt x="9581" y="6387"/>
                    </a:lnTo>
                    <a:lnTo>
                      <a:pt x="12774" y="3193"/>
                    </a:lnTo>
                    <a:close/>
                    <a:moveTo>
                      <a:pt x="3273" y="5349"/>
                    </a:moveTo>
                    <a:lnTo>
                      <a:pt x="4630" y="3992"/>
                    </a:lnTo>
                    <a:lnTo>
                      <a:pt x="4072" y="3433"/>
                    </a:lnTo>
                    <a:lnTo>
                      <a:pt x="2714" y="4790"/>
                    </a:lnTo>
                    <a:lnTo>
                      <a:pt x="2235" y="4311"/>
                    </a:lnTo>
                    <a:lnTo>
                      <a:pt x="3673" y="2875"/>
                    </a:lnTo>
                    <a:lnTo>
                      <a:pt x="3033" y="2315"/>
                    </a:lnTo>
                    <a:lnTo>
                      <a:pt x="1677" y="3753"/>
                    </a:lnTo>
                    <a:lnTo>
                      <a:pt x="1117" y="3194"/>
                    </a:lnTo>
                    <a:lnTo>
                      <a:pt x="3193" y="1118"/>
                    </a:lnTo>
                    <a:lnTo>
                      <a:pt x="5827" y="3752"/>
                    </a:lnTo>
                    <a:lnTo>
                      <a:pt x="3752" y="5828"/>
                    </a:lnTo>
                    <a:lnTo>
                      <a:pt x="3273" y="5349"/>
                    </a:lnTo>
                    <a:close/>
                    <a:moveTo>
                      <a:pt x="798" y="11976"/>
                    </a:moveTo>
                    <a:lnTo>
                      <a:pt x="798" y="10379"/>
                    </a:lnTo>
                    <a:lnTo>
                      <a:pt x="2395" y="11976"/>
                    </a:lnTo>
                    <a:lnTo>
                      <a:pt x="798" y="11976"/>
                    </a:lnTo>
                    <a:close/>
                    <a:moveTo>
                      <a:pt x="3193" y="11657"/>
                    </a:moveTo>
                    <a:lnTo>
                      <a:pt x="1117" y="9581"/>
                    </a:lnTo>
                    <a:lnTo>
                      <a:pt x="9581" y="1117"/>
                    </a:lnTo>
                    <a:lnTo>
                      <a:pt x="11657" y="3193"/>
                    </a:lnTo>
                    <a:lnTo>
                      <a:pt x="3193" y="11657"/>
                    </a:lnTo>
                    <a:close/>
                    <a:moveTo>
                      <a:pt x="11657" y="9581"/>
                    </a:moveTo>
                    <a:lnTo>
                      <a:pt x="9581" y="11657"/>
                    </a:lnTo>
                    <a:lnTo>
                      <a:pt x="9022" y="11097"/>
                    </a:lnTo>
                    <a:lnTo>
                      <a:pt x="10459" y="9661"/>
                    </a:lnTo>
                    <a:lnTo>
                      <a:pt x="9900" y="9101"/>
                    </a:lnTo>
                    <a:lnTo>
                      <a:pt x="8463" y="10539"/>
                    </a:lnTo>
                    <a:lnTo>
                      <a:pt x="7984" y="10060"/>
                    </a:lnTo>
                    <a:lnTo>
                      <a:pt x="9421" y="8623"/>
                    </a:lnTo>
                    <a:lnTo>
                      <a:pt x="8782" y="8063"/>
                    </a:lnTo>
                    <a:lnTo>
                      <a:pt x="7345" y="9501"/>
                    </a:lnTo>
                    <a:lnTo>
                      <a:pt x="6865" y="9022"/>
                    </a:lnTo>
                    <a:lnTo>
                      <a:pt x="8942" y="6946"/>
                    </a:lnTo>
                    <a:lnTo>
                      <a:pt x="11657" y="958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5054619" y="5010474"/>
              <a:ext cx="6137122" cy="649706"/>
              <a:chOff x="5054619" y="5010474"/>
              <a:chExt cx="6137122" cy="649706"/>
            </a:xfrm>
          </p:grpSpPr>
          <p:sp>
            <p:nvSpPr>
              <p:cNvPr id="74" name="矩形 73"/>
              <p:cNvSpPr/>
              <p:nvPr/>
            </p:nvSpPr>
            <p:spPr>
              <a:xfrm>
                <a:off x="5265495" y="501047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5" name="矩形 74"/>
              <p:cNvSpPr/>
              <p:nvPr/>
            </p:nvSpPr>
            <p:spPr>
              <a:xfrm>
                <a:off x="6180667" y="5010474"/>
                <a:ext cx="5011074"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6" name="文本框 9"/>
              <p:cNvSpPr txBox="1"/>
              <p:nvPr/>
            </p:nvSpPr>
            <p:spPr>
              <a:xfrm>
                <a:off x="5054619" y="509946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2.4</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77" name="TextBox 49"/>
              <p:cNvSpPr txBox="1"/>
              <p:nvPr/>
            </p:nvSpPr>
            <p:spPr>
              <a:xfrm>
                <a:off x="6921580" y="5130245"/>
                <a:ext cx="2654770"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rPr>
                  <a:t>线性表的应用</a:t>
                </a:r>
                <a:endPar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endParaRPr>
              </a:p>
            </p:txBody>
          </p:sp>
          <p:sp>
            <p:nvSpPr>
              <p:cNvPr id="78" name="progress-report_18229"/>
              <p:cNvSpPr/>
              <p:nvPr/>
            </p:nvSpPr>
            <p:spPr>
              <a:xfrm>
                <a:off x="6308838" y="5099468"/>
                <a:ext cx="452134" cy="453283"/>
              </a:xfrm>
              <a:custGeom>
                <a:avLst/>
                <a:gdLst>
                  <a:gd name="T0" fmla="*/ 4155 w 4907"/>
                  <a:gd name="T1" fmla="*/ 2163 h 5157"/>
                  <a:gd name="T2" fmla="*/ 4086 w 4907"/>
                  <a:gd name="T3" fmla="*/ 2978 h 5157"/>
                  <a:gd name="T4" fmla="*/ 4651 w 4907"/>
                  <a:gd name="T5" fmla="*/ 2978 h 5157"/>
                  <a:gd name="T6" fmla="*/ 4411 w 4907"/>
                  <a:gd name="T7" fmla="*/ 2858 h 5157"/>
                  <a:gd name="T8" fmla="*/ 4139 w 4907"/>
                  <a:gd name="T9" fmla="*/ 1926 h 5157"/>
                  <a:gd name="T10" fmla="*/ 4005 w 4907"/>
                  <a:gd name="T11" fmla="*/ 1663 h 5157"/>
                  <a:gd name="T12" fmla="*/ 2710 w 4907"/>
                  <a:gd name="T13" fmla="*/ 1831 h 5157"/>
                  <a:gd name="T14" fmla="*/ 2210 w 4907"/>
                  <a:gd name="T15" fmla="*/ 1571 h 5157"/>
                  <a:gd name="T16" fmla="*/ 2210 w 4907"/>
                  <a:gd name="T17" fmla="*/ 1571 h 5157"/>
                  <a:gd name="T18" fmla="*/ 4000 w 4907"/>
                  <a:gd name="T19" fmla="*/ 2493 h 5157"/>
                  <a:gd name="T20" fmla="*/ 4227 w 4907"/>
                  <a:gd name="T21" fmla="*/ 2602 h 5157"/>
                  <a:gd name="T22" fmla="*/ 1129 w 4907"/>
                  <a:gd name="T23" fmla="*/ 240 h 5157"/>
                  <a:gd name="T24" fmla="*/ 1841 w 4907"/>
                  <a:gd name="T25" fmla="*/ 252 h 5157"/>
                  <a:gd name="T26" fmla="*/ 1353 w 4907"/>
                  <a:gd name="T27" fmla="*/ 2236 h 5157"/>
                  <a:gd name="T28" fmla="*/ 3037 w 4907"/>
                  <a:gd name="T29" fmla="*/ 4917 h 5157"/>
                  <a:gd name="T30" fmla="*/ 2227 w 4907"/>
                  <a:gd name="T31" fmla="*/ 2810 h 5157"/>
                  <a:gd name="T32" fmla="*/ 2148 w 4907"/>
                  <a:gd name="T33" fmla="*/ 2530 h 5157"/>
                  <a:gd name="T34" fmla="*/ 2032 w 4907"/>
                  <a:gd name="T35" fmla="*/ 2549 h 5157"/>
                  <a:gd name="T36" fmla="*/ 1987 w 4907"/>
                  <a:gd name="T37" fmla="*/ 3806 h 5157"/>
                  <a:gd name="T38" fmla="*/ 1997 w 4907"/>
                  <a:gd name="T39" fmla="*/ 3855 h 5157"/>
                  <a:gd name="T40" fmla="*/ 1997 w 4907"/>
                  <a:gd name="T41" fmla="*/ 3856 h 5157"/>
                  <a:gd name="T42" fmla="*/ 1997 w 4907"/>
                  <a:gd name="T43" fmla="*/ 3857 h 5157"/>
                  <a:gd name="T44" fmla="*/ 1998 w 4907"/>
                  <a:gd name="T45" fmla="*/ 3857 h 5157"/>
                  <a:gd name="T46" fmla="*/ 1998 w 4907"/>
                  <a:gd name="T47" fmla="*/ 3858 h 5157"/>
                  <a:gd name="T48" fmla="*/ 1999 w 4907"/>
                  <a:gd name="T49" fmla="*/ 3859 h 5157"/>
                  <a:gd name="T50" fmla="*/ 1999 w 4907"/>
                  <a:gd name="T51" fmla="*/ 3860 h 5157"/>
                  <a:gd name="T52" fmla="*/ 1999 w 4907"/>
                  <a:gd name="T53" fmla="*/ 3860 h 5157"/>
                  <a:gd name="T54" fmla="*/ 2000 w 4907"/>
                  <a:gd name="T55" fmla="*/ 3861 h 5157"/>
                  <a:gd name="T56" fmla="*/ 2013 w 4907"/>
                  <a:gd name="T57" fmla="*/ 3882 h 5157"/>
                  <a:gd name="T58" fmla="*/ 2014 w 4907"/>
                  <a:gd name="T59" fmla="*/ 3883 h 5157"/>
                  <a:gd name="T60" fmla="*/ 2014 w 4907"/>
                  <a:gd name="T61" fmla="*/ 3883 h 5157"/>
                  <a:gd name="T62" fmla="*/ 2015 w 4907"/>
                  <a:gd name="T63" fmla="*/ 3884 h 5157"/>
                  <a:gd name="T64" fmla="*/ 2015 w 4907"/>
                  <a:gd name="T65" fmla="*/ 3884 h 5157"/>
                  <a:gd name="T66" fmla="*/ 2016 w 4907"/>
                  <a:gd name="T67" fmla="*/ 3885 h 5157"/>
                  <a:gd name="T68" fmla="*/ 2016 w 4907"/>
                  <a:gd name="T69" fmla="*/ 3886 h 5157"/>
                  <a:gd name="T70" fmla="*/ 2017 w 4907"/>
                  <a:gd name="T71" fmla="*/ 3886 h 5157"/>
                  <a:gd name="T72" fmla="*/ 2017 w 4907"/>
                  <a:gd name="T73" fmla="*/ 3887 h 5157"/>
                  <a:gd name="T74" fmla="*/ 2018 w 4907"/>
                  <a:gd name="T75" fmla="*/ 3887 h 5157"/>
                  <a:gd name="T76" fmla="*/ 2018 w 4907"/>
                  <a:gd name="T77" fmla="*/ 3888 h 5157"/>
                  <a:gd name="T78" fmla="*/ 2019 w 4907"/>
                  <a:gd name="T79" fmla="*/ 3888 h 5157"/>
                  <a:gd name="T80" fmla="*/ 2797 w 4907"/>
                  <a:gd name="T81" fmla="*/ 3929 h 5157"/>
                  <a:gd name="T82" fmla="*/ 2917 w 4907"/>
                  <a:gd name="T83" fmla="*/ 5157 h 5157"/>
                  <a:gd name="T84" fmla="*/ 3241 w 4907"/>
                  <a:gd name="T85" fmla="*/ 4917 h 5157"/>
                  <a:gd name="T86" fmla="*/ 2952 w 4907"/>
                  <a:gd name="T87" fmla="*/ 3366 h 5157"/>
                  <a:gd name="T88" fmla="*/ 4253 w 4907"/>
                  <a:gd name="T89" fmla="*/ 4917 h 5157"/>
                  <a:gd name="T90" fmla="*/ 4907 w 4907"/>
                  <a:gd name="T91" fmla="*/ 5037 h 5157"/>
                  <a:gd name="T92" fmla="*/ 4907 w 4907"/>
                  <a:gd name="T93" fmla="*/ 3366 h 5157"/>
                  <a:gd name="T94" fmla="*/ 1774 w 4907"/>
                  <a:gd name="T95" fmla="*/ 3021 h 5157"/>
                  <a:gd name="T96" fmla="*/ 1534 w 4907"/>
                  <a:gd name="T97" fmla="*/ 4238 h 5157"/>
                  <a:gd name="T98" fmla="*/ 1774 w 4907"/>
                  <a:gd name="T99" fmla="*/ 4358 h 5157"/>
                  <a:gd name="T100" fmla="*/ 2567 w 4907"/>
                  <a:gd name="T101" fmla="*/ 5037 h 5157"/>
                  <a:gd name="T102" fmla="*/ 1414 w 4907"/>
                  <a:gd name="T103" fmla="*/ 1584 h 5157"/>
                  <a:gd name="T104" fmla="*/ 1129 w 4907"/>
                  <a:gd name="T105" fmla="*/ 1772 h 5157"/>
                  <a:gd name="T106" fmla="*/ 845 w 4907"/>
                  <a:gd name="T107" fmla="*/ 1584 h 5157"/>
                  <a:gd name="T108" fmla="*/ 744 w 4907"/>
                  <a:gd name="T109" fmla="*/ 1249 h 5157"/>
                  <a:gd name="T110" fmla="*/ 744 w 4907"/>
                  <a:gd name="T111" fmla="*/ 1009 h 5157"/>
                  <a:gd name="T112" fmla="*/ 845 w 4907"/>
                  <a:gd name="T113" fmla="*/ 675 h 5157"/>
                  <a:gd name="T114" fmla="*/ 1129 w 4907"/>
                  <a:gd name="T115" fmla="*/ 486 h 5157"/>
                  <a:gd name="T116" fmla="*/ 1414 w 4907"/>
                  <a:gd name="T117" fmla="*/ 675 h 5157"/>
                  <a:gd name="T118" fmla="*/ 1515 w 4907"/>
                  <a:gd name="T119" fmla="*/ 1009 h 5157"/>
                  <a:gd name="T120" fmla="*/ 1515 w 4907"/>
                  <a:gd name="T121" fmla="*/ 1249 h 5157"/>
                  <a:gd name="T122" fmla="*/ 1293 w 4907"/>
                  <a:gd name="T123" fmla="*/ 1129 h 5157"/>
                  <a:gd name="T124" fmla="*/ 1293 w 4907"/>
                  <a:gd name="T125" fmla="*/ 1129 h 5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07" h="5157">
                    <a:moveTo>
                      <a:pt x="3676" y="2163"/>
                    </a:moveTo>
                    <a:cubicBezTo>
                      <a:pt x="3676" y="2096"/>
                      <a:pt x="3730" y="2043"/>
                      <a:pt x="3796" y="2043"/>
                    </a:cubicBezTo>
                    <a:lnTo>
                      <a:pt x="4035" y="2043"/>
                    </a:lnTo>
                    <a:cubicBezTo>
                      <a:pt x="4102" y="2043"/>
                      <a:pt x="4155" y="2096"/>
                      <a:pt x="4155" y="2163"/>
                    </a:cubicBezTo>
                    <a:cubicBezTo>
                      <a:pt x="4155" y="2229"/>
                      <a:pt x="4102" y="2283"/>
                      <a:pt x="4035" y="2283"/>
                    </a:cubicBezTo>
                    <a:lnTo>
                      <a:pt x="3796" y="2283"/>
                    </a:lnTo>
                    <a:cubicBezTo>
                      <a:pt x="3730" y="2283"/>
                      <a:pt x="3676" y="2229"/>
                      <a:pt x="3676" y="2163"/>
                    </a:cubicBezTo>
                    <a:close/>
                    <a:moveTo>
                      <a:pt x="4086" y="2978"/>
                    </a:moveTo>
                    <a:cubicBezTo>
                      <a:pt x="4086" y="3045"/>
                      <a:pt x="4140" y="3098"/>
                      <a:pt x="4206" y="3098"/>
                    </a:cubicBezTo>
                    <a:lnTo>
                      <a:pt x="4528" y="3098"/>
                    </a:lnTo>
                    <a:cubicBezTo>
                      <a:pt x="4529" y="3098"/>
                      <a:pt x="4530" y="3098"/>
                      <a:pt x="4531" y="3098"/>
                    </a:cubicBezTo>
                    <a:cubicBezTo>
                      <a:pt x="4597" y="3098"/>
                      <a:pt x="4651" y="3045"/>
                      <a:pt x="4651" y="2978"/>
                    </a:cubicBezTo>
                    <a:lnTo>
                      <a:pt x="4651" y="1751"/>
                    </a:lnTo>
                    <a:cubicBezTo>
                      <a:pt x="4651" y="1684"/>
                      <a:pt x="4597" y="1631"/>
                      <a:pt x="4531" y="1631"/>
                    </a:cubicBezTo>
                    <a:cubicBezTo>
                      <a:pt x="4464" y="1631"/>
                      <a:pt x="4411" y="1684"/>
                      <a:pt x="4411" y="1751"/>
                    </a:cubicBezTo>
                    <a:lnTo>
                      <a:pt x="4411" y="2858"/>
                    </a:lnTo>
                    <a:lnTo>
                      <a:pt x="4206" y="2858"/>
                    </a:lnTo>
                    <a:cubicBezTo>
                      <a:pt x="4140" y="2858"/>
                      <a:pt x="4086" y="2912"/>
                      <a:pt x="4086" y="2978"/>
                    </a:cubicBezTo>
                    <a:close/>
                    <a:moveTo>
                      <a:pt x="4052" y="1888"/>
                    </a:moveTo>
                    <a:cubicBezTo>
                      <a:pt x="4076" y="1913"/>
                      <a:pt x="4107" y="1926"/>
                      <a:pt x="4139" y="1926"/>
                    </a:cubicBezTo>
                    <a:cubicBezTo>
                      <a:pt x="4169" y="1926"/>
                      <a:pt x="4198" y="1915"/>
                      <a:pt x="4222" y="1893"/>
                    </a:cubicBezTo>
                    <a:cubicBezTo>
                      <a:pt x="4270" y="1847"/>
                      <a:pt x="4272" y="1771"/>
                      <a:pt x="4227" y="1723"/>
                    </a:cubicBezTo>
                    <a:lnTo>
                      <a:pt x="4175" y="1668"/>
                    </a:lnTo>
                    <a:cubicBezTo>
                      <a:pt x="4129" y="1620"/>
                      <a:pt x="4053" y="1618"/>
                      <a:pt x="4005" y="1663"/>
                    </a:cubicBezTo>
                    <a:cubicBezTo>
                      <a:pt x="3957" y="1709"/>
                      <a:pt x="3955" y="1785"/>
                      <a:pt x="4000" y="1833"/>
                    </a:cubicBezTo>
                    <a:lnTo>
                      <a:pt x="4052" y="1888"/>
                    </a:lnTo>
                    <a:close/>
                    <a:moveTo>
                      <a:pt x="2210" y="1331"/>
                    </a:moveTo>
                    <a:cubicBezTo>
                      <a:pt x="2486" y="1331"/>
                      <a:pt x="2710" y="1555"/>
                      <a:pt x="2710" y="1831"/>
                    </a:cubicBezTo>
                    <a:cubicBezTo>
                      <a:pt x="2710" y="2107"/>
                      <a:pt x="2486" y="2331"/>
                      <a:pt x="2210" y="2331"/>
                    </a:cubicBezTo>
                    <a:cubicBezTo>
                      <a:pt x="1934" y="2331"/>
                      <a:pt x="1710" y="2107"/>
                      <a:pt x="1710" y="1831"/>
                    </a:cubicBezTo>
                    <a:cubicBezTo>
                      <a:pt x="1710" y="1555"/>
                      <a:pt x="1934" y="1331"/>
                      <a:pt x="2210" y="1331"/>
                    </a:cubicBezTo>
                    <a:close/>
                    <a:moveTo>
                      <a:pt x="2210" y="1571"/>
                    </a:moveTo>
                    <a:cubicBezTo>
                      <a:pt x="2066" y="1571"/>
                      <a:pt x="1950" y="1687"/>
                      <a:pt x="1950" y="1831"/>
                    </a:cubicBezTo>
                    <a:cubicBezTo>
                      <a:pt x="1950" y="1975"/>
                      <a:pt x="2066" y="2091"/>
                      <a:pt x="2210" y="2091"/>
                    </a:cubicBezTo>
                    <a:cubicBezTo>
                      <a:pt x="2354" y="2091"/>
                      <a:pt x="2470" y="1975"/>
                      <a:pt x="2470" y="1831"/>
                    </a:cubicBezTo>
                    <a:cubicBezTo>
                      <a:pt x="2470" y="1687"/>
                      <a:pt x="2354" y="1571"/>
                      <a:pt x="2210" y="1571"/>
                    </a:cubicBezTo>
                    <a:close/>
                    <a:moveTo>
                      <a:pt x="4227" y="2602"/>
                    </a:moveTo>
                    <a:cubicBezTo>
                      <a:pt x="4272" y="2554"/>
                      <a:pt x="4270" y="2478"/>
                      <a:pt x="4222" y="2433"/>
                    </a:cubicBezTo>
                    <a:cubicBezTo>
                      <a:pt x="4173" y="2387"/>
                      <a:pt x="4098" y="2389"/>
                      <a:pt x="4052" y="2437"/>
                    </a:cubicBezTo>
                    <a:lnTo>
                      <a:pt x="4000" y="2493"/>
                    </a:lnTo>
                    <a:cubicBezTo>
                      <a:pt x="3955" y="2541"/>
                      <a:pt x="3957" y="2617"/>
                      <a:pt x="4005" y="2662"/>
                    </a:cubicBezTo>
                    <a:cubicBezTo>
                      <a:pt x="4028" y="2684"/>
                      <a:pt x="4058" y="2695"/>
                      <a:pt x="4087" y="2695"/>
                    </a:cubicBezTo>
                    <a:cubicBezTo>
                      <a:pt x="4119" y="2695"/>
                      <a:pt x="4151" y="2682"/>
                      <a:pt x="4175" y="2657"/>
                    </a:cubicBezTo>
                    <a:lnTo>
                      <a:pt x="4227" y="2602"/>
                    </a:lnTo>
                    <a:close/>
                    <a:moveTo>
                      <a:pt x="1306" y="2001"/>
                    </a:moveTo>
                    <a:cubicBezTo>
                      <a:pt x="1248" y="2012"/>
                      <a:pt x="1189" y="2018"/>
                      <a:pt x="1129" y="2018"/>
                    </a:cubicBezTo>
                    <a:cubicBezTo>
                      <a:pt x="639" y="2018"/>
                      <a:pt x="240" y="1619"/>
                      <a:pt x="240" y="1129"/>
                    </a:cubicBezTo>
                    <a:cubicBezTo>
                      <a:pt x="240" y="639"/>
                      <a:pt x="639" y="240"/>
                      <a:pt x="1129" y="240"/>
                    </a:cubicBezTo>
                    <a:cubicBezTo>
                      <a:pt x="1543" y="240"/>
                      <a:pt x="1908" y="533"/>
                      <a:pt x="1997" y="936"/>
                    </a:cubicBezTo>
                    <a:cubicBezTo>
                      <a:pt x="2012" y="1001"/>
                      <a:pt x="2076" y="1041"/>
                      <a:pt x="2140" y="1027"/>
                    </a:cubicBezTo>
                    <a:cubicBezTo>
                      <a:pt x="2205" y="1013"/>
                      <a:pt x="2246" y="949"/>
                      <a:pt x="2232" y="884"/>
                    </a:cubicBezTo>
                    <a:cubicBezTo>
                      <a:pt x="2177" y="637"/>
                      <a:pt x="2038" y="413"/>
                      <a:pt x="1841" y="252"/>
                    </a:cubicBezTo>
                    <a:cubicBezTo>
                      <a:pt x="1640" y="90"/>
                      <a:pt x="1388" y="0"/>
                      <a:pt x="1129" y="0"/>
                    </a:cubicBezTo>
                    <a:cubicBezTo>
                      <a:pt x="507" y="0"/>
                      <a:pt x="0" y="507"/>
                      <a:pt x="0" y="1129"/>
                    </a:cubicBezTo>
                    <a:cubicBezTo>
                      <a:pt x="0" y="1752"/>
                      <a:pt x="507" y="2258"/>
                      <a:pt x="1129" y="2258"/>
                    </a:cubicBezTo>
                    <a:cubicBezTo>
                      <a:pt x="1205" y="2258"/>
                      <a:pt x="1280" y="2251"/>
                      <a:pt x="1353" y="2236"/>
                    </a:cubicBezTo>
                    <a:cubicBezTo>
                      <a:pt x="1418" y="2223"/>
                      <a:pt x="1460" y="2160"/>
                      <a:pt x="1447" y="2095"/>
                    </a:cubicBezTo>
                    <a:cubicBezTo>
                      <a:pt x="1434" y="2030"/>
                      <a:pt x="1371" y="1988"/>
                      <a:pt x="1306" y="2001"/>
                    </a:cubicBezTo>
                    <a:close/>
                    <a:moveTo>
                      <a:pt x="3241" y="4917"/>
                    </a:moveTo>
                    <a:lnTo>
                      <a:pt x="3037" y="4917"/>
                    </a:lnTo>
                    <a:lnTo>
                      <a:pt x="3037" y="3810"/>
                    </a:lnTo>
                    <a:cubicBezTo>
                      <a:pt x="3037" y="3743"/>
                      <a:pt x="2983" y="3690"/>
                      <a:pt x="2917" y="3690"/>
                    </a:cubicBezTo>
                    <a:lnTo>
                      <a:pt x="2227" y="3687"/>
                    </a:lnTo>
                    <a:lnTo>
                      <a:pt x="2227" y="2810"/>
                    </a:lnTo>
                    <a:lnTo>
                      <a:pt x="3073" y="3092"/>
                    </a:lnTo>
                    <a:cubicBezTo>
                      <a:pt x="3136" y="3113"/>
                      <a:pt x="3204" y="3079"/>
                      <a:pt x="3225" y="3016"/>
                    </a:cubicBezTo>
                    <a:cubicBezTo>
                      <a:pt x="3246" y="2953"/>
                      <a:pt x="3212" y="2885"/>
                      <a:pt x="3149" y="2864"/>
                    </a:cubicBezTo>
                    <a:lnTo>
                      <a:pt x="2148" y="2530"/>
                    </a:lnTo>
                    <a:cubicBezTo>
                      <a:pt x="2136" y="2526"/>
                      <a:pt x="2122" y="2523"/>
                      <a:pt x="2108" y="2523"/>
                    </a:cubicBezTo>
                    <a:cubicBezTo>
                      <a:pt x="2106" y="2523"/>
                      <a:pt x="2104" y="2523"/>
                      <a:pt x="2102" y="2523"/>
                    </a:cubicBezTo>
                    <a:cubicBezTo>
                      <a:pt x="2102" y="2523"/>
                      <a:pt x="2102" y="2523"/>
                      <a:pt x="2102" y="2523"/>
                    </a:cubicBezTo>
                    <a:cubicBezTo>
                      <a:pt x="2075" y="2524"/>
                      <a:pt x="2051" y="2534"/>
                      <a:pt x="2032" y="2549"/>
                    </a:cubicBezTo>
                    <a:cubicBezTo>
                      <a:pt x="2019" y="2560"/>
                      <a:pt x="2008" y="2573"/>
                      <a:pt x="2000" y="2588"/>
                    </a:cubicBezTo>
                    <a:cubicBezTo>
                      <a:pt x="1995" y="2597"/>
                      <a:pt x="1992" y="2606"/>
                      <a:pt x="1990" y="2616"/>
                    </a:cubicBezTo>
                    <a:cubicBezTo>
                      <a:pt x="1987" y="2626"/>
                      <a:pt x="1986" y="2637"/>
                      <a:pt x="1987" y="2647"/>
                    </a:cubicBezTo>
                    <a:lnTo>
                      <a:pt x="1987" y="3806"/>
                    </a:lnTo>
                    <a:cubicBezTo>
                      <a:pt x="1986" y="3823"/>
                      <a:pt x="1990" y="3840"/>
                      <a:pt x="1997" y="3855"/>
                    </a:cubicBezTo>
                    <a:cubicBezTo>
                      <a:pt x="1997" y="3855"/>
                      <a:pt x="1997" y="3855"/>
                      <a:pt x="1997" y="3855"/>
                    </a:cubicBezTo>
                    <a:cubicBezTo>
                      <a:pt x="1997" y="3855"/>
                      <a:pt x="1997" y="3855"/>
                      <a:pt x="1997" y="3855"/>
                    </a:cubicBezTo>
                    <a:cubicBezTo>
                      <a:pt x="1997" y="3855"/>
                      <a:pt x="1997" y="3855"/>
                      <a:pt x="1997" y="3855"/>
                    </a:cubicBezTo>
                    <a:cubicBezTo>
                      <a:pt x="1997" y="3855"/>
                      <a:pt x="1997" y="3856"/>
                      <a:pt x="1997" y="3856"/>
                    </a:cubicBezTo>
                    <a:cubicBezTo>
                      <a:pt x="1997" y="3856"/>
                      <a:pt x="1997" y="3856"/>
                      <a:pt x="1997" y="3856"/>
                    </a:cubicBezTo>
                    <a:cubicBezTo>
                      <a:pt x="1997" y="3856"/>
                      <a:pt x="1997" y="3856"/>
                      <a:pt x="1997" y="3856"/>
                    </a:cubicBezTo>
                    <a:lnTo>
                      <a:pt x="1997" y="3856"/>
                    </a:lnTo>
                    <a:cubicBezTo>
                      <a:pt x="1997" y="3856"/>
                      <a:pt x="1997" y="3856"/>
                      <a:pt x="1997" y="3856"/>
                    </a:cubicBezTo>
                    <a:lnTo>
                      <a:pt x="1997" y="3856"/>
                    </a:lnTo>
                    <a:lnTo>
                      <a:pt x="1997" y="3857"/>
                    </a:lnTo>
                    <a:cubicBezTo>
                      <a:pt x="1997" y="3857"/>
                      <a:pt x="1997" y="3857"/>
                      <a:pt x="1997" y="3857"/>
                    </a:cubicBezTo>
                    <a:cubicBezTo>
                      <a:pt x="1998" y="3857"/>
                      <a:pt x="1998" y="3857"/>
                      <a:pt x="1998" y="3857"/>
                    </a:cubicBezTo>
                    <a:cubicBezTo>
                      <a:pt x="1998" y="3857"/>
                      <a:pt x="1998" y="3857"/>
                      <a:pt x="1998" y="3857"/>
                    </a:cubicBezTo>
                    <a:cubicBezTo>
                      <a:pt x="1998" y="3857"/>
                      <a:pt x="1998" y="3857"/>
                      <a:pt x="1998" y="3857"/>
                    </a:cubicBezTo>
                    <a:cubicBezTo>
                      <a:pt x="1998" y="3857"/>
                      <a:pt x="1998" y="3857"/>
                      <a:pt x="1998" y="3857"/>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9"/>
                      <a:pt x="1998" y="3859"/>
                      <a:pt x="1998" y="3859"/>
                    </a:cubicBezTo>
                    <a:cubicBezTo>
                      <a:pt x="1998" y="3859"/>
                      <a:pt x="1998" y="3859"/>
                      <a:pt x="1999" y="3859"/>
                    </a:cubicBezTo>
                    <a:cubicBezTo>
                      <a:pt x="1999" y="3859"/>
                      <a:pt x="1999" y="3859"/>
                      <a:pt x="1999" y="3859"/>
                    </a:cubicBezTo>
                    <a:cubicBezTo>
                      <a:pt x="1999" y="3859"/>
                      <a:pt x="1999" y="3859"/>
                      <a:pt x="1999" y="3859"/>
                    </a:cubicBezTo>
                    <a:cubicBezTo>
                      <a:pt x="1999" y="3859"/>
                      <a:pt x="1999" y="3859"/>
                      <a:pt x="1999" y="3859"/>
                    </a:cubicBezTo>
                    <a:cubicBezTo>
                      <a:pt x="1999" y="3859"/>
                      <a:pt x="1999" y="3859"/>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1"/>
                    </a:cubicBezTo>
                    <a:cubicBezTo>
                      <a:pt x="1999" y="3861"/>
                      <a:pt x="1999" y="3861"/>
                      <a:pt x="1999" y="3861"/>
                    </a:cubicBezTo>
                    <a:cubicBezTo>
                      <a:pt x="1999" y="3861"/>
                      <a:pt x="1999" y="3861"/>
                      <a:pt x="2000" y="3861"/>
                    </a:cubicBezTo>
                    <a:cubicBezTo>
                      <a:pt x="2000" y="3861"/>
                      <a:pt x="2000" y="3861"/>
                      <a:pt x="2000" y="3861"/>
                    </a:cubicBezTo>
                    <a:cubicBezTo>
                      <a:pt x="2003" y="3868"/>
                      <a:pt x="2008" y="3876"/>
                      <a:pt x="2013" y="3882"/>
                    </a:cubicBezTo>
                    <a:lnTo>
                      <a:pt x="2013" y="3882"/>
                    </a:lnTo>
                    <a:cubicBezTo>
                      <a:pt x="2013" y="3882"/>
                      <a:pt x="2013" y="3882"/>
                      <a:pt x="2013" y="3882"/>
                    </a:cubicBezTo>
                    <a:lnTo>
                      <a:pt x="2014" y="3882"/>
                    </a:lnTo>
                    <a:lnTo>
                      <a:pt x="2014" y="3883"/>
                    </a:lnTo>
                    <a:lnTo>
                      <a:pt x="2014" y="3883"/>
                    </a:lnTo>
                    <a:cubicBezTo>
                      <a:pt x="2014" y="3883"/>
                      <a:pt x="2014" y="3883"/>
                      <a:pt x="2014" y="3883"/>
                    </a:cubicBezTo>
                    <a:lnTo>
                      <a:pt x="2014" y="3883"/>
                    </a:lnTo>
                    <a:lnTo>
                      <a:pt x="2014" y="3883"/>
                    </a:lnTo>
                    <a:lnTo>
                      <a:pt x="2014" y="3883"/>
                    </a:lnTo>
                    <a:cubicBezTo>
                      <a:pt x="2014" y="3883"/>
                      <a:pt x="2014" y="3883"/>
                      <a:pt x="2014" y="3883"/>
                    </a:cubicBezTo>
                    <a:cubicBezTo>
                      <a:pt x="2014" y="3883"/>
                      <a:pt x="2014" y="3883"/>
                      <a:pt x="2014" y="3883"/>
                    </a:cubicBezTo>
                    <a:cubicBezTo>
                      <a:pt x="2015" y="3884"/>
                      <a:pt x="2015" y="3884"/>
                      <a:pt x="2015" y="3884"/>
                    </a:cubicBezTo>
                    <a:lnTo>
                      <a:pt x="2015" y="3884"/>
                    </a:lnTo>
                    <a:cubicBezTo>
                      <a:pt x="2015" y="3884"/>
                      <a:pt x="2015" y="3884"/>
                      <a:pt x="2015" y="3884"/>
                    </a:cubicBezTo>
                    <a:lnTo>
                      <a:pt x="2015" y="3884"/>
                    </a:lnTo>
                    <a:lnTo>
                      <a:pt x="2015" y="3884"/>
                    </a:lnTo>
                    <a:lnTo>
                      <a:pt x="2015" y="3884"/>
                    </a:lnTo>
                    <a:cubicBezTo>
                      <a:pt x="2015" y="3884"/>
                      <a:pt x="2015" y="3884"/>
                      <a:pt x="2015" y="3884"/>
                    </a:cubicBezTo>
                    <a:cubicBezTo>
                      <a:pt x="2015" y="3884"/>
                      <a:pt x="2015" y="3885"/>
                      <a:pt x="2015" y="3885"/>
                    </a:cubicBezTo>
                    <a:cubicBezTo>
                      <a:pt x="2015"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6"/>
                    </a:cubicBezTo>
                    <a:cubicBezTo>
                      <a:pt x="2016" y="3886"/>
                      <a:pt x="2016" y="3886"/>
                      <a:pt x="2016" y="3886"/>
                    </a:cubicBezTo>
                    <a:cubicBezTo>
                      <a:pt x="2016" y="3886"/>
                      <a:pt x="2016" y="3886"/>
                      <a:pt x="2016"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7"/>
                      <a:pt x="2017" y="3887"/>
                    </a:cubicBezTo>
                    <a:cubicBezTo>
                      <a:pt x="2017" y="3887"/>
                      <a:pt x="2017" y="3887"/>
                      <a:pt x="2017" y="3887"/>
                    </a:cubicBezTo>
                    <a:cubicBezTo>
                      <a:pt x="2017" y="3887"/>
                      <a:pt x="2017" y="3887"/>
                      <a:pt x="2017" y="3887"/>
                    </a:cubicBezTo>
                    <a:cubicBezTo>
                      <a:pt x="2017" y="3887"/>
                      <a:pt x="2018" y="3887"/>
                      <a:pt x="2018" y="3887"/>
                    </a:cubicBezTo>
                    <a:lnTo>
                      <a:pt x="2018" y="3887"/>
                    </a:lnTo>
                    <a:cubicBezTo>
                      <a:pt x="2018" y="3887"/>
                      <a:pt x="2018" y="3887"/>
                      <a:pt x="2018" y="3887"/>
                    </a:cubicBezTo>
                    <a:lnTo>
                      <a:pt x="2018" y="3887"/>
                    </a:lnTo>
                    <a:cubicBezTo>
                      <a:pt x="2018" y="3887"/>
                      <a:pt x="2018" y="3887"/>
                      <a:pt x="2018" y="3888"/>
                    </a:cubicBezTo>
                    <a:cubicBezTo>
                      <a:pt x="2018" y="3888"/>
                      <a:pt x="2018" y="3888"/>
                      <a:pt x="2018" y="3888"/>
                    </a:cubicBezTo>
                    <a:cubicBezTo>
                      <a:pt x="2018" y="3888"/>
                      <a:pt x="2018" y="3888"/>
                      <a:pt x="2018" y="3888"/>
                    </a:cubicBezTo>
                    <a:cubicBezTo>
                      <a:pt x="2018" y="3888"/>
                      <a:pt x="2018" y="3888"/>
                      <a:pt x="2018" y="3888"/>
                    </a:cubicBezTo>
                    <a:cubicBezTo>
                      <a:pt x="2018" y="3888"/>
                      <a:pt x="2019" y="3888"/>
                      <a:pt x="2019" y="3888"/>
                    </a:cubicBezTo>
                    <a:lnTo>
                      <a:pt x="2019" y="3888"/>
                    </a:lnTo>
                    <a:cubicBezTo>
                      <a:pt x="2019" y="3888"/>
                      <a:pt x="2019" y="3888"/>
                      <a:pt x="2019" y="3888"/>
                    </a:cubicBezTo>
                    <a:lnTo>
                      <a:pt x="2019" y="3888"/>
                    </a:lnTo>
                    <a:cubicBezTo>
                      <a:pt x="2041" y="3912"/>
                      <a:pt x="2072" y="3926"/>
                      <a:pt x="2106" y="3927"/>
                    </a:cubicBezTo>
                    <a:lnTo>
                      <a:pt x="2797" y="3929"/>
                    </a:lnTo>
                    <a:lnTo>
                      <a:pt x="2797" y="5034"/>
                    </a:lnTo>
                    <a:cubicBezTo>
                      <a:pt x="2797" y="5035"/>
                      <a:pt x="2797" y="5036"/>
                      <a:pt x="2797" y="5037"/>
                    </a:cubicBezTo>
                    <a:cubicBezTo>
                      <a:pt x="2797" y="5079"/>
                      <a:pt x="2818" y="5115"/>
                      <a:pt x="2849" y="5137"/>
                    </a:cubicBezTo>
                    <a:cubicBezTo>
                      <a:pt x="2869" y="5150"/>
                      <a:pt x="2892" y="5157"/>
                      <a:pt x="2917" y="5157"/>
                    </a:cubicBezTo>
                    <a:cubicBezTo>
                      <a:pt x="2918" y="5157"/>
                      <a:pt x="2919" y="5157"/>
                      <a:pt x="2919" y="5157"/>
                    </a:cubicBezTo>
                    <a:lnTo>
                      <a:pt x="3241" y="5157"/>
                    </a:lnTo>
                    <a:cubicBezTo>
                      <a:pt x="3307" y="5157"/>
                      <a:pt x="3361" y="5104"/>
                      <a:pt x="3361" y="5037"/>
                    </a:cubicBezTo>
                    <a:cubicBezTo>
                      <a:pt x="3361" y="4971"/>
                      <a:pt x="3307" y="4917"/>
                      <a:pt x="3241" y="4917"/>
                    </a:cubicBezTo>
                    <a:close/>
                    <a:moveTo>
                      <a:pt x="4787" y="3246"/>
                    </a:moveTo>
                    <a:cubicBezTo>
                      <a:pt x="4786" y="3246"/>
                      <a:pt x="4786" y="3246"/>
                      <a:pt x="4785" y="3246"/>
                    </a:cubicBezTo>
                    <a:lnTo>
                      <a:pt x="3072" y="3246"/>
                    </a:lnTo>
                    <a:cubicBezTo>
                      <a:pt x="3006" y="3246"/>
                      <a:pt x="2952" y="3299"/>
                      <a:pt x="2952" y="3366"/>
                    </a:cubicBezTo>
                    <a:cubicBezTo>
                      <a:pt x="2952" y="3432"/>
                      <a:pt x="3006" y="3486"/>
                      <a:pt x="3072" y="3486"/>
                    </a:cubicBezTo>
                    <a:lnTo>
                      <a:pt x="4667" y="3486"/>
                    </a:lnTo>
                    <a:lnTo>
                      <a:pt x="4667" y="4917"/>
                    </a:lnTo>
                    <a:lnTo>
                      <a:pt x="4253" y="4917"/>
                    </a:lnTo>
                    <a:cubicBezTo>
                      <a:pt x="4187" y="4917"/>
                      <a:pt x="4133" y="4971"/>
                      <a:pt x="4133" y="5037"/>
                    </a:cubicBezTo>
                    <a:cubicBezTo>
                      <a:pt x="4133" y="5104"/>
                      <a:pt x="4187" y="5157"/>
                      <a:pt x="4253" y="5157"/>
                    </a:cubicBezTo>
                    <a:lnTo>
                      <a:pt x="4787" y="5157"/>
                    </a:lnTo>
                    <a:cubicBezTo>
                      <a:pt x="4854" y="5157"/>
                      <a:pt x="4907" y="5104"/>
                      <a:pt x="4907" y="5037"/>
                    </a:cubicBezTo>
                    <a:cubicBezTo>
                      <a:pt x="4907" y="5030"/>
                      <a:pt x="4907" y="5023"/>
                      <a:pt x="4905" y="5016"/>
                    </a:cubicBezTo>
                    <a:cubicBezTo>
                      <a:pt x="4907" y="5009"/>
                      <a:pt x="4907" y="5001"/>
                      <a:pt x="4907" y="4994"/>
                    </a:cubicBezTo>
                    <a:lnTo>
                      <a:pt x="4907" y="3366"/>
                    </a:lnTo>
                    <a:lnTo>
                      <a:pt x="4907" y="3366"/>
                    </a:lnTo>
                    <a:cubicBezTo>
                      <a:pt x="4907" y="3299"/>
                      <a:pt x="4854" y="3246"/>
                      <a:pt x="4787" y="3246"/>
                    </a:cubicBezTo>
                    <a:close/>
                    <a:moveTo>
                      <a:pt x="2447" y="4118"/>
                    </a:moveTo>
                    <a:lnTo>
                      <a:pt x="1774" y="4118"/>
                    </a:lnTo>
                    <a:lnTo>
                      <a:pt x="1774" y="3021"/>
                    </a:lnTo>
                    <a:cubicBezTo>
                      <a:pt x="1774" y="2955"/>
                      <a:pt x="1720" y="2901"/>
                      <a:pt x="1654" y="2901"/>
                    </a:cubicBezTo>
                    <a:cubicBezTo>
                      <a:pt x="1588" y="2901"/>
                      <a:pt x="1534" y="2955"/>
                      <a:pt x="1534" y="3021"/>
                    </a:cubicBezTo>
                    <a:lnTo>
                      <a:pt x="1534" y="4235"/>
                    </a:lnTo>
                    <a:cubicBezTo>
                      <a:pt x="1534" y="4236"/>
                      <a:pt x="1534" y="4237"/>
                      <a:pt x="1534" y="4238"/>
                    </a:cubicBezTo>
                    <a:lnTo>
                      <a:pt x="1534" y="5037"/>
                    </a:lnTo>
                    <a:cubicBezTo>
                      <a:pt x="1534" y="5104"/>
                      <a:pt x="1587" y="5157"/>
                      <a:pt x="1654" y="5157"/>
                    </a:cubicBezTo>
                    <a:cubicBezTo>
                      <a:pt x="1720" y="5157"/>
                      <a:pt x="1774" y="5104"/>
                      <a:pt x="1774" y="5037"/>
                    </a:cubicBezTo>
                    <a:lnTo>
                      <a:pt x="1774" y="4358"/>
                    </a:lnTo>
                    <a:lnTo>
                      <a:pt x="2327" y="4358"/>
                    </a:lnTo>
                    <a:lnTo>
                      <a:pt x="2327" y="5037"/>
                    </a:lnTo>
                    <a:cubicBezTo>
                      <a:pt x="2327" y="5104"/>
                      <a:pt x="2380" y="5157"/>
                      <a:pt x="2447" y="5157"/>
                    </a:cubicBezTo>
                    <a:cubicBezTo>
                      <a:pt x="2513" y="5157"/>
                      <a:pt x="2567" y="5104"/>
                      <a:pt x="2567" y="5037"/>
                    </a:cubicBezTo>
                    <a:lnTo>
                      <a:pt x="2567" y="4238"/>
                    </a:lnTo>
                    <a:cubicBezTo>
                      <a:pt x="2567" y="4172"/>
                      <a:pt x="2513" y="4118"/>
                      <a:pt x="2447" y="4118"/>
                    </a:cubicBezTo>
                    <a:close/>
                    <a:moveTo>
                      <a:pt x="1584" y="1584"/>
                    </a:moveTo>
                    <a:cubicBezTo>
                      <a:pt x="1537" y="1630"/>
                      <a:pt x="1461" y="1630"/>
                      <a:pt x="1414" y="1584"/>
                    </a:cubicBezTo>
                    <a:lnTo>
                      <a:pt x="1317" y="1486"/>
                    </a:lnTo>
                    <a:cubicBezTo>
                      <a:pt x="1295" y="1498"/>
                      <a:pt x="1273" y="1507"/>
                      <a:pt x="1249" y="1514"/>
                    </a:cubicBezTo>
                    <a:lnTo>
                      <a:pt x="1249" y="1652"/>
                    </a:lnTo>
                    <a:cubicBezTo>
                      <a:pt x="1249" y="1718"/>
                      <a:pt x="1196" y="1772"/>
                      <a:pt x="1129" y="1772"/>
                    </a:cubicBezTo>
                    <a:cubicBezTo>
                      <a:pt x="1063" y="1772"/>
                      <a:pt x="1009" y="1718"/>
                      <a:pt x="1009" y="1652"/>
                    </a:cubicBezTo>
                    <a:lnTo>
                      <a:pt x="1009" y="1514"/>
                    </a:lnTo>
                    <a:cubicBezTo>
                      <a:pt x="986" y="1507"/>
                      <a:pt x="963" y="1498"/>
                      <a:pt x="942" y="1486"/>
                    </a:cubicBezTo>
                    <a:lnTo>
                      <a:pt x="845" y="1584"/>
                    </a:lnTo>
                    <a:cubicBezTo>
                      <a:pt x="798" y="1630"/>
                      <a:pt x="722" y="1630"/>
                      <a:pt x="675" y="1584"/>
                    </a:cubicBezTo>
                    <a:cubicBezTo>
                      <a:pt x="628" y="1537"/>
                      <a:pt x="628" y="1461"/>
                      <a:pt x="675" y="1414"/>
                    </a:cubicBezTo>
                    <a:lnTo>
                      <a:pt x="772" y="1317"/>
                    </a:lnTo>
                    <a:cubicBezTo>
                      <a:pt x="761" y="1295"/>
                      <a:pt x="751" y="1273"/>
                      <a:pt x="744" y="1249"/>
                    </a:cubicBezTo>
                    <a:lnTo>
                      <a:pt x="607" y="1249"/>
                    </a:lnTo>
                    <a:cubicBezTo>
                      <a:pt x="540" y="1249"/>
                      <a:pt x="487" y="1195"/>
                      <a:pt x="487" y="1129"/>
                    </a:cubicBezTo>
                    <a:cubicBezTo>
                      <a:pt x="487" y="1063"/>
                      <a:pt x="540" y="1009"/>
                      <a:pt x="607" y="1009"/>
                    </a:cubicBezTo>
                    <a:lnTo>
                      <a:pt x="744" y="1009"/>
                    </a:lnTo>
                    <a:cubicBezTo>
                      <a:pt x="751" y="986"/>
                      <a:pt x="761" y="963"/>
                      <a:pt x="772" y="942"/>
                    </a:cubicBezTo>
                    <a:lnTo>
                      <a:pt x="675" y="844"/>
                    </a:lnTo>
                    <a:cubicBezTo>
                      <a:pt x="628" y="798"/>
                      <a:pt x="628" y="722"/>
                      <a:pt x="675" y="675"/>
                    </a:cubicBezTo>
                    <a:cubicBezTo>
                      <a:pt x="722" y="628"/>
                      <a:pt x="798" y="628"/>
                      <a:pt x="845" y="675"/>
                    </a:cubicBezTo>
                    <a:lnTo>
                      <a:pt x="942" y="772"/>
                    </a:lnTo>
                    <a:cubicBezTo>
                      <a:pt x="963" y="761"/>
                      <a:pt x="986" y="751"/>
                      <a:pt x="1009" y="744"/>
                    </a:cubicBezTo>
                    <a:lnTo>
                      <a:pt x="1009" y="606"/>
                    </a:lnTo>
                    <a:cubicBezTo>
                      <a:pt x="1009" y="540"/>
                      <a:pt x="1063" y="486"/>
                      <a:pt x="1129" y="486"/>
                    </a:cubicBezTo>
                    <a:cubicBezTo>
                      <a:pt x="1196" y="486"/>
                      <a:pt x="1249" y="540"/>
                      <a:pt x="1249" y="606"/>
                    </a:cubicBezTo>
                    <a:lnTo>
                      <a:pt x="1249" y="744"/>
                    </a:lnTo>
                    <a:cubicBezTo>
                      <a:pt x="1273" y="751"/>
                      <a:pt x="1295" y="761"/>
                      <a:pt x="1317" y="772"/>
                    </a:cubicBezTo>
                    <a:lnTo>
                      <a:pt x="1414" y="675"/>
                    </a:lnTo>
                    <a:cubicBezTo>
                      <a:pt x="1461" y="628"/>
                      <a:pt x="1537" y="628"/>
                      <a:pt x="1584" y="675"/>
                    </a:cubicBezTo>
                    <a:cubicBezTo>
                      <a:pt x="1631" y="722"/>
                      <a:pt x="1631" y="798"/>
                      <a:pt x="1584" y="844"/>
                    </a:cubicBezTo>
                    <a:lnTo>
                      <a:pt x="1486" y="942"/>
                    </a:lnTo>
                    <a:cubicBezTo>
                      <a:pt x="1498" y="963"/>
                      <a:pt x="1507" y="986"/>
                      <a:pt x="1515" y="1009"/>
                    </a:cubicBezTo>
                    <a:lnTo>
                      <a:pt x="1652" y="1009"/>
                    </a:lnTo>
                    <a:cubicBezTo>
                      <a:pt x="1718" y="1009"/>
                      <a:pt x="1772" y="1063"/>
                      <a:pt x="1772" y="1129"/>
                    </a:cubicBezTo>
                    <a:cubicBezTo>
                      <a:pt x="1772" y="1195"/>
                      <a:pt x="1718" y="1249"/>
                      <a:pt x="1652" y="1249"/>
                    </a:cubicBezTo>
                    <a:lnTo>
                      <a:pt x="1515" y="1249"/>
                    </a:lnTo>
                    <a:cubicBezTo>
                      <a:pt x="1507" y="1273"/>
                      <a:pt x="1498" y="1295"/>
                      <a:pt x="1486" y="1317"/>
                    </a:cubicBezTo>
                    <a:lnTo>
                      <a:pt x="1584" y="1414"/>
                    </a:lnTo>
                    <a:cubicBezTo>
                      <a:pt x="1631" y="1461"/>
                      <a:pt x="1631" y="1537"/>
                      <a:pt x="1584" y="1584"/>
                    </a:cubicBezTo>
                    <a:close/>
                    <a:moveTo>
                      <a:pt x="1293" y="1129"/>
                    </a:moveTo>
                    <a:cubicBezTo>
                      <a:pt x="1293" y="1039"/>
                      <a:pt x="1219" y="966"/>
                      <a:pt x="1129" y="966"/>
                    </a:cubicBezTo>
                    <a:cubicBezTo>
                      <a:pt x="1039" y="966"/>
                      <a:pt x="966" y="1039"/>
                      <a:pt x="966" y="1129"/>
                    </a:cubicBezTo>
                    <a:cubicBezTo>
                      <a:pt x="966" y="1219"/>
                      <a:pt x="1039" y="1293"/>
                      <a:pt x="1129" y="1293"/>
                    </a:cubicBezTo>
                    <a:cubicBezTo>
                      <a:pt x="1219" y="1293"/>
                      <a:pt x="1293" y="1219"/>
                      <a:pt x="1293" y="112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5054619" y="4007997"/>
              <a:ext cx="6137122" cy="649706"/>
              <a:chOff x="5054619" y="4018684"/>
              <a:chExt cx="6137122" cy="649706"/>
            </a:xfrm>
          </p:grpSpPr>
          <p:sp>
            <p:nvSpPr>
              <p:cNvPr id="58" name="矩形 57"/>
              <p:cNvSpPr/>
              <p:nvPr/>
            </p:nvSpPr>
            <p:spPr>
              <a:xfrm>
                <a:off x="5265495" y="401868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9" name="矩形 58"/>
              <p:cNvSpPr/>
              <p:nvPr/>
            </p:nvSpPr>
            <p:spPr>
              <a:xfrm>
                <a:off x="6180667" y="4018684"/>
                <a:ext cx="5011074"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60" name="文本框 9"/>
              <p:cNvSpPr txBox="1"/>
              <p:nvPr/>
            </p:nvSpPr>
            <p:spPr>
              <a:xfrm>
                <a:off x="5054619" y="410767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2.3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61" name="TextBox 49"/>
              <p:cNvSpPr txBox="1"/>
              <p:nvPr/>
            </p:nvSpPr>
            <p:spPr>
              <a:xfrm>
                <a:off x="6921580" y="4076900"/>
                <a:ext cx="4262524" cy="461665"/>
              </a:xfrm>
              <a:prstGeom prst="rect">
                <a:avLst/>
              </a:prstGeom>
              <a:noFill/>
            </p:spPr>
            <p:txBody>
              <a:bodyPr wrap="square" rtlCol="0">
                <a:spAutoFit/>
              </a:bodyPr>
              <a:lstStyle/>
              <a:p>
                <a:pPr lvl="0">
                  <a:defRPr/>
                </a:pPr>
                <a:r>
                  <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rPr>
                  <a:t>线性表类型的实现</a:t>
                </a:r>
                <a:r>
                  <a:rPr lang="en-US" altLang="zh-CN"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rPr>
                  <a:t>—</a:t>
                </a:r>
                <a:r>
                  <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rPr>
                  <a:t>链式存储映像</a:t>
                </a:r>
                <a:endParaRPr lang="zh-CN" altLang="en-US" sz="24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endParaRPr>
              </a:p>
            </p:txBody>
          </p:sp>
          <p:sp>
            <p:nvSpPr>
              <p:cNvPr id="80" name="progress-report_18229"/>
              <p:cNvSpPr/>
              <p:nvPr/>
            </p:nvSpPr>
            <p:spPr>
              <a:xfrm>
                <a:off x="6341277" y="4137888"/>
                <a:ext cx="474471" cy="411297"/>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gr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2.1 </a:t>
            </a:r>
            <a:r>
              <a:rPr lang="zh-CN" altLang="en-US" sz="3600" b="1" dirty="0">
                <a:solidFill>
                  <a:schemeClr val="bg1"/>
                </a:solidFill>
                <a:latin typeface="微软雅黑" panose="020B0503020204020204" pitchFamily="34" charset="-122"/>
                <a:ea typeface="微软雅黑" panose="020B0503020204020204" pitchFamily="34" charset="-122"/>
              </a:rPr>
              <a:t>线性表的类型定义及结构特征</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978862"/>
            <a:ext cx="11128634" cy="2750240"/>
          </a:xfrm>
          <a:prstGeom prst="rect">
            <a:avLst/>
          </a:prstGeom>
          <a:noFill/>
        </p:spPr>
        <p:txBody>
          <a:bodyPr wrap="square">
            <a:spAutoFit/>
          </a:bodyPr>
          <a:lstStyle/>
          <a:p>
            <a:pPr marL="342900" indent="-342900" eaLnBrk="1" hangingPunct="1">
              <a:lnSpc>
                <a:spcPct val="125000"/>
              </a:lnSpc>
              <a:spcAft>
                <a:spcPts val="600"/>
              </a:spcAf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定义：线性表是</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个数据元素的有限序列，可记为：</a:t>
            </a:r>
            <a:endParaRPr lang="zh-CN" altLang="en-US" sz="2000" dirty="0">
              <a:latin typeface="微软雅黑" panose="020B0503020204020204" pitchFamily="34" charset="-122"/>
              <a:ea typeface="微软雅黑" panose="020B0503020204020204" pitchFamily="34" charset="-122"/>
            </a:endParaRPr>
          </a:p>
          <a:p>
            <a:pPr marL="342900" indent="-342900" eaLnBrk="1" hangingPunct="1">
              <a:lnSpc>
                <a:spcPct val="125000"/>
              </a:lnSpc>
              <a:spcAft>
                <a:spcPts val="600"/>
              </a:spcAft>
              <a:buFont typeface="Wingdings" panose="05000000000000000000" pitchFamily="2" charset="2"/>
              <a:buChar char="l"/>
            </a:pPr>
            <a:endParaRPr lang="zh-CN" altLang="en-US" sz="2000" dirty="0">
              <a:latin typeface="微软雅黑" panose="020B0503020204020204" pitchFamily="34" charset="-122"/>
              <a:ea typeface="微软雅黑" panose="020B0503020204020204" pitchFamily="34" charset="-122"/>
            </a:endParaRPr>
          </a:p>
          <a:p>
            <a:pPr marL="342900" indent="-342900" eaLnBrk="1" hangingPunct="1">
              <a:lnSpc>
                <a:spcPct val="125000"/>
              </a:lnSpc>
              <a:spcAft>
                <a:spcPts val="600"/>
              </a:spcAf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是线性表的长度。当</a:t>
            </a:r>
            <a:r>
              <a:rPr lang="en-US" altLang="zh-CN" sz="2000" dirty="0">
                <a:latin typeface="微软雅黑" panose="020B0503020204020204" pitchFamily="34" charset="-122"/>
                <a:ea typeface="微软雅黑" panose="020B0503020204020204" pitchFamily="34" charset="-122"/>
              </a:rPr>
              <a:t>n=0</a:t>
            </a:r>
            <a:r>
              <a:rPr lang="zh-CN" altLang="en-US" sz="2000" dirty="0">
                <a:latin typeface="微软雅黑" panose="020B0503020204020204" pitchFamily="34" charset="-122"/>
                <a:ea typeface="微软雅黑" panose="020B0503020204020204" pitchFamily="34" charset="-122"/>
              </a:rPr>
              <a:t>时，为一空表</a:t>
            </a:r>
            <a:endParaRPr lang="zh-CN" altLang="en-US" sz="2000" dirty="0">
              <a:solidFill>
                <a:srgbClr val="CC3300"/>
              </a:solidFill>
              <a:latin typeface="微软雅黑" panose="020B0503020204020204" pitchFamily="34" charset="-122"/>
              <a:ea typeface="微软雅黑" panose="020B0503020204020204" pitchFamily="34" charset="-122"/>
            </a:endParaRPr>
          </a:p>
          <a:p>
            <a:pPr marL="800100" lvl="1" indent="-342900" eaLnBrk="1" hangingPunct="1">
              <a:lnSpc>
                <a:spcPct val="1250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：斐波那契序列：</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0</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2</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3</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5</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8</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13</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21</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34</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55</a:t>
            </a:r>
            <a:r>
              <a:rPr lang="zh-CN" altLang="en-US" sz="2000"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marL="800100" lvl="1" indent="-342900" eaLnBrk="1" hangingPunct="1">
              <a:lnSpc>
                <a:spcPct val="1250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：一个字符串：</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D a t a- S t r u c t u r e</a:t>
            </a:r>
            <a:r>
              <a:rPr lang="zh-CN" altLang="en-US" sz="2000"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800100" lvl="1" indent="-342900" eaLnBrk="1" hangingPunct="1">
              <a:lnSpc>
                <a:spcPct val="125000"/>
              </a:lnSpc>
              <a:spcAft>
                <a:spcPts val="60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3:  </a:t>
            </a:r>
            <a:endParaRPr lang="en-US" altLang="zh-CN" sz="2000" dirty="0">
              <a:latin typeface="微软雅黑" panose="020B0503020204020204" pitchFamily="34" charset="-122"/>
              <a:ea typeface="微软雅黑" panose="020B0503020204020204" pitchFamily="34" charset="-122"/>
            </a:endParaRPr>
          </a:p>
        </p:txBody>
      </p:sp>
      <p:graphicFrame>
        <p:nvGraphicFramePr>
          <p:cNvPr id="8" name="Group 4"/>
          <p:cNvGraphicFramePr>
            <a:graphicFrameLocks noGrp="1"/>
          </p:cNvGraphicFramePr>
          <p:nvPr/>
        </p:nvGraphicFramePr>
        <p:xfrm>
          <a:off x="5237930" y="3514599"/>
          <a:ext cx="6096000" cy="2425700"/>
        </p:xfrm>
        <a:graphic>
          <a:graphicData uri="http://schemas.openxmlformats.org/drawingml/2006/table">
            <a:tbl>
              <a:tblPr/>
              <a:tblGrid>
                <a:gridCol w="2032000"/>
                <a:gridCol w="2032000"/>
                <a:gridCol w="2032000"/>
              </a:tblGrid>
              <a:tr h="6032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学号</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姓名</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年龄</a:t>
                      </a:r>
                      <a:endParaRPr kumimoji="0" lang="zh-CN" altLang="en-US"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59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001</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DF58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张三</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DF58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18</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DF58D"/>
                    </a:solidFill>
                  </a:tcPr>
                </a:tc>
              </a:tr>
              <a:tr h="6032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002</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EE0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李四</a:t>
                      </a:r>
                      <a:endParaRPr kumimoji="0" lang="zh-CN" altLang="en-US"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19</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2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AutoShape 84"/>
          <p:cNvSpPr>
            <a:spLocks noChangeArrowheads="1"/>
          </p:cNvSpPr>
          <p:nvPr/>
        </p:nvSpPr>
        <p:spPr bwMode="auto">
          <a:xfrm>
            <a:off x="3539268" y="4163295"/>
            <a:ext cx="1600200" cy="609600"/>
          </a:xfrm>
          <a:prstGeom prst="wedgeEllipseCallout">
            <a:avLst>
              <a:gd name="adj1" fmla="val 62699"/>
              <a:gd name="adj2" fmla="val -42449"/>
            </a:avLst>
          </a:prstGeom>
          <a:solidFill>
            <a:srgbClr val="FFFF99"/>
          </a:solidFill>
          <a:ln w="9525">
            <a:solidFill>
              <a:schemeClr val="tx1"/>
            </a:solidFill>
            <a:miter lim="800000"/>
          </a:ln>
        </p:spPr>
        <p:txBody>
          <a:bodyPr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t>数据元素</a:t>
            </a:r>
            <a:endParaRPr lang="zh-CN" altLang="en-US" sz="1800" dirty="0"/>
          </a:p>
        </p:txBody>
      </p:sp>
      <p:sp>
        <p:nvSpPr>
          <p:cNvPr id="10" name="AutoShape 84"/>
          <p:cNvSpPr>
            <a:spLocks noChangeArrowheads="1"/>
          </p:cNvSpPr>
          <p:nvPr/>
        </p:nvSpPr>
        <p:spPr bwMode="auto">
          <a:xfrm>
            <a:off x="3653568" y="4995535"/>
            <a:ext cx="1371600" cy="609600"/>
          </a:xfrm>
          <a:prstGeom prst="wedgeEllipseCallout">
            <a:avLst>
              <a:gd name="adj1" fmla="val 72222"/>
              <a:gd name="adj2" fmla="val -69532"/>
            </a:avLst>
          </a:prstGeom>
          <a:solidFill>
            <a:srgbClr val="BEE0FF"/>
          </a:solidFill>
          <a:ln w="9525">
            <a:solidFill>
              <a:schemeClr val="tx1"/>
            </a:solidFill>
            <a:miter lim="800000"/>
          </a:ln>
        </p:spPr>
        <p:txBody>
          <a:bodyPr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a:t>数据项</a:t>
            </a:r>
            <a:endParaRPr lang="zh-CN"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2.1 </a:t>
            </a:r>
            <a:r>
              <a:rPr lang="zh-CN" altLang="en-US" sz="3600" b="1" dirty="0">
                <a:solidFill>
                  <a:schemeClr val="bg1"/>
                </a:solidFill>
                <a:latin typeface="微软雅黑" panose="020B0503020204020204" pitchFamily="34" charset="-122"/>
                <a:ea typeface="微软雅黑" panose="020B0503020204020204" pitchFamily="34" charset="-122"/>
              </a:rPr>
              <a:t>线性表的类型定义及结构特征</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1597729"/>
            <a:ext cx="11128634" cy="3231654"/>
          </a:xfrm>
          <a:prstGeom prst="rect">
            <a:avLst/>
          </a:prstGeom>
          <a:noFill/>
        </p:spPr>
        <p:txBody>
          <a:bodyPr wrap="square">
            <a:spAutoFit/>
          </a:bodyPr>
          <a:lstStyle/>
          <a:p>
            <a:pPr marL="285750" indent="-285750" eaLnBrk="1" hangingPunct="1">
              <a:lnSpc>
                <a:spcPct val="125000"/>
              </a:lnSpc>
              <a:spcAft>
                <a:spcPts val="600"/>
              </a:spcAft>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结构特征：在数据元素的非空有限集中</a:t>
            </a:r>
            <a:endParaRPr lang="zh-CN" altLang="en-US" sz="2000" dirty="0">
              <a:latin typeface="微软雅黑" panose="020B0503020204020204" pitchFamily="34" charset="-122"/>
              <a:ea typeface="微软雅黑" panose="020B0503020204020204" pitchFamily="34" charset="-122"/>
            </a:endParaRPr>
          </a:p>
          <a:p>
            <a:pPr marL="742950" lvl="1" indent="-285750" eaLnBrk="1" hangingPunct="1">
              <a:lnSpc>
                <a:spcPct val="125000"/>
              </a:lnSpc>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存在唯一的一个被称作“</a:t>
            </a:r>
            <a:r>
              <a:rPr lang="zh-CN" altLang="en-US" sz="2000" b="1" dirty="0">
                <a:solidFill>
                  <a:srgbClr val="FF0000"/>
                </a:solidFill>
                <a:latin typeface="微软雅黑" panose="020B0503020204020204" pitchFamily="34" charset="-122"/>
                <a:ea typeface="微软雅黑" panose="020B0503020204020204" pitchFamily="34" charset="-122"/>
              </a:rPr>
              <a:t>第一个</a:t>
            </a:r>
            <a:r>
              <a:rPr lang="zh-CN" altLang="en-US" sz="2000" dirty="0">
                <a:latin typeface="微软雅黑" panose="020B0503020204020204" pitchFamily="34" charset="-122"/>
                <a:ea typeface="微软雅黑" panose="020B0503020204020204" pitchFamily="34" charset="-122"/>
              </a:rPr>
              <a:t>”的数据元素</a:t>
            </a:r>
            <a:endParaRPr lang="zh-CN" altLang="en-US" sz="2000" dirty="0">
              <a:latin typeface="微软雅黑" panose="020B0503020204020204" pitchFamily="34" charset="-122"/>
              <a:ea typeface="微软雅黑" panose="020B0503020204020204" pitchFamily="34" charset="-122"/>
            </a:endParaRPr>
          </a:p>
          <a:p>
            <a:pPr marL="742950" lvl="1" indent="-285750" eaLnBrk="1" hangingPunct="1">
              <a:lnSpc>
                <a:spcPct val="125000"/>
              </a:lnSpc>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存在唯一的一个被称作“</a:t>
            </a:r>
            <a:r>
              <a:rPr lang="zh-CN" altLang="en-US" sz="2000" b="1" dirty="0">
                <a:solidFill>
                  <a:srgbClr val="FF0000"/>
                </a:solidFill>
                <a:latin typeface="微软雅黑" panose="020B0503020204020204" pitchFamily="34" charset="-122"/>
                <a:ea typeface="微软雅黑" panose="020B0503020204020204" pitchFamily="34" charset="-122"/>
              </a:rPr>
              <a:t>最后一个</a:t>
            </a:r>
            <a:r>
              <a:rPr lang="zh-CN" altLang="en-US" sz="2000" dirty="0">
                <a:latin typeface="微软雅黑" panose="020B0503020204020204" pitchFamily="34" charset="-122"/>
                <a:ea typeface="微软雅黑" panose="020B0503020204020204" pitchFamily="34" charset="-122"/>
              </a:rPr>
              <a:t>”的数据元素</a:t>
            </a:r>
            <a:endParaRPr lang="zh-CN" altLang="en-US" sz="2000" dirty="0">
              <a:latin typeface="微软雅黑" panose="020B0503020204020204" pitchFamily="34" charset="-122"/>
              <a:ea typeface="微软雅黑" panose="020B0503020204020204" pitchFamily="34" charset="-122"/>
            </a:endParaRPr>
          </a:p>
          <a:p>
            <a:pPr marL="742950" lvl="1" indent="-285750" eaLnBrk="1" hangingPunct="1">
              <a:lnSpc>
                <a:spcPct val="125000"/>
              </a:lnSpc>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除第一个外，集合中的每个数据元素均</a:t>
            </a:r>
            <a:r>
              <a:rPr lang="zh-CN" altLang="en-US" sz="2000" b="1" dirty="0">
                <a:solidFill>
                  <a:srgbClr val="FF0000"/>
                </a:solidFill>
                <a:latin typeface="微软雅黑" panose="020B0503020204020204" pitchFamily="34" charset="-122"/>
                <a:ea typeface="微软雅黑" panose="020B0503020204020204" pitchFamily="34" charset="-122"/>
              </a:rPr>
              <a:t>只有一个前驱</a:t>
            </a:r>
            <a:endParaRPr lang="zh-CN" altLang="en-US" sz="2000" dirty="0">
              <a:solidFill>
                <a:srgbClr val="FF0000"/>
              </a:solidFill>
              <a:latin typeface="微软雅黑" panose="020B0503020204020204" pitchFamily="34" charset="-122"/>
              <a:ea typeface="微软雅黑" panose="020B0503020204020204" pitchFamily="34" charset="-122"/>
            </a:endParaRPr>
          </a:p>
          <a:p>
            <a:pPr marL="742950" lvl="1" indent="-285750" eaLnBrk="1" hangingPunct="1">
              <a:lnSpc>
                <a:spcPct val="125000"/>
              </a:lnSpc>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除最后一个外，集合中的每个数据元素均</a:t>
            </a:r>
            <a:r>
              <a:rPr lang="zh-CN" altLang="en-US" sz="2000" b="1" dirty="0">
                <a:solidFill>
                  <a:srgbClr val="FF0000"/>
                </a:solidFill>
                <a:latin typeface="微软雅黑" panose="020B0503020204020204" pitchFamily="34" charset="-122"/>
                <a:ea typeface="微软雅黑" panose="020B0503020204020204" pitchFamily="34" charset="-122"/>
              </a:rPr>
              <a:t>只有一个后继</a:t>
            </a:r>
            <a:endParaRPr lang="zh-CN" altLang="en-US" sz="2000" b="1" dirty="0">
              <a:solidFill>
                <a:srgbClr val="FF0000"/>
              </a:solidFill>
              <a:latin typeface="微软雅黑" panose="020B0503020204020204" pitchFamily="34" charset="-122"/>
              <a:ea typeface="微软雅黑" panose="020B0503020204020204" pitchFamily="34" charset="-122"/>
            </a:endParaRPr>
          </a:p>
          <a:p>
            <a:pPr lvl="1" eaLnBrk="1" hangingPunct="1">
              <a:lnSpc>
                <a:spcPct val="125000"/>
              </a:lnSpc>
              <a:spcAft>
                <a:spcPts val="600"/>
              </a:spcAft>
            </a:pPr>
            <a:endParaRPr lang="zh-CN" altLang="en-US" sz="2000" b="1" dirty="0">
              <a:latin typeface="微软雅黑" panose="020B0503020204020204" pitchFamily="34" charset="-122"/>
              <a:ea typeface="微软雅黑" panose="020B0503020204020204" pitchFamily="34" charset="-122"/>
            </a:endParaRPr>
          </a:p>
          <a:p>
            <a:pPr marL="342900" indent="-342900" eaLnBrk="1" hangingPunct="1">
              <a:spcAft>
                <a:spcPts val="600"/>
              </a:spcAft>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线性表的抽象数据类型</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978862"/>
            <a:ext cx="11128634" cy="4504566"/>
          </a:xfrm>
          <a:prstGeom prst="rect">
            <a:avLst/>
          </a:prstGeom>
          <a:noFill/>
        </p:spPr>
        <p:txBody>
          <a:bodyPr wrap="square">
            <a:spAutoFit/>
          </a:bodyPr>
          <a:lstStyle/>
          <a:p>
            <a:pPr>
              <a:buFontTx/>
              <a:buNone/>
            </a:pP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ADT List {</a:t>
            </a:r>
            <a:endPar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r>
              <a:rPr lang="en-US" altLang="zh-CN" sz="2800" b="0" dirty="0">
                <a:solidFill>
                  <a:srgbClr val="000066"/>
                </a:solidFill>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数据对象：</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baseline="-2500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1, 2, ..., n, n ≥ 0}</a:t>
            </a:r>
            <a:endPar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r>
              <a:rPr lang="zh-CN" altLang="en-US" sz="2800" b="0" dirty="0">
                <a:solidFill>
                  <a:srgbClr val="000066"/>
                </a:solidFill>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数据关系：</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R = {&lt;a</a:t>
            </a:r>
            <a:r>
              <a:rPr lang="en-US" altLang="zh-CN" sz="2000" b="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i-1</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2000" b="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&gt; | a</a:t>
            </a:r>
            <a:r>
              <a:rPr lang="en-US" altLang="zh-CN" sz="2000" b="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i-1</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∈D, </a:t>
            </a:r>
            <a:r>
              <a:rPr lang="en-US" altLang="zh-CN" sz="2000" b="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=2, 3, ..., n}</a:t>
            </a:r>
            <a:endParaRPr lang="en-US" altLang="zh-CN" sz="2000" b="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buFontTx/>
              <a:buNone/>
            </a:pPr>
            <a:r>
              <a:rPr lang="en-US" altLang="zh-CN" sz="2800" b="0" dirty="0">
                <a:solidFill>
                  <a:srgbClr val="000066"/>
                </a:solidFill>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基本操作：</a:t>
            </a:r>
            <a:endParaRPr lang="en-US" altLang="zh-CN" sz="2000" b="0" dirty="0">
              <a:solidFill>
                <a:srgbClr val="000066"/>
              </a:solidFill>
              <a:latin typeface="微软雅黑" panose="020B0503020204020204" pitchFamily="34" charset="-122"/>
              <a:ea typeface="微软雅黑" panose="020B0503020204020204" pitchFamily="34" charset="-122"/>
            </a:endParaRPr>
          </a:p>
          <a:p>
            <a:pPr>
              <a:lnSpc>
                <a:spcPct val="125000"/>
              </a:lnSpc>
              <a:buFontTx/>
              <a:buNone/>
            </a:pPr>
            <a:r>
              <a:rPr lang="en-US" altLang="zh-CN" sz="2800" b="0" dirty="0">
                <a:solidFill>
                  <a:srgbClr val="000066"/>
                </a:solidFill>
                <a:latin typeface="微软雅黑" panose="020B0503020204020204" pitchFamily="34" charset="-122"/>
                <a:ea typeface="微软雅黑" panose="020B0503020204020204" pitchFamily="34" charset="-122"/>
              </a:rPr>
              <a:t>	</a:t>
            </a:r>
            <a:r>
              <a:rPr lang="en-US" altLang="zh-CN" sz="2000" b="0" dirty="0">
                <a:solidFill>
                  <a:srgbClr val="000066"/>
                </a:solidFill>
                <a:latin typeface="微软雅黑" panose="020B0503020204020204" pitchFamily="34" charset="-122"/>
                <a:ea typeface="微软雅黑" panose="020B0503020204020204" pitchFamily="34" charset="-122"/>
              </a:rPr>
              <a:t>      </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表初始化</a:t>
            </a:r>
            <a:r>
              <a:rPr lang="en-US" altLang="zh-CN" sz="2000" b="0" dirty="0">
                <a:latin typeface="微软雅黑" panose="020B0503020204020204" pitchFamily="34" charset="-122"/>
                <a:ea typeface="微软雅黑" panose="020B0503020204020204" pitchFamily="34" charset="-122"/>
              </a:rPr>
              <a:t>} </a:t>
            </a:r>
            <a:endParaRPr lang="en-US" altLang="zh-CN" sz="2000" b="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表的复制</a:t>
            </a:r>
            <a:r>
              <a:rPr lang="en-US" altLang="zh-CN" sz="2000" b="0" dirty="0">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　　</a:t>
            </a:r>
            <a:endParaRPr lang="zh-CN" altLang="en-US" sz="2000" b="0" dirty="0">
              <a:solidFill>
                <a:srgbClr val="000066"/>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结构销毁</a:t>
            </a:r>
            <a:r>
              <a:rPr lang="en-US" altLang="zh-CN" sz="2000" b="0" dirty="0">
                <a:latin typeface="微软雅黑" panose="020B0503020204020204" pitchFamily="34" charset="-122"/>
                <a:ea typeface="微软雅黑" panose="020B0503020204020204" pitchFamily="34" charset="-122"/>
              </a:rPr>
              <a:t>} </a:t>
            </a:r>
            <a:r>
              <a:rPr lang="zh-CN" altLang="en-US" sz="2000" b="0" dirty="0">
                <a:solidFill>
                  <a:srgbClr val="000066"/>
                </a:solidFill>
                <a:latin typeface="微软雅黑" panose="020B0503020204020204" pitchFamily="34" charset="-122"/>
                <a:ea typeface="微软雅黑" panose="020B0503020204020204" pitchFamily="34" charset="-122"/>
              </a:rPr>
              <a:t>　</a:t>
            </a:r>
            <a:endParaRPr lang="en-US" altLang="zh-CN" sz="2000" b="0" dirty="0">
              <a:solidFill>
                <a:srgbClr val="000066"/>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solidFill>
                  <a:srgbClr val="000066"/>
                </a:solidFill>
                <a:latin typeface="微软雅黑" panose="020B0503020204020204" pitchFamily="34" charset="-122"/>
                <a:ea typeface="微软雅黑" panose="020B0503020204020204" pitchFamily="34" charset="-122"/>
              </a:rPr>
              <a:t>	      </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判断是否空表</a:t>
            </a:r>
            <a:r>
              <a:rPr lang="en-US" altLang="zh-CN" sz="2000" b="0" dirty="0">
                <a:latin typeface="微软雅黑" panose="020B0503020204020204" pitchFamily="34" charset="-122"/>
                <a:ea typeface="微软雅黑" panose="020B0503020204020204" pitchFamily="34" charset="-122"/>
              </a:rPr>
              <a:t>} </a:t>
            </a:r>
            <a:endParaRPr lang="en-US" altLang="zh-CN" sz="2000" b="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求表长</a:t>
            </a:r>
            <a:r>
              <a:rPr lang="en-US" altLang="zh-CN" sz="2000" b="0" dirty="0">
                <a:latin typeface="微软雅黑" panose="020B0503020204020204" pitchFamily="34" charset="-122"/>
                <a:ea typeface="微软雅黑" panose="020B0503020204020204" pitchFamily="34" charset="-122"/>
              </a:rPr>
              <a:t>}</a:t>
            </a:r>
            <a:endParaRPr lang="en-US" altLang="zh-CN" sz="2000" b="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表中取值</a:t>
            </a:r>
            <a:r>
              <a:rPr lang="en-US" altLang="zh-CN" sz="2000" b="0" dirty="0">
                <a:latin typeface="微软雅黑" panose="020B0503020204020204" pitchFamily="34" charset="-122"/>
                <a:ea typeface="微软雅黑" panose="020B0503020204020204" pitchFamily="34" charset="-122"/>
              </a:rPr>
              <a:t>} </a:t>
            </a:r>
            <a:endParaRPr lang="en-US" altLang="zh-CN" sz="2000" b="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表中查找符合条件的数据元素</a:t>
            </a:r>
            <a:r>
              <a:rPr lang="en-US" altLang="zh-CN" sz="2000" b="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基本操作</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0" y="1547529"/>
            <a:ext cx="11128634" cy="3673570"/>
          </a:xfrm>
          <a:prstGeom prst="rect">
            <a:avLst/>
          </a:prstGeom>
          <a:noFill/>
        </p:spPr>
        <p:txBody>
          <a:bodyPr wrap="square">
            <a:spAutoFit/>
          </a:bodyPr>
          <a:lstStyle/>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表中查找符合条件的数据元素的前驱</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表中查找符合条件的数据元素的后继</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线性表的遍历</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置表为空</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表中存值</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表中第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个位置插入</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表尾位置插入</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spcAft>
                <a:spcPts val="600"/>
              </a:spcAft>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表中删除第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个数据元素</a:t>
            </a: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模板形式的线性表抽象类</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978862"/>
            <a:ext cx="11128634" cy="646331"/>
          </a:xfrm>
          <a:prstGeom prst="rect">
            <a:avLst/>
          </a:prstGeom>
          <a:noFill/>
        </p:spPr>
        <p:txBody>
          <a:bodyPr wrap="square">
            <a:spAutoFit/>
          </a:bodyPr>
          <a:lstStyle/>
          <a:p>
            <a:pPr>
              <a:spcAft>
                <a:spcPts val="600"/>
              </a:spcAft>
              <a:buFontTx/>
              <a:buNone/>
            </a:pPr>
            <a:r>
              <a:rPr lang="en-US" altLang="zh-CN" sz="3600" dirty="0">
                <a:latin typeface="微软雅黑" panose="020B0503020204020204" pitchFamily="34" charset="-122"/>
                <a:ea typeface="微软雅黑" panose="020B0503020204020204" pitchFamily="34" charset="-122"/>
              </a:rPr>
              <a:t>           </a:t>
            </a:r>
            <a:endParaRPr lang="zh-CN" altLang="en-US" sz="3600" dirty="0">
              <a:latin typeface="微软雅黑" panose="020B0503020204020204" pitchFamily="34" charset="-122"/>
              <a:ea typeface="微软雅黑" panose="020B0503020204020204" pitchFamily="34" charset="-122"/>
            </a:endParaRPr>
          </a:p>
        </p:txBody>
      </p:sp>
      <p:sp>
        <p:nvSpPr>
          <p:cNvPr id="2" name="Rectangle 4"/>
          <p:cNvSpPr>
            <a:spLocks noChangeArrowheads="1"/>
          </p:cNvSpPr>
          <p:nvPr/>
        </p:nvSpPr>
        <p:spPr bwMode="auto">
          <a:xfrm>
            <a:off x="171246" y="978862"/>
            <a:ext cx="11849508" cy="547229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Times New Roman" panose="02020603050405020304" pitchFamily="18" charset="0"/>
                <a:cs typeface="Times New Roman" panose="02020603050405020304" pitchFamily="18" charset="0"/>
              </a:rPr>
              <a:t>template &lt;class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class List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public: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virtual bool </a:t>
            </a:r>
            <a:r>
              <a:rPr lang="en-US" altLang="zh-CN" b="0" dirty="0" err="1">
                <a:latin typeface="Times New Roman" panose="02020603050405020304" pitchFamily="18" charset="0"/>
                <a:cs typeface="Times New Roman" panose="02020603050405020304" pitchFamily="18" charset="0"/>
              </a:rPr>
              <a:t>IsEmpty</a:t>
            </a:r>
            <a:r>
              <a:rPr lang="en-US" altLang="zh-CN" b="0" dirty="0">
                <a:latin typeface="Times New Roman" panose="02020603050405020304" pitchFamily="18" charset="0"/>
                <a:cs typeface="Times New Roman" panose="02020603050405020304" pitchFamily="18" charset="0"/>
              </a:rPr>
              <a:t>() const=0;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判断是否空表</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int  Length() const=0;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求表长</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void Clear() = 0;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置表为空</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bool </a:t>
            </a:r>
            <a:r>
              <a:rPr lang="en-US" altLang="zh-CN" b="0" dirty="0" err="1">
                <a:latin typeface="Times New Roman" panose="02020603050405020304" pitchFamily="18" charset="0"/>
                <a:cs typeface="Times New Roman" panose="02020603050405020304" pitchFamily="18" charset="0"/>
              </a:rPr>
              <a:t>GetElem</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int) const=0;//</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表中取值</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bool </a:t>
            </a:r>
            <a:r>
              <a:rPr lang="en-US" altLang="zh-CN" b="0" dirty="0" err="1">
                <a:latin typeface="Times New Roman" panose="02020603050405020304" pitchFamily="18" charset="0"/>
                <a:cs typeface="Times New Roman" panose="02020603050405020304" pitchFamily="18" charset="0"/>
              </a:rPr>
              <a:t>SetElem</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&amp;,int) =0;//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表中存值</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int  </a:t>
            </a:r>
            <a:r>
              <a:rPr lang="en-US" altLang="zh-CN" b="0" dirty="0" err="1">
                <a:latin typeface="Times New Roman" panose="02020603050405020304" pitchFamily="18" charset="0"/>
                <a:cs typeface="Times New Roman" panose="02020603050405020304" pitchFamily="18" charset="0"/>
              </a:rPr>
              <a:t>LocateElem</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const=0;//</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查找符合条件的数据元素</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int  </a:t>
            </a:r>
            <a:r>
              <a:rPr lang="en-US" altLang="zh-CN" b="0" dirty="0" err="1">
                <a:latin typeface="Times New Roman" panose="02020603050405020304" pitchFamily="18" charset="0"/>
                <a:cs typeface="Times New Roman" panose="02020603050405020304" pitchFamily="18" charset="0"/>
              </a:rPr>
              <a:t>LocatePrior</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const=0;//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查找符合条件的数据前驱</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int  </a:t>
            </a:r>
            <a:r>
              <a:rPr lang="en-US" altLang="zh-CN" b="0" dirty="0" err="1">
                <a:latin typeface="Times New Roman" panose="02020603050405020304" pitchFamily="18" charset="0"/>
                <a:cs typeface="Times New Roman" panose="02020603050405020304" pitchFamily="18" charset="0"/>
              </a:rPr>
              <a:t>LocateNext</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const=0;//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查找符合条件的数据后继</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bool 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int) =0;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表中第</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i</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个位置插入</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bool Append(const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表尾位置插入</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bool Delete(</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=0;//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表中删除第</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i</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个数据元素</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virtual void Traverse(void(*visit)(const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const=0;//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线性表的遍历</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rPr>
              <a:t>};</a:t>
            </a:r>
            <a:endParaRPr lang="zh-CN" altLang="en-US" b="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5" name="文本框 4"/>
          <p:cNvSpPr txBox="1"/>
          <p:nvPr/>
        </p:nvSpPr>
        <p:spPr>
          <a:xfrm>
            <a:off x="392806" y="106251"/>
            <a:ext cx="8667761"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29" name="文本框 28"/>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Rectangle 3"/>
          <p:cNvSpPr txBox="1">
            <a:spLocks noChangeArrowheads="1"/>
          </p:cNvSpPr>
          <p:nvPr/>
        </p:nvSpPr>
        <p:spPr>
          <a:xfrm>
            <a:off x="392806" y="1189149"/>
            <a:ext cx="8229600" cy="556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00"/>
                </a:solidFill>
                <a:latin typeface="微软雅黑" panose="020B0503020204020204" pitchFamily="34" charset="-122"/>
                <a:ea typeface="微软雅黑" panose="020B0503020204020204" pitchFamily="34" charset="-122"/>
              </a:rPr>
              <a:t>线性表的顺序表示（也称顺序表）</a:t>
            </a:r>
            <a:endParaRPr lang="en-US" altLang="zh-CN" sz="2400" b="1" dirty="0">
              <a:solidFill>
                <a:srgbClr val="FF0000"/>
              </a:solidFill>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用一组地址连续的存储单元存放一个线性表叫“顺序表”</a:t>
            </a:r>
            <a:endParaRPr lang="zh-CN" altLang="en-US" sz="2000" dirty="0">
              <a:latin typeface="微软雅黑" panose="020B0503020204020204" pitchFamily="34" charset="-122"/>
              <a:ea typeface="微软雅黑" panose="020B0503020204020204" pitchFamily="34" charset="-122"/>
            </a:endParaRPr>
          </a:p>
          <a:p>
            <a:pPr lvl="1"/>
            <a:endParaRPr lang="zh-CN" altLang="en-US" dirty="0">
              <a:latin typeface="微软雅黑" panose="020B0503020204020204" pitchFamily="34" charset="-122"/>
              <a:ea typeface="微软雅黑" panose="020B0503020204020204" pitchFamily="34" charset="-122"/>
            </a:endParaRPr>
          </a:p>
          <a:p>
            <a:pPr lvl="1">
              <a:buFontTx/>
              <a:buNone/>
            </a:pPr>
            <a:r>
              <a:rPr lang="zh-CN" altLang="en-US" i="1" dirty="0">
                <a:solidFill>
                  <a:schemeClr val="accent2"/>
                </a:solidFill>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a:p>
            <a:pPr marL="457200" lvl="1" indent="0">
              <a:buNone/>
            </a:pPr>
            <a:r>
              <a:rPr lang="en-US" altLang="zh-CN" i="1" dirty="0">
                <a:latin typeface="微软雅黑" panose="020B0503020204020204" pitchFamily="34" charset="-122"/>
                <a:ea typeface="微软雅黑" panose="020B0503020204020204" pitchFamily="34" charset="-122"/>
              </a:rPr>
              <a:t>a</a:t>
            </a:r>
            <a:r>
              <a:rPr lang="en-US" altLang="zh-CN" baseline="-25000" dirty="0">
                <a:latin typeface="微软雅黑" panose="020B0503020204020204" pitchFamily="34" charset="-122"/>
                <a:ea typeface="微软雅黑" panose="020B0503020204020204" pitchFamily="34" charset="-122"/>
              </a:rPr>
              <a:t>1</a:t>
            </a:r>
            <a:r>
              <a:rPr lang="zh-CN" altLang="en-US" baseline="-25000" dirty="0">
                <a:latin typeface="微软雅黑" panose="020B0503020204020204" pitchFamily="34" charset="-122"/>
                <a:ea typeface="微软雅黑" panose="020B0503020204020204" pitchFamily="34" charset="-122"/>
              </a:rPr>
              <a:t>　</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a:t>
            </a:r>
            <a:r>
              <a:rPr lang="en-US" altLang="zh-CN" i="1" baseline="-25000" dirty="0">
                <a:latin typeface="微软雅黑" panose="020B0503020204020204" pitchFamily="34" charset="-122"/>
                <a:ea typeface="微软雅黑" panose="020B0503020204020204" pitchFamily="34" charset="-122"/>
              </a:rPr>
              <a:t>2</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 </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a:t>
            </a:r>
            <a:r>
              <a:rPr lang="en-US" altLang="zh-CN" i="1" baseline="-25000" dirty="0">
                <a:latin typeface="微软雅黑" panose="020B0503020204020204" pitchFamily="34" charset="-122"/>
                <a:ea typeface="微软雅黑" panose="020B0503020204020204" pitchFamily="34" charset="-122"/>
              </a:rPr>
              <a:t>i-</a:t>
            </a:r>
            <a:r>
              <a:rPr lang="en-US" altLang="zh-CN" baseline="-25000" dirty="0">
                <a:latin typeface="微软雅黑" panose="020B0503020204020204" pitchFamily="34" charset="-122"/>
                <a:ea typeface="微软雅黑" panose="020B0503020204020204" pitchFamily="34" charset="-122"/>
              </a:rPr>
              <a:t>1</a:t>
            </a:r>
            <a:r>
              <a:rPr lang="zh-CN" altLang="en-US" i="1" baseline="-25000" dirty="0">
                <a:latin typeface="微软雅黑" panose="020B0503020204020204" pitchFamily="34" charset="-122"/>
                <a:ea typeface="微软雅黑" panose="020B0503020204020204" pitchFamily="34" charset="-122"/>
              </a:rPr>
              <a:t>　 </a:t>
            </a:r>
            <a:r>
              <a:rPr lang="en-US" altLang="zh-CN"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a:t>
            </a:r>
            <a:r>
              <a:rPr lang="en-US" altLang="zh-CN" i="1" baseline="-25000" dirty="0">
                <a:latin typeface="微软雅黑" panose="020B0503020204020204" pitchFamily="34" charset="-122"/>
                <a:ea typeface="微软雅黑" panose="020B0503020204020204" pitchFamily="34" charset="-122"/>
              </a:rPr>
              <a:t>i</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a:t>
            </a:r>
            <a:r>
              <a:rPr lang="en-US" altLang="zh-CN" i="1" baseline="-25000" dirty="0">
                <a:latin typeface="微软雅黑" panose="020B0503020204020204" pitchFamily="34" charset="-122"/>
                <a:ea typeface="微软雅黑" panose="020B0503020204020204" pitchFamily="34" charset="-122"/>
              </a:rPr>
              <a:t>i+</a:t>
            </a:r>
            <a:r>
              <a:rPr lang="en-US" altLang="zh-CN" baseline="-25000" dirty="0">
                <a:latin typeface="微软雅黑" panose="020B0503020204020204" pitchFamily="34" charset="-122"/>
                <a:ea typeface="微软雅黑" panose="020B0503020204020204" pitchFamily="34" charset="-122"/>
              </a:rPr>
              <a:t>1</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t>
            </a:r>
            <a:r>
              <a:rPr lang="zh-CN" altLang="en-US" i="1" baseline="-25000"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a</a:t>
            </a:r>
            <a:r>
              <a:rPr lang="en-US" altLang="zh-CN" i="1" baseline="-25000" dirty="0">
                <a:latin typeface="微软雅黑" panose="020B0503020204020204" pitchFamily="34" charset="-122"/>
                <a:ea typeface="微软雅黑" panose="020B0503020204020204" pitchFamily="34" charset="-122"/>
              </a:rPr>
              <a:t>n </a:t>
            </a:r>
            <a:r>
              <a:rPr lang="zh-CN" altLang="en-US" i="1" baseline="-25000"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顺序表元素地址的计算方法</a:t>
            </a:r>
            <a:endParaRPr lang="zh-CN" altLang="en-US" sz="2000" dirty="0">
              <a:latin typeface="微软雅黑" panose="020B0503020204020204" pitchFamily="34" charset="-122"/>
              <a:ea typeface="微软雅黑" panose="020B0503020204020204" pitchFamily="34" charset="-122"/>
            </a:endParaRPr>
          </a:p>
          <a:p>
            <a:pPr lvl="2">
              <a:buFontTx/>
              <a:buNone/>
            </a:pP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LOC(a</a:t>
            </a:r>
            <a:r>
              <a:rPr lang="en-US" altLang="zh-CN" i="1" baseline="-25000"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 = LOC(a</a:t>
            </a:r>
            <a:r>
              <a:rPr lang="en-US" altLang="zh-CN" i="1" baseline="-25000"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i="1" dirty="0" err="1">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 - 1) * L</a:t>
            </a:r>
            <a:endPar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endParaRPr>
          </a:p>
          <a:p>
            <a:pPr lvl="2">
              <a:buFontTx/>
              <a:buNone/>
            </a:pP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LOC(a</a:t>
            </a:r>
            <a:r>
              <a:rPr lang="en-US" altLang="zh-CN" i="1" baseline="-25000"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i+1 </a:t>
            </a: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 = LOC(a</a:t>
            </a:r>
            <a:r>
              <a:rPr lang="en-US" altLang="zh-CN" i="1" baseline="-25000"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rPr>
              <a:t>) + L</a:t>
            </a:r>
            <a:endParaRPr lang="en-US" altLang="zh-CN" i="1" dirty="0">
              <a:solidFill>
                <a:srgbClr val="CC3300"/>
              </a:solidFill>
              <a:latin typeface="Times New Roman" panose="02020603050405020304" pitchFamily="18" charset="0"/>
              <a:ea typeface="微软雅黑" panose="020B0503020204020204" pitchFamily="34" charset="-122"/>
              <a:cs typeface="Times New Roman" panose="02020603050405020304" pitchFamily="18" charset="0"/>
            </a:endParaRPr>
          </a:p>
          <a:p>
            <a:pPr lvl="2">
              <a:buFontTx/>
              <a:buNone/>
            </a:pPr>
            <a:endParaRPr lang="en-US" altLang="zh-CN" dirty="0">
              <a:latin typeface="微软雅黑" panose="020B0503020204020204" pitchFamily="34" charset="-122"/>
              <a:ea typeface="微软雅黑" panose="020B0503020204020204" pitchFamily="34" charset="-122"/>
            </a:endParaRPr>
          </a:p>
          <a:p>
            <a:pPr lvl="2">
              <a:buFontTx/>
              <a:buNone/>
            </a:pPr>
            <a:r>
              <a:rPr lang="zh-CN" altLang="en-US" dirty="0">
                <a:latin typeface="微软雅黑" panose="020B0503020204020204" pitchFamily="34" charset="-122"/>
                <a:ea typeface="微软雅黑" panose="020B0503020204020204" pitchFamily="34" charset="-122"/>
              </a:rPr>
              <a:t>其中：</a:t>
            </a:r>
            <a:r>
              <a:rPr lang="en-US" altLang="zh-CN" dirty="0">
                <a:latin typeface="微软雅黑" panose="020B0503020204020204" pitchFamily="34" charset="-122"/>
                <a:ea typeface="微软雅黑" panose="020B0503020204020204" pitchFamily="34" charset="-122"/>
              </a:rPr>
              <a:t>	</a:t>
            </a:r>
            <a:r>
              <a:rPr lang="en-US" altLang="zh-CN" i="1" dirty="0">
                <a:latin typeface="微软雅黑" panose="020B0503020204020204" pitchFamily="34" charset="-122"/>
                <a:ea typeface="微软雅黑" panose="020B0503020204020204" pitchFamily="34" charset="-122"/>
              </a:rPr>
              <a:t>L </a:t>
            </a:r>
            <a:r>
              <a:rPr lang="zh-CN" altLang="en-US" dirty="0">
                <a:latin typeface="微软雅黑" panose="020B0503020204020204" pitchFamily="34" charset="-122"/>
                <a:ea typeface="微软雅黑" panose="020B0503020204020204" pitchFamily="34" charset="-122"/>
              </a:rPr>
              <a:t>表示一个元素占用的存储单元个数</a:t>
            </a:r>
            <a:endParaRPr lang="zh-CN" altLang="en-US" dirty="0">
              <a:latin typeface="微软雅黑" panose="020B0503020204020204" pitchFamily="34" charset="-122"/>
              <a:ea typeface="微软雅黑" panose="020B0503020204020204" pitchFamily="34" charset="-122"/>
            </a:endParaRPr>
          </a:p>
          <a:p>
            <a:pPr lvl="2">
              <a:buFontTx/>
              <a:buNone/>
            </a:pPr>
            <a:r>
              <a:rPr lang="en-US" altLang="zh-CN" dirty="0">
                <a:latin typeface="微软雅黑" panose="020B0503020204020204" pitchFamily="34" charset="-122"/>
                <a:ea typeface="微软雅黑" panose="020B0503020204020204" pitchFamily="34" charset="-122"/>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LOC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i="1" baseline="-25000" dirty="0">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rPr>
              <a:t>表示线性表第</a:t>
            </a:r>
            <a:r>
              <a:rPr lang="en-US" altLang="zh-CN" i="1"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个元素的地址</a:t>
            </a:r>
            <a:endParaRPr lang="zh-CN" altLang="en-US" dirty="0">
              <a:latin typeface="微软雅黑" panose="020B0503020204020204" pitchFamily="34" charset="-122"/>
              <a:ea typeface="微软雅黑" panose="020B0503020204020204" pitchFamily="34" charset="-122"/>
            </a:endParaRPr>
          </a:p>
          <a:p>
            <a:pPr lvl="2">
              <a:buFontTx/>
              <a:buNone/>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LOC</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rPr>
              <a:t>称线性表的起始位置或基地址</a:t>
            </a:r>
            <a:endParaRPr lang="zh-CN" altLang="en-US" dirty="0">
              <a:latin typeface="微软雅黑" panose="020B0503020204020204" pitchFamily="34" charset="-122"/>
              <a:ea typeface="微软雅黑" panose="020B0503020204020204" pitchFamily="34" charset="-122"/>
            </a:endParaRPr>
          </a:p>
        </p:txBody>
      </p:sp>
      <p:grpSp>
        <p:nvGrpSpPr>
          <p:cNvPr id="3" name="Group 19"/>
          <p:cNvGrpSpPr/>
          <p:nvPr/>
        </p:nvGrpSpPr>
        <p:grpSpPr bwMode="auto">
          <a:xfrm>
            <a:off x="644460" y="2211543"/>
            <a:ext cx="5734051" cy="557213"/>
            <a:chOff x="765" y="1386"/>
            <a:chExt cx="3612" cy="351"/>
          </a:xfrm>
        </p:grpSpPr>
        <p:sp>
          <p:nvSpPr>
            <p:cNvPr id="8" name="Line 5"/>
            <p:cNvSpPr>
              <a:spLocks noChangeShapeType="1"/>
            </p:cNvSpPr>
            <p:nvPr/>
          </p:nvSpPr>
          <p:spPr bwMode="gray">
            <a:xfrm>
              <a:off x="768" y="1392"/>
              <a:ext cx="36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6"/>
            <p:cNvSpPr>
              <a:spLocks noChangeShapeType="1"/>
            </p:cNvSpPr>
            <p:nvPr/>
          </p:nvSpPr>
          <p:spPr bwMode="gray">
            <a:xfrm>
              <a:off x="765" y="1728"/>
              <a:ext cx="36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Line 10"/>
            <p:cNvSpPr>
              <a:spLocks noChangeShapeType="1"/>
            </p:cNvSpPr>
            <p:nvPr/>
          </p:nvSpPr>
          <p:spPr bwMode="gray">
            <a:xfrm>
              <a:off x="1248"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11"/>
            <p:cNvSpPr>
              <a:spLocks noChangeShapeType="1"/>
            </p:cNvSpPr>
            <p:nvPr/>
          </p:nvSpPr>
          <p:spPr bwMode="gray">
            <a:xfrm>
              <a:off x="1623"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12"/>
            <p:cNvSpPr>
              <a:spLocks noChangeShapeType="1"/>
            </p:cNvSpPr>
            <p:nvPr/>
          </p:nvSpPr>
          <p:spPr bwMode="gray">
            <a:xfrm>
              <a:off x="2007"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13"/>
            <p:cNvSpPr>
              <a:spLocks noChangeShapeType="1"/>
            </p:cNvSpPr>
            <p:nvPr/>
          </p:nvSpPr>
          <p:spPr bwMode="gray">
            <a:xfrm>
              <a:off x="2394"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14"/>
            <p:cNvSpPr>
              <a:spLocks noChangeShapeType="1"/>
            </p:cNvSpPr>
            <p:nvPr/>
          </p:nvSpPr>
          <p:spPr bwMode="gray">
            <a:xfrm>
              <a:off x="3210"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Line 15"/>
            <p:cNvSpPr>
              <a:spLocks noChangeShapeType="1"/>
            </p:cNvSpPr>
            <p:nvPr/>
          </p:nvSpPr>
          <p:spPr bwMode="gray">
            <a:xfrm>
              <a:off x="3996"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Line 16"/>
            <p:cNvSpPr>
              <a:spLocks noChangeShapeType="1"/>
            </p:cNvSpPr>
            <p:nvPr/>
          </p:nvSpPr>
          <p:spPr bwMode="gray">
            <a:xfrm>
              <a:off x="882" y="1392"/>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Line 17"/>
            <p:cNvSpPr>
              <a:spLocks noChangeShapeType="1"/>
            </p:cNvSpPr>
            <p:nvPr/>
          </p:nvSpPr>
          <p:spPr bwMode="gray">
            <a:xfrm>
              <a:off x="3615" y="1401"/>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18"/>
            <p:cNvSpPr>
              <a:spLocks noChangeShapeType="1"/>
            </p:cNvSpPr>
            <p:nvPr/>
          </p:nvSpPr>
          <p:spPr bwMode="gray">
            <a:xfrm>
              <a:off x="2790" y="138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Rectangle 20"/>
          <p:cNvSpPr>
            <a:spLocks noChangeArrowheads="1"/>
          </p:cNvSpPr>
          <p:nvPr/>
        </p:nvSpPr>
        <p:spPr bwMode="gray">
          <a:xfrm>
            <a:off x="185690" y="858832"/>
            <a:ext cx="44359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r>
              <a:rPr lang="zh-CN" altLang="en-US" sz="2000" b="0" dirty="0">
                <a:latin typeface="微软雅黑" panose="020B0503020204020204" pitchFamily="34" charset="-122"/>
                <a:ea typeface="微软雅黑" panose="020B0503020204020204" pitchFamily="34" charset="-122"/>
              </a:rPr>
              <a:t>模板形式定义的顺序表类</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3" name="Rectangle 23"/>
          <p:cNvSpPr>
            <a:spLocks noChangeArrowheads="1"/>
          </p:cNvSpPr>
          <p:nvPr/>
        </p:nvSpPr>
        <p:spPr bwMode="auto">
          <a:xfrm>
            <a:off x="702128" y="1258942"/>
            <a:ext cx="8229600" cy="517843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dirty="0">
                <a:latin typeface="Times New Roman" panose="02020603050405020304" pitchFamily="18" charset="0"/>
                <a:cs typeface="Times New Roman" panose="02020603050405020304" pitchFamily="18" charset="0"/>
              </a:rPr>
              <a:t>template &lt;class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class </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 : public </a:t>
            </a:r>
            <a:r>
              <a:rPr lang="en-US" altLang="zh-CN" dirty="0">
                <a:solidFill>
                  <a:srgbClr val="FF0000"/>
                </a:solidFill>
                <a:latin typeface="Times New Roman" panose="02020603050405020304" pitchFamily="18" charset="0"/>
                <a:cs typeface="Times New Roman" panose="02020603050405020304" pitchFamily="18" charset="0"/>
              </a:rPr>
              <a:t>List&lt;</a:t>
            </a:r>
            <a:r>
              <a:rPr lang="en-US" altLang="zh-CN" dirty="0" err="1">
                <a:solidFill>
                  <a:srgbClr val="FF0000"/>
                </a:solidFill>
                <a:latin typeface="Times New Roman" panose="02020603050405020304" pitchFamily="18" charset="0"/>
                <a:cs typeface="Times New Roman" panose="02020603050405020304" pitchFamily="18" charset="0"/>
              </a:rPr>
              <a:t>ElemType</a:t>
            </a:r>
            <a:r>
              <a:rPr lang="en-US" altLang="zh-CN" dirty="0">
                <a:solidFill>
                  <a:srgbClr val="FF0000"/>
                </a:solidFill>
                <a:latin typeface="Times New Roman" panose="02020603050405020304" pitchFamily="18" charset="0"/>
                <a:cs typeface="Times New Roman" panose="02020603050405020304" pitchFamily="18" charset="0"/>
              </a:rPr>
              <a:t>&gt;</a:t>
            </a:r>
            <a:endParaRPr lang="en-US" altLang="zh-CN" dirty="0">
              <a:solidFill>
                <a:srgbClr val="FF0000"/>
              </a:solidFill>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public:</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(int m = 0);//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构造函数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(const </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&gt;&amp;);//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拷贝构造函数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析构函数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bool </a:t>
            </a:r>
            <a:r>
              <a:rPr lang="en-US" altLang="zh-CN" dirty="0" err="1">
                <a:latin typeface="Times New Roman" panose="02020603050405020304" pitchFamily="18" charset="0"/>
                <a:cs typeface="Times New Roman" panose="02020603050405020304" pitchFamily="18" charset="0"/>
              </a:rPr>
              <a:t>IsEmpty</a:t>
            </a:r>
            <a:r>
              <a:rPr lang="en-US" altLang="zh-CN" dirty="0">
                <a:latin typeface="Times New Roman" panose="02020603050405020304" pitchFamily="18" charset="0"/>
                <a:cs typeface="Times New Roman" panose="02020603050405020304" pitchFamily="18" charset="0"/>
              </a:rPr>
              <a:t>()const {return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&lt;= 0;}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判断顺序表是否为空表</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Length()const {return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求表长</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void Clear(){</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=0;}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置顺序表为空表 </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bool </a:t>
            </a:r>
            <a:r>
              <a:rPr lang="en-US" altLang="zh-CN" dirty="0" err="1">
                <a:latin typeface="Times New Roman" panose="02020603050405020304" pitchFamily="18" charset="0"/>
                <a:cs typeface="Times New Roman" panose="02020603050405020304" pitchFamily="18" charset="0"/>
              </a:rPr>
              <a:t>GetElem</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&amp;, int) const;//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表中取值</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bool </a:t>
            </a:r>
            <a:r>
              <a:rPr lang="en-US" altLang="zh-CN" dirty="0" err="1">
                <a:latin typeface="Times New Roman" panose="02020603050405020304" pitchFamily="18" charset="0"/>
                <a:cs typeface="Times New Roman" panose="02020603050405020304" pitchFamily="18" charset="0"/>
              </a:rPr>
              <a:t>SetElem</a:t>
            </a:r>
            <a:r>
              <a:rPr lang="en-US" altLang="zh-CN" dirty="0">
                <a:latin typeface="Times New Roman" panose="02020603050405020304" pitchFamily="18" charset="0"/>
                <a:cs typeface="Times New Roman" panose="02020603050405020304" pitchFamily="18" charset="0"/>
              </a:rPr>
              <a:t>(const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&amp;, int);//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表中存值</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LocateElem</a:t>
            </a:r>
            <a:r>
              <a:rPr lang="en-US" altLang="zh-CN" dirty="0">
                <a:latin typeface="Times New Roman" panose="02020603050405020304" pitchFamily="18" charset="0"/>
                <a:cs typeface="Times New Roman" panose="02020603050405020304" pitchFamily="18" charset="0"/>
              </a:rPr>
              <a:t>(const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&amp;) const;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查找表中符合条件的数据元素</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LocatePrior</a:t>
            </a:r>
            <a:r>
              <a:rPr lang="en-US" altLang="zh-CN" dirty="0">
                <a:latin typeface="Times New Roman" panose="02020603050405020304" pitchFamily="18" charset="0"/>
                <a:cs typeface="Times New Roman" panose="02020603050405020304" pitchFamily="18" charset="0"/>
              </a:rPr>
              <a:t>(const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&amp;) const;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查找表中符合条件的数据元素前驱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901995"/>
            <a:ext cx="11128634" cy="584775"/>
          </a:xfrm>
          <a:prstGeom prst="rect">
            <a:avLst/>
          </a:prstGeom>
          <a:noFill/>
        </p:spPr>
        <p:txBody>
          <a:bodyPr wrap="square">
            <a:spAutoFit/>
          </a:bodyPr>
          <a:lstStyle/>
          <a:p>
            <a:pPr>
              <a:buFontTx/>
              <a:buNone/>
            </a:pPr>
            <a:endParaRPr lang="zh-CN" altLang="en-US" sz="3200" dirty="0">
              <a:latin typeface="微软雅黑" panose="020B0503020204020204" pitchFamily="34" charset="-122"/>
              <a:ea typeface="微软雅黑" panose="020B0503020204020204" pitchFamily="34" charset="-122"/>
            </a:endParaRPr>
          </a:p>
        </p:txBody>
      </p:sp>
      <p:sp>
        <p:nvSpPr>
          <p:cNvPr id="2" name="Rectangle 4"/>
          <p:cNvSpPr>
            <a:spLocks noChangeArrowheads="1"/>
          </p:cNvSpPr>
          <p:nvPr/>
        </p:nvSpPr>
        <p:spPr bwMode="gray">
          <a:xfrm>
            <a:off x="82612" y="981093"/>
            <a:ext cx="495118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r>
              <a:rPr lang="zh-CN" altLang="en-US" sz="2000" b="0" dirty="0">
                <a:latin typeface="微软雅黑" panose="020B0503020204020204" pitchFamily="34" charset="-122"/>
                <a:ea typeface="微软雅黑" panose="020B0503020204020204" pitchFamily="34" charset="-122"/>
              </a:rPr>
              <a:t>模板形式定义的顺序表类</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续</a:t>
            </a:r>
            <a:r>
              <a:rPr lang="en-US" altLang="zh-CN" sz="2000" b="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p:txBody>
      </p:sp>
      <p:sp>
        <p:nvSpPr>
          <p:cNvPr id="3" name="Rectangle 23"/>
          <p:cNvSpPr>
            <a:spLocks noChangeArrowheads="1"/>
          </p:cNvSpPr>
          <p:nvPr/>
        </p:nvSpPr>
        <p:spPr bwMode="auto">
          <a:xfrm>
            <a:off x="533400" y="1460301"/>
            <a:ext cx="8315325" cy="497707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zh-CN" altLang="en-US" sz="1600" b="0" i="1"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LocateNext</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查找表中符合条件的数据元素后继</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bool 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 int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在表中指定位置插入</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bool Append(const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表尾插入</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bool Delete(</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 int);//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删除表中指定位置的数据元素</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void Traverse(void (*visit)(const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顺序表的遍历</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operator=(const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&gt;&amp;);</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赋值运算符</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的重载</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solidFill>
                  <a:srgbClr val="FF0000"/>
                </a:solidFill>
                <a:latin typeface="Times New Roman" panose="02020603050405020304" pitchFamily="18" charset="0"/>
                <a:cs typeface="Times New Roman" panose="02020603050405020304" pitchFamily="18" charset="0"/>
              </a:rPr>
              <a:t>private:</a:t>
            </a:r>
            <a:endParaRPr lang="en-US" altLang="zh-CN" b="0" dirty="0">
              <a:solidFill>
                <a:srgbClr val="FF0000"/>
              </a:solidFill>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当前线性表的长度</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size;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当前顺序空间的大小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a:t>
            </a:r>
            <a:r>
              <a:rPr lang="en-US" altLang="zh-CN" b="0" dirty="0">
                <a:latin typeface="Times New Roman" panose="02020603050405020304" pitchFamily="18" charset="0"/>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顺序空间的基地址指针 </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void </a:t>
            </a:r>
            <a:r>
              <a:rPr lang="en-US" altLang="zh-CN" b="0" dirty="0" err="1">
                <a:latin typeface="Times New Roman" panose="02020603050405020304" pitchFamily="18" charset="0"/>
                <a:cs typeface="Times New Roman" panose="02020603050405020304" pitchFamily="18" charset="0"/>
              </a:rPr>
              <a:t>CopyFrom</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&gt;&amp;);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拷贝函数</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Rectangle 20"/>
          <p:cNvSpPr>
            <a:spLocks noChangeArrowheads="1"/>
          </p:cNvSpPr>
          <p:nvPr/>
        </p:nvSpPr>
        <p:spPr bwMode="gray">
          <a:xfrm>
            <a:off x="380999" y="977636"/>
            <a:ext cx="44359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顺序表初始化</a:t>
            </a:r>
            <a:r>
              <a:rPr lang="zh-CN" altLang="en-US"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43668" y="1558105"/>
            <a:ext cx="7391400" cy="3581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构造函数。分配</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个存储单元的顺序空间，线性表为空表（长度为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rPr>
              <a:t>template &lt;class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endParaRPr lang="en-US" altLang="zh-CN" b="0" dirty="0">
              <a:latin typeface="Times New Roman" panose="02020603050405020304" pitchFamily="18" charset="0"/>
            </a:endParaRPr>
          </a:p>
          <a:p>
            <a:pPr>
              <a:spcBef>
                <a:spcPct val="20000"/>
              </a:spcBef>
              <a:defRPr/>
            </a:pPr>
            <a:r>
              <a:rPr lang="en-US" altLang="zh-CN" b="0" dirty="0" err="1">
                <a:latin typeface="Times New Roman" panose="02020603050405020304" pitchFamily="18" charset="0"/>
              </a:rPr>
              <a:t>SqList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r>
              <a:rPr lang="en-US" altLang="zh-CN" b="0" dirty="0" err="1">
                <a:latin typeface="Times New Roman" panose="02020603050405020304" pitchFamily="18" charset="0"/>
              </a:rPr>
              <a:t>SqList</a:t>
            </a:r>
            <a:r>
              <a:rPr lang="en-US" altLang="zh-CN" b="0" dirty="0">
                <a:latin typeface="Times New Roman" panose="02020603050405020304" pitchFamily="18" charset="0"/>
              </a:rPr>
              <a:t>(int m)</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len</a:t>
            </a:r>
            <a:r>
              <a:rPr lang="en-US" altLang="zh-CN" b="0" dirty="0">
                <a:latin typeface="Times New Roman" panose="02020603050405020304" pitchFamily="18" charset="0"/>
              </a:rPr>
              <a:t> = 0;</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if (m == 0)</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elem</a:t>
            </a:r>
            <a:r>
              <a:rPr lang="en-US" altLang="zh-CN" b="0" dirty="0">
                <a:latin typeface="Times New Roman" panose="02020603050405020304" pitchFamily="18" charset="0"/>
              </a:rPr>
              <a:t> = NULL;</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else</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elem</a:t>
            </a:r>
            <a:r>
              <a:rPr lang="en-US" altLang="zh-CN" b="0" dirty="0">
                <a:latin typeface="Times New Roman" panose="02020603050405020304" pitchFamily="18" charset="0"/>
              </a:rPr>
              <a:t> = new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[m];</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size = m;</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a:solidFill>
                  <a:srgbClr val="000066"/>
                </a:solidFill>
                <a:latin typeface="Times New Roman" panose="02020603050405020304" pitchFamily="18" charset="0"/>
              </a:rPr>
              <a:t> </a:t>
            </a:r>
            <a:endParaRPr lang="zh-CN" altLang="en-US" b="0" dirty="0">
              <a:solidFill>
                <a:srgbClr val="000066"/>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内容占位符 2"/>
          <p:cNvSpPr/>
          <p:nvPr/>
        </p:nvSpPr>
        <p:spPr bwMode="gray">
          <a:xfrm>
            <a:off x="392806" y="1209704"/>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顺序表初始化前后数据成员的变化</a:t>
            </a:r>
            <a:endParaRPr lang="zh-CN" altLang="en-US" sz="2000" b="0" dirty="0">
              <a:latin typeface="微软雅黑" panose="020B0503020204020204" pitchFamily="34" charset="-122"/>
              <a:ea typeface="微软雅黑" panose="020B0503020204020204" pitchFamily="34" charset="-122"/>
            </a:endParaRPr>
          </a:p>
        </p:txBody>
      </p:sp>
      <p:grpSp>
        <p:nvGrpSpPr>
          <p:cNvPr id="8" name="Group 50"/>
          <p:cNvGrpSpPr/>
          <p:nvPr/>
        </p:nvGrpSpPr>
        <p:grpSpPr bwMode="auto">
          <a:xfrm>
            <a:off x="3561530" y="1857404"/>
            <a:ext cx="4724400" cy="1193800"/>
            <a:chOff x="1512" y="1296"/>
            <a:chExt cx="2976" cy="752"/>
          </a:xfrm>
        </p:grpSpPr>
        <p:grpSp>
          <p:nvGrpSpPr>
            <p:cNvPr id="9" name="Group 47"/>
            <p:cNvGrpSpPr/>
            <p:nvPr/>
          </p:nvGrpSpPr>
          <p:grpSpPr bwMode="auto">
            <a:xfrm>
              <a:off x="1512" y="1560"/>
              <a:ext cx="2976" cy="488"/>
              <a:chOff x="1512" y="1560"/>
              <a:chExt cx="2976" cy="488"/>
            </a:xfrm>
          </p:grpSpPr>
          <p:grpSp>
            <p:nvGrpSpPr>
              <p:cNvPr id="20" name="Group 46"/>
              <p:cNvGrpSpPr/>
              <p:nvPr/>
            </p:nvGrpSpPr>
            <p:grpSpPr bwMode="auto">
              <a:xfrm>
                <a:off x="1512" y="1560"/>
                <a:ext cx="2976" cy="488"/>
                <a:chOff x="1512" y="1560"/>
                <a:chExt cx="2976" cy="488"/>
              </a:xfrm>
            </p:grpSpPr>
            <p:sp>
              <p:nvSpPr>
                <p:cNvPr id="22" name="Rectangle 22"/>
                <p:cNvSpPr>
                  <a:spLocks noChangeArrowheads="1"/>
                </p:cNvSpPr>
                <p:nvPr/>
              </p:nvSpPr>
              <p:spPr bwMode="gray">
                <a:xfrm>
                  <a:off x="1512" y="1560"/>
                  <a:ext cx="297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sp>
              <p:nvSpPr>
                <p:cNvPr id="23" name="Line 23"/>
                <p:cNvSpPr>
                  <a:spLocks noChangeShapeType="1"/>
                </p:cNvSpPr>
                <p:nvPr/>
              </p:nvSpPr>
              <p:spPr bwMode="gray">
                <a:xfrm>
                  <a:off x="1832" y="1560"/>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24"/>
                <p:cNvSpPr>
                  <a:spLocks noChangeShapeType="1"/>
                </p:cNvSpPr>
                <p:nvPr/>
              </p:nvSpPr>
              <p:spPr bwMode="gray">
                <a:xfrm>
                  <a:off x="2144" y="15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Line 25"/>
                <p:cNvSpPr>
                  <a:spLocks noChangeShapeType="1"/>
                </p:cNvSpPr>
                <p:nvPr/>
              </p:nvSpPr>
              <p:spPr bwMode="gray">
                <a:xfrm>
                  <a:off x="3080" y="1560"/>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Line 26"/>
                <p:cNvSpPr>
                  <a:spLocks noChangeShapeType="1"/>
                </p:cNvSpPr>
                <p:nvPr/>
              </p:nvSpPr>
              <p:spPr bwMode="gray">
                <a:xfrm>
                  <a:off x="3400" y="1560"/>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28"/>
                <p:cNvSpPr>
                  <a:spLocks noChangeShapeType="1"/>
                </p:cNvSpPr>
                <p:nvPr/>
              </p:nvSpPr>
              <p:spPr bwMode="gray">
                <a:xfrm>
                  <a:off x="4184" y="1568"/>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29"/>
                <p:cNvSpPr>
                  <a:spLocks noChangeShapeType="1"/>
                </p:cNvSpPr>
                <p:nvPr/>
              </p:nvSpPr>
              <p:spPr bwMode="gray">
                <a:xfrm>
                  <a:off x="2456" y="1560"/>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30"/>
                <p:cNvSpPr>
                  <a:spLocks noChangeShapeType="1"/>
                </p:cNvSpPr>
                <p:nvPr/>
              </p:nvSpPr>
              <p:spPr bwMode="gray">
                <a:xfrm>
                  <a:off x="2760" y="1560"/>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1" name="Rectangle 36"/>
              <p:cNvSpPr>
                <a:spLocks noChangeArrowheads="1"/>
              </p:cNvSpPr>
              <p:nvPr/>
            </p:nvSpPr>
            <p:spPr bwMode="gray">
              <a:xfrm>
                <a:off x="3400" y="1560"/>
                <a:ext cx="791"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nvGrpSpPr>
            <p:cNvPr id="10" name="Group 49"/>
            <p:cNvGrpSpPr/>
            <p:nvPr/>
          </p:nvGrpSpPr>
          <p:grpSpPr bwMode="auto">
            <a:xfrm>
              <a:off x="1560" y="1296"/>
              <a:ext cx="2856" cy="240"/>
              <a:chOff x="1560" y="1296"/>
              <a:chExt cx="2856" cy="240"/>
            </a:xfrm>
          </p:grpSpPr>
          <p:sp>
            <p:nvSpPr>
              <p:cNvPr id="11" name="Rectangle 42"/>
              <p:cNvSpPr>
                <a:spLocks noChangeArrowheads="1"/>
              </p:cNvSpPr>
              <p:nvPr/>
            </p:nvSpPr>
            <p:spPr bwMode="gray">
              <a:xfrm>
                <a:off x="4224"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12" name="Group 48"/>
              <p:cNvGrpSpPr/>
              <p:nvPr/>
            </p:nvGrpSpPr>
            <p:grpSpPr bwMode="auto">
              <a:xfrm>
                <a:off x="1560" y="1296"/>
                <a:ext cx="1760" cy="240"/>
                <a:chOff x="1560" y="1296"/>
                <a:chExt cx="1760" cy="240"/>
              </a:xfrm>
            </p:grpSpPr>
            <p:sp>
              <p:nvSpPr>
                <p:cNvPr id="14" name="Rectangle 38"/>
                <p:cNvSpPr>
                  <a:spLocks noChangeArrowheads="1"/>
                </p:cNvSpPr>
                <p:nvPr/>
              </p:nvSpPr>
              <p:spPr bwMode="gray">
                <a:xfrm>
                  <a:off x="1560"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15" name="Rectangle 39"/>
                <p:cNvSpPr>
                  <a:spLocks noChangeArrowheads="1"/>
                </p:cNvSpPr>
                <p:nvPr/>
              </p:nvSpPr>
              <p:spPr bwMode="gray">
                <a:xfrm>
                  <a:off x="2528"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3</a:t>
                  </a:r>
                  <a:endParaRPr lang="en-US" altLang="zh-CN" b="0" dirty="0"/>
                </a:p>
              </p:txBody>
            </p:sp>
            <p:sp>
              <p:nvSpPr>
                <p:cNvPr id="16" name="Rectangle 40"/>
                <p:cNvSpPr>
                  <a:spLocks noChangeArrowheads="1"/>
                </p:cNvSpPr>
                <p:nvPr/>
              </p:nvSpPr>
              <p:spPr bwMode="gray">
                <a:xfrm>
                  <a:off x="283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4</a:t>
                  </a:r>
                  <a:endParaRPr lang="en-US" altLang="zh-CN" b="0"/>
                </a:p>
              </p:txBody>
            </p:sp>
            <p:sp>
              <p:nvSpPr>
                <p:cNvPr id="17" name="Rectangle 41"/>
                <p:cNvSpPr>
                  <a:spLocks noChangeArrowheads="1"/>
                </p:cNvSpPr>
                <p:nvPr/>
              </p:nvSpPr>
              <p:spPr bwMode="gray">
                <a:xfrm>
                  <a:off x="3128"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5</a:t>
                  </a:r>
                  <a:endParaRPr lang="en-US" altLang="zh-CN" b="0"/>
                </a:p>
              </p:txBody>
            </p:sp>
            <p:sp>
              <p:nvSpPr>
                <p:cNvPr id="18" name="Rectangle 43"/>
                <p:cNvSpPr>
                  <a:spLocks noChangeArrowheads="1"/>
                </p:cNvSpPr>
                <p:nvPr/>
              </p:nvSpPr>
              <p:spPr bwMode="gray">
                <a:xfrm>
                  <a:off x="2208"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2</a:t>
                  </a:r>
                  <a:endParaRPr lang="en-US" altLang="zh-CN" b="0"/>
                </a:p>
              </p:txBody>
            </p:sp>
            <p:sp>
              <p:nvSpPr>
                <p:cNvPr id="19" name="Rectangle 44"/>
                <p:cNvSpPr>
                  <a:spLocks noChangeArrowheads="1"/>
                </p:cNvSpPr>
                <p:nvPr/>
              </p:nvSpPr>
              <p:spPr bwMode="gray">
                <a:xfrm>
                  <a:off x="1880"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grpSp>
        </p:grpSp>
      </p:grpSp>
      <p:grpSp>
        <p:nvGrpSpPr>
          <p:cNvPr id="30" name="Group 51"/>
          <p:cNvGrpSpPr/>
          <p:nvPr/>
        </p:nvGrpSpPr>
        <p:grpSpPr bwMode="auto">
          <a:xfrm>
            <a:off x="2850331" y="2639007"/>
            <a:ext cx="685800" cy="1219200"/>
            <a:chOff x="1072" y="1776"/>
            <a:chExt cx="432" cy="768"/>
          </a:xfrm>
        </p:grpSpPr>
        <p:sp>
          <p:nvSpPr>
            <p:cNvPr id="31" name="Line 3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3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3" name="Group 20"/>
          <p:cNvGrpSpPr/>
          <p:nvPr/>
        </p:nvGrpSpPr>
        <p:grpSpPr bwMode="auto">
          <a:xfrm>
            <a:off x="1783531" y="3764893"/>
            <a:ext cx="1409700" cy="1447800"/>
            <a:chOff x="600" y="1488"/>
            <a:chExt cx="888" cy="912"/>
          </a:xfrm>
        </p:grpSpPr>
        <p:sp>
          <p:nvSpPr>
            <p:cNvPr id="34" name="Rectangle 10"/>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35" name="Line 11"/>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13"/>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Rectangle 15"/>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38" name="Rectangle 16"/>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39" name="Rectangle 17"/>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sp>
        <p:nvSpPr>
          <p:cNvPr id="40" name="Rectangle 18"/>
          <p:cNvSpPr>
            <a:spLocks noChangeArrowheads="1"/>
          </p:cNvSpPr>
          <p:nvPr/>
        </p:nvSpPr>
        <p:spPr bwMode="gray">
          <a:xfrm>
            <a:off x="2545531" y="4344949"/>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0</a:t>
            </a:r>
            <a:endParaRPr lang="en-US" altLang="zh-CN" b="0" dirty="0"/>
          </a:p>
        </p:txBody>
      </p:sp>
      <p:grpSp>
        <p:nvGrpSpPr>
          <p:cNvPr id="41" name="Group 21"/>
          <p:cNvGrpSpPr/>
          <p:nvPr/>
        </p:nvGrpSpPr>
        <p:grpSpPr bwMode="auto">
          <a:xfrm>
            <a:off x="1427833" y="4377361"/>
            <a:ext cx="1568450" cy="776288"/>
            <a:chOff x="1056" y="1872"/>
            <a:chExt cx="988" cy="489"/>
          </a:xfrm>
        </p:grpSpPr>
        <p:sp>
          <p:nvSpPr>
            <p:cNvPr id="42" name="Rectangle 18"/>
            <p:cNvSpPr>
              <a:spLocks noChangeArrowheads="1"/>
            </p:cNvSpPr>
            <p:nvPr/>
          </p:nvSpPr>
          <p:spPr bwMode="gray">
            <a:xfrm>
              <a:off x="1056"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dirty="0"/>
            </a:p>
          </p:txBody>
        </p:sp>
        <p:sp>
          <p:nvSpPr>
            <p:cNvPr id="43" name="Rectangle 19"/>
            <p:cNvSpPr>
              <a:spLocks noChangeArrowheads="1"/>
            </p:cNvSpPr>
            <p:nvPr/>
          </p:nvSpPr>
          <p:spPr bwMode="gray">
            <a:xfrm>
              <a:off x="1756" y="2169"/>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m</a:t>
              </a:r>
              <a:endParaRPr lang="en-US" altLang="zh-CN" b="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linds(horizontal)">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内容占位符 2"/>
          <p:cNvSpPr txBox="1"/>
          <p:nvPr/>
        </p:nvSpPr>
        <p:spPr>
          <a:xfrm>
            <a:off x="392806" y="1209704"/>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顺序表的复制</a:t>
            </a:r>
            <a:r>
              <a:rPr lang="zh-CN" altLang="en-US"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643668" y="1857404"/>
            <a:ext cx="7391400" cy="3581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拷贝构造函数。从现有的顺序表中拷贝构造出一个线性表</a:t>
            </a:r>
            <a:endParaRPr lang="zh-CN" altLang="en-US" sz="1800"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rPr>
              <a:t>template&lt;class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endParaRPr lang="en-US" altLang="zh-CN" b="0" dirty="0">
              <a:latin typeface="Times New Roman" panose="02020603050405020304" pitchFamily="18" charset="0"/>
            </a:endParaRPr>
          </a:p>
          <a:p>
            <a:pPr>
              <a:spcBef>
                <a:spcPct val="20000"/>
              </a:spcBef>
              <a:defRPr/>
            </a:pPr>
            <a:r>
              <a:rPr lang="en-US" altLang="zh-CN" b="0" dirty="0" err="1">
                <a:latin typeface="Times New Roman" panose="02020603050405020304" pitchFamily="18" charset="0"/>
              </a:rPr>
              <a:t>SqList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r>
              <a:rPr lang="en-US" altLang="zh-CN" b="0" dirty="0" err="1">
                <a:latin typeface="Times New Roman" panose="02020603050405020304" pitchFamily="18" charset="0"/>
              </a:rPr>
              <a:t>SqList</a:t>
            </a:r>
            <a:r>
              <a:rPr lang="en-US" altLang="zh-CN" b="0" dirty="0">
                <a:latin typeface="Times New Roman" panose="02020603050405020304" pitchFamily="18" charset="0"/>
              </a:rPr>
              <a:t>(const </a:t>
            </a:r>
            <a:r>
              <a:rPr lang="en-US" altLang="zh-CN" b="0" dirty="0" err="1">
                <a:latin typeface="Times New Roman" panose="02020603050405020304" pitchFamily="18" charset="0"/>
              </a:rPr>
              <a:t>SqList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 &amp;r)</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len</a:t>
            </a:r>
            <a:r>
              <a:rPr lang="en-US" altLang="zh-CN" b="0" dirty="0">
                <a:latin typeface="Times New Roman" panose="02020603050405020304" pitchFamily="18" charset="0"/>
              </a:rPr>
              <a:t> = 0;</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size = 0;</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elem</a:t>
            </a:r>
            <a:r>
              <a:rPr lang="en-US" altLang="zh-CN" b="0" dirty="0">
                <a:latin typeface="Times New Roman" panose="02020603050405020304" pitchFamily="18" charset="0"/>
              </a:rPr>
              <a:t> = NULL;</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CopyFrom</a:t>
            </a:r>
            <a:r>
              <a:rPr lang="en-US" altLang="zh-CN" b="0" dirty="0">
                <a:latin typeface="Times New Roman" panose="02020603050405020304" pitchFamily="18" charset="0"/>
              </a:rPr>
              <a:t>(r);// </a:t>
            </a:r>
            <a:r>
              <a:rPr lang="zh-CN" altLang="en-US" b="0" dirty="0">
                <a:latin typeface="微软雅黑" panose="020B0503020204020204" pitchFamily="34" charset="-122"/>
                <a:ea typeface="微软雅黑" panose="020B0503020204020204" pitchFamily="34" charset="-122"/>
              </a:rPr>
              <a:t>从</a:t>
            </a:r>
            <a:r>
              <a:rPr lang="en-US" altLang="zh-CN" b="0" dirty="0">
                <a:latin typeface="微软雅黑" panose="020B0503020204020204" pitchFamily="34" charset="-122"/>
                <a:ea typeface="微软雅黑" panose="020B0503020204020204" pitchFamily="34" charset="-122"/>
              </a:rPr>
              <a:t>r</a:t>
            </a:r>
            <a:r>
              <a:rPr lang="zh-CN" altLang="en-US" b="0" dirty="0">
                <a:latin typeface="微软雅黑" panose="020B0503020204020204" pitchFamily="34" charset="-122"/>
                <a:ea typeface="微软雅黑" panose="020B0503020204020204" pitchFamily="34" charset="-122"/>
              </a:rPr>
              <a:t>所引用的顺序表中复制所有的元素</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rPr>
              <a:t>}</a:t>
            </a:r>
            <a:r>
              <a:rPr lang="en-US" altLang="zh-CN"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内容占位符 2"/>
          <p:cNvSpPr/>
          <p:nvPr/>
        </p:nvSpPr>
        <p:spPr bwMode="gray">
          <a:xfrm>
            <a:off x="392806" y="9906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顺序表复制前后数据成员的变化</a:t>
            </a:r>
            <a:endParaRPr lang="zh-CN" altLang="en-US" sz="2000" b="0" dirty="0">
              <a:latin typeface="微软雅黑" panose="020B0503020204020204" pitchFamily="34" charset="-122"/>
              <a:ea typeface="微软雅黑" panose="020B0503020204020204" pitchFamily="34" charset="-122"/>
            </a:endParaRPr>
          </a:p>
        </p:txBody>
      </p:sp>
      <p:grpSp>
        <p:nvGrpSpPr>
          <p:cNvPr id="4" name="Group 81"/>
          <p:cNvGrpSpPr/>
          <p:nvPr/>
        </p:nvGrpSpPr>
        <p:grpSpPr bwMode="auto">
          <a:xfrm>
            <a:off x="3209925" y="1560654"/>
            <a:ext cx="5772150" cy="1181100"/>
            <a:chOff x="1524" y="1233"/>
            <a:chExt cx="3636" cy="744"/>
          </a:xfrm>
        </p:grpSpPr>
        <p:grpSp>
          <p:nvGrpSpPr>
            <p:cNvPr id="9" name="Group 79"/>
            <p:cNvGrpSpPr/>
            <p:nvPr/>
          </p:nvGrpSpPr>
          <p:grpSpPr bwMode="auto">
            <a:xfrm>
              <a:off x="1581" y="1233"/>
              <a:ext cx="3554" cy="255"/>
              <a:chOff x="1581" y="1233"/>
              <a:chExt cx="3554" cy="255"/>
            </a:xfrm>
          </p:grpSpPr>
          <p:sp>
            <p:nvSpPr>
              <p:cNvPr id="27" name="Rectangle 30"/>
              <p:cNvSpPr>
                <a:spLocks noChangeArrowheads="1"/>
              </p:cNvSpPr>
              <p:nvPr/>
            </p:nvSpPr>
            <p:spPr bwMode="gray">
              <a:xfrm>
                <a:off x="4943" y="124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28" name="Group 61"/>
              <p:cNvGrpSpPr/>
              <p:nvPr/>
            </p:nvGrpSpPr>
            <p:grpSpPr bwMode="auto">
              <a:xfrm>
                <a:off x="1581" y="1233"/>
                <a:ext cx="2716" cy="255"/>
                <a:chOff x="1548" y="1281"/>
                <a:chExt cx="2716" cy="255"/>
              </a:xfrm>
            </p:grpSpPr>
            <p:sp>
              <p:nvSpPr>
                <p:cNvPr id="29" name="Rectangle 32"/>
                <p:cNvSpPr>
                  <a:spLocks noChangeArrowheads="1"/>
                </p:cNvSpPr>
                <p:nvPr/>
              </p:nvSpPr>
              <p:spPr bwMode="gray">
                <a:xfrm>
                  <a:off x="154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30" name="Rectangle 33"/>
                <p:cNvSpPr>
                  <a:spLocks noChangeArrowheads="1"/>
                </p:cNvSpPr>
                <p:nvPr/>
              </p:nvSpPr>
              <p:spPr bwMode="gray">
                <a:xfrm>
                  <a:off x="265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i-2</a:t>
                  </a:r>
                  <a:endParaRPr lang="en-US" altLang="zh-CN" b="0"/>
                </a:p>
              </p:txBody>
            </p:sp>
            <p:sp>
              <p:nvSpPr>
                <p:cNvPr id="31" name="Rectangle 34"/>
                <p:cNvSpPr>
                  <a:spLocks noChangeArrowheads="1"/>
                </p:cNvSpPr>
                <p:nvPr/>
              </p:nvSpPr>
              <p:spPr bwMode="gray">
                <a:xfrm>
                  <a:off x="295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i-1</a:t>
                  </a:r>
                  <a:endParaRPr lang="en-US" altLang="zh-CN" b="0"/>
                </a:p>
              </p:txBody>
            </p:sp>
            <p:sp>
              <p:nvSpPr>
                <p:cNvPr id="32" name="Rectangle 35"/>
                <p:cNvSpPr>
                  <a:spLocks noChangeArrowheads="1"/>
                </p:cNvSpPr>
                <p:nvPr/>
              </p:nvSpPr>
              <p:spPr bwMode="gray">
                <a:xfrm>
                  <a:off x="321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a:t>
                  </a:r>
                  <a:endParaRPr lang="en-US" altLang="zh-CN" b="0"/>
                </a:p>
              </p:txBody>
            </p:sp>
            <p:sp>
              <p:nvSpPr>
                <p:cNvPr id="33" name="Rectangle 37"/>
                <p:cNvSpPr>
                  <a:spLocks noChangeArrowheads="1"/>
                </p:cNvSpPr>
                <p:nvPr/>
              </p:nvSpPr>
              <p:spPr bwMode="gray">
                <a:xfrm>
                  <a:off x="186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sp>
              <p:nvSpPr>
                <p:cNvPr id="34" name="Rectangle 58"/>
                <p:cNvSpPr>
                  <a:spLocks noChangeArrowheads="1"/>
                </p:cNvSpPr>
                <p:nvPr/>
              </p:nvSpPr>
              <p:spPr bwMode="gray">
                <a:xfrm>
                  <a:off x="4072" y="1284"/>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grpSp>
        </p:grpSp>
        <p:grpSp>
          <p:nvGrpSpPr>
            <p:cNvPr id="10" name="Group 80"/>
            <p:cNvGrpSpPr/>
            <p:nvPr/>
          </p:nvGrpSpPr>
          <p:grpSpPr bwMode="auto">
            <a:xfrm>
              <a:off x="1580" y="1585"/>
              <a:ext cx="2716" cy="255"/>
              <a:chOff x="1580" y="1585"/>
              <a:chExt cx="2716" cy="255"/>
            </a:xfrm>
          </p:grpSpPr>
          <p:sp>
            <p:nvSpPr>
              <p:cNvPr id="21" name="Rectangle 66"/>
              <p:cNvSpPr>
                <a:spLocks noChangeArrowheads="1"/>
              </p:cNvSpPr>
              <p:nvPr/>
            </p:nvSpPr>
            <p:spPr bwMode="gray">
              <a:xfrm>
                <a:off x="1580"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1</a:t>
                </a:r>
                <a:endParaRPr lang="en-US" altLang="zh-CN" sz="1000" b="0"/>
              </a:p>
            </p:txBody>
          </p:sp>
          <p:sp>
            <p:nvSpPr>
              <p:cNvPr id="22" name="Rectangle 67"/>
              <p:cNvSpPr>
                <a:spLocks noChangeArrowheads="1"/>
              </p:cNvSpPr>
              <p:nvPr/>
            </p:nvSpPr>
            <p:spPr bwMode="gray">
              <a:xfrm>
                <a:off x="268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3" name="Rectangle 68"/>
              <p:cNvSpPr>
                <a:spLocks noChangeArrowheads="1"/>
              </p:cNvSpPr>
              <p:nvPr/>
            </p:nvSpPr>
            <p:spPr bwMode="gray">
              <a:xfrm>
                <a:off x="2984"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a:t>
                </a:r>
                <a:endParaRPr lang="en-US" altLang="zh-CN" sz="1000" b="0"/>
              </a:p>
            </p:txBody>
          </p:sp>
          <p:sp>
            <p:nvSpPr>
              <p:cNvPr id="24" name="Rectangle 69"/>
              <p:cNvSpPr>
                <a:spLocks noChangeArrowheads="1"/>
              </p:cNvSpPr>
              <p:nvPr/>
            </p:nvSpPr>
            <p:spPr bwMode="gray">
              <a:xfrm>
                <a:off x="324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5" name="Rectangle 70"/>
              <p:cNvSpPr>
                <a:spLocks noChangeArrowheads="1"/>
              </p:cNvSpPr>
              <p:nvPr/>
            </p:nvSpPr>
            <p:spPr bwMode="gray">
              <a:xfrm>
                <a:off x="1828"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2</a:t>
                </a:r>
                <a:endParaRPr lang="en-US" altLang="zh-CN" sz="1000" b="0"/>
              </a:p>
            </p:txBody>
          </p:sp>
          <p:sp>
            <p:nvSpPr>
              <p:cNvPr id="26" name="Rectangle 71"/>
              <p:cNvSpPr>
                <a:spLocks noChangeArrowheads="1"/>
              </p:cNvSpPr>
              <p:nvPr/>
            </p:nvSpPr>
            <p:spPr bwMode="gray">
              <a:xfrm>
                <a:off x="4104" y="158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n</a:t>
                </a:r>
                <a:endParaRPr lang="en-US" altLang="zh-CN" sz="1000" b="0"/>
              </a:p>
            </p:txBody>
          </p:sp>
        </p:grpSp>
        <p:grpSp>
          <p:nvGrpSpPr>
            <p:cNvPr id="11" name="Group 78"/>
            <p:cNvGrpSpPr/>
            <p:nvPr/>
          </p:nvGrpSpPr>
          <p:grpSpPr bwMode="auto">
            <a:xfrm>
              <a:off x="1524" y="1496"/>
              <a:ext cx="3636" cy="481"/>
              <a:chOff x="1524" y="1496"/>
              <a:chExt cx="3636" cy="481"/>
            </a:xfrm>
          </p:grpSpPr>
          <p:sp>
            <p:nvSpPr>
              <p:cNvPr id="12" name="Rectangle 20"/>
              <p:cNvSpPr>
                <a:spLocks noChangeArrowheads="1"/>
              </p:cNvSpPr>
              <p:nvPr/>
            </p:nvSpPr>
            <p:spPr bwMode="gray">
              <a:xfrm>
                <a:off x="1524" y="1497"/>
                <a:ext cx="363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grpSp>
            <p:nvGrpSpPr>
              <p:cNvPr id="14" name="Group 74"/>
              <p:cNvGrpSpPr/>
              <p:nvPr/>
            </p:nvGrpSpPr>
            <p:grpSpPr bwMode="auto">
              <a:xfrm>
                <a:off x="1796" y="1496"/>
                <a:ext cx="3100" cy="480"/>
                <a:chOff x="1772" y="1544"/>
                <a:chExt cx="3100" cy="480"/>
              </a:xfrm>
            </p:grpSpPr>
            <p:sp>
              <p:nvSpPr>
                <p:cNvPr id="15" name="Line 21"/>
                <p:cNvSpPr>
                  <a:spLocks noChangeShapeType="1"/>
                </p:cNvSpPr>
                <p:nvPr/>
              </p:nvSpPr>
              <p:spPr bwMode="gray">
                <a:xfrm>
                  <a:off x="1772"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23"/>
                <p:cNvSpPr>
                  <a:spLocks noChangeShapeType="1"/>
                </p:cNvSpPr>
                <p:nvPr/>
              </p:nvSpPr>
              <p:spPr bwMode="gray">
                <a:xfrm>
                  <a:off x="3178"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27"/>
                <p:cNvSpPr>
                  <a:spLocks noChangeShapeType="1"/>
                </p:cNvSpPr>
                <p:nvPr/>
              </p:nvSpPr>
              <p:spPr bwMode="gray">
                <a:xfrm>
                  <a:off x="2889"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Rectangle 28"/>
                <p:cNvSpPr>
                  <a:spLocks noChangeArrowheads="1"/>
                </p:cNvSpPr>
                <p:nvPr/>
              </p:nvSpPr>
              <p:spPr bwMode="gray">
                <a:xfrm>
                  <a:off x="2048"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9" name="Rectangle 72"/>
                <p:cNvSpPr>
                  <a:spLocks noChangeArrowheads="1"/>
                </p:cNvSpPr>
                <p:nvPr/>
              </p:nvSpPr>
              <p:spPr bwMode="gray">
                <a:xfrm>
                  <a:off x="3456"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20" name="Rectangle 73"/>
                <p:cNvSpPr>
                  <a:spLocks noChangeArrowheads="1"/>
                </p:cNvSpPr>
                <p:nvPr/>
              </p:nvSpPr>
              <p:spPr bwMode="gray">
                <a:xfrm>
                  <a:off x="4304"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grpSp>
      <p:grpSp>
        <p:nvGrpSpPr>
          <p:cNvPr id="35" name="Group 14"/>
          <p:cNvGrpSpPr/>
          <p:nvPr/>
        </p:nvGrpSpPr>
        <p:grpSpPr bwMode="auto">
          <a:xfrm>
            <a:off x="2536825" y="2314604"/>
            <a:ext cx="685800" cy="1219200"/>
            <a:chOff x="1072" y="1776"/>
            <a:chExt cx="432" cy="768"/>
          </a:xfrm>
        </p:grpSpPr>
        <p:sp>
          <p:nvSpPr>
            <p:cNvPr id="36" name="Line 15"/>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16"/>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Group 109"/>
          <p:cNvGrpSpPr/>
          <p:nvPr/>
        </p:nvGrpSpPr>
        <p:grpSpPr bwMode="auto">
          <a:xfrm>
            <a:off x="1502909" y="3452204"/>
            <a:ext cx="1409700" cy="1447800"/>
            <a:chOff x="600" y="1488"/>
            <a:chExt cx="888" cy="912"/>
          </a:xfrm>
        </p:grpSpPr>
        <p:sp>
          <p:nvSpPr>
            <p:cNvPr id="39" name="Rectangle 110"/>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0" name="Line 111"/>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 name="Line 112"/>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Rectangle 113"/>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43" name="Rectangle 114"/>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44" name="Rectangle 115"/>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sp>
        <p:nvSpPr>
          <p:cNvPr id="45" name="Rectangle 168"/>
          <p:cNvSpPr>
            <a:spLocks noChangeArrowheads="1"/>
          </p:cNvSpPr>
          <p:nvPr/>
        </p:nvSpPr>
        <p:spPr bwMode="gray">
          <a:xfrm>
            <a:off x="2308225" y="3600663"/>
            <a:ext cx="457200"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cs typeface="Times New Roman" panose="02020603050405020304" pitchFamily="18" charset="0"/>
              </a:rPr>
              <a:t>^</a:t>
            </a:r>
            <a:endParaRPr lang="en-US" altLang="zh-CN" b="0" dirty="0">
              <a:cs typeface="Times New Roman" panose="02020603050405020304" pitchFamily="18" charset="0"/>
            </a:endParaRPr>
          </a:p>
        </p:txBody>
      </p:sp>
      <p:sp>
        <p:nvSpPr>
          <p:cNvPr id="46" name="Rectangle 170"/>
          <p:cNvSpPr>
            <a:spLocks noChangeArrowheads="1"/>
          </p:cNvSpPr>
          <p:nvPr/>
        </p:nvSpPr>
        <p:spPr bwMode="gray">
          <a:xfrm>
            <a:off x="2348700" y="3914988"/>
            <a:ext cx="381000" cy="4572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n</a:t>
            </a:r>
            <a:endParaRPr lang="en-US" altLang="zh-CN" b="0" dirty="0"/>
          </a:p>
        </p:txBody>
      </p:sp>
      <p:sp>
        <p:nvSpPr>
          <p:cNvPr id="47" name="Rectangle 171"/>
          <p:cNvSpPr>
            <a:spLocks noChangeArrowheads="1"/>
          </p:cNvSpPr>
          <p:nvPr/>
        </p:nvSpPr>
        <p:spPr bwMode="gray">
          <a:xfrm>
            <a:off x="2348700" y="4431716"/>
            <a:ext cx="381000" cy="4572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m</a:t>
            </a:r>
            <a:endParaRPr lang="en-US" altLang="zh-CN"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linds(horizontal)">
                                      <p:cBhvr>
                                        <p:cTn id="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内容占位符 2"/>
          <p:cNvSpPr>
            <a:spLocks noGrp="1"/>
          </p:cNvSpPr>
          <p:nvPr>
            <p:ph idx="1"/>
          </p:nvPr>
        </p:nvSpPr>
        <p:spPr>
          <a:xfrm>
            <a:off x="643668" y="1178743"/>
            <a:ext cx="8229600" cy="4876800"/>
          </a:xfrm>
        </p:spPr>
        <p:txBody>
          <a:bodyPr/>
          <a:lstStyle/>
          <a:p>
            <a:r>
              <a:rPr lang="zh-CN" altLang="en-US" sz="2000" dirty="0">
                <a:latin typeface="微软雅黑" panose="020B0503020204020204" pitchFamily="34" charset="-122"/>
                <a:ea typeface="微软雅黑" panose="020B0503020204020204" pitchFamily="34" charset="-122"/>
              </a:rPr>
              <a:t>销毁顺序表</a:t>
            </a:r>
            <a:endParaRPr lang="en-US" altLang="zh-CN" sz="2000" dirty="0">
              <a:latin typeface="微软雅黑" panose="020B0503020204020204" pitchFamily="34" charset="-122"/>
              <a:ea typeface="微软雅黑" panose="020B0503020204020204" pitchFamily="34" charset="-122"/>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Rectangle 4"/>
          <p:cNvSpPr>
            <a:spLocks noChangeArrowheads="1"/>
          </p:cNvSpPr>
          <p:nvPr/>
        </p:nvSpPr>
        <p:spPr bwMode="auto">
          <a:xfrm>
            <a:off x="643668" y="1981200"/>
            <a:ext cx="7391400" cy="2667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endParaRPr lang="en-US" altLang="zh-CN" sz="1800" b="0" dirty="0">
              <a:solidFill>
                <a:srgbClr val="000066"/>
              </a:solidFill>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析构函数。删除线性表所占用的空间</a:t>
            </a:r>
            <a:r>
              <a:rPr lang="zh-CN" altLang="en-US" sz="1800" b="0" dirty="0">
                <a:latin typeface="Times New Roman" panose="02020603050405020304" pitchFamily="18" charset="0"/>
              </a:rPr>
              <a:t>。</a:t>
            </a:r>
            <a:endParaRPr lang="zh-CN" altLang="en-US"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template &lt;class </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&gt;</a:t>
            </a:r>
            <a:endParaRPr lang="en-US" altLang="zh-CN" sz="1800" b="0" dirty="0">
              <a:latin typeface="Times New Roman" panose="02020603050405020304" pitchFamily="18" charset="0"/>
            </a:endParaRPr>
          </a:p>
          <a:p>
            <a:pPr>
              <a:spcBef>
                <a:spcPct val="20000"/>
              </a:spcBef>
              <a:defRPr/>
            </a:pPr>
            <a:r>
              <a:rPr lang="en-US" altLang="zh-CN" sz="1800" b="0" dirty="0" err="1">
                <a:latin typeface="Times New Roman" panose="02020603050405020304" pitchFamily="18" charset="0"/>
              </a:rPr>
              <a:t>SqList</a:t>
            </a:r>
            <a:r>
              <a:rPr lang="en-US" altLang="zh-CN" sz="1800" b="0" dirty="0">
                <a:latin typeface="Times New Roman" panose="02020603050405020304" pitchFamily="18" charset="0"/>
              </a:rPr>
              <a:t>&lt;</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&gt;::~</a:t>
            </a:r>
            <a:r>
              <a:rPr lang="en-US" altLang="zh-CN" sz="1800" b="0" dirty="0" err="1">
                <a:latin typeface="Times New Roman" panose="02020603050405020304" pitchFamily="18" charset="0"/>
              </a:rPr>
              <a:t>SqList</a:t>
            </a:r>
            <a:r>
              <a:rPr lang="en-US" altLang="zh-CN" sz="1800" b="0" dirty="0">
                <a:latin typeface="Times New Roman" panose="02020603050405020304" pitchFamily="18" charset="0"/>
              </a:rPr>
              <a: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delete[] </a:t>
            </a:r>
            <a:r>
              <a:rPr lang="en-US" altLang="zh-CN" sz="1800" b="0" dirty="0" err="1">
                <a:latin typeface="Times New Roman" panose="02020603050405020304" pitchFamily="18" charset="0"/>
              </a:rPr>
              <a:t>elem</a:t>
            </a:r>
            <a:r>
              <a:rPr lang="en-US" altLang="zh-CN" sz="1800" b="0" dirty="0">
                <a:latin typeface="Times New Roman" panose="02020603050405020304" pitchFamily="18" charset="0"/>
              </a:rPr>
              <a: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a:t>
            </a:r>
            <a:endParaRPr lang="zh-CN" altLang="en-US" sz="1800" b="0"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9" name="内容占位符 2"/>
          <p:cNvSpPr txBox="1"/>
          <p:nvPr/>
        </p:nvSpPr>
        <p:spPr>
          <a:xfrm>
            <a:off x="392806" y="1209704"/>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取顺序表中序号为</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的数据元素值 </a:t>
            </a:r>
            <a:endParaRPr lang="zh-CN" altLang="en-US" sz="2000" dirty="0">
              <a:latin typeface="微软雅黑" panose="020B0503020204020204" pitchFamily="34" charset="-122"/>
              <a:ea typeface="微软雅黑" panose="020B0503020204020204" pitchFamily="34" charset="-122"/>
            </a:endParaRPr>
          </a:p>
        </p:txBody>
      </p:sp>
      <p:sp>
        <p:nvSpPr>
          <p:cNvPr id="10" name="Rectangle 4"/>
          <p:cNvSpPr>
            <a:spLocks noChangeArrowheads="1"/>
          </p:cNvSpPr>
          <p:nvPr/>
        </p:nvSpPr>
        <p:spPr bwMode="auto">
          <a:xfrm>
            <a:off x="392806" y="1857404"/>
            <a:ext cx="7391400" cy="3581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返回顺序表中序号为</a:t>
            </a:r>
            <a:r>
              <a:rPr lang="en-US" altLang="zh-CN" sz="1800" b="0" dirty="0" err="1">
                <a:latin typeface="微软雅黑" panose="020B0503020204020204" pitchFamily="34" charset="-122"/>
                <a:ea typeface="微软雅黑" panose="020B0503020204020204" pitchFamily="34" charset="-122"/>
              </a:rPr>
              <a:t>i</a:t>
            </a:r>
            <a:r>
              <a:rPr lang="zh-CN" altLang="en-US" sz="1800" b="0" dirty="0">
                <a:latin typeface="微软雅黑" panose="020B0503020204020204" pitchFamily="34" charset="-122"/>
                <a:ea typeface="微软雅黑" panose="020B0503020204020204" pitchFamily="34" charset="-122"/>
              </a:rPr>
              <a:t>的数据元素（</a:t>
            </a:r>
            <a:r>
              <a:rPr lang="en-US" altLang="zh-CN" sz="1800" b="0" dirty="0" err="1">
                <a:latin typeface="微软雅黑" panose="020B0503020204020204" pitchFamily="34" charset="-122"/>
                <a:ea typeface="微软雅黑" panose="020B0503020204020204" pitchFamily="34" charset="-122"/>
              </a:rPr>
              <a:t>i</a:t>
            </a:r>
            <a:r>
              <a:rPr lang="zh-CN" altLang="en-US" sz="1800" b="0" dirty="0">
                <a:latin typeface="微软雅黑" panose="020B0503020204020204" pitchFamily="34" charset="-122"/>
                <a:ea typeface="微软雅黑" panose="020B0503020204020204" pitchFamily="34" charset="-122"/>
              </a:rPr>
              <a:t>的合法值为</a:t>
            </a:r>
            <a:r>
              <a:rPr lang="en-US" altLang="zh-CN" sz="1800" b="0" dirty="0">
                <a:latin typeface="微软雅黑" panose="020B0503020204020204" pitchFamily="34" charset="-122"/>
                <a:ea typeface="微软雅黑" panose="020B0503020204020204" pitchFamily="34" charset="-122"/>
              </a:rPr>
              <a:t>1≤i≤len</a:t>
            </a:r>
            <a:r>
              <a:rPr lang="zh-CN" altLang="en-US" sz="1800" b="0" dirty="0">
                <a:latin typeface="微软雅黑" panose="020B0503020204020204" pitchFamily="34" charset="-122"/>
                <a:ea typeface="微软雅黑" panose="020B0503020204020204" pitchFamily="34" charset="-122"/>
              </a:rPr>
              <a:t>）。 </a:t>
            </a:r>
            <a:endParaRPr lang="zh-CN" altLang="en-US" sz="1800"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 &lt;class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bool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GetElem</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&lt; 1 ||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&gt; </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false;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e = </a:t>
            </a:r>
            <a:r>
              <a:rPr lang="en-US" altLang="zh-CN" b="0" dirty="0" err="1">
                <a:latin typeface="Times New Roman" panose="02020603050405020304" pitchFamily="18" charset="0"/>
                <a:cs typeface="Times New Roman" panose="02020603050405020304" pitchFamily="18" charset="0"/>
              </a:rPr>
              <a:t>elem</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- 1];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内容占位符 2"/>
          <p:cNvSpPr/>
          <p:nvPr/>
        </p:nvSpPr>
        <p:spPr bwMode="gray">
          <a:xfrm>
            <a:off x="392806" y="1209704"/>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取顺序表中序号为</a:t>
            </a:r>
            <a:r>
              <a:rPr lang="en-US" altLang="zh-CN" sz="2000" b="0" dirty="0" err="1">
                <a:latin typeface="微软雅黑" panose="020B0503020204020204" pitchFamily="34" charset="-122"/>
                <a:ea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rPr>
              <a:t>的数据元素值</a:t>
            </a:r>
            <a:endParaRPr lang="zh-CN" altLang="en-US" sz="2000" b="0" dirty="0">
              <a:latin typeface="微软雅黑" panose="020B0503020204020204" pitchFamily="34" charset="-122"/>
              <a:ea typeface="微软雅黑" panose="020B0503020204020204" pitchFamily="34" charset="-122"/>
            </a:endParaRPr>
          </a:p>
        </p:txBody>
      </p:sp>
      <p:grpSp>
        <p:nvGrpSpPr>
          <p:cNvPr id="3" name="Group 23"/>
          <p:cNvGrpSpPr/>
          <p:nvPr/>
        </p:nvGrpSpPr>
        <p:grpSpPr bwMode="auto">
          <a:xfrm>
            <a:off x="2850256" y="1876454"/>
            <a:ext cx="5772150" cy="1181100"/>
            <a:chOff x="1524" y="1233"/>
            <a:chExt cx="3636" cy="744"/>
          </a:xfrm>
        </p:grpSpPr>
        <p:grpSp>
          <p:nvGrpSpPr>
            <p:cNvPr id="4" name="Group 24"/>
            <p:cNvGrpSpPr/>
            <p:nvPr/>
          </p:nvGrpSpPr>
          <p:grpSpPr bwMode="auto">
            <a:xfrm>
              <a:off x="1581" y="1233"/>
              <a:ext cx="3554" cy="255"/>
              <a:chOff x="1581" y="1233"/>
              <a:chExt cx="3554" cy="255"/>
            </a:xfrm>
          </p:grpSpPr>
          <p:sp>
            <p:nvSpPr>
              <p:cNvPr id="27" name="Rectangle 25"/>
              <p:cNvSpPr>
                <a:spLocks noChangeArrowheads="1"/>
              </p:cNvSpPr>
              <p:nvPr/>
            </p:nvSpPr>
            <p:spPr bwMode="gray">
              <a:xfrm>
                <a:off x="4943" y="124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28" name="Group 26"/>
              <p:cNvGrpSpPr/>
              <p:nvPr/>
            </p:nvGrpSpPr>
            <p:grpSpPr bwMode="auto">
              <a:xfrm>
                <a:off x="1581" y="1233"/>
                <a:ext cx="2716" cy="255"/>
                <a:chOff x="1548" y="1281"/>
                <a:chExt cx="2716" cy="255"/>
              </a:xfrm>
            </p:grpSpPr>
            <p:sp>
              <p:nvSpPr>
                <p:cNvPr id="29" name="Rectangle 27"/>
                <p:cNvSpPr>
                  <a:spLocks noChangeArrowheads="1"/>
                </p:cNvSpPr>
                <p:nvPr/>
              </p:nvSpPr>
              <p:spPr bwMode="gray">
                <a:xfrm>
                  <a:off x="154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30" name="Rectangle 28"/>
                <p:cNvSpPr>
                  <a:spLocks noChangeArrowheads="1"/>
                </p:cNvSpPr>
                <p:nvPr/>
              </p:nvSpPr>
              <p:spPr bwMode="gray">
                <a:xfrm>
                  <a:off x="265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i-2</a:t>
                  </a:r>
                  <a:endParaRPr lang="en-US" altLang="zh-CN" b="0"/>
                </a:p>
              </p:txBody>
            </p:sp>
            <p:sp>
              <p:nvSpPr>
                <p:cNvPr id="31" name="Rectangle 29"/>
                <p:cNvSpPr>
                  <a:spLocks noChangeArrowheads="1"/>
                </p:cNvSpPr>
                <p:nvPr/>
              </p:nvSpPr>
              <p:spPr bwMode="gray">
                <a:xfrm>
                  <a:off x="295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i-1</a:t>
                  </a:r>
                  <a:endParaRPr lang="en-US" altLang="zh-CN" b="0"/>
                </a:p>
              </p:txBody>
            </p:sp>
            <p:sp>
              <p:nvSpPr>
                <p:cNvPr id="32" name="Rectangle 30"/>
                <p:cNvSpPr>
                  <a:spLocks noChangeArrowheads="1"/>
                </p:cNvSpPr>
                <p:nvPr/>
              </p:nvSpPr>
              <p:spPr bwMode="gray">
                <a:xfrm>
                  <a:off x="321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a:t>
                  </a:r>
                  <a:endParaRPr lang="en-US" altLang="zh-CN" b="0"/>
                </a:p>
              </p:txBody>
            </p:sp>
            <p:sp>
              <p:nvSpPr>
                <p:cNvPr id="33" name="Rectangle 31"/>
                <p:cNvSpPr>
                  <a:spLocks noChangeArrowheads="1"/>
                </p:cNvSpPr>
                <p:nvPr/>
              </p:nvSpPr>
              <p:spPr bwMode="gray">
                <a:xfrm>
                  <a:off x="186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sp>
              <p:nvSpPr>
                <p:cNvPr id="34" name="Rectangle 32"/>
                <p:cNvSpPr>
                  <a:spLocks noChangeArrowheads="1"/>
                </p:cNvSpPr>
                <p:nvPr/>
              </p:nvSpPr>
              <p:spPr bwMode="gray">
                <a:xfrm>
                  <a:off x="4072" y="1284"/>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grpSp>
        </p:grpSp>
        <p:grpSp>
          <p:nvGrpSpPr>
            <p:cNvPr id="8" name="Group 33"/>
            <p:cNvGrpSpPr/>
            <p:nvPr/>
          </p:nvGrpSpPr>
          <p:grpSpPr bwMode="auto">
            <a:xfrm>
              <a:off x="1580" y="1585"/>
              <a:ext cx="2716" cy="255"/>
              <a:chOff x="1580" y="1585"/>
              <a:chExt cx="2716" cy="255"/>
            </a:xfrm>
          </p:grpSpPr>
          <p:sp>
            <p:nvSpPr>
              <p:cNvPr id="21" name="Rectangle 34"/>
              <p:cNvSpPr>
                <a:spLocks noChangeArrowheads="1"/>
              </p:cNvSpPr>
              <p:nvPr/>
            </p:nvSpPr>
            <p:spPr bwMode="gray">
              <a:xfrm>
                <a:off x="1580"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1</a:t>
                </a:r>
                <a:endParaRPr lang="en-US" altLang="zh-CN" sz="1000" b="0"/>
              </a:p>
            </p:txBody>
          </p:sp>
          <p:sp>
            <p:nvSpPr>
              <p:cNvPr id="22" name="Rectangle 35"/>
              <p:cNvSpPr>
                <a:spLocks noChangeArrowheads="1"/>
              </p:cNvSpPr>
              <p:nvPr/>
            </p:nvSpPr>
            <p:spPr bwMode="gray">
              <a:xfrm>
                <a:off x="268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3" name="Rectangle 36"/>
              <p:cNvSpPr>
                <a:spLocks noChangeArrowheads="1"/>
              </p:cNvSpPr>
              <p:nvPr/>
            </p:nvSpPr>
            <p:spPr bwMode="gray">
              <a:xfrm>
                <a:off x="2984"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a:t>
                </a:r>
                <a:endParaRPr lang="en-US" altLang="zh-CN" sz="1000" b="0"/>
              </a:p>
            </p:txBody>
          </p:sp>
          <p:sp>
            <p:nvSpPr>
              <p:cNvPr id="24" name="Rectangle 37"/>
              <p:cNvSpPr>
                <a:spLocks noChangeArrowheads="1"/>
              </p:cNvSpPr>
              <p:nvPr/>
            </p:nvSpPr>
            <p:spPr bwMode="gray">
              <a:xfrm>
                <a:off x="324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5" name="Rectangle 38"/>
              <p:cNvSpPr>
                <a:spLocks noChangeArrowheads="1"/>
              </p:cNvSpPr>
              <p:nvPr/>
            </p:nvSpPr>
            <p:spPr bwMode="gray">
              <a:xfrm>
                <a:off x="1828"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2</a:t>
                </a:r>
                <a:endParaRPr lang="en-US" altLang="zh-CN" sz="1000" b="0"/>
              </a:p>
            </p:txBody>
          </p:sp>
          <p:sp>
            <p:nvSpPr>
              <p:cNvPr id="26" name="Rectangle 39"/>
              <p:cNvSpPr>
                <a:spLocks noChangeArrowheads="1"/>
              </p:cNvSpPr>
              <p:nvPr/>
            </p:nvSpPr>
            <p:spPr bwMode="gray">
              <a:xfrm>
                <a:off x="4104" y="158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n</a:t>
                </a:r>
                <a:endParaRPr lang="en-US" altLang="zh-CN" sz="1000" b="0"/>
              </a:p>
            </p:txBody>
          </p:sp>
        </p:grpSp>
        <p:grpSp>
          <p:nvGrpSpPr>
            <p:cNvPr id="11" name="Group 40"/>
            <p:cNvGrpSpPr/>
            <p:nvPr/>
          </p:nvGrpSpPr>
          <p:grpSpPr bwMode="auto">
            <a:xfrm>
              <a:off x="1524" y="1496"/>
              <a:ext cx="3636" cy="481"/>
              <a:chOff x="1524" y="1496"/>
              <a:chExt cx="3636" cy="481"/>
            </a:xfrm>
          </p:grpSpPr>
          <p:sp>
            <p:nvSpPr>
              <p:cNvPr id="12" name="Rectangle 41"/>
              <p:cNvSpPr>
                <a:spLocks noChangeArrowheads="1"/>
              </p:cNvSpPr>
              <p:nvPr/>
            </p:nvSpPr>
            <p:spPr bwMode="gray">
              <a:xfrm>
                <a:off x="1524" y="1497"/>
                <a:ext cx="363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grpSp>
            <p:nvGrpSpPr>
              <p:cNvPr id="14" name="Group 42"/>
              <p:cNvGrpSpPr/>
              <p:nvPr/>
            </p:nvGrpSpPr>
            <p:grpSpPr bwMode="auto">
              <a:xfrm>
                <a:off x="1796" y="1496"/>
                <a:ext cx="3100" cy="480"/>
                <a:chOff x="1772" y="1544"/>
                <a:chExt cx="3100" cy="480"/>
              </a:xfrm>
            </p:grpSpPr>
            <p:sp>
              <p:nvSpPr>
                <p:cNvPr id="15" name="Line 43"/>
                <p:cNvSpPr>
                  <a:spLocks noChangeShapeType="1"/>
                </p:cNvSpPr>
                <p:nvPr/>
              </p:nvSpPr>
              <p:spPr bwMode="gray">
                <a:xfrm>
                  <a:off x="1772"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44"/>
                <p:cNvSpPr>
                  <a:spLocks noChangeShapeType="1"/>
                </p:cNvSpPr>
                <p:nvPr/>
              </p:nvSpPr>
              <p:spPr bwMode="gray">
                <a:xfrm>
                  <a:off x="3178"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45"/>
                <p:cNvSpPr>
                  <a:spLocks noChangeShapeType="1"/>
                </p:cNvSpPr>
                <p:nvPr/>
              </p:nvSpPr>
              <p:spPr bwMode="gray">
                <a:xfrm>
                  <a:off x="2889"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Rectangle 46"/>
                <p:cNvSpPr>
                  <a:spLocks noChangeArrowheads="1"/>
                </p:cNvSpPr>
                <p:nvPr/>
              </p:nvSpPr>
              <p:spPr bwMode="gray">
                <a:xfrm>
                  <a:off x="2048"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9" name="Rectangle 47"/>
                <p:cNvSpPr>
                  <a:spLocks noChangeArrowheads="1"/>
                </p:cNvSpPr>
                <p:nvPr/>
              </p:nvSpPr>
              <p:spPr bwMode="gray">
                <a:xfrm>
                  <a:off x="3456"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20" name="Rectangle 48"/>
                <p:cNvSpPr>
                  <a:spLocks noChangeArrowheads="1"/>
                </p:cNvSpPr>
                <p:nvPr/>
              </p:nvSpPr>
              <p:spPr bwMode="gray">
                <a:xfrm>
                  <a:off x="4304"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grpSp>
      <p:grpSp>
        <p:nvGrpSpPr>
          <p:cNvPr id="35" name="Group 11"/>
          <p:cNvGrpSpPr/>
          <p:nvPr/>
        </p:nvGrpSpPr>
        <p:grpSpPr bwMode="auto">
          <a:xfrm>
            <a:off x="2158107" y="2674967"/>
            <a:ext cx="685800" cy="1219200"/>
            <a:chOff x="1072" y="1776"/>
            <a:chExt cx="432" cy="768"/>
          </a:xfrm>
        </p:grpSpPr>
        <p:sp>
          <p:nvSpPr>
            <p:cNvPr id="36" name="Line 1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1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Group 4"/>
          <p:cNvGrpSpPr/>
          <p:nvPr/>
        </p:nvGrpSpPr>
        <p:grpSpPr bwMode="auto">
          <a:xfrm>
            <a:off x="1114453" y="3722520"/>
            <a:ext cx="1409700" cy="1447800"/>
            <a:chOff x="600" y="1488"/>
            <a:chExt cx="888" cy="912"/>
          </a:xfrm>
        </p:grpSpPr>
        <p:sp>
          <p:nvSpPr>
            <p:cNvPr id="39" name="Rectangle 5"/>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0" name="Line 6"/>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 name="Line 7"/>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Rectangle 8"/>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43" name="Rectangle 9"/>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44" name="Rectangle 10"/>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grpSp>
        <p:nvGrpSpPr>
          <p:cNvPr id="46" name="Group 15"/>
          <p:cNvGrpSpPr/>
          <p:nvPr/>
        </p:nvGrpSpPr>
        <p:grpSpPr bwMode="auto">
          <a:xfrm>
            <a:off x="1929507" y="4238653"/>
            <a:ext cx="457200" cy="762000"/>
            <a:chOff x="1008" y="2832"/>
            <a:chExt cx="288" cy="480"/>
          </a:xfrm>
        </p:grpSpPr>
        <p:sp>
          <p:nvSpPr>
            <p:cNvPr id="47" name="Rectangle 16"/>
            <p:cNvSpPr>
              <a:spLocks noChangeArrowheads="1"/>
            </p:cNvSpPr>
            <p:nvPr/>
          </p:nvSpPr>
          <p:spPr bwMode="gray">
            <a:xfrm>
              <a:off x="1008" y="312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a:t>
              </a:r>
              <a:endParaRPr lang="en-US" altLang="zh-CN" b="0"/>
            </a:p>
          </p:txBody>
        </p:sp>
        <p:sp>
          <p:nvSpPr>
            <p:cNvPr id="48" name="Rectangle 17"/>
            <p:cNvSpPr>
              <a:spLocks noChangeArrowheads="1"/>
            </p:cNvSpPr>
            <p:nvPr/>
          </p:nvSpPr>
          <p:spPr bwMode="gray">
            <a:xfrm>
              <a:off x="1008" y="283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n</a:t>
              </a:r>
              <a:endParaRPr lang="en-US" altLang="zh-CN" b="0" dirty="0"/>
            </a:p>
          </p:txBody>
        </p:sp>
      </p:grpSp>
      <p:sp>
        <p:nvSpPr>
          <p:cNvPr id="49" name="Rectangle 51"/>
          <p:cNvSpPr>
            <a:spLocks noChangeArrowheads="1"/>
          </p:cNvSpPr>
          <p:nvPr/>
        </p:nvSpPr>
        <p:spPr bwMode="gray">
          <a:xfrm>
            <a:off x="3675756" y="3361280"/>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dirty="0">
                <a:latin typeface="微软雅黑" panose="020B0503020204020204" pitchFamily="34" charset="-122"/>
                <a:ea typeface="微软雅黑" panose="020B0503020204020204" pitchFamily="34" charset="-122"/>
              </a:rPr>
              <a:t>数据变量</a:t>
            </a:r>
            <a:r>
              <a:rPr lang="en-US" altLang="zh-CN" sz="1800" b="0" dirty="0"/>
              <a:t>e</a:t>
            </a:r>
            <a:endParaRPr lang="en-US" altLang="zh-CN" sz="1800" b="0" dirty="0"/>
          </a:p>
        </p:txBody>
      </p:sp>
      <p:sp>
        <p:nvSpPr>
          <p:cNvPr id="50" name="AutoShape 49"/>
          <p:cNvSpPr>
            <a:spLocks noChangeArrowheads="1"/>
          </p:cNvSpPr>
          <p:nvPr/>
        </p:nvSpPr>
        <p:spPr bwMode="gray">
          <a:xfrm>
            <a:off x="5168006" y="3094067"/>
            <a:ext cx="304800" cy="381000"/>
          </a:xfrm>
          <a:prstGeom prst="downArrow">
            <a:avLst>
              <a:gd name="adj1" fmla="val 50000"/>
              <a:gd name="adj2" fmla="val 31250"/>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52" name="Rectangle 50"/>
          <p:cNvSpPr>
            <a:spLocks noChangeArrowheads="1"/>
          </p:cNvSpPr>
          <p:nvPr/>
        </p:nvSpPr>
        <p:spPr bwMode="gray">
          <a:xfrm>
            <a:off x="5063686" y="3493920"/>
            <a:ext cx="533400" cy="45720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b="0"/>
          </a:p>
        </p:txBody>
      </p:sp>
      <p:sp>
        <p:nvSpPr>
          <p:cNvPr id="53" name="Rectangle 36"/>
          <p:cNvSpPr>
            <a:spLocks noChangeArrowheads="1"/>
          </p:cNvSpPr>
          <p:nvPr/>
        </p:nvSpPr>
        <p:spPr bwMode="gray">
          <a:xfrm>
            <a:off x="5177986" y="3548092"/>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a</a:t>
            </a:r>
            <a:r>
              <a:rPr lang="en-US" altLang="zh-CN" sz="1000" b="0" dirty="0"/>
              <a:t>i</a:t>
            </a:r>
            <a:endParaRPr lang="en-US" altLang="zh-CN" sz="1000" b="0" dirty="0"/>
          </a:p>
        </p:txBody>
      </p:sp>
      <p:sp>
        <p:nvSpPr>
          <p:cNvPr id="54" name="Rectangle 52"/>
          <p:cNvSpPr>
            <a:spLocks noChangeArrowheads="1"/>
          </p:cNvSpPr>
          <p:nvPr/>
        </p:nvSpPr>
        <p:spPr bwMode="gray">
          <a:xfrm>
            <a:off x="6159185" y="3453581"/>
            <a:ext cx="19573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sz="1800" b="0" dirty="0"/>
              <a:t>e = </a:t>
            </a:r>
            <a:r>
              <a:rPr lang="en-US" altLang="zh-CN" sz="1800" b="0" dirty="0" err="1"/>
              <a:t>elem</a:t>
            </a:r>
            <a:r>
              <a:rPr lang="en-US" altLang="zh-CN" sz="1800" b="0" dirty="0"/>
              <a:t>[</a:t>
            </a:r>
            <a:r>
              <a:rPr lang="en-US" altLang="zh-CN" sz="1800" b="0" dirty="0" err="1"/>
              <a:t>i</a:t>
            </a:r>
            <a:r>
              <a:rPr lang="en-US" altLang="zh-CN" sz="1800" b="0" dirty="0"/>
              <a:t> - 1];</a:t>
            </a:r>
            <a:endParaRPr lang="en-US" altLang="zh-CN" sz="18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内容占位符 2"/>
          <p:cNvSpPr txBox="1"/>
          <p:nvPr/>
        </p:nvSpPr>
        <p:spPr>
          <a:xfrm>
            <a:off x="392806" y="1209704"/>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在顺序表中序号为</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的位置存入数据元素 </a:t>
            </a:r>
            <a:endParaRPr lang="zh-CN" altLang="en-US" sz="2000" dirty="0">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670301" y="2183907"/>
            <a:ext cx="7391400" cy="3395022"/>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在顺序表中序号为</a:t>
            </a:r>
            <a:r>
              <a:rPr lang="en-US" altLang="zh-CN" sz="1800" b="0" dirty="0" err="1">
                <a:latin typeface="微软雅黑" panose="020B0503020204020204" pitchFamily="34" charset="-122"/>
                <a:ea typeface="微软雅黑" panose="020B0503020204020204" pitchFamily="34" charset="-122"/>
              </a:rPr>
              <a:t>i</a:t>
            </a:r>
            <a:r>
              <a:rPr lang="zh-CN" altLang="en-US" sz="1800" b="0" dirty="0">
                <a:latin typeface="微软雅黑" panose="020B0503020204020204" pitchFamily="34" charset="-122"/>
                <a:ea typeface="微软雅黑" panose="020B0503020204020204" pitchFamily="34" charset="-122"/>
              </a:rPr>
              <a:t>的位置存入数据元素（</a:t>
            </a:r>
            <a:r>
              <a:rPr lang="en-US" altLang="zh-CN" sz="1800" b="0" dirty="0" err="1">
                <a:latin typeface="微软雅黑" panose="020B0503020204020204" pitchFamily="34" charset="-122"/>
                <a:ea typeface="微软雅黑" panose="020B0503020204020204" pitchFamily="34" charset="-122"/>
              </a:rPr>
              <a:t>i</a:t>
            </a:r>
            <a:r>
              <a:rPr lang="zh-CN" altLang="en-US" sz="1800" b="0" dirty="0">
                <a:latin typeface="微软雅黑" panose="020B0503020204020204" pitchFamily="34" charset="-122"/>
                <a:ea typeface="微软雅黑" panose="020B0503020204020204" pitchFamily="34" charset="-122"/>
              </a:rPr>
              <a:t>的合法值为</a:t>
            </a:r>
            <a:r>
              <a:rPr lang="en-US" altLang="zh-CN" sz="1800" b="0" dirty="0">
                <a:latin typeface="微软雅黑" panose="020B0503020204020204" pitchFamily="34" charset="-122"/>
                <a:ea typeface="微软雅黑" panose="020B0503020204020204" pitchFamily="34" charset="-122"/>
              </a:rPr>
              <a:t>1≤i≤len</a:t>
            </a:r>
            <a:r>
              <a:rPr lang="zh-CN" altLang="en-US" sz="1800" b="0" dirty="0">
                <a:latin typeface="微软雅黑" panose="020B0503020204020204" pitchFamily="34" charset="-122"/>
                <a:ea typeface="微软雅黑" panose="020B0503020204020204" pitchFamily="34" charset="-122"/>
              </a:rPr>
              <a:t>）</a:t>
            </a:r>
            <a:r>
              <a:rPr lang="zh-CN" altLang="en-US" sz="1800" b="0" dirty="0">
                <a:latin typeface="Times New Roman" panose="02020603050405020304" pitchFamily="18" charset="0"/>
              </a:rPr>
              <a:t>。 </a:t>
            </a:r>
            <a:endParaRPr lang="zh-CN" altLang="en-US" sz="1800"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template&lt;class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bool </a:t>
            </a:r>
            <a:r>
              <a:rPr lang="en-US" altLang="zh-CN" b="0" dirty="0" err="1">
                <a:latin typeface="Times New Roman" panose="02020603050405020304" pitchFamily="18" charset="0"/>
              </a:rPr>
              <a:t>SqList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r>
              <a:rPr lang="en-US" altLang="zh-CN" b="0" dirty="0" err="1">
                <a:latin typeface="Times New Roman" panose="02020603050405020304" pitchFamily="18" charset="0"/>
              </a:rPr>
              <a:t>SetElem</a:t>
            </a:r>
            <a:r>
              <a:rPr lang="en-US" altLang="zh-CN" b="0" dirty="0">
                <a:latin typeface="Times New Roman" panose="02020603050405020304" pitchFamily="18" charset="0"/>
              </a:rPr>
              <a:t>(const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 &amp;e ,int </a:t>
            </a:r>
            <a:r>
              <a:rPr lang="en-US" altLang="zh-CN" b="0" dirty="0" err="1">
                <a:latin typeface="Times New Roman" panose="02020603050405020304" pitchFamily="18" charset="0"/>
              </a:rPr>
              <a:t>i</a:t>
            </a: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if (</a:t>
            </a:r>
            <a:r>
              <a:rPr lang="en-US" altLang="zh-CN" b="0" dirty="0" err="1">
                <a:latin typeface="Times New Roman" panose="02020603050405020304" pitchFamily="18" charset="0"/>
              </a:rPr>
              <a:t>i</a:t>
            </a:r>
            <a:r>
              <a:rPr lang="en-US" altLang="zh-CN" b="0" dirty="0">
                <a:latin typeface="Times New Roman" panose="02020603050405020304" pitchFamily="18" charset="0"/>
              </a:rPr>
              <a:t> &lt; 1 || </a:t>
            </a:r>
            <a:r>
              <a:rPr lang="en-US" altLang="zh-CN" b="0" dirty="0" err="1">
                <a:latin typeface="Times New Roman" panose="02020603050405020304" pitchFamily="18" charset="0"/>
              </a:rPr>
              <a:t>i</a:t>
            </a:r>
            <a:r>
              <a:rPr lang="en-US" altLang="zh-CN" b="0" dirty="0">
                <a:latin typeface="Times New Roman" panose="02020603050405020304" pitchFamily="18" charset="0"/>
              </a:rPr>
              <a:t> &gt; </a:t>
            </a:r>
            <a:r>
              <a:rPr lang="en-US" altLang="zh-CN" b="0" dirty="0" err="1">
                <a:latin typeface="Times New Roman" panose="02020603050405020304" pitchFamily="18" charset="0"/>
              </a:rPr>
              <a:t>len</a:t>
            </a: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return false;</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elem</a:t>
            </a:r>
            <a:r>
              <a:rPr lang="en-US" altLang="zh-CN" b="0" dirty="0">
                <a:latin typeface="Times New Roman" panose="02020603050405020304" pitchFamily="18" charset="0"/>
              </a:rPr>
              <a:t>[</a:t>
            </a:r>
            <a:r>
              <a:rPr lang="en-US" altLang="zh-CN" b="0" dirty="0" err="1">
                <a:latin typeface="Times New Roman" panose="02020603050405020304" pitchFamily="18" charset="0"/>
              </a:rPr>
              <a:t>i</a:t>
            </a:r>
            <a:r>
              <a:rPr lang="en-US" altLang="zh-CN" b="0" dirty="0">
                <a:latin typeface="Times New Roman" panose="02020603050405020304" pitchFamily="18" charset="0"/>
              </a:rPr>
              <a:t> - 1] = e;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return true;</a:t>
            </a:r>
            <a:endParaRPr lang="zh-CN" altLang="en-US" b="0"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p:nvPr/>
        </p:nvSpPr>
        <p:spPr bwMode="gray">
          <a:xfrm>
            <a:off x="392806" y="1209704"/>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b="0" dirty="0">
                <a:latin typeface="微软雅黑" panose="020B0503020204020204" pitchFamily="34" charset="-122"/>
                <a:ea typeface="微软雅黑" panose="020B0503020204020204" pitchFamily="34" charset="-122"/>
              </a:rPr>
              <a:t>在</a:t>
            </a:r>
            <a:r>
              <a:rPr lang="zh-CN" altLang="en-US" sz="2000" b="0" dirty="0">
                <a:latin typeface="微软雅黑" panose="020B0503020204020204" pitchFamily="34" charset="-122"/>
                <a:ea typeface="微软雅黑" panose="020B0503020204020204" pitchFamily="34" charset="-122"/>
              </a:rPr>
              <a:t>顺序表中序号为</a:t>
            </a:r>
            <a:r>
              <a:rPr lang="en-US" altLang="zh-CN" sz="2000" b="0" dirty="0" err="1">
                <a:latin typeface="微软雅黑" panose="020B0503020204020204" pitchFamily="34" charset="-122"/>
                <a:ea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rPr>
              <a:t>的位置存入数据元素 </a:t>
            </a:r>
            <a:endParaRPr lang="zh-CN" altLang="en-US" sz="2000" b="0" dirty="0">
              <a:latin typeface="微软雅黑" panose="020B0503020204020204" pitchFamily="34" charset="-122"/>
              <a:ea typeface="微软雅黑" panose="020B0503020204020204" pitchFamily="34" charset="-122"/>
            </a:endParaRPr>
          </a:p>
        </p:txBody>
      </p:sp>
      <p:grpSp>
        <p:nvGrpSpPr>
          <p:cNvPr id="8" name="Group 18"/>
          <p:cNvGrpSpPr/>
          <p:nvPr/>
        </p:nvGrpSpPr>
        <p:grpSpPr bwMode="auto">
          <a:xfrm>
            <a:off x="2850256" y="2016578"/>
            <a:ext cx="5772150" cy="1181100"/>
            <a:chOff x="1524" y="1233"/>
            <a:chExt cx="3636" cy="744"/>
          </a:xfrm>
        </p:grpSpPr>
        <p:grpSp>
          <p:nvGrpSpPr>
            <p:cNvPr id="9" name="Group 19"/>
            <p:cNvGrpSpPr/>
            <p:nvPr/>
          </p:nvGrpSpPr>
          <p:grpSpPr bwMode="auto">
            <a:xfrm>
              <a:off x="1581" y="1233"/>
              <a:ext cx="3554" cy="255"/>
              <a:chOff x="1581" y="1233"/>
              <a:chExt cx="3554" cy="255"/>
            </a:xfrm>
          </p:grpSpPr>
          <p:sp>
            <p:nvSpPr>
              <p:cNvPr id="27" name="Rectangle 20"/>
              <p:cNvSpPr>
                <a:spLocks noChangeArrowheads="1"/>
              </p:cNvSpPr>
              <p:nvPr/>
            </p:nvSpPr>
            <p:spPr bwMode="gray">
              <a:xfrm>
                <a:off x="4943" y="124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28" name="Group 21"/>
              <p:cNvGrpSpPr/>
              <p:nvPr/>
            </p:nvGrpSpPr>
            <p:grpSpPr bwMode="auto">
              <a:xfrm>
                <a:off x="1581" y="1233"/>
                <a:ext cx="2716" cy="255"/>
                <a:chOff x="1548" y="1281"/>
                <a:chExt cx="2716" cy="255"/>
              </a:xfrm>
            </p:grpSpPr>
            <p:sp>
              <p:nvSpPr>
                <p:cNvPr id="29" name="Rectangle 22"/>
                <p:cNvSpPr>
                  <a:spLocks noChangeArrowheads="1"/>
                </p:cNvSpPr>
                <p:nvPr/>
              </p:nvSpPr>
              <p:spPr bwMode="gray">
                <a:xfrm>
                  <a:off x="154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30" name="Rectangle 23"/>
                <p:cNvSpPr>
                  <a:spLocks noChangeArrowheads="1"/>
                </p:cNvSpPr>
                <p:nvPr/>
              </p:nvSpPr>
              <p:spPr bwMode="gray">
                <a:xfrm>
                  <a:off x="265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i-2</a:t>
                  </a:r>
                  <a:endParaRPr lang="en-US" altLang="zh-CN" b="0"/>
                </a:p>
              </p:txBody>
            </p:sp>
            <p:sp>
              <p:nvSpPr>
                <p:cNvPr id="31" name="Rectangle 24"/>
                <p:cNvSpPr>
                  <a:spLocks noChangeArrowheads="1"/>
                </p:cNvSpPr>
                <p:nvPr/>
              </p:nvSpPr>
              <p:spPr bwMode="gray">
                <a:xfrm>
                  <a:off x="295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i-1</a:t>
                  </a:r>
                  <a:endParaRPr lang="en-US" altLang="zh-CN" b="0"/>
                </a:p>
              </p:txBody>
            </p:sp>
            <p:sp>
              <p:nvSpPr>
                <p:cNvPr id="32" name="Rectangle 25"/>
                <p:cNvSpPr>
                  <a:spLocks noChangeArrowheads="1"/>
                </p:cNvSpPr>
                <p:nvPr/>
              </p:nvSpPr>
              <p:spPr bwMode="gray">
                <a:xfrm>
                  <a:off x="321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a:t>
                  </a:r>
                  <a:endParaRPr lang="en-US" altLang="zh-CN" b="0"/>
                </a:p>
              </p:txBody>
            </p:sp>
            <p:sp>
              <p:nvSpPr>
                <p:cNvPr id="33" name="Rectangle 26"/>
                <p:cNvSpPr>
                  <a:spLocks noChangeArrowheads="1"/>
                </p:cNvSpPr>
                <p:nvPr/>
              </p:nvSpPr>
              <p:spPr bwMode="gray">
                <a:xfrm>
                  <a:off x="186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sp>
              <p:nvSpPr>
                <p:cNvPr id="34" name="Rectangle 27"/>
                <p:cNvSpPr>
                  <a:spLocks noChangeArrowheads="1"/>
                </p:cNvSpPr>
                <p:nvPr/>
              </p:nvSpPr>
              <p:spPr bwMode="gray">
                <a:xfrm>
                  <a:off x="4072" y="1284"/>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grpSp>
        </p:grpSp>
        <p:grpSp>
          <p:nvGrpSpPr>
            <p:cNvPr id="10" name="Group 28"/>
            <p:cNvGrpSpPr/>
            <p:nvPr/>
          </p:nvGrpSpPr>
          <p:grpSpPr bwMode="auto">
            <a:xfrm>
              <a:off x="1580" y="1585"/>
              <a:ext cx="2716" cy="255"/>
              <a:chOff x="1580" y="1585"/>
              <a:chExt cx="2716" cy="255"/>
            </a:xfrm>
          </p:grpSpPr>
          <p:sp>
            <p:nvSpPr>
              <p:cNvPr id="21" name="Rectangle 29"/>
              <p:cNvSpPr>
                <a:spLocks noChangeArrowheads="1"/>
              </p:cNvSpPr>
              <p:nvPr/>
            </p:nvSpPr>
            <p:spPr bwMode="gray">
              <a:xfrm>
                <a:off x="1580"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1</a:t>
                </a:r>
                <a:endParaRPr lang="en-US" altLang="zh-CN" sz="1000" b="0"/>
              </a:p>
            </p:txBody>
          </p:sp>
          <p:sp>
            <p:nvSpPr>
              <p:cNvPr id="22" name="Rectangle 30"/>
              <p:cNvSpPr>
                <a:spLocks noChangeArrowheads="1"/>
              </p:cNvSpPr>
              <p:nvPr/>
            </p:nvSpPr>
            <p:spPr bwMode="gray">
              <a:xfrm>
                <a:off x="268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3" name="Rectangle 31"/>
              <p:cNvSpPr>
                <a:spLocks noChangeArrowheads="1"/>
              </p:cNvSpPr>
              <p:nvPr/>
            </p:nvSpPr>
            <p:spPr bwMode="gray">
              <a:xfrm>
                <a:off x="2984"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a:t>
                </a:r>
                <a:endParaRPr lang="en-US" altLang="zh-CN" sz="1000" b="0"/>
              </a:p>
            </p:txBody>
          </p:sp>
          <p:sp>
            <p:nvSpPr>
              <p:cNvPr id="24" name="Rectangle 32"/>
              <p:cNvSpPr>
                <a:spLocks noChangeArrowheads="1"/>
              </p:cNvSpPr>
              <p:nvPr/>
            </p:nvSpPr>
            <p:spPr bwMode="gray">
              <a:xfrm>
                <a:off x="324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5" name="Rectangle 33"/>
              <p:cNvSpPr>
                <a:spLocks noChangeArrowheads="1"/>
              </p:cNvSpPr>
              <p:nvPr/>
            </p:nvSpPr>
            <p:spPr bwMode="gray">
              <a:xfrm>
                <a:off x="1828"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2</a:t>
                </a:r>
                <a:endParaRPr lang="en-US" altLang="zh-CN" sz="1000" b="0"/>
              </a:p>
            </p:txBody>
          </p:sp>
          <p:sp>
            <p:nvSpPr>
              <p:cNvPr id="26" name="Rectangle 34"/>
              <p:cNvSpPr>
                <a:spLocks noChangeArrowheads="1"/>
              </p:cNvSpPr>
              <p:nvPr/>
            </p:nvSpPr>
            <p:spPr bwMode="gray">
              <a:xfrm>
                <a:off x="4104" y="158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n</a:t>
                </a:r>
                <a:endParaRPr lang="en-US" altLang="zh-CN" sz="1000" b="0"/>
              </a:p>
            </p:txBody>
          </p:sp>
        </p:grpSp>
        <p:grpSp>
          <p:nvGrpSpPr>
            <p:cNvPr id="11" name="Group 35"/>
            <p:cNvGrpSpPr/>
            <p:nvPr/>
          </p:nvGrpSpPr>
          <p:grpSpPr bwMode="auto">
            <a:xfrm>
              <a:off x="1524" y="1496"/>
              <a:ext cx="3636" cy="481"/>
              <a:chOff x="1524" y="1496"/>
              <a:chExt cx="3636" cy="481"/>
            </a:xfrm>
          </p:grpSpPr>
          <p:sp>
            <p:nvSpPr>
              <p:cNvPr id="12" name="Rectangle 36"/>
              <p:cNvSpPr>
                <a:spLocks noChangeArrowheads="1"/>
              </p:cNvSpPr>
              <p:nvPr/>
            </p:nvSpPr>
            <p:spPr bwMode="gray">
              <a:xfrm>
                <a:off x="1524" y="1497"/>
                <a:ext cx="363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grpSp>
            <p:nvGrpSpPr>
              <p:cNvPr id="14" name="Group 37"/>
              <p:cNvGrpSpPr/>
              <p:nvPr/>
            </p:nvGrpSpPr>
            <p:grpSpPr bwMode="auto">
              <a:xfrm>
                <a:off x="1796" y="1496"/>
                <a:ext cx="3100" cy="480"/>
                <a:chOff x="1772" y="1544"/>
                <a:chExt cx="3100" cy="480"/>
              </a:xfrm>
            </p:grpSpPr>
            <p:sp>
              <p:nvSpPr>
                <p:cNvPr id="15" name="Line 38"/>
                <p:cNvSpPr>
                  <a:spLocks noChangeShapeType="1"/>
                </p:cNvSpPr>
                <p:nvPr/>
              </p:nvSpPr>
              <p:spPr bwMode="gray">
                <a:xfrm>
                  <a:off x="1772"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39"/>
                <p:cNvSpPr>
                  <a:spLocks noChangeShapeType="1"/>
                </p:cNvSpPr>
                <p:nvPr/>
              </p:nvSpPr>
              <p:spPr bwMode="gray">
                <a:xfrm>
                  <a:off x="3178"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40"/>
                <p:cNvSpPr>
                  <a:spLocks noChangeShapeType="1"/>
                </p:cNvSpPr>
                <p:nvPr/>
              </p:nvSpPr>
              <p:spPr bwMode="gray">
                <a:xfrm>
                  <a:off x="2889"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Rectangle 41"/>
                <p:cNvSpPr>
                  <a:spLocks noChangeArrowheads="1"/>
                </p:cNvSpPr>
                <p:nvPr/>
              </p:nvSpPr>
              <p:spPr bwMode="gray">
                <a:xfrm>
                  <a:off x="2048"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9" name="Rectangle 42"/>
                <p:cNvSpPr>
                  <a:spLocks noChangeArrowheads="1"/>
                </p:cNvSpPr>
                <p:nvPr/>
              </p:nvSpPr>
              <p:spPr bwMode="gray">
                <a:xfrm>
                  <a:off x="3456"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20" name="Rectangle 43"/>
                <p:cNvSpPr>
                  <a:spLocks noChangeArrowheads="1"/>
                </p:cNvSpPr>
                <p:nvPr/>
              </p:nvSpPr>
              <p:spPr bwMode="gray">
                <a:xfrm>
                  <a:off x="4304"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grpSp>
      <p:grpSp>
        <p:nvGrpSpPr>
          <p:cNvPr id="35" name="Group 11"/>
          <p:cNvGrpSpPr/>
          <p:nvPr/>
        </p:nvGrpSpPr>
        <p:grpSpPr bwMode="auto">
          <a:xfrm>
            <a:off x="2145406" y="2765878"/>
            <a:ext cx="685800" cy="1219200"/>
            <a:chOff x="1072" y="1776"/>
            <a:chExt cx="432" cy="768"/>
          </a:xfrm>
        </p:grpSpPr>
        <p:sp>
          <p:nvSpPr>
            <p:cNvPr id="36" name="Line 1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1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Group 4"/>
          <p:cNvGrpSpPr/>
          <p:nvPr/>
        </p:nvGrpSpPr>
        <p:grpSpPr bwMode="auto">
          <a:xfrm>
            <a:off x="1114906" y="3870778"/>
            <a:ext cx="1409700" cy="1447800"/>
            <a:chOff x="600" y="1488"/>
            <a:chExt cx="888" cy="912"/>
          </a:xfrm>
        </p:grpSpPr>
        <p:sp>
          <p:nvSpPr>
            <p:cNvPr id="39" name="Rectangle 5"/>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0" name="Line 6"/>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 name="Line 7"/>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Rectangle 8"/>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43" name="Rectangle 9"/>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44" name="Rectangle 10"/>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grpSp>
        <p:nvGrpSpPr>
          <p:cNvPr id="45" name="Group 15"/>
          <p:cNvGrpSpPr/>
          <p:nvPr/>
        </p:nvGrpSpPr>
        <p:grpSpPr bwMode="auto">
          <a:xfrm>
            <a:off x="1876906" y="4502390"/>
            <a:ext cx="457200" cy="762000"/>
            <a:chOff x="1008" y="2832"/>
            <a:chExt cx="288" cy="480"/>
          </a:xfrm>
        </p:grpSpPr>
        <p:sp>
          <p:nvSpPr>
            <p:cNvPr id="46" name="Rectangle 16"/>
            <p:cNvSpPr>
              <a:spLocks noChangeArrowheads="1"/>
            </p:cNvSpPr>
            <p:nvPr/>
          </p:nvSpPr>
          <p:spPr bwMode="gray">
            <a:xfrm>
              <a:off x="1008" y="312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a:t>
              </a:r>
              <a:endParaRPr lang="en-US" altLang="zh-CN" b="0"/>
            </a:p>
          </p:txBody>
        </p:sp>
        <p:sp>
          <p:nvSpPr>
            <p:cNvPr id="47" name="Rectangle 17"/>
            <p:cNvSpPr>
              <a:spLocks noChangeArrowheads="1"/>
            </p:cNvSpPr>
            <p:nvPr/>
          </p:nvSpPr>
          <p:spPr bwMode="gray">
            <a:xfrm>
              <a:off x="1008" y="283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a:t>
              </a:r>
              <a:endParaRPr lang="en-US" altLang="zh-CN" b="0"/>
            </a:p>
          </p:txBody>
        </p:sp>
      </p:grpSp>
      <p:sp>
        <p:nvSpPr>
          <p:cNvPr id="48" name="Rectangle 46"/>
          <p:cNvSpPr>
            <a:spLocks noChangeArrowheads="1"/>
          </p:cNvSpPr>
          <p:nvPr/>
        </p:nvSpPr>
        <p:spPr bwMode="gray">
          <a:xfrm>
            <a:off x="3653104" y="3613390"/>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dirty="0"/>
              <a:t>数据变量</a:t>
            </a:r>
            <a:r>
              <a:rPr lang="en-US" altLang="zh-CN" sz="1800" b="0" dirty="0"/>
              <a:t>e</a:t>
            </a:r>
            <a:endParaRPr lang="en-US" altLang="zh-CN" sz="1800" b="0" dirty="0"/>
          </a:p>
        </p:txBody>
      </p:sp>
      <p:sp>
        <p:nvSpPr>
          <p:cNvPr id="49" name="AutoShape 50"/>
          <p:cNvSpPr>
            <a:spLocks noChangeArrowheads="1"/>
          </p:cNvSpPr>
          <p:nvPr/>
        </p:nvSpPr>
        <p:spPr bwMode="gray">
          <a:xfrm>
            <a:off x="5206106" y="3266366"/>
            <a:ext cx="228600" cy="381000"/>
          </a:xfrm>
          <a:prstGeom prst="upArrow">
            <a:avLst>
              <a:gd name="adj1" fmla="val 50000"/>
              <a:gd name="adj2" fmla="val 41667"/>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50" name="Rectangle 45"/>
          <p:cNvSpPr>
            <a:spLocks noChangeArrowheads="1"/>
          </p:cNvSpPr>
          <p:nvPr/>
        </p:nvSpPr>
        <p:spPr bwMode="gray">
          <a:xfrm>
            <a:off x="5068914" y="3716053"/>
            <a:ext cx="533400" cy="45720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x</a:t>
            </a:r>
            <a:endParaRPr lang="en-US" altLang="zh-CN" sz="1000" b="0"/>
          </a:p>
        </p:txBody>
      </p:sp>
      <p:sp>
        <p:nvSpPr>
          <p:cNvPr id="51" name="Rectangle 47"/>
          <p:cNvSpPr>
            <a:spLocks noChangeArrowheads="1"/>
          </p:cNvSpPr>
          <p:nvPr/>
        </p:nvSpPr>
        <p:spPr bwMode="gray">
          <a:xfrm>
            <a:off x="5955406" y="3613390"/>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sz="1800" b="0"/>
              <a:t>elem[i - 1]=e;</a:t>
            </a:r>
            <a:endParaRPr lang="en-US" altLang="zh-CN" sz="18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arn(inHorizontal)">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在顺序表中查找符合条件的数据元素 </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13014" y="1387622"/>
            <a:ext cx="7848600" cy="494350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函数从第一个位置起查找与</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匹配的数据元素，若存在返回它的位置。</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b="0" dirty="0" err="1">
                <a:latin typeface="微软雅黑" panose="020B0503020204020204" pitchFamily="34" charset="-122"/>
                <a:ea typeface="微软雅黑" panose="020B0503020204020204" pitchFamily="34" charset="-122"/>
                <a:cs typeface="微软雅黑" panose="020B0503020204020204" pitchFamily="34" charset="-122"/>
              </a:rPr>
              <a:t>ElemType</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引用的是一个复杂的数据类型、或匹配的含义不是等于，</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那么在定义</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ElemType</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引用的数据类型时，必须重载</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运算符。</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SqList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LocateElem</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(const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&amp;e) const{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*p =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elem</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int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1;</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while(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&amp;&amp; *p != e){</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p++;</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if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return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return 0;</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在顺序表中查找符合条件的数据元素 </a:t>
            </a:r>
            <a:endParaRPr lang="zh-CN" altLang="en-US" sz="2000" dirty="0">
              <a:latin typeface="微软雅黑" panose="020B0503020204020204" pitchFamily="34" charset="-122"/>
              <a:ea typeface="微软雅黑" panose="020B0503020204020204" pitchFamily="34" charset="-122"/>
            </a:endParaRPr>
          </a:p>
        </p:txBody>
      </p:sp>
      <p:grpSp>
        <p:nvGrpSpPr>
          <p:cNvPr id="2" name="Group 18"/>
          <p:cNvGrpSpPr/>
          <p:nvPr/>
        </p:nvGrpSpPr>
        <p:grpSpPr bwMode="auto">
          <a:xfrm>
            <a:off x="3450091" y="1876454"/>
            <a:ext cx="5772150" cy="1181100"/>
            <a:chOff x="1524" y="1233"/>
            <a:chExt cx="3636" cy="744"/>
          </a:xfrm>
        </p:grpSpPr>
        <p:grpSp>
          <p:nvGrpSpPr>
            <p:cNvPr id="3" name="Group 19"/>
            <p:cNvGrpSpPr/>
            <p:nvPr/>
          </p:nvGrpSpPr>
          <p:grpSpPr bwMode="auto">
            <a:xfrm>
              <a:off x="1581" y="1233"/>
              <a:ext cx="3554" cy="255"/>
              <a:chOff x="1581" y="1233"/>
              <a:chExt cx="3554" cy="255"/>
            </a:xfrm>
          </p:grpSpPr>
          <p:sp>
            <p:nvSpPr>
              <p:cNvPr id="26" name="Rectangle 20"/>
              <p:cNvSpPr>
                <a:spLocks noChangeArrowheads="1"/>
              </p:cNvSpPr>
              <p:nvPr/>
            </p:nvSpPr>
            <p:spPr bwMode="gray">
              <a:xfrm>
                <a:off x="4943" y="124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27" name="Group 21"/>
              <p:cNvGrpSpPr/>
              <p:nvPr/>
            </p:nvGrpSpPr>
            <p:grpSpPr bwMode="auto">
              <a:xfrm>
                <a:off x="1581" y="1233"/>
                <a:ext cx="2716" cy="255"/>
                <a:chOff x="1548" y="1281"/>
                <a:chExt cx="2716" cy="255"/>
              </a:xfrm>
            </p:grpSpPr>
            <p:sp>
              <p:nvSpPr>
                <p:cNvPr id="28" name="Rectangle 22"/>
                <p:cNvSpPr>
                  <a:spLocks noChangeArrowheads="1"/>
                </p:cNvSpPr>
                <p:nvPr/>
              </p:nvSpPr>
              <p:spPr bwMode="gray">
                <a:xfrm>
                  <a:off x="154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29" name="Rectangle 23"/>
                <p:cNvSpPr>
                  <a:spLocks noChangeArrowheads="1"/>
                </p:cNvSpPr>
                <p:nvPr/>
              </p:nvSpPr>
              <p:spPr bwMode="gray">
                <a:xfrm>
                  <a:off x="265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i-2</a:t>
                  </a:r>
                  <a:endParaRPr lang="en-US" altLang="zh-CN" b="0"/>
                </a:p>
              </p:txBody>
            </p:sp>
            <p:sp>
              <p:nvSpPr>
                <p:cNvPr id="30" name="Rectangle 24"/>
                <p:cNvSpPr>
                  <a:spLocks noChangeArrowheads="1"/>
                </p:cNvSpPr>
                <p:nvPr/>
              </p:nvSpPr>
              <p:spPr bwMode="gray">
                <a:xfrm>
                  <a:off x="295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i-1</a:t>
                  </a:r>
                  <a:endParaRPr lang="en-US" altLang="zh-CN" b="0"/>
                </a:p>
              </p:txBody>
            </p:sp>
            <p:sp>
              <p:nvSpPr>
                <p:cNvPr id="31" name="Rectangle 25"/>
                <p:cNvSpPr>
                  <a:spLocks noChangeArrowheads="1"/>
                </p:cNvSpPr>
                <p:nvPr/>
              </p:nvSpPr>
              <p:spPr bwMode="gray">
                <a:xfrm>
                  <a:off x="321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a:t>
                  </a:r>
                  <a:endParaRPr lang="en-US" altLang="zh-CN" b="0"/>
                </a:p>
              </p:txBody>
            </p:sp>
            <p:sp>
              <p:nvSpPr>
                <p:cNvPr id="32" name="Rectangle 26"/>
                <p:cNvSpPr>
                  <a:spLocks noChangeArrowheads="1"/>
                </p:cNvSpPr>
                <p:nvPr/>
              </p:nvSpPr>
              <p:spPr bwMode="gray">
                <a:xfrm>
                  <a:off x="186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sp>
              <p:nvSpPr>
                <p:cNvPr id="33" name="Rectangle 27"/>
                <p:cNvSpPr>
                  <a:spLocks noChangeArrowheads="1"/>
                </p:cNvSpPr>
                <p:nvPr/>
              </p:nvSpPr>
              <p:spPr bwMode="gray">
                <a:xfrm>
                  <a:off x="4072" y="1284"/>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grpSp>
        </p:grpSp>
        <p:grpSp>
          <p:nvGrpSpPr>
            <p:cNvPr id="9" name="Group 28"/>
            <p:cNvGrpSpPr/>
            <p:nvPr/>
          </p:nvGrpSpPr>
          <p:grpSpPr bwMode="auto">
            <a:xfrm>
              <a:off x="1580" y="1585"/>
              <a:ext cx="2716" cy="255"/>
              <a:chOff x="1580" y="1585"/>
              <a:chExt cx="2716" cy="255"/>
            </a:xfrm>
          </p:grpSpPr>
          <p:sp>
            <p:nvSpPr>
              <p:cNvPr id="20" name="Rectangle 29"/>
              <p:cNvSpPr>
                <a:spLocks noChangeArrowheads="1"/>
              </p:cNvSpPr>
              <p:nvPr/>
            </p:nvSpPr>
            <p:spPr bwMode="gray">
              <a:xfrm>
                <a:off x="1580"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1</a:t>
                </a:r>
                <a:endParaRPr lang="en-US" altLang="zh-CN" sz="1000" b="0"/>
              </a:p>
            </p:txBody>
          </p:sp>
          <p:sp>
            <p:nvSpPr>
              <p:cNvPr id="21" name="Rectangle 30"/>
              <p:cNvSpPr>
                <a:spLocks noChangeArrowheads="1"/>
              </p:cNvSpPr>
              <p:nvPr/>
            </p:nvSpPr>
            <p:spPr bwMode="gray">
              <a:xfrm>
                <a:off x="268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2" name="Rectangle 31"/>
              <p:cNvSpPr>
                <a:spLocks noChangeArrowheads="1"/>
              </p:cNvSpPr>
              <p:nvPr/>
            </p:nvSpPr>
            <p:spPr bwMode="gray">
              <a:xfrm>
                <a:off x="2984"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a:t>
                </a:r>
                <a:endParaRPr lang="en-US" altLang="zh-CN" sz="1000" b="0"/>
              </a:p>
            </p:txBody>
          </p:sp>
          <p:sp>
            <p:nvSpPr>
              <p:cNvPr id="23" name="Rectangle 32"/>
              <p:cNvSpPr>
                <a:spLocks noChangeArrowheads="1"/>
              </p:cNvSpPr>
              <p:nvPr/>
            </p:nvSpPr>
            <p:spPr bwMode="gray">
              <a:xfrm>
                <a:off x="324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4" name="Rectangle 33"/>
              <p:cNvSpPr>
                <a:spLocks noChangeArrowheads="1"/>
              </p:cNvSpPr>
              <p:nvPr/>
            </p:nvSpPr>
            <p:spPr bwMode="gray">
              <a:xfrm>
                <a:off x="1828"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2</a:t>
                </a:r>
                <a:endParaRPr lang="en-US" altLang="zh-CN" sz="1000" b="0"/>
              </a:p>
            </p:txBody>
          </p:sp>
          <p:sp>
            <p:nvSpPr>
              <p:cNvPr id="25" name="Rectangle 34"/>
              <p:cNvSpPr>
                <a:spLocks noChangeArrowheads="1"/>
              </p:cNvSpPr>
              <p:nvPr/>
            </p:nvSpPr>
            <p:spPr bwMode="gray">
              <a:xfrm>
                <a:off x="4104" y="158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n</a:t>
                </a:r>
                <a:endParaRPr lang="en-US" altLang="zh-CN" sz="1000" b="0"/>
              </a:p>
            </p:txBody>
          </p:sp>
        </p:grpSp>
        <p:grpSp>
          <p:nvGrpSpPr>
            <p:cNvPr id="10" name="Group 35"/>
            <p:cNvGrpSpPr/>
            <p:nvPr/>
          </p:nvGrpSpPr>
          <p:grpSpPr bwMode="auto">
            <a:xfrm>
              <a:off x="1524" y="1496"/>
              <a:ext cx="3636" cy="481"/>
              <a:chOff x="1524" y="1496"/>
              <a:chExt cx="3636" cy="481"/>
            </a:xfrm>
          </p:grpSpPr>
          <p:sp>
            <p:nvSpPr>
              <p:cNvPr id="11" name="Rectangle 36"/>
              <p:cNvSpPr>
                <a:spLocks noChangeArrowheads="1"/>
              </p:cNvSpPr>
              <p:nvPr/>
            </p:nvSpPr>
            <p:spPr bwMode="gray">
              <a:xfrm>
                <a:off x="1524" y="1497"/>
                <a:ext cx="363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grpSp>
            <p:nvGrpSpPr>
              <p:cNvPr id="12" name="Group 37"/>
              <p:cNvGrpSpPr/>
              <p:nvPr/>
            </p:nvGrpSpPr>
            <p:grpSpPr bwMode="auto">
              <a:xfrm>
                <a:off x="1796" y="1496"/>
                <a:ext cx="3100" cy="480"/>
                <a:chOff x="1772" y="1544"/>
                <a:chExt cx="3100" cy="480"/>
              </a:xfrm>
            </p:grpSpPr>
            <p:sp>
              <p:nvSpPr>
                <p:cNvPr id="14" name="Line 38"/>
                <p:cNvSpPr>
                  <a:spLocks noChangeShapeType="1"/>
                </p:cNvSpPr>
                <p:nvPr/>
              </p:nvSpPr>
              <p:spPr bwMode="gray">
                <a:xfrm>
                  <a:off x="1772"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Line 39"/>
                <p:cNvSpPr>
                  <a:spLocks noChangeShapeType="1"/>
                </p:cNvSpPr>
                <p:nvPr/>
              </p:nvSpPr>
              <p:spPr bwMode="gray">
                <a:xfrm>
                  <a:off x="3178"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40"/>
                <p:cNvSpPr>
                  <a:spLocks noChangeShapeType="1"/>
                </p:cNvSpPr>
                <p:nvPr/>
              </p:nvSpPr>
              <p:spPr bwMode="gray">
                <a:xfrm>
                  <a:off x="2889"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Rectangle 41"/>
                <p:cNvSpPr>
                  <a:spLocks noChangeArrowheads="1"/>
                </p:cNvSpPr>
                <p:nvPr/>
              </p:nvSpPr>
              <p:spPr bwMode="gray">
                <a:xfrm>
                  <a:off x="2048"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8" name="Rectangle 42"/>
                <p:cNvSpPr>
                  <a:spLocks noChangeArrowheads="1"/>
                </p:cNvSpPr>
                <p:nvPr/>
              </p:nvSpPr>
              <p:spPr bwMode="gray">
                <a:xfrm>
                  <a:off x="3456"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9" name="Rectangle 43"/>
                <p:cNvSpPr>
                  <a:spLocks noChangeArrowheads="1"/>
                </p:cNvSpPr>
                <p:nvPr/>
              </p:nvSpPr>
              <p:spPr bwMode="gray">
                <a:xfrm>
                  <a:off x="4304"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grpSp>
      <p:grpSp>
        <p:nvGrpSpPr>
          <p:cNvPr id="34" name="Group 11"/>
          <p:cNvGrpSpPr/>
          <p:nvPr/>
        </p:nvGrpSpPr>
        <p:grpSpPr bwMode="auto">
          <a:xfrm>
            <a:off x="2757942" y="2673863"/>
            <a:ext cx="685800" cy="1219200"/>
            <a:chOff x="1072" y="1776"/>
            <a:chExt cx="432" cy="768"/>
          </a:xfrm>
        </p:grpSpPr>
        <p:sp>
          <p:nvSpPr>
            <p:cNvPr id="35" name="Line 1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1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7" name="Group 4"/>
          <p:cNvGrpSpPr/>
          <p:nvPr/>
        </p:nvGrpSpPr>
        <p:grpSpPr bwMode="auto">
          <a:xfrm>
            <a:off x="1732193" y="3785626"/>
            <a:ext cx="1409700" cy="1447800"/>
            <a:chOff x="600" y="1488"/>
            <a:chExt cx="888" cy="912"/>
          </a:xfrm>
        </p:grpSpPr>
        <p:sp>
          <p:nvSpPr>
            <p:cNvPr id="38" name="Rectangle 5"/>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39" name="Line 6"/>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 name="Line 7"/>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 name="Rectangle 8"/>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42" name="Rectangle 9"/>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43" name="Rectangle 10"/>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grpSp>
        <p:nvGrpSpPr>
          <p:cNvPr id="44" name="Group 15"/>
          <p:cNvGrpSpPr/>
          <p:nvPr/>
        </p:nvGrpSpPr>
        <p:grpSpPr bwMode="auto">
          <a:xfrm>
            <a:off x="2476849" y="4381738"/>
            <a:ext cx="457200" cy="762000"/>
            <a:chOff x="1008" y="2832"/>
            <a:chExt cx="288" cy="480"/>
          </a:xfrm>
        </p:grpSpPr>
        <p:sp>
          <p:nvSpPr>
            <p:cNvPr id="45" name="Rectangle 16"/>
            <p:cNvSpPr>
              <a:spLocks noChangeArrowheads="1"/>
            </p:cNvSpPr>
            <p:nvPr/>
          </p:nvSpPr>
          <p:spPr bwMode="gray">
            <a:xfrm>
              <a:off x="1008" y="312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a:t>
              </a:r>
              <a:endParaRPr lang="en-US" altLang="zh-CN" b="0"/>
            </a:p>
          </p:txBody>
        </p:sp>
        <p:sp>
          <p:nvSpPr>
            <p:cNvPr id="46" name="Rectangle 17"/>
            <p:cNvSpPr>
              <a:spLocks noChangeArrowheads="1"/>
            </p:cNvSpPr>
            <p:nvPr/>
          </p:nvSpPr>
          <p:spPr bwMode="gray">
            <a:xfrm>
              <a:off x="1008" y="283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a:t>
              </a:r>
              <a:endParaRPr lang="en-US" altLang="zh-CN" b="0"/>
            </a:p>
          </p:txBody>
        </p:sp>
      </p:grpSp>
      <p:sp>
        <p:nvSpPr>
          <p:cNvPr id="47" name="Line 51"/>
          <p:cNvSpPr>
            <a:spLocks noChangeShapeType="1"/>
          </p:cNvSpPr>
          <p:nvPr/>
        </p:nvSpPr>
        <p:spPr bwMode="gray">
          <a:xfrm flipV="1">
            <a:off x="3691391" y="3062288"/>
            <a:ext cx="0" cy="3667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sp>
        <p:nvSpPr>
          <p:cNvPr id="48" name="Rectangle 50"/>
          <p:cNvSpPr>
            <a:spLocks noChangeArrowheads="1"/>
          </p:cNvSpPr>
          <p:nvPr/>
        </p:nvSpPr>
        <p:spPr bwMode="gray">
          <a:xfrm>
            <a:off x="3042909" y="3442331"/>
            <a:ext cx="121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dirty="0">
                <a:latin typeface="微软雅黑" panose="020B0503020204020204" pitchFamily="34" charset="-122"/>
                <a:ea typeface="微软雅黑" panose="020B0503020204020204" pitchFamily="34" charset="-122"/>
              </a:rPr>
              <a:t>指针变量</a:t>
            </a:r>
            <a:r>
              <a:rPr lang="en-US" altLang="zh-CN" sz="1800" b="0" dirty="0"/>
              <a:t>p</a:t>
            </a:r>
            <a:endParaRPr lang="en-US" altLang="zh-CN" sz="1800" b="0" dirty="0"/>
          </a:p>
        </p:txBody>
      </p:sp>
      <p:sp>
        <p:nvSpPr>
          <p:cNvPr id="49" name="Rectangle 44"/>
          <p:cNvSpPr>
            <a:spLocks noChangeArrowheads="1"/>
          </p:cNvSpPr>
          <p:nvPr/>
        </p:nvSpPr>
        <p:spPr bwMode="gray">
          <a:xfrm>
            <a:off x="4517120" y="3419504"/>
            <a:ext cx="533400" cy="45720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x</a:t>
            </a:r>
            <a:endParaRPr lang="en-US" altLang="zh-CN" sz="1000" b="0"/>
          </a:p>
        </p:txBody>
      </p:sp>
      <p:sp>
        <p:nvSpPr>
          <p:cNvPr id="50" name="Rectangle 45"/>
          <p:cNvSpPr>
            <a:spLocks noChangeArrowheads="1"/>
          </p:cNvSpPr>
          <p:nvPr/>
        </p:nvSpPr>
        <p:spPr bwMode="gray">
          <a:xfrm>
            <a:off x="4339368" y="3963426"/>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dirty="0">
                <a:latin typeface="微软雅黑" panose="020B0503020204020204" pitchFamily="34" charset="-122"/>
                <a:ea typeface="微软雅黑" panose="020B0503020204020204" pitchFamily="34" charset="-122"/>
              </a:rPr>
              <a:t>数据变量</a:t>
            </a:r>
            <a:r>
              <a:rPr lang="en-US" altLang="zh-CN" sz="1800" b="0" dirty="0"/>
              <a:t>e</a:t>
            </a:r>
            <a:endParaRPr lang="en-US" altLang="zh-CN" sz="1800" b="0" dirty="0"/>
          </a:p>
        </p:txBody>
      </p:sp>
      <p:sp>
        <p:nvSpPr>
          <p:cNvPr id="51" name="Line 51"/>
          <p:cNvSpPr>
            <a:spLocks noChangeShapeType="1"/>
          </p:cNvSpPr>
          <p:nvPr/>
        </p:nvSpPr>
        <p:spPr bwMode="gray">
          <a:xfrm flipV="1">
            <a:off x="5920241" y="3075618"/>
            <a:ext cx="0" cy="36671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Rectangle 46"/>
          <p:cNvSpPr>
            <a:spLocks noChangeArrowheads="1"/>
          </p:cNvSpPr>
          <p:nvPr/>
        </p:nvSpPr>
        <p:spPr bwMode="gray">
          <a:xfrm>
            <a:off x="6474732" y="3584757"/>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sz="1800" b="0" dirty="0"/>
              <a:t>if (*p= =e)   return </a:t>
            </a:r>
            <a:r>
              <a:rPr lang="en-US" altLang="zh-CN" sz="1800" b="0" dirty="0" err="1"/>
              <a:t>i</a:t>
            </a:r>
            <a:r>
              <a:rPr lang="en-US" altLang="zh-CN" sz="1800" b="0" dirty="0"/>
              <a:t>;</a:t>
            </a:r>
            <a:endParaRPr lang="en-US" altLang="zh-CN" sz="18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3000" fill="hold"/>
                                        <p:tgtEl>
                                          <p:spTgt spid="47"/>
                                        </p:tgtEl>
                                        <p:attrNameLst>
                                          <p:attrName>ppt_x</p:attrName>
                                          <p:attrName>ppt_y</p:attrName>
                                        </p:attrNameLst>
                                      </p:cBhvr>
                                    </p:animMotion>
                                  </p:childTnLst>
                                </p:cTn>
                              </p:par>
                              <p:par>
                                <p:cTn id="7" presetID="63" presetClass="path" presetSubtype="0" accel="50000" decel="50000" fill="hold" grpId="0" nodeType="withEffect">
                                  <p:stCondLst>
                                    <p:cond delay="0"/>
                                  </p:stCondLst>
                                  <p:childTnLst>
                                    <p:animMotion origin="layout" path="M -3.33333E-6 -4.44444E-6 L 0.25 -4.44444E-6 " pathEditMode="relative" rAng="0" ptsTypes="AA">
                                      <p:cBhvr>
                                        <p:cTn id="8" dur="3000" fill="hold"/>
                                        <p:tgtEl>
                                          <p:spTgt spid="48"/>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在顺序表中查找符合条件的数据元素之前驱</a:t>
            </a:r>
            <a:endParaRPr lang="zh-CN" altLang="en-US" sz="2000" dirty="0">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838200" y="1600200"/>
            <a:ext cx="7848600" cy="3886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从第一个位置起查找与</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匹配的数据元素，若存在且不是第一个，</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返回它前驱的位置。</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LocatePrior</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LocateElem</a:t>
            </a:r>
            <a:r>
              <a:rPr lang="en-US" altLang="zh-CN" b="0" dirty="0">
                <a:latin typeface="Times New Roman" panose="02020603050405020304" pitchFamily="18" charset="0"/>
                <a:cs typeface="Times New Roman" panose="02020603050405020304" pitchFamily="18" charset="0"/>
              </a:rPr>
              <a:t>(e);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&gt; 1)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- 1;</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0;</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8" name="内容占位符 2"/>
          <p:cNvSpPr/>
          <p:nvPr/>
        </p:nvSpPr>
        <p:spPr bwMode="gray">
          <a:xfrm>
            <a:off x="522514" y="1031786"/>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在顺序表中查找符合条件的数据元素之前驱</a:t>
            </a:r>
            <a:endParaRPr lang="zh-CN" altLang="en-US" sz="2000" b="0" dirty="0">
              <a:latin typeface="微软雅黑" panose="020B0503020204020204" pitchFamily="34" charset="-122"/>
              <a:ea typeface="微软雅黑" panose="020B0503020204020204" pitchFamily="34" charset="-122"/>
            </a:endParaRPr>
          </a:p>
        </p:txBody>
      </p:sp>
      <p:pic>
        <p:nvPicPr>
          <p:cNvPr id="9" name="Picture 5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839611" y="1943100"/>
            <a:ext cx="9021536"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在顺序表中查找符合条件的数据元素之后继</a:t>
            </a:r>
            <a:endParaRPr lang="zh-CN" altLang="en-US" sz="2000" dirty="0">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1050471" y="1679179"/>
            <a:ext cx="7848600" cy="3886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从第一个位置起查找与</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匹配的数据元素，若存在且不是最后一个，</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返回它后继的位置。</a:t>
            </a:r>
            <a:endParaRPr lang="en-US" altLang="zh-CN"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SqList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LocateNext</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LocateElem</a:t>
            </a:r>
            <a:r>
              <a:rPr lang="en-US" altLang="zh-CN" b="0" dirty="0">
                <a:latin typeface="Times New Roman" panose="02020603050405020304" pitchFamily="18" charset="0"/>
                <a:cs typeface="Times New Roman" panose="02020603050405020304" pitchFamily="18" charset="0"/>
              </a:rPr>
              <a:t>(e);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&gt;= 1 &amp;&amp;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&lt; </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+ 1;</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0;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在顺序表中查找符合条件的数据元素之后继</a:t>
            </a:r>
            <a:endParaRPr lang="zh-CN" altLang="en-US" sz="2000" dirty="0">
              <a:latin typeface="微软雅黑" panose="020B0503020204020204" pitchFamily="34" charset="-122"/>
              <a:ea typeface="微软雅黑" panose="020B0503020204020204" pitchFamily="34" charset="-122"/>
            </a:endParaRPr>
          </a:p>
        </p:txBody>
      </p:sp>
      <p:pic>
        <p:nvPicPr>
          <p:cNvPr id="8" name="Picture 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454334" y="1758407"/>
            <a:ext cx="9735740" cy="3423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9" name="Rectangle 3"/>
          <p:cNvSpPr txBox="1">
            <a:spLocks noChangeArrowheads="1"/>
          </p:cNvSpPr>
          <p:nvPr/>
        </p:nvSpPr>
        <p:spPr>
          <a:xfrm>
            <a:off x="522514" y="1204740"/>
            <a:ext cx="11036212"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000" dirty="0">
                <a:latin typeface="微软雅黑" panose="020B0503020204020204" pitchFamily="34" charset="-122"/>
                <a:ea typeface="微软雅黑" panose="020B0503020204020204" pitchFamily="34" charset="-122"/>
              </a:rPr>
              <a:t>在顺序表中第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个位置插入新的数据元素</a:t>
            </a:r>
            <a:endParaRPr lang="en-US" altLang="zh-CN" sz="2000" dirty="0">
              <a:latin typeface="微软雅黑" panose="020B0503020204020204" pitchFamily="34" charset="-122"/>
              <a:ea typeface="微软雅黑" panose="020B0503020204020204" pitchFamily="34" charset="-122"/>
            </a:endParaRPr>
          </a:p>
          <a:p>
            <a:pPr lvl="1">
              <a:lnSpc>
                <a:spcPct val="125000"/>
              </a:lnSpc>
              <a:defRPr/>
            </a:pPr>
            <a:r>
              <a:rPr lang="zh-CN" altLang="en-US" sz="2000" dirty="0">
                <a:latin typeface="微软雅黑" panose="020B0503020204020204" pitchFamily="34" charset="-122"/>
                <a:ea typeface="微软雅黑" panose="020B0503020204020204" pitchFamily="34" charset="-122"/>
              </a:rPr>
              <a:t>即指在第</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en-US" altLang="zh-CN" sz="2000" i="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000" i="1" dirty="0">
                <a:latin typeface="微软雅黑" panose="020B0503020204020204" pitchFamily="34" charset="-122"/>
                <a:ea typeface="微软雅黑" panose="020B0503020204020204" pitchFamily="34" charset="-122"/>
              </a:rPr>
              <a:t> </a:t>
            </a:r>
            <a:r>
              <a:rPr lang="en-US" altLang="zh-CN" sz="2000" i="1" dirty="0" err="1">
                <a:latin typeface="微软雅黑" panose="020B0503020204020204" pitchFamily="34" charset="-122"/>
                <a:ea typeface="微软雅黑" panose="020B0503020204020204" pitchFamily="34" charset="-122"/>
              </a:rPr>
              <a:t>i</a:t>
            </a:r>
            <a:r>
              <a:rPr lang="en-US" altLang="zh-CN" sz="2000" i="1" dirty="0">
                <a:latin typeface="微软雅黑" panose="020B0503020204020204" pitchFamily="34" charset="-122"/>
                <a:ea typeface="微软雅黑" panose="020B0503020204020204" pitchFamily="34" charset="-122"/>
              </a:rPr>
              <a:t> ≤ n+</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）个元素之前插入一个新的数据元素</a:t>
            </a:r>
            <a:r>
              <a:rPr lang="en-US" altLang="zh-CN" sz="2000" i="1"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，使长度为</a:t>
            </a:r>
            <a:r>
              <a:rPr lang="en-US" altLang="zh-CN" sz="2000" i="1"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的线性表</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defRPr/>
            </a:pPr>
            <a:r>
              <a:rPr lang="zh-CN" altLang="en-US" dirty="0"/>
              <a:t> 			</a:t>
            </a:r>
            <a:r>
              <a:rPr lang="zh-CN" altLang="en-US" sz="2000" dirty="0"/>
              <a:t>（</a:t>
            </a:r>
            <a:r>
              <a:rPr lang="en-US" altLang="zh-CN" sz="2000" i="1" dirty="0"/>
              <a:t>a</a:t>
            </a:r>
            <a:r>
              <a:rPr lang="en-US" altLang="zh-CN" sz="2000" baseline="-25000" dirty="0"/>
              <a:t>1</a:t>
            </a:r>
            <a:r>
              <a:rPr lang="en-US" altLang="zh-CN" sz="2000" i="1" dirty="0"/>
              <a:t>, a</a:t>
            </a:r>
            <a:r>
              <a:rPr lang="en-US" altLang="zh-CN" sz="2000" baseline="-25000" dirty="0"/>
              <a:t>2</a:t>
            </a:r>
            <a:r>
              <a:rPr lang="en-US" altLang="zh-CN" sz="2000" i="1" dirty="0"/>
              <a:t>, …, a</a:t>
            </a:r>
            <a:r>
              <a:rPr lang="en-US" altLang="zh-CN" sz="2000" i="1" baseline="-25000" dirty="0"/>
              <a:t>i-</a:t>
            </a:r>
            <a:r>
              <a:rPr lang="en-US" altLang="zh-CN" sz="2000" baseline="-25000" dirty="0"/>
              <a:t>1</a:t>
            </a:r>
            <a:r>
              <a:rPr lang="en-US" altLang="zh-CN" sz="2000" i="1" dirty="0"/>
              <a:t>, a</a:t>
            </a:r>
            <a:r>
              <a:rPr lang="en-US" altLang="zh-CN" sz="2000" i="1" baseline="-25000" dirty="0"/>
              <a:t>i </a:t>
            </a:r>
            <a:r>
              <a:rPr lang="en-US" altLang="zh-CN" sz="2000" i="1" dirty="0"/>
              <a:t>, …, a</a:t>
            </a:r>
            <a:r>
              <a:rPr lang="en-US" altLang="zh-CN" sz="2000" i="1" baseline="-25000" dirty="0"/>
              <a:t>n</a:t>
            </a:r>
            <a:r>
              <a:rPr lang="zh-CN" altLang="en-US" sz="2000" dirty="0"/>
              <a:t>）</a:t>
            </a:r>
            <a:endParaRPr lang="en-US" altLang="zh-CN" sz="2000" dirty="0"/>
          </a:p>
          <a:p>
            <a:pPr>
              <a:lnSpc>
                <a:spcPct val="125000"/>
              </a:lnSpc>
              <a:buFontTx/>
              <a:buNone/>
              <a:defRPr/>
            </a:pPr>
            <a:r>
              <a:rPr lang="en-US" altLang="zh-CN" sz="2000" dirty="0"/>
              <a:t>	</a:t>
            </a:r>
            <a:r>
              <a:rPr lang="en-US" altLang="zh-CN" sz="2000" dirty="0">
                <a:solidFill>
                  <a:srgbClr val="3333FF"/>
                </a:solidFill>
              </a:rPr>
              <a:t>     </a:t>
            </a:r>
            <a:r>
              <a:rPr lang="zh-CN" altLang="en-US" sz="2000" b="1" kern="0" dirty="0">
                <a:solidFill>
                  <a:srgbClr val="005A9E"/>
                </a:solidFill>
                <a:latin typeface="微软雅黑" panose="020B0503020204020204" pitchFamily="34" charset="-122"/>
                <a:ea typeface="微软雅黑" panose="020B0503020204020204" pitchFamily="34" charset="-122"/>
              </a:rPr>
              <a:t>变成长度为</a:t>
            </a:r>
            <a:r>
              <a:rPr lang="en-US" altLang="zh-CN" sz="2000" b="1" kern="0" dirty="0">
                <a:solidFill>
                  <a:srgbClr val="005A9E"/>
                </a:solidFill>
                <a:latin typeface="微软雅黑" panose="020B0503020204020204" pitchFamily="34" charset="-122"/>
                <a:ea typeface="微软雅黑" panose="020B0503020204020204" pitchFamily="34" charset="-122"/>
              </a:rPr>
              <a:t>n+1</a:t>
            </a:r>
            <a:r>
              <a:rPr lang="zh-CN" altLang="en-US" sz="2000" b="1" kern="0" dirty="0">
                <a:solidFill>
                  <a:srgbClr val="005A9E"/>
                </a:solidFill>
                <a:latin typeface="微软雅黑" panose="020B0503020204020204" pitchFamily="34" charset="-122"/>
                <a:ea typeface="微软雅黑" panose="020B0503020204020204" pitchFamily="34" charset="-122"/>
              </a:rPr>
              <a:t>的线性表</a:t>
            </a:r>
            <a:endParaRPr lang="en-US" altLang="zh-CN" sz="2000" b="1" kern="0" dirty="0">
              <a:solidFill>
                <a:srgbClr val="005A9E"/>
              </a:solidFill>
              <a:latin typeface="微软雅黑" panose="020B0503020204020204" pitchFamily="34" charset="-122"/>
              <a:ea typeface="微软雅黑" panose="020B0503020204020204" pitchFamily="34" charset="-122"/>
            </a:endParaRPr>
          </a:p>
          <a:p>
            <a:pPr>
              <a:lnSpc>
                <a:spcPct val="125000"/>
              </a:lnSpc>
              <a:buFontTx/>
              <a:buNone/>
              <a:defRPr/>
            </a:pPr>
            <a:endParaRPr lang="en-US" altLang="zh-CN" sz="2000" b="1" kern="0" dirty="0">
              <a:solidFill>
                <a:srgbClr val="005A9E"/>
              </a:solidFill>
              <a:latin typeface="微软雅黑" panose="020B0503020204020204" pitchFamily="34" charset="-122"/>
              <a:ea typeface="微软雅黑" panose="020B0503020204020204" pitchFamily="34" charset="-122"/>
            </a:endParaRPr>
          </a:p>
          <a:p>
            <a:pPr>
              <a:lnSpc>
                <a:spcPct val="125000"/>
              </a:lnSpc>
              <a:buFontTx/>
              <a:buNone/>
              <a:defRPr/>
            </a:pPr>
            <a:r>
              <a:rPr lang="zh-CN" altLang="en-US" sz="2000" b="1" kern="0" dirty="0">
                <a:solidFill>
                  <a:srgbClr val="005A9E"/>
                </a:solidFill>
                <a:latin typeface="微软雅黑" panose="020B0503020204020204" pitchFamily="34" charset="-122"/>
                <a:ea typeface="微软雅黑" panose="020B0503020204020204" pitchFamily="34" charset="-122"/>
              </a:rPr>
              <a:t>         需将第 </a:t>
            </a:r>
            <a:r>
              <a:rPr lang="en-US" altLang="zh-CN" sz="2000" b="1" kern="0" dirty="0" err="1">
                <a:solidFill>
                  <a:srgbClr val="005A9E"/>
                </a:solidFill>
                <a:latin typeface="微软雅黑" panose="020B0503020204020204" pitchFamily="34" charset="-122"/>
                <a:ea typeface="微软雅黑" panose="020B0503020204020204" pitchFamily="34" charset="-122"/>
              </a:rPr>
              <a:t>i</a:t>
            </a:r>
            <a:r>
              <a:rPr lang="en-US" altLang="zh-CN" sz="2000" b="1" kern="0" dirty="0">
                <a:solidFill>
                  <a:srgbClr val="005A9E"/>
                </a:solidFill>
                <a:latin typeface="微软雅黑" panose="020B0503020204020204" pitchFamily="34" charset="-122"/>
                <a:ea typeface="微软雅黑" panose="020B0503020204020204" pitchFamily="34" charset="-122"/>
              </a:rPr>
              <a:t> </a:t>
            </a:r>
            <a:r>
              <a:rPr lang="zh-CN" altLang="en-US" sz="2000" b="1" kern="0" dirty="0">
                <a:solidFill>
                  <a:srgbClr val="005A9E"/>
                </a:solidFill>
                <a:latin typeface="微软雅黑" panose="020B0503020204020204" pitchFamily="34" charset="-122"/>
                <a:ea typeface="微软雅黑" panose="020B0503020204020204" pitchFamily="34" charset="-122"/>
              </a:rPr>
              <a:t>至第 </a:t>
            </a:r>
            <a:r>
              <a:rPr lang="en-US" altLang="zh-CN" sz="2000" b="1" kern="0" dirty="0">
                <a:solidFill>
                  <a:srgbClr val="005A9E"/>
                </a:solidFill>
                <a:latin typeface="微软雅黑" panose="020B0503020204020204" pitchFamily="34" charset="-122"/>
                <a:ea typeface="微软雅黑" panose="020B0503020204020204" pitchFamily="34" charset="-122"/>
              </a:rPr>
              <a:t>n </a:t>
            </a:r>
            <a:r>
              <a:rPr lang="zh-CN" altLang="en-US" sz="2000" b="1" kern="0" dirty="0">
                <a:solidFill>
                  <a:srgbClr val="005A9E"/>
                </a:solidFill>
                <a:latin typeface="微软雅黑" panose="020B0503020204020204" pitchFamily="34" charset="-122"/>
                <a:ea typeface="微软雅黑" panose="020B0503020204020204" pitchFamily="34" charset="-122"/>
              </a:rPr>
              <a:t>共 </a:t>
            </a:r>
            <a:r>
              <a:rPr lang="en-US" altLang="zh-CN" sz="2000" b="1" kern="0" dirty="0">
                <a:solidFill>
                  <a:srgbClr val="005A9E"/>
                </a:solidFill>
                <a:latin typeface="微软雅黑" panose="020B0503020204020204" pitchFamily="34" charset="-122"/>
                <a:ea typeface="微软雅黑" panose="020B0503020204020204" pitchFamily="34" charset="-122"/>
              </a:rPr>
              <a:t>n-i+1 </a:t>
            </a:r>
            <a:r>
              <a:rPr lang="zh-CN" altLang="en-US" sz="2000" b="1" kern="0" dirty="0">
                <a:solidFill>
                  <a:srgbClr val="005A9E"/>
                </a:solidFill>
                <a:latin typeface="微软雅黑" panose="020B0503020204020204" pitchFamily="34" charset="-122"/>
                <a:ea typeface="微软雅黑" panose="020B0503020204020204" pitchFamily="34" charset="-122"/>
              </a:rPr>
              <a:t>个元素后移</a:t>
            </a:r>
            <a:endParaRPr lang="zh-CN" altLang="en-US" sz="2000" b="1" kern="0" dirty="0">
              <a:solidFill>
                <a:srgbClr val="005A9E"/>
              </a:solidFill>
              <a:latin typeface="微软雅黑" panose="020B0503020204020204" pitchFamily="34" charset="-122"/>
              <a:ea typeface="微软雅黑" panose="020B0503020204020204" pitchFamily="34" charset="-122"/>
            </a:endParaRPr>
          </a:p>
          <a:p>
            <a:pPr>
              <a:lnSpc>
                <a:spcPct val="125000"/>
              </a:lnSpc>
              <a:buFontTx/>
              <a:buNone/>
              <a:defRPr/>
            </a:pPr>
            <a:r>
              <a:rPr lang="zh-CN" altLang="en-US" sz="2000" dirty="0"/>
              <a:t>			（</a:t>
            </a:r>
            <a:r>
              <a:rPr lang="en-US" altLang="zh-CN" sz="2000" i="1" dirty="0"/>
              <a:t>a</a:t>
            </a:r>
            <a:r>
              <a:rPr lang="en-US" altLang="zh-CN" sz="2000" baseline="-25000" dirty="0"/>
              <a:t>1</a:t>
            </a:r>
            <a:r>
              <a:rPr lang="en-US" altLang="zh-CN" sz="2000" i="1" dirty="0"/>
              <a:t>, a</a:t>
            </a:r>
            <a:r>
              <a:rPr lang="en-US" altLang="zh-CN" sz="2000" baseline="-25000" dirty="0"/>
              <a:t>2</a:t>
            </a:r>
            <a:r>
              <a:rPr lang="en-US" altLang="zh-CN" sz="2000" i="1" dirty="0"/>
              <a:t>, …, a</a:t>
            </a:r>
            <a:r>
              <a:rPr lang="en-US" altLang="zh-CN" sz="2000" i="1" baseline="-25000" dirty="0"/>
              <a:t>i-</a:t>
            </a:r>
            <a:r>
              <a:rPr lang="en-US" altLang="zh-CN" sz="2000" baseline="-25000" dirty="0"/>
              <a:t>1</a:t>
            </a:r>
            <a:r>
              <a:rPr lang="en-US" altLang="zh-CN" sz="2000" i="1" dirty="0"/>
              <a:t>, x, a</a:t>
            </a:r>
            <a:r>
              <a:rPr lang="en-US" altLang="zh-CN" sz="2000" i="1" baseline="-25000" dirty="0"/>
              <a:t>i </a:t>
            </a:r>
            <a:r>
              <a:rPr lang="en-US" altLang="zh-CN" sz="2000" i="1" dirty="0"/>
              <a:t>, …, a</a:t>
            </a:r>
            <a:r>
              <a:rPr lang="en-US" altLang="zh-CN" sz="2000" i="1" baseline="-25000" dirty="0"/>
              <a:t>n</a:t>
            </a:r>
            <a:r>
              <a:rPr lang="zh-CN" altLang="en-US" sz="2000" dirty="0"/>
              <a:t>）</a:t>
            </a:r>
            <a:endParaRPr lang="zh-CN" altLang="en-US" sz="2000" dirty="0"/>
          </a:p>
          <a:p>
            <a:pPr>
              <a:buFontTx/>
              <a:buNone/>
              <a:defRPr/>
            </a:pPr>
            <a:r>
              <a:rPr lang="zh-CN" altLang="en-US" sz="2000" dirty="0"/>
              <a:t>   	</a:t>
            </a:r>
            <a:endParaRPr lang="zh-CN" altLang="en-US" sz="2000" dirty="0">
              <a:solidFill>
                <a:schemeClr val="tx2">
                  <a:lumMod val="60000"/>
                  <a:lumOff val="4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fade">
                                      <p:cBhvr>
                                        <p:cTn id="7" dur="1000"/>
                                        <p:tgtEl>
                                          <p:spTgt spid="9">
                                            <p:txEl>
                                              <p:pRg st="5" end="5"/>
                                            </p:txEl>
                                          </p:spTgt>
                                        </p:tgtEl>
                                      </p:cBhvr>
                                    </p:animEffect>
                                    <p:anim calcmode="lin" valueType="num">
                                      <p:cBhvr>
                                        <p:cTn id="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6" end="6"/>
                                            </p:txEl>
                                          </p:spTgt>
                                        </p:tgtEl>
                                        <p:attrNameLst>
                                          <p:attrName>style.visibility</p:attrName>
                                        </p:attrNameLst>
                                      </p:cBhvr>
                                      <p:to>
                                        <p:strVal val="visible"/>
                                      </p:to>
                                    </p:set>
                                    <p:animEffect transition="in" filter="fade">
                                      <p:cBhvr>
                                        <p:cTn id="12" dur="1000"/>
                                        <p:tgtEl>
                                          <p:spTgt spid="9">
                                            <p:txEl>
                                              <p:pRg st="6" end="6"/>
                                            </p:txEl>
                                          </p:spTgt>
                                        </p:tgtEl>
                                      </p:cBhvr>
                                    </p:animEffect>
                                    <p:anim calcmode="lin" valueType="num">
                                      <p:cBhvr>
                                        <p:cTn id="1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p:nvPr/>
        </p:nvSpPr>
        <p:spPr bwMode="gray">
          <a:xfrm>
            <a:off x="522514" y="1031786"/>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在顺序表中第</a:t>
            </a:r>
            <a:r>
              <a:rPr lang="en-US" altLang="zh-CN" sz="2000" b="0" dirty="0" err="1">
                <a:latin typeface="微软雅黑" panose="020B0503020204020204" pitchFamily="34" charset="-122"/>
                <a:ea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rPr>
              <a:t>个位置插入新的数据元素</a:t>
            </a:r>
            <a:endParaRPr lang="zh-CN" altLang="en-US" sz="2000" b="0" dirty="0">
              <a:latin typeface="微软雅黑" panose="020B0503020204020204" pitchFamily="34" charset="-122"/>
              <a:ea typeface="微软雅黑" panose="020B0503020204020204" pitchFamily="34" charset="-122"/>
            </a:endParaRPr>
          </a:p>
        </p:txBody>
      </p:sp>
      <p:grpSp>
        <p:nvGrpSpPr>
          <p:cNvPr id="3" name="Group 18"/>
          <p:cNvGrpSpPr/>
          <p:nvPr/>
        </p:nvGrpSpPr>
        <p:grpSpPr bwMode="auto">
          <a:xfrm>
            <a:off x="2356077" y="1876454"/>
            <a:ext cx="5772150" cy="1181100"/>
            <a:chOff x="1524" y="1233"/>
            <a:chExt cx="3636" cy="744"/>
          </a:xfrm>
        </p:grpSpPr>
        <p:grpSp>
          <p:nvGrpSpPr>
            <p:cNvPr id="8" name="Group 19"/>
            <p:cNvGrpSpPr/>
            <p:nvPr/>
          </p:nvGrpSpPr>
          <p:grpSpPr bwMode="auto">
            <a:xfrm>
              <a:off x="1581" y="1233"/>
              <a:ext cx="3554" cy="255"/>
              <a:chOff x="1581" y="1233"/>
              <a:chExt cx="3554" cy="255"/>
            </a:xfrm>
          </p:grpSpPr>
          <p:sp>
            <p:nvSpPr>
              <p:cNvPr id="27" name="Rectangle 20"/>
              <p:cNvSpPr>
                <a:spLocks noChangeArrowheads="1"/>
              </p:cNvSpPr>
              <p:nvPr/>
            </p:nvSpPr>
            <p:spPr bwMode="gray">
              <a:xfrm>
                <a:off x="4943" y="124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m-1</a:t>
                </a:r>
                <a:endParaRPr lang="en-US" altLang="zh-CN" b="0"/>
              </a:p>
            </p:txBody>
          </p:sp>
          <p:grpSp>
            <p:nvGrpSpPr>
              <p:cNvPr id="28" name="Group 21"/>
              <p:cNvGrpSpPr/>
              <p:nvPr/>
            </p:nvGrpSpPr>
            <p:grpSpPr bwMode="auto">
              <a:xfrm>
                <a:off x="1581" y="1233"/>
                <a:ext cx="2716" cy="255"/>
                <a:chOff x="1548" y="1281"/>
                <a:chExt cx="2716" cy="255"/>
              </a:xfrm>
            </p:grpSpPr>
            <p:sp>
              <p:nvSpPr>
                <p:cNvPr id="29" name="Rectangle 22"/>
                <p:cNvSpPr>
                  <a:spLocks noChangeArrowheads="1"/>
                </p:cNvSpPr>
                <p:nvPr/>
              </p:nvSpPr>
              <p:spPr bwMode="gray">
                <a:xfrm>
                  <a:off x="154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0</a:t>
                  </a:r>
                  <a:endParaRPr lang="en-US" altLang="zh-CN" b="0"/>
                </a:p>
              </p:txBody>
            </p:sp>
            <p:sp>
              <p:nvSpPr>
                <p:cNvPr id="30" name="Rectangle 23"/>
                <p:cNvSpPr>
                  <a:spLocks noChangeArrowheads="1"/>
                </p:cNvSpPr>
                <p:nvPr/>
              </p:nvSpPr>
              <p:spPr bwMode="gray">
                <a:xfrm>
                  <a:off x="265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i-2</a:t>
                  </a:r>
                  <a:endParaRPr lang="en-US" altLang="zh-CN" b="0"/>
                </a:p>
              </p:txBody>
            </p:sp>
            <p:sp>
              <p:nvSpPr>
                <p:cNvPr id="31" name="Rectangle 24"/>
                <p:cNvSpPr>
                  <a:spLocks noChangeArrowheads="1"/>
                </p:cNvSpPr>
                <p:nvPr/>
              </p:nvSpPr>
              <p:spPr bwMode="gray">
                <a:xfrm>
                  <a:off x="2952"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i-1</a:t>
                  </a:r>
                  <a:endParaRPr lang="en-US" altLang="zh-CN" b="0"/>
                </a:p>
              </p:txBody>
            </p:sp>
            <p:sp>
              <p:nvSpPr>
                <p:cNvPr id="32" name="Rectangle 25"/>
                <p:cNvSpPr>
                  <a:spLocks noChangeArrowheads="1"/>
                </p:cNvSpPr>
                <p:nvPr/>
              </p:nvSpPr>
              <p:spPr bwMode="gray">
                <a:xfrm>
                  <a:off x="3216" y="1296"/>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i</a:t>
                  </a:r>
                  <a:endParaRPr lang="en-US" altLang="zh-CN" b="0"/>
                </a:p>
              </p:txBody>
            </p:sp>
            <p:sp>
              <p:nvSpPr>
                <p:cNvPr id="33" name="Rectangle 26"/>
                <p:cNvSpPr>
                  <a:spLocks noChangeArrowheads="1"/>
                </p:cNvSpPr>
                <p:nvPr/>
              </p:nvSpPr>
              <p:spPr bwMode="gray">
                <a:xfrm>
                  <a:off x="1868" y="1281"/>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1</a:t>
                  </a:r>
                  <a:endParaRPr lang="en-US" altLang="zh-CN" b="0"/>
                </a:p>
              </p:txBody>
            </p:sp>
            <p:sp>
              <p:nvSpPr>
                <p:cNvPr id="34" name="Rectangle 27"/>
                <p:cNvSpPr>
                  <a:spLocks noChangeArrowheads="1"/>
                </p:cNvSpPr>
                <p:nvPr/>
              </p:nvSpPr>
              <p:spPr bwMode="gray">
                <a:xfrm>
                  <a:off x="4072" y="1284"/>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grpSp>
        </p:grpSp>
        <p:grpSp>
          <p:nvGrpSpPr>
            <p:cNvPr id="10" name="Group 28"/>
            <p:cNvGrpSpPr/>
            <p:nvPr/>
          </p:nvGrpSpPr>
          <p:grpSpPr bwMode="auto">
            <a:xfrm>
              <a:off x="1580" y="1585"/>
              <a:ext cx="2716" cy="255"/>
              <a:chOff x="1580" y="1585"/>
              <a:chExt cx="2716" cy="255"/>
            </a:xfrm>
          </p:grpSpPr>
          <p:sp>
            <p:nvSpPr>
              <p:cNvPr id="21" name="Rectangle 29"/>
              <p:cNvSpPr>
                <a:spLocks noChangeArrowheads="1"/>
              </p:cNvSpPr>
              <p:nvPr/>
            </p:nvSpPr>
            <p:spPr bwMode="gray">
              <a:xfrm>
                <a:off x="1580"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1</a:t>
                </a:r>
                <a:endParaRPr lang="en-US" altLang="zh-CN" sz="1000" b="0"/>
              </a:p>
            </p:txBody>
          </p:sp>
          <p:sp>
            <p:nvSpPr>
              <p:cNvPr id="22" name="Rectangle 30"/>
              <p:cNvSpPr>
                <a:spLocks noChangeArrowheads="1"/>
              </p:cNvSpPr>
              <p:nvPr/>
            </p:nvSpPr>
            <p:spPr bwMode="gray">
              <a:xfrm>
                <a:off x="268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3" name="Rectangle 31"/>
              <p:cNvSpPr>
                <a:spLocks noChangeArrowheads="1"/>
              </p:cNvSpPr>
              <p:nvPr/>
            </p:nvSpPr>
            <p:spPr bwMode="gray">
              <a:xfrm>
                <a:off x="2984"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a:t>
                </a:r>
                <a:endParaRPr lang="en-US" altLang="zh-CN" sz="1000" b="0"/>
              </a:p>
            </p:txBody>
          </p:sp>
          <p:sp>
            <p:nvSpPr>
              <p:cNvPr id="24" name="Rectangle 32"/>
              <p:cNvSpPr>
                <a:spLocks noChangeArrowheads="1"/>
              </p:cNvSpPr>
              <p:nvPr/>
            </p:nvSpPr>
            <p:spPr bwMode="gray">
              <a:xfrm>
                <a:off x="3248" y="1600"/>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i+1</a:t>
                </a:r>
                <a:endParaRPr lang="en-US" altLang="zh-CN" sz="1000" b="0"/>
              </a:p>
            </p:txBody>
          </p:sp>
          <p:sp>
            <p:nvSpPr>
              <p:cNvPr id="25" name="Rectangle 33"/>
              <p:cNvSpPr>
                <a:spLocks noChangeArrowheads="1"/>
              </p:cNvSpPr>
              <p:nvPr/>
            </p:nvSpPr>
            <p:spPr bwMode="gray">
              <a:xfrm>
                <a:off x="1828" y="1585"/>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2</a:t>
                </a:r>
                <a:endParaRPr lang="en-US" altLang="zh-CN" sz="1000" b="0"/>
              </a:p>
            </p:txBody>
          </p:sp>
          <p:sp>
            <p:nvSpPr>
              <p:cNvPr id="26" name="Rectangle 34"/>
              <p:cNvSpPr>
                <a:spLocks noChangeArrowheads="1"/>
              </p:cNvSpPr>
              <p:nvPr/>
            </p:nvSpPr>
            <p:spPr bwMode="gray">
              <a:xfrm>
                <a:off x="4104" y="1588"/>
                <a:ext cx="19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a</a:t>
                </a:r>
                <a:r>
                  <a:rPr lang="en-US" altLang="zh-CN" sz="1000" b="0"/>
                  <a:t>n</a:t>
                </a:r>
                <a:endParaRPr lang="en-US" altLang="zh-CN" sz="1000" b="0"/>
              </a:p>
            </p:txBody>
          </p:sp>
        </p:grpSp>
        <p:grpSp>
          <p:nvGrpSpPr>
            <p:cNvPr id="11" name="Group 35"/>
            <p:cNvGrpSpPr/>
            <p:nvPr/>
          </p:nvGrpSpPr>
          <p:grpSpPr bwMode="auto">
            <a:xfrm>
              <a:off x="1524" y="1496"/>
              <a:ext cx="3636" cy="481"/>
              <a:chOff x="1524" y="1496"/>
              <a:chExt cx="3636" cy="481"/>
            </a:xfrm>
          </p:grpSpPr>
          <p:sp>
            <p:nvSpPr>
              <p:cNvPr id="12" name="Rectangle 36"/>
              <p:cNvSpPr>
                <a:spLocks noChangeArrowheads="1"/>
              </p:cNvSpPr>
              <p:nvPr/>
            </p:nvSpPr>
            <p:spPr bwMode="gray">
              <a:xfrm>
                <a:off x="1524" y="1497"/>
                <a:ext cx="3636" cy="48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b="0" i="1">
                  <a:solidFill>
                    <a:schemeClr val="accent2"/>
                  </a:solidFill>
                </a:endParaRPr>
              </a:p>
            </p:txBody>
          </p:sp>
          <p:grpSp>
            <p:nvGrpSpPr>
              <p:cNvPr id="14" name="Group 37"/>
              <p:cNvGrpSpPr/>
              <p:nvPr/>
            </p:nvGrpSpPr>
            <p:grpSpPr bwMode="auto">
              <a:xfrm>
                <a:off x="1796" y="1496"/>
                <a:ext cx="3100" cy="480"/>
                <a:chOff x="1772" y="1544"/>
                <a:chExt cx="3100" cy="480"/>
              </a:xfrm>
            </p:grpSpPr>
            <p:sp>
              <p:nvSpPr>
                <p:cNvPr id="15" name="Line 38"/>
                <p:cNvSpPr>
                  <a:spLocks noChangeShapeType="1"/>
                </p:cNvSpPr>
                <p:nvPr/>
              </p:nvSpPr>
              <p:spPr bwMode="gray">
                <a:xfrm>
                  <a:off x="1772"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39"/>
                <p:cNvSpPr>
                  <a:spLocks noChangeShapeType="1"/>
                </p:cNvSpPr>
                <p:nvPr/>
              </p:nvSpPr>
              <p:spPr bwMode="gray">
                <a:xfrm>
                  <a:off x="3178"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40"/>
                <p:cNvSpPr>
                  <a:spLocks noChangeShapeType="1"/>
                </p:cNvSpPr>
                <p:nvPr/>
              </p:nvSpPr>
              <p:spPr bwMode="gray">
                <a:xfrm>
                  <a:off x="2889" y="154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Rectangle 41"/>
                <p:cNvSpPr>
                  <a:spLocks noChangeArrowheads="1"/>
                </p:cNvSpPr>
                <p:nvPr/>
              </p:nvSpPr>
              <p:spPr bwMode="gray">
                <a:xfrm>
                  <a:off x="2048"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19" name="Rectangle 42"/>
                <p:cNvSpPr>
                  <a:spLocks noChangeArrowheads="1"/>
                </p:cNvSpPr>
                <p:nvPr/>
              </p:nvSpPr>
              <p:spPr bwMode="gray">
                <a:xfrm>
                  <a:off x="3456"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20" name="Rectangle 43"/>
                <p:cNvSpPr>
                  <a:spLocks noChangeArrowheads="1"/>
                </p:cNvSpPr>
                <p:nvPr/>
              </p:nvSpPr>
              <p:spPr bwMode="gray">
                <a:xfrm>
                  <a:off x="4304" y="1544"/>
                  <a:ext cx="568" cy="48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grpSp>
        </p:grpSp>
      </p:grpSp>
      <p:grpSp>
        <p:nvGrpSpPr>
          <p:cNvPr id="35" name="Group 68"/>
          <p:cNvGrpSpPr/>
          <p:nvPr/>
        </p:nvGrpSpPr>
        <p:grpSpPr bwMode="auto">
          <a:xfrm>
            <a:off x="3429229" y="3089305"/>
            <a:ext cx="1019175" cy="1381125"/>
            <a:chOff x="2178" y="1968"/>
            <a:chExt cx="642" cy="870"/>
          </a:xfrm>
        </p:grpSpPr>
        <p:sp>
          <p:nvSpPr>
            <p:cNvPr id="36" name="Rectangle 62"/>
            <p:cNvSpPr>
              <a:spLocks noChangeArrowheads="1"/>
            </p:cNvSpPr>
            <p:nvPr/>
          </p:nvSpPr>
          <p:spPr bwMode="gray">
            <a:xfrm>
              <a:off x="2178" y="2550"/>
              <a:ext cx="6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a:t>指针变量</a:t>
              </a:r>
              <a:r>
                <a:rPr lang="en-US" altLang="zh-CN" sz="1800" b="0"/>
                <a:t>p</a:t>
              </a:r>
              <a:endParaRPr lang="en-US" altLang="zh-CN" sz="1800" b="0"/>
            </a:p>
          </p:txBody>
        </p:sp>
        <p:grpSp>
          <p:nvGrpSpPr>
            <p:cNvPr id="37" name="Group 67"/>
            <p:cNvGrpSpPr/>
            <p:nvPr/>
          </p:nvGrpSpPr>
          <p:grpSpPr bwMode="auto">
            <a:xfrm>
              <a:off x="2484" y="1968"/>
              <a:ext cx="336" cy="576"/>
              <a:chOff x="2484" y="1968"/>
              <a:chExt cx="336" cy="576"/>
            </a:xfrm>
          </p:grpSpPr>
          <p:sp>
            <p:nvSpPr>
              <p:cNvPr id="38" name="Rectangle 61"/>
              <p:cNvSpPr>
                <a:spLocks noChangeArrowheads="1"/>
              </p:cNvSpPr>
              <p:nvPr/>
            </p:nvSpPr>
            <p:spPr bwMode="gray">
              <a:xfrm>
                <a:off x="2484" y="2256"/>
                <a:ext cx="336" cy="288"/>
              </a:xfrm>
              <a:prstGeom prst="rect">
                <a:avLst/>
              </a:prstGeom>
              <a:solidFill>
                <a:srgbClr val="92D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b="0"/>
              </a:p>
            </p:txBody>
          </p:sp>
          <p:sp>
            <p:nvSpPr>
              <p:cNvPr id="39" name="Line 63"/>
              <p:cNvSpPr>
                <a:spLocks noChangeShapeType="1"/>
              </p:cNvSpPr>
              <p:nvPr/>
            </p:nvSpPr>
            <p:spPr bwMode="gray">
              <a:xfrm flipH="1" flipV="1">
                <a:off x="2709" y="1968"/>
                <a:ext cx="0" cy="27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40" name="Group 11"/>
          <p:cNvGrpSpPr/>
          <p:nvPr/>
        </p:nvGrpSpPr>
        <p:grpSpPr bwMode="auto">
          <a:xfrm>
            <a:off x="1663928" y="2692430"/>
            <a:ext cx="685800" cy="1219200"/>
            <a:chOff x="1072" y="1776"/>
            <a:chExt cx="432" cy="768"/>
          </a:xfrm>
        </p:grpSpPr>
        <p:sp>
          <p:nvSpPr>
            <p:cNvPr id="41" name="Line 1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Line 1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Group 4"/>
          <p:cNvGrpSpPr/>
          <p:nvPr/>
        </p:nvGrpSpPr>
        <p:grpSpPr bwMode="auto">
          <a:xfrm>
            <a:off x="774249" y="3797330"/>
            <a:ext cx="1409700" cy="1447800"/>
            <a:chOff x="600" y="1488"/>
            <a:chExt cx="888" cy="912"/>
          </a:xfrm>
        </p:grpSpPr>
        <p:sp>
          <p:nvSpPr>
            <p:cNvPr id="44" name="Rectangle 5"/>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5" name="Line 6"/>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Line 7"/>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Rectangle 8"/>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elem</a:t>
              </a:r>
              <a:endParaRPr lang="en-US" altLang="zh-CN" b="0"/>
            </a:p>
          </p:txBody>
        </p:sp>
        <p:sp>
          <p:nvSpPr>
            <p:cNvPr id="48" name="Rectangle 9"/>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len</a:t>
              </a:r>
              <a:endParaRPr lang="en-US" altLang="zh-CN" b="0"/>
            </a:p>
          </p:txBody>
        </p:sp>
        <p:sp>
          <p:nvSpPr>
            <p:cNvPr id="49" name="Rectangle 10"/>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size</a:t>
              </a:r>
              <a:endParaRPr lang="en-US" altLang="zh-CN" b="0"/>
            </a:p>
          </p:txBody>
        </p:sp>
      </p:grpSp>
      <p:sp>
        <p:nvSpPr>
          <p:cNvPr id="50" name="Rectangle 57"/>
          <p:cNvSpPr>
            <a:spLocks noChangeArrowheads="1"/>
          </p:cNvSpPr>
          <p:nvPr/>
        </p:nvSpPr>
        <p:spPr bwMode="gray">
          <a:xfrm>
            <a:off x="1561081" y="4368830"/>
            <a:ext cx="381000" cy="3048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n+1</a:t>
            </a:r>
            <a:endParaRPr lang="en-US" altLang="zh-CN" b="0"/>
          </a:p>
        </p:txBody>
      </p:sp>
      <p:sp>
        <p:nvSpPr>
          <p:cNvPr id="51" name="Rectangle 16"/>
          <p:cNvSpPr>
            <a:spLocks noChangeArrowheads="1"/>
          </p:cNvSpPr>
          <p:nvPr/>
        </p:nvSpPr>
        <p:spPr bwMode="gray">
          <a:xfrm>
            <a:off x="1491119" y="4864129"/>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dirty="0"/>
              <a:t>m</a:t>
            </a:r>
            <a:endParaRPr lang="en-US" altLang="zh-CN" b="0" dirty="0"/>
          </a:p>
        </p:txBody>
      </p:sp>
      <p:sp>
        <p:nvSpPr>
          <p:cNvPr id="52" name="Rectangle 51"/>
          <p:cNvSpPr>
            <a:spLocks noChangeArrowheads="1"/>
          </p:cNvSpPr>
          <p:nvPr/>
        </p:nvSpPr>
        <p:spPr bwMode="gray">
          <a:xfrm>
            <a:off x="4630966" y="2408267"/>
            <a:ext cx="381000" cy="5334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dirty="0"/>
              <a:t>x</a:t>
            </a:r>
            <a:endParaRPr lang="en-US" altLang="zh-CN" dirty="0"/>
          </a:p>
        </p:txBody>
      </p:sp>
      <p:grpSp>
        <p:nvGrpSpPr>
          <p:cNvPr id="53" name="Group 66"/>
          <p:cNvGrpSpPr/>
          <p:nvPr/>
        </p:nvGrpSpPr>
        <p:grpSpPr bwMode="auto">
          <a:xfrm>
            <a:off x="4561115" y="3070255"/>
            <a:ext cx="990600" cy="1390650"/>
            <a:chOff x="2928" y="1968"/>
            <a:chExt cx="624" cy="876"/>
          </a:xfrm>
        </p:grpSpPr>
        <p:sp>
          <p:nvSpPr>
            <p:cNvPr id="54" name="Rectangle 48"/>
            <p:cNvSpPr>
              <a:spLocks noChangeArrowheads="1"/>
            </p:cNvSpPr>
            <p:nvPr/>
          </p:nvSpPr>
          <p:spPr bwMode="gray">
            <a:xfrm>
              <a:off x="2928" y="2556"/>
              <a:ext cx="6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a:t>指针变量</a:t>
              </a:r>
              <a:r>
                <a:rPr lang="en-US" altLang="zh-CN" sz="1800" b="0"/>
                <a:t>q</a:t>
              </a:r>
              <a:endParaRPr lang="en-US" altLang="zh-CN" sz="1800" b="0"/>
            </a:p>
          </p:txBody>
        </p:sp>
        <p:grpSp>
          <p:nvGrpSpPr>
            <p:cNvPr id="55" name="Group 65"/>
            <p:cNvGrpSpPr/>
            <p:nvPr/>
          </p:nvGrpSpPr>
          <p:grpSpPr bwMode="auto">
            <a:xfrm>
              <a:off x="2928" y="1968"/>
              <a:ext cx="336" cy="576"/>
              <a:chOff x="2928" y="1968"/>
              <a:chExt cx="336" cy="576"/>
            </a:xfrm>
          </p:grpSpPr>
          <p:sp>
            <p:nvSpPr>
              <p:cNvPr id="56" name="Rectangle 47"/>
              <p:cNvSpPr>
                <a:spLocks noChangeArrowheads="1"/>
              </p:cNvSpPr>
              <p:nvPr/>
            </p:nvSpPr>
            <p:spPr bwMode="gray">
              <a:xfrm>
                <a:off x="2928" y="2256"/>
                <a:ext cx="336" cy="288"/>
              </a:xfrm>
              <a:prstGeom prst="rect">
                <a:avLst/>
              </a:prstGeom>
              <a:solidFill>
                <a:srgbClr val="FFC0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b="0"/>
              </a:p>
            </p:txBody>
          </p:sp>
          <p:sp>
            <p:nvSpPr>
              <p:cNvPr id="57" name="Line 49"/>
              <p:cNvSpPr>
                <a:spLocks noChangeShapeType="1"/>
              </p:cNvSpPr>
              <p:nvPr/>
            </p:nvSpPr>
            <p:spPr bwMode="gray">
              <a:xfrm flipV="1">
                <a:off x="3072" y="1968"/>
                <a:ext cx="0" cy="2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58" name="Group 64"/>
          <p:cNvGrpSpPr/>
          <p:nvPr/>
        </p:nvGrpSpPr>
        <p:grpSpPr bwMode="auto">
          <a:xfrm>
            <a:off x="6037492" y="3103396"/>
            <a:ext cx="990600" cy="1409700"/>
            <a:chOff x="3840" y="1950"/>
            <a:chExt cx="624" cy="888"/>
          </a:xfrm>
        </p:grpSpPr>
        <p:sp>
          <p:nvSpPr>
            <p:cNvPr id="59" name="Rectangle 58"/>
            <p:cNvSpPr>
              <a:spLocks noChangeArrowheads="1"/>
            </p:cNvSpPr>
            <p:nvPr/>
          </p:nvSpPr>
          <p:spPr bwMode="gray">
            <a:xfrm>
              <a:off x="4029" y="2238"/>
              <a:ext cx="336" cy="288"/>
            </a:xfrm>
            <a:prstGeom prst="rect">
              <a:avLst/>
            </a:prstGeom>
            <a:solidFill>
              <a:srgbClr val="92D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b="0"/>
            </a:p>
          </p:txBody>
        </p:sp>
        <p:sp>
          <p:nvSpPr>
            <p:cNvPr id="60" name="Rectangle 59"/>
            <p:cNvSpPr>
              <a:spLocks noChangeArrowheads="1"/>
            </p:cNvSpPr>
            <p:nvPr/>
          </p:nvSpPr>
          <p:spPr bwMode="gray">
            <a:xfrm>
              <a:off x="3840" y="2550"/>
              <a:ext cx="6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a:t>指针变量</a:t>
              </a:r>
              <a:r>
                <a:rPr lang="en-US" altLang="zh-CN" sz="1800" b="0"/>
                <a:t>p</a:t>
              </a:r>
              <a:endParaRPr lang="en-US" altLang="zh-CN" sz="1800" b="0"/>
            </a:p>
          </p:txBody>
        </p:sp>
        <p:sp>
          <p:nvSpPr>
            <p:cNvPr id="61" name="Line 60"/>
            <p:cNvSpPr>
              <a:spLocks noChangeShapeType="1"/>
            </p:cNvSpPr>
            <p:nvPr/>
          </p:nvSpPr>
          <p:spPr bwMode="gray">
            <a:xfrm flipV="1">
              <a:off x="4200" y="1950"/>
              <a:ext cx="0" cy="2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2" name="Rectangle 44"/>
          <p:cNvSpPr>
            <a:spLocks noChangeArrowheads="1"/>
          </p:cNvSpPr>
          <p:nvPr/>
        </p:nvSpPr>
        <p:spPr bwMode="gray">
          <a:xfrm>
            <a:off x="7808545" y="3579118"/>
            <a:ext cx="533400" cy="45720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b="0"/>
              <a:t>x</a:t>
            </a:r>
            <a:endParaRPr lang="en-US" altLang="zh-CN" sz="1000" b="0"/>
          </a:p>
        </p:txBody>
      </p:sp>
      <p:sp>
        <p:nvSpPr>
          <p:cNvPr id="63" name="Rectangle 45"/>
          <p:cNvSpPr>
            <a:spLocks noChangeArrowheads="1"/>
          </p:cNvSpPr>
          <p:nvPr/>
        </p:nvSpPr>
        <p:spPr bwMode="gray">
          <a:xfrm>
            <a:off x="7652659" y="4140230"/>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b="0"/>
              <a:t>数据变量</a:t>
            </a:r>
            <a:r>
              <a:rPr lang="en-US" altLang="zh-CN" sz="1800" b="0"/>
              <a:t>e</a:t>
            </a:r>
            <a:endParaRPr lang="en-US" altLang="zh-CN" sz="1800" b="0"/>
          </a:p>
        </p:txBody>
      </p:sp>
      <p:sp>
        <p:nvSpPr>
          <p:cNvPr id="64" name="Rectangle 46"/>
          <p:cNvSpPr>
            <a:spLocks noChangeArrowheads="1"/>
          </p:cNvSpPr>
          <p:nvPr/>
        </p:nvSpPr>
        <p:spPr bwMode="gray">
          <a:xfrm>
            <a:off x="4978627" y="4860486"/>
            <a:ext cx="4876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2000" b="0" dirty="0">
                <a:cs typeface="Times New Roman" panose="02020603050405020304" pitchFamily="18" charset="0"/>
              </a:rPr>
              <a:t>for(p = &amp;</a:t>
            </a:r>
            <a:r>
              <a:rPr lang="en-US" altLang="zh-CN" sz="2000" b="0" dirty="0" err="1">
                <a:cs typeface="Times New Roman" panose="02020603050405020304" pitchFamily="18" charset="0"/>
              </a:rPr>
              <a:t>elem</a:t>
            </a:r>
            <a:r>
              <a:rPr lang="en-US" altLang="zh-CN" sz="2000" b="0" dirty="0">
                <a:cs typeface="Times New Roman" panose="02020603050405020304" pitchFamily="18" charset="0"/>
              </a:rPr>
              <a:t>[</a:t>
            </a:r>
            <a:r>
              <a:rPr lang="en-US" altLang="zh-CN" sz="2000" b="0" dirty="0" err="1">
                <a:cs typeface="Times New Roman" panose="02020603050405020304" pitchFamily="18" charset="0"/>
              </a:rPr>
              <a:t>len</a:t>
            </a:r>
            <a:r>
              <a:rPr lang="en-US" altLang="zh-CN" sz="2000" b="0" dirty="0">
                <a:cs typeface="Times New Roman" panose="02020603050405020304" pitchFamily="18" charset="0"/>
              </a:rPr>
              <a:t> - 1]; p &gt;= q; --p) </a:t>
            </a:r>
            <a:endParaRPr lang="en-US" altLang="zh-CN" sz="2000" b="0" dirty="0">
              <a:cs typeface="Times New Roman" panose="02020603050405020304" pitchFamily="18" charset="0"/>
            </a:endParaRPr>
          </a:p>
          <a:p>
            <a:pPr>
              <a:buFontTx/>
              <a:buNone/>
            </a:pPr>
            <a:r>
              <a:rPr lang="en-US" altLang="zh-CN" sz="2000" b="0" dirty="0">
                <a:cs typeface="Times New Roman" panose="02020603050405020304" pitchFamily="18" charset="0"/>
              </a:rPr>
              <a:t>   *(p + 1) = *p;</a:t>
            </a:r>
            <a:endParaRPr lang="en-US" altLang="zh-CN" sz="2000" b="0" dirty="0">
              <a:cs typeface="Times New Roman" panose="02020603050405020304" pitchFamily="18" charset="0"/>
            </a:endParaRPr>
          </a:p>
          <a:p>
            <a:pPr>
              <a:buFontTx/>
              <a:buNone/>
            </a:pPr>
            <a:r>
              <a:rPr lang="zh-CN" altLang="en-US" sz="2000" b="0" dirty="0">
                <a:cs typeface="Times New Roman" panose="02020603050405020304" pitchFamily="18" charset="0"/>
              </a:rPr>
              <a:t> *</a:t>
            </a:r>
            <a:r>
              <a:rPr lang="en-US" altLang="zh-CN" sz="2000" b="0" dirty="0">
                <a:cs typeface="Times New Roman" panose="02020603050405020304" pitchFamily="18" charset="0"/>
              </a:rPr>
              <a:t>q = e;</a:t>
            </a:r>
            <a:r>
              <a:rPr lang="en-US" altLang="zh-CN" sz="2000" dirty="0">
                <a:cs typeface="Times New Roman" panose="02020603050405020304" pitchFamily="18" charset="0"/>
              </a:rPr>
              <a:t> </a:t>
            </a:r>
            <a:endParaRPr lang="en-US" altLang="zh-CN" sz="2000"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Horizontal)">
                                      <p:cBhvr>
                                        <p:cTn id="7" dur="500"/>
                                        <p:tgtEl>
                                          <p:spTgt spid="35"/>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barn(inHorizontal)">
                                      <p:cBhvr>
                                        <p:cTn id="11" dur="500"/>
                                        <p:tgtEl>
                                          <p:spTgt spid="5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grpId="0"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barn(inHorizontal)">
                                      <p:cBhvr>
                                        <p:cTn id="16" dur="5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nodeType="click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barn(inHorizontal)">
                                      <p:cBhvr>
                                        <p:cTn id="21" dur="500"/>
                                        <p:tgtEl>
                                          <p:spTgt spid="53"/>
                                        </p:tgtEl>
                                      </p:cBhvr>
                                    </p:animEffect>
                                  </p:childTnLst>
                                </p:cTn>
                              </p:par>
                            </p:childTnLst>
                          </p:cTn>
                        </p:par>
                        <p:par>
                          <p:cTn id="22" fill="hold">
                            <p:stCondLst>
                              <p:cond delay="500"/>
                            </p:stCondLst>
                            <p:childTnLst>
                              <p:par>
                                <p:cTn id="23" presetID="16" presetClass="entr" presetSubtype="26" fill="hold"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barn(inHorizontal)">
                                      <p:cBhvr>
                                        <p:cTn id="25" dur="500"/>
                                        <p:tgtEl>
                                          <p:spTgt spid="5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58"/>
                                        </p:tgtEl>
                                      </p:cBhvr>
                                    </p:animEffect>
                                    <p:set>
                                      <p:cBhvr>
                                        <p:cTn id="30" dur="1" fill="hold">
                                          <p:stCondLst>
                                            <p:cond delay="499"/>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内容占位符 2"/>
          <p:cNvSpPr txBox="1"/>
          <p:nvPr/>
        </p:nvSpPr>
        <p:spPr>
          <a:xfrm>
            <a:off x="522514" y="99060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 </a:t>
            </a:r>
            <a:r>
              <a:rPr lang="zh-CN" altLang="en-US" sz="2000" dirty="0">
                <a:latin typeface="微软雅黑" panose="020B0503020204020204" pitchFamily="34" charset="-122"/>
                <a:ea typeface="微软雅黑" panose="020B0503020204020204" pitchFamily="34" charset="-122"/>
              </a:rPr>
              <a:t>在顺序表中第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个位置插入新的数据元素 </a:t>
            </a:r>
            <a:endParaRPr lang="zh-CN" altLang="en-US" sz="2000" dirty="0">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647700" y="1524780"/>
            <a:ext cx="8610600" cy="491259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dirty="0">
                <a:latin typeface="Times New Roman" panose="02020603050405020304" pitchFamily="18" charset="0"/>
              </a:rPr>
              <a:t> </a:t>
            </a:r>
            <a:r>
              <a:rPr lang="en-US" altLang="zh-CN" sz="1600" dirty="0">
                <a:latin typeface="Times New Roman" panose="02020603050405020304" pitchFamily="18" charset="0"/>
              </a:rPr>
              <a:t>//</a:t>
            </a:r>
            <a:r>
              <a:rPr lang="zh-CN" altLang="en-US" b="0" dirty="0">
                <a:latin typeface="微软雅黑" panose="020B0503020204020204" pitchFamily="34" charset="-122"/>
                <a:ea typeface="微软雅黑" panose="020B0503020204020204" pitchFamily="34" charset="-122"/>
              </a:rPr>
              <a:t>在顺序表的第</a:t>
            </a:r>
            <a:r>
              <a:rPr lang="en-US" altLang="zh-CN" b="0" dirty="0" err="1">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个数据元素之前插入新的数据元素</a:t>
            </a:r>
            <a:r>
              <a:rPr lang="en-US" altLang="zh-CN" b="0" dirty="0">
                <a:latin typeface="Times New Roman" panose="02020603050405020304" pitchFamily="18" charset="0"/>
              </a:rPr>
              <a:t>e</a:t>
            </a:r>
            <a:r>
              <a:rPr lang="zh-CN" altLang="en-US" b="0" dirty="0">
                <a:latin typeface="Times New Roman" panose="02020603050405020304" pitchFamily="18" charset="0"/>
              </a:rPr>
              <a:t>（</a:t>
            </a:r>
            <a:r>
              <a:rPr lang="en-US" altLang="zh-CN" b="0" dirty="0" err="1">
                <a:latin typeface="Times New Roman" panose="02020603050405020304" pitchFamily="18" charset="0"/>
              </a:rPr>
              <a:t>i</a:t>
            </a:r>
            <a:r>
              <a:rPr lang="zh-CN" altLang="en-US" b="0" dirty="0">
                <a:latin typeface="Times New Roman" panose="02020603050405020304" pitchFamily="18" charset="0"/>
              </a:rPr>
              <a:t>的合法值为</a:t>
            </a:r>
            <a:r>
              <a:rPr lang="en-US" altLang="zh-CN" b="0" dirty="0">
                <a:latin typeface="Times New Roman" panose="02020603050405020304" pitchFamily="18" charset="0"/>
              </a:rPr>
              <a:t>1≤i≤len+1</a:t>
            </a:r>
            <a:r>
              <a:rPr lang="zh-CN" altLang="en-US" b="0" dirty="0">
                <a:latin typeface="Times New Roman" panose="02020603050405020304" pitchFamily="18" charset="0"/>
              </a:rPr>
              <a:t>）。 </a:t>
            </a:r>
            <a:endParaRPr lang="zh-CN" altLang="en-US"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template&lt;class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bool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SqList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&gt;::Insert(const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&amp;e, int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if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&lt; 1 ||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&gt;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+ 1)</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return false;  //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插入位置</a:t>
            </a:r>
            <a:r>
              <a:rPr lang="en-US" altLang="zh-CN" b="0" dirty="0" err="1">
                <a:latin typeface="微软雅黑" panose="020B0503020204020204" pitchFamily="34" charset="-122"/>
                <a:ea typeface="微软雅黑" panose="020B0503020204020204" pitchFamily="34" charset="-122"/>
                <a:cs typeface="Times New Roman" panose="02020603050405020304" pitchFamily="18" charset="0"/>
              </a:rPr>
              <a:t>i</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值不合法。</a:t>
            </a:r>
            <a:endParaRPr lang="zh-CN" altLang="en-US"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if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&gt;= size){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hlinkClick r:id="rId1" action="ppaction://hlinksldjump"/>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表满，需扩展空间</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*p,*q;</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q = &amp;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- 1]; // q</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为插入位置指针</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for(p = &amp;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- 1]; p &gt;= q; --p)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*(p + 1) = *p;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插入位置及之后的数据元素后移</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q = e;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插入</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表长增</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Rectangle 4"/>
          <p:cNvSpPr txBox="1">
            <a:spLocks noChangeArrowheads="1"/>
          </p:cNvSpPr>
          <p:nvPr/>
        </p:nvSpPr>
        <p:spPr bwMode="auto">
          <a:xfrm>
            <a:off x="522514" y="1387622"/>
            <a:ext cx="8229600" cy="3810000"/>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dirty="0"/>
              <a:t>	        </a:t>
            </a: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表满则扩展空间。</a:t>
            </a:r>
            <a:r>
              <a:rPr lang="zh-CN" altLang="en-US" dirty="0"/>
              <a:t>					    </a:t>
            </a:r>
            <a:endParaRPr lang="zh-CN" altLang="en-US" dirty="0"/>
          </a:p>
          <a:p>
            <a:pPr>
              <a:buFontTx/>
              <a:buNone/>
            </a:pPr>
            <a:r>
              <a:rPr lang="zh-CN" altLang="en-US" sz="1800" dirty="0">
                <a:latin typeface="Times New Roman" panose="02020603050405020304" pitchFamily="18" charset="0"/>
              </a:rPr>
              <a:t>	</a:t>
            </a:r>
            <a:r>
              <a:rPr lang="zh-CN" altLang="en-US"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ElemType</a:t>
            </a: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newbase</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newbase</a:t>
            </a:r>
            <a:r>
              <a:rPr lang="en-US" altLang="zh-CN" sz="1900" dirty="0">
                <a:latin typeface="Times New Roman" panose="02020603050405020304" pitchFamily="18" charset="0"/>
                <a:cs typeface="Times New Roman" panose="02020603050405020304" pitchFamily="18" charset="0"/>
              </a:rPr>
              <a:t> = new </a:t>
            </a:r>
            <a:r>
              <a:rPr lang="en-US" altLang="zh-CN" sz="1900" dirty="0" err="1">
                <a:latin typeface="Times New Roman" panose="02020603050405020304" pitchFamily="18" charset="0"/>
                <a:cs typeface="Times New Roman" panose="02020603050405020304" pitchFamily="18" charset="0"/>
              </a:rPr>
              <a:t>ElemType</a:t>
            </a:r>
            <a:r>
              <a:rPr lang="en-US" altLang="zh-CN" sz="1900" dirty="0">
                <a:latin typeface="Times New Roman" panose="02020603050405020304" pitchFamily="18" charset="0"/>
                <a:cs typeface="Times New Roman" panose="02020603050405020304" pitchFamily="18" charset="0"/>
              </a:rPr>
              <a:t>[size + 10];</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if (!</a:t>
            </a:r>
            <a:r>
              <a:rPr lang="en-US" altLang="zh-CN" sz="1900" dirty="0" err="1">
                <a:latin typeface="Times New Roman" panose="02020603050405020304" pitchFamily="18" charset="0"/>
                <a:cs typeface="Times New Roman" panose="02020603050405020304" pitchFamily="18" charset="0"/>
              </a:rPr>
              <a:t>newbase</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return false;</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for (int j = 0; j &lt; </a:t>
            </a:r>
            <a:r>
              <a:rPr lang="en-US" altLang="zh-CN" sz="1900" dirty="0" err="1">
                <a:latin typeface="Times New Roman" panose="02020603050405020304" pitchFamily="18" charset="0"/>
                <a:cs typeface="Times New Roman" panose="02020603050405020304" pitchFamily="18" charset="0"/>
              </a:rPr>
              <a:t>len</a:t>
            </a: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j++</a:t>
            </a:r>
            <a:r>
              <a:rPr lang="en-US" altLang="zh-CN" sz="1900" dirty="0">
                <a:latin typeface="Times New Roman" panose="02020603050405020304" pitchFamily="18" charset="0"/>
                <a:cs typeface="Times New Roman" panose="02020603050405020304" pitchFamily="18" charset="0"/>
              </a:rPr>
              <a:t>) </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newbase</a:t>
            </a:r>
            <a:r>
              <a:rPr lang="en-US" altLang="zh-CN" sz="1900" dirty="0">
                <a:latin typeface="Times New Roman" panose="02020603050405020304" pitchFamily="18" charset="0"/>
                <a:cs typeface="Times New Roman" panose="02020603050405020304" pitchFamily="18" charset="0"/>
              </a:rPr>
              <a:t>[j] = </a:t>
            </a:r>
            <a:r>
              <a:rPr lang="en-US" altLang="zh-CN" sz="1900" dirty="0" err="1">
                <a:latin typeface="Times New Roman" panose="02020603050405020304" pitchFamily="18" charset="0"/>
                <a:cs typeface="Times New Roman" panose="02020603050405020304" pitchFamily="18" charset="0"/>
              </a:rPr>
              <a:t>elem</a:t>
            </a:r>
            <a:r>
              <a:rPr lang="en-US" altLang="zh-CN" sz="1900" dirty="0">
                <a:latin typeface="Times New Roman" panose="02020603050405020304" pitchFamily="18" charset="0"/>
                <a:cs typeface="Times New Roman" panose="02020603050405020304" pitchFamily="18" charset="0"/>
              </a:rPr>
              <a:t>[j];   </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delete[] </a:t>
            </a:r>
            <a:r>
              <a:rPr lang="en-US" altLang="zh-CN" sz="1900" dirty="0" err="1">
                <a:latin typeface="Times New Roman" panose="02020603050405020304" pitchFamily="18" charset="0"/>
                <a:cs typeface="Times New Roman" panose="02020603050405020304" pitchFamily="18" charset="0"/>
              </a:rPr>
              <a:t>elem</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a:t>
            </a:r>
            <a:r>
              <a:rPr lang="en-US" altLang="zh-CN" sz="1900" dirty="0" err="1">
                <a:latin typeface="Times New Roman" panose="02020603050405020304" pitchFamily="18" charset="0"/>
                <a:cs typeface="Times New Roman" panose="02020603050405020304" pitchFamily="18" charset="0"/>
              </a:rPr>
              <a:t>elem</a:t>
            </a:r>
            <a:r>
              <a:rPr lang="en-US" altLang="zh-CN" sz="1900" dirty="0">
                <a:latin typeface="Times New Roman" panose="02020603050405020304" pitchFamily="18" charset="0"/>
                <a:cs typeface="Times New Roman" panose="02020603050405020304" pitchFamily="18" charset="0"/>
              </a:rPr>
              <a:t> = </a:t>
            </a:r>
            <a:r>
              <a:rPr lang="en-US" altLang="zh-CN" sz="1900" dirty="0" err="1">
                <a:latin typeface="Times New Roman" panose="02020603050405020304" pitchFamily="18" charset="0"/>
                <a:cs typeface="Times New Roman" panose="02020603050405020304" pitchFamily="18" charset="0"/>
              </a:rPr>
              <a:t>newbase</a:t>
            </a:r>
            <a:r>
              <a:rPr lang="en-US" altLang="zh-CN" sz="1900" dirty="0">
                <a:latin typeface="Times New Roman" panose="02020603050405020304" pitchFamily="18" charset="0"/>
                <a:cs typeface="Times New Roman" panose="02020603050405020304" pitchFamily="18" charset="0"/>
              </a:rPr>
              <a:t>;</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sz="1900" dirty="0">
                <a:latin typeface="Times New Roman" panose="02020603050405020304" pitchFamily="18" charset="0"/>
                <a:cs typeface="Times New Roman" panose="02020603050405020304" pitchFamily="18" charset="0"/>
              </a:rPr>
              <a:t>		 size += 10;</a:t>
            </a:r>
            <a:endParaRPr lang="en-US" altLang="zh-CN" sz="1900" dirty="0">
              <a:latin typeface="Times New Roman" panose="02020603050405020304" pitchFamily="18" charset="0"/>
              <a:cs typeface="Times New Roman" panose="02020603050405020304" pitchFamily="18" charset="0"/>
            </a:endParaRPr>
          </a:p>
          <a:p>
            <a:pPr>
              <a:buFontTx/>
              <a:buNone/>
            </a:pPr>
            <a:r>
              <a:rPr lang="en-US" altLang="zh-CN" dirty="0"/>
              <a:t> </a:t>
            </a:r>
            <a:r>
              <a:rPr lang="zh-CN" altLang="en-US" dirty="0"/>
              <a:t> </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内容占位符 2"/>
          <p:cNvSpPr txBox="1"/>
          <p:nvPr/>
        </p:nvSpPr>
        <p:spPr>
          <a:xfrm>
            <a:off x="522514" y="1031786"/>
            <a:ext cx="7162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顺序表插入一个元素算法的时间复杂度</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67443" y="1661940"/>
            <a:ext cx="6400800" cy="4419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endParaRPr lang="zh-CN" altLang="en-US" sz="1800" b="0" dirty="0">
              <a:solidFill>
                <a:srgbClr val="000066"/>
              </a:solidFill>
              <a:latin typeface="Times New Roman" panose="02020603050405020304" pitchFamily="18" charset="0"/>
            </a:endParaRPr>
          </a:p>
        </p:txBody>
      </p:sp>
      <p:graphicFrame>
        <p:nvGraphicFramePr>
          <p:cNvPr id="9" name="Object 4"/>
          <p:cNvGraphicFramePr>
            <a:graphicFrameLocks noChangeAspect="1"/>
          </p:cNvGraphicFramePr>
          <p:nvPr/>
        </p:nvGraphicFramePr>
        <p:xfrm>
          <a:off x="844550" y="1749584"/>
          <a:ext cx="5715000" cy="4243070"/>
        </p:xfrm>
        <a:graphic>
          <a:graphicData uri="http://schemas.openxmlformats.org/presentationml/2006/ole">
            <mc:AlternateContent xmlns:mc="http://schemas.openxmlformats.org/markup-compatibility/2006">
              <mc:Choice xmlns:v="urn:schemas-microsoft-com:vml" Requires="v">
                <p:oleObj spid="_x0000_s0" name="公式" r:id="rId1" imgW="3009900" imgH="2234565" progId="Equation.3">
                  <p:embed/>
                </p:oleObj>
              </mc:Choice>
              <mc:Fallback>
                <p:oleObj name="公式" r:id="rId1" imgW="3009900" imgH="2234565" progId="Equation.3">
                  <p:embed/>
                  <p:pic>
                    <p:nvPicPr>
                      <p:cNvPr id="0" name="Object 4"/>
                      <p:cNvPicPr>
                        <a:picLocks noChangeAspect="1" noChangeArrowheads="1"/>
                      </p:cNvPicPr>
                      <p:nvPr/>
                    </p:nvPicPr>
                    <p:blipFill>
                      <a:blip r:embed="rId2"/>
                      <a:srcRect/>
                      <a:stretch>
                        <a:fillRect/>
                      </a:stretch>
                    </p:blipFill>
                    <p:spPr bwMode="auto">
                      <a:xfrm>
                        <a:off x="844550" y="1749584"/>
                        <a:ext cx="5715000" cy="4243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457200" y="114300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在顺序表的表尾插入新的数据元素</a:t>
            </a:r>
            <a:endParaRPr lang="zh-CN" altLang="en-US" sz="2000" dirty="0">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766861" y="1722112"/>
            <a:ext cx="8077200" cy="446862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在顺序表的表尾插入新的数据元素</a:t>
            </a:r>
            <a:r>
              <a:rPr lang="en-US" altLang="zh-CN" b="0" dirty="0">
                <a:latin typeface="微软雅黑" panose="020B0503020204020204" pitchFamily="34" charset="-122"/>
                <a:ea typeface="微软雅黑" panose="020B0503020204020204" pitchFamily="34" charset="-122"/>
              </a:rPr>
              <a:t>e</a:t>
            </a:r>
            <a:endParaRPr lang="en-US" altLang="zh-CN"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bool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SqList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TailInsert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(const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&amp;e)</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if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&gt;= size) 	// </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表满则扩展空间</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new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[size + 10];</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if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for(int j = 0; j &lt;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 =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   </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rPr>
              <a:t>   </a:t>
            </a:r>
            <a:endParaRPr lang="zh-CN" altLang="en-US"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457200" y="114300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在顺序表的表尾插入新的数据元素</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续</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838200" y="1752600"/>
            <a:ext cx="8077200" cy="3243263"/>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delete[] </a:t>
            </a:r>
            <a:r>
              <a:rPr lang="en-US" altLang="zh-CN" b="0" dirty="0" err="1">
                <a:latin typeface="Times New Roman" panose="02020603050405020304" pitchFamily="18" charset="0"/>
                <a:cs typeface="Times New Roman" panose="02020603050405020304" pitchFamily="18" charset="0"/>
              </a:rPr>
              <a:t>elem</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newbase</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size += 10;</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 e; 	//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尾部插入</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e, </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表长增</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Rectangle 3"/>
          <p:cNvSpPr txBox="1">
            <a:spLocks noChangeArrowheads="1"/>
          </p:cNvSpPr>
          <p:nvPr/>
        </p:nvSpPr>
        <p:spPr>
          <a:xfrm>
            <a:off x="522514" y="120474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000" dirty="0">
                <a:latin typeface="微软雅黑" panose="020B0503020204020204" pitchFamily="34" charset="-122"/>
                <a:ea typeface="微软雅黑" panose="020B0503020204020204" pitchFamily="34" charset="-122"/>
              </a:rPr>
              <a:t>在顺序表中删除第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个元素</a:t>
            </a:r>
            <a:endParaRPr lang="en-US" altLang="zh-CN" sz="2000" dirty="0">
              <a:latin typeface="微软雅黑" panose="020B0503020204020204" pitchFamily="34" charset="-122"/>
              <a:ea typeface="微软雅黑" panose="020B0503020204020204" pitchFamily="34" charset="-122"/>
            </a:endParaRPr>
          </a:p>
          <a:p>
            <a:pPr lvl="1">
              <a:lnSpc>
                <a:spcPct val="125000"/>
              </a:lnSpc>
              <a:defRPr/>
            </a:pPr>
            <a:r>
              <a:rPr lang="zh-CN" altLang="en-US" sz="2000" dirty="0">
                <a:latin typeface="微软雅黑" panose="020B0503020204020204" pitchFamily="34" charset="-122"/>
                <a:ea typeface="微软雅黑" panose="020B0503020204020204" pitchFamily="34" charset="-122"/>
              </a:rPr>
              <a:t>即将第</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en-US" altLang="zh-CN" sz="2000" i="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000" i="1" dirty="0">
                <a:latin typeface="微软雅黑" panose="020B0503020204020204" pitchFamily="34" charset="-122"/>
                <a:ea typeface="微软雅黑" panose="020B0503020204020204" pitchFamily="34" charset="-122"/>
              </a:rPr>
              <a:t> </a:t>
            </a:r>
            <a:r>
              <a:rPr lang="en-US" altLang="zh-CN" sz="2000" i="1" dirty="0" err="1">
                <a:latin typeface="微软雅黑" panose="020B0503020204020204" pitchFamily="34" charset="-122"/>
                <a:ea typeface="微软雅黑" panose="020B0503020204020204" pitchFamily="34" charset="-122"/>
              </a:rPr>
              <a:t>i</a:t>
            </a:r>
            <a:r>
              <a:rPr lang="en-US" altLang="zh-CN" sz="2000" i="1" dirty="0">
                <a:latin typeface="微软雅黑" panose="020B0503020204020204" pitchFamily="34" charset="-122"/>
                <a:ea typeface="微软雅黑" panose="020B0503020204020204" pitchFamily="34" charset="-122"/>
              </a:rPr>
              <a:t> ≤ n</a:t>
            </a:r>
            <a:r>
              <a:rPr lang="zh-CN" altLang="en-US" sz="2000" dirty="0">
                <a:latin typeface="微软雅黑" panose="020B0503020204020204" pitchFamily="34" charset="-122"/>
                <a:ea typeface="微软雅黑" panose="020B0503020204020204" pitchFamily="34" charset="-122"/>
              </a:rPr>
              <a:t>）个元素删除，使长度为</a:t>
            </a:r>
            <a:r>
              <a:rPr lang="en-US" altLang="zh-CN" sz="2000" i="1"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的顺序表</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defRPr/>
            </a:pPr>
            <a:r>
              <a:rPr lang="zh-CN" altLang="en-US" dirty="0"/>
              <a:t> 			（</a:t>
            </a:r>
            <a:r>
              <a:rPr lang="en-US" altLang="zh-CN" sz="2000" dirty="0"/>
              <a:t>a</a:t>
            </a:r>
            <a:r>
              <a:rPr lang="en-US" altLang="zh-CN" sz="2000" baseline="-25000" dirty="0"/>
              <a:t>1</a:t>
            </a:r>
            <a:r>
              <a:rPr lang="en-US" altLang="zh-CN" sz="2000" dirty="0"/>
              <a:t>, a</a:t>
            </a:r>
            <a:r>
              <a:rPr lang="en-US" altLang="zh-CN" sz="2000" baseline="-25000" dirty="0"/>
              <a:t>2</a:t>
            </a:r>
            <a:r>
              <a:rPr lang="en-US" altLang="zh-CN" sz="2000" dirty="0"/>
              <a:t>, …, a</a:t>
            </a:r>
            <a:r>
              <a:rPr lang="en-US" altLang="zh-CN" sz="2000" baseline="-25000" dirty="0"/>
              <a:t>i-1</a:t>
            </a:r>
            <a:r>
              <a:rPr lang="en-US" altLang="zh-CN" sz="2000" dirty="0"/>
              <a:t>, a</a:t>
            </a:r>
            <a:r>
              <a:rPr lang="en-US" altLang="zh-CN" sz="2000" baseline="-25000" dirty="0"/>
              <a:t>i </a:t>
            </a:r>
            <a:r>
              <a:rPr lang="en-US" altLang="zh-CN" sz="2000" dirty="0"/>
              <a:t>, a</a:t>
            </a:r>
            <a:r>
              <a:rPr lang="en-US" altLang="zh-CN" sz="2000" baseline="-25000" dirty="0"/>
              <a:t>i +1</a:t>
            </a:r>
            <a:r>
              <a:rPr lang="en-US" altLang="zh-CN" sz="2000" dirty="0"/>
              <a:t>, …, a</a:t>
            </a:r>
            <a:r>
              <a:rPr lang="en-US" altLang="zh-CN" sz="2000" baseline="-25000" dirty="0"/>
              <a:t>n</a:t>
            </a:r>
            <a:r>
              <a:rPr lang="zh-CN" altLang="en-US" sz="2000" dirty="0"/>
              <a:t>）</a:t>
            </a:r>
            <a:endParaRPr lang="zh-CN" altLang="en-US" sz="2000" dirty="0"/>
          </a:p>
          <a:p>
            <a:pPr>
              <a:lnSpc>
                <a:spcPct val="125000"/>
              </a:lnSpc>
              <a:buFontTx/>
              <a:buNone/>
              <a:defRPr/>
            </a:pPr>
            <a:r>
              <a:rPr lang="zh-CN" altLang="en-US" sz="2000" dirty="0"/>
              <a:t>			 （</a:t>
            </a:r>
            <a:r>
              <a:rPr lang="en-US" altLang="zh-CN" sz="2000" dirty="0"/>
              <a:t>a</a:t>
            </a:r>
            <a:r>
              <a:rPr lang="en-US" altLang="zh-CN" sz="2000" baseline="-25000" dirty="0"/>
              <a:t>1</a:t>
            </a:r>
            <a:r>
              <a:rPr lang="en-US" altLang="zh-CN" sz="2000" dirty="0"/>
              <a:t>, a</a:t>
            </a:r>
            <a:r>
              <a:rPr lang="en-US" altLang="zh-CN" sz="2000" baseline="-25000" dirty="0"/>
              <a:t>2</a:t>
            </a:r>
            <a:r>
              <a:rPr lang="en-US" altLang="zh-CN" sz="2000" dirty="0"/>
              <a:t>, …, a</a:t>
            </a:r>
            <a:r>
              <a:rPr lang="en-US" altLang="zh-CN" sz="2000" baseline="-25000" dirty="0"/>
              <a:t>i-1</a:t>
            </a:r>
            <a:r>
              <a:rPr lang="en-US" altLang="zh-CN" sz="2000" dirty="0"/>
              <a:t>, a</a:t>
            </a:r>
            <a:r>
              <a:rPr lang="en-US" altLang="zh-CN" sz="2000" baseline="-25000" dirty="0"/>
              <a:t>i +1</a:t>
            </a:r>
            <a:r>
              <a:rPr lang="en-US" altLang="zh-CN" sz="2000" dirty="0"/>
              <a:t>, …, a</a:t>
            </a:r>
            <a:r>
              <a:rPr lang="en-US" altLang="zh-CN" sz="2000" baseline="-25000" dirty="0"/>
              <a:t>n</a:t>
            </a:r>
            <a:r>
              <a:rPr lang="zh-CN" altLang="en-US" sz="2000" dirty="0"/>
              <a:t>）</a:t>
            </a:r>
            <a:endParaRPr lang="zh-CN" altLang="en-US" sz="2000" dirty="0"/>
          </a:p>
          <a:p>
            <a:pPr marL="342900" lvl="1" indent="-342900" eaLnBrk="0" hangingPunct="0">
              <a:lnSpc>
                <a:spcPct val="125000"/>
              </a:lnSpc>
              <a:spcBef>
                <a:spcPct val="20000"/>
              </a:spcBef>
              <a:buNone/>
              <a:defRPr/>
            </a:pPr>
            <a:r>
              <a:rPr lang="en-US" altLang="zh-CN" sz="2000" b="1" kern="0" dirty="0">
                <a:solidFill>
                  <a:srgbClr val="005A9E"/>
                </a:solidFill>
                <a:latin typeface="微软雅黑" panose="020B0503020204020204" pitchFamily="34" charset="-122"/>
                <a:ea typeface="微软雅黑" panose="020B0503020204020204" pitchFamily="34" charset="-122"/>
              </a:rPr>
              <a:t>	</a:t>
            </a:r>
            <a:r>
              <a:rPr lang="zh-CN" altLang="en-US" sz="2000" b="1" kern="0" dirty="0">
                <a:solidFill>
                  <a:srgbClr val="005A9E"/>
                </a:solidFill>
                <a:latin typeface="微软雅黑" panose="020B0503020204020204" pitchFamily="34" charset="-122"/>
                <a:ea typeface="微软雅黑" panose="020B0503020204020204" pitchFamily="34" charset="-122"/>
              </a:rPr>
              <a:t>变成长度为</a:t>
            </a:r>
            <a:r>
              <a:rPr lang="en-US" altLang="zh-CN" sz="2000" b="1" kern="0" dirty="0">
                <a:solidFill>
                  <a:srgbClr val="005A9E"/>
                </a:solidFill>
                <a:latin typeface="微软雅黑" panose="020B0503020204020204" pitchFamily="34" charset="-122"/>
                <a:ea typeface="微软雅黑" panose="020B0503020204020204" pitchFamily="34" charset="-122"/>
              </a:rPr>
              <a:t>n-1 </a:t>
            </a:r>
            <a:r>
              <a:rPr lang="zh-CN" altLang="en-US" sz="2000" b="1" kern="0" dirty="0">
                <a:solidFill>
                  <a:srgbClr val="005A9E"/>
                </a:solidFill>
                <a:latin typeface="微软雅黑" panose="020B0503020204020204" pitchFamily="34" charset="-122"/>
                <a:ea typeface="微软雅黑" panose="020B0503020204020204" pitchFamily="34" charset="-122"/>
              </a:rPr>
              <a:t>的线性表</a:t>
            </a:r>
            <a:endParaRPr lang="en-US" altLang="zh-CN" sz="2000" b="1" kern="0" dirty="0">
              <a:solidFill>
                <a:srgbClr val="005A9E"/>
              </a:solidFill>
              <a:latin typeface="微软雅黑" panose="020B0503020204020204" pitchFamily="34" charset="-122"/>
              <a:ea typeface="微软雅黑" panose="020B0503020204020204" pitchFamily="34" charset="-122"/>
            </a:endParaRPr>
          </a:p>
          <a:p>
            <a:pPr marL="342900" lvl="1" indent="-342900" eaLnBrk="0" hangingPunct="0">
              <a:lnSpc>
                <a:spcPct val="125000"/>
              </a:lnSpc>
              <a:spcBef>
                <a:spcPct val="20000"/>
              </a:spcBef>
              <a:buNone/>
              <a:defRPr/>
            </a:pPr>
            <a:endParaRPr lang="en-US" altLang="zh-CN" sz="2000" b="1" kern="0" dirty="0">
              <a:solidFill>
                <a:srgbClr val="005A9E"/>
              </a:solidFill>
              <a:latin typeface="微软雅黑" panose="020B0503020204020204" pitchFamily="34" charset="-122"/>
              <a:ea typeface="微软雅黑" panose="020B0503020204020204" pitchFamily="34" charset="-122"/>
            </a:endParaRPr>
          </a:p>
          <a:p>
            <a:pPr marL="342900" lvl="1" indent="-342900" eaLnBrk="0" hangingPunct="0">
              <a:lnSpc>
                <a:spcPct val="125000"/>
              </a:lnSpc>
              <a:spcBef>
                <a:spcPct val="20000"/>
              </a:spcBef>
              <a:buNone/>
              <a:defRPr/>
            </a:pPr>
            <a:r>
              <a:rPr lang="zh-CN" altLang="en-US" sz="2000" b="1" kern="0" dirty="0">
                <a:solidFill>
                  <a:srgbClr val="005A9E"/>
                </a:solidFill>
                <a:latin typeface="微软雅黑" panose="020B0503020204020204" pitchFamily="34" charset="-122"/>
                <a:ea typeface="微软雅黑" panose="020B0503020204020204" pitchFamily="34" charset="-122"/>
              </a:rPr>
              <a:t>    需将第</a:t>
            </a:r>
            <a:r>
              <a:rPr lang="en-US" altLang="zh-CN" sz="2000" b="1" kern="0" dirty="0" err="1">
                <a:solidFill>
                  <a:srgbClr val="005A9E"/>
                </a:solidFill>
                <a:latin typeface="微软雅黑" panose="020B0503020204020204" pitchFamily="34" charset="-122"/>
                <a:ea typeface="微软雅黑" panose="020B0503020204020204" pitchFamily="34" charset="-122"/>
              </a:rPr>
              <a:t>i</a:t>
            </a:r>
            <a:r>
              <a:rPr lang="en-US" altLang="zh-CN" sz="2000" b="1" kern="0" dirty="0">
                <a:solidFill>
                  <a:srgbClr val="005A9E"/>
                </a:solidFill>
                <a:latin typeface="微软雅黑" panose="020B0503020204020204" pitchFamily="34" charset="-122"/>
                <a:ea typeface="微软雅黑" panose="020B0503020204020204" pitchFamily="34" charset="-122"/>
              </a:rPr>
              <a:t> + 1</a:t>
            </a:r>
            <a:r>
              <a:rPr lang="zh-CN" altLang="en-US" sz="2000" b="1" kern="0" dirty="0">
                <a:solidFill>
                  <a:srgbClr val="005A9E"/>
                </a:solidFill>
                <a:latin typeface="微软雅黑" panose="020B0503020204020204" pitchFamily="34" charset="-122"/>
                <a:ea typeface="微软雅黑" panose="020B0503020204020204" pitchFamily="34" charset="-122"/>
              </a:rPr>
              <a:t>至第</a:t>
            </a:r>
            <a:r>
              <a:rPr lang="en-US" altLang="zh-CN" sz="2000" b="1" kern="0" dirty="0">
                <a:solidFill>
                  <a:srgbClr val="005A9E"/>
                </a:solidFill>
                <a:latin typeface="微软雅黑" panose="020B0503020204020204" pitchFamily="34" charset="-122"/>
                <a:ea typeface="微软雅黑" panose="020B0503020204020204" pitchFamily="34" charset="-122"/>
              </a:rPr>
              <a:t>n</a:t>
            </a:r>
            <a:r>
              <a:rPr lang="zh-CN" altLang="en-US" sz="2000" b="1" kern="0" dirty="0">
                <a:solidFill>
                  <a:srgbClr val="005A9E"/>
                </a:solidFill>
                <a:latin typeface="微软雅黑" panose="020B0503020204020204" pitchFamily="34" charset="-122"/>
                <a:ea typeface="微软雅黑" panose="020B0503020204020204" pitchFamily="34" charset="-122"/>
              </a:rPr>
              <a:t>共 </a:t>
            </a:r>
            <a:r>
              <a:rPr lang="en-US" altLang="zh-CN" sz="2000" b="1" kern="0" dirty="0">
                <a:solidFill>
                  <a:srgbClr val="005A9E"/>
                </a:solidFill>
                <a:latin typeface="微软雅黑" panose="020B0503020204020204" pitchFamily="34" charset="-122"/>
                <a:ea typeface="微软雅黑" panose="020B0503020204020204" pitchFamily="34" charset="-122"/>
              </a:rPr>
              <a:t>n-</a:t>
            </a:r>
            <a:r>
              <a:rPr lang="en-US" altLang="zh-CN" sz="2000" b="1" kern="0" dirty="0" err="1">
                <a:solidFill>
                  <a:srgbClr val="005A9E"/>
                </a:solidFill>
                <a:latin typeface="微软雅黑" panose="020B0503020204020204" pitchFamily="34" charset="-122"/>
                <a:ea typeface="微软雅黑" panose="020B0503020204020204" pitchFamily="34" charset="-122"/>
              </a:rPr>
              <a:t>i</a:t>
            </a:r>
            <a:r>
              <a:rPr lang="zh-CN" altLang="en-US" sz="2000" b="1" kern="0" dirty="0">
                <a:solidFill>
                  <a:srgbClr val="005A9E"/>
                </a:solidFill>
                <a:latin typeface="微软雅黑" panose="020B0503020204020204" pitchFamily="34" charset="-122"/>
                <a:ea typeface="微软雅黑" panose="020B0503020204020204" pitchFamily="34" charset="-122"/>
              </a:rPr>
              <a:t>个元素前移</a:t>
            </a:r>
            <a:endParaRPr lang="zh-CN" altLang="en-US" sz="2000" b="1" kern="0" dirty="0">
              <a:solidFill>
                <a:srgbClr val="005A9E"/>
              </a:solidFill>
              <a:latin typeface="微软雅黑" panose="020B0503020204020204" pitchFamily="34" charset="-122"/>
              <a:ea typeface="微软雅黑" panose="020B0503020204020204" pitchFamily="34" charset="-122"/>
            </a:endParaRPr>
          </a:p>
          <a:p>
            <a:pPr lvl="1">
              <a:buFontTx/>
              <a:buNone/>
              <a:defRPr/>
            </a:pPr>
            <a:endParaRPr lang="zh-CN" altLang="en-US" b="1" dirty="0">
              <a:solidFill>
                <a:schemeClr val="tx2">
                  <a:lumMod val="60000"/>
                  <a:lumOff val="40000"/>
                </a:schemeClr>
              </a:solidFill>
            </a:endParaRPr>
          </a:p>
        </p:txBody>
      </p:sp>
      <p:sp>
        <p:nvSpPr>
          <p:cNvPr id="9" name="文本框 8"/>
          <p:cNvSpPr txBox="1"/>
          <p:nvPr/>
        </p:nvSpPr>
        <p:spPr>
          <a:xfrm>
            <a:off x="3659199" y="4493470"/>
            <a:ext cx="6098720" cy="584775"/>
          </a:xfrm>
          <a:prstGeom prst="rect">
            <a:avLst/>
          </a:prstGeom>
          <a:noFill/>
        </p:spPr>
        <p:txBody>
          <a:bodyPr wrap="square">
            <a:spAutoFit/>
          </a:bodyPr>
          <a:lstStyle/>
          <a:p>
            <a:pPr eaLnBrk="1" hangingPunct="1">
              <a:buFontTx/>
              <a:buNone/>
              <a:defRPr/>
            </a:pPr>
            <a:r>
              <a:rPr lang="zh-CN" altLang="en-US" sz="3200" dirty="0"/>
              <a:t>（</a:t>
            </a:r>
            <a:r>
              <a:rPr lang="en-US" altLang="zh-CN" sz="2000" i="1" dirty="0"/>
              <a:t>a</a:t>
            </a:r>
            <a:r>
              <a:rPr lang="en-US" altLang="zh-CN" sz="2000" baseline="-25000" dirty="0"/>
              <a:t>1</a:t>
            </a:r>
            <a:r>
              <a:rPr lang="en-US" altLang="zh-CN" sz="2000" i="1" dirty="0"/>
              <a:t>, a</a:t>
            </a:r>
            <a:r>
              <a:rPr lang="en-US" altLang="zh-CN" sz="2000" baseline="-25000" dirty="0"/>
              <a:t>2</a:t>
            </a:r>
            <a:r>
              <a:rPr lang="en-US" altLang="zh-CN" sz="2000" i="1" dirty="0"/>
              <a:t>, …, a</a:t>
            </a:r>
            <a:r>
              <a:rPr lang="en-US" altLang="zh-CN" sz="2000" i="1" baseline="-25000" dirty="0"/>
              <a:t>i</a:t>
            </a:r>
            <a:r>
              <a:rPr lang="en-US" altLang="zh-CN" sz="2000" baseline="-25000" dirty="0"/>
              <a:t>-1</a:t>
            </a:r>
            <a:r>
              <a:rPr lang="en-US" altLang="zh-CN" sz="2000" i="1" dirty="0"/>
              <a:t>, a</a:t>
            </a:r>
            <a:r>
              <a:rPr lang="en-US" altLang="zh-CN" sz="2000" i="1" baseline="-25000" dirty="0"/>
              <a:t>i </a:t>
            </a:r>
            <a:r>
              <a:rPr lang="en-US" altLang="zh-CN" sz="2000" baseline="-25000" dirty="0"/>
              <a:t>+1</a:t>
            </a:r>
            <a:r>
              <a:rPr lang="en-US" altLang="zh-CN" sz="2000" i="1" dirty="0"/>
              <a:t>, …, a</a:t>
            </a:r>
            <a:r>
              <a:rPr lang="en-US" altLang="zh-CN" sz="2000" i="1" baseline="-25000" dirty="0"/>
              <a:t>n</a:t>
            </a:r>
            <a:r>
              <a:rPr lang="zh-CN" altLang="en-US" sz="2000" dirty="0"/>
              <a:t>）</a:t>
            </a:r>
            <a:endParaRPr lang="zh-CN" altLang="en-US" sz="2000" dirty="0"/>
          </a:p>
        </p:txBody>
      </p:sp>
      <p:sp>
        <p:nvSpPr>
          <p:cNvPr id="10" name="矩形 9"/>
          <p:cNvSpPr/>
          <p:nvPr/>
        </p:nvSpPr>
        <p:spPr bwMode="auto">
          <a:xfrm>
            <a:off x="5093153" y="4596333"/>
            <a:ext cx="872641" cy="481912"/>
          </a:xfrm>
          <a:prstGeom prst="rect">
            <a:avLst/>
          </a:prstGeom>
          <a:noFill/>
          <a:ln w="3175" algn="ctr">
            <a:solidFill>
              <a:srgbClr val="FF0000"/>
            </a:solidFill>
            <a:miter lim="800000"/>
          </a:ln>
          <a:effectLst>
            <a:outerShdw blurRad="50800" dist="38100" dir="2700000" algn="tl" rotWithShape="0">
              <a:prstClr val="black">
                <a:alpha val="40000"/>
              </a:prstClr>
            </a:outerShdw>
          </a:effectLst>
        </p:spPr>
        <p:txBody>
          <a:bodyPr wrap="none" lIns="90000" tIns="46800" rIns="90000" bIns="46800" anchor="ctr"/>
          <a:lstStyle/>
          <a:p>
            <a:pPr>
              <a:spcBef>
                <a:spcPct val="20000"/>
              </a:spcBef>
              <a:buFontTx/>
              <a:buChar char="•"/>
              <a:defRPr/>
            </a:pPr>
            <a:endParaRPr lang="zh-CN" altLang="en-US" b="0">
              <a:solidFill>
                <a:srgbClr val="00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p:nvPr/>
        </p:nvSpPr>
        <p:spPr bwMode="gray">
          <a:xfrm>
            <a:off x="827088" y="12954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在顺序表中删除第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个数据元素</a:t>
            </a:r>
            <a:endParaRPr lang="zh-CN" altLang="en-US" sz="2000" dirty="0">
              <a:latin typeface="微软雅黑" panose="020B0503020204020204" pitchFamily="34" charset="-122"/>
              <a:ea typeface="微软雅黑" panose="020B0503020204020204" pitchFamily="34" charset="-122"/>
            </a:endParaRPr>
          </a:p>
        </p:txBody>
      </p:sp>
      <p:grpSp>
        <p:nvGrpSpPr>
          <p:cNvPr id="43012" name="Group 4"/>
          <p:cNvGrpSpPr/>
          <p:nvPr/>
        </p:nvGrpSpPr>
        <p:grpSpPr bwMode="auto">
          <a:xfrm>
            <a:off x="2219325" y="3886200"/>
            <a:ext cx="1409700" cy="1447800"/>
            <a:chOff x="600" y="1488"/>
            <a:chExt cx="888" cy="912"/>
          </a:xfrm>
        </p:grpSpPr>
        <p:sp>
          <p:nvSpPr>
            <p:cNvPr id="43062" name="Rectangle 5"/>
            <p:cNvSpPr>
              <a:spLocks noChangeArrowheads="1"/>
            </p:cNvSpPr>
            <p:nvPr/>
          </p:nvSpPr>
          <p:spPr bwMode="gray">
            <a:xfrm>
              <a:off x="960" y="1488"/>
              <a:ext cx="528" cy="912"/>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3063" name="Line 6"/>
            <p:cNvSpPr>
              <a:spLocks noChangeShapeType="1"/>
            </p:cNvSpPr>
            <p:nvPr/>
          </p:nvSpPr>
          <p:spPr bwMode="gray">
            <a:xfrm>
              <a:off x="960" y="1776"/>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64" name="Line 7"/>
            <p:cNvSpPr>
              <a:spLocks noChangeShapeType="1"/>
            </p:cNvSpPr>
            <p:nvPr/>
          </p:nvSpPr>
          <p:spPr bwMode="gray">
            <a:xfrm>
              <a:off x="960" y="2080"/>
              <a:ext cx="52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65" name="Rectangle 8"/>
            <p:cNvSpPr>
              <a:spLocks noChangeArrowheads="1"/>
            </p:cNvSpPr>
            <p:nvPr/>
          </p:nvSpPr>
          <p:spPr bwMode="gray">
            <a:xfrm>
              <a:off x="600" y="155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elem</a:t>
              </a:r>
              <a:endParaRPr lang="en-US" altLang="zh-CN"/>
            </a:p>
          </p:txBody>
        </p:sp>
        <p:sp>
          <p:nvSpPr>
            <p:cNvPr id="43066" name="Rectangle 9"/>
            <p:cNvSpPr>
              <a:spLocks noChangeArrowheads="1"/>
            </p:cNvSpPr>
            <p:nvPr/>
          </p:nvSpPr>
          <p:spPr bwMode="gray">
            <a:xfrm>
              <a:off x="600" y="187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len</a:t>
              </a:r>
              <a:endParaRPr lang="en-US" altLang="zh-CN"/>
            </a:p>
          </p:txBody>
        </p:sp>
        <p:sp>
          <p:nvSpPr>
            <p:cNvPr id="43067" name="Rectangle 10"/>
            <p:cNvSpPr>
              <a:spLocks noChangeArrowheads="1"/>
            </p:cNvSpPr>
            <p:nvPr/>
          </p:nvSpPr>
          <p:spPr bwMode="gray">
            <a:xfrm>
              <a:off x="608" y="2208"/>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size</a:t>
              </a:r>
              <a:endParaRPr lang="en-US" altLang="zh-CN"/>
            </a:p>
          </p:txBody>
        </p:sp>
      </p:grpSp>
      <p:grpSp>
        <p:nvGrpSpPr>
          <p:cNvPr id="43013" name="Group 11"/>
          <p:cNvGrpSpPr/>
          <p:nvPr/>
        </p:nvGrpSpPr>
        <p:grpSpPr bwMode="auto">
          <a:xfrm>
            <a:off x="3225800" y="2819400"/>
            <a:ext cx="685800" cy="1219200"/>
            <a:chOff x="1072" y="1776"/>
            <a:chExt cx="432" cy="768"/>
          </a:xfrm>
        </p:grpSpPr>
        <p:sp>
          <p:nvSpPr>
            <p:cNvPr id="43060" name="Line 12"/>
            <p:cNvSpPr>
              <a:spLocks noChangeShapeType="1"/>
            </p:cNvSpPr>
            <p:nvPr/>
          </p:nvSpPr>
          <p:spPr bwMode="gray">
            <a:xfrm>
              <a:off x="1072" y="1776"/>
              <a:ext cx="0" cy="76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61" name="Line 13"/>
            <p:cNvSpPr>
              <a:spLocks noChangeShapeType="1"/>
            </p:cNvSpPr>
            <p:nvPr/>
          </p:nvSpPr>
          <p:spPr bwMode="gray">
            <a:xfrm flipV="1">
              <a:off x="1072" y="1776"/>
              <a:ext cx="43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014" name="Group 15"/>
          <p:cNvGrpSpPr/>
          <p:nvPr/>
        </p:nvGrpSpPr>
        <p:grpSpPr bwMode="auto">
          <a:xfrm>
            <a:off x="2971800" y="4495800"/>
            <a:ext cx="457200" cy="762000"/>
            <a:chOff x="1008" y="2832"/>
            <a:chExt cx="288" cy="480"/>
          </a:xfrm>
        </p:grpSpPr>
        <p:sp>
          <p:nvSpPr>
            <p:cNvPr id="43058" name="Rectangle 16"/>
            <p:cNvSpPr>
              <a:spLocks noChangeArrowheads="1"/>
            </p:cNvSpPr>
            <p:nvPr/>
          </p:nvSpPr>
          <p:spPr bwMode="gray">
            <a:xfrm>
              <a:off x="1008" y="3120"/>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m</a:t>
              </a:r>
              <a:endParaRPr lang="en-US" altLang="zh-CN"/>
            </a:p>
          </p:txBody>
        </p:sp>
        <p:sp>
          <p:nvSpPr>
            <p:cNvPr id="43059" name="Rectangle 17"/>
            <p:cNvSpPr>
              <a:spLocks noChangeArrowheads="1"/>
            </p:cNvSpPr>
            <p:nvPr/>
          </p:nvSpPr>
          <p:spPr bwMode="gray">
            <a:xfrm>
              <a:off x="1008" y="283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n</a:t>
              </a:r>
              <a:endParaRPr lang="en-US" altLang="zh-CN"/>
            </a:p>
          </p:txBody>
        </p:sp>
      </p:grpSp>
      <p:sp>
        <p:nvSpPr>
          <p:cNvPr id="43015" name="Rectangle 20"/>
          <p:cNvSpPr>
            <a:spLocks noChangeArrowheads="1"/>
          </p:cNvSpPr>
          <p:nvPr/>
        </p:nvSpPr>
        <p:spPr bwMode="gray">
          <a:xfrm>
            <a:off x="9356725" y="202406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m-1</a:t>
            </a:r>
            <a:endParaRPr lang="en-US" altLang="zh-CN"/>
          </a:p>
        </p:txBody>
      </p:sp>
      <p:sp>
        <p:nvSpPr>
          <p:cNvPr id="43016" name="Rectangle 22"/>
          <p:cNvSpPr>
            <a:spLocks noChangeArrowheads="1"/>
          </p:cNvSpPr>
          <p:nvPr/>
        </p:nvSpPr>
        <p:spPr bwMode="gray">
          <a:xfrm>
            <a:off x="4038600" y="19812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0</a:t>
            </a:r>
            <a:endParaRPr lang="en-US" altLang="zh-CN"/>
          </a:p>
        </p:txBody>
      </p:sp>
      <p:sp>
        <p:nvSpPr>
          <p:cNvPr id="43017" name="Rectangle 23"/>
          <p:cNvSpPr>
            <a:spLocks noChangeArrowheads="1"/>
          </p:cNvSpPr>
          <p:nvPr/>
        </p:nvSpPr>
        <p:spPr bwMode="gray">
          <a:xfrm>
            <a:off x="5797550" y="20050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i-2</a:t>
            </a:r>
            <a:endParaRPr lang="en-US" altLang="zh-CN"/>
          </a:p>
        </p:txBody>
      </p:sp>
      <p:sp>
        <p:nvSpPr>
          <p:cNvPr id="43018" name="Rectangle 24"/>
          <p:cNvSpPr>
            <a:spLocks noChangeArrowheads="1"/>
          </p:cNvSpPr>
          <p:nvPr/>
        </p:nvSpPr>
        <p:spPr bwMode="gray">
          <a:xfrm>
            <a:off x="6267450" y="20050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i-1</a:t>
            </a:r>
            <a:endParaRPr lang="en-US" altLang="zh-CN"/>
          </a:p>
        </p:txBody>
      </p:sp>
      <p:sp>
        <p:nvSpPr>
          <p:cNvPr id="43019" name="Rectangle 25"/>
          <p:cNvSpPr>
            <a:spLocks noChangeArrowheads="1"/>
          </p:cNvSpPr>
          <p:nvPr/>
        </p:nvSpPr>
        <p:spPr bwMode="gray">
          <a:xfrm>
            <a:off x="6686550" y="20050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i</a:t>
            </a:r>
            <a:endParaRPr lang="en-US" altLang="zh-CN"/>
          </a:p>
        </p:txBody>
      </p:sp>
      <p:sp>
        <p:nvSpPr>
          <p:cNvPr id="43020" name="Rectangle 26"/>
          <p:cNvSpPr>
            <a:spLocks noChangeArrowheads="1"/>
          </p:cNvSpPr>
          <p:nvPr/>
        </p:nvSpPr>
        <p:spPr bwMode="gray">
          <a:xfrm>
            <a:off x="4546600" y="19812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1</a:t>
            </a:r>
            <a:endParaRPr lang="en-US" altLang="zh-CN"/>
          </a:p>
        </p:txBody>
      </p:sp>
      <p:sp>
        <p:nvSpPr>
          <p:cNvPr id="43021" name="Rectangle 27"/>
          <p:cNvSpPr>
            <a:spLocks noChangeArrowheads="1"/>
          </p:cNvSpPr>
          <p:nvPr/>
        </p:nvSpPr>
        <p:spPr bwMode="gray">
          <a:xfrm>
            <a:off x="7943850" y="198596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n-2</a:t>
            </a:r>
            <a:endParaRPr lang="en-US" altLang="zh-CN"/>
          </a:p>
        </p:txBody>
      </p:sp>
      <p:sp>
        <p:nvSpPr>
          <p:cNvPr id="43022" name="Rectangle 29"/>
          <p:cNvSpPr>
            <a:spLocks noChangeArrowheads="1"/>
          </p:cNvSpPr>
          <p:nvPr/>
        </p:nvSpPr>
        <p:spPr bwMode="gray">
          <a:xfrm>
            <a:off x="4038600" y="25908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1</a:t>
            </a:r>
            <a:endParaRPr lang="en-US" altLang="zh-CN" sz="1000"/>
          </a:p>
        </p:txBody>
      </p:sp>
      <p:sp>
        <p:nvSpPr>
          <p:cNvPr id="43023" name="Rectangle 30"/>
          <p:cNvSpPr>
            <a:spLocks noChangeArrowheads="1"/>
          </p:cNvSpPr>
          <p:nvPr/>
        </p:nvSpPr>
        <p:spPr bwMode="gray">
          <a:xfrm>
            <a:off x="5797550" y="26146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i-1</a:t>
            </a:r>
            <a:endParaRPr lang="en-US" altLang="zh-CN" sz="1000"/>
          </a:p>
        </p:txBody>
      </p:sp>
      <p:sp>
        <p:nvSpPr>
          <p:cNvPr id="43024" name="Rectangle 31"/>
          <p:cNvSpPr>
            <a:spLocks noChangeArrowheads="1"/>
          </p:cNvSpPr>
          <p:nvPr/>
        </p:nvSpPr>
        <p:spPr bwMode="gray">
          <a:xfrm>
            <a:off x="6267450" y="26146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i</a:t>
            </a:r>
            <a:endParaRPr lang="en-US" altLang="zh-CN" sz="1000"/>
          </a:p>
        </p:txBody>
      </p:sp>
      <p:sp>
        <p:nvSpPr>
          <p:cNvPr id="43025" name="Rectangle 32"/>
          <p:cNvSpPr>
            <a:spLocks noChangeArrowheads="1"/>
          </p:cNvSpPr>
          <p:nvPr/>
        </p:nvSpPr>
        <p:spPr bwMode="gray">
          <a:xfrm>
            <a:off x="6686550" y="2614613"/>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i+1</a:t>
            </a:r>
            <a:endParaRPr lang="en-US" altLang="zh-CN" sz="1000"/>
          </a:p>
        </p:txBody>
      </p:sp>
      <p:sp>
        <p:nvSpPr>
          <p:cNvPr id="43026" name="Rectangle 33"/>
          <p:cNvSpPr>
            <a:spLocks noChangeArrowheads="1"/>
          </p:cNvSpPr>
          <p:nvPr/>
        </p:nvSpPr>
        <p:spPr bwMode="gray">
          <a:xfrm>
            <a:off x="4432300" y="25908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2</a:t>
            </a:r>
            <a:endParaRPr lang="en-US" altLang="zh-CN" sz="1000"/>
          </a:p>
        </p:txBody>
      </p:sp>
      <p:sp>
        <p:nvSpPr>
          <p:cNvPr id="95266" name="Rectangle 34"/>
          <p:cNvSpPr>
            <a:spLocks noChangeArrowheads="1"/>
          </p:cNvSpPr>
          <p:nvPr/>
        </p:nvSpPr>
        <p:spPr bwMode="gray">
          <a:xfrm>
            <a:off x="8001000" y="25908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n-1</a:t>
            </a:r>
            <a:endParaRPr lang="en-US" altLang="zh-CN" sz="1000"/>
          </a:p>
        </p:txBody>
      </p:sp>
      <p:sp>
        <p:nvSpPr>
          <p:cNvPr id="43028" name="Rectangle 36"/>
          <p:cNvSpPr>
            <a:spLocks noChangeArrowheads="1"/>
          </p:cNvSpPr>
          <p:nvPr/>
        </p:nvSpPr>
        <p:spPr bwMode="gray">
          <a:xfrm>
            <a:off x="3962400" y="2444750"/>
            <a:ext cx="5772150" cy="762000"/>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i="1">
              <a:solidFill>
                <a:schemeClr val="accent2"/>
              </a:solidFill>
            </a:endParaRPr>
          </a:p>
        </p:txBody>
      </p:sp>
      <p:sp>
        <p:nvSpPr>
          <p:cNvPr id="43029" name="Line 38"/>
          <p:cNvSpPr>
            <a:spLocks noChangeShapeType="1"/>
          </p:cNvSpPr>
          <p:nvPr/>
        </p:nvSpPr>
        <p:spPr bwMode="gray">
          <a:xfrm>
            <a:off x="4394200" y="2443163"/>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30" name="Line 39"/>
          <p:cNvSpPr>
            <a:spLocks noChangeShapeType="1"/>
          </p:cNvSpPr>
          <p:nvPr/>
        </p:nvSpPr>
        <p:spPr bwMode="gray">
          <a:xfrm>
            <a:off x="6626225" y="2443163"/>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31" name="Line 40"/>
          <p:cNvSpPr>
            <a:spLocks noChangeShapeType="1"/>
          </p:cNvSpPr>
          <p:nvPr/>
        </p:nvSpPr>
        <p:spPr bwMode="gray">
          <a:xfrm>
            <a:off x="6167438" y="2443163"/>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32" name="Rectangle 41"/>
          <p:cNvSpPr>
            <a:spLocks noChangeArrowheads="1"/>
          </p:cNvSpPr>
          <p:nvPr/>
        </p:nvSpPr>
        <p:spPr bwMode="gray">
          <a:xfrm>
            <a:off x="4800600" y="2446338"/>
            <a:ext cx="901700" cy="76200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43033" name="Rectangle 42"/>
          <p:cNvSpPr>
            <a:spLocks noChangeArrowheads="1"/>
          </p:cNvSpPr>
          <p:nvPr/>
        </p:nvSpPr>
        <p:spPr bwMode="gray">
          <a:xfrm>
            <a:off x="7086600" y="2446338"/>
            <a:ext cx="901700" cy="76200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43034" name="Rectangle 43"/>
          <p:cNvSpPr>
            <a:spLocks noChangeArrowheads="1"/>
          </p:cNvSpPr>
          <p:nvPr/>
        </p:nvSpPr>
        <p:spPr bwMode="gray">
          <a:xfrm>
            <a:off x="8796338" y="2446338"/>
            <a:ext cx="520700" cy="762000"/>
          </a:xfrm>
          <a:prstGeom prst="rect">
            <a:avLst/>
          </a:prstGeom>
          <a:solidFill>
            <a:srgbClr val="E8E8E8"/>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t>
            </a:r>
            <a:endParaRPr lang="en-US" altLang="zh-CN"/>
          </a:p>
        </p:txBody>
      </p:sp>
      <p:sp>
        <p:nvSpPr>
          <p:cNvPr id="43035" name="Rectangle 46"/>
          <p:cNvSpPr>
            <a:spLocks noChangeArrowheads="1"/>
          </p:cNvSpPr>
          <p:nvPr/>
        </p:nvSpPr>
        <p:spPr bwMode="gray">
          <a:xfrm>
            <a:off x="4114800" y="4724400"/>
            <a:ext cx="4876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2000" dirty="0"/>
              <a:t>for (++p; p &lt;= q; ++p)  </a:t>
            </a:r>
            <a:endParaRPr lang="en-US" altLang="zh-CN" sz="2000" dirty="0"/>
          </a:p>
          <a:p>
            <a:pPr>
              <a:buFontTx/>
              <a:buNone/>
            </a:pPr>
            <a:r>
              <a:rPr lang="en-US" altLang="zh-CN" sz="2000" dirty="0"/>
              <a:t>       *(p - 1) = *p;</a:t>
            </a:r>
            <a:endParaRPr lang="en-US" altLang="zh-CN" sz="2000" dirty="0"/>
          </a:p>
        </p:txBody>
      </p:sp>
      <p:grpSp>
        <p:nvGrpSpPr>
          <p:cNvPr id="95279" name="Group 47"/>
          <p:cNvGrpSpPr/>
          <p:nvPr/>
        </p:nvGrpSpPr>
        <p:grpSpPr bwMode="auto">
          <a:xfrm>
            <a:off x="5991226" y="3200401"/>
            <a:ext cx="1019175" cy="1381125"/>
            <a:chOff x="2901" y="1968"/>
            <a:chExt cx="642" cy="870"/>
          </a:xfrm>
        </p:grpSpPr>
        <p:sp>
          <p:nvSpPr>
            <p:cNvPr id="43054" name="Rectangle 48"/>
            <p:cNvSpPr>
              <a:spLocks noChangeArrowheads="1"/>
            </p:cNvSpPr>
            <p:nvPr/>
          </p:nvSpPr>
          <p:spPr bwMode="gray">
            <a:xfrm>
              <a:off x="2919" y="2550"/>
              <a:ext cx="6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t>指针</a:t>
              </a:r>
              <a:r>
                <a:rPr lang="en-US" altLang="zh-CN" sz="1800"/>
                <a:t>p</a:t>
              </a:r>
              <a:endParaRPr lang="en-US" altLang="zh-CN" sz="1800"/>
            </a:p>
          </p:txBody>
        </p:sp>
        <p:grpSp>
          <p:nvGrpSpPr>
            <p:cNvPr id="43055" name="Group 49"/>
            <p:cNvGrpSpPr/>
            <p:nvPr/>
          </p:nvGrpSpPr>
          <p:grpSpPr bwMode="auto">
            <a:xfrm>
              <a:off x="2901" y="1968"/>
              <a:ext cx="336" cy="612"/>
              <a:chOff x="2901" y="1968"/>
              <a:chExt cx="336" cy="612"/>
            </a:xfrm>
          </p:grpSpPr>
          <p:sp>
            <p:nvSpPr>
              <p:cNvPr id="43056" name="Rectangle 50"/>
              <p:cNvSpPr>
                <a:spLocks noChangeArrowheads="1"/>
              </p:cNvSpPr>
              <p:nvPr/>
            </p:nvSpPr>
            <p:spPr bwMode="gray">
              <a:xfrm>
                <a:off x="2901" y="2292"/>
                <a:ext cx="336" cy="288"/>
              </a:xfrm>
              <a:prstGeom prst="rect">
                <a:avLst/>
              </a:prstGeom>
              <a:solidFill>
                <a:srgbClr val="92D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a:p>
            </p:txBody>
          </p:sp>
          <p:sp>
            <p:nvSpPr>
              <p:cNvPr id="43057" name="Line 51"/>
              <p:cNvSpPr>
                <a:spLocks noChangeShapeType="1"/>
              </p:cNvSpPr>
              <p:nvPr/>
            </p:nvSpPr>
            <p:spPr bwMode="gray">
              <a:xfrm flipV="1">
                <a:off x="3072" y="1968"/>
                <a:ext cx="0"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95285" name="Rectangle 53"/>
          <p:cNvSpPr>
            <a:spLocks noChangeArrowheads="1"/>
          </p:cNvSpPr>
          <p:nvPr/>
        </p:nvSpPr>
        <p:spPr bwMode="gray">
          <a:xfrm>
            <a:off x="6184900" y="2514600"/>
            <a:ext cx="381000" cy="5334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i+1</a:t>
            </a:r>
            <a:endParaRPr lang="en-US" altLang="zh-CN" sz="1000"/>
          </a:p>
        </p:txBody>
      </p:sp>
      <p:sp>
        <p:nvSpPr>
          <p:cNvPr id="95286" name="Rectangle 54"/>
          <p:cNvSpPr>
            <a:spLocks noChangeArrowheads="1"/>
          </p:cNvSpPr>
          <p:nvPr/>
        </p:nvSpPr>
        <p:spPr bwMode="gray">
          <a:xfrm>
            <a:off x="6635750" y="2505075"/>
            <a:ext cx="381000" cy="5334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dirty="0"/>
              <a:t>a</a:t>
            </a:r>
            <a:r>
              <a:rPr lang="en-US" altLang="zh-CN" sz="1000" dirty="0"/>
              <a:t>i+2</a:t>
            </a:r>
            <a:endParaRPr lang="en-US" altLang="zh-CN" sz="1000" dirty="0"/>
          </a:p>
        </p:txBody>
      </p:sp>
      <p:sp>
        <p:nvSpPr>
          <p:cNvPr id="95288" name="Rectangle 56"/>
          <p:cNvSpPr>
            <a:spLocks noChangeArrowheads="1"/>
          </p:cNvSpPr>
          <p:nvPr/>
        </p:nvSpPr>
        <p:spPr bwMode="gray">
          <a:xfrm>
            <a:off x="3071813" y="4471988"/>
            <a:ext cx="381000" cy="3048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solidFill>
                  <a:srgbClr val="FF0000"/>
                </a:solidFill>
              </a:rPr>
              <a:t>n</a:t>
            </a:r>
            <a:r>
              <a:rPr lang="zh-CN" altLang="en-US">
                <a:solidFill>
                  <a:srgbClr val="FF0000"/>
                </a:solidFill>
              </a:rPr>
              <a:t>－</a:t>
            </a:r>
            <a:r>
              <a:rPr lang="en-US" altLang="zh-CN">
                <a:solidFill>
                  <a:srgbClr val="FF0000"/>
                </a:solidFill>
              </a:rPr>
              <a:t>1</a:t>
            </a:r>
            <a:endParaRPr lang="en-US" altLang="zh-CN">
              <a:solidFill>
                <a:srgbClr val="FF0000"/>
              </a:solidFill>
            </a:endParaRPr>
          </a:p>
        </p:txBody>
      </p:sp>
      <p:sp>
        <p:nvSpPr>
          <p:cNvPr id="43040" name="Rectangle 59"/>
          <p:cNvSpPr>
            <a:spLocks noChangeArrowheads="1"/>
          </p:cNvSpPr>
          <p:nvPr/>
        </p:nvSpPr>
        <p:spPr bwMode="gray">
          <a:xfrm>
            <a:off x="8001000" y="4138613"/>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t>指针</a:t>
            </a:r>
            <a:r>
              <a:rPr lang="en-US" altLang="zh-CN" sz="1800"/>
              <a:t>q</a:t>
            </a:r>
            <a:endParaRPr lang="en-US" altLang="zh-CN" sz="1800"/>
          </a:p>
        </p:txBody>
      </p:sp>
      <p:sp>
        <p:nvSpPr>
          <p:cNvPr id="43041" name="Rectangle 66"/>
          <p:cNvSpPr>
            <a:spLocks noChangeArrowheads="1"/>
          </p:cNvSpPr>
          <p:nvPr/>
        </p:nvSpPr>
        <p:spPr bwMode="gray">
          <a:xfrm>
            <a:off x="7543800" y="3276600"/>
            <a:ext cx="11430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43042" name="Line 72"/>
          <p:cNvSpPr>
            <a:spLocks noChangeShapeType="1"/>
          </p:cNvSpPr>
          <p:nvPr/>
        </p:nvSpPr>
        <p:spPr bwMode="gray">
          <a:xfrm>
            <a:off x="8382000" y="24384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43" name="Rectangle 118"/>
          <p:cNvSpPr>
            <a:spLocks noChangeArrowheads="1"/>
          </p:cNvSpPr>
          <p:nvPr/>
        </p:nvSpPr>
        <p:spPr bwMode="gray">
          <a:xfrm>
            <a:off x="8420100" y="19939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n-1</a:t>
            </a:r>
            <a:endParaRPr lang="en-US" altLang="zh-CN"/>
          </a:p>
        </p:txBody>
      </p:sp>
      <p:grpSp>
        <p:nvGrpSpPr>
          <p:cNvPr id="43044" name="Group 141"/>
          <p:cNvGrpSpPr/>
          <p:nvPr/>
        </p:nvGrpSpPr>
        <p:grpSpPr bwMode="auto">
          <a:xfrm>
            <a:off x="8153400" y="3200400"/>
            <a:ext cx="533400" cy="971550"/>
            <a:chOff x="4224" y="2016"/>
            <a:chExt cx="336" cy="612"/>
          </a:xfrm>
        </p:grpSpPr>
        <p:sp>
          <p:nvSpPr>
            <p:cNvPr id="43052" name="Line 139"/>
            <p:cNvSpPr>
              <a:spLocks noChangeShapeType="1"/>
            </p:cNvSpPr>
            <p:nvPr/>
          </p:nvSpPr>
          <p:spPr bwMode="gray">
            <a:xfrm flipV="1">
              <a:off x="4416" y="2016"/>
              <a:ext cx="0"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053" name="Rectangle 140"/>
            <p:cNvSpPr>
              <a:spLocks noChangeArrowheads="1"/>
            </p:cNvSpPr>
            <p:nvPr/>
          </p:nvSpPr>
          <p:spPr bwMode="gray">
            <a:xfrm>
              <a:off x="4224" y="2340"/>
              <a:ext cx="336" cy="288"/>
            </a:xfrm>
            <a:prstGeom prst="rect">
              <a:avLst/>
            </a:prstGeom>
            <a:solidFill>
              <a:srgbClr val="FFFF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a:p>
          </p:txBody>
        </p:sp>
      </p:grpSp>
      <p:sp>
        <p:nvSpPr>
          <p:cNvPr id="95376" name="Rectangle 144"/>
          <p:cNvSpPr>
            <a:spLocks noChangeArrowheads="1"/>
          </p:cNvSpPr>
          <p:nvPr/>
        </p:nvSpPr>
        <p:spPr bwMode="gray">
          <a:xfrm>
            <a:off x="8458200" y="26416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n</a:t>
            </a:r>
            <a:endParaRPr lang="en-US" altLang="zh-CN" sz="1000"/>
          </a:p>
        </p:txBody>
      </p:sp>
      <p:sp>
        <p:nvSpPr>
          <p:cNvPr id="95378" name="Rectangle 146"/>
          <p:cNvSpPr>
            <a:spLocks noChangeArrowheads="1"/>
          </p:cNvSpPr>
          <p:nvPr/>
        </p:nvSpPr>
        <p:spPr bwMode="gray">
          <a:xfrm>
            <a:off x="8001000" y="2552700"/>
            <a:ext cx="381000" cy="5334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000"/>
              <a:t>n</a:t>
            </a:r>
            <a:endParaRPr lang="en-US" altLang="zh-CN" sz="1000"/>
          </a:p>
        </p:txBody>
      </p:sp>
      <p:grpSp>
        <p:nvGrpSpPr>
          <p:cNvPr id="95389" name="Group 157"/>
          <p:cNvGrpSpPr/>
          <p:nvPr/>
        </p:nvGrpSpPr>
        <p:grpSpPr bwMode="auto">
          <a:xfrm>
            <a:off x="8737600" y="3200401"/>
            <a:ext cx="990600" cy="1381125"/>
            <a:chOff x="2919" y="1968"/>
            <a:chExt cx="624" cy="870"/>
          </a:xfrm>
        </p:grpSpPr>
        <p:sp>
          <p:nvSpPr>
            <p:cNvPr id="43048" name="Rectangle 158"/>
            <p:cNvSpPr>
              <a:spLocks noChangeArrowheads="1"/>
            </p:cNvSpPr>
            <p:nvPr/>
          </p:nvSpPr>
          <p:spPr bwMode="gray">
            <a:xfrm>
              <a:off x="2919" y="2550"/>
              <a:ext cx="6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t>指针</a:t>
              </a:r>
              <a:r>
                <a:rPr lang="en-US" altLang="zh-CN" sz="1800"/>
                <a:t>p</a:t>
              </a:r>
              <a:endParaRPr lang="en-US" altLang="zh-CN" sz="1800"/>
            </a:p>
          </p:txBody>
        </p:sp>
        <p:grpSp>
          <p:nvGrpSpPr>
            <p:cNvPr id="43049" name="Group 159"/>
            <p:cNvGrpSpPr/>
            <p:nvPr/>
          </p:nvGrpSpPr>
          <p:grpSpPr bwMode="auto">
            <a:xfrm>
              <a:off x="2955" y="1968"/>
              <a:ext cx="336" cy="612"/>
              <a:chOff x="2955" y="1968"/>
              <a:chExt cx="336" cy="612"/>
            </a:xfrm>
          </p:grpSpPr>
          <p:sp>
            <p:nvSpPr>
              <p:cNvPr id="43050" name="Rectangle 160"/>
              <p:cNvSpPr>
                <a:spLocks noChangeArrowheads="1"/>
              </p:cNvSpPr>
              <p:nvPr/>
            </p:nvSpPr>
            <p:spPr bwMode="gray">
              <a:xfrm>
                <a:off x="2955" y="2292"/>
                <a:ext cx="336" cy="288"/>
              </a:xfrm>
              <a:prstGeom prst="rect">
                <a:avLst/>
              </a:prstGeom>
              <a:solidFill>
                <a:srgbClr val="92D05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endParaRPr lang="en-US" altLang="zh-CN" sz="1000"/>
              </a:p>
            </p:txBody>
          </p:sp>
          <p:sp>
            <p:nvSpPr>
              <p:cNvPr id="43051" name="Line 161"/>
              <p:cNvSpPr>
                <a:spLocks noChangeShapeType="1"/>
              </p:cNvSpPr>
              <p:nvPr/>
            </p:nvSpPr>
            <p:spPr bwMode="gray">
              <a:xfrm flipV="1">
                <a:off x="3072" y="1968"/>
                <a:ext cx="0"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5" name="文本框 4"/>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95279"/>
                                        </p:tgtEl>
                                        <p:attrNameLst>
                                          <p:attrName>style.visibility</p:attrName>
                                        </p:attrNameLst>
                                      </p:cBhvr>
                                      <p:to>
                                        <p:strVal val="visible"/>
                                      </p:to>
                                    </p:set>
                                    <p:animEffect transition="in" filter="barn(inHorizontal)">
                                      <p:cBhvr>
                                        <p:cTn id="7" dur="500"/>
                                        <p:tgtEl>
                                          <p:spTgt spid="952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95279"/>
                                        </p:tgtEl>
                                      </p:cBhvr>
                                    </p:animEffect>
                                    <p:set>
                                      <p:cBhvr>
                                        <p:cTn id="12" dur="1" fill="hold">
                                          <p:stCondLst>
                                            <p:cond delay="499"/>
                                          </p:stCondLst>
                                        </p:cTn>
                                        <p:tgtEl>
                                          <p:spTgt spid="9527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95285"/>
                                        </p:tgtEl>
                                        <p:attrNameLst>
                                          <p:attrName>style.visibility</p:attrName>
                                        </p:attrNameLst>
                                      </p:cBhvr>
                                      <p:to>
                                        <p:strVal val="visible"/>
                                      </p:to>
                                    </p:set>
                                    <p:animEffect transition="in" filter="barn(inHorizontal)">
                                      <p:cBhvr>
                                        <p:cTn id="17" dur="500"/>
                                        <p:tgtEl>
                                          <p:spTgt spid="95285"/>
                                        </p:tgtEl>
                                      </p:cBhvr>
                                    </p:animEffect>
                                  </p:childTnLst>
                                </p:cTn>
                              </p:par>
                              <p:par>
                                <p:cTn id="18" presetID="16" presetClass="entr" presetSubtype="26" fill="hold" grpId="0" nodeType="withEffect">
                                  <p:stCondLst>
                                    <p:cond delay="0"/>
                                  </p:stCondLst>
                                  <p:childTnLst>
                                    <p:set>
                                      <p:cBhvr>
                                        <p:cTn id="19" dur="1" fill="hold">
                                          <p:stCondLst>
                                            <p:cond delay="0"/>
                                          </p:stCondLst>
                                        </p:cTn>
                                        <p:tgtEl>
                                          <p:spTgt spid="95286"/>
                                        </p:tgtEl>
                                        <p:attrNameLst>
                                          <p:attrName>style.visibility</p:attrName>
                                        </p:attrNameLst>
                                      </p:cBhvr>
                                      <p:to>
                                        <p:strVal val="visible"/>
                                      </p:to>
                                    </p:set>
                                    <p:animEffect transition="in" filter="barn(inHorizontal)">
                                      <p:cBhvr>
                                        <p:cTn id="20" dur="500"/>
                                        <p:tgtEl>
                                          <p:spTgt spid="95286"/>
                                        </p:tgtEl>
                                      </p:cBhvr>
                                    </p:animEffect>
                                  </p:childTnLst>
                                </p:cTn>
                              </p:par>
                            </p:childTnLst>
                          </p:cTn>
                        </p:par>
                        <p:par>
                          <p:cTn id="21" fill="hold">
                            <p:stCondLst>
                              <p:cond delay="500"/>
                            </p:stCondLst>
                            <p:childTnLst>
                              <p:par>
                                <p:cTn id="22" presetID="3" presetClass="exit" presetSubtype="10" fill="hold" grpId="0" nodeType="afterEffect">
                                  <p:stCondLst>
                                    <p:cond delay="0"/>
                                  </p:stCondLst>
                                  <p:childTnLst>
                                    <p:animEffect transition="out" filter="blinds(horizontal)">
                                      <p:cBhvr>
                                        <p:cTn id="23" dur="500"/>
                                        <p:tgtEl>
                                          <p:spTgt spid="95266"/>
                                        </p:tgtEl>
                                      </p:cBhvr>
                                    </p:animEffect>
                                    <p:set>
                                      <p:cBhvr>
                                        <p:cTn id="24" dur="1" fill="hold">
                                          <p:stCondLst>
                                            <p:cond delay="499"/>
                                          </p:stCondLst>
                                        </p:cTn>
                                        <p:tgtEl>
                                          <p:spTgt spid="95266"/>
                                        </p:tgtEl>
                                        <p:attrNameLst>
                                          <p:attrName>style.visibility</p:attrName>
                                        </p:attrNameLst>
                                      </p:cBhvr>
                                      <p:to>
                                        <p:strVal val="hidden"/>
                                      </p:to>
                                    </p:set>
                                  </p:childTnLst>
                                </p:cTn>
                              </p:par>
                            </p:childTnLst>
                          </p:cTn>
                        </p:par>
                        <p:par>
                          <p:cTn id="25" fill="hold">
                            <p:stCondLst>
                              <p:cond delay="1000"/>
                            </p:stCondLst>
                            <p:childTnLst>
                              <p:par>
                                <p:cTn id="26" presetID="16" presetClass="entr" presetSubtype="26" fill="hold" grpId="0" nodeType="afterEffect">
                                  <p:stCondLst>
                                    <p:cond delay="0"/>
                                  </p:stCondLst>
                                  <p:childTnLst>
                                    <p:set>
                                      <p:cBhvr>
                                        <p:cTn id="27" dur="1" fill="hold">
                                          <p:stCondLst>
                                            <p:cond delay="0"/>
                                          </p:stCondLst>
                                        </p:cTn>
                                        <p:tgtEl>
                                          <p:spTgt spid="95378"/>
                                        </p:tgtEl>
                                        <p:attrNameLst>
                                          <p:attrName>style.visibility</p:attrName>
                                        </p:attrNameLst>
                                      </p:cBhvr>
                                      <p:to>
                                        <p:strVal val="visible"/>
                                      </p:to>
                                    </p:set>
                                    <p:animEffect transition="in" filter="barn(inHorizontal)">
                                      <p:cBhvr>
                                        <p:cTn id="28" dur="500"/>
                                        <p:tgtEl>
                                          <p:spTgt spid="95378"/>
                                        </p:tgtEl>
                                      </p:cBhvr>
                                    </p:animEffect>
                                  </p:childTnLst>
                                </p:cTn>
                              </p:par>
                            </p:childTnLst>
                          </p:cTn>
                        </p:par>
                        <p:par>
                          <p:cTn id="29" fill="hold">
                            <p:stCondLst>
                              <p:cond delay="1500"/>
                            </p:stCondLst>
                            <p:childTnLst>
                              <p:par>
                                <p:cTn id="30" presetID="16" presetClass="entr" presetSubtype="26" fill="hold" nodeType="afterEffect">
                                  <p:stCondLst>
                                    <p:cond delay="0"/>
                                  </p:stCondLst>
                                  <p:childTnLst>
                                    <p:set>
                                      <p:cBhvr>
                                        <p:cTn id="31" dur="1" fill="hold">
                                          <p:stCondLst>
                                            <p:cond delay="0"/>
                                          </p:stCondLst>
                                        </p:cTn>
                                        <p:tgtEl>
                                          <p:spTgt spid="95389"/>
                                        </p:tgtEl>
                                        <p:attrNameLst>
                                          <p:attrName>style.visibility</p:attrName>
                                        </p:attrNameLst>
                                      </p:cBhvr>
                                      <p:to>
                                        <p:strVal val="visible"/>
                                      </p:to>
                                    </p:set>
                                    <p:animEffect transition="in" filter="barn(inHorizontal)">
                                      <p:cBhvr>
                                        <p:cTn id="32" dur="500"/>
                                        <p:tgtEl>
                                          <p:spTgt spid="95389"/>
                                        </p:tgtEl>
                                      </p:cBhvr>
                                    </p:animEffect>
                                  </p:childTnLst>
                                </p:cTn>
                              </p:par>
                              <p:par>
                                <p:cTn id="33" presetID="3" presetClass="exit" presetSubtype="10" fill="hold" grpId="0" nodeType="withEffect">
                                  <p:stCondLst>
                                    <p:cond delay="0"/>
                                  </p:stCondLst>
                                  <p:childTnLst>
                                    <p:animEffect transition="out" filter="blinds(horizontal)">
                                      <p:cBhvr>
                                        <p:cTn id="34" dur="500"/>
                                        <p:tgtEl>
                                          <p:spTgt spid="95376"/>
                                        </p:tgtEl>
                                      </p:cBhvr>
                                    </p:animEffect>
                                    <p:set>
                                      <p:cBhvr>
                                        <p:cTn id="35" dur="1" fill="hold">
                                          <p:stCondLst>
                                            <p:cond delay="499"/>
                                          </p:stCondLst>
                                        </p:cTn>
                                        <p:tgtEl>
                                          <p:spTgt spid="9537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6" presetClass="entr" presetSubtype="26" fill="hold" grpId="0" nodeType="clickEffect">
                                  <p:stCondLst>
                                    <p:cond delay="0"/>
                                  </p:stCondLst>
                                  <p:childTnLst>
                                    <p:set>
                                      <p:cBhvr>
                                        <p:cTn id="39" dur="1" fill="hold">
                                          <p:stCondLst>
                                            <p:cond delay="0"/>
                                          </p:stCondLst>
                                        </p:cTn>
                                        <p:tgtEl>
                                          <p:spTgt spid="95288"/>
                                        </p:tgtEl>
                                        <p:attrNameLst>
                                          <p:attrName>style.visibility</p:attrName>
                                        </p:attrNameLst>
                                      </p:cBhvr>
                                      <p:to>
                                        <p:strVal val="visible"/>
                                      </p:to>
                                    </p:set>
                                    <p:animEffect transition="in" filter="barn(inHorizontal)">
                                      <p:cBhvr>
                                        <p:cTn id="40" dur="500"/>
                                        <p:tgtEl>
                                          <p:spTgt spid="95288"/>
                                        </p:tgtEl>
                                      </p:cBhvr>
                                    </p:animEffect>
                                  </p:childTnLst>
                                </p:cTn>
                              </p:par>
                            </p:childTnLst>
                          </p:cTn>
                        </p:par>
                      </p:childTnLst>
                    </p:cTn>
                  </p:par>
                  <p:par>
                    <p:cTn id="41" fill="hold">
                      <p:stCondLst>
                        <p:cond delay="indefinite"/>
                      </p:stCondLst>
                      <p:childTnLst>
                        <p:par>
                          <p:cTn id="42" fill="hold">
                            <p:stCondLst>
                              <p:cond delay="0"/>
                            </p:stCondLst>
                            <p:childTnLst>
                              <p:par>
                                <p:cTn id="43" presetID="63" presetClass="path" presetSubtype="0" accel="50000" decel="50000" fill="hold" nodeType="clickEffect">
                                  <p:stCondLst>
                                    <p:cond delay="0"/>
                                  </p:stCondLst>
                                  <p:childTnLst>
                                    <p:animMotion origin="layout" path="M 0 0 L 0.25 0 E" pathEditMode="relative" ptsTypes="">
                                      <p:cBhvr>
                                        <p:cTn id="44" dur="2000" fill="hold"/>
                                        <p:tgtEl>
                                          <p:spTgt spid="9527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6" grpId="0"/>
      <p:bldP spid="95285" grpId="0" animBg="1"/>
      <p:bldP spid="95286" grpId="0" animBg="1"/>
      <p:bldP spid="95288" grpId="0" animBg="1"/>
      <p:bldP spid="95376" grpId="0"/>
      <p:bldP spid="9537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p:nvPr/>
        </p:nvSpPr>
        <p:spPr bwMode="gray">
          <a:xfrm>
            <a:off x="522514" y="1031786"/>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在顺序表中删除第</a:t>
            </a:r>
            <a:r>
              <a:rPr lang="en-US" altLang="zh-CN" sz="2000" b="0" dirty="0" err="1">
                <a:latin typeface="微软雅黑" panose="020B0503020204020204" pitchFamily="34" charset="-122"/>
                <a:ea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rPr>
              <a:t>个数据元素</a:t>
            </a:r>
            <a:endParaRPr lang="zh-CN" altLang="en-US" sz="2000" b="0" dirty="0">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713014" y="1505305"/>
            <a:ext cx="8039100" cy="4917021"/>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lgn="l">
              <a:spcBef>
                <a:spcPct val="20000"/>
              </a:spcBef>
              <a:buClrTx/>
              <a:buSzTx/>
              <a:buFontTx/>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//函数在顺序表中删除第i个数据元素并用e返回（i的合法值为1≤i≤Len）</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rPr>
              <a:t>template &lt;class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bool </a:t>
            </a:r>
            <a:r>
              <a:rPr lang="en-US" altLang="zh-CN" b="0" dirty="0" err="1">
                <a:latin typeface="Times New Roman" panose="02020603050405020304" pitchFamily="18" charset="0"/>
              </a:rPr>
              <a:t>SqList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&gt;::Delete(</a:t>
            </a:r>
            <a:r>
              <a:rPr lang="en-US" altLang="zh-CN" b="0" dirty="0" err="1">
                <a:latin typeface="Times New Roman" panose="02020603050405020304" pitchFamily="18" charset="0"/>
              </a:rPr>
              <a:t>ElemType</a:t>
            </a:r>
            <a:r>
              <a:rPr lang="en-US" altLang="zh-CN" b="0" dirty="0">
                <a:latin typeface="Times New Roman" panose="02020603050405020304" pitchFamily="18" charset="0"/>
              </a:rPr>
              <a:t> &amp;e, int </a:t>
            </a:r>
            <a:r>
              <a:rPr lang="en-US" altLang="zh-CN" b="0" dirty="0" err="1">
                <a:latin typeface="Times New Roman" panose="02020603050405020304" pitchFamily="18" charset="0"/>
              </a:rPr>
              <a:t>i</a:t>
            </a: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if (</a:t>
            </a:r>
            <a:r>
              <a:rPr lang="en-US" altLang="zh-CN" b="0" dirty="0" err="1">
                <a:latin typeface="Times New Roman" panose="02020603050405020304" pitchFamily="18" charset="0"/>
              </a:rPr>
              <a:t>i</a:t>
            </a:r>
            <a:r>
              <a:rPr lang="en-US" altLang="zh-CN" b="0" dirty="0">
                <a:latin typeface="Times New Roman" panose="02020603050405020304" pitchFamily="18" charset="0"/>
              </a:rPr>
              <a:t> &lt; 1 || </a:t>
            </a:r>
            <a:r>
              <a:rPr lang="en-US" altLang="zh-CN" b="0" dirty="0" err="1">
                <a:latin typeface="Times New Roman" panose="02020603050405020304" pitchFamily="18" charset="0"/>
              </a:rPr>
              <a:t>i</a:t>
            </a:r>
            <a:r>
              <a:rPr lang="en-US" altLang="zh-CN" b="0" dirty="0">
                <a:latin typeface="Times New Roman" panose="02020603050405020304" pitchFamily="18" charset="0"/>
              </a:rPr>
              <a:t> &gt; </a:t>
            </a:r>
            <a:r>
              <a:rPr lang="en-US" altLang="zh-CN" b="0" dirty="0" err="1">
                <a:latin typeface="Times New Roman" panose="02020603050405020304" pitchFamily="18" charset="0"/>
              </a:rPr>
              <a:t>len</a:t>
            </a: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algn="l">
              <a:spcBef>
                <a:spcPct val="20000"/>
              </a:spcBef>
              <a:buClrTx/>
              <a:buSzTx/>
              <a:buFontTx/>
              <a:defRPr/>
            </a:pPr>
            <a:r>
              <a:rPr lang="en-US" altLang="zh-CN" b="0" dirty="0">
                <a:latin typeface="Times New Roman" panose="02020603050405020304" pitchFamily="18" charset="0"/>
              </a:rPr>
              <a:t>        return false;</a:t>
            </a:r>
            <a:r>
              <a:rPr lang="zh-CN" altLang="en-US" b="0" dirty="0">
                <a:latin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删除位置i值不合法</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zh-CN" altLang="en-US" b="0" dirty="0">
                <a:latin typeface="Times New Roman" panose="02020603050405020304" pitchFamily="18" charset="0"/>
              </a:rPr>
              <a:t>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 *p,*q; </a:t>
            </a:r>
            <a:endParaRPr lang="en-US" altLang="zh-CN" b="0" dirty="0">
              <a:latin typeface="Times New Roman" panose="02020603050405020304" pitchFamily="18" charset="0"/>
            </a:endParaRPr>
          </a:p>
          <a:p>
            <a:pPr algn="l">
              <a:spcBef>
                <a:spcPct val="20000"/>
              </a:spcBef>
              <a:buClrTx/>
              <a:buSzTx/>
              <a:buFontTx/>
              <a:defRPr/>
            </a:pPr>
            <a:r>
              <a:rPr lang="en-US" altLang="zh-CN" b="0" dirty="0">
                <a:latin typeface="Times New Roman" panose="02020603050405020304" pitchFamily="18" charset="0"/>
              </a:rPr>
              <a:t>   p = &amp;</a:t>
            </a:r>
            <a:r>
              <a:rPr lang="en-US" altLang="zh-CN" b="0" dirty="0" err="1">
                <a:latin typeface="Times New Roman" panose="02020603050405020304" pitchFamily="18" charset="0"/>
              </a:rPr>
              <a:t>elem</a:t>
            </a:r>
            <a:r>
              <a:rPr lang="en-US" altLang="zh-CN" b="0" dirty="0">
                <a:latin typeface="Times New Roman" panose="02020603050405020304" pitchFamily="18" charset="0"/>
              </a:rPr>
              <a:t>[</a:t>
            </a:r>
            <a:r>
              <a:rPr lang="en-US" altLang="zh-CN" b="0" dirty="0" err="1">
                <a:latin typeface="Times New Roman" panose="02020603050405020304" pitchFamily="18" charset="0"/>
              </a:rPr>
              <a:t>i</a:t>
            </a:r>
            <a:r>
              <a:rPr lang="en-US" altLang="zh-CN" b="0" dirty="0">
                <a:latin typeface="Times New Roman" panose="02020603050405020304" pitchFamily="18" charset="0"/>
              </a:rPr>
              <a:t> - 1];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p为删除位置指针</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lgn="l">
              <a:spcBef>
                <a:spcPct val="20000"/>
              </a:spcBef>
              <a:buClrTx/>
              <a:buSzTx/>
              <a:buFontTx/>
              <a:defRPr/>
            </a:pPr>
            <a:r>
              <a:rPr lang="zh-CN" altLang="en-US" b="0" dirty="0">
                <a:latin typeface="Times New Roman" panose="02020603050405020304" pitchFamily="18" charset="0"/>
              </a:rPr>
              <a:t>    </a:t>
            </a:r>
            <a:r>
              <a:rPr lang="en-US" altLang="zh-CN" b="0" dirty="0">
                <a:latin typeface="Times New Roman" panose="02020603050405020304" pitchFamily="18" charset="0"/>
              </a:rPr>
              <a:t>e = *p;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被删除数据元素的值赋给e</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rPr>
              <a:t>    q = </a:t>
            </a:r>
            <a:r>
              <a:rPr lang="en-US" altLang="zh-CN" b="0" dirty="0" err="1">
                <a:latin typeface="Times New Roman" panose="02020603050405020304" pitchFamily="18" charset="0"/>
              </a:rPr>
              <a:t>elem</a:t>
            </a:r>
            <a:r>
              <a:rPr lang="en-US" altLang="zh-CN" b="0" dirty="0">
                <a:latin typeface="Times New Roman" panose="02020603050405020304" pitchFamily="18" charset="0"/>
              </a:rPr>
              <a:t> + </a:t>
            </a:r>
            <a:r>
              <a:rPr lang="en-US" altLang="zh-CN" b="0" dirty="0" err="1">
                <a:latin typeface="Times New Roman" panose="02020603050405020304" pitchFamily="18" charset="0"/>
              </a:rPr>
              <a:t>len</a:t>
            </a:r>
            <a:r>
              <a:rPr lang="en-US" altLang="zh-CN" b="0" dirty="0">
                <a:latin typeface="Times New Roman" panose="02020603050405020304" pitchFamily="18" charset="0"/>
              </a:rPr>
              <a:t> - 1;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 q</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为表尾位置指针</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zh-CN" altLang="en-US" b="0" dirty="0">
                <a:latin typeface="Times New Roman" panose="02020603050405020304" pitchFamily="18" charset="0"/>
              </a:rPr>
              <a:t>    </a:t>
            </a:r>
            <a:r>
              <a:rPr lang="en-US" altLang="zh-CN" b="0" dirty="0">
                <a:latin typeface="Times New Roman" panose="02020603050405020304" pitchFamily="18" charset="0"/>
              </a:rPr>
              <a:t>for (++p; p &lt;= q; ++p)  </a:t>
            </a:r>
            <a:endParaRPr lang="en-US" altLang="zh-CN" b="0" dirty="0">
              <a:latin typeface="Times New Roman" panose="02020603050405020304" pitchFamily="18" charset="0"/>
            </a:endParaRPr>
          </a:p>
          <a:p>
            <a:pPr algn="l">
              <a:spcBef>
                <a:spcPct val="20000"/>
              </a:spcBef>
              <a:buClrTx/>
              <a:buSzTx/>
              <a:buFontTx/>
              <a:defRPr/>
            </a:pPr>
            <a:r>
              <a:rPr lang="en-US" altLang="zh-CN" b="0" dirty="0">
                <a:latin typeface="Times New Roman" panose="02020603050405020304" pitchFamily="18" charset="0"/>
              </a:rPr>
              <a:t>        *(p - 1) = *p;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被删数据元素之后的数据元素前移</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lgn="l">
              <a:spcBef>
                <a:spcPct val="20000"/>
              </a:spcBef>
              <a:buClrTx/>
              <a:buSzTx/>
              <a:buFontTx/>
              <a:defRPr/>
            </a:pPr>
            <a:r>
              <a:rPr lang="zh-CN" altLang="en-US" b="0" dirty="0">
                <a:latin typeface="Times New Roman" panose="02020603050405020304" pitchFamily="18" charset="0"/>
              </a:rPr>
              <a:t>    </a:t>
            </a:r>
            <a:r>
              <a:rPr lang="en-US" altLang="zh-CN" b="0" dirty="0">
                <a:latin typeface="Times New Roman" panose="02020603050405020304" pitchFamily="18" charset="0"/>
              </a:rPr>
              <a:t>--</a:t>
            </a:r>
            <a:r>
              <a:rPr lang="en-US" altLang="zh-CN" b="0" dirty="0" err="1">
                <a:latin typeface="Times New Roman" panose="02020603050405020304" pitchFamily="18" charset="0"/>
              </a:rPr>
              <a:t>len</a:t>
            </a:r>
            <a:r>
              <a:rPr lang="en-US" altLang="zh-CN" b="0" dirty="0">
                <a:latin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表长减1</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rPr>
              <a:t>    return true;</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a:t>
            </a:r>
            <a:r>
              <a:rPr lang="en-US" altLang="zh-CN"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顺序表删除一个元素算法的时间复杂度</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
        <p:nvSpPr>
          <p:cNvPr id="10" name="Rectangle 4"/>
          <p:cNvSpPr>
            <a:spLocks noChangeArrowheads="1"/>
          </p:cNvSpPr>
          <p:nvPr/>
        </p:nvSpPr>
        <p:spPr bwMode="auto">
          <a:xfrm>
            <a:off x="782310" y="1661940"/>
            <a:ext cx="6781800" cy="4419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endParaRPr lang="zh-CN" altLang="en-US" sz="1800" b="0" dirty="0">
              <a:solidFill>
                <a:srgbClr val="000066"/>
              </a:solidFill>
              <a:latin typeface="Times New Roman" panose="02020603050405020304" pitchFamily="18" charset="0"/>
            </a:endParaRPr>
          </a:p>
        </p:txBody>
      </p:sp>
      <p:graphicFrame>
        <p:nvGraphicFramePr>
          <p:cNvPr id="11" name="Object 3"/>
          <p:cNvGraphicFramePr>
            <a:graphicFrameLocks noChangeAspect="1"/>
          </p:cNvGraphicFramePr>
          <p:nvPr/>
        </p:nvGraphicFramePr>
        <p:xfrm>
          <a:off x="1007211" y="1793786"/>
          <a:ext cx="6172200" cy="4114800"/>
        </p:xfrm>
        <a:graphic>
          <a:graphicData uri="http://schemas.openxmlformats.org/presentationml/2006/ole">
            <mc:AlternateContent xmlns:mc="http://schemas.openxmlformats.org/markup-compatibility/2006">
              <mc:Choice xmlns:v="urn:schemas-microsoft-com:vml" Requires="v">
                <p:oleObj spid="_x0000_s0" name="公式" r:id="rId1" imgW="3695700" imgH="2463800" progId="Equation.3">
                  <p:embed/>
                </p:oleObj>
              </mc:Choice>
              <mc:Fallback>
                <p:oleObj name="公式" r:id="rId1" imgW="3695700" imgH="2463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211" y="1793786"/>
                        <a:ext cx="6172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内容占位符 2"/>
          <p:cNvSpPr txBox="1"/>
          <p:nvPr/>
        </p:nvSpPr>
        <p:spPr>
          <a:xfrm>
            <a:off x="522514" y="1031786"/>
            <a:ext cx="8229600" cy="434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顺序表的遍历</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680357" y="1755686"/>
            <a:ext cx="82296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t>// </a:t>
            </a:r>
            <a:r>
              <a:rPr lang="zh-CN" altLang="en-US" sz="1800" b="0" dirty="0">
                <a:latin typeface="微软雅黑" panose="020B0503020204020204" pitchFamily="34" charset="-122"/>
                <a:ea typeface="微软雅黑" panose="020B0503020204020204" pitchFamily="34" charset="-122"/>
              </a:rPr>
              <a:t>重载</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运算符</a:t>
            </a:r>
            <a:endParaRPr lang="zh-CN" altLang="en-US" sz="1800" b="0" dirty="0">
              <a:latin typeface="微软雅黑" panose="020B0503020204020204" pitchFamily="34" charset="-122"/>
              <a:ea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void </a:t>
            </a:r>
            <a:r>
              <a:rPr lang="en-US" altLang="zh-CN" sz="1800" b="0" dirty="0" err="1">
                <a:latin typeface="Times New Roman" panose="02020603050405020304" pitchFamily="18" charset="0"/>
                <a:cs typeface="Times New Roman" panose="02020603050405020304" pitchFamily="18" charset="0"/>
              </a:rPr>
              <a:t>SqList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::Traverse(void (*visit)(</a:t>
            </a:r>
            <a:r>
              <a:rPr lang="en-US" altLang="zh-CN" sz="1800" b="0" dirty="0" err="1">
                <a:latin typeface="Times New Roman" panose="02020603050405020304" pitchFamily="18" charset="0"/>
                <a:cs typeface="Times New Roman" panose="02020603050405020304" pitchFamily="18" charset="0"/>
              </a:rPr>
              <a:t>const</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 &amp;e)) </a:t>
            </a:r>
            <a:r>
              <a:rPr lang="en-US" altLang="zh-CN" sz="1800" b="0" dirty="0" err="1">
                <a:latin typeface="Times New Roman" panose="02020603050405020304" pitchFamily="18" charset="0"/>
                <a:cs typeface="Times New Roman" panose="02020603050405020304" pitchFamily="18" charset="0"/>
              </a:rPr>
              <a:t>const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 *p=</a:t>
            </a:r>
            <a:r>
              <a:rPr lang="en-US" altLang="zh-CN" sz="1800" b="0" dirty="0" err="1">
                <a:latin typeface="Times New Roman" panose="02020603050405020304" pitchFamily="18" charset="0"/>
                <a:cs typeface="Times New Roman" panose="02020603050405020304" pitchFamily="18" charset="0"/>
              </a:rPr>
              <a:t>elem</a:t>
            </a: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for(</a:t>
            </a:r>
            <a:r>
              <a:rPr lang="en-US" altLang="zh-CN" sz="1800" b="0" dirty="0" err="1">
                <a:latin typeface="Times New Roman" panose="02020603050405020304" pitchFamily="18" charset="0"/>
                <a:cs typeface="Times New Roman" panose="02020603050405020304" pitchFamily="18" charset="0"/>
              </a:rPr>
              <a:t>int</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i</a:t>
            </a:r>
            <a:r>
              <a:rPr lang="en-US" altLang="zh-CN" sz="1800" b="0" dirty="0">
                <a:latin typeface="Times New Roman" panose="02020603050405020304" pitchFamily="18" charset="0"/>
                <a:cs typeface="Times New Roman" panose="02020603050405020304" pitchFamily="18" charset="0"/>
              </a:rPr>
              <a:t>=0; </a:t>
            </a:r>
            <a:r>
              <a:rPr lang="en-US" altLang="zh-CN" sz="1800" b="0" dirty="0" err="1">
                <a:latin typeface="Times New Roman" panose="02020603050405020304" pitchFamily="18" charset="0"/>
                <a:cs typeface="Times New Roman" panose="02020603050405020304" pitchFamily="18" charset="0"/>
              </a:rPr>
              <a:t>i</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len</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i</a:t>
            </a: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visit(*p++);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endParaRPr lang="zh-CN" altLang="en-US" sz="18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内容占位符 2"/>
          <p:cNvSpPr txBox="1"/>
          <p:nvPr/>
        </p:nvSpPr>
        <p:spPr>
          <a:xfrm>
            <a:off x="392806" y="1088515"/>
            <a:ext cx="8229600" cy="434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赋值运算符</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的重载</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652222" y="1758043"/>
            <a:ext cx="82296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t>// </a:t>
            </a:r>
            <a:r>
              <a:rPr lang="zh-CN" altLang="en-US" sz="1800" b="0" dirty="0">
                <a:latin typeface="微软雅黑" panose="020B0503020204020204" pitchFamily="34" charset="-122"/>
                <a:ea typeface="微软雅黑" panose="020B0503020204020204" pitchFamily="34" charset="-122"/>
              </a:rPr>
              <a:t>重载</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运算符</a:t>
            </a:r>
            <a:endParaRPr lang="zh-CN" altLang="en-US" sz="1800" b="0" dirty="0">
              <a:latin typeface="微软雅黑" panose="020B0503020204020204" pitchFamily="34" charset="-122"/>
              <a:ea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err="1">
                <a:latin typeface="Times New Roman" panose="02020603050405020304" pitchFamily="18" charset="0"/>
                <a:cs typeface="Times New Roman" panose="02020603050405020304" pitchFamily="18" charset="0"/>
              </a:rPr>
              <a:t>SqList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a:t>
            </a:r>
            <a:r>
              <a:rPr lang="en-US" altLang="zh-CN" sz="1800" b="0" dirty="0" err="1">
                <a:latin typeface="Times New Roman" panose="02020603050405020304" pitchFamily="18" charset="0"/>
                <a:cs typeface="Times New Roman" panose="02020603050405020304" pitchFamily="18" charset="0"/>
              </a:rPr>
              <a:t>SqList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::operator=(const </a:t>
            </a:r>
            <a:r>
              <a:rPr lang="en-US" altLang="zh-CN" sz="1800" b="0" dirty="0" err="1">
                <a:latin typeface="Times New Roman" panose="02020603050405020304" pitchFamily="18" charset="0"/>
                <a:cs typeface="Times New Roman" panose="02020603050405020304" pitchFamily="18" charset="0"/>
              </a:rPr>
              <a:t>SqList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&amp;r)</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Clear();</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CopyFrom</a:t>
            </a:r>
            <a:r>
              <a:rPr lang="en-US" altLang="zh-CN" sz="1800" b="0" dirty="0">
                <a:latin typeface="Times New Roman" panose="02020603050405020304" pitchFamily="18" charset="0"/>
                <a:cs typeface="Times New Roman" panose="02020603050405020304" pitchFamily="18" charset="0"/>
              </a:rPr>
              <a:t>(r);</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return *this;</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endParaRPr lang="zh-CN" altLang="en-US" sz="18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内容占位符 2"/>
          <p:cNvSpPr txBox="1"/>
          <p:nvPr/>
        </p:nvSpPr>
        <p:spPr>
          <a:xfrm>
            <a:off x="522514" y="1031786"/>
            <a:ext cx="8229600" cy="434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err="1">
                <a:latin typeface="微软雅黑" panose="020B0503020204020204" pitchFamily="34" charset="-122"/>
                <a:ea typeface="微软雅黑" panose="020B0503020204020204" pitchFamily="34" charset="-122"/>
              </a:rPr>
              <a:t>CopyFrom</a:t>
            </a:r>
            <a:r>
              <a:rPr lang="zh-CN" altLang="en-US" sz="2000" dirty="0">
                <a:latin typeface="微软雅黑" panose="020B0503020204020204" pitchFamily="34" charset="-122"/>
                <a:ea typeface="微软雅黑" panose="020B0503020204020204" pitchFamily="34" charset="-122"/>
              </a:rPr>
              <a:t>函数 </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13014" y="1614167"/>
            <a:ext cx="78486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从现有的一个顺序表中复制所有的元素</a:t>
            </a:r>
            <a:endParaRPr lang="zh-CN" altLang="en-US" sz="1800" b="0" dirty="0">
              <a:latin typeface="微软雅黑" panose="020B0503020204020204" pitchFamily="34" charset="-122"/>
              <a:ea typeface="微软雅黑" panose="020B0503020204020204" pitchFamily="34" charset="-122"/>
            </a:endParaRPr>
          </a:p>
          <a:p>
            <a:pPr>
              <a:spcBef>
                <a:spcPct val="20000"/>
              </a:spcBef>
              <a:defRPr/>
            </a:pPr>
            <a:r>
              <a:rPr lang="en-US" altLang="zh-CN" sz="1800" b="0" dirty="0">
                <a:latin typeface="Times New Roman" panose="02020603050405020304" pitchFamily="18" charset="0"/>
              </a:rPr>
              <a:t>template &lt;class </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&gt;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void </a:t>
            </a:r>
            <a:r>
              <a:rPr lang="en-US" altLang="zh-CN" sz="1800" b="0" dirty="0" err="1">
                <a:latin typeface="Times New Roman" panose="02020603050405020304" pitchFamily="18" charset="0"/>
              </a:rPr>
              <a:t>SqList</a:t>
            </a:r>
            <a:r>
              <a:rPr lang="en-US" altLang="zh-CN" sz="1800" b="0" dirty="0">
                <a:latin typeface="Times New Roman" panose="02020603050405020304" pitchFamily="18" charset="0"/>
              </a:rPr>
              <a:t>&lt;</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&gt;::</a:t>
            </a:r>
            <a:r>
              <a:rPr lang="en-US" altLang="zh-CN" sz="1800" b="0" dirty="0" err="1">
                <a:latin typeface="Times New Roman" panose="02020603050405020304" pitchFamily="18" charset="0"/>
              </a:rPr>
              <a:t>CopyFrom</a:t>
            </a:r>
            <a:r>
              <a:rPr lang="en-US" altLang="zh-CN" sz="1800" b="0" dirty="0">
                <a:latin typeface="Times New Roman" panose="02020603050405020304" pitchFamily="18" charset="0"/>
              </a:rPr>
              <a:t>(const </a:t>
            </a:r>
            <a:r>
              <a:rPr lang="en-US" altLang="zh-CN" sz="1800" b="0" dirty="0" err="1">
                <a:latin typeface="Times New Roman" panose="02020603050405020304" pitchFamily="18" charset="0"/>
              </a:rPr>
              <a:t>SqList</a:t>
            </a:r>
            <a:r>
              <a:rPr lang="en-US" altLang="zh-CN" sz="1800" b="0" dirty="0">
                <a:latin typeface="Times New Roman" panose="02020603050405020304" pitchFamily="18" charset="0"/>
              </a:rPr>
              <a:t>&lt;</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&gt; &amp;r)</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a:t>
            </a:r>
            <a:r>
              <a:rPr lang="en-US" altLang="zh-CN" sz="1800" b="0" dirty="0" err="1">
                <a:latin typeface="Times New Roman" panose="02020603050405020304" pitchFamily="18" charset="0"/>
              </a:rPr>
              <a:t>ElemType</a:t>
            </a:r>
            <a:r>
              <a:rPr lang="en-US" altLang="zh-CN" sz="1800" b="0" dirty="0">
                <a:latin typeface="Times New Roman" panose="02020603050405020304" pitchFamily="18" charset="0"/>
              </a:rPr>
              <a:t> *p = </a:t>
            </a:r>
            <a:r>
              <a:rPr lang="en-US" altLang="zh-CN" sz="1800" b="0" dirty="0" err="1">
                <a:latin typeface="Times New Roman" panose="02020603050405020304" pitchFamily="18" charset="0"/>
              </a:rPr>
              <a:t>r.elem</a:t>
            </a:r>
            <a:r>
              <a:rPr lang="en-US" altLang="zh-CN" sz="1800" b="0" dirty="0">
                <a:latin typeface="Times New Roman" panose="02020603050405020304" pitchFamily="18" charset="0"/>
              </a:rPr>
              <a: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for (int </a:t>
            </a:r>
            <a:r>
              <a:rPr lang="en-US" altLang="zh-CN" sz="1800" b="0" dirty="0" err="1">
                <a:latin typeface="Times New Roman" panose="02020603050405020304" pitchFamily="18" charset="0"/>
              </a:rPr>
              <a:t>i</a:t>
            </a:r>
            <a:r>
              <a:rPr lang="en-US" altLang="zh-CN" sz="1800" b="0" dirty="0">
                <a:latin typeface="Times New Roman" panose="02020603050405020304" pitchFamily="18" charset="0"/>
              </a:rPr>
              <a:t> = 0; </a:t>
            </a:r>
            <a:r>
              <a:rPr lang="en-US" altLang="zh-CN" sz="1800" b="0" dirty="0" err="1">
                <a:latin typeface="Times New Roman" panose="02020603050405020304" pitchFamily="18" charset="0"/>
              </a:rPr>
              <a:t>i</a:t>
            </a:r>
            <a:r>
              <a:rPr lang="en-US" altLang="zh-CN" sz="1800" b="0" dirty="0">
                <a:latin typeface="Times New Roman" panose="02020603050405020304" pitchFamily="18" charset="0"/>
              </a:rPr>
              <a:t> &lt; </a:t>
            </a:r>
            <a:r>
              <a:rPr lang="en-US" altLang="zh-CN" sz="1800" b="0" dirty="0" err="1">
                <a:latin typeface="Times New Roman" panose="02020603050405020304" pitchFamily="18" charset="0"/>
              </a:rPr>
              <a:t>r.len</a:t>
            </a:r>
            <a:r>
              <a:rPr lang="en-US" altLang="zh-CN" sz="1800" b="0" dirty="0">
                <a:latin typeface="Times New Roman" panose="02020603050405020304" pitchFamily="18" charset="0"/>
              </a:rPr>
              <a:t>; </a:t>
            </a:r>
            <a:r>
              <a:rPr lang="en-US" altLang="zh-CN" sz="1800" b="0" dirty="0" err="1">
                <a:latin typeface="Times New Roman" panose="02020603050405020304" pitchFamily="18" charset="0"/>
              </a:rPr>
              <a:t>i</a:t>
            </a:r>
            <a:r>
              <a:rPr lang="en-US" altLang="zh-CN" sz="1800" b="0" dirty="0">
                <a:latin typeface="Times New Roman" panose="02020603050405020304" pitchFamily="18" charset="0"/>
              </a:rPr>
              <a:t>++)</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        </a:t>
            </a:r>
            <a:r>
              <a:rPr lang="en-US" altLang="zh-CN" sz="1800" b="0" dirty="0" err="1">
                <a:latin typeface="Times New Roman" panose="02020603050405020304" pitchFamily="18" charset="0"/>
              </a:rPr>
              <a:t>TailInsert</a:t>
            </a:r>
            <a:r>
              <a:rPr lang="en-US" altLang="zh-CN" sz="1800" b="0" dirty="0">
                <a:latin typeface="Times New Roman" panose="02020603050405020304" pitchFamily="18" charset="0"/>
              </a:rPr>
              <a:t> (*p++);</a:t>
            </a:r>
            <a:endParaRPr lang="en-US" altLang="zh-CN" sz="1800" b="0" dirty="0">
              <a:latin typeface="Times New Roman" panose="02020603050405020304" pitchFamily="18" charset="0"/>
            </a:endParaRPr>
          </a:p>
          <a:p>
            <a:pPr>
              <a:spcBef>
                <a:spcPct val="20000"/>
              </a:spcBef>
              <a:defRPr/>
            </a:pPr>
            <a:r>
              <a:rPr lang="en-US" altLang="zh-CN" sz="1800" b="0" dirty="0">
                <a:latin typeface="Times New Roman" panose="02020603050405020304" pitchFamily="18" charset="0"/>
              </a:rPr>
              <a:t>};</a:t>
            </a:r>
            <a:r>
              <a:rPr lang="en-US" altLang="zh-CN" sz="1800" dirty="0">
                <a:latin typeface="Times New Roman" panose="02020603050405020304" pitchFamily="18" charset="0"/>
              </a:rPr>
              <a:t> </a:t>
            </a:r>
            <a:endParaRPr lang="zh-CN" altLang="en-US" sz="1800" dirty="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2.2</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顺序映象</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Rectangle 3"/>
          <p:cNvSpPr txBox="1">
            <a:spLocks noChangeArrowheads="1"/>
          </p:cNvSpPr>
          <p:nvPr/>
        </p:nvSpPr>
        <p:spPr>
          <a:xfrm>
            <a:off x="392806" y="1164772"/>
            <a:ext cx="9985190" cy="4267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顺序表的</a:t>
            </a: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特点</a:t>
            </a:r>
            <a:endPar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sz="2000" dirty="0">
                <a:latin typeface="微软雅黑" panose="020B0503020204020204" pitchFamily="34" charset="-122"/>
                <a:ea typeface="微软雅黑" panose="020B0503020204020204" pitchFamily="34" charset="-122"/>
              </a:rPr>
              <a:t>实现逻辑上相邻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物理地址相邻</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实现随机存取</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插入、删除等操作时，须移动大量的数据元素 </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存储空间定长 </a:t>
            </a:r>
            <a:endParaRPr lang="zh-CN" altLang="en-US" sz="2000" dirty="0">
              <a:latin typeface="微软雅黑" panose="020B0503020204020204" pitchFamily="34" charset="-122"/>
              <a:ea typeface="微软雅黑" panose="020B0503020204020204" pitchFamily="34" charset="-122"/>
            </a:endParaRPr>
          </a:p>
          <a:p>
            <a:pPr>
              <a:lnSpc>
                <a:spcPct val="125000"/>
              </a:lnSpc>
            </a:pP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顺序表的</a:t>
            </a: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实现</a:t>
            </a:r>
            <a:endPar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sz="2000" dirty="0">
                <a:latin typeface="微软雅黑" panose="020B0503020204020204" pitchFamily="34" charset="-122"/>
                <a:ea typeface="微软雅黑" panose="020B0503020204020204" pitchFamily="34" charset="-122"/>
              </a:rPr>
              <a:t>可用</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＋＋语言的一维数组（或向量）实现（数组也有随机存取的特性）</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arn(inHorizontal)">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链式存储映象 </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9" name="Rectangle 3"/>
          <p:cNvSpPr txBox="1">
            <a:spLocks noChangeArrowheads="1"/>
          </p:cNvSpPr>
          <p:nvPr/>
        </p:nvSpPr>
        <p:spPr>
          <a:xfrm>
            <a:off x="457200" y="129540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线性表的链式表示的特点</a:t>
            </a:r>
            <a:endParaRPr lang="zh-CN" altLang="en-US" sz="24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用一</a:t>
            </a:r>
            <a:r>
              <a:rPr lang="zh-CN" altLang="en-US" sz="2000" b="1" dirty="0">
                <a:solidFill>
                  <a:srgbClr val="FF0000"/>
                </a:solidFill>
                <a:latin typeface="微软雅黑" panose="020B0503020204020204" pitchFamily="34" charset="-122"/>
                <a:ea typeface="微软雅黑" panose="020B0503020204020204" pitchFamily="34" charset="-122"/>
              </a:rPr>
              <a:t>组地址任意</a:t>
            </a:r>
            <a:r>
              <a:rPr lang="zh-CN" altLang="en-US" sz="2000" dirty="0">
                <a:latin typeface="微软雅黑" panose="020B0503020204020204" pitchFamily="34" charset="-122"/>
                <a:ea typeface="微软雅黑" panose="020B0503020204020204" pitchFamily="34" charset="-122"/>
              </a:rPr>
              <a:t>的存储单元存储线性表的数据元素</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利用指针实现用物理上不相邻的存储单元存放逻辑上相邻的元素</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结点：链式存储的基本单位	</a:t>
            </a:r>
            <a:endParaRPr lang="zh-CN" altLang="en-US" sz="2000" dirty="0">
              <a:latin typeface="微软雅黑" panose="020B0503020204020204" pitchFamily="34" charset="-122"/>
              <a:ea typeface="微软雅黑" panose="020B0503020204020204" pitchFamily="34" charset="-122"/>
            </a:endParaRPr>
          </a:p>
          <a:p>
            <a:pPr lvl="2">
              <a:lnSpc>
                <a:spcPct val="125000"/>
              </a:lnSpc>
            </a:pPr>
            <a:r>
              <a:rPr lang="zh-CN" altLang="en-US" dirty="0">
                <a:latin typeface="微软雅黑" panose="020B0503020204020204" pitchFamily="34" charset="-122"/>
                <a:ea typeface="微软雅黑" panose="020B0503020204020204" pitchFamily="34" charset="-122"/>
              </a:rPr>
              <a:t>数据域：元素本身信息</a:t>
            </a:r>
            <a:endParaRPr lang="zh-CN" altLang="en-US" dirty="0">
              <a:latin typeface="微软雅黑" panose="020B0503020204020204" pitchFamily="34" charset="-122"/>
              <a:ea typeface="微软雅黑" panose="020B0503020204020204" pitchFamily="34" charset="-122"/>
            </a:endParaRPr>
          </a:p>
          <a:p>
            <a:pPr lvl="2">
              <a:lnSpc>
                <a:spcPct val="125000"/>
              </a:lnSpc>
            </a:pPr>
            <a:r>
              <a:rPr lang="zh-CN" altLang="en-US" dirty="0">
                <a:latin typeface="微软雅黑" panose="020B0503020204020204" pitchFamily="34" charset="-122"/>
                <a:ea typeface="微软雅黑" panose="020B0503020204020204" pitchFamily="34" charset="-122"/>
              </a:rPr>
              <a:t>指针域：指示链接关系的存储位置</a:t>
            </a:r>
            <a:endParaRPr lang="en-US" altLang="zh-CN"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线性链表</a:t>
            </a:r>
            <a:endParaRPr lang="en-US" altLang="zh-CN" sz="24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结点中只含唯一一个指示后继结点的指针域的链式存储结构，叫单链表</a:t>
            </a:r>
            <a:endParaRPr lang="en-US" altLang="zh-CN" sz="2000" dirty="0">
              <a:latin typeface="微软雅黑" panose="020B0503020204020204" pitchFamily="34" charset="-122"/>
              <a:ea typeface="微软雅黑" panose="020B0503020204020204" pitchFamily="34" charset="-122"/>
            </a:endParaRPr>
          </a:p>
          <a:p>
            <a:endParaRPr lang="en-US" altLang="zh-CN" dirty="0"/>
          </a:p>
        </p:txBody>
      </p:sp>
      <p:sp>
        <p:nvSpPr>
          <p:cNvPr id="10" name="Text Box 6"/>
          <p:cNvSpPr txBox="1">
            <a:spLocks noChangeArrowheads="1"/>
          </p:cNvSpPr>
          <p:nvPr/>
        </p:nvSpPr>
        <p:spPr bwMode="auto">
          <a:xfrm>
            <a:off x="9428074" y="2715986"/>
            <a:ext cx="762000" cy="3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b="0" dirty="0"/>
              <a:t>结点</a:t>
            </a:r>
            <a:endParaRPr lang="zh-CN" altLang="en-US" sz="1800" b="0" dirty="0"/>
          </a:p>
        </p:txBody>
      </p:sp>
      <p:sp>
        <p:nvSpPr>
          <p:cNvPr id="11" name="Rectangle 5"/>
          <p:cNvSpPr>
            <a:spLocks noChangeArrowheads="1"/>
          </p:cNvSpPr>
          <p:nvPr/>
        </p:nvSpPr>
        <p:spPr bwMode="auto">
          <a:xfrm>
            <a:off x="8377080" y="3156594"/>
            <a:ext cx="1295400" cy="3810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b="0" dirty="0"/>
              <a:t>数据域</a:t>
            </a:r>
            <a:endParaRPr lang="zh-CN" altLang="en-US" sz="1800" b="0" dirty="0"/>
          </a:p>
        </p:txBody>
      </p:sp>
      <p:sp>
        <p:nvSpPr>
          <p:cNvPr id="12" name="Rectangle 4"/>
          <p:cNvSpPr>
            <a:spLocks noChangeArrowheads="1"/>
          </p:cNvSpPr>
          <p:nvPr/>
        </p:nvSpPr>
        <p:spPr bwMode="auto">
          <a:xfrm>
            <a:off x="9665426" y="3156594"/>
            <a:ext cx="1295400" cy="3810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b="0" dirty="0"/>
              <a:t>指针域</a:t>
            </a:r>
            <a:endParaRPr lang="zh-CN" altLang="en-US" sz="1800" b="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a:t>
            </a:r>
            <a:r>
              <a:rPr lang="zh-CN" altLang="en-US" sz="3600" b="1" dirty="0">
                <a:solidFill>
                  <a:schemeClr val="bg1"/>
                </a:solidFill>
                <a:latin typeface="微软雅黑" panose="020B0503020204020204" pitchFamily="34" charset="-122"/>
                <a:ea typeface="微软雅黑" panose="020B0503020204020204" pitchFamily="34" charset="-122"/>
              </a:rPr>
              <a:t>线性表类型的实现</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链式存储映象 </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Rectangle 3"/>
          <p:cNvSpPr txBox="1">
            <a:spLocks noChangeArrowheads="1"/>
          </p:cNvSpPr>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2400" dirty="0">
                <a:latin typeface="微软雅黑" panose="020B0503020204020204" pitchFamily="34" charset="-122"/>
                <a:ea typeface="微软雅黑" panose="020B0503020204020204" pitchFamily="34" charset="-122"/>
              </a:rPr>
              <a:t>2.3.1 </a:t>
            </a:r>
            <a:r>
              <a:rPr lang="zh-CN" altLang="en-US" sz="2400" dirty="0">
                <a:latin typeface="微软雅黑" panose="020B0503020204020204" pitchFamily="34" charset="-122"/>
                <a:ea typeface="微软雅黑" panose="020B0503020204020204" pitchFamily="34" charset="-122"/>
              </a:rPr>
              <a:t>单链表</a:t>
            </a:r>
            <a:endParaRPr lang="zh-CN" altLang="en-US" sz="24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语言描述的单链表结点结构</a:t>
            </a:r>
            <a:endParaRPr lang="en-US" altLang="zh-CN" sz="2000" dirty="0">
              <a:latin typeface="微软雅黑" panose="020B0503020204020204" pitchFamily="34" charset="-122"/>
              <a:ea typeface="微软雅黑" panose="020B0503020204020204" pitchFamily="34" charset="-122"/>
            </a:endParaRPr>
          </a:p>
          <a:p>
            <a:pPr lvl="1"/>
            <a:endParaRPr lang="en-US" altLang="zh-CN" dirty="0"/>
          </a:p>
          <a:p>
            <a:pPr lvl="1"/>
            <a:endParaRPr lang="en-US" altLang="zh-CN" dirty="0"/>
          </a:p>
          <a:p>
            <a:pPr lvl="1"/>
            <a:endParaRPr lang="en-US" altLang="zh-CN" dirty="0"/>
          </a:p>
          <a:p>
            <a:pPr lvl="1"/>
            <a:endParaRPr lang="en-US" altLang="zh-CN" dirty="0"/>
          </a:p>
          <a:p>
            <a:pPr lvl="1"/>
            <a:endParaRPr lang="zh-CN" altLang="en-US" dirty="0"/>
          </a:p>
          <a:p>
            <a:pPr lvl="1"/>
            <a:endParaRPr lang="zh-CN" altLang="en-US" dirty="0"/>
          </a:p>
          <a:p>
            <a:pPr>
              <a:buFontTx/>
              <a:buNone/>
            </a:pPr>
            <a:endParaRPr lang="zh-CN" altLang="en-US" i="1" dirty="0">
              <a:solidFill>
                <a:srgbClr val="000066"/>
              </a:solidFill>
            </a:endParaRPr>
          </a:p>
        </p:txBody>
      </p:sp>
      <p:sp>
        <p:nvSpPr>
          <p:cNvPr id="8" name="Rectangle 4"/>
          <p:cNvSpPr>
            <a:spLocks noChangeArrowheads="1"/>
          </p:cNvSpPr>
          <p:nvPr/>
        </p:nvSpPr>
        <p:spPr bwMode="auto">
          <a:xfrm>
            <a:off x="816429" y="2299970"/>
            <a:ext cx="6335486" cy="3202757"/>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LinkNode.h</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 &lt;class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struct </a:t>
            </a:r>
            <a:r>
              <a:rPr lang="en-US" altLang="zh-CN" sz="1800" b="0" dirty="0" err="1">
                <a:latin typeface="Times New Roman" panose="02020603050405020304" pitchFamily="18" charset="0"/>
                <a:cs typeface="Times New Roman" panose="02020603050405020304" pitchFamily="18" charset="0"/>
              </a:rPr>
              <a:t>LinkNode</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 data;</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ChangeArrowheads="1"/>
          </p:cNvSpPr>
          <p:nvPr/>
        </p:nvSpPr>
        <p:spPr bwMode="auto">
          <a:xfrm>
            <a:off x="3352800" y="40386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ZHAO</a:t>
            </a:r>
            <a:endParaRPr lang="en-US" altLang="zh-CN" sz="1800" i="1"/>
          </a:p>
        </p:txBody>
      </p:sp>
      <p:sp>
        <p:nvSpPr>
          <p:cNvPr id="52228" name="Rectangle 4"/>
          <p:cNvSpPr>
            <a:spLocks noChangeArrowheads="1"/>
          </p:cNvSpPr>
          <p:nvPr/>
        </p:nvSpPr>
        <p:spPr bwMode="auto">
          <a:xfrm>
            <a:off x="4267200" y="40386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29" name="Line 5"/>
          <p:cNvSpPr>
            <a:spLocks noChangeShapeType="1"/>
          </p:cNvSpPr>
          <p:nvPr/>
        </p:nvSpPr>
        <p:spPr bwMode="auto">
          <a:xfrm>
            <a:off x="4419600" y="43100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30" name="Rectangle 6"/>
          <p:cNvSpPr>
            <a:spLocks noChangeArrowheads="1"/>
          </p:cNvSpPr>
          <p:nvPr/>
        </p:nvSpPr>
        <p:spPr bwMode="auto">
          <a:xfrm>
            <a:off x="4876800" y="40386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QIAN</a:t>
            </a:r>
            <a:endParaRPr lang="en-US" altLang="zh-CN" sz="1800" i="1"/>
          </a:p>
        </p:txBody>
      </p:sp>
      <p:sp>
        <p:nvSpPr>
          <p:cNvPr id="52231" name="Rectangle 7"/>
          <p:cNvSpPr>
            <a:spLocks noChangeArrowheads="1"/>
          </p:cNvSpPr>
          <p:nvPr/>
        </p:nvSpPr>
        <p:spPr bwMode="auto">
          <a:xfrm>
            <a:off x="5791200" y="40386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32" name="Line 8"/>
          <p:cNvSpPr>
            <a:spLocks noChangeShapeType="1"/>
          </p:cNvSpPr>
          <p:nvPr/>
        </p:nvSpPr>
        <p:spPr bwMode="auto">
          <a:xfrm>
            <a:off x="5943600" y="43100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33" name="Rectangle 9"/>
          <p:cNvSpPr>
            <a:spLocks noChangeArrowheads="1"/>
          </p:cNvSpPr>
          <p:nvPr/>
        </p:nvSpPr>
        <p:spPr bwMode="auto">
          <a:xfrm>
            <a:off x="6400800" y="40386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SUN</a:t>
            </a:r>
            <a:endParaRPr lang="en-US" altLang="zh-CN" sz="1800" i="1"/>
          </a:p>
        </p:txBody>
      </p:sp>
      <p:sp>
        <p:nvSpPr>
          <p:cNvPr id="52234" name="Rectangle 10"/>
          <p:cNvSpPr>
            <a:spLocks noChangeArrowheads="1"/>
          </p:cNvSpPr>
          <p:nvPr/>
        </p:nvSpPr>
        <p:spPr bwMode="auto">
          <a:xfrm>
            <a:off x="7315200" y="40386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35" name="Line 11"/>
          <p:cNvSpPr>
            <a:spLocks noChangeShapeType="1"/>
          </p:cNvSpPr>
          <p:nvPr/>
        </p:nvSpPr>
        <p:spPr bwMode="auto">
          <a:xfrm>
            <a:off x="7467600" y="43100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36" name="Rectangle 12"/>
          <p:cNvSpPr>
            <a:spLocks noChangeArrowheads="1"/>
          </p:cNvSpPr>
          <p:nvPr/>
        </p:nvSpPr>
        <p:spPr bwMode="auto">
          <a:xfrm>
            <a:off x="7924800" y="40386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LI</a:t>
            </a:r>
            <a:endParaRPr lang="en-US" altLang="zh-CN" sz="1800" i="1"/>
          </a:p>
        </p:txBody>
      </p:sp>
      <p:sp>
        <p:nvSpPr>
          <p:cNvPr id="52237" name="Rectangle 13"/>
          <p:cNvSpPr>
            <a:spLocks noChangeArrowheads="1"/>
          </p:cNvSpPr>
          <p:nvPr/>
        </p:nvSpPr>
        <p:spPr bwMode="auto">
          <a:xfrm>
            <a:off x="8839200" y="40386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38" name="Rectangle 15"/>
          <p:cNvSpPr>
            <a:spLocks noChangeArrowheads="1"/>
          </p:cNvSpPr>
          <p:nvPr/>
        </p:nvSpPr>
        <p:spPr bwMode="auto">
          <a:xfrm>
            <a:off x="3352800" y="54102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ZHOU</a:t>
            </a:r>
            <a:endParaRPr lang="en-US" altLang="zh-CN" sz="1800" i="1"/>
          </a:p>
        </p:txBody>
      </p:sp>
      <p:sp>
        <p:nvSpPr>
          <p:cNvPr id="52239" name="Rectangle 16"/>
          <p:cNvSpPr>
            <a:spLocks noChangeArrowheads="1"/>
          </p:cNvSpPr>
          <p:nvPr/>
        </p:nvSpPr>
        <p:spPr bwMode="auto">
          <a:xfrm>
            <a:off x="4267200" y="54102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40" name="Line 17"/>
          <p:cNvSpPr>
            <a:spLocks noChangeShapeType="1"/>
          </p:cNvSpPr>
          <p:nvPr/>
        </p:nvSpPr>
        <p:spPr bwMode="auto">
          <a:xfrm>
            <a:off x="4419600" y="56816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41" name="Rectangle 18"/>
          <p:cNvSpPr>
            <a:spLocks noChangeArrowheads="1"/>
          </p:cNvSpPr>
          <p:nvPr/>
        </p:nvSpPr>
        <p:spPr bwMode="auto">
          <a:xfrm>
            <a:off x="4876800" y="54102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WU</a:t>
            </a:r>
            <a:endParaRPr lang="en-US" altLang="zh-CN" sz="1800" i="1"/>
          </a:p>
        </p:txBody>
      </p:sp>
      <p:sp>
        <p:nvSpPr>
          <p:cNvPr id="52242" name="Rectangle 19"/>
          <p:cNvSpPr>
            <a:spLocks noChangeArrowheads="1"/>
          </p:cNvSpPr>
          <p:nvPr/>
        </p:nvSpPr>
        <p:spPr bwMode="auto">
          <a:xfrm>
            <a:off x="5791200" y="54102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43" name="Line 20"/>
          <p:cNvSpPr>
            <a:spLocks noChangeShapeType="1"/>
          </p:cNvSpPr>
          <p:nvPr/>
        </p:nvSpPr>
        <p:spPr bwMode="auto">
          <a:xfrm>
            <a:off x="5943600" y="56816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44" name="Rectangle 21"/>
          <p:cNvSpPr>
            <a:spLocks noChangeArrowheads="1"/>
          </p:cNvSpPr>
          <p:nvPr/>
        </p:nvSpPr>
        <p:spPr bwMode="auto">
          <a:xfrm>
            <a:off x="6400800" y="54102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ZHENG</a:t>
            </a:r>
            <a:endParaRPr lang="en-US" altLang="zh-CN" sz="1800" i="1"/>
          </a:p>
        </p:txBody>
      </p:sp>
      <p:sp>
        <p:nvSpPr>
          <p:cNvPr id="52245" name="Rectangle 22"/>
          <p:cNvSpPr>
            <a:spLocks noChangeArrowheads="1"/>
          </p:cNvSpPr>
          <p:nvPr/>
        </p:nvSpPr>
        <p:spPr bwMode="auto">
          <a:xfrm>
            <a:off x="7315200" y="54102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46" name="Line 23"/>
          <p:cNvSpPr>
            <a:spLocks noChangeShapeType="1"/>
          </p:cNvSpPr>
          <p:nvPr/>
        </p:nvSpPr>
        <p:spPr bwMode="auto">
          <a:xfrm>
            <a:off x="7467600" y="568166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47" name="Rectangle 24"/>
          <p:cNvSpPr>
            <a:spLocks noChangeArrowheads="1"/>
          </p:cNvSpPr>
          <p:nvPr/>
        </p:nvSpPr>
        <p:spPr bwMode="auto">
          <a:xfrm>
            <a:off x="7924800" y="5410200"/>
            <a:ext cx="9144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i="1"/>
              <a:t>WANG</a:t>
            </a:r>
            <a:endParaRPr lang="en-US" altLang="zh-CN" sz="1800" i="1"/>
          </a:p>
        </p:txBody>
      </p:sp>
      <p:sp>
        <p:nvSpPr>
          <p:cNvPr id="52248" name="Rectangle 25"/>
          <p:cNvSpPr>
            <a:spLocks noChangeArrowheads="1"/>
          </p:cNvSpPr>
          <p:nvPr/>
        </p:nvSpPr>
        <p:spPr bwMode="auto">
          <a:xfrm>
            <a:off x="8839200" y="5410200"/>
            <a:ext cx="304800" cy="533400"/>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t>^</a:t>
            </a:r>
            <a:endParaRPr lang="en-US" altLang="zh-CN" sz="1800"/>
          </a:p>
        </p:txBody>
      </p:sp>
      <p:sp>
        <p:nvSpPr>
          <p:cNvPr id="52249" name="Line 26"/>
          <p:cNvSpPr>
            <a:spLocks noChangeShapeType="1"/>
          </p:cNvSpPr>
          <p:nvPr/>
        </p:nvSpPr>
        <p:spPr bwMode="auto">
          <a:xfrm>
            <a:off x="8991600" y="4310063"/>
            <a:ext cx="381000" cy="0"/>
          </a:xfrm>
          <a:prstGeom prst="line">
            <a:avLst/>
          </a:prstGeom>
          <a:noFill/>
          <a:ln w="3175">
            <a:solidFill>
              <a:schemeClr val="tx2"/>
            </a:solidFill>
            <a:roun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50" name="Line 27"/>
          <p:cNvSpPr>
            <a:spLocks noChangeShapeType="1"/>
          </p:cNvSpPr>
          <p:nvPr/>
        </p:nvSpPr>
        <p:spPr bwMode="auto">
          <a:xfrm>
            <a:off x="9372600" y="4314825"/>
            <a:ext cx="0" cy="685800"/>
          </a:xfrm>
          <a:prstGeom prst="line">
            <a:avLst/>
          </a:prstGeom>
          <a:noFill/>
          <a:ln w="3175">
            <a:solidFill>
              <a:schemeClr val="tx2"/>
            </a:solidFill>
            <a:roun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51" name="Line 28"/>
          <p:cNvSpPr>
            <a:spLocks noChangeShapeType="1"/>
          </p:cNvSpPr>
          <p:nvPr/>
        </p:nvSpPr>
        <p:spPr bwMode="auto">
          <a:xfrm flipH="1">
            <a:off x="2895600" y="5014914"/>
            <a:ext cx="6477000" cy="14287"/>
          </a:xfrm>
          <a:prstGeom prst="line">
            <a:avLst/>
          </a:prstGeom>
          <a:noFill/>
          <a:ln w="3175">
            <a:solidFill>
              <a:schemeClr val="tx2"/>
            </a:solidFill>
            <a:roun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52" name="Line 29"/>
          <p:cNvSpPr>
            <a:spLocks noChangeShapeType="1"/>
          </p:cNvSpPr>
          <p:nvPr/>
        </p:nvSpPr>
        <p:spPr bwMode="auto">
          <a:xfrm>
            <a:off x="2886075" y="5014913"/>
            <a:ext cx="0" cy="685800"/>
          </a:xfrm>
          <a:prstGeom prst="line">
            <a:avLst/>
          </a:prstGeom>
          <a:noFill/>
          <a:ln w="3175">
            <a:solidFill>
              <a:schemeClr val="tx2"/>
            </a:solidFill>
            <a:roun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53" name="Line 30"/>
          <p:cNvSpPr>
            <a:spLocks noChangeShapeType="1"/>
          </p:cNvSpPr>
          <p:nvPr/>
        </p:nvSpPr>
        <p:spPr bwMode="auto">
          <a:xfrm>
            <a:off x="2886075" y="5700713"/>
            <a:ext cx="457200"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107566" name="Rectangle 46"/>
          <p:cNvSpPr>
            <a:spLocks noChangeArrowheads="1"/>
          </p:cNvSpPr>
          <p:nvPr/>
        </p:nvSpPr>
        <p:spPr bwMode="gray">
          <a:xfrm>
            <a:off x="1066800" y="2401888"/>
            <a:ext cx="3352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不带头结点的单链表</a:t>
            </a:r>
            <a:endParaRPr lang="zh-CN" altLang="en-US" sz="2000" dirty="0">
              <a:latin typeface="微软雅黑" panose="020B0503020204020204" pitchFamily="34" charset="-122"/>
              <a:ea typeface="微软雅黑" panose="020B0503020204020204" pitchFamily="34" charset="-122"/>
            </a:endParaRPr>
          </a:p>
        </p:txBody>
      </p:sp>
      <p:sp>
        <p:nvSpPr>
          <p:cNvPr id="52255" name="AutoShape 89"/>
          <p:cNvSpPr>
            <a:spLocks noChangeArrowheads="1"/>
          </p:cNvSpPr>
          <p:nvPr/>
        </p:nvSpPr>
        <p:spPr bwMode="gray">
          <a:xfrm>
            <a:off x="2667000" y="3200400"/>
            <a:ext cx="1295400" cy="304800"/>
          </a:xfrm>
          <a:prstGeom prst="wedgeEllipseCallout">
            <a:avLst>
              <a:gd name="adj1" fmla="val 42032"/>
              <a:gd name="adj2" fmla="val 60940"/>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solidFill>
                  <a:srgbClr val="FCFCFC"/>
                </a:solidFill>
              </a:rPr>
              <a:t>头指针</a:t>
            </a:r>
            <a:endParaRPr lang="zh-CN" altLang="en-US" sz="1800">
              <a:solidFill>
                <a:srgbClr val="FCFCFC"/>
              </a:solidFill>
            </a:endParaRPr>
          </a:p>
        </p:txBody>
      </p:sp>
      <p:sp>
        <p:nvSpPr>
          <p:cNvPr id="107610" name="AutoShape 90"/>
          <p:cNvSpPr>
            <a:spLocks noChangeArrowheads="1"/>
          </p:cNvSpPr>
          <p:nvPr/>
        </p:nvSpPr>
        <p:spPr bwMode="gray">
          <a:xfrm>
            <a:off x="1524000" y="4178300"/>
            <a:ext cx="1447800" cy="374650"/>
          </a:xfrm>
          <a:prstGeom prst="wedgeEllipseCallout">
            <a:avLst>
              <a:gd name="adj1" fmla="val 33204"/>
              <a:gd name="adj2" fmla="val -77917"/>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solidFill>
                  <a:srgbClr val="FCFCFC"/>
                </a:solidFill>
              </a:rPr>
              <a:t>头结点</a:t>
            </a:r>
            <a:endParaRPr lang="zh-CN" altLang="en-US" sz="1800">
              <a:solidFill>
                <a:srgbClr val="FCFCFC"/>
              </a:solidFill>
            </a:endParaRPr>
          </a:p>
        </p:txBody>
      </p:sp>
      <p:sp>
        <p:nvSpPr>
          <p:cNvPr id="107611" name="AutoShape 91"/>
          <p:cNvSpPr>
            <a:spLocks noChangeArrowheads="1"/>
          </p:cNvSpPr>
          <p:nvPr/>
        </p:nvSpPr>
        <p:spPr bwMode="gray">
          <a:xfrm>
            <a:off x="4267200" y="3505201"/>
            <a:ext cx="1866900" cy="373063"/>
          </a:xfrm>
          <a:prstGeom prst="wedgeEllipseCallout">
            <a:avLst>
              <a:gd name="adj1" fmla="val -44051"/>
              <a:gd name="adj2" fmla="val 83616"/>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zh-CN" altLang="en-US" sz="1800">
                <a:solidFill>
                  <a:srgbClr val="FCFCFC"/>
                </a:solidFill>
              </a:rPr>
              <a:t>首元结点</a:t>
            </a:r>
            <a:endParaRPr lang="zh-CN" altLang="en-US" sz="1800">
              <a:solidFill>
                <a:srgbClr val="FCFCFC"/>
              </a:solidFill>
            </a:endParaRPr>
          </a:p>
        </p:txBody>
      </p:sp>
      <p:grpSp>
        <p:nvGrpSpPr>
          <p:cNvPr id="107620" name="Group 100"/>
          <p:cNvGrpSpPr/>
          <p:nvPr/>
        </p:nvGrpSpPr>
        <p:grpSpPr bwMode="auto">
          <a:xfrm>
            <a:off x="3962400" y="3200400"/>
            <a:ext cx="304800" cy="838200"/>
            <a:chOff x="1344" y="1248"/>
            <a:chExt cx="192" cy="528"/>
          </a:xfrm>
        </p:grpSpPr>
        <p:sp>
          <p:nvSpPr>
            <p:cNvPr id="52271" name="Line 98"/>
            <p:cNvSpPr>
              <a:spLocks noChangeShapeType="1"/>
            </p:cNvSpPr>
            <p:nvPr/>
          </p:nvSpPr>
          <p:spPr bwMode="gray">
            <a:xfrm>
              <a:off x="1440" y="1392"/>
              <a:ext cx="0"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272" name="Rectangle 99"/>
            <p:cNvSpPr>
              <a:spLocks noChangeArrowheads="1"/>
            </p:cNvSpPr>
            <p:nvPr/>
          </p:nvSpPr>
          <p:spPr bwMode="gray">
            <a:xfrm>
              <a:off x="1344" y="1248"/>
              <a:ext cx="192" cy="288"/>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pSp>
      <p:grpSp>
        <p:nvGrpSpPr>
          <p:cNvPr id="107672" name="Group 152"/>
          <p:cNvGrpSpPr/>
          <p:nvPr/>
        </p:nvGrpSpPr>
        <p:grpSpPr bwMode="auto">
          <a:xfrm>
            <a:off x="1981200" y="3505200"/>
            <a:ext cx="2057400" cy="952500"/>
            <a:chOff x="336" y="1392"/>
            <a:chExt cx="1296" cy="600"/>
          </a:xfrm>
        </p:grpSpPr>
        <p:grpSp>
          <p:nvGrpSpPr>
            <p:cNvPr id="52262" name="Group 153"/>
            <p:cNvGrpSpPr/>
            <p:nvPr/>
          </p:nvGrpSpPr>
          <p:grpSpPr bwMode="auto">
            <a:xfrm>
              <a:off x="336" y="1392"/>
              <a:ext cx="1136" cy="600"/>
              <a:chOff x="336" y="1392"/>
              <a:chExt cx="1136" cy="600"/>
            </a:xfrm>
          </p:grpSpPr>
          <p:grpSp>
            <p:nvGrpSpPr>
              <p:cNvPr id="52264" name="Group 154"/>
              <p:cNvGrpSpPr/>
              <p:nvPr/>
            </p:nvGrpSpPr>
            <p:grpSpPr bwMode="auto">
              <a:xfrm>
                <a:off x="336" y="1392"/>
                <a:ext cx="624" cy="336"/>
                <a:chOff x="336" y="1392"/>
                <a:chExt cx="624" cy="336"/>
              </a:xfrm>
            </p:grpSpPr>
            <p:sp>
              <p:nvSpPr>
                <p:cNvPr id="52269" name="Rectangle 31"/>
                <p:cNvSpPr>
                  <a:spLocks noChangeArrowheads="1"/>
                </p:cNvSpPr>
                <p:nvPr/>
              </p:nvSpPr>
              <p:spPr bwMode="auto">
                <a:xfrm>
                  <a:off x="336" y="1392"/>
                  <a:ext cx="432" cy="336"/>
                </a:xfrm>
                <a:prstGeom prst="rect">
                  <a:avLst/>
                </a:prstGeom>
                <a:solidFill>
                  <a:schemeClr val="bg2"/>
                </a:solidFill>
                <a:ln w="3175" algn="ctr">
                  <a:solidFill>
                    <a:schemeClr val="tx2"/>
                  </a:solidFill>
                  <a:miter lim="800000"/>
                </a:ln>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sp>
              <p:nvSpPr>
                <p:cNvPr id="52270" name="Rectangle 4"/>
                <p:cNvSpPr>
                  <a:spLocks noChangeArrowheads="1"/>
                </p:cNvSpPr>
                <p:nvPr/>
              </p:nvSpPr>
              <p:spPr bwMode="auto">
                <a:xfrm>
                  <a:off x="768" y="1392"/>
                  <a:ext cx="192" cy="336"/>
                </a:xfrm>
                <a:prstGeom prst="rect">
                  <a:avLst/>
                </a:prstGeom>
                <a:noFill/>
                <a:ln w="3175" algn="ctr">
                  <a:solidFill>
                    <a:schemeClr val="tx2"/>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dirty="0">
                    <a:solidFill>
                      <a:srgbClr val="FFFFFF"/>
                    </a:solidFill>
                  </a:endParaRPr>
                </a:p>
              </p:txBody>
            </p:sp>
          </p:grpSp>
          <p:sp>
            <p:nvSpPr>
              <p:cNvPr id="52265" name="Line 157"/>
              <p:cNvSpPr>
                <a:spLocks noChangeShapeType="1"/>
              </p:cNvSpPr>
              <p:nvPr/>
            </p:nvSpPr>
            <p:spPr bwMode="gray">
              <a:xfrm flipH="1">
                <a:off x="992" y="1552"/>
                <a:ext cx="48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2266" name="Group 158"/>
              <p:cNvGrpSpPr/>
              <p:nvPr/>
            </p:nvGrpSpPr>
            <p:grpSpPr bwMode="auto">
              <a:xfrm>
                <a:off x="864" y="1656"/>
                <a:ext cx="288" cy="336"/>
                <a:chOff x="864" y="1656"/>
                <a:chExt cx="288" cy="336"/>
              </a:xfrm>
            </p:grpSpPr>
            <p:sp>
              <p:nvSpPr>
                <p:cNvPr id="52267" name="Line 14"/>
                <p:cNvSpPr>
                  <a:spLocks noChangeShapeType="1"/>
                </p:cNvSpPr>
                <p:nvPr/>
              </p:nvSpPr>
              <p:spPr bwMode="auto">
                <a:xfrm>
                  <a:off x="864" y="1992"/>
                  <a:ext cx="288" cy="0"/>
                </a:xfrm>
                <a:prstGeom prst="line">
                  <a:avLst/>
                </a:prstGeom>
                <a:noFill/>
                <a:ln w="3175">
                  <a:solidFill>
                    <a:schemeClr val="tx2"/>
                  </a:solidFill>
                  <a:round/>
                  <a:tailEnd type="triangle" w="med" len="me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sp>
              <p:nvSpPr>
                <p:cNvPr id="52268" name="Line 32"/>
                <p:cNvSpPr>
                  <a:spLocks noChangeShapeType="1"/>
                </p:cNvSpPr>
                <p:nvPr/>
              </p:nvSpPr>
              <p:spPr bwMode="auto">
                <a:xfrm flipV="1">
                  <a:off x="864" y="1656"/>
                  <a:ext cx="0" cy="336"/>
                </a:xfrm>
                <a:prstGeom prst="line">
                  <a:avLst/>
                </a:prstGeom>
                <a:noFill/>
                <a:ln w="3175">
                  <a:solidFill>
                    <a:schemeClr val="tx2"/>
                  </a:solidFill>
                  <a:round/>
                </a:ln>
                <a:extLst>
                  <a:ext uri="{909E8E84-426E-40DD-AFC4-6F175D3DCCD1}">
                    <a14:hiddenFill xmlns:a14="http://schemas.microsoft.com/office/drawing/2010/main">
                      <a:noFill/>
                    </a14:hiddenFill>
                  </a:ext>
                </a:extLst>
              </p:spPr>
              <p:txBody>
                <a:bodyPr lIns="90000" tIns="46800" rIns="90000" bIns="46800" anchor="ctr"/>
                <a:lstStyle/>
                <a:p>
                  <a:endParaRPr lang="zh-CN" altLang="en-US"/>
                </a:p>
              </p:txBody>
            </p:sp>
          </p:grpSp>
        </p:grpSp>
        <p:sp>
          <p:nvSpPr>
            <p:cNvPr id="52263" name="Rectangle 161"/>
            <p:cNvSpPr>
              <a:spLocks noChangeArrowheads="1"/>
            </p:cNvSpPr>
            <p:nvPr/>
          </p:nvSpPr>
          <p:spPr bwMode="gray">
            <a:xfrm>
              <a:off x="1296" y="1440"/>
              <a:ext cx="336" cy="192"/>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pSp>
      <p:sp>
        <p:nvSpPr>
          <p:cNvPr id="107692" name="Rectangle 172"/>
          <p:cNvSpPr>
            <a:spLocks noChangeArrowheads="1"/>
          </p:cNvSpPr>
          <p:nvPr/>
        </p:nvSpPr>
        <p:spPr bwMode="gray">
          <a:xfrm>
            <a:off x="5334000" y="2411413"/>
            <a:ext cx="3352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带头结点的单链表</a:t>
            </a:r>
            <a:endParaRPr lang="zh-CN" altLang="en-US" sz="2000" dirty="0">
              <a:latin typeface="微软雅黑" panose="020B0503020204020204" pitchFamily="34" charset="-122"/>
              <a:ea typeface="微软雅黑" panose="020B0503020204020204" pitchFamily="34" charset="-122"/>
            </a:endParaRPr>
          </a:p>
        </p:txBody>
      </p:sp>
      <p:sp>
        <p:nvSpPr>
          <p:cNvPr id="52261" name="TextBox 1"/>
          <p:cNvSpPr txBox="1">
            <a:spLocks noChangeArrowheads="1"/>
          </p:cNvSpPr>
          <p:nvPr/>
        </p:nvSpPr>
        <p:spPr bwMode="auto">
          <a:xfrm>
            <a:off x="952500" y="1077913"/>
            <a:ext cx="10339896" cy="105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nSpc>
                <a:spcPct val="125000"/>
              </a:lnSpc>
              <a:buFontTx/>
              <a:buNone/>
            </a:pPr>
            <a:r>
              <a:rPr lang="zh-CN" altLang="en-US" sz="3200" dirty="0">
                <a:sym typeface="Wingdings 2" panose="05020102010507070707" pitchFamily="18" charset="2"/>
              </a:rPr>
              <a:t>  </a:t>
            </a:r>
            <a:r>
              <a:rPr lang="zh-CN" altLang="en-US" sz="2000" dirty="0">
                <a:latin typeface="微软雅黑" panose="020B0503020204020204" pitchFamily="34" charset="-122"/>
                <a:ea typeface="微软雅黑" panose="020B0503020204020204" pitchFamily="34" charset="-122"/>
              </a:rPr>
              <a:t>单链表以第一个结点</a:t>
            </a:r>
            <a:r>
              <a:rPr lang="en-US" altLang="zh-CN" sz="2000" dirty="0">
                <a:latin typeface="微软雅黑" panose="020B0503020204020204" pitchFamily="34" charset="-122"/>
                <a:ea typeface="微软雅黑" panose="020B0503020204020204" pitchFamily="34" charset="-122"/>
              </a:rPr>
              <a:t>a</a:t>
            </a:r>
            <a:r>
              <a:rPr lang="en-US" altLang="zh-CN" sz="2000" baseline="-25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的存储地址作为单链表的地址，单链表中最后一个结点的指针域为空。在单链表结构下，首元地址丢失，往往意味着单链表信息的丢失。</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单链表示例</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xit" presetSubtype="16" fill="hold" grpId="0" nodeType="clickEffect">
                                  <p:stCondLst>
                                    <p:cond delay="0"/>
                                  </p:stCondLst>
                                  <p:childTnLst>
                                    <p:animEffect transition="out" filter="diamond(in)">
                                      <p:cBhvr>
                                        <p:cTn id="6" dur="2000"/>
                                        <p:tgtEl>
                                          <p:spTgt spid="107566">
                                            <p:txEl>
                                              <p:pRg st="0" end="0"/>
                                            </p:txEl>
                                          </p:spTgt>
                                        </p:tgtEl>
                                      </p:cBhvr>
                                    </p:animEffect>
                                    <p:set>
                                      <p:cBhvr>
                                        <p:cTn id="7" dur="1" fill="hold">
                                          <p:stCondLst>
                                            <p:cond delay="1999"/>
                                          </p:stCondLst>
                                        </p:cTn>
                                        <p:tgtEl>
                                          <p:spTgt spid="107566">
                                            <p:txEl>
                                              <p:pRg st="0" end="0"/>
                                            </p:txEl>
                                          </p:spTgt>
                                        </p:tgtEl>
                                        <p:attrNameLst>
                                          <p:attrName>style.visibility</p:attrName>
                                        </p:attrNameLst>
                                      </p:cBhvr>
                                      <p:to>
                                        <p:strVal val="hidden"/>
                                      </p:to>
                                    </p:set>
                                  </p:childTnLst>
                                </p:cTn>
                              </p:par>
                              <p:par>
                                <p:cTn id="8" presetID="3" presetClass="exit" presetSubtype="10" fill="hold" nodeType="withEffect">
                                  <p:stCondLst>
                                    <p:cond delay="0"/>
                                  </p:stCondLst>
                                  <p:childTnLst>
                                    <p:animEffect transition="out" filter="blinds(horizontal)">
                                      <p:cBhvr>
                                        <p:cTn id="9" dur="500"/>
                                        <p:tgtEl>
                                          <p:spTgt spid="107620"/>
                                        </p:tgtEl>
                                      </p:cBhvr>
                                    </p:animEffect>
                                    <p:set>
                                      <p:cBhvr>
                                        <p:cTn id="10" dur="1" fill="hold">
                                          <p:stCondLst>
                                            <p:cond delay="499"/>
                                          </p:stCondLst>
                                        </p:cTn>
                                        <p:tgtEl>
                                          <p:spTgt spid="107620"/>
                                        </p:tgtEl>
                                        <p:attrNameLst>
                                          <p:attrName>style.visibility</p:attrName>
                                        </p:attrNameLst>
                                      </p:cBhvr>
                                      <p:to>
                                        <p:strVal val="hidden"/>
                                      </p:to>
                                    </p:set>
                                  </p:childTnLst>
                                </p:cTn>
                              </p:par>
                            </p:childTnLst>
                          </p:cTn>
                        </p:par>
                        <p:par>
                          <p:cTn id="11" fill="hold">
                            <p:stCondLst>
                              <p:cond delay="2000"/>
                            </p:stCondLst>
                            <p:childTnLst>
                              <p:par>
                                <p:cTn id="12" presetID="3" presetClass="exit" presetSubtype="10" fill="hold" grpId="0" nodeType="afterEffect">
                                  <p:stCondLst>
                                    <p:cond delay="0"/>
                                  </p:stCondLst>
                                  <p:childTnLst>
                                    <p:animEffect transition="out" filter="blinds(horizontal)">
                                      <p:cBhvr>
                                        <p:cTn id="13" dur="500"/>
                                        <p:tgtEl>
                                          <p:spTgt spid="107611"/>
                                        </p:tgtEl>
                                      </p:cBhvr>
                                    </p:animEffect>
                                    <p:set>
                                      <p:cBhvr>
                                        <p:cTn id="14" dur="1" fill="hold">
                                          <p:stCondLst>
                                            <p:cond delay="499"/>
                                          </p:stCondLst>
                                        </p:cTn>
                                        <p:tgtEl>
                                          <p:spTgt spid="1076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6" fill="hold" grpId="0" nodeType="clickEffect">
                                  <p:stCondLst>
                                    <p:cond delay="0"/>
                                  </p:stCondLst>
                                  <p:childTnLst>
                                    <p:set>
                                      <p:cBhvr>
                                        <p:cTn id="18" dur="1" fill="hold">
                                          <p:stCondLst>
                                            <p:cond delay="0"/>
                                          </p:stCondLst>
                                        </p:cTn>
                                        <p:tgtEl>
                                          <p:spTgt spid="107610"/>
                                        </p:tgtEl>
                                        <p:attrNameLst>
                                          <p:attrName>style.visibility</p:attrName>
                                        </p:attrNameLst>
                                      </p:cBhvr>
                                      <p:to>
                                        <p:strVal val="visible"/>
                                      </p:to>
                                    </p:set>
                                    <p:animEffect transition="in" filter="barn(inHorizontal)">
                                      <p:cBhvr>
                                        <p:cTn id="19" dur="500"/>
                                        <p:tgtEl>
                                          <p:spTgt spid="107610"/>
                                        </p:tgtEl>
                                      </p:cBhvr>
                                    </p:animEffect>
                                  </p:childTnLst>
                                </p:cTn>
                              </p:par>
                              <p:par>
                                <p:cTn id="20" presetID="3" presetClass="entr" presetSubtype="10" fill="hold" nodeType="withEffect">
                                  <p:stCondLst>
                                    <p:cond delay="0"/>
                                  </p:stCondLst>
                                  <p:childTnLst>
                                    <p:set>
                                      <p:cBhvr>
                                        <p:cTn id="21" dur="1" fill="hold">
                                          <p:stCondLst>
                                            <p:cond delay="0"/>
                                          </p:stCondLst>
                                        </p:cTn>
                                        <p:tgtEl>
                                          <p:spTgt spid="107672"/>
                                        </p:tgtEl>
                                        <p:attrNameLst>
                                          <p:attrName>style.visibility</p:attrName>
                                        </p:attrNameLst>
                                      </p:cBhvr>
                                      <p:to>
                                        <p:strVal val="visible"/>
                                      </p:to>
                                    </p:set>
                                    <p:animEffect transition="in" filter="blinds(horizontal)">
                                      <p:cBhvr>
                                        <p:cTn id="22" dur="500"/>
                                        <p:tgtEl>
                                          <p:spTgt spid="10767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7692">
                                            <p:txEl>
                                              <p:pRg st="0" end="0"/>
                                            </p:txEl>
                                          </p:spTgt>
                                        </p:tgtEl>
                                        <p:attrNameLst>
                                          <p:attrName>style.visibility</p:attrName>
                                        </p:attrNameLst>
                                      </p:cBhvr>
                                      <p:to>
                                        <p:strVal val="visible"/>
                                      </p:to>
                                    </p:set>
                                    <p:animEffect transition="in" filter="blinds(horizontal)">
                                      <p:cBhvr>
                                        <p:cTn id="25" dur="500"/>
                                        <p:tgtEl>
                                          <p:spTgt spid="1076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66" grpId="0" build="allAtOnce"/>
      <p:bldP spid="107610" grpId="0" animBg="1"/>
      <p:bldP spid="107611" grpId="0" animBg="1"/>
      <p:bldP spid="107692" grpId="0"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C++</a:t>
            </a:r>
            <a:r>
              <a:rPr lang="zh-CN" altLang="en-US" sz="3600" b="1" dirty="0">
                <a:solidFill>
                  <a:schemeClr val="bg1"/>
                </a:solidFill>
                <a:latin typeface="微软雅黑" panose="020B0503020204020204" pitchFamily="34" charset="-122"/>
                <a:ea typeface="微软雅黑" panose="020B0503020204020204" pitchFamily="34" charset="-122"/>
              </a:rPr>
              <a:t>语言描述的单链表类模板 </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Rectangle 4"/>
          <p:cNvSpPr txBox="1">
            <a:spLocks noChangeArrowheads="1"/>
          </p:cNvSpPr>
          <p:nvPr/>
        </p:nvSpPr>
        <p:spPr bwMode="auto">
          <a:xfrm>
            <a:off x="408214" y="965082"/>
            <a:ext cx="8682520" cy="5472294"/>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Tx/>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LinkList.h</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#ifndef _</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_</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#define _LINKLIST_</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solidFill>
                  <a:srgbClr val="FF0000"/>
                </a:solidFill>
                <a:latin typeface="Times New Roman" panose="02020603050405020304" pitchFamily="18" charset="0"/>
                <a:cs typeface="Times New Roman" panose="02020603050405020304" pitchFamily="18" charset="0"/>
              </a:rPr>
              <a:t>#include "</a:t>
            </a:r>
            <a:r>
              <a:rPr lang="en-US" altLang="zh-CN" sz="1600" dirty="0" err="1">
                <a:solidFill>
                  <a:srgbClr val="FF0000"/>
                </a:solidFill>
                <a:latin typeface="Times New Roman" panose="02020603050405020304" pitchFamily="18" charset="0"/>
                <a:cs typeface="Times New Roman" panose="02020603050405020304" pitchFamily="18" charset="0"/>
              </a:rPr>
              <a:t>LinkNode.h</a:t>
            </a:r>
            <a:r>
              <a:rPr lang="en-US" altLang="zh-CN" sz="1600" dirty="0">
                <a:solidFill>
                  <a:srgbClr val="FF0000"/>
                </a:solidFill>
                <a:latin typeface="Times New Roman" panose="02020603050405020304" pitchFamily="18" charset="0"/>
                <a:cs typeface="Times New Roman" panose="02020603050405020304" pitchFamily="18" charset="0"/>
              </a:rPr>
              <a:t>"</a:t>
            </a:r>
            <a:endParaRPr lang="en-US" altLang="zh-CN" sz="1600" dirty="0">
              <a:solidFill>
                <a:srgbClr val="FF0000"/>
              </a:solidFill>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template &lt;class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class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 {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定义单链表类</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public:</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构造函数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(const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&gt;&amp;);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拷贝构造函数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析构函数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bool </a:t>
            </a:r>
            <a:r>
              <a:rPr lang="en-US" altLang="zh-CN" sz="1600" dirty="0" err="1">
                <a:latin typeface="Times New Roman" panose="02020603050405020304" pitchFamily="18" charset="0"/>
                <a:cs typeface="Times New Roman" panose="02020603050405020304" pitchFamily="18" charset="0"/>
              </a:rPr>
              <a:t>IsEmpty</a:t>
            </a:r>
            <a:r>
              <a:rPr lang="en-US" altLang="zh-CN" sz="1600" dirty="0">
                <a:latin typeface="Times New Roman" panose="02020603050405020304" pitchFamily="18" charset="0"/>
                <a:cs typeface="Times New Roman" panose="02020603050405020304" pitchFamily="18" charset="0"/>
              </a:rPr>
              <a:t>()const {return </a:t>
            </a:r>
            <a:r>
              <a:rPr lang="en-US" altLang="zh-CN" sz="1600" dirty="0" err="1">
                <a:latin typeface="Times New Roman" panose="02020603050405020304" pitchFamily="18" charset="0"/>
                <a:cs typeface="Times New Roman" panose="02020603050405020304" pitchFamily="18" charset="0"/>
              </a:rPr>
              <a:t>len</a:t>
            </a:r>
            <a:r>
              <a:rPr lang="en-US" altLang="zh-CN" sz="1600" dirty="0">
                <a:latin typeface="Times New Roman" panose="02020603050405020304" pitchFamily="18" charset="0"/>
                <a:cs typeface="Times New Roman" panose="02020603050405020304" pitchFamily="18" charset="0"/>
              </a:rPr>
              <a:t> &lt;= 0;}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判断单链表是否为空表</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int  Length()const {return </a:t>
            </a:r>
            <a:r>
              <a:rPr lang="en-US" altLang="zh-CN" sz="1600" dirty="0" err="1">
                <a:latin typeface="Times New Roman" panose="02020603050405020304" pitchFamily="18" charset="0"/>
                <a:cs typeface="Times New Roman" panose="02020603050405020304" pitchFamily="18" charset="0"/>
              </a:rPr>
              <a:t>len</a:t>
            </a: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求表长 </a:t>
            </a:r>
            <a:endParaRPr lang="zh-CN" altLang="en-US" sz="1600" dirty="0">
              <a:latin typeface="Times New Roman" panose="02020603050405020304" pitchFamily="18" charset="0"/>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void Clear();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置单链表为空表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bool </a:t>
            </a:r>
            <a:r>
              <a:rPr lang="en-US" altLang="zh-CN" sz="1600" dirty="0" err="1">
                <a:latin typeface="Times New Roman" panose="02020603050405020304" pitchFamily="18" charset="0"/>
                <a:cs typeface="Times New Roman" panose="02020603050405020304" pitchFamily="18" charset="0"/>
              </a:rPr>
              <a:t>GetElem</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&amp;,int) const;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表中取值</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    bool </a:t>
            </a:r>
            <a:r>
              <a:rPr lang="en-US" altLang="zh-CN" sz="1600" dirty="0" err="1">
                <a:latin typeface="Times New Roman" panose="02020603050405020304" pitchFamily="18" charset="0"/>
                <a:cs typeface="Times New Roman" panose="02020603050405020304" pitchFamily="18" charset="0"/>
              </a:rPr>
              <a:t>SetElem</a:t>
            </a:r>
            <a:r>
              <a:rPr lang="en-US" altLang="zh-CN" sz="1600" dirty="0">
                <a:latin typeface="Times New Roman" panose="02020603050405020304" pitchFamily="18" charset="0"/>
                <a:cs typeface="Times New Roman" panose="02020603050405020304" pitchFamily="18" charset="0"/>
              </a:rPr>
              <a:t>( 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&amp;,int);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表中存值</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    int </a:t>
            </a:r>
            <a:r>
              <a:rPr lang="en-US" altLang="zh-CN" sz="1600" dirty="0" err="1">
                <a:latin typeface="Times New Roman" panose="02020603050405020304" pitchFamily="18" charset="0"/>
                <a:cs typeface="Times New Roman" panose="02020603050405020304" pitchFamily="18" charset="0"/>
              </a:rPr>
              <a:t>LocateElem</a:t>
            </a:r>
            <a:r>
              <a:rPr lang="en-US" altLang="zh-CN" sz="1600" dirty="0">
                <a:latin typeface="Times New Roman" panose="02020603050405020304" pitchFamily="18" charset="0"/>
                <a:cs typeface="Times New Roman" panose="02020603050405020304" pitchFamily="18" charset="0"/>
              </a:rPr>
              <a:t>(const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 const;</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查找表中符合条件的数据元素</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4"/>
          <p:cNvSpPr>
            <a:spLocks noGrp="1" noChangeArrowheads="1"/>
          </p:cNvSpPr>
          <p:nvPr>
            <p:ph type="body" idx="1"/>
          </p:nvPr>
        </p:nvSpPr>
        <p:spPr bwMode="auto">
          <a:xfrm>
            <a:off x="1045029" y="965083"/>
            <a:ext cx="9165771" cy="5786666"/>
          </a:xfr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noAutofit/>
          </a:bodyPr>
          <a:lstStyle/>
          <a:p>
            <a:pPr>
              <a:lnSpc>
                <a:spcPct val="80000"/>
              </a:lnSpc>
              <a:buFontTx/>
              <a:buNone/>
            </a:pPr>
            <a:r>
              <a:rPr lang="en-US" altLang="zh-CN" sz="1600" dirty="0">
                <a:latin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LocatePrior</a:t>
            </a:r>
            <a:r>
              <a:rPr lang="en-US" altLang="zh-CN" sz="1600" dirty="0">
                <a:latin typeface="Times New Roman" panose="02020603050405020304" pitchFamily="18" charset="0"/>
                <a:cs typeface="Times New Roman" panose="02020603050405020304" pitchFamily="18" charset="0"/>
              </a:rPr>
              <a:t>(const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 const;</a:t>
            </a:r>
            <a:endParaRPr lang="en-US" altLang="zh-CN" sz="1600" dirty="0">
              <a:latin typeface="Times New Roman" panose="02020603050405020304" pitchFamily="18" charset="0"/>
              <a:cs typeface="Times New Roman" panose="02020603050405020304" pitchFamily="18" charset="0"/>
            </a:endParaRPr>
          </a:p>
          <a:p>
            <a:pPr>
              <a:lnSpc>
                <a:spcPct val="80000"/>
              </a:lnSpc>
              <a:buFontTx/>
              <a:buNone/>
            </a:pP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查找表中符合条件的数据元素的前驱</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int </a:t>
            </a:r>
            <a:r>
              <a:rPr lang="en-US" altLang="zh-CN" sz="1600" dirty="0" err="1">
                <a:latin typeface="Times New Roman" panose="02020603050405020304" pitchFamily="18" charset="0"/>
                <a:cs typeface="Times New Roman" panose="02020603050405020304" pitchFamily="18" charset="0"/>
              </a:rPr>
              <a:t>LocateNext</a:t>
            </a:r>
            <a:r>
              <a:rPr lang="en-US" altLang="zh-CN" sz="1600" dirty="0">
                <a:latin typeface="Times New Roman" panose="02020603050405020304" pitchFamily="18" charset="0"/>
                <a:cs typeface="Times New Roman" panose="02020603050405020304" pitchFamily="18" charset="0"/>
              </a:rPr>
              <a:t>(const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 const ;</a:t>
            </a:r>
            <a:endParaRPr lang="en-US" altLang="zh-CN" sz="1600" dirty="0">
              <a:latin typeface="Times New Roman" panose="02020603050405020304" pitchFamily="18" charset="0"/>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//查找表中符合条件的数据元素的后继</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bool Insert(const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 int);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在表中指定位置插入</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bool Append(const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表尾插入</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bool Delete(</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&amp;,int);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删除表中指定位置的数据元素</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void Traverse(void(*visit)(const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&amp;)) const;</a:t>
            </a:r>
            <a:endParaRPr lang="en-US" altLang="zh-CN" sz="1600" dirty="0">
              <a:latin typeface="Times New Roman" panose="02020603050405020304" pitchFamily="18" charset="0"/>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单链表的遍历</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zh-CN" altLang="en-US"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 operator=(const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&gt;&amp;);</a:t>
            </a:r>
            <a:endParaRPr lang="en-US" altLang="zh-CN" sz="1600" dirty="0">
              <a:latin typeface="Times New Roman" panose="02020603050405020304" pitchFamily="18" charset="0"/>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 赋值运算符=的重载</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private:</a:t>
            </a:r>
            <a:endParaRPr lang="en-US" altLang="zh-CN" sz="1600" dirty="0">
              <a:latin typeface="Times New Roman" panose="02020603050405020304" pitchFamily="18" charset="0"/>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int </a:t>
            </a:r>
            <a:r>
              <a:rPr lang="en-US" altLang="zh-CN" sz="1600" dirty="0" err="1">
                <a:latin typeface="Times New Roman" panose="02020603050405020304" pitchFamily="18" charset="0"/>
                <a:cs typeface="Times New Roman" panose="02020603050405020304" pitchFamily="18" charset="0"/>
              </a:rPr>
              <a:t>len</a:t>
            </a:r>
            <a:r>
              <a:rPr lang="en-US" altLang="zh-CN" sz="1600" dirty="0">
                <a:latin typeface="Times New Roman" panose="02020603050405020304" pitchFamily="18" charset="0"/>
                <a:cs typeface="Times New Roman" panose="02020603050405020304" pitchFamily="18" charset="0"/>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//元素个数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LinkNode</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 *head;</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//头指针</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LinkNode</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 *tail;</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尾指针</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    void </a:t>
            </a:r>
            <a:r>
              <a:rPr lang="en-US" altLang="zh-CN" sz="1600" dirty="0" err="1">
                <a:latin typeface="Times New Roman" panose="02020603050405020304" pitchFamily="18" charset="0"/>
                <a:cs typeface="Times New Roman" panose="02020603050405020304" pitchFamily="18" charset="0"/>
              </a:rPr>
              <a:t>CopyFrom</a:t>
            </a:r>
            <a:r>
              <a:rPr lang="en-US" altLang="zh-CN" sz="1600" dirty="0">
                <a:latin typeface="Times New Roman" panose="02020603050405020304" pitchFamily="18" charset="0"/>
                <a:cs typeface="Times New Roman" panose="02020603050405020304" pitchFamily="18" charset="0"/>
              </a:rPr>
              <a:t>(const </a:t>
            </a:r>
            <a:r>
              <a:rPr lang="en-US" altLang="zh-CN" sz="1600" dirty="0" err="1">
                <a:latin typeface="Times New Roman" panose="02020603050405020304" pitchFamily="18" charset="0"/>
                <a:cs typeface="Times New Roman" panose="02020603050405020304" pitchFamily="18" charset="0"/>
              </a:rPr>
              <a:t>LinkList</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&gt;&amp;);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拷贝函数</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nSpc>
                <a:spcPct val="80000"/>
              </a:lnSpc>
              <a:buNone/>
            </a:pPr>
            <a:r>
              <a:rPr lang="en-US" altLang="zh-CN" sz="1600" dirty="0">
                <a:latin typeface="Times New Roman" panose="02020603050405020304" pitchFamily="18" charset="0"/>
                <a:cs typeface="Times New Roman" panose="02020603050405020304" pitchFamily="18" charset="0"/>
              </a:rPr>
              <a:t>#endif </a:t>
            </a:r>
            <a:endParaRPr lang="en-US" altLang="en-US" sz="1600" dirty="0">
              <a:latin typeface="Times New Roman" panose="02020603050405020304" pitchFamily="18" charset="0"/>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C++</a:t>
            </a:r>
            <a:r>
              <a:rPr lang="zh-CN" altLang="en-US" sz="3600" b="1" dirty="0">
                <a:solidFill>
                  <a:schemeClr val="bg1"/>
                </a:solidFill>
                <a:latin typeface="微软雅黑" panose="020B0503020204020204" pitchFamily="34" charset="-122"/>
                <a:ea typeface="微软雅黑" panose="020B0503020204020204" pitchFamily="34" charset="-122"/>
              </a:rPr>
              <a:t>语言描述的单链表类模板 </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内容占位符 2"/>
          <p:cNvSpPr>
            <a:spLocks noGrp="1"/>
          </p:cNvSpPr>
          <p:nvPr>
            <p:ph idx="4294967295"/>
          </p:nvPr>
        </p:nvSpPr>
        <p:spPr>
          <a:xfrm>
            <a:off x="682752" y="1181100"/>
            <a:ext cx="8229600" cy="3657600"/>
          </a:xfrm>
        </p:spPr>
        <p:txBody>
          <a:bodyPr>
            <a:normAutofit/>
          </a:bodyPr>
          <a:lstStyle/>
          <a:p>
            <a:r>
              <a:rPr lang="zh-CN" altLang="en-US" sz="2000" dirty="0">
                <a:latin typeface="微软雅黑" panose="020B0503020204020204" pitchFamily="34" charset="-122"/>
                <a:ea typeface="微软雅黑" panose="020B0503020204020204" pitchFamily="34" charset="-122"/>
              </a:rPr>
              <a:t>单链表初始化（缺省构造函数 ）</a:t>
            </a:r>
            <a:endParaRPr lang="zh-CN" altLang="en-US" sz="2000"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82752" y="1792934"/>
            <a:ext cx="73914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构造一个带表头结点的空单链表</a:t>
            </a:r>
            <a:endParaRPr lang="zh-CN" altLang="en-US" dirty="0">
              <a:latin typeface="微软雅黑" panose="020B0503020204020204" pitchFamily="34" charset="-122"/>
              <a:ea typeface="微软雅黑" panose="020B0503020204020204" pitchFamily="34" charset="-122"/>
            </a:endParaRPr>
          </a:p>
          <a:p>
            <a:pPr>
              <a:spcBef>
                <a:spcPct val="20000"/>
              </a:spcBef>
              <a:defRPr/>
            </a:pPr>
            <a:r>
              <a:rPr lang="en-US" altLang="zh-CN" dirty="0">
                <a:latin typeface="Times New Roman" panose="02020603050405020304" pitchFamily="18" charset="0"/>
                <a:cs typeface="Times New Roman" panose="02020603050405020304" pitchFamily="18" charset="0"/>
              </a:rPr>
              <a:t>template&lt;class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 0;</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head = tail = new </a:t>
            </a:r>
            <a:r>
              <a:rPr lang="en-US" altLang="zh-CN" dirty="0" err="1">
                <a:latin typeface="Times New Roman" panose="02020603050405020304" pitchFamily="18" charset="0"/>
                <a:cs typeface="Times New Roman" panose="02020603050405020304" pitchFamily="18" charset="0"/>
              </a:rPr>
              <a:t>LinkNode</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head-&gt;next = NULL;</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55301" name="Rectangle 6"/>
          <p:cNvSpPr>
            <a:spLocks noChangeArrowheads="1"/>
          </p:cNvSpPr>
          <p:nvPr/>
        </p:nvSpPr>
        <p:spPr bwMode="gray">
          <a:xfrm>
            <a:off x="5949966" y="27790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55302" name="Object 5"/>
          <p:cNvGraphicFramePr>
            <a:graphicFrameLocks noChangeAspect="1"/>
          </p:cNvGraphicFramePr>
          <p:nvPr/>
        </p:nvGraphicFramePr>
        <p:xfrm>
          <a:off x="2514600" y="4953000"/>
          <a:ext cx="5257800" cy="1371600"/>
        </p:xfrm>
        <a:graphic>
          <a:graphicData uri="http://schemas.openxmlformats.org/presentationml/2006/ole">
            <mc:AlternateContent xmlns:mc="http://schemas.openxmlformats.org/markup-compatibility/2006">
              <mc:Choice xmlns:v="urn:schemas-microsoft-com:vml" Requires="v">
                <p:oleObj spid="_x0000_s0" name="" r:id="rId1" imgW="3136900" imgH="1130300" progId="Visio.Drawing.11">
                  <p:embed/>
                </p:oleObj>
              </mc:Choice>
              <mc:Fallback>
                <p:oleObj name="" r:id="rId1" imgW="3136900" imgH="113030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953000"/>
                        <a:ext cx="5257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4294967295"/>
          </p:nvPr>
        </p:nvSpPr>
        <p:spPr>
          <a:xfrm>
            <a:off x="392806" y="1181101"/>
            <a:ext cx="8229600" cy="3657600"/>
          </a:xfrm>
        </p:spPr>
        <p:txBody>
          <a:bodyPr>
            <a:normAutofit/>
          </a:bodyPr>
          <a:lstStyle/>
          <a:p>
            <a:pPr marL="457200" indent="-457200"/>
            <a:r>
              <a:rPr lang="zh-CN" altLang="en-US" sz="2000" dirty="0">
                <a:latin typeface="微软雅黑" panose="020B0503020204020204" pitchFamily="34" charset="-122"/>
                <a:ea typeface="微软雅黑" panose="020B0503020204020204" pitchFamily="34" charset="-122"/>
              </a:rPr>
              <a:t>单链表的复制（拷贝构造函数）</a:t>
            </a:r>
            <a:endParaRPr lang="zh-CN" altLang="en-US" sz="2000"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43668" y="2137354"/>
            <a:ext cx="73914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rPr>
              <a:t>拷贝构造函数。从现有的单链表拷贝构造出一个单链表</a:t>
            </a:r>
            <a:endParaRPr lang="zh-CN" altLang="en-US" dirty="0">
              <a:latin typeface="微软雅黑" panose="020B0503020204020204" pitchFamily="34" charset="-122"/>
              <a:ea typeface="微软雅黑" panose="020B0503020204020204" pitchFamily="34" charset="-122"/>
            </a:endParaRPr>
          </a:p>
          <a:p>
            <a:pPr>
              <a:spcBef>
                <a:spcPct val="20000"/>
              </a:spcBef>
              <a:defRPr/>
            </a:pPr>
            <a:r>
              <a:rPr lang="en-US" altLang="zh-CN" dirty="0">
                <a:latin typeface="Times New Roman" panose="02020603050405020304" pitchFamily="18" charset="0"/>
                <a:cs typeface="Times New Roman" panose="02020603050405020304" pitchFamily="18" charset="0"/>
              </a:rPr>
              <a:t>template&lt;class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(const </a:t>
            </a: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 &amp;r)</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CopyFrom</a:t>
            </a:r>
            <a:r>
              <a:rPr lang="en-US" altLang="zh-CN" dirty="0">
                <a:latin typeface="Times New Roman" panose="02020603050405020304" pitchFamily="18" charset="0"/>
                <a:cs typeface="Times New Roman" panose="02020603050405020304" pitchFamily="18" charset="0"/>
              </a:rPr>
              <a:t>(r);// </a:t>
            </a: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r</a:t>
            </a:r>
            <a:r>
              <a:rPr lang="zh-CN" altLang="en-US" dirty="0">
                <a:latin typeface="微软雅黑" panose="020B0503020204020204" pitchFamily="34" charset="-122"/>
                <a:ea typeface="微软雅黑" panose="020B0503020204020204" pitchFamily="34" charset="-122"/>
              </a:rPr>
              <a:t>所引用的链表中复制所有的结点</a:t>
            </a:r>
            <a:endParaRPr lang="zh-CN" altLang="en-US" dirty="0">
              <a:latin typeface="微软雅黑" panose="020B0503020204020204" pitchFamily="34" charset="-122"/>
              <a:ea typeface="微软雅黑" panose="020B0503020204020204" pitchFamily="34" charset="-122"/>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56324" name="Rectangle 5"/>
          <p:cNvSpPr>
            <a:spLocks noChangeArrowheads="1"/>
          </p:cNvSpPr>
          <p:nvPr/>
        </p:nvSpPr>
        <p:spPr bwMode="gray">
          <a:xfrm>
            <a:off x="5949966" y="27790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2"/>
          <p:cNvSpPr>
            <a:spLocks noGrp="1"/>
          </p:cNvSpPr>
          <p:nvPr>
            <p:ph idx="4294967295"/>
          </p:nvPr>
        </p:nvSpPr>
        <p:spPr>
          <a:xfrm>
            <a:off x="392806" y="1181101"/>
            <a:ext cx="8229600" cy="3657600"/>
          </a:xfrm>
        </p:spPr>
        <p:txBody>
          <a:bodyPr>
            <a:normAutofit/>
          </a:bodyPr>
          <a:lstStyle/>
          <a:p>
            <a:pPr marL="457200" indent="-457200"/>
            <a:r>
              <a:rPr lang="zh-CN" altLang="en-US" sz="2000" dirty="0">
                <a:latin typeface="微软雅黑" panose="020B0503020204020204" pitchFamily="34" charset="-122"/>
                <a:ea typeface="微软雅黑" panose="020B0503020204020204" pitchFamily="34" charset="-122"/>
              </a:rPr>
              <a:t>单链表结构的销毁（析构函数 ）</a:t>
            </a:r>
            <a:endParaRPr lang="zh-CN" altLang="en-US" sz="2000"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392806" y="1981200"/>
            <a:ext cx="7391400" cy="2895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rPr>
              <a:t>析构函数</a:t>
            </a:r>
            <a:endParaRPr lang="zh-CN" altLang="en-US" dirty="0">
              <a:latin typeface="微软雅黑" panose="020B0503020204020204" pitchFamily="34" charset="-122"/>
              <a:ea typeface="微软雅黑" panose="020B0503020204020204" pitchFamily="34" charset="-122"/>
            </a:endParaRPr>
          </a:p>
          <a:p>
            <a:pPr>
              <a:spcBef>
                <a:spcPct val="20000"/>
              </a:spcBef>
              <a:defRPr/>
            </a:pPr>
            <a:r>
              <a:rPr lang="en-US" altLang="zh-CN" dirty="0">
                <a:latin typeface="Times New Roman" panose="02020603050405020304" pitchFamily="18" charset="0"/>
              </a:rPr>
              <a:t>template &lt;class </a:t>
            </a:r>
            <a:r>
              <a:rPr lang="en-US" altLang="zh-CN" dirty="0" err="1">
                <a:latin typeface="Times New Roman" panose="02020603050405020304" pitchFamily="18" charset="0"/>
              </a:rPr>
              <a:t>ElemType</a:t>
            </a:r>
            <a:r>
              <a:rPr lang="en-US" altLang="zh-CN" dirty="0">
                <a:latin typeface="Times New Roman" panose="02020603050405020304" pitchFamily="18" charset="0"/>
              </a:rPr>
              <a:t>&gt;</a:t>
            </a:r>
            <a:endParaRPr lang="en-US" altLang="zh-CN" dirty="0">
              <a:latin typeface="Times New Roman" panose="02020603050405020304" pitchFamily="18" charset="0"/>
            </a:endParaRPr>
          </a:p>
          <a:p>
            <a:pPr>
              <a:spcBef>
                <a:spcPct val="20000"/>
              </a:spcBef>
              <a:defRPr/>
            </a:pPr>
            <a:r>
              <a:rPr lang="en-US" altLang="zh-CN" dirty="0" err="1">
                <a:latin typeface="Times New Roman" panose="02020603050405020304" pitchFamily="18" charset="0"/>
              </a:rPr>
              <a:t>LinkList</a:t>
            </a:r>
            <a:r>
              <a:rPr lang="en-US" altLang="zh-CN" dirty="0">
                <a:latin typeface="Times New Roman" panose="02020603050405020304" pitchFamily="18" charset="0"/>
              </a:rPr>
              <a:t>&lt;</a:t>
            </a:r>
            <a:r>
              <a:rPr lang="en-US" altLang="zh-CN" dirty="0" err="1">
                <a:latin typeface="Times New Roman" panose="02020603050405020304" pitchFamily="18" charset="0"/>
              </a:rPr>
              <a:t>ElemType</a:t>
            </a:r>
            <a:r>
              <a:rPr lang="en-US" altLang="zh-CN" dirty="0">
                <a:latin typeface="Times New Roman" panose="02020603050405020304" pitchFamily="18" charset="0"/>
              </a:rPr>
              <a:t>&gt;::~</a:t>
            </a:r>
            <a:r>
              <a:rPr lang="en-US" altLang="zh-CN" dirty="0" err="1">
                <a:latin typeface="Times New Roman" panose="02020603050405020304" pitchFamily="18" charset="0"/>
              </a:rPr>
              <a:t>LinkList</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a:spcBef>
                <a:spcPct val="20000"/>
              </a:spcBef>
              <a:defRPr/>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Clear();            //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释放所有的数据结点</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delete head;       // </a:t>
            </a:r>
            <a:r>
              <a:rPr lang="zh-CN" altLang="en-US" dirty="0">
                <a:latin typeface="Times New Roman" panose="02020603050405020304" pitchFamily="18" charset="0"/>
                <a:cs typeface="Times New Roman" panose="02020603050405020304" pitchFamily="18" charset="0"/>
              </a:rPr>
              <a:t>释放头结点</a:t>
            </a:r>
            <a:endParaRPr lang="zh-CN" altLang="en-US"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57348" name="Rectangle 5"/>
          <p:cNvSpPr>
            <a:spLocks noChangeArrowheads="1"/>
          </p:cNvSpPr>
          <p:nvPr/>
        </p:nvSpPr>
        <p:spPr bwMode="gray">
          <a:xfrm>
            <a:off x="5949966" y="27790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内容占位符 2"/>
          <p:cNvSpPr>
            <a:spLocks noGrp="1"/>
          </p:cNvSpPr>
          <p:nvPr>
            <p:ph idx="4294967295"/>
          </p:nvPr>
        </p:nvSpPr>
        <p:spPr>
          <a:xfrm>
            <a:off x="392806" y="1181101"/>
            <a:ext cx="8229600" cy="3657600"/>
          </a:xfrm>
        </p:spPr>
        <p:txBody>
          <a:bodyPr>
            <a:normAutofit/>
          </a:bodyPr>
          <a:lstStyle/>
          <a:p>
            <a:pPr marL="457200" indent="-457200"/>
            <a:r>
              <a:rPr lang="zh-CN" altLang="en-US" sz="2000" dirty="0">
                <a:latin typeface="微软雅黑" panose="020B0503020204020204" pitchFamily="34" charset="-122"/>
                <a:ea typeface="微软雅黑" panose="020B0503020204020204" pitchFamily="34" charset="-122"/>
              </a:rPr>
              <a:t>置单链表为空表</a:t>
            </a:r>
            <a:endParaRPr lang="zh-CN" altLang="en-US" sz="2000"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528726" y="1589103"/>
            <a:ext cx="9402674" cy="462970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释放单链表中的所有数据结点 </a:t>
            </a:r>
            <a:endParaRPr lang="zh-CN" altLang="en-US" dirty="0">
              <a:latin typeface="微软雅黑" panose="020B0503020204020204" pitchFamily="34" charset="-122"/>
              <a:ea typeface="微软雅黑" panose="020B0503020204020204" pitchFamily="34" charset="-122"/>
            </a:endParaRPr>
          </a:p>
          <a:p>
            <a:pPr>
              <a:spcBef>
                <a:spcPct val="20000"/>
              </a:spcBef>
              <a:defRPr/>
            </a:pPr>
            <a:r>
              <a:rPr lang="en-US" altLang="zh-CN" dirty="0">
                <a:latin typeface="Times New Roman" panose="02020603050405020304" pitchFamily="18" charset="0"/>
                <a:cs typeface="Times New Roman" panose="02020603050405020304" pitchFamily="18" charset="0"/>
              </a:rPr>
              <a:t>template &lt;class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LinkList</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&gt;::Clear()</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LinkNode</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 *p = head-&gt;next, *q;</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while (p)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q = p-&gt;next ;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delete p;</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p = q;</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tail = head;</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head-&gt;next = NULL;</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 = 0;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sz="1600"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p:txBody>
      </p:sp>
      <p:sp>
        <p:nvSpPr>
          <p:cNvPr id="58372" name="Rectangle 5"/>
          <p:cNvSpPr>
            <a:spLocks noChangeArrowheads="1"/>
          </p:cNvSpPr>
          <p:nvPr/>
        </p:nvSpPr>
        <p:spPr bwMode="gray">
          <a:xfrm>
            <a:off x="5949966" y="27790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58373" name="Object 6"/>
          <p:cNvGraphicFramePr>
            <a:graphicFrameLocks noChangeAspect="1"/>
          </p:cNvGraphicFramePr>
          <p:nvPr/>
        </p:nvGraphicFramePr>
        <p:xfrm>
          <a:off x="6426200" y="4114800"/>
          <a:ext cx="3505200" cy="1219200"/>
        </p:xfrm>
        <a:graphic>
          <a:graphicData uri="http://schemas.openxmlformats.org/presentationml/2006/ole">
            <mc:AlternateContent xmlns:mc="http://schemas.openxmlformats.org/markup-compatibility/2006">
              <mc:Choice xmlns:v="urn:schemas-microsoft-com:vml" Requires="v">
                <p:oleObj spid="_x0000_s0" name="" r:id="rId1" imgW="3136900" imgH="1130300" progId="Visio.Drawing.11">
                  <p:embed/>
                </p:oleObj>
              </mc:Choice>
              <mc:Fallback>
                <p:oleObj name="" r:id="rId1" imgW="3136900" imgH="1130300"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6200" y="4114800"/>
                        <a:ext cx="3505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1032998"/>
            <a:ext cx="8229600" cy="365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表中取值</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取单链表中序号为</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的数据元素值</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89305" y="1448435"/>
            <a:ext cx="7833995" cy="498856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返回单链表中序号为</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的数据元素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的合法值为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1≤i≤len)</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rPr>
              <a:t>template&lt;class </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bool </a:t>
            </a:r>
            <a:r>
              <a:rPr lang="en-US" altLang="zh-CN" b="0" dirty="0" err="1">
                <a:latin typeface="Times New Roman" panose="02020603050405020304" pitchFamily="18" charset="0"/>
              </a:rPr>
              <a:t>LinkList</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a:t>
            </a:r>
            <a:r>
              <a:rPr lang="en-US" altLang="zh-CN" b="0" dirty="0" err="1">
                <a:latin typeface="Times New Roman" panose="02020603050405020304" pitchFamily="18" charset="0"/>
              </a:rPr>
              <a:t>GetElem</a:t>
            </a:r>
            <a:r>
              <a:rPr lang="en-US" altLang="zh-CN" b="0" dirty="0">
                <a:latin typeface="Times New Roman" panose="02020603050405020304" pitchFamily="18" charset="0"/>
              </a:rPr>
              <a: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 &amp;e, int </a:t>
            </a:r>
            <a:r>
              <a:rPr lang="en-US" altLang="zh-CN" b="0" dirty="0" err="1">
                <a:latin typeface="Times New Roman" panose="02020603050405020304" pitchFamily="18" charset="0"/>
              </a:rPr>
              <a:t>i</a:t>
            </a:r>
            <a:r>
              <a:rPr lang="en-US" altLang="zh-CN" b="0" dirty="0">
                <a:latin typeface="Times New Roman" panose="02020603050405020304" pitchFamily="18" charset="0"/>
              </a:rPr>
              <a:t>) const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if (</a:t>
            </a:r>
            <a:r>
              <a:rPr lang="en-US" altLang="zh-CN" b="0" dirty="0" err="1">
                <a:latin typeface="Times New Roman" panose="02020603050405020304" pitchFamily="18" charset="0"/>
              </a:rPr>
              <a:t>i</a:t>
            </a:r>
            <a:r>
              <a:rPr lang="en-US" altLang="zh-CN" b="0" dirty="0">
                <a:latin typeface="Times New Roman" panose="02020603050405020304" pitchFamily="18" charset="0"/>
              </a:rPr>
              <a:t> &lt; 1 || </a:t>
            </a:r>
            <a:r>
              <a:rPr lang="en-US" altLang="zh-CN" b="0" dirty="0" err="1">
                <a:latin typeface="Times New Roman" panose="02020603050405020304" pitchFamily="18" charset="0"/>
              </a:rPr>
              <a:t>i</a:t>
            </a:r>
            <a:r>
              <a:rPr lang="en-US" altLang="zh-CN" b="0" dirty="0">
                <a:latin typeface="Times New Roman" panose="02020603050405020304" pitchFamily="18" charset="0"/>
              </a:rPr>
              <a:t> &gt; </a:t>
            </a:r>
            <a:r>
              <a:rPr lang="en-US" altLang="zh-CN" b="0" dirty="0" err="1">
                <a:latin typeface="Times New Roman" panose="02020603050405020304" pitchFamily="18" charset="0"/>
              </a:rPr>
              <a:t>len</a:t>
            </a: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return false;</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err="1">
                <a:latin typeface="Times New Roman" panose="02020603050405020304" pitchFamily="18" charset="0"/>
              </a:rPr>
              <a:t>LinkNode</a:t>
            </a:r>
            <a:r>
              <a:rPr lang="en-US" altLang="zh-CN" b="0" dirty="0">
                <a:latin typeface="Times New Roman" panose="02020603050405020304" pitchFamily="18" charset="0"/>
              </a:rPr>
              <a:t>&lt;</a:t>
            </a:r>
            <a:r>
              <a:rPr lang="en-US" altLang="zh-CN" b="0" dirty="0" err="1">
                <a:latin typeface="Times New Roman" panose="02020603050405020304" pitchFamily="18" charset="0"/>
              </a:rPr>
              <a:t>ElemType</a:t>
            </a:r>
            <a:r>
              <a:rPr lang="en-US" altLang="zh-CN" b="0" dirty="0">
                <a:latin typeface="Times New Roman" panose="02020603050405020304" pitchFamily="18" charset="0"/>
              </a:rPr>
              <a:t>&gt; *p = head-&gt;next;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int k = 1;</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while (k &lt; </a:t>
            </a:r>
            <a:r>
              <a:rPr lang="en-US" altLang="zh-CN" b="0" dirty="0" err="1">
                <a:latin typeface="Times New Roman" panose="02020603050405020304" pitchFamily="18" charset="0"/>
              </a:rPr>
              <a:t>i</a:t>
            </a:r>
            <a:r>
              <a:rPr lang="en-US" altLang="zh-CN" b="0" dirty="0">
                <a:latin typeface="Times New Roman" panose="02020603050405020304" pitchFamily="18" charset="0"/>
              </a:rPr>
              <a: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p = p-&gt;next;</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k++;</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e = p-&gt;data;</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return true;</a:t>
            </a:r>
            <a:endParaRPr lang="en-US" altLang="zh-CN" b="0" dirty="0">
              <a:latin typeface="Times New Roman" panose="02020603050405020304" pitchFamily="18" charset="0"/>
            </a:endParaRPr>
          </a:p>
          <a:p>
            <a:pPr>
              <a:spcBef>
                <a:spcPct val="20000"/>
              </a:spcBef>
              <a:defRPr/>
            </a:pPr>
            <a:r>
              <a:rPr lang="en-US" altLang="zh-CN" b="0" dirty="0">
                <a:latin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//时间复杂度为O (n) </a:t>
            </a:r>
            <a:endParaRPr lang="en-US" altLang="zh-CN"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内容占位符 2"/>
          <p:cNvSpPr/>
          <p:nvPr/>
        </p:nvSpPr>
        <p:spPr bwMode="gray">
          <a:xfrm>
            <a:off x="392806" y="1185672"/>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表中取值</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取单链表中序号为</a:t>
            </a:r>
            <a:r>
              <a:rPr lang="en-US" altLang="zh-CN" sz="2000" b="0" i="1" dirty="0">
                <a:latin typeface="微软雅黑" panose="020B0503020204020204" pitchFamily="34" charset="-122"/>
                <a:ea typeface="微软雅黑" panose="020B0503020204020204" pitchFamily="34" charset="-122"/>
              </a:rPr>
              <a:t>I </a:t>
            </a:r>
            <a:r>
              <a:rPr lang="zh-CN" altLang="en-US" sz="2000" b="0" dirty="0">
                <a:latin typeface="微软雅黑" panose="020B0503020204020204" pitchFamily="34" charset="-122"/>
                <a:ea typeface="微软雅黑" panose="020B0503020204020204" pitchFamily="34" charset="-122"/>
              </a:rPr>
              <a:t>的数据元素值</a:t>
            </a:r>
            <a:endParaRPr lang="zh-CN" altLang="en-US" sz="2000" b="0" dirty="0">
              <a:latin typeface="微软雅黑" panose="020B0503020204020204" pitchFamily="34" charset="-122"/>
              <a:ea typeface="微软雅黑" panose="020B0503020204020204" pitchFamily="34" charset="-122"/>
            </a:endParaRPr>
          </a:p>
        </p:txBody>
      </p:sp>
      <p:graphicFrame>
        <p:nvGraphicFramePr>
          <p:cNvPr id="9" name="Object 60"/>
          <p:cNvGraphicFramePr>
            <a:graphicFrameLocks noChangeAspect="1"/>
          </p:cNvGraphicFramePr>
          <p:nvPr/>
        </p:nvGraphicFramePr>
        <p:xfrm>
          <a:off x="392806" y="1947658"/>
          <a:ext cx="10676382" cy="3724670"/>
        </p:xfrm>
        <a:graphic>
          <a:graphicData uri="http://schemas.openxmlformats.org/presentationml/2006/ole">
            <mc:AlternateContent xmlns:mc="http://schemas.openxmlformats.org/markup-compatibility/2006">
              <mc:Choice xmlns:v="urn:schemas-microsoft-com:vml" Requires="v">
                <p:oleObj spid="_x0000_s0" name="" r:id="rId1" imgW="7353300" imgH="2578100" progId="Visio.Drawing.11">
                  <p:embed/>
                </p:oleObj>
              </mc:Choice>
              <mc:Fallback>
                <p:oleObj name="" r:id="rId1" imgW="7353300" imgH="2578100" progId="Visio.Drawing.11">
                  <p:embed/>
                  <p:pic>
                    <p:nvPicPr>
                      <p:cNvPr id="0" name="Object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806" y="1947658"/>
                        <a:ext cx="10676382" cy="3724670"/>
                      </a:xfrm>
                      <a:prstGeom prst="rect">
                        <a:avLst/>
                      </a:prstGeom>
                      <a:noFill/>
                      <a:ln>
                        <a:noFill/>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915853"/>
            <a:ext cx="11027664" cy="46832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表中存值</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在单链表中序号为</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的位置存入数据元素</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522605" y="1259205"/>
            <a:ext cx="10216515" cy="527685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在单链表中序号为</a:t>
            </a:r>
            <a:r>
              <a:rPr lang="en-US" altLang="zh-CN" b="0" dirty="0">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的位置存入数据元素</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 (i</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的合法值为</a:t>
            </a:r>
            <a:r>
              <a:rPr lang="en-US" altLang="zh-CN" b="0" dirty="0">
                <a:latin typeface="微软雅黑" panose="020B0503020204020204" pitchFamily="34" charset="-122"/>
                <a:ea typeface="微软雅黑" panose="020B0503020204020204" pitchFamily="34" charset="-122"/>
                <a:cs typeface="Times New Roman" panose="02020603050405020304" pitchFamily="18" charset="0"/>
              </a:rPr>
              <a:t>1≤i≤len)</a:t>
            </a:r>
            <a:endParaRPr lang="en-US" altLang="zh-CN" b="0" dirty="0">
              <a:latin typeface="微软雅黑" panose="020B0503020204020204" pitchFamily="34" charset="-122"/>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 &lt;class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SetElem</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const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a:t>
            </a:r>
            <a:r>
              <a:rPr lang="en-US" altLang="zh-CN" b="0" dirty="0" err="1">
                <a:latin typeface="Times New Roman" panose="02020603050405020304" pitchFamily="18" charset="0"/>
                <a:cs typeface="Times New Roman" panose="02020603050405020304" pitchFamily="18" charset="0"/>
              </a:rPr>
              <a:t>int</a:t>
            </a:r>
            <a:r>
              <a:rPr lang="en-US" altLang="zh-CN" b="0" dirty="0">
                <a:latin typeface="Times New Roman" panose="02020603050405020304" pitchFamily="18" charset="0"/>
                <a:cs typeface="Times New Roman" panose="02020603050405020304" pitchFamily="18" charset="0"/>
              </a:rPr>
              <a:t> i)</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(i &lt; 1 || i &gt; </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false;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LinkNode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*p = head-&gt;next;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int</a:t>
            </a:r>
            <a:r>
              <a:rPr lang="en-US" altLang="zh-CN" b="0" dirty="0">
                <a:latin typeface="Times New Roman" panose="02020603050405020304" pitchFamily="18" charset="0"/>
                <a:cs typeface="Times New Roman" panose="02020603050405020304" pitchFamily="18" charset="0"/>
              </a:rPr>
              <a:t> k = 1;</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while (k &lt; i)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p = p-&gt;next;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k++;</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p-&gt;data = 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p:nvPr/>
        </p:nvSpPr>
        <p:spPr bwMode="gray">
          <a:xfrm>
            <a:off x="522514" y="1031786"/>
            <a:ext cx="876779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b="0" dirty="0">
                <a:latin typeface="微软雅黑" panose="020B0503020204020204" pitchFamily="34" charset="-122"/>
                <a:ea typeface="微软雅黑" panose="020B0503020204020204" pitchFamily="34" charset="-122"/>
              </a:rPr>
              <a:t>表中存值</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在单链表中序号为</a:t>
            </a:r>
            <a:r>
              <a:rPr lang="en-US" altLang="zh-CN" sz="2000" b="0" dirty="0" err="1">
                <a:latin typeface="微软雅黑" panose="020B0503020204020204" pitchFamily="34" charset="-122"/>
                <a:ea typeface="微软雅黑" panose="020B0503020204020204" pitchFamily="34" charset="-122"/>
              </a:rPr>
              <a:t>i</a:t>
            </a:r>
            <a:r>
              <a:rPr lang="zh-CN" altLang="en-US" sz="2000" b="0" dirty="0">
                <a:latin typeface="微软雅黑" panose="020B0503020204020204" pitchFamily="34" charset="-122"/>
                <a:ea typeface="微软雅黑" panose="020B0503020204020204" pitchFamily="34" charset="-122"/>
              </a:rPr>
              <a:t>的位置存入数据元素</a:t>
            </a:r>
            <a:endParaRPr lang="zh-CN" altLang="en-US" sz="2000" b="0" dirty="0">
              <a:latin typeface="微软雅黑" panose="020B0503020204020204" pitchFamily="34" charset="-122"/>
              <a:ea typeface="微软雅黑" panose="020B0503020204020204" pitchFamily="34" charset="-122"/>
            </a:endParaRPr>
          </a:p>
        </p:txBody>
      </p:sp>
      <p:graphicFrame>
        <p:nvGraphicFramePr>
          <p:cNvPr id="8" name="Object 6"/>
          <p:cNvGraphicFramePr>
            <a:graphicFrameLocks noChangeAspect="1"/>
          </p:cNvGraphicFramePr>
          <p:nvPr/>
        </p:nvGraphicFramePr>
        <p:xfrm>
          <a:off x="204788" y="1828800"/>
          <a:ext cx="9985286" cy="3584448"/>
        </p:xfrm>
        <a:graphic>
          <a:graphicData uri="http://schemas.openxmlformats.org/presentationml/2006/ole">
            <mc:AlternateContent xmlns:mc="http://schemas.openxmlformats.org/markup-compatibility/2006">
              <mc:Choice xmlns:v="urn:schemas-microsoft-com:vml" Requires="v">
                <p:oleObj spid="_x0000_s0" name="" r:id="rId1" imgW="7366000" imgH="2476500" progId="Visio.Drawing.11">
                  <p:embed/>
                </p:oleObj>
              </mc:Choice>
              <mc:Fallback>
                <p:oleObj name="" r:id="rId1" imgW="7366000" imgH="2476500"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8" y="1828800"/>
                        <a:ext cx="9985286" cy="3584448"/>
                      </a:xfrm>
                      <a:prstGeom prst="rect">
                        <a:avLst/>
                      </a:prstGeom>
                      <a:noFill/>
                      <a:ln>
                        <a:noFill/>
                      </a:ln>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434607" y="991760"/>
            <a:ext cx="9893808" cy="381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表中查找</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在单链表中查找符合条件的数据元素位置</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522514" y="1530096"/>
            <a:ext cx="9206702" cy="490728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600" b="0" dirty="0">
                <a:latin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rPr>
              <a:t>从第一个位置起查找与</a:t>
            </a:r>
            <a:r>
              <a:rPr lang="en-US" altLang="zh-CN" sz="1600" b="0" dirty="0">
                <a:latin typeface="微软雅黑" panose="020B0503020204020204" pitchFamily="34" charset="-122"/>
                <a:ea typeface="微软雅黑" panose="020B0503020204020204" pitchFamily="34" charset="-122"/>
              </a:rPr>
              <a:t>e</a:t>
            </a:r>
            <a:r>
              <a:rPr lang="zh-CN" altLang="en-US" sz="1600" b="0" dirty="0">
                <a:latin typeface="微软雅黑" panose="020B0503020204020204" pitchFamily="34" charset="-122"/>
                <a:ea typeface="微软雅黑" panose="020B0503020204020204" pitchFamily="34" charset="-122"/>
              </a:rPr>
              <a:t>匹配的数据元素，若存在则返回该数据</a:t>
            </a:r>
            <a:endParaRPr lang="zh-CN" altLang="en-US" sz="1600" b="0" dirty="0">
              <a:latin typeface="微软雅黑" panose="020B0503020204020204" pitchFamily="34" charset="-122"/>
              <a:ea typeface="微软雅黑" panose="020B0503020204020204" pitchFamily="34" charset="-122"/>
            </a:endParaRPr>
          </a:p>
          <a:p>
            <a:pPr>
              <a:spcBef>
                <a:spcPct val="20000"/>
              </a:spcBef>
              <a:defRPr/>
            </a:pP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元素的位置</a:t>
            </a:r>
            <a:r>
              <a:rPr lang="zh-CN" altLang="en-US" sz="1600" dirty="0">
                <a:solidFill>
                  <a:srgbClr val="3333FF"/>
                </a:solidFill>
                <a:latin typeface="微软雅黑" panose="020B0503020204020204" pitchFamily="34" charset="-122"/>
                <a:ea typeface="微软雅黑" panose="020B0503020204020204" pitchFamily="34" charset="-122"/>
              </a:rPr>
              <a:t>如果</a:t>
            </a:r>
            <a:r>
              <a:rPr lang="en-US" altLang="zh-CN" sz="1600" dirty="0" err="1">
                <a:solidFill>
                  <a:srgbClr val="3333FF"/>
                </a:solidFill>
                <a:latin typeface="微软雅黑" panose="020B0503020204020204" pitchFamily="34" charset="-122"/>
                <a:ea typeface="微软雅黑" panose="020B0503020204020204" pitchFamily="34" charset="-122"/>
              </a:rPr>
              <a:t>ElemType</a:t>
            </a:r>
            <a:r>
              <a:rPr lang="zh-CN" altLang="en-US" sz="1600" dirty="0">
                <a:solidFill>
                  <a:srgbClr val="3333FF"/>
                </a:solidFill>
                <a:latin typeface="微软雅黑" panose="020B0503020204020204" pitchFamily="34" charset="-122"/>
                <a:ea typeface="微软雅黑" panose="020B0503020204020204" pitchFamily="34" charset="-122"/>
              </a:rPr>
              <a:t>引用的是一个复杂的数据类型，那么在</a:t>
            </a:r>
            <a:endParaRPr lang="zh-CN" altLang="en-US" sz="1600"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sz="1600" dirty="0">
                <a:solidFill>
                  <a:srgbClr val="3333FF"/>
                </a:solidFill>
                <a:latin typeface="微软雅黑" panose="020B0503020204020204" pitchFamily="34" charset="-122"/>
                <a:ea typeface="微软雅黑" panose="020B0503020204020204" pitchFamily="34" charset="-122"/>
              </a:rPr>
              <a:t>//</a:t>
            </a:r>
            <a:r>
              <a:rPr lang="zh-CN" altLang="en-US" sz="1600" dirty="0">
                <a:solidFill>
                  <a:srgbClr val="3333FF"/>
                </a:solidFill>
                <a:latin typeface="微软雅黑" panose="020B0503020204020204" pitchFamily="34" charset="-122"/>
                <a:ea typeface="微软雅黑" panose="020B0503020204020204" pitchFamily="34" charset="-122"/>
              </a:rPr>
              <a:t>定义</a:t>
            </a:r>
            <a:r>
              <a:rPr lang="en-US" altLang="zh-CN" sz="1600" dirty="0" err="1">
                <a:solidFill>
                  <a:srgbClr val="3333FF"/>
                </a:solidFill>
                <a:latin typeface="微软雅黑" panose="020B0503020204020204" pitchFamily="34" charset="-122"/>
                <a:ea typeface="微软雅黑" panose="020B0503020204020204" pitchFamily="34" charset="-122"/>
              </a:rPr>
              <a:t>ElemType</a:t>
            </a:r>
            <a:r>
              <a:rPr lang="zh-CN" altLang="en-US" sz="1600" dirty="0">
                <a:solidFill>
                  <a:srgbClr val="3333FF"/>
                </a:solidFill>
                <a:latin typeface="微软雅黑" panose="020B0503020204020204" pitchFamily="34" charset="-122"/>
                <a:ea typeface="微软雅黑" panose="020B0503020204020204" pitchFamily="34" charset="-122"/>
              </a:rPr>
              <a:t>引用的数据类型时，必须重载</a:t>
            </a:r>
            <a:r>
              <a:rPr lang="en-US" altLang="zh-CN" sz="1600" dirty="0">
                <a:solidFill>
                  <a:srgbClr val="3333FF"/>
                </a:solidFill>
                <a:latin typeface="微软雅黑" panose="020B0503020204020204" pitchFamily="34" charset="-122"/>
                <a:ea typeface="微软雅黑" panose="020B0503020204020204" pitchFamily="34" charset="-122"/>
              </a:rPr>
              <a:t>!=</a:t>
            </a:r>
            <a:r>
              <a:rPr lang="zh-CN" altLang="en-US" sz="1600" dirty="0">
                <a:solidFill>
                  <a:srgbClr val="3333FF"/>
                </a:solidFill>
                <a:latin typeface="微软雅黑" panose="020B0503020204020204" pitchFamily="34" charset="-122"/>
                <a:ea typeface="微软雅黑" panose="020B0503020204020204" pitchFamily="34" charset="-122"/>
              </a:rPr>
              <a:t>运算符</a:t>
            </a:r>
            <a:endParaRPr lang="zh-CN" altLang="en-US" sz="1600"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template&lt;class </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a:t>
            </a:r>
            <a:r>
              <a:rPr lang="en-US" altLang="zh-CN"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int </a:t>
            </a:r>
            <a:r>
              <a:rPr lang="en-US" altLang="zh-CN" sz="1600" b="0" dirty="0" err="1">
                <a:latin typeface="Times New Roman" panose="02020603050405020304" pitchFamily="18" charset="0"/>
                <a:cs typeface="Times New Roman" panose="02020603050405020304" pitchFamily="18" charset="0"/>
              </a:rPr>
              <a:t>LinkList</a:t>
            </a:r>
            <a:r>
              <a:rPr lang="en-US" altLang="zh-CN" sz="1600" b="0" dirty="0">
                <a:latin typeface="Times New Roman" panose="02020603050405020304" pitchFamily="18" charset="0"/>
                <a:cs typeface="Times New Roman" panose="02020603050405020304" pitchFamily="18" charset="0"/>
              </a:rPr>
              <a:t>&lt;</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a:t>
            </a:r>
            <a:r>
              <a:rPr lang="en-US" altLang="zh-CN" sz="1600" b="0" dirty="0" err="1">
                <a:latin typeface="Times New Roman" panose="02020603050405020304" pitchFamily="18" charset="0"/>
                <a:cs typeface="Times New Roman" panose="02020603050405020304" pitchFamily="18" charset="0"/>
              </a:rPr>
              <a:t>LocateElem</a:t>
            </a:r>
            <a:r>
              <a:rPr lang="en-US" altLang="zh-CN" sz="1600" b="0" dirty="0">
                <a:latin typeface="Times New Roman" panose="02020603050405020304" pitchFamily="18" charset="0"/>
                <a:cs typeface="Times New Roman" panose="02020603050405020304" pitchFamily="18" charset="0"/>
              </a:rPr>
              <a:t>(const </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 &amp;e) const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int </a:t>
            </a:r>
            <a:r>
              <a:rPr lang="en-US" altLang="zh-CN" sz="1600" b="0" dirty="0" err="1">
                <a:latin typeface="Times New Roman" panose="02020603050405020304" pitchFamily="18" charset="0"/>
                <a:cs typeface="Times New Roman" panose="02020603050405020304" pitchFamily="18" charset="0"/>
              </a:rPr>
              <a:t>i</a:t>
            </a:r>
            <a:r>
              <a:rPr lang="en-US" altLang="zh-CN" sz="1600" b="0" dirty="0">
                <a:latin typeface="Times New Roman" panose="02020603050405020304" pitchFamily="18" charset="0"/>
                <a:cs typeface="Times New Roman" panose="02020603050405020304" pitchFamily="18" charset="0"/>
              </a:rPr>
              <a:t> = 1;</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r>
              <a:rPr lang="en-US" altLang="zh-CN" sz="1600" b="0" dirty="0" err="1">
                <a:latin typeface="Times New Roman" panose="02020603050405020304" pitchFamily="18" charset="0"/>
                <a:cs typeface="Times New Roman" panose="02020603050405020304" pitchFamily="18" charset="0"/>
              </a:rPr>
              <a:t>LinkNode</a:t>
            </a:r>
            <a:r>
              <a:rPr lang="en-US" altLang="zh-CN" sz="1600" b="0" dirty="0">
                <a:latin typeface="Times New Roman" panose="02020603050405020304" pitchFamily="18" charset="0"/>
                <a:cs typeface="Times New Roman" panose="02020603050405020304" pitchFamily="18" charset="0"/>
              </a:rPr>
              <a:t>&lt;</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 *p = head-&gt;next;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while(p &amp;&amp; p-&gt;data != e)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r>
              <a:rPr lang="en-US" altLang="zh-CN" sz="1600" b="0" dirty="0" err="1">
                <a:latin typeface="Times New Roman" panose="02020603050405020304" pitchFamily="18" charset="0"/>
                <a:cs typeface="Times New Roman" panose="02020603050405020304" pitchFamily="18" charset="0"/>
              </a:rPr>
              <a:t>i</a:t>
            </a:r>
            <a:r>
              <a:rPr lang="en-US" altLang="zh-CN" sz="1600"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p = p-&gt;next;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if (p)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return </a:t>
            </a:r>
            <a:r>
              <a:rPr lang="en-US" altLang="zh-CN" sz="1600" b="0" dirty="0" err="1">
                <a:latin typeface="Times New Roman" panose="02020603050405020304" pitchFamily="18" charset="0"/>
                <a:cs typeface="Times New Roman" panose="02020603050405020304" pitchFamily="18" charset="0"/>
              </a:rPr>
              <a:t>i</a:t>
            </a:r>
            <a:r>
              <a:rPr lang="en-US" altLang="zh-CN" sz="1600"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dirty="0">
                <a:latin typeface="Times New Roman" panose="02020603050405020304" pitchFamily="18" charset="0"/>
                <a:cs typeface="Times New Roman" panose="02020603050405020304" pitchFamily="18" charset="0"/>
              </a:rPr>
              <a:t>    </a:t>
            </a:r>
            <a:r>
              <a:rPr lang="en-US" altLang="zh-CN" sz="1600" b="0" dirty="0">
                <a:latin typeface="Times New Roman" panose="02020603050405020304" pitchFamily="18" charset="0"/>
                <a:cs typeface="Times New Roman" panose="02020603050405020304" pitchFamily="18" charset="0"/>
              </a:rPr>
              <a:t>return 0;</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endParaRPr lang="zh-CN" altLang="en-US" sz="16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1031786"/>
            <a:ext cx="10323962" cy="381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在单链表中查找符合条件的数据元素之前驱</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740279" y="1667991"/>
            <a:ext cx="10323962" cy="4413549"/>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函数从第一个位置起查找与</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匹配的数据元素，若存在且不是第一个</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则返回该数据元素前驱的位置，</a:t>
            </a:r>
            <a:r>
              <a:rPr lang="zh-CN" altLang="en-US" dirty="0">
                <a:solidFill>
                  <a:srgbClr val="3333FF"/>
                </a:solidFill>
                <a:latin typeface="微软雅黑" panose="020B0503020204020204" pitchFamily="34" charset="-122"/>
                <a:ea typeface="微软雅黑" panose="020B0503020204020204" pitchFamily="34" charset="-122"/>
              </a:rPr>
              <a:t>如果</a:t>
            </a:r>
            <a:r>
              <a:rPr lang="en-US" altLang="zh-CN" dirty="0" err="1">
                <a:solidFill>
                  <a:srgbClr val="3333FF"/>
                </a:solidFill>
                <a:latin typeface="微软雅黑" panose="020B0503020204020204" pitchFamily="34" charset="-122"/>
                <a:ea typeface="微软雅黑" panose="020B0503020204020204" pitchFamily="34" charset="-122"/>
              </a:rPr>
              <a:t>ElemType</a:t>
            </a:r>
            <a:r>
              <a:rPr lang="zh-CN" altLang="en-US" dirty="0">
                <a:solidFill>
                  <a:srgbClr val="3333FF"/>
                </a:solidFill>
                <a:latin typeface="微软雅黑" panose="020B0503020204020204" pitchFamily="34" charset="-122"/>
                <a:ea typeface="微软雅黑" panose="020B0503020204020204" pitchFamily="34" charset="-122"/>
              </a:rPr>
              <a:t>引用的是一个复杂的</a:t>
            </a:r>
            <a:endParaRPr lang="zh-CN" altLang="en-US"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dirty="0">
                <a:solidFill>
                  <a:srgbClr val="3333FF"/>
                </a:solidFill>
                <a:latin typeface="微软雅黑" panose="020B0503020204020204" pitchFamily="34" charset="-122"/>
                <a:ea typeface="微软雅黑" panose="020B0503020204020204" pitchFamily="34" charset="-122"/>
              </a:rPr>
              <a:t>//</a:t>
            </a:r>
            <a:r>
              <a:rPr lang="zh-CN" altLang="en-US" dirty="0">
                <a:solidFill>
                  <a:srgbClr val="3333FF"/>
                </a:solidFill>
                <a:latin typeface="微软雅黑" panose="020B0503020204020204" pitchFamily="34" charset="-122"/>
                <a:ea typeface="微软雅黑" panose="020B0503020204020204" pitchFamily="34" charset="-122"/>
              </a:rPr>
              <a:t>数据类型，那么在定义</a:t>
            </a:r>
            <a:r>
              <a:rPr lang="en-US" altLang="zh-CN" dirty="0" err="1">
                <a:solidFill>
                  <a:srgbClr val="3333FF"/>
                </a:solidFill>
                <a:latin typeface="微软雅黑" panose="020B0503020204020204" pitchFamily="34" charset="-122"/>
                <a:ea typeface="微软雅黑" panose="020B0503020204020204" pitchFamily="34" charset="-122"/>
              </a:rPr>
              <a:t>ElemType</a:t>
            </a:r>
            <a:r>
              <a:rPr lang="zh-CN" altLang="en-US" dirty="0">
                <a:solidFill>
                  <a:srgbClr val="3333FF"/>
                </a:solidFill>
                <a:latin typeface="微软雅黑" panose="020B0503020204020204" pitchFamily="34" charset="-122"/>
                <a:ea typeface="微软雅黑" panose="020B0503020204020204" pitchFamily="34" charset="-122"/>
              </a:rPr>
              <a:t>引用的数据类型时，必须重载</a:t>
            </a:r>
            <a:r>
              <a:rPr lang="en-US" altLang="zh-CN" dirty="0">
                <a:solidFill>
                  <a:srgbClr val="3333FF"/>
                </a:solidFill>
                <a:latin typeface="微软雅黑" panose="020B0503020204020204" pitchFamily="34" charset="-122"/>
                <a:ea typeface="微软雅黑" panose="020B0503020204020204" pitchFamily="34" charset="-122"/>
              </a:rPr>
              <a:t>!=</a:t>
            </a:r>
            <a:r>
              <a:rPr lang="zh-CN" altLang="en-US" dirty="0">
                <a:solidFill>
                  <a:srgbClr val="3333FF"/>
                </a:solidFill>
                <a:latin typeface="微软雅黑" panose="020B0503020204020204" pitchFamily="34" charset="-122"/>
                <a:ea typeface="微软雅黑" panose="020B0503020204020204" pitchFamily="34" charset="-122"/>
              </a:rPr>
              <a:t>运算符</a:t>
            </a:r>
            <a:endParaRPr lang="zh-CN" altLang="en-US"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LocatePrior</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LocateElem</a:t>
            </a:r>
            <a:r>
              <a:rPr lang="en-US" altLang="zh-CN" b="0" dirty="0">
                <a:latin typeface="Times New Roman" panose="02020603050405020304" pitchFamily="18" charset="0"/>
                <a:cs typeface="Times New Roman" panose="02020603050405020304" pitchFamily="18" charset="0"/>
              </a:rPr>
              <a:t>(e);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&gt; 1)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- 1;</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else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0;</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522514" y="1031786"/>
            <a:ext cx="8229600" cy="381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在单链表中查找符合条件的数据元素之后继</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674914" y="1530526"/>
            <a:ext cx="8077200" cy="4800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函数从第一个位置起查找与</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匹配的数据元素，若存在且不是最后</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一个则返回该数据元素后继的位置。</a:t>
            </a:r>
            <a:r>
              <a:rPr lang="zh-CN" altLang="en-US" dirty="0">
                <a:solidFill>
                  <a:srgbClr val="3333FF"/>
                </a:solidFill>
                <a:latin typeface="微软雅黑" panose="020B0503020204020204" pitchFamily="34" charset="-122"/>
                <a:ea typeface="微软雅黑" panose="020B0503020204020204" pitchFamily="34" charset="-122"/>
              </a:rPr>
              <a:t>如果</a:t>
            </a:r>
            <a:r>
              <a:rPr lang="en-US" altLang="zh-CN" dirty="0" err="1">
                <a:solidFill>
                  <a:srgbClr val="3333FF"/>
                </a:solidFill>
                <a:latin typeface="微软雅黑" panose="020B0503020204020204" pitchFamily="34" charset="-122"/>
                <a:ea typeface="微软雅黑" panose="020B0503020204020204" pitchFamily="34" charset="-122"/>
              </a:rPr>
              <a:t>ElemType</a:t>
            </a:r>
            <a:r>
              <a:rPr lang="zh-CN" altLang="en-US" dirty="0">
                <a:solidFill>
                  <a:srgbClr val="3333FF"/>
                </a:solidFill>
                <a:latin typeface="微软雅黑" panose="020B0503020204020204" pitchFamily="34" charset="-122"/>
                <a:ea typeface="微软雅黑" panose="020B0503020204020204" pitchFamily="34" charset="-122"/>
              </a:rPr>
              <a:t>引用的是一个复</a:t>
            </a:r>
            <a:endParaRPr lang="zh-CN" altLang="en-US"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dirty="0">
                <a:solidFill>
                  <a:srgbClr val="3333FF"/>
                </a:solidFill>
                <a:latin typeface="微软雅黑" panose="020B0503020204020204" pitchFamily="34" charset="-122"/>
                <a:ea typeface="微软雅黑" panose="020B0503020204020204" pitchFamily="34" charset="-122"/>
              </a:rPr>
              <a:t>//</a:t>
            </a:r>
            <a:r>
              <a:rPr lang="zh-CN" altLang="en-US" dirty="0">
                <a:solidFill>
                  <a:srgbClr val="3333FF"/>
                </a:solidFill>
                <a:latin typeface="微软雅黑" panose="020B0503020204020204" pitchFamily="34" charset="-122"/>
                <a:ea typeface="微软雅黑" panose="020B0503020204020204" pitchFamily="34" charset="-122"/>
              </a:rPr>
              <a:t>杂的数据类型，那么在定义</a:t>
            </a:r>
            <a:r>
              <a:rPr lang="en-US" altLang="zh-CN" dirty="0" err="1">
                <a:solidFill>
                  <a:srgbClr val="3333FF"/>
                </a:solidFill>
                <a:latin typeface="微软雅黑" panose="020B0503020204020204" pitchFamily="34" charset="-122"/>
                <a:ea typeface="微软雅黑" panose="020B0503020204020204" pitchFamily="34" charset="-122"/>
              </a:rPr>
              <a:t>ElemType</a:t>
            </a:r>
            <a:r>
              <a:rPr lang="zh-CN" altLang="en-US" dirty="0">
                <a:solidFill>
                  <a:srgbClr val="3333FF"/>
                </a:solidFill>
                <a:latin typeface="微软雅黑" panose="020B0503020204020204" pitchFamily="34" charset="-122"/>
                <a:ea typeface="微软雅黑" panose="020B0503020204020204" pitchFamily="34" charset="-122"/>
              </a:rPr>
              <a:t>引用的数据类型时，必须</a:t>
            </a:r>
            <a:endParaRPr lang="zh-CN" altLang="en-US"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dirty="0">
                <a:solidFill>
                  <a:srgbClr val="3333FF"/>
                </a:solidFill>
                <a:latin typeface="微软雅黑" panose="020B0503020204020204" pitchFamily="34" charset="-122"/>
                <a:ea typeface="微软雅黑" panose="020B0503020204020204" pitchFamily="34" charset="-122"/>
              </a:rPr>
              <a:t>//</a:t>
            </a:r>
            <a:r>
              <a:rPr lang="zh-CN" altLang="en-US" dirty="0">
                <a:solidFill>
                  <a:srgbClr val="3333FF"/>
                </a:solidFill>
                <a:latin typeface="微软雅黑" panose="020B0503020204020204" pitchFamily="34" charset="-122"/>
                <a:ea typeface="微软雅黑" panose="020B0503020204020204" pitchFamily="34" charset="-122"/>
              </a:rPr>
              <a:t>重载</a:t>
            </a:r>
            <a:r>
              <a:rPr lang="en-US" altLang="zh-CN" dirty="0">
                <a:solidFill>
                  <a:srgbClr val="3333FF"/>
                </a:solidFill>
                <a:latin typeface="微软雅黑" panose="020B0503020204020204" pitchFamily="34" charset="-122"/>
                <a:ea typeface="微软雅黑" panose="020B0503020204020204" pitchFamily="34" charset="-122"/>
              </a:rPr>
              <a:t>!=</a:t>
            </a:r>
            <a:r>
              <a:rPr lang="zh-CN" altLang="en-US" dirty="0">
                <a:solidFill>
                  <a:srgbClr val="3333FF"/>
                </a:solidFill>
                <a:latin typeface="微软雅黑" panose="020B0503020204020204" pitchFamily="34" charset="-122"/>
                <a:ea typeface="微软雅黑" panose="020B0503020204020204" pitchFamily="34" charset="-122"/>
              </a:rPr>
              <a:t>运算符</a:t>
            </a:r>
            <a:endParaRPr lang="zh-CN" altLang="en-US" dirty="0">
              <a:solidFill>
                <a:srgbClr val="3333FF"/>
              </a:solidFill>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LocateNext</a:t>
            </a:r>
            <a:r>
              <a:rPr lang="en-US" altLang="zh-CN" b="0" dirty="0">
                <a:latin typeface="Times New Roman" panose="02020603050405020304" pitchFamily="18" charset="0"/>
                <a:cs typeface="Times New Roman" panose="02020603050405020304" pitchFamily="18" charset="0"/>
              </a:rPr>
              <a: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&amp;e) const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LocateElem</a:t>
            </a:r>
            <a:r>
              <a:rPr lang="en-US" altLang="zh-CN" b="0" dirty="0">
                <a:latin typeface="Times New Roman" panose="02020603050405020304" pitchFamily="18" charset="0"/>
                <a:cs typeface="Times New Roman" panose="02020603050405020304" pitchFamily="18" charset="0"/>
              </a:rPr>
              <a:t> (e);</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&gt;= 1 &amp;&amp;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&lt; </a:t>
            </a:r>
            <a:r>
              <a:rPr lang="en-US" altLang="zh-CN" b="0" dirty="0" err="1">
                <a:latin typeface="Times New Roman" panose="02020603050405020304" pitchFamily="18" charset="0"/>
                <a:cs typeface="Times New Roman" panose="02020603050405020304" pitchFamily="18" charset="0"/>
              </a:rPr>
              <a:t>len</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+ 1;</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0;</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522514" y="1465382"/>
            <a:ext cx="9667560" cy="449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defRPr/>
            </a:pPr>
            <a:r>
              <a:rPr lang="zh-CN" altLang="en-US" sz="2400" dirty="0">
                <a:latin typeface="微软雅黑" panose="020B0503020204020204" pitchFamily="34" charset="-122"/>
                <a:ea typeface="微软雅黑" panose="020B0503020204020204" pitchFamily="34" charset="-122"/>
              </a:rPr>
              <a:t>在单链表中</a:t>
            </a:r>
            <a:r>
              <a:rPr lang="zh-CN" altLang="en-US" sz="2400" b="1" dirty="0">
                <a:solidFill>
                  <a:srgbClr val="FF0000"/>
                </a:solidFill>
                <a:latin typeface="微软雅黑" panose="020B0503020204020204" pitchFamily="34" charset="-122"/>
                <a:ea typeface="微软雅黑" panose="020B0503020204020204" pitchFamily="34" charset="-122"/>
              </a:rPr>
              <a:t>第</a:t>
            </a:r>
            <a:r>
              <a:rPr lang="en-US" altLang="zh-CN" sz="2400" b="1" dirty="0" err="1">
                <a:solidFill>
                  <a:srgbClr val="FF0000"/>
                </a:solidFill>
                <a:latin typeface="微软雅黑" panose="020B0503020204020204" pitchFamily="34" charset="-122"/>
                <a:ea typeface="微软雅黑" panose="020B0503020204020204" pitchFamily="34" charset="-122"/>
              </a:rPr>
              <a:t>i</a:t>
            </a:r>
            <a:r>
              <a:rPr lang="zh-CN" altLang="en-US" sz="2400" b="1" dirty="0">
                <a:solidFill>
                  <a:srgbClr val="FF0000"/>
                </a:solidFill>
                <a:latin typeface="微软雅黑" panose="020B0503020204020204" pitchFamily="34" charset="-122"/>
                <a:ea typeface="微软雅黑" panose="020B0503020204020204" pitchFamily="34" charset="-122"/>
              </a:rPr>
              <a:t>个结点之前</a:t>
            </a:r>
            <a:r>
              <a:rPr lang="zh-CN" altLang="en-US" sz="2400" dirty="0">
                <a:latin typeface="微软雅黑" panose="020B0503020204020204" pitchFamily="34" charset="-122"/>
                <a:ea typeface="微软雅黑" panose="020B0503020204020204" pitchFamily="34" charset="-122"/>
              </a:rPr>
              <a:t>插入新的结点 </a:t>
            </a:r>
            <a:endParaRPr lang="en-US" altLang="zh-CN" sz="2400" dirty="0">
              <a:latin typeface="微软雅黑" panose="020B0503020204020204" pitchFamily="34" charset="-122"/>
              <a:ea typeface="微软雅黑" panose="020B0503020204020204" pitchFamily="34" charset="-122"/>
            </a:endParaRPr>
          </a:p>
          <a:p>
            <a:pPr marL="914400" lvl="1" indent="-457200">
              <a:lnSpc>
                <a:spcPct val="125000"/>
              </a:lnSpc>
              <a:defRPr/>
            </a:pPr>
            <a:r>
              <a:rPr lang="zh-CN" altLang="en-US" sz="2000" dirty="0">
                <a:latin typeface="微软雅黑" panose="020B0503020204020204" pitchFamily="34" charset="-122"/>
                <a:ea typeface="微软雅黑" panose="020B0503020204020204" pitchFamily="34" charset="-122"/>
              </a:rPr>
              <a:t>有序对</a:t>
            </a:r>
            <a:r>
              <a:rPr lang="en-US" altLang="zh-CN" sz="2000" dirty="0">
                <a:latin typeface="微软雅黑" panose="020B0503020204020204" pitchFamily="34" charset="-122"/>
                <a:ea typeface="微软雅黑" panose="020B0503020204020204" pitchFamily="34" charset="-122"/>
              </a:rPr>
              <a:t>&lt; </a:t>
            </a:r>
            <a:r>
              <a:rPr kumimoji="1" lang="en-US" altLang="zh-CN" sz="2000" b="1" dirty="0">
                <a:solidFill>
                  <a:srgbClr val="000099"/>
                </a:solidFill>
                <a:latin typeface="微软雅黑" panose="020B0503020204020204" pitchFamily="34" charset="-122"/>
                <a:ea typeface="微软雅黑" panose="020B0503020204020204" pitchFamily="34" charset="-122"/>
              </a:rPr>
              <a:t>ai-1, ai</a:t>
            </a:r>
            <a:r>
              <a:rPr lang="en-US" altLang="zh-CN" sz="2000" dirty="0">
                <a:latin typeface="微软雅黑" panose="020B0503020204020204" pitchFamily="34" charset="-122"/>
                <a:ea typeface="微软雅黑" panose="020B0503020204020204" pitchFamily="34" charset="-122"/>
              </a:rPr>
              <a:t> &gt;</a:t>
            </a:r>
            <a:r>
              <a:rPr lang="zh-CN" altLang="en-US" sz="2000" dirty="0">
                <a:latin typeface="微软雅黑" panose="020B0503020204020204" pitchFamily="34" charset="-122"/>
                <a:ea typeface="微软雅黑" panose="020B0503020204020204" pitchFamily="34" charset="-122"/>
              </a:rPr>
              <a:t>变为</a:t>
            </a:r>
            <a:r>
              <a:rPr lang="en-US" altLang="zh-CN" sz="2000" dirty="0">
                <a:latin typeface="微软雅黑" panose="020B0503020204020204" pitchFamily="34" charset="-122"/>
                <a:ea typeface="微软雅黑" panose="020B0503020204020204" pitchFamily="34" charset="-122"/>
              </a:rPr>
              <a:t>&lt; </a:t>
            </a:r>
            <a:r>
              <a:rPr kumimoji="1" lang="en-US" altLang="zh-CN" sz="2000" b="1" dirty="0">
                <a:solidFill>
                  <a:srgbClr val="000099"/>
                </a:solidFill>
                <a:latin typeface="微软雅黑" panose="020B0503020204020204" pitchFamily="34" charset="-122"/>
                <a:ea typeface="微软雅黑" panose="020B0503020204020204" pitchFamily="34" charset="-122"/>
              </a:rPr>
              <a:t>ai-1,x</a:t>
            </a:r>
            <a:r>
              <a:rPr lang="en-US" altLang="zh-CN" sz="2000" dirty="0">
                <a:latin typeface="微软雅黑" panose="020B0503020204020204" pitchFamily="34" charset="-122"/>
                <a:ea typeface="微软雅黑" panose="020B0503020204020204" pitchFamily="34" charset="-122"/>
              </a:rPr>
              <a:t> &gt;,&lt; </a:t>
            </a:r>
            <a:r>
              <a:rPr kumimoji="1" lang="en-US" altLang="zh-CN" sz="2000" b="1" dirty="0">
                <a:solidFill>
                  <a:srgbClr val="000099"/>
                </a:solidFill>
                <a:latin typeface="微软雅黑" panose="020B0503020204020204" pitchFamily="34" charset="-122"/>
                <a:ea typeface="微软雅黑" panose="020B0503020204020204" pitchFamily="34" charset="-122"/>
              </a:rPr>
              <a:t>x, ai</a:t>
            </a:r>
            <a:r>
              <a:rPr lang="en-US" altLang="zh-CN" sz="2000" dirty="0">
                <a:latin typeface="微软雅黑" panose="020B0503020204020204" pitchFamily="34" charset="-122"/>
                <a:ea typeface="微软雅黑" panose="020B0503020204020204" pitchFamily="34" charset="-122"/>
              </a:rPr>
              <a:t> &gt;</a:t>
            </a:r>
            <a:endParaRPr lang="en-US" altLang="zh-CN" sz="2000" dirty="0">
              <a:latin typeface="微软雅黑" panose="020B0503020204020204" pitchFamily="34" charset="-122"/>
              <a:ea typeface="微软雅黑" panose="020B0503020204020204" pitchFamily="34" charset="-122"/>
            </a:endParaRPr>
          </a:p>
          <a:p>
            <a:pPr marL="914400" lvl="1" indent="-457200">
              <a:lnSpc>
                <a:spcPct val="125000"/>
              </a:lnSpc>
              <a:defRPr/>
            </a:pPr>
            <a:r>
              <a:rPr lang="zh-CN" altLang="en-US" sz="2000" dirty="0">
                <a:latin typeface="微软雅黑" panose="020B0503020204020204" pitchFamily="34" charset="-122"/>
                <a:ea typeface="微软雅黑" panose="020B0503020204020204" pitchFamily="34" charset="-122"/>
              </a:rPr>
              <a:t>分二步实施：</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(1) </a:t>
            </a:r>
            <a:r>
              <a:rPr lang="zh-CN" altLang="en-US" sz="2000" dirty="0">
                <a:latin typeface="微软雅黑" panose="020B0503020204020204" pitchFamily="34" charset="-122"/>
                <a:ea typeface="微软雅黑" panose="020B0503020204020204" pitchFamily="34" charset="-122"/>
              </a:rPr>
              <a:t>先找到</a:t>
            </a: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i-1</a:t>
            </a:r>
            <a:r>
              <a:rPr lang="zh-CN" altLang="en-US" sz="2000" b="1" dirty="0">
                <a:solidFill>
                  <a:srgbClr val="FF0000"/>
                </a:solidFill>
                <a:latin typeface="微软雅黑" panose="020B0503020204020204" pitchFamily="34" charset="-122"/>
                <a:ea typeface="微软雅黑" panose="020B0503020204020204" pitchFamily="34" charset="-122"/>
              </a:rPr>
              <a:t>个结点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(2) </a:t>
            </a:r>
            <a:r>
              <a:rPr lang="zh-CN" altLang="en-US" sz="2000" dirty="0">
                <a:latin typeface="微软雅黑" panose="020B0503020204020204" pitchFamily="34" charset="-122"/>
                <a:ea typeface="微软雅黑" panose="020B0503020204020204" pitchFamily="34" charset="-122"/>
              </a:rPr>
              <a:t>后修改它的后继指针，插入结点 。</a:t>
            </a:r>
            <a:r>
              <a:rPr lang="zh-CN" altLang="en-US" sz="2000" dirty="0"/>
              <a:t>	</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4" end="4"/>
                                            </p:txEl>
                                          </p:spTgt>
                                        </p:tgtEl>
                                        <p:attrNameLst>
                                          <p:attrName>style.visibility</p:attrName>
                                        </p:attrNameLst>
                                      </p:cBhvr>
                                      <p:to>
                                        <p:strVal val="visible"/>
                                      </p:to>
                                    </p:set>
                                    <p:animEffect transition="in" filter="fade">
                                      <p:cBhvr>
                                        <p:cTn id="14" dur="1000"/>
                                        <p:tgtEl>
                                          <p:spTgt spid="6">
                                            <p:txEl>
                                              <p:pRg st="4" end="4"/>
                                            </p:txEl>
                                          </p:spTgt>
                                        </p:tgtEl>
                                      </p:cBhvr>
                                    </p:animEffect>
                                    <p:anim calcmode="lin" valueType="num">
                                      <p:cBhvr>
                                        <p:cTn id="1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1031786"/>
            <a:ext cx="8229600" cy="365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在单链表中第</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个结点之前插入新的结点</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685800" y="1600981"/>
            <a:ext cx="8458200" cy="4572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在单链表中第</a:t>
            </a:r>
            <a:r>
              <a:rPr lang="en-US" altLang="zh-CN" b="0" dirty="0">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个数据元素之前插入新的数据元素</a:t>
            </a:r>
            <a:r>
              <a:rPr lang="en-US" altLang="zh-CN" b="0" dirty="0">
                <a:latin typeface="微软雅黑" panose="020B0503020204020204" pitchFamily="34" charset="-122"/>
                <a:ea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rPr>
              <a:t>的合法值为</a:t>
            </a:r>
            <a:r>
              <a:rPr lang="en-US" altLang="zh-CN" b="0" dirty="0">
                <a:latin typeface="微软雅黑" panose="020B0503020204020204" pitchFamily="34" charset="-122"/>
                <a:ea typeface="微软雅黑" panose="020B0503020204020204" pitchFamily="34" charset="-122"/>
              </a:rPr>
              <a:t>1≤i≤len+1</a:t>
            </a:r>
            <a:r>
              <a:rPr lang="zh-CN" altLang="en-US" b="0" dirty="0">
                <a:latin typeface="微软雅黑" panose="020B0503020204020204" pitchFamily="34" charset="-122"/>
                <a:ea typeface="微软雅黑" panose="020B0503020204020204" pitchFamily="34" charset="-122"/>
              </a:rPr>
              <a:t>）</a:t>
            </a:r>
            <a:endParaRPr lang="zh-CN" altLang="en-US" b="0" dirty="0">
              <a:latin typeface="微软雅黑" panose="020B0503020204020204" pitchFamily="34" charset="-122"/>
              <a:ea typeface="微软雅黑" panose="020B0503020204020204" pitchFamily="34" charset="-122"/>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template&lt;class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bool</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LinkList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&gt;::Insert(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const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&amp;e,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&gt; *p, *q;</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if (i &lt; 1 || i &gt; </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+ 1)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return false;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插入位置</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值不合法</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1" action="ppaction://hlinksldjump"/>
              </a:rPr>
              <a:t>查找第</a:t>
            </a:r>
            <a:r>
              <a:rPr lang="en-US" altLang="zh-CN"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1" action="ppaction://hlinksldjump"/>
              </a:rPr>
              <a:t>i-1</a:t>
            </a:r>
            <a:r>
              <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1" action="ppaction://hlinksldjump"/>
              </a:rPr>
              <a:t>个结点；</a:t>
            </a:r>
            <a:endPar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生成新结点</a:t>
            </a:r>
            <a:r>
              <a:rPr lang="en-US" altLang="zh-CN"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q</a:t>
            </a:r>
            <a:r>
              <a:rPr lang="zh-CN" altLang="en-US"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并插入</a:t>
            </a:r>
            <a:r>
              <a:rPr lang="en-US" altLang="zh-CN" b="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 </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len</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表长增</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return true;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时间复杂度</a:t>
            </a:r>
            <a:r>
              <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O(n)</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b="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内容占位符 2"/>
          <p:cNvSpPr txBox="1"/>
          <p:nvPr/>
        </p:nvSpPr>
        <p:spPr>
          <a:xfrm>
            <a:off x="392806" y="1031786"/>
            <a:ext cx="8229600" cy="365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查找第</a:t>
            </a:r>
            <a:r>
              <a:rPr lang="en-US" altLang="zh-CN" sz="2000" dirty="0">
                <a:latin typeface="微软雅黑" panose="020B0503020204020204" pitchFamily="34" charset="-122"/>
                <a:ea typeface="微软雅黑" panose="020B0503020204020204" pitchFamily="34" charset="-122"/>
              </a:rPr>
              <a:t>i-1</a:t>
            </a:r>
            <a:r>
              <a:rPr lang="zh-CN" altLang="en-US" sz="2000" dirty="0">
                <a:latin typeface="微软雅黑" panose="020B0503020204020204" pitchFamily="34" charset="-122"/>
                <a:ea typeface="微软雅黑" panose="020B0503020204020204" pitchFamily="34" charset="-122"/>
              </a:rPr>
              <a:t>个结点</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9" name="Rectangle 4"/>
          <p:cNvSpPr>
            <a:spLocks noChangeArrowheads="1"/>
          </p:cNvSpPr>
          <p:nvPr/>
        </p:nvSpPr>
        <p:spPr bwMode="auto">
          <a:xfrm>
            <a:off x="643668" y="2050561"/>
            <a:ext cx="7391400" cy="2057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int</a:t>
            </a:r>
            <a:r>
              <a:rPr lang="en-US" altLang="zh-CN" sz="1800" b="0" dirty="0">
                <a:latin typeface="Times New Roman" panose="02020603050405020304" pitchFamily="18" charset="0"/>
                <a:cs typeface="Times New Roman" panose="02020603050405020304" pitchFamily="18" charset="0"/>
              </a:rPr>
              <a:t> k = 1;</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p = head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while (k &lt; i) {	</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指针定位在第</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i-1</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个结点上</a:t>
            </a:r>
            <a:endParaRPr lang="zh-CN" altLang="en-US" sz="1800" b="0" dirty="0">
              <a:latin typeface="Times New Roman" panose="02020603050405020304" pitchFamily="18" charset="0"/>
              <a:cs typeface="Times New Roman" panose="02020603050405020304" pitchFamily="18" charset="0"/>
            </a:endParaRPr>
          </a:p>
          <a:p>
            <a:pPr>
              <a:spcBef>
                <a:spcPct val="20000"/>
              </a:spcBef>
              <a:defRPr/>
            </a:pPr>
            <a:r>
              <a:rPr lang="zh-CN" altLang="en-US" sz="1800" b="0" dirty="0">
                <a:latin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cs typeface="Times New Roman" panose="02020603050405020304" pitchFamily="18" charset="0"/>
              </a:rPr>
              <a:t>p = p-&gt;next;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k++;</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type="body" idx="1"/>
          </p:nvPr>
        </p:nvSpPr>
        <p:spPr>
          <a:xfrm>
            <a:off x="800101" y="1253331"/>
            <a:ext cx="10515600" cy="4351338"/>
          </a:xfrm>
        </p:spPr>
        <p:txBody>
          <a:bodyPr/>
          <a:lstStyle/>
          <a:p>
            <a:r>
              <a:rPr lang="zh-CN" altLang="en-US" sz="2000" dirty="0">
                <a:latin typeface="微软雅黑" panose="020B0503020204020204" pitchFamily="34" charset="-122"/>
                <a:ea typeface="微软雅黑" panose="020B0503020204020204" pitchFamily="34" charset="-122"/>
              </a:rPr>
              <a:t>生成新结点，并插入</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
        <p:nvSpPr>
          <p:cNvPr id="4" name="Rectangle 4"/>
          <p:cNvSpPr>
            <a:spLocks noChangeArrowheads="1"/>
          </p:cNvSpPr>
          <p:nvPr/>
        </p:nvSpPr>
        <p:spPr bwMode="auto">
          <a:xfrm>
            <a:off x="2209800" y="1828800"/>
            <a:ext cx="7315200" cy="1524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Times New Roman" panose="02020603050405020304" pitchFamily="18" charset="0"/>
              </a:rPr>
              <a:t>❶   </a:t>
            </a:r>
            <a:r>
              <a:rPr lang="en-US" altLang="zh-CN" dirty="0">
                <a:latin typeface="Times New Roman" panose="02020603050405020304" pitchFamily="18" charset="0"/>
                <a:cs typeface="Times New Roman" panose="02020603050405020304" pitchFamily="18" charset="0"/>
              </a:rPr>
              <a:t>q = new </a:t>
            </a:r>
            <a:r>
              <a:rPr lang="en-US" altLang="zh-CN" dirty="0" err="1">
                <a:latin typeface="Times New Roman" panose="02020603050405020304" pitchFamily="18" charset="0"/>
                <a:cs typeface="Times New Roman" panose="02020603050405020304" pitchFamily="18" charset="0"/>
              </a:rPr>
              <a:t>LinkNode</a:t>
            </a:r>
            <a:r>
              <a:rPr lang="en-US" altLang="zh-CN" dirty="0">
                <a:latin typeface="Times New Roman" panose="02020603050405020304" pitchFamily="18" charset="0"/>
                <a:cs typeface="Times New Roman" panose="02020603050405020304" pitchFamily="18" charset="0"/>
              </a:rPr>
              <a:t>&lt;</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&gt; ;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     q-&gt;data = e;</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❷   q-&gt;next = p-&gt;next;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❸   p-&gt;next = q;	</a:t>
            </a:r>
            <a:endParaRPr lang="en-US" altLang="zh-CN" dirty="0">
              <a:latin typeface="Times New Roman" panose="02020603050405020304" pitchFamily="18" charset="0"/>
              <a:cs typeface="Times New Roman" panose="02020603050405020304" pitchFamily="18" charset="0"/>
            </a:endParaRPr>
          </a:p>
        </p:txBody>
      </p:sp>
      <p:sp>
        <p:nvSpPr>
          <p:cNvPr id="119836" name="Rectangle 28"/>
          <p:cNvSpPr>
            <a:spLocks noChangeArrowheads="1"/>
          </p:cNvSpPr>
          <p:nvPr/>
        </p:nvSpPr>
        <p:spPr bwMode="gray">
          <a:xfrm>
            <a:off x="6019800" y="44958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❶</a:t>
            </a:r>
            <a:endParaRPr lang="zh-CN" altLang="en-US"/>
          </a:p>
        </p:txBody>
      </p:sp>
      <p:sp>
        <p:nvSpPr>
          <p:cNvPr id="119838" name="Rectangle 30"/>
          <p:cNvSpPr>
            <a:spLocks noChangeArrowheads="1"/>
          </p:cNvSpPr>
          <p:nvPr/>
        </p:nvSpPr>
        <p:spPr bwMode="gray">
          <a:xfrm>
            <a:off x="3733800" y="47244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❸</a:t>
            </a:r>
            <a:endParaRPr lang="zh-CN" altLang="en-US"/>
          </a:p>
        </p:txBody>
      </p:sp>
      <p:grpSp>
        <p:nvGrpSpPr>
          <p:cNvPr id="69639" name="Group 55"/>
          <p:cNvGrpSpPr/>
          <p:nvPr/>
        </p:nvGrpSpPr>
        <p:grpSpPr bwMode="auto">
          <a:xfrm>
            <a:off x="3810000" y="3962400"/>
            <a:ext cx="990600" cy="533400"/>
            <a:chOff x="1392" y="2544"/>
            <a:chExt cx="624" cy="336"/>
          </a:xfrm>
        </p:grpSpPr>
        <p:sp>
          <p:nvSpPr>
            <p:cNvPr id="69657" name="Rectangle 53"/>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dirty="0"/>
                <a:t>a</a:t>
              </a:r>
              <a:r>
                <a:rPr lang="en-US" altLang="zh-CN" sz="1200" dirty="0"/>
                <a:t>i-1      </a:t>
              </a:r>
              <a:endParaRPr lang="en-US" altLang="zh-CN" sz="1200" dirty="0"/>
            </a:p>
          </p:txBody>
        </p:sp>
        <p:sp>
          <p:nvSpPr>
            <p:cNvPr id="69658" name="Line 54"/>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69640" name="Group 56"/>
          <p:cNvGrpSpPr/>
          <p:nvPr/>
        </p:nvGrpSpPr>
        <p:grpSpPr bwMode="auto">
          <a:xfrm>
            <a:off x="7543800" y="3962400"/>
            <a:ext cx="990600" cy="533400"/>
            <a:chOff x="1392" y="2544"/>
            <a:chExt cx="624" cy="336"/>
          </a:xfrm>
        </p:grpSpPr>
        <p:sp>
          <p:nvSpPr>
            <p:cNvPr id="69655" name="Rectangle 57"/>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200"/>
                <a:t>i-1      </a:t>
              </a:r>
              <a:endParaRPr lang="en-US" altLang="zh-CN" sz="1200"/>
            </a:p>
          </p:txBody>
        </p:sp>
        <p:sp>
          <p:nvSpPr>
            <p:cNvPr id="69656" name="Line 58"/>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9641" name="Line 59"/>
          <p:cNvSpPr>
            <a:spLocks noChangeShapeType="1"/>
          </p:cNvSpPr>
          <p:nvPr/>
        </p:nvSpPr>
        <p:spPr bwMode="gray">
          <a:xfrm>
            <a:off x="4648200" y="4191000"/>
            <a:ext cx="2895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19868" name="Group 60"/>
          <p:cNvGrpSpPr/>
          <p:nvPr/>
        </p:nvGrpSpPr>
        <p:grpSpPr bwMode="auto">
          <a:xfrm>
            <a:off x="5715000" y="4953000"/>
            <a:ext cx="990600" cy="533400"/>
            <a:chOff x="1392" y="2544"/>
            <a:chExt cx="624" cy="336"/>
          </a:xfrm>
        </p:grpSpPr>
        <p:sp>
          <p:nvSpPr>
            <p:cNvPr id="69653" name="Rectangle 61"/>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e</a:t>
              </a:r>
              <a:r>
                <a:rPr lang="en-US" altLang="zh-CN" sz="1200"/>
                <a:t>      </a:t>
              </a:r>
              <a:endParaRPr lang="en-US" altLang="zh-CN" sz="1200"/>
            </a:p>
          </p:txBody>
        </p:sp>
        <p:sp>
          <p:nvSpPr>
            <p:cNvPr id="69654" name="Line 62"/>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cxnSp>
        <p:nvCxnSpPr>
          <p:cNvPr id="119871" name="AutoShape 63"/>
          <p:cNvCxnSpPr>
            <a:cxnSpLocks noChangeShapeType="1"/>
            <a:stCxn id="69653" idx="3"/>
            <a:endCxn id="69655" idx="2"/>
          </p:cNvCxnSpPr>
          <p:nvPr/>
        </p:nvCxnSpPr>
        <p:spPr bwMode="gray">
          <a:xfrm flipV="1">
            <a:off x="6705600" y="4495800"/>
            <a:ext cx="1333500" cy="723900"/>
          </a:xfrm>
          <a:prstGeom prst="bentConnector2">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9875" name="AutoShape 67"/>
          <p:cNvCxnSpPr>
            <a:cxnSpLocks noChangeShapeType="1"/>
          </p:cNvCxnSpPr>
          <p:nvPr/>
        </p:nvCxnSpPr>
        <p:spPr bwMode="gray">
          <a:xfrm rot="16200000" flipH="1">
            <a:off x="4679950" y="4159250"/>
            <a:ext cx="736600" cy="1409700"/>
          </a:xfrm>
          <a:prstGeom prst="bentConnector2">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9645" name="Rectangle 68"/>
          <p:cNvSpPr>
            <a:spLocks noChangeArrowheads="1"/>
          </p:cNvSpPr>
          <p:nvPr/>
        </p:nvSpPr>
        <p:spPr bwMode="gray">
          <a:xfrm>
            <a:off x="4191000" y="34290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p</a:t>
            </a:r>
            <a:endParaRPr lang="en-US" altLang="zh-CN"/>
          </a:p>
        </p:txBody>
      </p:sp>
      <p:sp>
        <p:nvSpPr>
          <p:cNvPr id="69646" name="Line 69"/>
          <p:cNvSpPr>
            <a:spLocks noChangeShapeType="1"/>
          </p:cNvSpPr>
          <p:nvPr/>
        </p:nvSpPr>
        <p:spPr bwMode="gray">
          <a:xfrm>
            <a:off x="4114800" y="3581400"/>
            <a:ext cx="1524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78" name="Rectangle 70"/>
          <p:cNvSpPr>
            <a:spLocks noChangeArrowheads="1"/>
          </p:cNvSpPr>
          <p:nvPr/>
        </p:nvSpPr>
        <p:spPr bwMode="gray">
          <a:xfrm>
            <a:off x="6134100" y="5499100"/>
            <a:ext cx="342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q</a:t>
            </a:r>
            <a:endParaRPr lang="en-US" altLang="zh-CN"/>
          </a:p>
        </p:txBody>
      </p:sp>
      <p:sp>
        <p:nvSpPr>
          <p:cNvPr id="119879" name="Line 71"/>
          <p:cNvSpPr>
            <a:spLocks noChangeShapeType="1"/>
          </p:cNvSpPr>
          <p:nvPr/>
        </p:nvSpPr>
        <p:spPr bwMode="gray">
          <a:xfrm flipV="1">
            <a:off x="6019800" y="5486400"/>
            <a:ext cx="1524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useBgFill="1">
        <p:nvSpPr>
          <p:cNvPr id="119880" name="Rectangle 72"/>
          <p:cNvSpPr>
            <a:spLocks noChangeArrowheads="1"/>
          </p:cNvSpPr>
          <p:nvPr/>
        </p:nvSpPr>
        <p:spPr bwMode="auto">
          <a:xfrm>
            <a:off x="4648200" y="4152900"/>
            <a:ext cx="2895600" cy="8255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sp>
        <p:nvSpPr>
          <p:cNvPr id="119881" name="Rectangle 73"/>
          <p:cNvSpPr>
            <a:spLocks noChangeArrowheads="1"/>
          </p:cNvSpPr>
          <p:nvPr/>
        </p:nvSpPr>
        <p:spPr bwMode="gray">
          <a:xfrm>
            <a:off x="7543800" y="47752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❷</a:t>
            </a:r>
            <a:endParaRPr lang="zh-CN" altLang="en-US"/>
          </a:p>
        </p:txBody>
      </p:sp>
      <p:sp>
        <p:nvSpPr>
          <p:cNvPr id="3" name="矩形 2"/>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8" name="文本框 7"/>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0" name="TextBox 1"/>
          <p:cNvSpPr txBox="1"/>
          <p:nvPr/>
        </p:nvSpPr>
        <p:spPr>
          <a:xfrm>
            <a:off x="5905499" y="2845990"/>
            <a:ext cx="5029200" cy="461963"/>
          </a:xfrm>
          <a:prstGeom prst="rect">
            <a:avLst/>
          </a:prstGeom>
          <a:solidFill>
            <a:srgbClr val="E76969">
              <a:lumMod val="60000"/>
              <a:lumOff val="40000"/>
            </a:srgbClr>
          </a:solidFill>
        </p:spPr>
        <p:txBody>
          <a:bodyPr>
            <a:spAutoFit/>
          </a:bodyPr>
          <a:lstStyle/>
          <a:p>
            <a:pPr marL="0" marR="0" lvl="0" indent="0" defTabSz="91440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anose="02010609030101010101" pitchFamily="49" charset="-122"/>
              </a:rPr>
              <a:t>思考：</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anose="02010609030101010101" pitchFamily="49" charset="-122"/>
                <a:sym typeface="Wingdings 2" panose="05020102010507070707"/>
              </a:rPr>
              <a:t>与的位置能否互换？</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9836"/>
                                        </p:tgtEl>
                                        <p:attrNameLst>
                                          <p:attrName>style.visibility</p:attrName>
                                        </p:attrNameLst>
                                      </p:cBhvr>
                                      <p:to>
                                        <p:strVal val="visible"/>
                                      </p:to>
                                    </p:set>
                                    <p:animEffect transition="in" filter="wipe(down)">
                                      <p:cBhvr>
                                        <p:cTn id="7" dur="500"/>
                                        <p:tgtEl>
                                          <p:spTgt spid="1198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9878"/>
                                        </p:tgtEl>
                                        <p:attrNameLst>
                                          <p:attrName>style.visibility</p:attrName>
                                        </p:attrNameLst>
                                      </p:cBhvr>
                                      <p:to>
                                        <p:strVal val="visible"/>
                                      </p:to>
                                    </p:set>
                                    <p:animEffect transition="in" filter="blinds(horizontal)">
                                      <p:cBhvr>
                                        <p:cTn id="10" dur="500"/>
                                        <p:tgtEl>
                                          <p:spTgt spid="119878"/>
                                        </p:tgtEl>
                                      </p:cBhvr>
                                    </p:animEffect>
                                  </p:childTnLst>
                                </p:cTn>
                              </p:par>
                              <p:par>
                                <p:cTn id="11" presetID="3" presetClass="entr" presetSubtype="10" fill="hold" nodeType="withEffect">
                                  <p:stCondLst>
                                    <p:cond delay="0"/>
                                  </p:stCondLst>
                                  <p:childTnLst>
                                    <p:set>
                                      <p:cBhvr>
                                        <p:cTn id="12" dur="1" fill="hold">
                                          <p:stCondLst>
                                            <p:cond delay="0"/>
                                          </p:stCondLst>
                                        </p:cTn>
                                        <p:tgtEl>
                                          <p:spTgt spid="119879"/>
                                        </p:tgtEl>
                                        <p:attrNameLst>
                                          <p:attrName>style.visibility</p:attrName>
                                        </p:attrNameLst>
                                      </p:cBhvr>
                                      <p:to>
                                        <p:strVal val="visible"/>
                                      </p:to>
                                    </p:set>
                                    <p:animEffect transition="in" filter="blinds(horizontal)">
                                      <p:cBhvr>
                                        <p:cTn id="13" dur="500"/>
                                        <p:tgtEl>
                                          <p:spTgt spid="119879"/>
                                        </p:tgtEl>
                                      </p:cBhvr>
                                    </p:animEffect>
                                  </p:childTnLst>
                                </p:cTn>
                              </p:par>
                              <p:par>
                                <p:cTn id="14" presetID="3" presetClass="entr" presetSubtype="10" fill="hold" nodeType="withEffect">
                                  <p:stCondLst>
                                    <p:cond delay="0"/>
                                  </p:stCondLst>
                                  <p:childTnLst>
                                    <p:set>
                                      <p:cBhvr>
                                        <p:cTn id="15" dur="1" fill="hold">
                                          <p:stCondLst>
                                            <p:cond delay="0"/>
                                          </p:stCondLst>
                                        </p:cTn>
                                        <p:tgtEl>
                                          <p:spTgt spid="119868"/>
                                        </p:tgtEl>
                                        <p:attrNameLst>
                                          <p:attrName>style.visibility</p:attrName>
                                        </p:attrNameLst>
                                      </p:cBhvr>
                                      <p:to>
                                        <p:strVal val="visible"/>
                                      </p:to>
                                    </p:set>
                                    <p:animEffect transition="in" filter="blinds(horizontal)">
                                      <p:cBhvr>
                                        <p:cTn id="16" dur="500"/>
                                        <p:tgtEl>
                                          <p:spTgt spid="11986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9871"/>
                                        </p:tgtEl>
                                        <p:attrNameLst>
                                          <p:attrName>style.visibility</p:attrName>
                                        </p:attrNameLst>
                                      </p:cBhvr>
                                      <p:to>
                                        <p:strVal val="visible"/>
                                      </p:to>
                                    </p:set>
                                    <p:animEffect transition="in" filter="blinds(horizontal)">
                                      <p:cBhvr>
                                        <p:cTn id="21" dur="500"/>
                                        <p:tgtEl>
                                          <p:spTgt spid="11987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9881"/>
                                        </p:tgtEl>
                                        <p:attrNameLst>
                                          <p:attrName>style.visibility</p:attrName>
                                        </p:attrNameLst>
                                      </p:cBhvr>
                                      <p:to>
                                        <p:strVal val="visible"/>
                                      </p:to>
                                    </p:set>
                                    <p:animEffect transition="in" filter="blinds(horizontal)">
                                      <p:cBhvr>
                                        <p:cTn id="24" dur="500"/>
                                        <p:tgtEl>
                                          <p:spTgt spid="11988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19880"/>
                                        </p:tgtEl>
                                        <p:attrNameLst>
                                          <p:attrName>style.visibility</p:attrName>
                                        </p:attrNameLst>
                                      </p:cBhvr>
                                      <p:to>
                                        <p:strVal val="visible"/>
                                      </p:to>
                                    </p:set>
                                    <p:animEffect transition="in" filter="wipe(up)">
                                      <p:cBhvr>
                                        <p:cTn id="29" dur="500"/>
                                        <p:tgtEl>
                                          <p:spTgt spid="119880"/>
                                        </p:tgtEl>
                                      </p:cBhvr>
                                    </p:animEffect>
                                  </p:childTnLst>
                                </p:cTn>
                              </p:par>
                            </p:childTnLst>
                          </p:cTn>
                        </p:par>
                        <p:par>
                          <p:cTn id="30" fill="hold">
                            <p:stCondLst>
                              <p:cond delay="500"/>
                            </p:stCondLst>
                            <p:childTnLst>
                              <p:par>
                                <p:cTn id="31" presetID="3" presetClass="entr" presetSubtype="10" fill="hold" nodeType="afterEffect">
                                  <p:stCondLst>
                                    <p:cond delay="0"/>
                                  </p:stCondLst>
                                  <p:childTnLst>
                                    <p:set>
                                      <p:cBhvr>
                                        <p:cTn id="32" dur="1" fill="hold">
                                          <p:stCondLst>
                                            <p:cond delay="0"/>
                                          </p:stCondLst>
                                        </p:cTn>
                                        <p:tgtEl>
                                          <p:spTgt spid="119875"/>
                                        </p:tgtEl>
                                        <p:attrNameLst>
                                          <p:attrName>style.visibility</p:attrName>
                                        </p:attrNameLst>
                                      </p:cBhvr>
                                      <p:to>
                                        <p:strVal val="visible"/>
                                      </p:to>
                                    </p:set>
                                    <p:animEffect transition="in" filter="blinds(horizontal)">
                                      <p:cBhvr>
                                        <p:cTn id="33" dur="500"/>
                                        <p:tgtEl>
                                          <p:spTgt spid="11987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19838"/>
                                        </p:tgtEl>
                                        <p:attrNameLst>
                                          <p:attrName>style.visibility</p:attrName>
                                        </p:attrNameLst>
                                      </p:cBhvr>
                                      <p:to>
                                        <p:strVal val="visible"/>
                                      </p:to>
                                    </p:set>
                                    <p:animEffect transition="in" filter="blinds(horizontal)">
                                      <p:cBhvr>
                                        <p:cTn id="36" dur="500"/>
                                        <p:tgtEl>
                                          <p:spTgt spid="11983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6" grpId="0"/>
      <p:bldP spid="119838" grpId="0"/>
      <p:bldP spid="119878" grpId="0"/>
      <p:bldP spid="119880" grpId="0" animBg="1"/>
      <p:bldP spid="119881" grpId="0"/>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1031786"/>
            <a:ext cx="8229600" cy="365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在单链表的表尾插入新的结点</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8" name="Rectangle 4"/>
          <p:cNvSpPr>
            <a:spLocks noChangeArrowheads="1"/>
          </p:cNvSpPr>
          <p:nvPr/>
        </p:nvSpPr>
        <p:spPr bwMode="auto">
          <a:xfrm>
            <a:off x="643668" y="1661940"/>
            <a:ext cx="7391400" cy="4419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在链表</a:t>
            </a:r>
            <a:r>
              <a:rPr lang="en-US" altLang="zh-CN" sz="1800" b="0" dirty="0" err="1">
                <a:latin typeface="微软雅黑" panose="020B0503020204020204" pitchFamily="34" charset="-122"/>
                <a:ea typeface="微软雅黑" panose="020B0503020204020204" pitchFamily="34" charset="-122"/>
                <a:cs typeface="微软雅黑" panose="020B0503020204020204" pitchFamily="34" charset="-122"/>
              </a:rPr>
              <a:t>linkList</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的末尾插入新的元素</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e</a:t>
            </a:r>
            <a:endParaRPr lang="en-US" altLang="zh-CN" sz="18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err="1">
                <a:latin typeface="Times New Roman" panose="02020603050405020304" pitchFamily="18" charset="0"/>
                <a:cs typeface="Times New Roman" panose="02020603050405020304" pitchFamily="18" charset="0"/>
              </a:rPr>
              <a:t>bool</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&gt;::Append(</a:t>
            </a:r>
            <a:r>
              <a:rPr lang="en-US" altLang="zh-CN" sz="1800" b="0" dirty="0" err="1">
                <a:latin typeface="Times New Roman" panose="02020603050405020304" pitchFamily="18" charset="0"/>
                <a:cs typeface="Times New Roman" panose="02020603050405020304" pitchFamily="18" charset="0"/>
              </a:rPr>
              <a:t>const</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 &amp;e)</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*q;</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q = new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dirty="0">
                <a:latin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cs typeface="Times New Roman" panose="02020603050405020304" pitchFamily="18" charset="0"/>
              </a:rPr>
              <a:t>q-&gt;data = e;</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tail-&gt;next = q;	</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尾部插入</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q</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结点 </a:t>
            </a:r>
            <a:endParaRPr lang="zh-CN" altLang="en-US" sz="1800" b="0" dirty="0">
              <a:latin typeface="Times New Roman" panose="02020603050405020304" pitchFamily="18" charset="0"/>
              <a:cs typeface="Times New Roman" panose="02020603050405020304" pitchFamily="18" charset="0"/>
            </a:endParaRPr>
          </a:p>
          <a:p>
            <a:pPr>
              <a:spcBef>
                <a:spcPct val="20000"/>
              </a:spcBef>
              <a:defRPr/>
            </a:pPr>
            <a:r>
              <a:rPr lang="zh-CN" altLang="en-US" sz="1800" b="0" dirty="0">
                <a:latin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cs typeface="Times New Roman" panose="02020603050405020304" pitchFamily="18" charset="0"/>
              </a:rPr>
              <a:t>tail = q;</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tail-&gt;next = NULL;</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len</a:t>
            </a:r>
            <a:r>
              <a:rPr lang="en-US" altLang="zh-CN" sz="1800" b="0" dirty="0">
                <a:latin typeface="Times New Roman" panose="02020603050405020304" pitchFamily="18" charset="0"/>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表长增1</a:t>
            </a:r>
            <a:endParaRPr lang="en-US" altLang="zh-CN" sz="18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return true;</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时间复杂度</a:t>
            </a:r>
            <a:r>
              <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O(1)</a:t>
            </a:r>
            <a:endPar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457200" y="1295400"/>
            <a:ext cx="8229600" cy="449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defRPr/>
            </a:pPr>
            <a:r>
              <a:rPr lang="zh-CN" altLang="en-US" sz="2400" dirty="0">
                <a:latin typeface="微软雅黑" panose="020B0503020204020204" pitchFamily="34" charset="-122"/>
                <a:ea typeface="微软雅黑" panose="020B0503020204020204" pitchFamily="34" charset="-122"/>
              </a:rPr>
              <a:t>在单链表中删除第</a:t>
            </a:r>
            <a:r>
              <a:rPr lang="en-US" altLang="zh-CN" sz="2400" i="1"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个结点 </a:t>
            </a:r>
            <a:endParaRPr lang="en-US" altLang="zh-CN" sz="2400" dirty="0">
              <a:latin typeface="微软雅黑" panose="020B0503020204020204" pitchFamily="34" charset="-122"/>
              <a:ea typeface="微软雅黑" panose="020B0503020204020204" pitchFamily="34" charset="-122"/>
            </a:endParaRPr>
          </a:p>
          <a:p>
            <a:pPr marL="914400" lvl="1" indent="-457200">
              <a:lnSpc>
                <a:spcPct val="125000"/>
              </a:lnSpc>
              <a:defRPr/>
            </a:pPr>
            <a:r>
              <a:rPr lang="zh-CN" altLang="en-US" sz="2000" dirty="0">
                <a:latin typeface="微软雅黑" panose="020B0503020204020204" pitchFamily="34" charset="-122"/>
                <a:ea typeface="微软雅黑" panose="020B0503020204020204" pitchFamily="34" charset="-122"/>
              </a:rPr>
              <a:t>有序对</a:t>
            </a:r>
            <a:r>
              <a:rPr lang="en-US" altLang="zh-CN" sz="2000" dirty="0">
                <a:latin typeface="微软雅黑" panose="020B0503020204020204" pitchFamily="34" charset="-122"/>
                <a:ea typeface="微软雅黑" panose="020B0503020204020204" pitchFamily="34" charset="-122"/>
              </a:rPr>
              <a:t>&lt; </a:t>
            </a:r>
            <a:r>
              <a:rPr kumimoji="1" lang="en-US" altLang="zh-CN" sz="2000" b="1" dirty="0">
                <a:solidFill>
                  <a:srgbClr val="000099"/>
                </a:solidFill>
                <a:latin typeface="微软雅黑" panose="020B0503020204020204" pitchFamily="34" charset="-122"/>
                <a:ea typeface="微软雅黑" panose="020B0503020204020204" pitchFamily="34" charset="-122"/>
              </a:rPr>
              <a:t>ai-1, ai</a:t>
            </a:r>
            <a:r>
              <a:rPr lang="en-US" altLang="zh-CN" sz="2000" dirty="0">
                <a:latin typeface="微软雅黑" panose="020B0503020204020204" pitchFamily="34" charset="-122"/>
                <a:ea typeface="微软雅黑" panose="020B0503020204020204" pitchFamily="34" charset="-122"/>
              </a:rPr>
              <a:t>&gt;,&lt; </a:t>
            </a:r>
            <a:r>
              <a:rPr kumimoji="1" lang="en-US" altLang="zh-CN" sz="2000" b="1" dirty="0">
                <a:solidFill>
                  <a:srgbClr val="000099"/>
                </a:solidFill>
                <a:latin typeface="微软雅黑" panose="020B0503020204020204" pitchFamily="34" charset="-122"/>
                <a:ea typeface="微软雅黑" panose="020B0503020204020204" pitchFamily="34" charset="-122"/>
              </a:rPr>
              <a:t> ai, ai+1</a:t>
            </a:r>
            <a:r>
              <a:rPr lang="en-US" altLang="zh-CN" sz="2000" dirty="0">
                <a:latin typeface="微软雅黑" panose="020B0503020204020204" pitchFamily="34" charset="-122"/>
                <a:ea typeface="微软雅黑" panose="020B0503020204020204" pitchFamily="34" charset="-122"/>
              </a:rPr>
              <a:t> &gt;</a:t>
            </a:r>
            <a:r>
              <a:rPr lang="zh-CN" altLang="en-US" sz="2000" dirty="0">
                <a:latin typeface="微软雅黑" panose="020B0503020204020204" pitchFamily="34" charset="-122"/>
                <a:ea typeface="微软雅黑" panose="020B0503020204020204" pitchFamily="34" charset="-122"/>
              </a:rPr>
              <a:t>变为</a:t>
            </a:r>
            <a:r>
              <a:rPr lang="en-US" altLang="zh-CN" sz="2000" dirty="0">
                <a:latin typeface="微软雅黑" panose="020B0503020204020204" pitchFamily="34" charset="-122"/>
                <a:ea typeface="微软雅黑" panose="020B0503020204020204" pitchFamily="34" charset="-122"/>
              </a:rPr>
              <a:t>&lt; </a:t>
            </a:r>
            <a:r>
              <a:rPr kumimoji="1" lang="en-US" altLang="zh-CN" sz="2000" b="1" dirty="0">
                <a:solidFill>
                  <a:srgbClr val="000099"/>
                </a:solidFill>
                <a:latin typeface="微软雅黑" panose="020B0503020204020204" pitchFamily="34" charset="-122"/>
                <a:ea typeface="微软雅黑" panose="020B0503020204020204" pitchFamily="34" charset="-122"/>
              </a:rPr>
              <a:t>ai-1, ai+1</a:t>
            </a:r>
            <a:r>
              <a:rPr lang="en-US" altLang="zh-CN" sz="2000" dirty="0">
                <a:latin typeface="微软雅黑" panose="020B0503020204020204" pitchFamily="34" charset="-122"/>
                <a:ea typeface="微软雅黑" panose="020B0503020204020204" pitchFamily="34" charset="-122"/>
              </a:rPr>
              <a:t> &gt;</a:t>
            </a:r>
            <a:endParaRPr lang="en-US" altLang="zh-CN" sz="2000" dirty="0">
              <a:latin typeface="微软雅黑" panose="020B0503020204020204" pitchFamily="34" charset="-122"/>
              <a:ea typeface="微软雅黑" panose="020B0503020204020204" pitchFamily="34" charset="-122"/>
            </a:endParaRPr>
          </a:p>
          <a:p>
            <a:pPr marL="914400" lvl="1" indent="-457200">
              <a:lnSpc>
                <a:spcPct val="125000"/>
              </a:lnSpc>
              <a:defRPr/>
            </a:pPr>
            <a:r>
              <a:rPr lang="zh-CN" altLang="en-US" sz="2000" dirty="0">
                <a:latin typeface="微软雅黑" panose="020B0503020204020204" pitchFamily="34" charset="-122"/>
                <a:ea typeface="微软雅黑" panose="020B0503020204020204" pitchFamily="34" charset="-122"/>
              </a:rPr>
              <a:t>分三步实施：</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(1) </a:t>
            </a:r>
            <a:r>
              <a:rPr lang="zh-CN" altLang="en-US" sz="2000" dirty="0">
                <a:latin typeface="微软雅黑" panose="020B0503020204020204" pitchFamily="34" charset="-122"/>
                <a:ea typeface="微软雅黑" panose="020B0503020204020204" pitchFamily="34" charset="-122"/>
              </a:rPr>
              <a:t>先找到第</a:t>
            </a:r>
            <a:r>
              <a:rPr lang="en-US" altLang="zh-CN" sz="2000" dirty="0">
                <a:latin typeface="微软雅黑" panose="020B0503020204020204" pitchFamily="34" charset="-122"/>
                <a:ea typeface="微软雅黑" panose="020B0503020204020204" pitchFamily="34" charset="-122"/>
              </a:rPr>
              <a:t>i-1</a:t>
            </a:r>
            <a:r>
              <a:rPr lang="zh-CN" altLang="en-US" sz="2000" dirty="0">
                <a:latin typeface="微软雅黑" panose="020B0503020204020204" pitchFamily="34" charset="-122"/>
                <a:ea typeface="微软雅黑" panose="020B0503020204020204" pitchFamily="34" charset="-122"/>
              </a:rPr>
              <a:t>个结点；</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(2) </a:t>
            </a:r>
            <a:r>
              <a:rPr lang="zh-CN" altLang="en-US" sz="2000" dirty="0">
                <a:latin typeface="微软雅黑" panose="020B0503020204020204" pitchFamily="34" charset="-122"/>
                <a:ea typeface="微软雅黑" panose="020B0503020204020204" pitchFamily="34" charset="-122"/>
              </a:rPr>
              <a:t>再修改它的后继指针，删除结点；</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FontTx/>
              <a:buNone/>
              <a:defRPr/>
            </a:pPr>
            <a:r>
              <a:rPr lang="en-US" altLang="zh-CN" sz="2000" dirty="0">
                <a:latin typeface="微软雅黑" panose="020B0503020204020204" pitchFamily="34" charset="-122"/>
                <a:ea typeface="微软雅黑" panose="020B0503020204020204" pitchFamily="34" charset="-122"/>
              </a:rPr>
              <a:t>       (3) </a:t>
            </a:r>
            <a:r>
              <a:rPr lang="zh-CN" altLang="en-US" sz="2000" dirty="0">
                <a:latin typeface="微软雅黑" panose="020B0503020204020204" pitchFamily="34" charset="-122"/>
                <a:ea typeface="微软雅黑" panose="020B0503020204020204" pitchFamily="34" charset="-122"/>
              </a:rPr>
              <a:t>最后释放空间 。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4" end="4"/>
                                            </p:txEl>
                                          </p:spTgt>
                                        </p:tgtEl>
                                        <p:attrNameLst>
                                          <p:attrName>style.visibility</p:attrName>
                                        </p:attrNameLst>
                                      </p:cBhvr>
                                      <p:to>
                                        <p:strVal val="visible"/>
                                      </p:to>
                                    </p:set>
                                    <p:animEffect transition="in" filter="fade">
                                      <p:cBhvr>
                                        <p:cTn id="14" dur="1000"/>
                                        <p:tgtEl>
                                          <p:spTgt spid="6">
                                            <p:txEl>
                                              <p:pRg st="4" end="4"/>
                                            </p:txEl>
                                          </p:spTgt>
                                        </p:tgtEl>
                                      </p:cBhvr>
                                    </p:animEffect>
                                    <p:anim calcmode="lin" valueType="num">
                                      <p:cBhvr>
                                        <p:cTn id="1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1000"/>
                                        <p:tgtEl>
                                          <p:spTgt spid="6">
                                            <p:txEl>
                                              <p:pRg st="5" end="5"/>
                                            </p:txEl>
                                          </p:spTgt>
                                        </p:tgtEl>
                                      </p:cBhvr>
                                    </p:animEffect>
                                    <p:anim calcmode="lin" valueType="num">
                                      <p:cBhvr>
                                        <p:cTn id="2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949414"/>
            <a:ext cx="8229600" cy="365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在单链表中删除第</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个结点</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8" name="Rectangle 4"/>
          <p:cNvSpPr>
            <a:spLocks noChangeArrowheads="1"/>
          </p:cNvSpPr>
          <p:nvPr/>
        </p:nvSpPr>
        <p:spPr bwMode="auto">
          <a:xfrm>
            <a:off x="494696" y="1387622"/>
            <a:ext cx="8610600" cy="504975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在单链表中删除第</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个数据元素并用数据变量</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返回其值（</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的合法值为</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1≤i≤Len</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template&lt;class </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err="1">
                <a:latin typeface="Times New Roman" panose="02020603050405020304" pitchFamily="18" charset="0"/>
                <a:cs typeface="Times New Roman" panose="02020603050405020304" pitchFamily="18" charset="0"/>
              </a:rPr>
              <a:t>bool</a:t>
            </a:r>
            <a:r>
              <a:rPr lang="en-US" altLang="zh-CN" sz="1600" b="0" dirty="0">
                <a:latin typeface="Times New Roman" panose="02020603050405020304" pitchFamily="18" charset="0"/>
                <a:cs typeface="Times New Roman" panose="02020603050405020304" pitchFamily="18" charset="0"/>
              </a:rPr>
              <a:t> </a:t>
            </a:r>
            <a:r>
              <a:rPr lang="en-US" altLang="zh-CN" sz="1600" b="0" dirty="0" err="1">
                <a:latin typeface="Times New Roman" panose="02020603050405020304" pitchFamily="18" charset="0"/>
                <a:cs typeface="Times New Roman" panose="02020603050405020304" pitchFamily="18" charset="0"/>
              </a:rPr>
              <a:t>LinkList</a:t>
            </a:r>
            <a:r>
              <a:rPr lang="en-US" altLang="zh-CN" sz="1600" b="0" dirty="0">
                <a:latin typeface="Times New Roman" panose="02020603050405020304" pitchFamily="18" charset="0"/>
                <a:cs typeface="Times New Roman" panose="02020603050405020304" pitchFamily="18" charset="0"/>
              </a:rPr>
              <a:t>&lt;</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&gt;::Delete(</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 &amp;</a:t>
            </a:r>
            <a:r>
              <a:rPr lang="en-US" altLang="zh-CN" sz="1600" b="0" dirty="0" err="1">
                <a:latin typeface="Times New Roman" panose="02020603050405020304" pitchFamily="18" charset="0"/>
                <a:cs typeface="Times New Roman" panose="02020603050405020304" pitchFamily="18" charset="0"/>
              </a:rPr>
              <a:t>e,int</a:t>
            </a:r>
            <a:r>
              <a:rPr lang="en-US" altLang="zh-CN" sz="1600" b="0" dirty="0">
                <a:latin typeface="Times New Roman" panose="02020603050405020304" pitchFamily="18" charset="0"/>
                <a:cs typeface="Times New Roman" panose="02020603050405020304" pitchFamily="18" charset="0"/>
              </a:rPr>
              <a:t> i)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if (i&lt;1 || i&gt;</a:t>
            </a:r>
            <a:r>
              <a:rPr lang="en-US" altLang="zh-CN" sz="1600" b="0" dirty="0" err="1">
                <a:latin typeface="Times New Roman" panose="02020603050405020304" pitchFamily="18" charset="0"/>
                <a:cs typeface="Times New Roman" panose="02020603050405020304" pitchFamily="18" charset="0"/>
              </a:rPr>
              <a:t>len</a:t>
            </a:r>
            <a:r>
              <a:rPr lang="en-US" altLang="zh-CN" sz="1600" b="0" dirty="0">
                <a:latin typeface="Times New Roman" panose="02020603050405020304" pitchFamily="18" charset="0"/>
                <a:cs typeface="Times New Roman" panose="02020603050405020304" pitchFamily="18" charset="0"/>
              </a:rPr>
              <a:t>)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return false;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删除位置</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值不合法</a:t>
            </a:r>
            <a:endParaRPr lang="zh-CN" altLang="en-US" sz="16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zh-CN" altLang="en-US" sz="1600" b="0" dirty="0">
                <a:latin typeface="Times New Roman" panose="02020603050405020304" pitchFamily="18" charset="0"/>
                <a:cs typeface="Times New Roman" panose="02020603050405020304" pitchFamily="18" charset="0"/>
              </a:rPr>
              <a:t>    </a:t>
            </a:r>
            <a:r>
              <a:rPr lang="en-US" altLang="zh-CN" sz="1600" b="0" dirty="0" err="1">
                <a:latin typeface="Times New Roman" panose="02020603050405020304" pitchFamily="18" charset="0"/>
                <a:cs typeface="Times New Roman" panose="02020603050405020304" pitchFamily="18" charset="0"/>
              </a:rPr>
              <a:t>LinkNode</a:t>
            </a:r>
            <a:r>
              <a:rPr lang="en-US" altLang="zh-CN" sz="1600" b="0" dirty="0">
                <a:latin typeface="Times New Roman" panose="02020603050405020304" pitchFamily="18" charset="0"/>
                <a:cs typeface="Times New Roman" panose="02020603050405020304" pitchFamily="18" charset="0"/>
              </a:rPr>
              <a:t>&lt;</a:t>
            </a:r>
            <a:r>
              <a:rPr lang="en-US" altLang="zh-CN" sz="1600" b="0" dirty="0" err="1">
                <a:latin typeface="Times New Roman" panose="02020603050405020304" pitchFamily="18" charset="0"/>
                <a:cs typeface="Times New Roman" panose="02020603050405020304" pitchFamily="18" charset="0"/>
              </a:rPr>
              <a:t>ElemType</a:t>
            </a:r>
            <a:r>
              <a:rPr lang="en-US" altLang="zh-CN" sz="1600" b="0" dirty="0">
                <a:latin typeface="Times New Roman" panose="02020603050405020304" pitchFamily="18" charset="0"/>
                <a:cs typeface="Times New Roman" panose="02020603050405020304" pitchFamily="18" charset="0"/>
              </a:rPr>
              <a:t>&gt; *p,*q;</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zh-CN" altLang="en-US" sz="1600" b="0" u="sng"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hlinkClick r:id="rId1" action="ppaction://hlinksldjump"/>
              </a:rPr>
              <a:t>        </a:t>
            </a:r>
            <a:r>
              <a:rPr lang="zh-CN" altLang="en-US" sz="16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hlinkClick r:id="rId1" action="ppaction://hlinksldjump"/>
              </a:rPr>
              <a:t>查找第</a:t>
            </a:r>
            <a:r>
              <a:rPr lang="en-US" altLang="zh-CN" sz="16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hlinkClick r:id="rId1" action="ppaction://hlinksldjump"/>
              </a:rPr>
              <a:t>i-1</a:t>
            </a:r>
            <a:r>
              <a:rPr lang="zh-CN" altLang="en-US" sz="16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hlinkClick r:id="rId1" action="ppaction://hlinksldjump"/>
              </a:rPr>
              <a:t>个结点</a:t>
            </a:r>
            <a:r>
              <a:rPr lang="zh-CN" altLang="en-US" sz="16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sldjump"/>
              </a:rPr>
              <a:t>；</a:t>
            </a:r>
            <a:r>
              <a:rPr lang="zh-CN" altLang="en-US" sz="1600" b="0" dirty="0">
                <a:solidFill>
                  <a:schemeClr val="accent2"/>
                </a:solidFill>
                <a:latin typeface="Times New Roman" panose="02020603050405020304" pitchFamily="18" charset="0"/>
                <a:cs typeface="Times New Roman" panose="02020603050405020304" pitchFamily="18" charset="0"/>
              </a:rPr>
              <a:t>     </a:t>
            </a:r>
            <a:r>
              <a:rPr lang="zh-CN" altLang="en-US" sz="16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指针定位在第</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i-1</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个结点上</a:t>
            </a:r>
            <a:endParaRPr lang="zh-CN" altLang="en-US" sz="1600" b="0" dirty="0">
              <a:solidFill>
                <a:schemeClr val="accent2"/>
              </a:solidFill>
              <a:latin typeface="Times New Roman" panose="02020603050405020304" pitchFamily="18" charset="0"/>
              <a:cs typeface="Times New Roman" panose="02020603050405020304" pitchFamily="18" charset="0"/>
            </a:endParaRPr>
          </a:p>
          <a:p>
            <a:pPr>
              <a:spcBef>
                <a:spcPct val="20000"/>
              </a:spcBef>
              <a:defRPr/>
            </a:pPr>
            <a:r>
              <a:rPr lang="zh-CN" altLang="en-US" sz="1600" b="0" dirty="0">
                <a:solidFill>
                  <a:schemeClr val="accent2"/>
                </a:solidFill>
                <a:latin typeface="Times New Roman" panose="02020603050405020304" pitchFamily="18" charset="0"/>
                <a:cs typeface="Times New Roman" panose="02020603050405020304" pitchFamily="18" charset="0"/>
              </a:rPr>
              <a:t>         </a:t>
            </a:r>
            <a:r>
              <a:rPr lang="en-US" altLang="zh-CN" sz="1600" b="0" dirty="0">
                <a:latin typeface="Times New Roman" panose="02020603050405020304" pitchFamily="18" charset="0"/>
                <a:cs typeface="Times New Roman" panose="02020603050405020304" pitchFamily="18" charset="0"/>
              </a:rPr>
              <a:t>q=p-&gt;next; </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p-&gt;next=q-&gt;next;</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hlinkClick r:id="rId3" action="ppaction://hlinksldjump"/>
              </a:rPr>
              <a:t>删除</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hlinkClick r:id="rId3" action="ppaction://hlinksldjump"/>
              </a:rPr>
              <a:t>q</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hlinkClick r:id="rId3" action="ppaction://hlinksldjump"/>
              </a:rPr>
              <a:t>结点的基本操作</a:t>
            </a:r>
            <a:endParaRPr lang="zh-CN" altLang="en-US" sz="1600" b="0" dirty="0">
              <a:latin typeface="Times New Roman" panose="02020603050405020304" pitchFamily="18" charset="0"/>
              <a:cs typeface="Times New Roman" panose="02020603050405020304" pitchFamily="18" charset="0"/>
            </a:endParaRPr>
          </a:p>
          <a:p>
            <a:pPr>
              <a:spcBef>
                <a:spcPct val="20000"/>
              </a:spcBef>
              <a:defRPr/>
            </a:pPr>
            <a:r>
              <a:rPr lang="zh-CN" altLang="en-US" sz="1600" dirty="0">
                <a:latin typeface="Times New Roman" panose="02020603050405020304" pitchFamily="18" charset="0"/>
                <a:cs typeface="Times New Roman" panose="02020603050405020304" pitchFamily="18" charset="0"/>
              </a:rPr>
              <a:t>        </a:t>
            </a:r>
            <a:r>
              <a:rPr lang="en-US" altLang="zh-CN" sz="1600" b="0" dirty="0">
                <a:latin typeface="Times New Roman" panose="02020603050405020304" pitchFamily="18" charset="0"/>
                <a:cs typeface="Times New Roman" panose="02020603050405020304" pitchFamily="18" charset="0"/>
              </a:rPr>
              <a:t>if (q == tail)</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tail = p;</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zh-CN" altLang="en-US" sz="1600" b="0" dirty="0">
                <a:solidFill>
                  <a:schemeClr val="accent2"/>
                </a:solidFill>
                <a:latin typeface="Times New Roman" panose="02020603050405020304" pitchFamily="18" charset="0"/>
                <a:cs typeface="Times New Roman" panose="02020603050405020304" pitchFamily="18" charset="0"/>
              </a:rPr>
              <a:t>         </a:t>
            </a:r>
            <a:r>
              <a:rPr lang="en-US" altLang="en-US" sz="1600" b="0" dirty="0">
                <a:latin typeface="Times New Roman" panose="02020603050405020304" pitchFamily="18" charset="0"/>
                <a:cs typeface="Times New Roman" panose="02020603050405020304" pitchFamily="18" charset="0"/>
              </a:rPr>
              <a:t>e=q-&gt;data; </a:t>
            </a:r>
            <a:endParaRPr lang="en-US" altLang="en-US"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r>
              <a:rPr lang="en-US" altLang="en-US" sz="1600" b="0" dirty="0">
                <a:latin typeface="Times New Roman" panose="02020603050405020304" pitchFamily="18" charset="0"/>
                <a:cs typeface="Times New Roman" panose="02020603050405020304" pitchFamily="18" charset="0"/>
              </a:rPr>
              <a:t>delete q;</a:t>
            </a:r>
            <a:r>
              <a:rPr lang="en-US" altLang="en-US" sz="1600"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cs typeface="微软雅黑" panose="020B0503020204020204" pitchFamily="34" charset="-122"/>
              </a:rPr>
              <a:t>释放空间</a:t>
            </a:r>
            <a:endParaRPr lang="zh-CN" altLang="en-US"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a:t>
            </a:r>
            <a:r>
              <a:rPr lang="en-US" altLang="zh-CN" sz="1600" b="0" dirty="0" err="1">
                <a:latin typeface="Times New Roman" panose="02020603050405020304" pitchFamily="18" charset="0"/>
                <a:cs typeface="Times New Roman" panose="02020603050405020304" pitchFamily="18" charset="0"/>
              </a:rPr>
              <a:t>len</a:t>
            </a:r>
            <a:r>
              <a:rPr lang="en-US" altLang="zh-CN" sz="1600" b="0" dirty="0">
                <a:latin typeface="Times New Roman" panose="02020603050405020304" pitchFamily="18" charset="0"/>
                <a:cs typeface="Times New Roman" panose="02020603050405020304" pitchFamily="18" charset="0"/>
              </a:rPr>
              <a:t>;	</a:t>
            </a:r>
            <a:r>
              <a:rPr lang="en-US" altLang="en-US" sz="1600" b="0" dirty="0">
                <a:latin typeface="微软雅黑" panose="020B0503020204020204" pitchFamily="34" charset="-122"/>
                <a:ea typeface="微软雅黑" panose="020B0503020204020204" pitchFamily="34" charset="-122"/>
                <a:cs typeface="微软雅黑" panose="020B0503020204020204" pitchFamily="34" charset="-122"/>
              </a:rPr>
              <a:t>  // 表长减1</a:t>
            </a:r>
            <a:endParaRPr lang="en-US" altLang="zh-CN"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    return true;   </a:t>
            </a:r>
            <a:r>
              <a:rPr lang="en-US" altLang="zh-CN" sz="16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u="sng"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时间复杂度为</a:t>
            </a:r>
            <a:r>
              <a:rPr lang="en-US" altLang="zh-CN" sz="1600" u="sng"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O(n)</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600" b="0" dirty="0">
              <a:latin typeface="Times New Roman" panose="02020603050405020304" pitchFamily="18" charset="0"/>
              <a:cs typeface="Times New Roman" panose="02020603050405020304" pitchFamily="18" charset="0"/>
            </a:endParaRPr>
          </a:p>
          <a:p>
            <a:pPr>
              <a:spcBef>
                <a:spcPct val="20000"/>
              </a:spcBef>
              <a:defRPr/>
            </a:pPr>
            <a:r>
              <a:rPr lang="en-US" altLang="zh-CN" sz="1600" b="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 </a:t>
            </a:r>
            <a:r>
              <a:rPr lang="zh-CN" altLang="en-US" sz="1600" b="0" dirty="0">
                <a:latin typeface="Times New Roman" panose="02020603050405020304" pitchFamily="18" charset="0"/>
                <a:cs typeface="Times New Roman" panose="02020603050405020304" pitchFamily="18" charset="0"/>
              </a:rPr>
              <a:t> </a:t>
            </a:r>
            <a:endParaRPr lang="en-US" altLang="zh-CN" sz="16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392806" y="1031786"/>
            <a:ext cx="8229600" cy="76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查找第</a:t>
            </a:r>
            <a:r>
              <a:rPr lang="en-US" altLang="zh-CN" sz="2000" dirty="0">
                <a:latin typeface="微软雅黑" panose="020B0503020204020204" pitchFamily="34" charset="-122"/>
                <a:ea typeface="微软雅黑" panose="020B0503020204020204" pitchFamily="34" charset="-122"/>
              </a:rPr>
              <a:t>i-1</a:t>
            </a:r>
            <a:r>
              <a:rPr lang="zh-CN" altLang="en-US" sz="2000" dirty="0">
                <a:latin typeface="微软雅黑" panose="020B0503020204020204" pitchFamily="34" charset="-122"/>
                <a:ea typeface="微软雅黑" panose="020B0503020204020204" pitchFamily="34" charset="-122"/>
              </a:rPr>
              <a:t>个结点</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8" name="Rectangle 4"/>
          <p:cNvSpPr>
            <a:spLocks noChangeArrowheads="1"/>
          </p:cNvSpPr>
          <p:nvPr/>
        </p:nvSpPr>
        <p:spPr bwMode="auto">
          <a:xfrm>
            <a:off x="522514" y="1762994"/>
            <a:ext cx="7391400" cy="2057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int</a:t>
            </a:r>
            <a:r>
              <a:rPr lang="en-US" altLang="zh-CN" sz="1800" b="0" dirty="0">
                <a:latin typeface="Times New Roman" panose="02020603050405020304" pitchFamily="18" charset="0"/>
                <a:cs typeface="Times New Roman" panose="02020603050405020304" pitchFamily="18" charset="0"/>
              </a:rPr>
              <a:t> k=1;</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p = head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while (k &lt; i) {	</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指针定位在第</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i-1</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个结点上</a:t>
            </a:r>
            <a:endParaRPr lang="zh-CN" altLang="en-US" sz="1800" b="0" dirty="0">
              <a:latin typeface="Times New Roman" panose="02020603050405020304" pitchFamily="18" charset="0"/>
              <a:cs typeface="Times New Roman" panose="02020603050405020304" pitchFamily="18" charset="0"/>
            </a:endParaRPr>
          </a:p>
          <a:p>
            <a:pPr>
              <a:spcBef>
                <a:spcPct val="20000"/>
              </a:spcBef>
              <a:defRPr/>
            </a:pPr>
            <a:r>
              <a:rPr lang="zh-CN" altLang="en-US" sz="1800" b="0" dirty="0">
                <a:latin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cs typeface="Times New Roman" panose="02020603050405020304" pitchFamily="18" charset="0"/>
              </a:rPr>
              <a:t>p = p-&gt;next;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k++;</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0"/>
          <p:cNvSpPr>
            <a:spLocks noGrp="1" noChangeArrowheads="1"/>
          </p:cNvSpPr>
          <p:nvPr>
            <p:ph type="body" idx="1"/>
          </p:nvPr>
        </p:nvSpPr>
        <p:spPr bwMode="auto">
          <a:xfrm>
            <a:off x="584200" y="1084262"/>
            <a:ext cx="10515600" cy="43513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zh-CN" altLang="en-US" sz="2000" dirty="0">
                <a:latin typeface="微软雅黑" panose="020B0503020204020204" pitchFamily="34" charset="-122"/>
                <a:ea typeface="微软雅黑" panose="020B0503020204020204" pitchFamily="34" charset="-122"/>
              </a:rPr>
              <a:t>删除结点的基本操作</a:t>
            </a:r>
            <a:endParaRPr kumimoji="1" lang="zh-CN" altLang="en-US" sz="2000" dirty="0">
              <a:latin typeface="微软雅黑" panose="020B0503020204020204" pitchFamily="34" charset="-122"/>
              <a:ea typeface="微软雅黑" panose="020B0503020204020204" pitchFamily="34" charset="-122"/>
            </a:endParaRPr>
          </a:p>
          <a:p>
            <a:endParaRPr kumimoji="1" lang="en-US" altLang="zh-CN" b="1" i="1" dirty="0"/>
          </a:p>
        </p:txBody>
      </p:sp>
      <p:sp>
        <p:nvSpPr>
          <p:cNvPr id="4" name="Rectangle 4"/>
          <p:cNvSpPr>
            <a:spLocks noChangeArrowheads="1"/>
          </p:cNvSpPr>
          <p:nvPr/>
        </p:nvSpPr>
        <p:spPr bwMode="auto">
          <a:xfrm>
            <a:off x="1092200" y="1794097"/>
            <a:ext cx="7086600" cy="16891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dirty="0">
                <a:latin typeface="Times New Roman" panose="02020603050405020304" pitchFamily="18" charset="0"/>
              </a:rPr>
              <a:t>❶ </a:t>
            </a:r>
            <a:r>
              <a:rPr kumimoji="1" lang="en-US" altLang="zh-CN" dirty="0">
                <a:latin typeface="Times New Roman" panose="02020603050405020304" pitchFamily="18" charset="0"/>
                <a:cs typeface="Times New Roman" panose="02020603050405020304" pitchFamily="18" charset="0"/>
              </a:rPr>
              <a:t>q = p-&gt;next;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❷ </a:t>
            </a:r>
            <a:r>
              <a:rPr kumimoji="1" lang="en-US" altLang="zh-CN" dirty="0">
                <a:latin typeface="Times New Roman" panose="02020603050405020304" pitchFamily="18" charset="0"/>
                <a:cs typeface="Times New Roman" panose="02020603050405020304" pitchFamily="18" charset="0"/>
              </a:rPr>
              <a:t>p-&gt;next = q-&gt;next;</a:t>
            </a:r>
            <a:endParaRPr kumimoji="1" lang="zh-CN" altLang="en-US" dirty="0">
              <a:latin typeface="Times New Roman" panose="02020603050405020304" pitchFamily="18" charset="0"/>
              <a:cs typeface="Times New Roman" panose="02020603050405020304" pitchFamily="18" charset="0"/>
            </a:endParaRPr>
          </a:p>
          <a:p>
            <a:pPr>
              <a:spcBef>
                <a:spcPct val="20000"/>
              </a:spcBef>
              <a:defRPr/>
            </a:pPr>
            <a:r>
              <a:rPr lang="en-US" altLang="zh-CN" dirty="0">
                <a:latin typeface="Times New Roman" panose="02020603050405020304" pitchFamily="18" charset="0"/>
                <a:cs typeface="Times New Roman" panose="02020603050405020304" pitchFamily="18" charset="0"/>
              </a:rPr>
              <a:t>❸ </a:t>
            </a:r>
            <a:r>
              <a:rPr kumimoji="1" lang="en-US" altLang="zh-CN" dirty="0">
                <a:latin typeface="Times New Roman" panose="02020603050405020304" pitchFamily="18" charset="0"/>
                <a:cs typeface="Times New Roman" panose="02020603050405020304" pitchFamily="18" charset="0"/>
              </a:rPr>
              <a:t>e = q-&gt;data;    delete q;</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124991" name="Rectangle 63"/>
          <p:cNvSpPr>
            <a:spLocks noChangeArrowheads="1"/>
          </p:cNvSpPr>
          <p:nvPr/>
        </p:nvSpPr>
        <p:spPr bwMode="gray">
          <a:xfrm>
            <a:off x="5842000" y="520700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❷</a:t>
            </a:r>
            <a:endParaRPr lang="zh-CN" altLang="en-US"/>
          </a:p>
        </p:txBody>
      </p:sp>
      <p:grpSp>
        <p:nvGrpSpPr>
          <p:cNvPr id="74758" name="Group 68"/>
          <p:cNvGrpSpPr/>
          <p:nvPr/>
        </p:nvGrpSpPr>
        <p:grpSpPr bwMode="auto">
          <a:xfrm>
            <a:off x="3352800" y="4267200"/>
            <a:ext cx="990600" cy="533400"/>
            <a:chOff x="1392" y="2544"/>
            <a:chExt cx="624" cy="336"/>
          </a:xfrm>
        </p:grpSpPr>
        <p:sp>
          <p:nvSpPr>
            <p:cNvPr id="74776" name="Rectangle 69"/>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200"/>
                <a:t>i-1      </a:t>
              </a:r>
              <a:endParaRPr lang="en-US" altLang="zh-CN" sz="1200"/>
            </a:p>
          </p:txBody>
        </p:sp>
        <p:sp>
          <p:nvSpPr>
            <p:cNvPr id="74777" name="Line 70"/>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4999" name="Group 71"/>
          <p:cNvGrpSpPr/>
          <p:nvPr/>
        </p:nvGrpSpPr>
        <p:grpSpPr bwMode="auto">
          <a:xfrm>
            <a:off x="5562600" y="4267200"/>
            <a:ext cx="990600" cy="533400"/>
            <a:chOff x="1392" y="2544"/>
            <a:chExt cx="624" cy="336"/>
          </a:xfrm>
        </p:grpSpPr>
        <p:sp>
          <p:nvSpPr>
            <p:cNvPr id="74774" name="Rectangle 72"/>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200"/>
                <a:t>i     </a:t>
              </a:r>
              <a:endParaRPr lang="en-US" altLang="zh-CN" sz="1200"/>
            </a:p>
          </p:txBody>
        </p:sp>
        <p:sp>
          <p:nvSpPr>
            <p:cNvPr id="74775" name="Line 73"/>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74760" name="Group 74"/>
          <p:cNvGrpSpPr/>
          <p:nvPr/>
        </p:nvGrpSpPr>
        <p:grpSpPr bwMode="auto">
          <a:xfrm>
            <a:off x="7785100" y="4267200"/>
            <a:ext cx="990600" cy="533400"/>
            <a:chOff x="1392" y="2544"/>
            <a:chExt cx="624" cy="336"/>
          </a:xfrm>
        </p:grpSpPr>
        <p:sp>
          <p:nvSpPr>
            <p:cNvPr id="74772" name="Rectangle 75"/>
            <p:cNvSpPr>
              <a:spLocks noChangeArrowheads="1"/>
            </p:cNvSpPr>
            <p:nvPr/>
          </p:nvSpPr>
          <p:spPr bwMode="gray">
            <a:xfrm>
              <a:off x="1392" y="2544"/>
              <a:ext cx="624" cy="336"/>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a</a:t>
              </a:r>
              <a:r>
                <a:rPr lang="en-US" altLang="zh-CN" sz="1200"/>
                <a:t>i-1      </a:t>
              </a:r>
              <a:endParaRPr lang="en-US" altLang="zh-CN" sz="1200"/>
            </a:p>
          </p:txBody>
        </p:sp>
        <p:sp>
          <p:nvSpPr>
            <p:cNvPr id="74773" name="Line 76"/>
            <p:cNvSpPr>
              <a:spLocks noChangeShapeType="1"/>
            </p:cNvSpPr>
            <p:nvPr/>
          </p:nvSpPr>
          <p:spPr bwMode="gray">
            <a:xfrm>
              <a:off x="1824" y="2544"/>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25005" name="Line 77"/>
          <p:cNvSpPr>
            <a:spLocks noChangeShapeType="1"/>
          </p:cNvSpPr>
          <p:nvPr/>
        </p:nvSpPr>
        <p:spPr bwMode="gray">
          <a:xfrm>
            <a:off x="4267200" y="4572000"/>
            <a:ext cx="1295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5006" name="Line 78"/>
          <p:cNvSpPr>
            <a:spLocks noChangeShapeType="1"/>
          </p:cNvSpPr>
          <p:nvPr/>
        </p:nvSpPr>
        <p:spPr bwMode="gray">
          <a:xfrm>
            <a:off x="6477000" y="4572000"/>
            <a:ext cx="1295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763" name="Rectangle 79"/>
          <p:cNvSpPr>
            <a:spLocks noChangeArrowheads="1"/>
          </p:cNvSpPr>
          <p:nvPr/>
        </p:nvSpPr>
        <p:spPr bwMode="gray">
          <a:xfrm>
            <a:off x="3733800" y="38100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p</a:t>
            </a:r>
            <a:endParaRPr lang="en-US" altLang="zh-CN"/>
          </a:p>
        </p:txBody>
      </p:sp>
      <p:sp>
        <p:nvSpPr>
          <p:cNvPr id="74764" name="Line 80"/>
          <p:cNvSpPr>
            <a:spLocks noChangeShapeType="1"/>
          </p:cNvSpPr>
          <p:nvPr/>
        </p:nvSpPr>
        <p:spPr bwMode="gray">
          <a:xfrm>
            <a:off x="3657600" y="3886200"/>
            <a:ext cx="1524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5009" name="Rectangle 81"/>
          <p:cNvSpPr>
            <a:spLocks noChangeArrowheads="1"/>
          </p:cNvSpPr>
          <p:nvPr/>
        </p:nvSpPr>
        <p:spPr bwMode="gray">
          <a:xfrm>
            <a:off x="5791200" y="3835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q</a:t>
            </a:r>
            <a:endParaRPr lang="en-US" altLang="zh-CN"/>
          </a:p>
        </p:txBody>
      </p:sp>
      <p:sp>
        <p:nvSpPr>
          <p:cNvPr id="125010" name="Line 82"/>
          <p:cNvSpPr>
            <a:spLocks noChangeShapeType="1"/>
          </p:cNvSpPr>
          <p:nvPr/>
        </p:nvSpPr>
        <p:spPr bwMode="gray">
          <a:xfrm>
            <a:off x="5715000" y="3886200"/>
            <a:ext cx="1524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5011" name="Rectangle 83"/>
          <p:cNvSpPr>
            <a:spLocks noChangeArrowheads="1"/>
          </p:cNvSpPr>
          <p:nvPr/>
        </p:nvSpPr>
        <p:spPr bwMode="gray">
          <a:xfrm>
            <a:off x="6248400" y="38100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❶</a:t>
            </a:r>
            <a:endParaRPr lang="zh-CN" altLang="en-US"/>
          </a:p>
        </p:txBody>
      </p:sp>
      <p:sp>
        <p:nvSpPr>
          <p:cNvPr id="125013" name="Line 85"/>
          <p:cNvSpPr>
            <a:spLocks noChangeShapeType="1"/>
          </p:cNvSpPr>
          <p:nvPr/>
        </p:nvSpPr>
        <p:spPr bwMode="gray">
          <a:xfrm>
            <a:off x="4191000" y="46736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cxnSp>
        <p:nvCxnSpPr>
          <p:cNvPr id="125014" name="AutoShape 86"/>
          <p:cNvCxnSpPr>
            <a:cxnSpLocks noChangeShapeType="1"/>
          </p:cNvCxnSpPr>
          <p:nvPr/>
        </p:nvCxnSpPr>
        <p:spPr bwMode="gray">
          <a:xfrm rot="5400000" flipH="1" flipV="1">
            <a:off x="6045200" y="2984500"/>
            <a:ext cx="381000" cy="4089400"/>
          </a:xfrm>
          <a:prstGeom prst="bentConnector3">
            <a:avLst>
              <a:gd name="adj1" fmla="val -3338"/>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5015" name="Rectangle 87"/>
          <p:cNvSpPr>
            <a:spLocks noChangeArrowheads="1"/>
          </p:cNvSpPr>
          <p:nvPr/>
        </p:nvSpPr>
        <p:spPr bwMode="gray">
          <a:xfrm>
            <a:off x="6553200" y="419100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buFontTx/>
              <a:buNone/>
            </a:pPr>
            <a:r>
              <a:rPr lang="en-US" altLang="zh-CN"/>
              <a:t>❸</a:t>
            </a:r>
            <a:endParaRPr lang="zh-CN" altLang="en-US"/>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011"/>
                                        </p:tgtEl>
                                        <p:attrNameLst>
                                          <p:attrName>style.visibility</p:attrName>
                                        </p:attrNameLst>
                                      </p:cBhvr>
                                      <p:to>
                                        <p:strVal val="visible"/>
                                      </p:to>
                                    </p:set>
                                    <p:animEffect transition="in" filter="blinds(horizontal)">
                                      <p:cBhvr>
                                        <p:cTn id="7" dur="500"/>
                                        <p:tgtEl>
                                          <p:spTgt spid="1250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5009"/>
                                        </p:tgtEl>
                                        <p:attrNameLst>
                                          <p:attrName>style.visibility</p:attrName>
                                        </p:attrNameLst>
                                      </p:cBhvr>
                                      <p:to>
                                        <p:strVal val="visible"/>
                                      </p:to>
                                    </p:set>
                                    <p:animEffect transition="in" filter="blinds(horizontal)">
                                      <p:cBhvr>
                                        <p:cTn id="10" dur="500"/>
                                        <p:tgtEl>
                                          <p:spTgt spid="125009"/>
                                        </p:tgtEl>
                                      </p:cBhvr>
                                    </p:animEffect>
                                  </p:childTnLst>
                                </p:cTn>
                              </p:par>
                              <p:par>
                                <p:cTn id="11" presetID="3" presetClass="entr" presetSubtype="10" fill="hold" nodeType="withEffect">
                                  <p:stCondLst>
                                    <p:cond delay="0"/>
                                  </p:stCondLst>
                                  <p:childTnLst>
                                    <p:set>
                                      <p:cBhvr>
                                        <p:cTn id="12" dur="1" fill="hold">
                                          <p:stCondLst>
                                            <p:cond delay="0"/>
                                          </p:stCondLst>
                                        </p:cTn>
                                        <p:tgtEl>
                                          <p:spTgt spid="125010"/>
                                        </p:tgtEl>
                                        <p:attrNameLst>
                                          <p:attrName>style.visibility</p:attrName>
                                        </p:attrNameLst>
                                      </p:cBhvr>
                                      <p:to>
                                        <p:strVal val="visible"/>
                                      </p:to>
                                    </p:set>
                                    <p:animEffect transition="in" filter="blinds(horizontal)">
                                      <p:cBhvr>
                                        <p:cTn id="13" dur="500"/>
                                        <p:tgtEl>
                                          <p:spTgt spid="1250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25014"/>
                                        </p:tgtEl>
                                        <p:attrNameLst>
                                          <p:attrName>style.visibility</p:attrName>
                                        </p:attrNameLst>
                                      </p:cBhvr>
                                      <p:to>
                                        <p:strVal val="visible"/>
                                      </p:to>
                                    </p:set>
                                    <p:animEffect transition="in" filter="blinds(horizontal)">
                                      <p:cBhvr>
                                        <p:cTn id="18" dur="500"/>
                                        <p:tgtEl>
                                          <p:spTgt spid="125014"/>
                                        </p:tgtEl>
                                      </p:cBhvr>
                                    </p:animEffect>
                                  </p:childTnLst>
                                </p:cTn>
                              </p:par>
                              <p:par>
                                <p:cTn id="19" presetID="3" presetClass="entr" presetSubtype="10" fill="hold" nodeType="withEffect">
                                  <p:stCondLst>
                                    <p:cond delay="0"/>
                                  </p:stCondLst>
                                  <p:childTnLst>
                                    <p:set>
                                      <p:cBhvr>
                                        <p:cTn id="20" dur="1" fill="hold">
                                          <p:stCondLst>
                                            <p:cond delay="0"/>
                                          </p:stCondLst>
                                        </p:cTn>
                                        <p:tgtEl>
                                          <p:spTgt spid="125013"/>
                                        </p:tgtEl>
                                        <p:attrNameLst>
                                          <p:attrName>style.visibility</p:attrName>
                                        </p:attrNameLst>
                                      </p:cBhvr>
                                      <p:to>
                                        <p:strVal val="visible"/>
                                      </p:to>
                                    </p:set>
                                    <p:animEffect transition="in" filter="blinds(horizontal)">
                                      <p:cBhvr>
                                        <p:cTn id="21" dur="500"/>
                                        <p:tgtEl>
                                          <p:spTgt spid="125013"/>
                                        </p:tgtEl>
                                      </p:cBhvr>
                                    </p:animEffect>
                                  </p:childTnLst>
                                </p:cTn>
                              </p:par>
                              <p:par>
                                <p:cTn id="22" presetID="3" presetClass="entr" presetSubtype="10" fill="hold" nodeType="withEffect">
                                  <p:stCondLst>
                                    <p:cond delay="0"/>
                                  </p:stCondLst>
                                  <p:childTnLst>
                                    <p:set>
                                      <p:cBhvr>
                                        <p:cTn id="23" dur="1" fill="hold">
                                          <p:stCondLst>
                                            <p:cond delay="0"/>
                                          </p:stCondLst>
                                        </p:cTn>
                                        <p:tgtEl>
                                          <p:spTgt spid="124991">
                                            <p:txEl>
                                              <p:pRg st="0" end="0"/>
                                            </p:txEl>
                                          </p:spTgt>
                                        </p:tgtEl>
                                        <p:attrNameLst>
                                          <p:attrName>style.visibility</p:attrName>
                                        </p:attrNameLst>
                                      </p:cBhvr>
                                      <p:to>
                                        <p:strVal val="visible"/>
                                      </p:to>
                                    </p:set>
                                    <p:animEffect transition="in" filter="blinds(horizontal)">
                                      <p:cBhvr>
                                        <p:cTn id="24" dur="500"/>
                                        <p:tgtEl>
                                          <p:spTgt spid="124991">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1" nodeType="clickEffect">
                                  <p:stCondLst>
                                    <p:cond delay="0"/>
                                  </p:stCondLst>
                                  <p:childTnLst>
                                    <p:animEffect transition="out" filter="blinds(horizontal)">
                                      <p:cBhvr>
                                        <p:cTn id="28" dur="500"/>
                                        <p:tgtEl>
                                          <p:spTgt spid="125011"/>
                                        </p:tgtEl>
                                      </p:cBhvr>
                                    </p:animEffect>
                                    <p:set>
                                      <p:cBhvr>
                                        <p:cTn id="29" dur="1" fill="hold">
                                          <p:stCondLst>
                                            <p:cond delay="499"/>
                                          </p:stCondLst>
                                        </p:cTn>
                                        <p:tgtEl>
                                          <p:spTgt spid="12501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25015"/>
                                        </p:tgtEl>
                                        <p:attrNameLst>
                                          <p:attrName>style.visibility</p:attrName>
                                        </p:attrNameLst>
                                      </p:cBhvr>
                                      <p:to>
                                        <p:strVal val="visible"/>
                                      </p:to>
                                    </p:set>
                                    <p:animEffect transition="in" filter="blinds(horizontal)">
                                      <p:cBhvr>
                                        <p:cTn id="34" dur="500"/>
                                        <p:tgtEl>
                                          <p:spTgt spid="125015"/>
                                        </p:tgtEl>
                                      </p:cBhvr>
                                    </p:animEffect>
                                  </p:childTnLst>
                                </p:cTn>
                              </p:par>
                              <p:par>
                                <p:cTn id="35" presetID="3" presetClass="exit" presetSubtype="10" fill="hold" nodeType="withEffect">
                                  <p:stCondLst>
                                    <p:cond delay="0"/>
                                  </p:stCondLst>
                                  <p:childTnLst>
                                    <p:animEffect transition="out" filter="blinds(horizontal)">
                                      <p:cBhvr>
                                        <p:cTn id="36" dur="500"/>
                                        <p:tgtEl>
                                          <p:spTgt spid="124999"/>
                                        </p:tgtEl>
                                      </p:cBhvr>
                                    </p:animEffect>
                                    <p:set>
                                      <p:cBhvr>
                                        <p:cTn id="37" dur="1" fill="hold">
                                          <p:stCondLst>
                                            <p:cond delay="499"/>
                                          </p:stCondLst>
                                        </p:cTn>
                                        <p:tgtEl>
                                          <p:spTgt spid="124999"/>
                                        </p:tgtEl>
                                        <p:attrNameLst>
                                          <p:attrName>style.visibility</p:attrName>
                                        </p:attrNameLst>
                                      </p:cBhvr>
                                      <p:to>
                                        <p:strVal val="hidden"/>
                                      </p:to>
                                    </p:set>
                                  </p:childTnLst>
                                </p:cTn>
                              </p:par>
                              <p:par>
                                <p:cTn id="38" presetID="3" presetClass="exit" presetSubtype="10" fill="hold" nodeType="withEffect">
                                  <p:stCondLst>
                                    <p:cond delay="0"/>
                                  </p:stCondLst>
                                  <p:childTnLst>
                                    <p:animEffect transition="out" filter="blinds(horizontal)">
                                      <p:cBhvr>
                                        <p:cTn id="39" dur="500"/>
                                        <p:tgtEl>
                                          <p:spTgt spid="125005"/>
                                        </p:tgtEl>
                                      </p:cBhvr>
                                    </p:animEffect>
                                    <p:set>
                                      <p:cBhvr>
                                        <p:cTn id="40" dur="1" fill="hold">
                                          <p:stCondLst>
                                            <p:cond delay="499"/>
                                          </p:stCondLst>
                                        </p:cTn>
                                        <p:tgtEl>
                                          <p:spTgt spid="125005"/>
                                        </p:tgtEl>
                                        <p:attrNameLst>
                                          <p:attrName>style.visibility</p:attrName>
                                        </p:attrNameLst>
                                      </p:cBhvr>
                                      <p:to>
                                        <p:strVal val="hidden"/>
                                      </p:to>
                                    </p:set>
                                  </p:childTnLst>
                                </p:cTn>
                              </p:par>
                              <p:par>
                                <p:cTn id="41" presetID="3" presetClass="exit" presetSubtype="10" fill="hold" nodeType="withEffect">
                                  <p:stCondLst>
                                    <p:cond delay="0"/>
                                  </p:stCondLst>
                                  <p:childTnLst>
                                    <p:animEffect transition="out" filter="blinds(horizontal)">
                                      <p:cBhvr>
                                        <p:cTn id="42" dur="500"/>
                                        <p:tgtEl>
                                          <p:spTgt spid="125006"/>
                                        </p:tgtEl>
                                      </p:cBhvr>
                                    </p:animEffect>
                                    <p:set>
                                      <p:cBhvr>
                                        <p:cTn id="43" dur="1" fill="hold">
                                          <p:stCondLst>
                                            <p:cond delay="499"/>
                                          </p:stCondLst>
                                        </p:cTn>
                                        <p:tgtEl>
                                          <p:spTgt spid="1250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009" grpId="0"/>
      <p:bldP spid="125011" grpId="0"/>
      <p:bldP spid="125011" grpId="1"/>
      <p:bldP spid="12501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457200" y="1109663"/>
            <a:ext cx="8229600" cy="4905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单链表的遍历</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8" name="Rectangle 4"/>
          <p:cNvSpPr>
            <a:spLocks noChangeArrowheads="1"/>
          </p:cNvSpPr>
          <p:nvPr/>
        </p:nvSpPr>
        <p:spPr bwMode="auto">
          <a:xfrm>
            <a:off x="392806" y="1773154"/>
            <a:ext cx="9144000" cy="3581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依序对单链表中的每个数据元素调用函数</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一次且仅一次</a:t>
            </a:r>
            <a:endParaRPr lang="zh-CN" altLang="en-US" sz="18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void </a:t>
            </a:r>
            <a:r>
              <a:rPr lang="en-US" altLang="zh-CN" sz="1800" b="0" dirty="0" err="1">
                <a:latin typeface="Times New Roman" panose="02020603050405020304" pitchFamily="18" charset="0"/>
                <a:cs typeface="Times New Roman" panose="02020603050405020304" pitchFamily="18" charset="0"/>
              </a:rPr>
              <a:t>LinkList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r>
              <a:rPr lang="en-US" altLang="zh-CN" b="0" dirty="0">
                <a:latin typeface="Times New Roman" panose="02020603050405020304" pitchFamily="18" charset="0"/>
                <a:cs typeface="Times New Roman" panose="02020603050405020304" pitchFamily="18" charset="0"/>
              </a:rPr>
              <a:t>::</a:t>
            </a:r>
            <a:r>
              <a:rPr lang="en-US" altLang="zh-CN" sz="1800" b="0" dirty="0">
                <a:latin typeface="Times New Roman" panose="02020603050405020304" pitchFamily="18" charset="0"/>
                <a:cs typeface="Times New Roman" panose="02020603050405020304" pitchFamily="18" charset="0"/>
              </a:rPr>
              <a:t>Traverse(void(*visit)(</a:t>
            </a:r>
            <a:r>
              <a:rPr lang="en-US" altLang="zh-CN" sz="1800" b="0" dirty="0" err="1">
                <a:latin typeface="Times New Roman" panose="02020603050405020304" pitchFamily="18" charset="0"/>
                <a:cs typeface="Times New Roman" panose="02020603050405020304" pitchFamily="18" charset="0"/>
              </a:rPr>
              <a:t>const</a:t>
            </a: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 &amp;e)) </a:t>
            </a:r>
            <a:r>
              <a:rPr lang="en-US" altLang="zh-CN" sz="1800" b="0" dirty="0" err="1">
                <a:latin typeface="Times New Roman" panose="02020603050405020304" pitchFamily="18" charset="0"/>
                <a:cs typeface="Times New Roman" panose="02020603050405020304" pitchFamily="18" charset="0"/>
              </a:rPr>
              <a:t>const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*p = head-&gt;next;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while (p)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visit(p-&gt;data);</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p = p-&gt;next;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457200" y="1109663"/>
            <a:ext cx="8229600" cy="4905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赋值运算符</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的重载 </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9" name="Rectangle 4"/>
          <p:cNvSpPr>
            <a:spLocks noChangeArrowheads="1"/>
          </p:cNvSpPr>
          <p:nvPr/>
        </p:nvSpPr>
        <p:spPr bwMode="auto">
          <a:xfrm>
            <a:off x="228600" y="1905000"/>
            <a:ext cx="8839200" cy="3429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重载</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运算符</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b="0" dirty="0">
                <a:latin typeface="Times New Roman" panose="02020603050405020304" pitchFamily="18" charset="0"/>
                <a:cs typeface="Times New Roman" panose="02020603050405020304" pitchFamily="18" charset="0"/>
              </a:rPr>
              <a:t>template&lt;class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t>
            </a: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&gt;::operator=(</a:t>
            </a:r>
            <a:r>
              <a:rPr lang="en-US" altLang="zh-CN" b="0" dirty="0" err="1">
                <a:latin typeface="Times New Roman" panose="02020603050405020304" pitchFamily="18" charset="0"/>
                <a:cs typeface="Times New Roman" panose="02020603050405020304" pitchFamily="18" charset="0"/>
              </a:rPr>
              <a:t>const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LinkList</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&gt; &amp;r)</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Clear();</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CopyFrom</a:t>
            </a:r>
            <a:r>
              <a:rPr lang="en-US" altLang="zh-CN" b="0" dirty="0">
                <a:latin typeface="Times New Roman" panose="02020603050405020304" pitchFamily="18" charset="0"/>
                <a:cs typeface="Times New Roman" panose="02020603050405020304" pitchFamily="18" charset="0"/>
              </a:rPr>
              <a:t>(r);</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    return *this;</a:t>
            </a:r>
            <a:endParaRPr lang="en-US" altLang="zh-CN" b="0" dirty="0">
              <a:latin typeface="Times New Roman" panose="02020603050405020304" pitchFamily="18" charset="0"/>
              <a:cs typeface="Times New Roman" panose="02020603050405020304" pitchFamily="18" charset="0"/>
            </a:endParaRPr>
          </a:p>
          <a:p>
            <a:pPr>
              <a:spcBef>
                <a:spcPct val="20000"/>
              </a:spcBef>
              <a:defRPr/>
            </a:pPr>
            <a:r>
              <a:rPr lang="en-US" altLang="zh-CN"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2.3.1</a:t>
            </a:r>
            <a:r>
              <a:rPr lang="zh-CN" altLang="en-US" sz="3600" b="1" dirty="0">
                <a:solidFill>
                  <a:schemeClr val="bg1"/>
                </a:solidFill>
                <a:latin typeface="微软雅黑" panose="020B0503020204020204" pitchFamily="34" charset="-122"/>
                <a:ea typeface="微软雅黑" panose="020B0503020204020204" pitchFamily="34" charset="-122"/>
              </a:rPr>
              <a:t>单链表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内容占位符 2"/>
          <p:cNvSpPr txBox="1"/>
          <p:nvPr/>
        </p:nvSpPr>
        <p:spPr>
          <a:xfrm>
            <a:off x="457200" y="1109663"/>
            <a:ext cx="8229600" cy="4905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2000" dirty="0">
                <a:latin typeface="微软雅黑" panose="020B0503020204020204" pitchFamily="34" charset="-122"/>
                <a:ea typeface="微软雅黑" panose="020B0503020204020204" pitchFamily="34" charset="-122"/>
              </a:rPr>
              <a:t>拷贝函数</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dirty="0"/>
          </a:p>
          <a:p>
            <a:pPr marL="457200" indent="-457200"/>
            <a:endParaRPr lang="zh-CN" altLang="en-US" dirty="0"/>
          </a:p>
          <a:p>
            <a:pPr marL="457200" indent="-457200"/>
            <a:endParaRPr lang="zh-CN" altLang="en-US" dirty="0"/>
          </a:p>
          <a:p>
            <a:pPr marL="457200" indent="-457200"/>
            <a:endParaRPr lang="zh-CN" altLang="en-US" dirty="0"/>
          </a:p>
          <a:p>
            <a:pPr marL="457200" indent="-457200">
              <a:buFontTx/>
              <a:buNone/>
            </a:pPr>
            <a:endParaRPr lang="zh-CN" altLang="en-US" dirty="0"/>
          </a:p>
        </p:txBody>
      </p:sp>
      <p:sp>
        <p:nvSpPr>
          <p:cNvPr id="8" name="Rectangle 4"/>
          <p:cNvSpPr>
            <a:spLocks noChangeArrowheads="1"/>
          </p:cNvSpPr>
          <p:nvPr/>
        </p:nvSpPr>
        <p:spPr bwMode="auto">
          <a:xfrm>
            <a:off x="685800" y="1676400"/>
            <a:ext cx="8001000" cy="4572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a:spcBef>
                <a:spcPct val="20000"/>
              </a:spcBef>
              <a:defRPr/>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从现有的一个链表中复制所有的结点</a:t>
            </a:r>
            <a:endParaRPr lang="zh-CN" altLang="en-US" sz="1800" b="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template &lt;class </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void </a:t>
            </a:r>
            <a:r>
              <a:rPr lang="en-US" altLang="zh-CN" sz="1800" b="0" dirty="0" err="1">
                <a:latin typeface="Times New Roman" panose="02020603050405020304" pitchFamily="18" charset="0"/>
                <a:cs typeface="Times New Roman" panose="02020603050405020304" pitchFamily="18" charset="0"/>
              </a:rPr>
              <a:t>LinkList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r>
              <a:rPr lang="en-US" altLang="zh-CN" sz="1800" b="0" dirty="0" err="1">
                <a:latin typeface="Times New Roman" panose="02020603050405020304" pitchFamily="18" charset="0"/>
                <a:cs typeface="Times New Roman" panose="02020603050405020304" pitchFamily="18" charset="0"/>
              </a:rPr>
              <a:t>CopyFrom</a:t>
            </a:r>
            <a:r>
              <a:rPr lang="en-US" altLang="zh-CN" sz="1800" b="0" dirty="0">
                <a:latin typeface="Times New Roman" panose="02020603050405020304" pitchFamily="18" charset="0"/>
                <a:cs typeface="Times New Roman" panose="02020603050405020304" pitchFamily="18" charset="0"/>
              </a:rPr>
              <a:t>(const </a:t>
            </a:r>
            <a:r>
              <a:rPr lang="en-US" altLang="zh-CN" sz="1800" b="0" dirty="0" err="1">
                <a:latin typeface="Times New Roman" panose="02020603050405020304" pitchFamily="18" charset="0"/>
                <a:cs typeface="Times New Roman" panose="02020603050405020304" pitchFamily="18" charset="0"/>
              </a:rPr>
              <a:t>LinkList</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&amp;r)</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len</a:t>
            </a:r>
            <a:r>
              <a:rPr lang="en-US" altLang="zh-CN" sz="1800" b="0" dirty="0">
                <a:latin typeface="Times New Roman" panose="02020603050405020304" pitchFamily="18" charset="0"/>
                <a:cs typeface="Times New Roman" panose="02020603050405020304" pitchFamily="18" charset="0"/>
              </a:rPr>
              <a:t> = 0;</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head = tail = new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head-&gt;next = NULL;</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r>
              <a:rPr lang="en-US" altLang="zh-CN" sz="1800" b="0" dirty="0" err="1">
                <a:latin typeface="Times New Roman" panose="02020603050405020304" pitchFamily="18" charset="0"/>
                <a:cs typeface="Times New Roman" panose="02020603050405020304" pitchFamily="18" charset="0"/>
              </a:rPr>
              <a:t>LinkNode</a:t>
            </a:r>
            <a:r>
              <a:rPr lang="en-US" altLang="zh-CN" sz="1800" b="0" dirty="0">
                <a:latin typeface="Times New Roman" panose="02020603050405020304" pitchFamily="18" charset="0"/>
                <a:cs typeface="Times New Roman" panose="02020603050405020304" pitchFamily="18" charset="0"/>
              </a:rPr>
              <a:t>&lt;</a:t>
            </a:r>
            <a:r>
              <a:rPr lang="en-US" altLang="zh-CN" sz="1800" b="0" dirty="0" err="1">
                <a:latin typeface="Times New Roman" panose="02020603050405020304" pitchFamily="18" charset="0"/>
                <a:cs typeface="Times New Roman" panose="02020603050405020304" pitchFamily="18" charset="0"/>
              </a:rPr>
              <a:t>ElemType</a:t>
            </a:r>
            <a:r>
              <a:rPr lang="en-US" altLang="zh-CN" sz="1800" b="0" dirty="0">
                <a:latin typeface="Times New Roman" panose="02020603050405020304" pitchFamily="18" charset="0"/>
                <a:cs typeface="Times New Roman" panose="02020603050405020304" pitchFamily="18" charset="0"/>
              </a:rPr>
              <a:t>&gt; *p = </a:t>
            </a:r>
            <a:r>
              <a:rPr lang="en-US" altLang="zh-CN" sz="1800" b="0" dirty="0" err="1">
                <a:latin typeface="Times New Roman" panose="02020603050405020304" pitchFamily="18" charset="0"/>
                <a:cs typeface="Times New Roman" panose="02020603050405020304" pitchFamily="18" charset="0"/>
              </a:rPr>
              <a:t>r.head</a:t>
            </a:r>
            <a:r>
              <a:rPr lang="en-US" altLang="zh-CN" sz="1800" b="0" dirty="0">
                <a:latin typeface="Times New Roman" panose="02020603050405020304" pitchFamily="18" charset="0"/>
                <a:cs typeface="Times New Roman" panose="02020603050405020304" pitchFamily="18" charset="0"/>
              </a:rPr>
              <a:t>-&gt;next;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while (p){</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Append(p-&gt;data);</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p = p-&gt;next;</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    }</a:t>
            </a:r>
            <a:endParaRPr lang="en-US" altLang="zh-CN" sz="1800" b="0" dirty="0">
              <a:latin typeface="Times New Roman" panose="02020603050405020304" pitchFamily="18" charset="0"/>
              <a:cs typeface="Times New Roman" panose="02020603050405020304" pitchFamily="18" charset="0"/>
            </a:endParaRPr>
          </a:p>
          <a:p>
            <a:pPr>
              <a:spcBef>
                <a:spcPct val="20000"/>
              </a:spcBef>
              <a:defRPr/>
            </a:pPr>
            <a:r>
              <a:rPr lang="en-US" altLang="zh-CN" sz="1800" b="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rPr>
              <a:t>单链表的特点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457200" y="129540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000" dirty="0">
                <a:latin typeface="微软雅黑" panose="020B0503020204020204" pitchFamily="34" charset="-122"/>
                <a:ea typeface="微软雅黑" panose="020B0503020204020204" pitchFamily="34" charset="-122"/>
              </a:rPr>
              <a:t>它是一种动态结构，整个存储空间为多个链表共用</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不需预先分配空间</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指针占用额外存储空间</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不能随机存取，查找速度慢</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插入删除结点，只需移动指针，操作方便</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理论上不存在溢出问题 </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2.3.2</a:t>
            </a:r>
            <a:r>
              <a:rPr lang="zh-CN" altLang="en-US" sz="3600" b="1" dirty="0">
                <a:solidFill>
                  <a:schemeClr val="bg1"/>
                </a:solidFill>
                <a:latin typeface="微软雅黑" panose="020B0503020204020204" pitchFamily="34" charset="-122"/>
                <a:ea typeface="微软雅黑" panose="020B0503020204020204" pitchFamily="34" charset="-122"/>
              </a:rPr>
              <a:t>其他形式的链表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522514" y="1031786"/>
            <a:ext cx="8305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000" dirty="0">
                <a:latin typeface="微软雅黑" panose="020B0503020204020204" pitchFamily="34" charset="-122"/>
                <a:ea typeface="微软雅黑" panose="020B0503020204020204" pitchFamily="34" charset="-122"/>
              </a:rPr>
              <a:t>循环单链表</a:t>
            </a:r>
            <a:endParaRPr lang="en-US" altLang="zh-CN"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循环链表是表中最后一个结点的指针指向头结点，使链表构成环状</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特点：从表中任一结点出发均可找到表中其他结点，提高查找效率</a:t>
            </a:r>
            <a:endParaRPr lang="zh-CN" altLang="en-US" sz="2000" dirty="0">
              <a:latin typeface="微软雅黑" panose="020B0503020204020204" pitchFamily="34" charset="-122"/>
              <a:ea typeface="微软雅黑" panose="020B0503020204020204" pitchFamily="34" charset="-122"/>
            </a:endParaRPr>
          </a:p>
          <a:p>
            <a:pPr lvl="1">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rPr>
              <a:t>操作与单链表基本一致，循环条件不同</a:t>
            </a:r>
            <a:endParaRPr lang="en-US" altLang="zh-CN" sz="2000" b="1" dirty="0">
              <a:solidFill>
                <a:srgbClr val="FF0000"/>
              </a:solidFill>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算法中的循环条件不是</a:t>
            </a: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p-&gt;next</a:t>
            </a:r>
            <a:r>
              <a:rPr lang="zh-CN" altLang="en-US" sz="2000" dirty="0">
                <a:latin typeface="微软雅黑" panose="020B0503020204020204" pitchFamily="34" charset="-122"/>
                <a:ea typeface="微软雅黑" panose="020B0503020204020204" pitchFamily="34" charset="-122"/>
              </a:rPr>
              <a:t>是否为空，而是是否等于头指针</a:t>
            </a:r>
            <a:endParaRPr lang="zh-CN" altLang="en-US" sz="2000" dirty="0">
              <a:latin typeface="微软雅黑" panose="020B0503020204020204" pitchFamily="34" charset="-122"/>
              <a:ea typeface="微软雅黑" panose="020B0503020204020204" pitchFamily="34" charset="-122"/>
            </a:endParaRPr>
          </a:p>
          <a:p>
            <a:pPr lvl="1">
              <a:buFontTx/>
              <a:buNone/>
            </a:pPr>
            <a:endParaRPr lang="zh-CN" altLang="en-US" dirty="0"/>
          </a:p>
          <a:p>
            <a:endParaRPr lang="zh-CN" altLang="en-US" dirty="0"/>
          </a:p>
        </p:txBody>
      </p:sp>
      <p:graphicFrame>
        <p:nvGraphicFramePr>
          <p:cNvPr id="8" name="Object 4"/>
          <p:cNvGraphicFramePr>
            <a:graphicFrameLocks noChangeAspect="1"/>
          </p:cNvGraphicFramePr>
          <p:nvPr/>
        </p:nvGraphicFramePr>
        <p:xfrm>
          <a:off x="737058" y="3241586"/>
          <a:ext cx="8153400" cy="2667000"/>
        </p:xfrm>
        <a:graphic>
          <a:graphicData uri="http://schemas.openxmlformats.org/presentationml/2006/ole">
            <mc:AlternateContent xmlns:mc="http://schemas.openxmlformats.org/markup-compatibility/2006">
              <mc:Choice xmlns:v="urn:schemas-microsoft-com:vml" Requires="v">
                <p:oleObj spid="_x0000_s0" name="" r:id="rId1" imgW="7353300" imgH="1701800" progId="Visio.Drawing.11">
                  <p:embed/>
                </p:oleObj>
              </mc:Choice>
              <mc:Fallback>
                <p:oleObj name="" r:id="rId1" imgW="7353300" imgH="170180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058" y="3241586"/>
                        <a:ext cx="81534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内容占位符 2"/>
          <p:cNvSpPr>
            <a:spLocks noGrp="1"/>
          </p:cNvSpPr>
          <p:nvPr>
            <p:ph idx="4294967295"/>
          </p:nvPr>
        </p:nvSpPr>
        <p:spPr>
          <a:xfrm>
            <a:off x="392806" y="1219200"/>
            <a:ext cx="8305800" cy="2209800"/>
          </a:xfrm>
        </p:spPr>
        <p:txBody>
          <a:bodyPr/>
          <a:lstStyle/>
          <a:p>
            <a:r>
              <a:rPr lang="zh-CN" altLang="en-US" sz="2000" dirty="0">
                <a:latin typeface="微软雅黑" panose="020B0503020204020204" pitchFamily="34" charset="-122"/>
                <a:ea typeface="微软雅黑" panose="020B0503020204020204" pitchFamily="34" charset="-122"/>
              </a:rPr>
              <a:t>双向链表</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每一个结点有两个指针域，一个指向直接后继，一个指向直接前驱</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操作特点：</a:t>
            </a:r>
            <a:endParaRPr lang="en-US" altLang="zh-CN" sz="2000"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查询操作与单链表基本一致</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插入 和删除时需要同时修改两个方向上的指针</a:t>
            </a:r>
            <a:endParaRPr lang="zh-CN" altLang="en-US" dirty="0">
              <a:latin typeface="微软雅黑" panose="020B0503020204020204" pitchFamily="34" charset="-122"/>
              <a:ea typeface="微软雅黑" panose="020B0503020204020204" pitchFamily="34" charset="-122"/>
            </a:endParaRPr>
          </a:p>
        </p:txBody>
      </p:sp>
      <p:sp>
        <p:nvSpPr>
          <p:cNvPr id="80900" name="Rectangle 6"/>
          <p:cNvSpPr>
            <a:spLocks noChangeArrowheads="1"/>
          </p:cNvSpPr>
          <p:nvPr/>
        </p:nvSpPr>
        <p:spPr bwMode="gray">
          <a:xfrm>
            <a:off x="5949966" y="24361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80901" name="Object 5"/>
          <p:cNvGraphicFramePr>
            <a:graphicFrameLocks noChangeAspect="1"/>
          </p:cNvGraphicFramePr>
          <p:nvPr/>
        </p:nvGraphicFramePr>
        <p:xfrm>
          <a:off x="2133600" y="3276600"/>
          <a:ext cx="7696200" cy="3086100"/>
        </p:xfrm>
        <a:graphic>
          <a:graphicData uri="http://schemas.openxmlformats.org/presentationml/2006/ole">
            <mc:AlternateContent xmlns:mc="http://schemas.openxmlformats.org/markup-compatibility/2006">
              <mc:Choice xmlns:v="urn:schemas-microsoft-com:vml" Requires="v">
                <p:oleObj spid="_x0000_s0" name="" r:id="rId1" imgW="8851900" imgH="2463800" progId="Visio.Drawing.11">
                  <p:embed/>
                </p:oleObj>
              </mc:Choice>
              <mc:Fallback>
                <p:oleObj name="" r:id="rId1" imgW="8851900" imgH="246380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276600"/>
                        <a:ext cx="76962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p:cNvSpPr txBox="1">
            <a:spLocks noChangeArrowheads="1"/>
          </p:cNvSpPr>
          <p:nvPr/>
        </p:nvSpPr>
        <p:spPr bwMode="auto">
          <a:xfrm>
            <a:off x="3810000" y="2060576"/>
            <a:ext cx="4800600" cy="2616101"/>
          </a:xfrm>
          <a:prstGeom prst="rect">
            <a:avLst/>
          </a:prstGeom>
          <a:solidFill>
            <a:schemeClr val="accent1">
              <a:lumMod val="20000"/>
              <a:lumOff val="80000"/>
            </a:schemeClr>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2000" dirty="0"/>
              <a:t>Template &lt;class </a:t>
            </a:r>
            <a:r>
              <a:rPr lang="en-US" altLang="zh-CN" sz="2000" dirty="0" err="1"/>
              <a:t>ElemType</a:t>
            </a:r>
            <a:r>
              <a:rPr lang="en-US" altLang="zh-CN" sz="2000" dirty="0"/>
              <a:t>&gt;</a:t>
            </a:r>
            <a:endParaRPr lang="en-US" altLang="zh-CN" sz="2000" dirty="0"/>
          </a:p>
          <a:p>
            <a:pPr>
              <a:buFontTx/>
              <a:buNone/>
            </a:pPr>
            <a:r>
              <a:rPr lang="en-US" altLang="zh-CN" sz="2000" dirty="0"/>
              <a:t>struct </a:t>
            </a:r>
            <a:r>
              <a:rPr lang="en-US" altLang="zh-CN" sz="2000" dirty="0" err="1"/>
              <a:t>Dulinknode</a:t>
            </a:r>
            <a:endParaRPr lang="en-US" altLang="zh-CN" sz="2000" dirty="0"/>
          </a:p>
          <a:p>
            <a:pPr>
              <a:buFontTx/>
              <a:buNone/>
            </a:pPr>
            <a:r>
              <a:rPr lang="en-US" altLang="zh-CN" sz="2000" dirty="0"/>
              <a:t>{</a:t>
            </a:r>
            <a:endParaRPr lang="en-US" altLang="zh-CN" sz="2000" dirty="0"/>
          </a:p>
          <a:p>
            <a:pPr>
              <a:buFontTx/>
              <a:buNone/>
            </a:pPr>
            <a:r>
              <a:rPr lang="en-US" altLang="zh-CN" sz="2000" dirty="0"/>
              <a:t>      </a:t>
            </a:r>
            <a:r>
              <a:rPr lang="en-US" altLang="zh-CN" sz="2000" dirty="0" err="1"/>
              <a:t>ElemType</a:t>
            </a:r>
            <a:r>
              <a:rPr lang="en-US" altLang="zh-CN" sz="2000" dirty="0"/>
              <a:t> data;</a:t>
            </a:r>
            <a:endParaRPr lang="en-US" altLang="zh-CN" sz="2000" dirty="0"/>
          </a:p>
          <a:p>
            <a:pPr>
              <a:buFontTx/>
              <a:buNone/>
            </a:pPr>
            <a:r>
              <a:rPr lang="en-US" altLang="zh-CN" sz="2000" dirty="0"/>
              <a:t>      </a:t>
            </a:r>
            <a:r>
              <a:rPr lang="en-US" altLang="zh-CN" sz="2000" dirty="0" err="1"/>
              <a:t>Dulinknode</a:t>
            </a:r>
            <a:r>
              <a:rPr lang="en-US" altLang="zh-CN" sz="2000" dirty="0"/>
              <a:t>&lt;</a:t>
            </a:r>
            <a:r>
              <a:rPr lang="en-US" altLang="zh-CN" sz="2000" dirty="0" err="1"/>
              <a:t>ElemType</a:t>
            </a:r>
            <a:r>
              <a:rPr lang="en-US" altLang="zh-CN" sz="2000" dirty="0"/>
              <a:t>&gt; *next;</a:t>
            </a:r>
            <a:endParaRPr lang="en-US" altLang="zh-CN" sz="2000" dirty="0"/>
          </a:p>
          <a:p>
            <a:pPr>
              <a:buFontTx/>
              <a:buNone/>
            </a:pPr>
            <a:r>
              <a:rPr lang="en-US" altLang="zh-CN" sz="2000" dirty="0"/>
              <a:t>      </a:t>
            </a:r>
            <a:r>
              <a:rPr lang="en-US" altLang="zh-CN" sz="2000" dirty="0" err="1"/>
              <a:t>Dulinknode</a:t>
            </a:r>
            <a:r>
              <a:rPr lang="en-US" altLang="zh-CN" sz="2000" dirty="0"/>
              <a:t>&lt;</a:t>
            </a:r>
            <a:r>
              <a:rPr lang="en-US" altLang="zh-CN" sz="2000" dirty="0" err="1"/>
              <a:t>ElemType</a:t>
            </a:r>
            <a:r>
              <a:rPr lang="en-US" altLang="zh-CN" sz="2000" dirty="0"/>
              <a:t>&gt; *prior;</a:t>
            </a:r>
            <a:endParaRPr lang="en-US" altLang="zh-CN" sz="2000" dirty="0"/>
          </a:p>
          <a:p>
            <a:pPr>
              <a:buFontTx/>
              <a:buNone/>
            </a:pPr>
            <a:r>
              <a:rPr lang="en-US" altLang="zh-CN" sz="2000" dirty="0"/>
              <a:t>} ;</a:t>
            </a:r>
            <a:endParaRPr lang="zh-CN" altLang="en-US" sz="2000" dirty="0"/>
          </a:p>
        </p:txBody>
      </p:sp>
      <p:sp>
        <p:nvSpPr>
          <p:cNvPr id="3" name="矩形 2"/>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4" name="文本框 3"/>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2.3.2</a:t>
            </a:r>
            <a:r>
              <a:rPr lang="zh-CN" altLang="en-US" sz="3600" b="1" dirty="0">
                <a:solidFill>
                  <a:schemeClr val="bg1"/>
                </a:solidFill>
                <a:latin typeface="微软雅黑" panose="020B0503020204020204" pitchFamily="34" charset="-122"/>
                <a:ea typeface="微软雅黑" panose="020B0503020204020204" pitchFamily="34" charset="-122"/>
              </a:rPr>
              <a:t>其他形式的链表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body" idx="1"/>
          </p:nvPr>
        </p:nvSpPr>
        <p:spPr>
          <a:xfrm>
            <a:off x="392806" y="1285981"/>
            <a:ext cx="10515600" cy="4351338"/>
          </a:xfrm>
        </p:spPr>
        <p:txBody>
          <a:bodyPr>
            <a:normAutofit/>
          </a:bodyPr>
          <a:lstStyle/>
          <a:p>
            <a:pPr marL="457200" indent="-457200"/>
            <a:r>
              <a:rPr lang="zh-CN" altLang="en-US" sz="2000" dirty="0">
                <a:latin typeface="微软雅黑" panose="020B0503020204020204" pitchFamily="34" charset="-122"/>
                <a:ea typeface="微软雅黑" panose="020B0503020204020204" pitchFamily="34" charset="-122"/>
              </a:rPr>
              <a:t>静态链表</a:t>
            </a:r>
            <a:endParaRPr lang="en-US" altLang="zh-CN" sz="2000" dirty="0">
              <a:latin typeface="微软雅黑" panose="020B0503020204020204" pitchFamily="34" charset="-122"/>
              <a:ea typeface="微软雅黑" panose="020B0503020204020204" pitchFamily="34" charset="-122"/>
            </a:endParaRPr>
          </a:p>
          <a:p>
            <a:pPr marL="914400" lvl="1" indent="-457200"/>
            <a:r>
              <a:rPr lang="zh-CN" altLang="en-US" sz="2000" dirty="0">
                <a:latin typeface="微软雅黑" panose="020B0503020204020204" pitchFamily="34" charset="-122"/>
                <a:ea typeface="微软雅黑" panose="020B0503020204020204" pitchFamily="34" charset="-122"/>
              </a:rPr>
              <a:t>用一维结构类型的数组也可实现链表结构 </a:t>
            </a:r>
            <a:endParaRPr lang="zh-CN" altLang="en-US" sz="2000" dirty="0">
              <a:latin typeface="微软雅黑" panose="020B0503020204020204" pitchFamily="34" charset="-122"/>
              <a:ea typeface="微软雅黑" panose="020B0503020204020204" pitchFamily="34" charset="-122"/>
            </a:endParaRPr>
          </a:p>
          <a:p>
            <a:pPr marL="914400" lvl="1" indent="-457200"/>
            <a:r>
              <a:rPr lang="zh-CN" altLang="en-US" sz="2000" dirty="0">
                <a:latin typeface="微软雅黑" panose="020B0503020204020204" pitchFamily="34" charset="-122"/>
                <a:ea typeface="微软雅黑" panose="020B0503020204020204" pitchFamily="34" charset="-122"/>
              </a:rPr>
              <a:t>常用于不支持指针的高级语言或用于数据对象中的元素个数是限定的情形。</a:t>
            </a:r>
            <a:endParaRPr lang="zh-CN" altLang="en-US" sz="2000" dirty="0">
              <a:latin typeface="微软雅黑" panose="020B0503020204020204" pitchFamily="34" charset="-122"/>
              <a:ea typeface="微软雅黑" panose="020B0503020204020204" pitchFamily="34" charset="-122"/>
            </a:endParaRPr>
          </a:p>
        </p:txBody>
      </p:sp>
      <p:sp>
        <p:nvSpPr>
          <p:cNvPr id="81924" name="Rectangle 5"/>
          <p:cNvSpPr>
            <a:spLocks noChangeArrowheads="1"/>
          </p:cNvSpPr>
          <p:nvPr/>
        </p:nvSpPr>
        <p:spPr bwMode="gray">
          <a:xfrm>
            <a:off x="5949966" y="1597969"/>
            <a:ext cx="29206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81925" name="Object 4"/>
          <p:cNvGraphicFramePr>
            <a:graphicFrameLocks noChangeAspect="1"/>
          </p:cNvGraphicFramePr>
          <p:nvPr/>
        </p:nvGraphicFramePr>
        <p:xfrm>
          <a:off x="2743200" y="2819400"/>
          <a:ext cx="6705600" cy="4038600"/>
        </p:xfrm>
        <a:graphic>
          <a:graphicData uri="http://schemas.openxmlformats.org/presentationml/2006/ole">
            <mc:AlternateContent xmlns:mc="http://schemas.openxmlformats.org/markup-compatibility/2006">
              <mc:Choice xmlns:v="urn:schemas-microsoft-com:vml" Requires="v">
                <p:oleObj spid="_x0000_s0" name="" r:id="rId1" imgW="8166100" imgH="4762500" progId="Visio.Drawing.11">
                  <p:embed/>
                </p:oleObj>
              </mc:Choice>
              <mc:Fallback>
                <p:oleObj name="" r:id="rId1" imgW="8166100" imgH="476250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819400"/>
                        <a:ext cx="6705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4724400" y="2286001"/>
            <a:ext cx="4800600" cy="2614930"/>
          </a:xfrm>
          <a:prstGeom prst="rect">
            <a:avLst/>
          </a:prstGeom>
          <a:solidFill>
            <a:schemeClr val="accent1">
              <a:lumMod val="20000"/>
              <a:lumOff val="80000"/>
            </a:schemeClr>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2000" dirty="0">
                <a:cs typeface="Times New Roman" panose="02020603050405020304" pitchFamily="18" charset="0"/>
              </a:rPr>
              <a:t>#define MAXSIZE 256</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template &lt;class </a:t>
            </a:r>
            <a:r>
              <a:rPr lang="en-US" altLang="zh-CN" sz="2000" dirty="0" err="1">
                <a:cs typeface="Times New Roman" panose="02020603050405020304" pitchFamily="18" charset="0"/>
              </a:rPr>
              <a:t>ElemType</a:t>
            </a:r>
            <a:r>
              <a:rPr lang="en-US" altLang="zh-CN" sz="2000" dirty="0">
                <a:cs typeface="Times New Roman" panose="02020603050405020304" pitchFamily="18" charset="0"/>
              </a:rPr>
              <a:t>&gt;</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struct </a:t>
            </a:r>
            <a:r>
              <a:rPr lang="en-US" altLang="zh-CN" sz="2000" dirty="0" err="1">
                <a:cs typeface="Times New Roman" panose="02020603050405020304" pitchFamily="18" charset="0"/>
              </a:rPr>
              <a:t>SNode</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      </a:t>
            </a:r>
            <a:r>
              <a:rPr lang="en-US" altLang="zh-CN" sz="2000" dirty="0" err="1">
                <a:cs typeface="Times New Roman" panose="02020603050405020304" pitchFamily="18" charset="0"/>
              </a:rPr>
              <a:t>ElemType</a:t>
            </a:r>
            <a:r>
              <a:rPr lang="en-US" altLang="zh-CN" sz="2000" dirty="0">
                <a:cs typeface="Times New Roman" panose="02020603050405020304" pitchFamily="18" charset="0"/>
              </a:rPr>
              <a:t> data;</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      int next;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静态指针，称为游标</a:t>
            </a:r>
            <a:endParaRPr lang="en-US" altLang="zh-CN" sz="2000" dirty="0">
              <a:cs typeface="Times New Roman" panose="02020603050405020304" pitchFamily="18" charset="0"/>
            </a:endParaRPr>
          </a:p>
          <a:p>
            <a:pPr>
              <a:buFontTx/>
              <a:buNone/>
            </a:pPr>
            <a:r>
              <a:rPr lang="en-US" altLang="zh-CN" sz="2000" dirty="0">
                <a:cs typeface="Times New Roman" panose="02020603050405020304" pitchFamily="18" charset="0"/>
              </a:rPr>
              <a:t>}</a:t>
            </a:r>
            <a:r>
              <a:rPr lang="en-US" altLang="zh-CN" sz="2000" dirty="0" err="1">
                <a:cs typeface="Times New Roman" panose="02020603050405020304" pitchFamily="18" charset="0"/>
              </a:rPr>
              <a:t>SLinkList</a:t>
            </a:r>
            <a:r>
              <a:rPr lang="en-US" altLang="zh-CN" sz="2000" dirty="0">
                <a:cs typeface="Times New Roman" panose="02020603050405020304" pitchFamily="18" charset="0"/>
              </a:rPr>
              <a:t>[MAXSIZE];  </a:t>
            </a:r>
            <a:endParaRPr lang="zh-CN" altLang="en-US" sz="2000" dirty="0">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2.3.2</a:t>
            </a:r>
            <a:r>
              <a:rPr lang="zh-CN" altLang="en-US" sz="3600" b="1" dirty="0">
                <a:solidFill>
                  <a:schemeClr val="bg1"/>
                </a:solidFill>
                <a:latin typeface="微软雅黑" panose="020B0503020204020204" pitchFamily="34" charset="-122"/>
                <a:ea typeface="微软雅黑" panose="020B0503020204020204" pitchFamily="34" charset="-122"/>
              </a:rPr>
              <a:t>其他形式的链表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7"/>
                                        </p:tgtEl>
                                      </p:cBhvr>
                                    </p:animEffect>
                                    <p:anim calcmode="lin" valueType="num">
                                      <p:cBhvr>
                                        <p:cTn id="14" dur="1000"/>
                                        <p:tgtEl>
                                          <p:spTgt spid="7"/>
                                        </p:tgtEl>
                                        <p:attrNameLst>
                                          <p:attrName>ppt_x</p:attrName>
                                        </p:attrNameLst>
                                      </p:cBhvr>
                                      <p:tavLst>
                                        <p:tav tm="0">
                                          <p:val>
                                            <p:strVal val="ppt_x"/>
                                          </p:val>
                                        </p:tav>
                                        <p:tav tm="100000">
                                          <p:val>
                                            <p:strVal val="ppt_x"/>
                                          </p:val>
                                        </p:tav>
                                      </p:tavLst>
                                    </p:anim>
                                    <p:anim calcmode="lin" valueType="num">
                                      <p:cBhvr>
                                        <p:cTn id="15" dur="1000"/>
                                        <p:tgtEl>
                                          <p:spTgt spid="7"/>
                                        </p:tgtEl>
                                        <p:attrNameLst>
                                          <p:attrName>ppt_y</p:attrName>
                                        </p:attrNameLst>
                                      </p:cBhvr>
                                      <p:tavLst>
                                        <p:tav tm="0">
                                          <p:val>
                                            <p:strVal val="ppt_y"/>
                                          </p:val>
                                        </p:tav>
                                        <p:tav tm="100000">
                                          <p:val>
                                            <p:strVal val="ppt_y+.1"/>
                                          </p:val>
                                        </p:tav>
                                      </p:tavLst>
                                    </p:anim>
                                    <p:set>
                                      <p:cBhvr>
                                        <p:cTn id="16"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body" idx="1"/>
          </p:nvPr>
        </p:nvSpPr>
        <p:spPr>
          <a:xfrm>
            <a:off x="838200" y="1253331"/>
            <a:ext cx="10515600" cy="4351338"/>
          </a:xfrm>
        </p:spPr>
        <p:txBody>
          <a:bodyPr>
            <a:normAutofit/>
          </a:bodyPr>
          <a:lstStyle/>
          <a:p>
            <a:pPr marL="457200" indent="-457200">
              <a:lnSpc>
                <a:spcPct val="125000"/>
              </a:lnSpc>
            </a:pPr>
            <a:r>
              <a:rPr lang="zh-CN" altLang="en-US" sz="2000" dirty="0">
                <a:latin typeface="微软雅黑" panose="020B0503020204020204" pitchFamily="34" charset="-122"/>
                <a:ea typeface="微软雅黑" panose="020B0503020204020204" pitchFamily="34" charset="-122"/>
              </a:rPr>
              <a:t>前提：抽象类模板放置在</a:t>
            </a:r>
            <a:r>
              <a:rPr lang="en-US" altLang="zh-CN" sz="2000" dirty="0" err="1">
                <a:latin typeface="微软雅黑" panose="020B0503020204020204" pitchFamily="34" charset="-122"/>
                <a:ea typeface="微软雅黑" panose="020B0503020204020204" pitchFamily="34" charset="-122"/>
              </a:rPr>
              <a:t>list.h</a:t>
            </a:r>
            <a:r>
              <a:rPr lang="zh-CN" altLang="en-US" sz="2000" dirty="0">
                <a:latin typeface="微软雅黑" panose="020B0503020204020204" pitchFamily="34" charset="-122"/>
                <a:ea typeface="微软雅黑" panose="020B0503020204020204" pitchFamily="34" charset="-122"/>
              </a:rPr>
              <a:t>文件中，单链表类模板放置在</a:t>
            </a:r>
            <a:r>
              <a:rPr lang="en-US" altLang="zh-CN" sz="2000" dirty="0" err="1">
                <a:latin typeface="微软雅黑" panose="020B0503020204020204" pitchFamily="34" charset="-122"/>
                <a:ea typeface="微软雅黑" panose="020B0503020204020204" pitchFamily="34" charset="-122"/>
              </a:rPr>
              <a:t>LinkList.h</a:t>
            </a:r>
            <a:r>
              <a:rPr lang="zh-CN" altLang="en-US" sz="2000" dirty="0">
                <a:latin typeface="微软雅黑" panose="020B0503020204020204" pitchFamily="34" charset="-122"/>
                <a:ea typeface="微软雅黑" panose="020B0503020204020204" pitchFamily="34" charset="-122"/>
              </a:rPr>
              <a:t>文件中，而顺序类模板放置</a:t>
            </a:r>
            <a:r>
              <a:rPr lang="en-US" altLang="zh-CN" sz="2000" dirty="0" err="1">
                <a:latin typeface="微软雅黑" panose="020B0503020204020204" pitchFamily="34" charset="-122"/>
                <a:ea typeface="微软雅黑" panose="020B0503020204020204" pitchFamily="34" charset="-122"/>
              </a:rPr>
              <a:t>SqList.h</a:t>
            </a:r>
            <a:r>
              <a:rPr lang="zh-CN" altLang="en-US" sz="2000" dirty="0">
                <a:latin typeface="微软雅黑" panose="020B0503020204020204" pitchFamily="34" charset="-122"/>
                <a:ea typeface="微软雅黑" panose="020B0503020204020204" pitchFamily="34" charset="-122"/>
              </a:rPr>
              <a:t>文件中</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None/>
            </a:pPr>
            <a:r>
              <a:rPr lang="en-US" altLang="zh-CN" sz="2000" dirty="0">
                <a:latin typeface="微软雅黑" panose="020B0503020204020204" pitchFamily="34" charset="-122"/>
                <a:ea typeface="微软雅黑" panose="020B0503020204020204" pitchFamily="34" charset="-122"/>
              </a:rPr>
              <a:t>2.4.1</a:t>
            </a:r>
            <a:r>
              <a:rPr lang="zh-CN" altLang="en-US" sz="2000" dirty="0">
                <a:latin typeface="微软雅黑" panose="020B0503020204020204" pitchFamily="34" charset="-122"/>
                <a:ea typeface="微软雅黑" panose="020B0503020204020204" pitchFamily="34" charset="-122"/>
              </a:rPr>
              <a:t>两个有序表的合并 </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None/>
            </a:pPr>
            <a:r>
              <a:rPr lang="en-US" altLang="zh-CN" sz="2000" dirty="0">
                <a:latin typeface="微软雅黑" panose="020B0503020204020204" pitchFamily="34" charset="-122"/>
                <a:ea typeface="微软雅黑" panose="020B0503020204020204" pitchFamily="34" charset="-122"/>
              </a:rPr>
              <a:t>2.4.2 </a:t>
            </a:r>
            <a:r>
              <a:rPr lang="zh-CN" altLang="en-US" sz="2000" dirty="0">
                <a:latin typeface="微软雅黑" panose="020B0503020204020204" pitchFamily="34" charset="-122"/>
                <a:ea typeface="微软雅黑" panose="020B0503020204020204" pitchFamily="34" charset="-122"/>
              </a:rPr>
              <a:t>集合运算 </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None/>
            </a:pPr>
            <a:r>
              <a:rPr lang="en-US" altLang="zh-CN" sz="2000" dirty="0">
                <a:latin typeface="微软雅黑" panose="020B0503020204020204" pitchFamily="34" charset="-122"/>
                <a:ea typeface="微软雅黑" panose="020B0503020204020204" pitchFamily="34" charset="-122"/>
              </a:rPr>
              <a:t>2.4.3 </a:t>
            </a:r>
            <a:r>
              <a:rPr lang="zh-CN" altLang="en-US" sz="2000" dirty="0">
                <a:latin typeface="微软雅黑" panose="020B0503020204020204" pitchFamily="34" charset="-122"/>
                <a:ea typeface="微软雅黑" panose="020B0503020204020204" pitchFamily="34" charset="-122"/>
              </a:rPr>
              <a:t>一元多项式的表示和相加</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None/>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5" name="文本框 4"/>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a:t>
            </a:r>
            <a:r>
              <a:rPr lang="zh-CN" altLang="en-US" sz="3600" b="1" dirty="0">
                <a:solidFill>
                  <a:schemeClr val="bg1"/>
                </a:solidFill>
                <a:latin typeface="微软雅黑" panose="020B0503020204020204" pitchFamily="34" charset="-122"/>
                <a:ea typeface="微软雅黑" panose="020B0503020204020204" pitchFamily="34" charset="-122"/>
              </a:rPr>
              <a:t>线性表的应用</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2.4.1</a:t>
            </a:r>
            <a:r>
              <a:rPr lang="zh-CN" altLang="en-US" sz="3600" b="1" dirty="0">
                <a:solidFill>
                  <a:schemeClr val="bg1"/>
                </a:solidFill>
                <a:latin typeface="微软雅黑" panose="020B0503020204020204" pitchFamily="34" charset="-122"/>
                <a:ea typeface="微软雅黑" panose="020B0503020204020204" pitchFamily="34" charset="-122"/>
              </a:rPr>
              <a:t>两个有序表的的合并</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522514" y="1204740"/>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000" dirty="0">
                <a:latin typeface="微软雅黑" panose="020B0503020204020204" pitchFamily="34" charset="-122"/>
                <a:ea typeface="微软雅黑" panose="020B0503020204020204" pitchFamily="34" charset="-122"/>
              </a:rPr>
              <a:t>问题描述：</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已知线性表</a:t>
            </a:r>
            <a:r>
              <a:rPr lang="en-US" altLang="zh-CN" sz="2000" i="1"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和</a:t>
            </a:r>
            <a:r>
              <a:rPr lang="en-US" altLang="zh-CN" sz="2000" i="1"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中的数据元素按值非递减排列，合并</a:t>
            </a:r>
            <a:r>
              <a:rPr lang="en-US" altLang="zh-CN" sz="2000" i="1"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表和</a:t>
            </a:r>
            <a:r>
              <a:rPr lang="en-US" altLang="zh-CN" sz="2000" i="1"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表得到新的线性表</a:t>
            </a:r>
            <a:r>
              <a:rPr lang="en-US" altLang="zh-CN" sz="2000" i="1"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表中的数据元素也按值非递减排列。</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不失一般性，设有序表中的数据元素类型为整型。</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例如：已知有序表</a:t>
            </a:r>
            <a:r>
              <a:rPr lang="en-US" altLang="zh-CN" sz="2000" dirty="0">
                <a:latin typeface="微软雅黑" panose="020B0503020204020204" pitchFamily="34" charset="-122"/>
                <a:ea typeface="微软雅黑" panose="020B0503020204020204" pitchFamily="34" charset="-122"/>
              </a:rPr>
              <a:t>La = { 1, 3, 5 }</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Lb</a:t>
            </a:r>
            <a:r>
              <a:rPr lang="en-US" altLang="zh-CN" sz="2000" dirty="0">
                <a:latin typeface="微软雅黑" panose="020B0503020204020204" pitchFamily="34" charset="-122"/>
                <a:ea typeface="微软雅黑" panose="020B0503020204020204" pitchFamily="34" charset="-122"/>
              </a:rPr>
              <a:t> = { 2, 4, 6 ,8}</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则</a:t>
            </a:r>
            <a:r>
              <a:rPr lang="en-US" altLang="zh-CN" sz="2000" dirty="0">
                <a:latin typeface="微软雅黑" panose="020B0503020204020204" pitchFamily="34" charset="-122"/>
                <a:ea typeface="微软雅黑" panose="020B0503020204020204" pitchFamily="34" charset="-122"/>
              </a:rPr>
              <a:t>Lc = { 1, 2, 3, 4, 5, 6, 8 }</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2.4.1</a:t>
            </a:r>
            <a:r>
              <a:rPr lang="zh-CN" altLang="en-US" sz="3600" b="1" dirty="0">
                <a:solidFill>
                  <a:schemeClr val="bg1"/>
                </a:solidFill>
                <a:latin typeface="微软雅黑" panose="020B0503020204020204" pitchFamily="34" charset="-122"/>
                <a:ea typeface="微软雅黑" panose="020B0503020204020204" pitchFamily="34" charset="-122"/>
              </a:rPr>
              <a:t>两个有序表的的合并</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a:xfrm>
            <a:off x="392806" y="1031786"/>
            <a:ext cx="8686800" cy="515595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pPr>
            <a:r>
              <a:rPr lang="zh-CN" altLang="en-US" sz="2000" dirty="0">
                <a:latin typeface="微软雅黑" panose="020B0503020204020204" pitchFamily="34" charset="-122"/>
                <a:ea typeface="微软雅黑" panose="020B0503020204020204" pitchFamily="34" charset="-122"/>
              </a:rPr>
              <a:t>求解过程</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zh-CN" altLang="en-US" sz="2000" dirty="0">
                <a:latin typeface="微软雅黑" panose="020B0503020204020204" pitchFamily="34" charset="-122"/>
                <a:ea typeface="微软雅黑" panose="020B0503020204020204" pitchFamily="34" charset="-122"/>
              </a:rPr>
              <a:t>分别建立有序表</a:t>
            </a:r>
            <a:r>
              <a:rPr lang="en-US" altLang="zh-CN" sz="2000"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及</a:t>
            </a:r>
            <a:r>
              <a:rPr lang="en-US" altLang="zh-CN" sz="2000"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及</a:t>
            </a:r>
            <a:r>
              <a:rPr lang="en-US" altLang="zh-CN" sz="2000"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表的表长分别是</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j=1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k=1</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zh-CN" altLang="en-US" sz="2000" dirty="0">
                <a:latin typeface="微软雅黑" panose="020B0503020204020204" pitchFamily="34" charset="-122"/>
                <a:ea typeface="微软雅黑" panose="020B0503020204020204" pitchFamily="34" charset="-122"/>
              </a:rPr>
              <a:t>当</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rPr>
              <a:t>n </a:t>
            </a:r>
            <a:r>
              <a:rPr lang="en-US" altLang="zh-CN" sz="2000" dirty="0">
                <a:latin typeface="微软雅黑" panose="020B0503020204020204" pitchFamily="34" charset="-122"/>
                <a:ea typeface="微软雅黑" panose="020B0503020204020204" pitchFamily="34" charset="-122"/>
              </a:rPr>
              <a:t>&amp;&amp; j&lt;=m</a:t>
            </a:r>
            <a:r>
              <a:rPr lang="zh-CN" altLang="en-US" sz="2000" dirty="0">
                <a:latin typeface="微软雅黑" panose="020B0503020204020204" pitchFamily="34" charset="-122"/>
                <a:ea typeface="微软雅黑" panose="020B0503020204020204" pitchFamily="34" charset="-122"/>
              </a:rPr>
              <a:t>时重复</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en-US" altLang="zh-CN" sz="2000"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表中第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个数据元素        </a:t>
            </a:r>
            <a:r>
              <a:rPr lang="en-US" altLang="zh-CN" sz="2000" dirty="0" err="1">
                <a:latin typeface="微软雅黑" panose="020B0503020204020204" pitchFamily="34" charset="-122"/>
                <a:ea typeface="微软雅黑" panose="020B0503020204020204" pitchFamily="34" charset="-122"/>
              </a:rPr>
              <a:t>sa</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marL="457200" indent="-457200">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表中第</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个数据元素        </a:t>
            </a:r>
            <a:r>
              <a:rPr lang="en-US" altLang="zh-CN" sz="2000" dirty="0">
                <a:latin typeface="微软雅黑" panose="020B0503020204020204" pitchFamily="34" charset="-122"/>
                <a:ea typeface="微软雅黑" panose="020B0503020204020204" pitchFamily="34" charset="-122"/>
              </a:rPr>
              <a:t>sb</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None/>
            </a:pPr>
            <a:r>
              <a:rPr lang="en-US" altLang="zh-CN" sz="2000" dirty="0">
                <a:latin typeface="微软雅黑" panose="020B0503020204020204" pitchFamily="34" charset="-122"/>
                <a:ea typeface="微软雅黑" panose="020B0503020204020204" pitchFamily="34" charset="-122"/>
              </a:rPr>
              <a:t>5.   </a:t>
            </a:r>
            <a:r>
              <a:rPr lang="en-US" altLang="zh-CN" sz="2000" dirty="0" err="1">
                <a:latin typeface="微软雅黑" panose="020B0503020204020204" pitchFamily="34" charset="-122"/>
                <a:ea typeface="微软雅黑" panose="020B0503020204020204" pitchFamily="34" charset="-122"/>
              </a:rPr>
              <a:t>sa</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sb</a:t>
            </a:r>
            <a:r>
              <a:rPr lang="zh-CN" altLang="en-US" sz="2000" dirty="0">
                <a:latin typeface="微软雅黑" panose="020B0503020204020204" pitchFamily="34" charset="-122"/>
                <a:ea typeface="微软雅黑" panose="020B0503020204020204" pitchFamily="34" charset="-122"/>
              </a:rPr>
              <a:t>比较：</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     若</a:t>
            </a:r>
            <a:r>
              <a:rPr lang="en-US" altLang="zh-CN" sz="2000" dirty="0" err="1">
                <a:latin typeface="微软雅黑" panose="020B0503020204020204" pitchFamily="34" charset="-122"/>
                <a:ea typeface="微软雅黑" panose="020B0503020204020204" pitchFamily="34" charset="-122"/>
              </a:rPr>
              <a:t>sa</a:t>
            </a:r>
            <a:r>
              <a:rPr lang="en-US" altLang="zh-CN" sz="2000" dirty="0">
                <a:latin typeface="微软雅黑" panose="020B0503020204020204" pitchFamily="34" charset="-122"/>
                <a:ea typeface="微软雅黑" panose="020B0503020204020204" pitchFamily="34" charset="-122"/>
              </a:rPr>
              <a:t>&lt;=sb</a:t>
            </a:r>
            <a:r>
              <a:rPr lang="zh-CN" altLang="en-US" sz="2000" dirty="0">
                <a:latin typeface="微软雅黑" panose="020B0503020204020204" pitchFamily="34" charset="-122"/>
                <a:ea typeface="微软雅黑" panose="020B0503020204020204" pitchFamily="34" charset="-122"/>
              </a:rPr>
              <a:t>，则</a:t>
            </a:r>
            <a:r>
              <a:rPr lang="en-US" altLang="zh-CN" sz="2000" dirty="0" err="1">
                <a:latin typeface="微软雅黑" panose="020B0503020204020204" pitchFamily="34" charset="-122"/>
                <a:ea typeface="微软雅黑" panose="020B0503020204020204" pitchFamily="34" charset="-122"/>
              </a:rPr>
              <a:t>sa</a:t>
            </a:r>
            <a:r>
              <a:rPr lang="zh-CN" altLang="en-US" sz="2000" dirty="0">
                <a:latin typeface="微软雅黑" panose="020B0503020204020204" pitchFamily="34" charset="-122"/>
                <a:ea typeface="微软雅黑" panose="020B0503020204020204" pitchFamily="34" charset="-122"/>
              </a:rPr>
              <a:t>插入至</a:t>
            </a:r>
            <a:r>
              <a:rPr lang="en-US" altLang="zh-CN" sz="2000"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表的第</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个位置（当前表尾）， </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     否则，</a:t>
            </a:r>
            <a:r>
              <a:rPr lang="en-US" altLang="zh-CN" sz="2000" dirty="0">
                <a:latin typeface="微软雅黑" panose="020B0503020204020204" pitchFamily="34" charset="-122"/>
                <a:ea typeface="微软雅黑" panose="020B0503020204020204" pitchFamily="34" charset="-122"/>
              </a:rPr>
              <a:t>sb</a:t>
            </a:r>
            <a:r>
              <a:rPr lang="zh-CN" altLang="en-US" sz="2000" dirty="0">
                <a:latin typeface="微软雅黑" panose="020B0503020204020204" pitchFamily="34" charset="-122"/>
                <a:ea typeface="微软雅黑" panose="020B0503020204020204" pitchFamily="34" charset="-122"/>
              </a:rPr>
              <a:t>插入至</a:t>
            </a:r>
            <a:r>
              <a:rPr lang="en-US" altLang="zh-CN" sz="2000"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表的第</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个位置，</a:t>
            </a:r>
            <a:r>
              <a:rPr lang="en-US" altLang="zh-CN" sz="2000" dirty="0" err="1">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None/>
            </a:pPr>
            <a:r>
              <a:rPr lang="en-US" altLang="zh-CN" sz="2000" dirty="0">
                <a:latin typeface="微软雅黑" panose="020B0503020204020204" pitchFamily="34" charset="-122"/>
                <a:ea typeface="微软雅黑" panose="020B0503020204020204" pitchFamily="34" charset="-122"/>
              </a:rPr>
              <a:t>6.    </a:t>
            </a:r>
            <a:r>
              <a:rPr lang="zh-CN" altLang="en-US" sz="2000" dirty="0">
                <a:latin typeface="微软雅黑" panose="020B0503020204020204" pitchFamily="34" charset="-122"/>
                <a:ea typeface="微软雅黑" panose="020B0503020204020204" pitchFamily="34" charset="-122"/>
              </a:rPr>
              <a:t>若</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则将</a:t>
            </a:r>
            <a:r>
              <a:rPr lang="en-US" altLang="zh-CN" sz="2000"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表中剩余数据元素复制至</a:t>
            </a:r>
            <a:r>
              <a:rPr lang="en-US" altLang="zh-CN" sz="2000"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表的表尾。</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 否则，将</a:t>
            </a:r>
            <a:r>
              <a:rPr lang="en-US" altLang="zh-CN" sz="2000" dirty="0" err="1">
                <a:latin typeface="微软雅黑" panose="020B0503020204020204" pitchFamily="34" charset="-122"/>
                <a:ea typeface="微软雅黑" panose="020B0503020204020204" pitchFamily="34" charset="-122"/>
              </a:rPr>
              <a:t>Lb</a:t>
            </a:r>
            <a:r>
              <a:rPr lang="zh-CN" altLang="en-US" sz="2000" dirty="0">
                <a:latin typeface="微软雅黑" panose="020B0503020204020204" pitchFamily="34" charset="-122"/>
                <a:ea typeface="微软雅黑" panose="020B0503020204020204" pitchFamily="34" charset="-122"/>
              </a:rPr>
              <a:t>表中剩余数据元素复制至</a:t>
            </a:r>
            <a:r>
              <a:rPr lang="en-US" altLang="zh-CN" sz="2000" dirty="0">
                <a:latin typeface="微软雅黑" panose="020B0503020204020204" pitchFamily="34" charset="-122"/>
                <a:ea typeface="微软雅黑" panose="020B0503020204020204" pitchFamily="34" charset="-122"/>
              </a:rPr>
              <a:t>Lc</a:t>
            </a:r>
            <a:r>
              <a:rPr lang="zh-CN" altLang="en-US" sz="2000" dirty="0">
                <a:latin typeface="微软雅黑" panose="020B0503020204020204" pitchFamily="34" charset="-122"/>
                <a:ea typeface="微软雅黑" panose="020B0503020204020204" pitchFamily="34" charset="-122"/>
              </a:rPr>
              <a:t>表的表尾。</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down)">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down)">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down)">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wipe(down)">
                                      <p:cBhvr>
                                        <p:cTn id="22" dur="500"/>
                                        <p:tgtEl>
                                          <p:spTgt spid="8">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wipe(down)">
                                      <p:cBhvr>
                                        <p:cTn id="25" dur="500"/>
                                        <p:tgtEl>
                                          <p:spTgt spid="8">
                                            <p:txEl>
                                              <p:pRg st="5" end="5"/>
                                            </p:txEl>
                                          </p:spTgt>
                                        </p:tgtEl>
                                      </p:cBhvr>
                                    </p:animEffect>
                                  </p:childTnLst>
                                </p:cTn>
                              </p:par>
                            </p:childTnLst>
                          </p:cTn>
                        </p:par>
                        <p:par>
                          <p:cTn id="26" fill="hold">
                            <p:stCondLst>
                              <p:cond delay="500"/>
                            </p:stCondLst>
                            <p:childTnLst>
                              <p:par>
                                <p:cTn id="27" presetID="22" presetClass="entr" presetSubtype="4" fill="hold" nodeType="after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wipe(down)">
                                      <p:cBhvr>
                                        <p:cTn id="29" dur="500"/>
                                        <p:tgtEl>
                                          <p:spTgt spid="8">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wipe(down)">
                                      <p:cBhvr>
                                        <p:cTn id="34"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2.4.1</a:t>
            </a:r>
            <a:r>
              <a:rPr lang="zh-CN" altLang="en-US" sz="3600" b="1" dirty="0">
                <a:solidFill>
                  <a:schemeClr val="bg1"/>
                </a:solidFill>
                <a:latin typeface="微软雅黑" panose="020B0503020204020204" pitchFamily="34" charset="-122"/>
                <a:ea typeface="微软雅黑" panose="020B0503020204020204" pitchFamily="34" charset="-122"/>
              </a:rPr>
              <a:t>两个有序表的的合并</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gray">
          <a:xfrm>
            <a:off x="776901" y="1081317"/>
            <a:ext cx="31043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spcBef>
                <a:spcPct val="0"/>
              </a:spcBef>
              <a:buFontTx/>
              <a:buNone/>
            </a:pPr>
            <a:r>
              <a:rPr lang="zh-CN" altLang="en-US" sz="2000" b="0" dirty="0">
                <a:latin typeface="微软雅黑" panose="020B0503020204020204" pitchFamily="34" charset="-122"/>
                <a:ea typeface="微软雅黑" panose="020B0503020204020204" pitchFamily="34" charset="-122"/>
              </a:rPr>
              <a:t>建立有序表的</a:t>
            </a:r>
            <a:r>
              <a:rPr lang="en-US" altLang="zh-CN" sz="2000" b="0" dirty="0">
                <a:latin typeface="微软雅黑" panose="020B0503020204020204" pitchFamily="34" charset="-122"/>
                <a:ea typeface="微软雅黑" panose="020B0503020204020204" pitchFamily="34" charset="-122"/>
              </a:rPr>
              <a:t>Create</a:t>
            </a:r>
            <a:r>
              <a:rPr lang="zh-CN" altLang="en-US" sz="2000" b="0" dirty="0">
                <a:latin typeface="微软雅黑" panose="020B0503020204020204" pitchFamily="34" charset="-122"/>
                <a:ea typeface="微软雅黑" panose="020B0503020204020204" pitchFamily="34" charset="-122"/>
              </a:rPr>
              <a:t>函数</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9" name="Rectangle 4"/>
          <p:cNvSpPr txBox="1">
            <a:spLocks noChangeArrowheads="1"/>
          </p:cNvSpPr>
          <p:nvPr/>
        </p:nvSpPr>
        <p:spPr bwMode="auto">
          <a:xfrm>
            <a:off x="522514" y="1530958"/>
            <a:ext cx="8229600" cy="4876799"/>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建立线性表</a:t>
            </a:r>
            <a:r>
              <a:rPr lang="zh-CN" altLang="en-US" sz="1800" dirty="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void Create(List&lt;int&gt;*lx, int k, char c)</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int e;</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if (k &gt; 0) {</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cout</a:t>
            </a:r>
            <a:r>
              <a:rPr lang="en-US" altLang="zh-CN" sz="1800" dirty="0">
                <a:latin typeface="Times New Roman" panose="02020603050405020304" pitchFamily="18" charset="0"/>
                <a:cs typeface="Times New Roman" panose="02020603050405020304" pitchFamily="18" charset="0"/>
              </a:rPr>
              <a:t>&lt;&lt;“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请按非递减次序输入</a:t>
            </a:r>
            <a:r>
              <a:rPr lang="en-US" altLang="zh-CN" sz="1800" dirty="0">
                <a:latin typeface="Times New Roman" panose="02020603050405020304" pitchFamily="18" charset="0"/>
                <a:cs typeface="Times New Roman" panose="02020603050405020304" pitchFamily="18" charset="0"/>
              </a:rPr>
              <a:t>”&lt;&lt; k &lt;&lt; “</a:t>
            </a:r>
            <a:r>
              <a:rPr lang="zh-CN" altLang="en-US" sz="1800" dirty="0">
                <a:latin typeface="Times New Roman" panose="02020603050405020304" pitchFamily="18" charset="0"/>
                <a:cs typeface="Times New Roman" panose="02020603050405020304" pitchFamily="18" charset="0"/>
              </a:rPr>
              <a:t>个</a:t>
            </a:r>
            <a:r>
              <a:rPr lang="en-US" altLang="zh-CN" sz="1800" dirty="0">
                <a:latin typeface="Times New Roman" panose="02020603050405020304" pitchFamily="18" charset="0"/>
                <a:cs typeface="Times New Roman" panose="02020603050405020304" pitchFamily="18" charset="0"/>
              </a:rPr>
              <a:t>” &lt;&lt; c </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&lt;&lt;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表中的数据元数：</a:t>
            </a:r>
            <a:r>
              <a:rPr lang="en-US" altLang="zh-CN" sz="1800" dirty="0">
                <a:latin typeface="Times New Roman" panose="02020603050405020304" pitchFamily="18" charset="0"/>
                <a:cs typeface="Times New Roman" panose="02020603050405020304" pitchFamily="18" charset="0"/>
              </a:rPr>
              <a:t>" &lt;&lt; </a:t>
            </a:r>
            <a:r>
              <a:rPr lang="en-US" altLang="zh-CN" sz="1800" dirty="0" err="1">
                <a:latin typeface="Times New Roman" panose="02020603050405020304" pitchFamily="18" charset="0"/>
                <a:cs typeface="Times New Roman" panose="02020603050405020304" pitchFamily="18" charset="0"/>
              </a:rPr>
              <a:t>endl</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for (int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 1;i &lt;= k;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cin</a:t>
            </a:r>
            <a:r>
              <a:rPr lang="en-US" altLang="zh-CN" sz="1800" dirty="0">
                <a:latin typeface="Times New Roman" panose="02020603050405020304" pitchFamily="18" charset="0"/>
                <a:cs typeface="Times New Roman" panose="02020603050405020304" pitchFamily="18" charset="0"/>
              </a:rPr>
              <a:t> &gt;&gt; e;</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lx-&gt;Append(e);</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    </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2.4.1</a:t>
            </a:r>
            <a:r>
              <a:rPr lang="zh-CN" altLang="en-US" sz="3600" b="1" dirty="0">
                <a:solidFill>
                  <a:schemeClr val="bg1"/>
                </a:solidFill>
                <a:latin typeface="微软雅黑" panose="020B0503020204020204" pitchFamily="34" charset="-122"/>
                <a:ea typeface="微软雅黑" panose="020B0503020204020204" pitchFamily="34" charset="-122"/>
              </a:rPr>
              <a:t>两个有序表的的合并</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nvSpPr>
        <p:spPr>
          <a:xfrm>
            <a:off x="392806"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微软雅黑" panose="020B0503020204020204" pitchFamily="34" charset="-122"/>
                <a:ea typeface="微软雅黑" panose="020B0503020204020204" pitchFamily="34" charset="-122"/>
              </a:rPr>
              <a:t>合并两个有序表的</a:t>
            </a:r>
            <a:r>
              <a:rPr lang="en-US" altLang="zh-CN" sz="2000" dirty="0" err="1">
                <a:latin typeface="微软雅黑" panose="020B0503020204020204" pitchFamily="34" charset="-122"/>
                <a:ea typeface="微软雅黑" panose="020B0503020204020204" pitchFamily="34" charset="-122"/>
              </a:rPr>
              <a:t>MergeList</a:t>
            </a:r>
            <a:r>
              <a:rPr lang="zh-CN" altLang="en-US" sz="2000" dirty="0">
                <a:latin typeface="微软雅黑" panose="020B0503020204020204" pitchFamily="34" charset="-122"/>
                <a:ea typeface="微软雅黑" panose="020B0503020204020204" pitchFamily="34" charset="-122"/>
              </a:rPr>
              <a:t>函数 </a:t>
            </a:r>
            <a:endParaRPr lang="zh-CN" altLang="en-US" sz="2000" dirty="0">
              <a:latin typeface="微软雅黑" panose="020B0503020204020204" pitchFamily="34" charset="-122"/>
              <a:ea typeface="微软雅黑" panose="020B0503020204020204" pitchFamily="34" charset="-122"/>
            </a:endParaRPr>
          </a:p>
        </p:txBody>
      </p:sp>
      <p:sp>
        <p:nvSpPr>
          <p:cNvPr id="8" name="Rectangle 4"/>
          <p:cNvSpPr>
            <a:spLocks noChangeArrowheads="1"/>
          </p:cNvSpPr>
          <p:nvPr/>
        </p:nvSpPr>
        <p:spPr bwMode="auto">
          <a:xfrm>
            <a:off x="522514" y="1412939"/>
            <a:ext cx="8229600" cy="5024437"/>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457200" indent="-4572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b="0" dirty="0"/>
              <a:t>void  </a:t>
            </a:r>
            <a:r>
              <a:rPr lang="en-US" altLang="zh-CN" sz="1800" b="0" dirty="0" err="1"/>
              <a:t>MergeList</a:t>
            </a:r>
            <a:r>
              <a:rPr lang="en-US" altLang="zh-CN" sz="1800" b="0" dirty="0"/>
              <a:t>(List&lt;int&gt; *la, List&lt;int&gt; *</a:t>
            </a:r>
            <a:r>
              <a:rPr lang="en-US" altLang="zh-CN" sz="1800" b="0" dirty="0" err="1"/>
              <a:t>lb</a:t>
            </a:r>
            <a:r>
              <a:rPr lang="en-US" altLang="zh-CN" sz="1800" b="0" dirty="0"/>
              <a:t>, List&lt;int&gt; *lc)</a:t>
            </a:r>
            <a:endParaRPr lang="en-US" altLang="zh-CN" sz="1800" b="0" dirty="0"/>
          </a:p>
          <a:p>
            <a:pPr>
              <a:buFontTx/>
              <a:buNone/>
            </a:pPr>
            <a:r>
              <a:rPr lang="en-US" altLang="zh-CN" sz="1800" b="0" dirty="0"/>
              <a:t>{                                          </a:t>
            </a:r>
            <a:endParaRPr lang="en-US" altLang="zh-CN" sz="1800" b="0" dirty="0"/>
          </a:p>
          <a:p>
            <a:pPr>
              <a:buFontTx/>
              <a:buNone/>
            </a:pPr>
            <a:r>
              <a:rPr lang="en-US" altLang="zh-CN" sz="1800" b="0" dirty="0"/>
              <a:t>    int </a:t>
            </a:r>
            <a:r>
              <a:rPr lang="en-US" altLang="zh-CN" sz="1800" b="0" dirty="0" err="1"/>
              <a:t>i</a:t>
            </a:r>
            <a:r>
              <a:rPr lang="en-US" altLang="zh-CN" sz="1800" b="0" dirty="0"/>
              <a:t> = 1, j = 1;</a:t>
            </a:r>
            <a:endParaRPr lang="en-US" altLang="zh-CN" sz="1800" b="0" dirty="0"/>
          </a:p>
          <a:p>
            <a:pPr>
              <a:buFontTx/>
              <a:buNone/>
            </a:pPr>
            <a:r>
              <a:rPr lang="en-US" altLang="zh-CN" sz="1800" b="0" dirty="0"/>
              <a:t>    int </a:t>
            </a:r>
            <a:r>
              <a:rPr lang="en-US" altLang="zh-CN" sz="1800" b="0" dirty="0" err="1"/>
              <a:t>sa</a:t>
            </a:r>
            <a:r>
              <a:rPr lang="en-US" altLang="zh-CN" sz="1800" b="0" dirty="0"/>
              <a:t>, sb;</a:t>
            </a:r>
            <a:endParaRPr lang="en-US" altLang="zh-CN" sz="1800" b="0" dirty="0"/>
          </a:p>
          <a:p>
            <a:pPr>
              <a:buFontTx/>
              <a:buNone/>
            </a:pPr>
            <a:r>
              <a:rPr lang="en-US" altLang="zh-CN" sz="1800" b="0" dirty="0"/>
              <a:t>    int </a:t>
            </a:r>
            <a:r>
              <a:rPr lang="en-US" altLang="zh-CN" sz="1800" b="0" dirty="0" err="1"/>
              <a:t>lalen</a:t>
            </a:r>
            <a:r>
              <a:rPr lang="en-US" altLang="zh-CN" sz="1800" b="0" dirty="0"/>
              <a:t> = la-&gt;Length();</a:t>
            </a:r>
            <a:endParaRPr lang="en-US" altLang="zh-CN" sz="1800" b="0" dirty="0"/>
          </a:p>
          <a:p>
            <a:pPr>
              <a:buFontTx/>
              <a:buNone/>
            </a:pPr>
            <a:r>
              <a:rPr lang="en-US" altLang="zh-CN" sz="1800" b="0" dirty="0"/>
              <a:t>    int </a:t>
            </a:r>
            <a:r>
              <a:rPr lang="en-US" altLang="zh-CN" sz="1800" b="0" dirty="0" err="1"/>
              <a:t>lblen</a:t>
            </a:r>
            <a:r>
              <a:rPr lang="en-US" altLang="zh-CN" sz="1800" b="0" dirty="0"/>
              <a:t> = </a:t>
            </a:r>
            <a:r>
              <a:rPr lang="en-US" altLang="zh-CN" sz="1800" b="0" dirty="0" err="1"/>
              <a:t>lb</a:t>
            </a:r>
            <a:r>
              <a:rPr lang="en-US" altLang="zh-CN" sz="1800" b="0" dirty="0"/>
              <a:t>-&gt;Length();</a:t>
            </a:r>
            <a:endParaRPr lang="en-US" altLang="zh-CN" sz="1800" b="0" dirty="0"/>
          </a:p>
          <a:p>
            <a:pPr>
              <a:buFontTx/>
              <a:buNone/>
            </a:pPr>
            <a:r>
              <a:rPr lang="en-US" altLang="zh-CN" sz="1800" b="0" dirty="0"/>
              <a:t>    while (</a:t>
            </a:r>
            <a:r>
              <a:rPr lang="en-US" altLang="zh-CN" sz="1800" b="0" dirty="0" err="1"/>
              <a:t>i</a:t>
            </a:r>
            <a:r>
              <a:rPr lang="en-US" altLang="zh-CN" sz="1800" b="0" dirty="0"/>
              <a:t> &lt;= </a:t>
            </a:r>
            <a:r>
              <a:rPr lang="en-US" altLang="zh-CN" sz="1800" b="0" dirty="0" err="1"/>
              <a:t>lalen</a:t>
            </a:r>
            <a:r>
              <a:rPr lang="en-US" altLang="zh-CN" sz="1800" b="0" dirty="0"/>
              <a:t> &amp;&amp; j &lt;= </a:t>
            </a:r>
            <a:r>
              <a:rPr lang="en-US" altLang="zh-CN" sz="1800" b="0" dirty="0" err="1"/>
              <a:t>lblen</a:t>
            </a:r>
            <a:r>
              <a:rPr lang="en-US" altLang="zh-CN" sz="1800" b="0" dirty="0"/>
              <a:t>) {   </a:t>
            </a:r>
            <a:endParaRPr lang="en-US" altLang="zh-CN" sz="1800" b="0" dirty="0"/>
          </a:p>
          <a:p>
            <a:pPr>
              <a:buFontTx/>
              <a:buNone/>
            </a:pPr>
            <a:r>
              <a:rPr lang="en-US" altLang="zh-CN" sz="1800" b="0" dirty="0"/>
              <a:t>        la-&gt;</a:t>
            </a:r>
            <a:r>
              <a:rPr lang="en-US" altLang="zh-CN" sz="1800" b="0" dirty="0" err="1"/>
              <a:t>GetElem</a:t>
            </a:r>
            <a:r>
              <a:rPr lang="en-US" altLang="zh-CN" sz="1800" b="0" dirty="0"/>
              <a:t>(</a:t>
            </a:r>
            <a:r>
              <a:rPr lang="en-US" altLang="zh-CN" sz="1800" b="0" dirty="0" err="1"/>
              <a:t>sa</a:t>
            </a:r>
            <a:r>
              <a:rPr lang="en-US" altLang="zh-CN" sz="1800" b="0" dirty="0"/>
              <a:t>, </a:t>
            </a:r>
            <a:r>
              <a:rPr lang="en-US" altLang="zh-CN" sz="1800" b="0" dirty="0" err="1"/>
              <a:t>i</a:t>
            </a:r>
            <a:r>
              <a:rPr lang="en-US" altLang="zh-CN" sz="1800" b="0" dirty="0"/>
              <a:t>);</a:t>
            </a:r>
            <a:endParaRPr lang="en-US" altLang="zh-CN" sz="1800" b="0" dirty="0"/>
          </a:p>
          <a:p>
            <a:pPr>
              <a:buFontTx/>
              <a:buNone/>
            </a:pPr>
            <a:r>
              <a:rPr lang="en-US" altLang="zh-CN" sz="1800" b="0" dirty="0"/>
              <a:t>        </a:t>
            </a:r>
            <a:r>
              <a:rPr lang="en-US" altLang="zh-CN" sz="1800" b="0" dirty="0" err="1"/>
              <a:t>lb</a:t>
            </a:r>
            <a:r>
              <a:rPr lang="en-US" altLang="zh-CN" sz="1800" b="0" dirty="0"/>
              <a:t>-&gt;</a:t>
            </a:r>
            <a:r>
              <a:rPr lang="en-US" altLang="zh-CN" sz="1800" b="0" dirty="0" err="1"/>
              <a:t>GetElem</a:t>
            </a:r>
            <a:r>
              <a:rPr lang="en-US" altLang="zh-CN" sz="1800" b="0" dirty="0"/>
              <a:t>(sb, j);</a:t>
            </a:r>
            <a:endParaRPr lang="en-US" altLang="zh-CN" sz="1800" b="0" dirty="0"/>
          </a:p>
          <a:p>
            <a:pPr>
              <a:buFontTx/>
              <a:buNone/>
            </a:pPr>
            <a:r>
              <a:rPr lang="en-US" altLang="zh-CN" sz="1800" b="0" dirty="0"/>
              <a:t>        if (</a:t>
            </a:r>
            <a:r>
              <a:rPr lang="en-US" altLang="zh-CN" sz="1800" b="0" dirty="0" err="1"/>
              <a:t>sa</a:t>
            </a:r>
            <a:r>
              <a:rPr lang="en-US" altLang="zh-CN" sz="1800" b="0" dirty="0"/>
              <a:t> &lt;= sb) {</a:t>
            </a:r>
            <a:endParaRPr lang="en-US" altLang="zh-CN" sz="1800" b="0" dirty="0"/>
          </a:p>
          <a:p>
            <a:pPr>
              <a:buFontTx/>
              <a:buNone/>
            </a:pPr>
            <a:r>
              <a:rPr lang="en-US" altLang="zh-CN" sz="1800" b="0" dirty="0"/>
              <a:t>            lc-&gt;Append(</a:t>
            </a:r>
            <a:r>
              <a:rPr lang="en-US" altLang="zh-CN" sz="1800" b="0" dirty="0" err="1"/>
              <a:t>sa</a:t>
            </a:r>
            <a:r>
              <a:rPr lang="en-US" altLang="zh-CN" sz="1800" b="0" dirty="0"/>
              <a:t>);</a:t>
            </a:r>
            <a:endParaRPr lang="en-US" altLang="zh-CN" sz="1800" b="0" dirty="0"/>
          </a:p>
          <a:p>
            <a:pPr>
              <a:buFontTx/>
              <a:buNone/>
            </a:pPr>
            <a:r>
              <a:rPr lang="en-US" altLang="zh-CN" sz="1800" b="0" dirty="0"/>
              <a:t>            </a:t>
            </a:r>
            <a:r>
              <a:rPr lang="en-US" altLang="zh-CN" sz="1800" b="0" dirty="0" err="1"/>
              <a:t>i</a:t>
            </a:r>
            <a:r>
              <a:rPr lang="en-US" altLang="zh-CN" sz="1800" b="0" dirty="0"/>
              <a:t>++;</a:t>
            </a:r>
            <a:endParaRPr lang="en-US" altLang="zh-CN" sz="1800" b="0" dirty="0"/>
          </a:p>
          <a:p>
            <a:pPr>
              <a:buFontTx/>
              <a:buNone/>
            </a:pPr>
            <a:r>
              <a:rPr lang="en-US" altLang="zh-CN" sz="1800" b="0" dirty="0"/>
              <a:t>        } </a:t>
            </a:r>
            <a:endParaRPr lang="en-US" altLang="zh-CN" sz="1800" b="0" dirty="0"/>
          </a:p>
          <a:p>
            <a:pPr>
              <a:buFontTx/>
              <a:buNone/>
            </a:pPr>
            <a:r>
              <a:rPr lang="en-US" altLang="zh-CN" sz="1800" b="0" dirty="0"/>
              <a:t>        else {</a:t>
            </a:r>
            <a:endParaRPr lang="en-US" altLang="zh-CN" sz="1800" b="0" dirty="0"/>
          </a:p>
          <a:p>
            <a:pPr>
              <a:buFontTx/>
              <a:buNone/>
            </a:pPr>
            <a:r>
              <a:rPr lang="en-US" altLang="zh-CN" sz="1800" b="0" dirty="0"/>
              <a:t>            lc-&gt;Append(sb);</a:t>
            </a:r>
            <a:endParaRPr lang="en-US" altLang="zh-CN" sz="1600" b="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body" idx="1"/>
          </p:nvPr>
        </p:nvSpPr>
        <p:spPr>
          <a:xfrm>
            <a:off x="996310" y="1181100"/>
            <a:ext cx="8229600" cy="5410200"/>
          </a:xfrm>
        </p:spPr>
        <p:txBody>
          <a:bodyPr>
            <a:noAutofit/>
          </a:bodyPr>
          <a:lstStyle/>
          <a:p>
            <a:pPr>
              <a:lnSpc>
                <a:spcPct val="90000"/>
              </a:lnSpc>
            </a:pPr>
            <a:r>
              <a:rPr lang="zh-CN" altLang="en-US" sz="2000" dirty="0">
                <a:latin typeface="微软雅黑" panose="020B0503020204020204" pitchFamily="34" charset="-122"/>
                <a:ea typeface="微软雅黑" panose="020B0503020204020204" pitchFamily="34" charset="-122"/>
              </a:rPr>
              <a:t>合并两个有序表的</a:t>
            </a:r>
            <a:r>
              <a:rPr lang="en-US" altLang="zh-CN" sz="2000" dirty="0" err="1">
                <a:latin typeface="微软雅黑" panose="020B0503020204020204" pitchFamily="34" charset="-122"/>
                <a:ea typeface="微软雅黑" panose="020B0503020204020204" pitchFamily="34" charset="-122"/>
              </a:rPr>
              <a:t>MergeList</a:t>
            </a:r>
            <a:r>
              <a:rPr lang="zh-CN" altLang="en-US" sz="2000" dirty="0">
                <a:latin typeface="微软雅黑" panose="020B0503020204020204" pitchFamily="34" charset="-122"/>
                <a:ea typeface="微软雅黑" panose="020B0503020204020204" pitchFamily="34" charset="-122"/>
              </a:rPr>
              <a:t>函数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续</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en-US" altLang="zh-CN" sz="2000" dirty="0">
              <a:latin typeface="微软雅黑" panose="020B0503020204020204" pitchFamily="34" charset="-122"/>
              <a:ea typeface="微软雅黑" panose="020B0503020204020204" pitchFamily="34" charset="-122"/>
            </a:endParaRPr>
          </a:p>
          <a:p>
            <a:pPr>
              <a:lnSpc>
                <a:spcPct val="90000"/>
              </a:lnSpc>
            </a:pPr>
            <a:endParaRPr lang="zh-CN" altLang="en-US" sz="2000" dirty="0">
              <a:latin typeface="微软雅黑" panose="020B0503020204020204" pitchFamily="34" charset="-122"/>
              <a:ea typeface="微软雅黑" panose="020B0503020204020204" pitchFamily="34" charset="-122"/>
            </a:endParaRPr>
          </a:p>
          <a:p>
            <a:pPr marL="0" indent="0">
              <a:lnSpc>
                <a:spcPct val="90000"/>
              </a:lnSpc>
              <a:buNone/>
            </a:pPr>
            <a:endParaRPr lang="zh-CN" altLang="en-US" sz="2000" dirty="0">
              <a:latin typeface="微软雅黑" panose="020B0503020204020204" pitchFamily="34" charset="-122"/>
              <a:ea typeface="微软雅黑" panose="020B0503020204020204" pitchFamily="34" charset="-122"/>
            </a:endParaRPr>
          </a:p>
          <a:p>
            <a:pPr>
              <a:lnSpc>
                <a:spcPct val="90000"/>
              </a:lnSpc>
            </a:pPr>
            <a:endParaRPr lang="zh-CN" altLang="en-US" sz="2000" dirty="0">
              <a:latin typeface="微软雅黑" panose="020B0503020204020204" pitchFamily="34" charset="-122"/>
              <a:ea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rPr>
              <a:t>测试程序</a:t>
            </a:r>
            <a:endParaRPr lang="zh-CN" altLang="en-US" sz="2000" dirty="0">
              <a:latin typeface="微软雅黑" panose="020B0503020204020204" pitchFamily="34" charset="-122"/>
              <a:ea typeface="微软雅黑" panose="020B0503020204020204" pitchFamily="34" charset="-122"/>
            </a:endParaRPr>
          </a:p>
        </p:txBody>
      </p:sp>
      <p:sp>
        <p:nvSpPr>
          <p:cNvPr id="88068" name="Rectangle 4"/>
          <p:cNvSpPr>
            <a:spLocks noChangeArrowheads="1"/>
          </p:cNvSpPr>
          <p:nvPr/>
        </p:nvSpPr>
        <p:spPr bwMode="auto">
          <a:xfrm>
            <a:off x="996315" y="1600200"/>
            <a:ext cx="8484870" cy="4685030"/>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dirty="0">
                <a:cs typeface="Times New Roman" panose="02020603050405020304" pitchFamily="18" charset="0"/>
              </a:rPr>
              <a:t>        </a:t>
            </a:r>
            <a:r>
              <a:rPr lang="en-US" altLang="zh-CN" sz="1800" dirty="0" err="1">
                <a:cs typeface="Times New Roman" panose="02020603050405020304" pitchFamily="18" charset="0"/>
              </a:rPr>
              <a:t>j++</a:t>
            </a:r>
            <a:r>
              <a:rPr lang="en-US" altLang="zh-CN" sz="1800" dirty="0">
                <a:cs typeface="Times New Roman" panose="02020603050405020304" pitchFamily="18" charset="0"/>
              </a:rPr>
              <a:t>;</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 </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while (</a:t>
            </a:r>
            <a:r>
              <a:rPr lang="en-US" altLang="zh-CN" sz="1800" dirty="0" err="1">
                <a:cs typeface="Times New Roman" panose="02020603050405020304" pitchFamily="18" charset="0"/>
              </a:rPr>
              <a:t>i</a:t>
            </a:r>
            <a:r>
              <a:rPr lang="en-US" altLang="zh-CN" sz="1800" dirty="0">
                <a:cs typeface="Times New Roman" panose="02020603050405020304" pitchFamily="18" charset="0"/>
              </a:rPr>
              <a:t> &lt;= </a:t>
            </a:r>
            <a:r>
              <a:rPr lang="en-US" altLang="zh-CN" sz="1800" dirty="0" err="1">
                <a:cs typeface="Times New Roman" panose="02020603050405020304" pitchFamily="18" charset="0"/>
              </a:rPr>
              <a:t>lalen</a:t>
            </a:r>
            <a:r>
              <a:rPr lang="en-US" altLang="zh-CN" sz="1800" dirty="0">
                <a:cs typeface="Times New Roman" panose="02020603050405020304" pitchFamily="18" charset="0"/>
              </a:rPr>
              <a:t>) {</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la-&gt;</a:t>
            </a:r>
            <a:r>
              <a:rPr lang="en-US" altLang="zh-CN" sz="1800" dirty="0" err="1">
                <a:cs typeface="Times New Roman" panose="02020603050405020304" pitchFamily="18" charset="0"/>
              </a:rPr>
              <a:t>GetElem</a:t>
            </a:r>
            <a:r>
              <a:rPr lang="en-US" altLang="zh-CN" sz="1800" dirty="0">
                <a:cs typeface="Times New Roman" panose="02020603050405020304" pitchFamily="18" charset="0"/>
              </a:rPr>
              <a:t>(</a:t>
            </a:r>
            <a:r>
              <a:rPr lang="en-US" altLang="zh-CN" sz="1800" dirty="0" err="1">
                <a:cs typeface="Times New Roman" panose="02020603050405020304" pitchFamily="18" charset="0"/>
              </a:rPr>
              <a:t>sa</a:t>
            </a:r>
            <a:r>
              <a:rPr lang="en-US" altLang="zh-CN" sz="1800" dirty="0">
                <a:cs typeface="Times New Roman" panose="02020603050405020304" pitchFamily="18" charset="0"/>
              </a:rPr>
              <a:t>, </a:t>
            </a:r>
            <a:r>
              <a:rPr lang="en-US" altLang="zh-CN" sz="1800" dirty="0" err="1">
                <a:cs typeface="Times New Roman" panose="02020603050405020304" pitchFamily="18" charset="0"/>
              </a:rPr>
              <a:t>i</a:t>
            </a:r>
            <a:r>
              <a:rPr lang="en-US" altLang="zh-CN" sz="1800" dirty="0">
                <a:cs typeface="Times New Roman" panose="02020603050405020304" pitchFamily="18" charset="0"/>
              </a:rPr>
              <a:t>);</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lc-&gt;Append(</a:t>
            </a:r>
            <a:r>
              <a:rPr lang="en-US" altLang="zh-CN" sz="1800" dirty="0" err="1">
                <a:cs typeface="Times New Roman" panose="02020603050405020304" pitchFamily="18" charset="0"/>
              </a:rPr>
              <a:t>sa</a:t>
            </a:r>
            <a:r>
              <a:rPr lang="en-US" altLang="zh-CN" sz="1800" dirty="0">
                <a:cs typeface="Times New Roman" panose="02020603050405020304" pitchFamily="18" charset="0"/>
              </a:rPr>
              <a:t>);</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r>
              <a:rPr lang="en-US" altLang="zh-CN" sz="1800" dirty="0" err="1">
                <a:cs typeface="Times New Roman" panose="02020603050405020304" pitchFamily="18" charset="0"/>
              </a:rPr>
              <a:t>i</a:t>
            </a:r>
            <a:r>
              <a:rPr lang="en-US" altLang="zh-CN" sz="1800" dirty="0">
                <a:cs typeface="Times New Roman" panose="02020603050405020304" pitchFamily="18" charset="0"/>
              </a:rPr>
              <a:t>++;</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while (j &lt;= </a:t>
            </a:r>
            <a:r>
              <a:rPr lang="en-US" altLang="zh-CN" sz="1800" dirty="0" err="1">
                <a:cs typeface="Times New Roman" panose="02020603050405020304" pitchFamily="18" charset="0"/>
              </a:rPr>
              <a:t>lblen</a:t>
            </a:r>
            <a:r>
              <a:rPr lang="en-US" altLang="zh-CN" sz="1800" dirty="0">
                <a:cs typeface="Times New Roman" panose="02020603050405020304" pitchFamily="18" charset="0"/>
              </a:rPr>
              <a:t>) {</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r>
              <a:rPr lang="en-US" altLang="zh-CN" sz="1800" dirty="0" err="1">
                <a:cs typeface="Times New Roman" panose="02020603050405020304" pitchFamily="18" charset="0"/>
              </a:rPr>
              <a:t>lb</a:t>
            </a:r>
            <a:r>
              <a:rPr lang="en-US" altLang="zh-CN" sz="1800" dirty="0">
                <a:cs typeface="Times New Roman" panose="02020603050405020304" pitchFamily="18" charset="0"/>
              </a:rPr>
              <a:t>-&gt;</a:t>
            </a:r>
            <a:r>
              <a:rPr lang="en-US" altLang="zh-CN" sz="1800" dirty="0" err="1">
                <a:cs typeface="Times New Roman" panose="02020603050405020304" pitchFamily="18" charset="0"/>
              </a:rPr>
              <a:t>GetElem</a:t>
            </a:r>
            <a:r>
              <a:rPr lang="en-US" altLang="zh-CN" sz="1800" dirty="0">
                <a:cs typeface="Times New Roman" panose="02020603050405020304" pitchFamily="18" charset="0"/>
              </a:rPr>
              <a:t>(sb, j);</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lc-&gt;Append(sb);</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r>
              <a:rPr lang="en-US" altLang="zh-CN" sz="1800" dirty="0" err="1">
                <a:cs typeface="Times New Roman" panose="02020603050405020304" pitchFamily="18" charset="0"/>
              </a:rPr>
              <a:t>j++</a:t>
            </a:r>
            <a:r>
              <a:rPr lang="en-US" altLang="zh-CN" sz="1800" dirty="0">
                <a:cs typeface="Times New Roman" panose="02020603050405020304" pitchFamily="18" charset="0"/>
              </a:rPr>
              <a:t>;</a:t>
            </a:r>
            <a:endParaRPr lang="en-US" altLang="zh-CN" sz="1800" dirty="0">
              <a:cs typeface="Times New Roman" panose="02020603050405020304" pitchFamily="18" charset="0"/>
            </a:endParaRPr>
          </a:p>
          <a:p>
            <a:pPr>
              <a:buFontTx/>
              <a:buNone/>
            </a:pPr>
            <a:r>
              <a:rPr lang="en-US" altLang="zh-CN" sz="1800" dirty="0">
                <a:cs typeface="Times New Roman" panose="02020603050405020304" pitchFamily="18" charset="0"/>
              </a:rPr>
              <a:t>    }</a:t>
            </a:r>
            <a:endParaRPr lang="en-US" altLang="zh-CN" sz="1800" dirty="0">
              <a:cs typeface="Times New Roman" panose="02020603050405020304" pitchFamily="18" charset="0"/>
            </a:endParaRPr>
          </a:p>
          <a:p>
            <a:pPr>
              <a:buFontTx/>
              <a:buNone/>
            </a:pPr>
            <a:r>
              <a:rPr lang="en-US" altLang="zh-CN" sz="1800" dirty="0"/>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试分析有序表采用何种存储结构，算法效率会高？还是都一样？</a:t>
            </a:r>
            <a:endParaRPr lang="zh-CN" altLang="en-US" sz="1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8069" name="Object 5"/>
          <p:cNvGraphicFramePr>
            <a:graphicFrameLocks noChangeAspect="1"/>
          </p:cNvGraphicFramePr>
          <p:nvPr/>
        </p:nvGraphicFramePr>
        <p:xfrm>
          <a:off x="2356490" y="6203490"/>
          <a:ext cx="1219200" cy="828675"/>
        </p:xfrm>
        <a:graphic>
          <a:graphicData uri="http://schemas.openxmlformats.org/presentationml/2006/ole">
            <mc:AlternateContent xmlns:mc="http://schemas.openxmlformats.org/markup-compatibility/2006">
              <mc:Choice xmlns:v="urn:schemas-microsoft-com:vml" Requires="v">
                <p:oleObj spid="_x0000_s0" name="Document" showAsIcon="1" r:id="rId1" imgW="914400" imgH="828675" progId="Word.Document.8">
                  <p:embed/>
                </p:oleObj>
              </mc:Choice>
              <mc:Fallback>
                <p:oleObj name="Document" showAsIcon="1" r:id="rId1" imgW="914400" imgH="828675" progId="Word.Documen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6490" y="6203490"/>
                        <a:ext cx="1219200"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2.4.1</a:t>
            </a:r>
            <a:r>
              <a:rPr lang="zh-CN" altLang="en-US" sz="3600" b="1" dirty="0">
                <a:solidFill>
                  <a:schemeClr val="bg1"/>
                </a:solidFill>
                <a:latin typeface="微软雅黑" panose="020B0503020204020204" pitchFamily="34" charset="-122"/>
                <a:ea typeface="微软雅黑" panose="020B0503020204020204" pitchFamily="34" charset="-122"/>
              </a:rPr>
              <a:t>两个有序表的的合并</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type="body" idx="1"/>
          </p:nvPr>
        </p:nvSpPr>
        <p:spPr>
          <a:xfrm>
            <a:off x="682752" y="990600"/>
            <a:ext cx="10929240" cy="5257800"/>
          </a:xfrm>
        </p:spPr>
        <p:txBody>
          <a:bodyPr>
            <a:normAutofit/>
          </a:bodyPr>
          <a:lstStyle/>
          <a:p>
            <a:pPr>
              <a:lnSpc>
                <a:spcPct val="125000"/>
              </a:lnSpc>
            </a:pPr>
            <a:r>
              <a:rPr lang="zh-CN" altLang="en-US" sz="2000" dirty="0">
                <a:latin typeface="微软雅黑" panose="020B0503020204020204" pitchFamily="34" charset="-122"/>
                <a:ea typeface="微软雅黑" panose="020B0503020204020204" pitchFamily="34" charset="-122"/>
              </a:rPr>
              <a:t>问题描述：</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已知集合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和集合</a:t>
            </a:r>
            <a:r>
              <a:rPr lang="en-US" altLang="zh-CN" sz="2000" i="1"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，写一过程，利用类模板实现</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不失一般性，设集合中的数据元素类型为字符型。</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例如：已知集合</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 { </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c</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d</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e</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 {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e</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则运算后的结果为：</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c</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d</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zh-CN" altLang="en-US" sz="2000" i="1" dirty="0">
              <a:latin typeface="微软雅黑" panose="020B0503020204020204" pitchFamily="34" charset="-122"/>
              <a:ea typeface="微软雅黑" panose="020B0503020204020204" pitchFamily="34" charset="-122"/>
            </a:endParaRPr>
          </a:p>
          <a:p>
            <a:pPr>
              <a:lnSpc>
                <a:spcPct val="125000"/>
              </a:lnSpc>
            </a:pP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的运算相当于除去下图中的阴影部分。</a:t>
            </a:r>
            <a:endParaRPr lang="zh-CN" altLang="en-US" sz="2000" dirty="0">
              <a:latin typeface="微软雅黑" panose="020B0503020204020204" pitchFamily="34" charset="-122"/>
              <a:ea typeface="微软雅黑" panose="020B0503020204020204" pitchFamily="34" charset="-122"/>
            </a:endParaRPr>
          </a:p>
        </p:txBody>
      </p:sp>
      <p:sp>
        <p:nvSpPr>
          <p:cNvPr id="89092" name="Rectangle 5"/>
          <p:cNvSpPr>
            <a:spLocks noChangeArrowheads="1"/>
          </p:cNvSpPr>
          <p:nvPr/>
        </p:nvSpPr>
        <p:spPr bwMode="gray">
          <a:xfrm>
            <a:off x="5949966" y="2798119"/>
            <a:ext cx="2920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89093" name="Object 4"/>
          <p:cNvGraphicFramePr>
            <a:graphicFrameLocks noChangeAspect="1"/>
          </p:cNvGraphicFramePr>
          <p:nvPr/>
        </p:nvGraphicFramePr>
        <p:xfrm>
          <a:off x="4616466" y="4789876"/>
          <a:ext cx="2667000" cy="1371600"/>
        </p:xfrm>
        <a:graphic>
          <a:graphicData uri="http://schemas.openxmlformats.org/presentationml/2006/ole">
            <mc:AlternateContent xmlns:mc="http://schemas.openxmlformats.org/markup-compatibility/2006">
              <mc:Choice xmlns:v="urn:schemas-microsoft-com:vml" Requires="v">
                <p:oleObj spid="_x0000_s0" name="" r:id="rId1" imgW="1638300" imgH="1079500" progId="Visio.Drawing.11">
                  <p:embed/>
                </p:oleObj>
              </mc:Choice>
              <mc:Fallback>
                <p:oleObj name="" r:id="rId1" imgW="1638300" imgH="107950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466" y="4789876"/>
                        <a:ext cx="2667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集合运算</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集合运算</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a:xfrm>
            <a:off x="522514" y="1240536"/>
            <a:ext cx="11258154"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5000"/>
              </a:lnSpc>
            </a:pPr>
            <a:r>
              <a:rPr lang="zh-CN" altLang="en-US" sz="2000" dirty="0">
                <a:latin typeface="微软雅黑" panose="020B0503020204020204" pitchFamily="34" charset="-122"/>
                <a:ea typeface="微软雅黑" panose="020B0503020204020204" pitchFamily="34" charset="-122"/>
              </a:rPr>
              <a:t>求解过程</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None/>
            </a:pPr>
            <a:r>
              <a:rPr lang="zh-CN" altLang="en-US" sz="2000" dirty="0">
                <a:latin typeface="微软雅黑" panose="020B0503020204020204" pitchFamily="34" charset="-122"/>
                <a:ea typeface="微软雅黑" panose="020B0503020204020204" pitchFamily="34" charset="-122"/>
              </a:rPr>
              <a:t>对集合的运算当然可以利用线性表的类模板实现。</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None/>
            </a:pPr>
            <a:r>
              <a:rPr lang="zh-CN" altLang="en-US" sz="2000" dirty="0">
                <a:latin typeface="微软雅黑" panose="020B0503020204020204" pitchFamily="34" charset="-122"/>
                <a:ea typeface="微软雅黑" panose="020B0503020204020204" pitchFamily="34" charset="-122"/>
              </a:rPr>
              <a:t>具体过程如下：</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zh-CN" altLang="en-US" sz="2000" dirty="0">
                <a:latin typeface="微软雅黑" panose="020B0503020204020204" pitchFamily="34" charset="-122"/>
                <a:ea typeface="微软雅黑" panose="020B0503020204020204" pitchFamily="34" charset="-122"/>
              </a:rPr>
              <a:t>设集合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和集合</a:t>
            </a:r>
            <a:r>
              <a:rPr lang="en-US" altLang="zh-CN" sz="2000" i="1"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的长度分别为</a:t>
            </a:r>
            <a:r>
              <a:rPr lang="en-US" altLang="zh-CN" sz="2000" i="1"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和</a:t>
            </a:r>
            <a:r>
              <a:rPr lang="en-US" altLang="zh-CN" sz="2000" i="1"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zh-CN" altLang="en-US" sz="2000" dirty="0">
                <a:latin typeface="微软雅黑" panose="020B0503020204020204" pitchFamily="34" charset="-122"/>
                <a:ea typeface="微软雅黑" panose="020B0503020204020204" pitchFamily="34" charset="-122"/>
              </a:rPr>
              <a:t>以线性表的形式建立集合</a:t>
            </a:r>
            <a:r>
              <a:rPr lang="en-US" altLang="zh-CN" sz="2000" i="1" dirty="0">
                <a:latin typeface="微软雅黑" panose="020B0503020204020204" pitchFamily="34" charset="-122"/>
                <a:ea typeface="微软雅黑" panose="020B0503020204020204" pitchFamily="34" charset="-122"/>
              </a:rPr>
              <a:t>A</a:t>
            </a:r>
            <a:r>
              <a:rPr lang="zh-CN" altLang="en-US" sz="2000" i="1"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FontTx/>
              <a:buAutoNum type="arabicPeriod"/>
            </a:pPr>
            <a:r>
              <a:rPr lang="zh-CN" altLang="en-US" sz="2000" dirty="0">
                <a:latin typeface="微软雅黑" panose="020B0503020204020204" pitchFamily="34" charset="-122"/>
                <a:ea typeface="微软雅黑" panose="020B0503020204020204" pitchFamily="34" charset="-122"/>
              </a:rPr>
              <a:t>依次读取集合</a:t>
            </a:r>
            <a:r>
              <a:rPr lang="en-US" altLang="zh-CN" sz="2000" i="1"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中的数据元素至集合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La</a:t>
            </a:r>
            <a:r>
              <a:rPr lang="zh-CN" altLang="en-US" sz="2000" dirty="0">
                <a:latin typeface="微软雅黑" panose="020B0503020204020204" pitchFamily="34" charset="-122"/>
                <a:ea typeface="微软雅黑" panose="020B0503020204020204" pitchFamily="34" charset="-122"/>
              </a:rPr>
              <a:t>表）中查找，若该数据元素已存在于集合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中，则将该数据元素从集合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中删去；否则，将该数据元素插入至集合</a:t>
            </a:r>
            <a:r>
              <a:rPr lang="en-US" altLang="zh-CN" sz="2000" i="1"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 重复</a:t>
            </a:r>
            <a:r>
              <a:rPr lang="en-US" altLang="zh-CN" sz="2000" i="1"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次，直至集合</a:t>
            </a:r>
            <a:r>
              <a:rPr lang="en-US" altLang="zh-CN" sz="2000" i="1"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中的数据元素处理完毕。</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down)">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down)">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down)">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wipe(down)">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wipe(down)">
                                      <p:cBhvr>
                                        <p:cTn id="2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集合运算</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522514" y="965082"/>
            <a:ext cx="8534400" cy="5472294"/>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457200" indent="-4572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使用线性表实现集合运算</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(A-B)U(B-A)</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，即找出两个集合中所有不同的元素  </a:t>
            </a:r>
            <a:endParaRPr lang="zh-CN" altLang="en-US" sz="1800" b="0" dirty="0">
              <a:latin typeface="微软雅黑" panose="020B0503020204020204" pitchFamily="34" charset="-122"/>
              <a:ea typeface="微软雅黑" panose="020B0503020204020204" pitchFamily="34" charset="-122"/>
              <a:cs typeface="微软雅黑" panose="020B0503020204020204" pitchFamily="34" charset="-122"/>
            </a:endParaRPr>
          </a:p>
          <a:p>
            <a:pPr>
              <a:buFontTx/>
              <a:buNone/>
            </a:pPr>
            <a:r>
              <a:rPr lang="en-US" altLang="zh-CN" sz="1800" b="0" dirty="0">
                <a:cs typeface="Times New Roman" panose="02020603050405020304" pitchFamily="18" charset="0"/>
              </a:rPr>
              <a:t>void </a:t>
            </a:r>
            <a:r>
              <a:rPr lang="en-US" altLang="zh-CN" sz="1800" b="0" dirty="0" err="1">
                <a:cs typeface="Times New Roman" panose="02020603050405020304" pitchFamily="18" charset="0"/>
              </a:rPr>
              <a:t>Differrence</a:t>
            </a:r>
            <a:r>
              <a:rPr lang="en-US" altLang="zh-CN" sz="1800" b="0" dirty="0">
                <a:cs typeface="Times New Roman" panose="02020603050405020304" pitchFamily="18" charset="0"/>
              </a:rPr>
              <a:t>(</a:t>
            </a:r>
            <a:r>
              <a:rPr lang="en-US" altLang="zh-CN" sz="1800" b="0" dirty="0" err="1">
                <a:cs typeface="Times New Roman" panose="02020603050405020304" pitchFamily="18" charset="0"/>
              </a:rPr>
              <a:t>LinkList</a:t>
            </a:r>
            <a:r>
              <a:rPr lang="en-US" altLang="zh-CN" sz="1800" b="0" dirty="0">
                <a:cs typeface="Times New Roman" panose="02020603050405020304" pitchFamily="18" charset="0"/>
              </a:rPr>
              <a:t>&lt;char&gt; &amp;la, </a:t>
            </a:r>
            <a:r>
              <a:rPr lang="en-US" altLang="zh-CN" sz="1800" b="0" dirty="0" err="1">
                <a:cs typeface="Times New Roman" panose="02020603050405020304" pitchFamily="18" charset="0"/>
              </a:rPr>
              <a:t>LinkList</a:t>
            </a:r>
            <a:r>
              <a:rPr lang="en-US" altLang="zh-CN" sz="1800" b="0" dirty="0">
                <a:cs typeface="Times New Roman" panose="02020603050405020304" pitchFamily="18" charset="0"/>
              </a:rPr>
              <a:t>&lt;char&gt; &amp;</a:t>
            </a:r>
            <a:r>
              <a:rPr lang="en-US" altLang="zh-CN" sz="1800" b="0" dirty="0" err="1">
                <a:cs typeface="Times New Roman" panose="02020603050405020304" pitchFamily="18" charset="0"/>
              </a:rPr>
              <a:t>lb</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int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a:t>
            </a:r>
            <a:r>
              <a:rPr lang="en-US" altLang="zh-CN" sz="1800" b="0" dirty="0" err="1">
                <a:cs typeface="Times New Roman" panose="02020603050405020304" pitchFamily="18" charset="0"/>
              </a:rPr>
              <a:t>lblen</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lblen</a:t>
            </a:r>
            <a:r>
              <a:rPr lang="en-US" altLang="zh-CN" sz="1800" b="0" dirty="0">
                <a:cs typeface="Times New Roman" panose="02020603050405020304" pitchFamily="18" charset="0"/>
              </a:rPr>
              <a:t> = </a:t>
            </a:r>
            <a:r>
              <a:rPr lang="en-US" altLang="zh-CN" sz="1800" b="0" dirty="0" err="1">
                <a:cs typeface="Times New Roman" panose="02020603050405020304" pitchFamily="18" charset="0"/>
              </a:rPr>
              <a:t>lb.Length</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逐一读入</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表的数据到</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表中查找，若存在则从</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表中删除，否则，插入至</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表。</a:t>
            </a:r>
            <a:endParaRPr lang="zh-CN" altLang="en-US" sz="1800" b="0" dirty="0">
              <a:latin typeface="微软雅黑" panose="020B0503020204020204" pitchFamily="34" charset="-122"/>
              <a:ea typeface="微软雅黑" panose="020B0503020204020204" pitchFamily="34" charset="-122"/>
              <a:cs typeface="微软雅黑" panose="020B0503020204020204" pitchFamily="34" charset="-122"/>
            </a:endParaRPr>
          </a:p>
          <a:p>
            <a:pPr>
              <a:buFontTx/>
              <a:buNone/>
            </a:pPr>
            <a:r>
              <a:rPr lang="zh-CN" altLang="en-US" sz="1800" b="0" dirty="0">
                <a:cs typeface="Times New Roman" panose="02020603050405020304" pitchFamily="18" charset="0"/>
              </a:rPr>
              <a:t>    </a:t>
            </a:r>
            <a:r>
              <a:rPr lang="en-US" altLang="zh-CN" sz="1800" b="0" dirty="0">
                <a:cs typeface="Times New Roman" panose="02020603050405020304" pitchFamily="18" charset="0"/>
              </a:rPr>
              <a:t>for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 1;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&lt;= </a:t>
            </a:r>
            <a:r>
              <a:rPr lang="en-US" altLang="zh-CN" sz="1800" b="0" dirty="0" err="1">
                <a:cs typeface="Times New Roman" panose="02020603050405020304" pitchFamily="18" charset="0"/>
              </a:rPr>
              <a:t>lblen</a:t>
            </a:r>
            <a:r>
              <a:rPr lang="en-US" altLang="zh-CN" sz="1800" b="0" dirty="0">
                <a:cs typeface="Times New Roman" panose="02020603050405020304" pitchFamily="18" charset="0"/>
              </a:rPr>
              <a:t>;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	</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char e;</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lb.GetElem</a:t>
            </a:r>
            <a:r>
              <a:rPr lang="en-US" altLang="zh-CN" sz="1800" b="0" dirty="0">
                <a:cs typeface="Times New Roman" panose="02020603050405020304" pitchFamily="18" charset="0"/>
              </a:rPr>
              <a:t>(e,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a:t>
            </a:r>
            <a:r>
              <a:rPr lang="zh-CN" altLang="en-US" sz="1800" b="0" dirty="0">
                <a:cs typeface="Times New Roman" panose="02020603050405020304" pitchFamily="18" charset="0"/>
              </a:rPr>
              <a:t> </a:t>
            </a:r>
            <a:endParaRPr lang="zh-CN" altLang="en-US" sz="1800" b="0" dirty="0">
              <a:cs typeface="Times New Roman" panose="02020603050405020304" pitchFamily="18" charset="0"/>
            </a:endParaRPr>
          </a:p>
          <a:p>
            <a:pPr>
              <a:buFontTx/>
              <a:buNone/>
            </a:pPr>
            <a:r>
              <a:rPr lang="zh-CN" altLang="en-US" sz="1800" b="0" dirty="0">
                <a:cs typeface="Times New Roman" panose="02020603050405020304" pitchFamily="18" charset="0"/>
              </a:rPr>
              <a:t>        </a:t>
            </a:r>
            <a:r>
              <a:rPr lang="en-US" altLang="zh-CN" sz="1800" b="0" dirty="0">
                <a:cs typeface="Times New Roman" panose="02020603050405020304" pitchFamily="18" charset="0"/>
              </a:rPr>
              <a:t>int k = </a:t>
            </a:r>
            <a:r>
              <a:rPr lang="en-US" altLang="zh-CN" sz="1800" b="0" dirty="0" err="1">
                <a:cs typeface="Times New Roman" panose="02020603050405020304" pitchFamily="18" charset="0"/>
              </a:rPr>
              <a:t>la.LocateElem</a:t>
            </a:r>
            <a:r>
              <a:rPr lang="en-US" altLang="zh-CN" sz="1800" b="0" dirty="0">
                <a:cs typeface="Times New Roman" panose="02020603050405020304" pitchFamily="18" charset="0"/>
              </a:rPr>
              <a:t>(e); </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if (k) </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la.Delete</a:t>
            </a:r>
            <a:r>
              <a:rPr lang="en-US" altLang="zh-CN" sz="1800" b="0" dirty="0">
                <a:cs typeface="Times New Roman" panose="02020603050405020304" pitchFamily="18" charset="0"/>
              </a:rPr>
              <a:t>(e, k);</a:t>
            </a:r>
            <a:r>
              <a:rPr lang="zh-CN" altLang="en-US" sz="1800" b="0" dirty="0">
                <a:cs typeface="Times New Roman" panose="02020603050405020304" pitchFamily="18" charset="0"/>
              </a:rPr>
              <a:t>   </a:t>
            </a:r>
            <a:endParaRPr lang="zh-CN" altLang="en-US" sz="1800" b="0" dirty="0">
              <a:cs typeface="Times New Roman" panose="02020603050405020304" pitchFamily="18" charset="0"/>
            </a:endParaRPr>
          </a:p>
          <a:p>
            <a:pPr>
              <a:buFontTx/>
              <a:buNone/>
            </a:pPr>
            <a:r>
              <a:rPr lang="zh-CN" altLang="en-US" sz="1800" b="0" dirty="0">
                <a:cs typeface="Times New Roman" panose="02020603050405020304" pitchFamily="18" charset="0"/>
              </a:rPr>
              <a:t>        </a:t>
            </a:r>
            <a:r>
              <a:rPr lang="en-US" altLang="zh-CN" sz="1800" b="0" dirty="0">
                <a:cs typeface="Times New Roman" panose="02020603050405020304" pitchFamily="18" charset="0"/>
              </a:rPr>
              <a:t>else</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la.Append</a:t>
            </a:r>
            <a:r>
              <a:rPr lang="en-US" altLang="zh-CN" sz="1800" b="0" dirty="0">
                <a:cs typeface="Times New Roman" panose="02020603050405020304" pitchFamily="18" charset="0"/>
              </a:rPr>
              <a:t>(e);</a:t>
            </a:r>
            <a:r>
              <a:rPr lang="zh-CN" altLang="en-US" sz="1800" b="0" dirty="0">
                <a:cs typeface="Times New Roman" panose="02020603050405020304" pitchFamily="18" charset="0"/>
              </a:rPr>
              <a:t>            </a:t>
            </a:r>
            <a:endParaRPr lang="zh-CN" altLang="en-US" sz="1800" b="0" dirty="0">
              <a:cs typeface="Times New Roman" panose="02020603050405020304" pitchFamily="18" charset="0"/>
            </a:endParaRPr>
          </a:p>
          <a:p>
            <a:pPr>
              <a:buFontTx/>
              <a:buNone/>
            </a:pPr>
            <a:r>
              <a:rPr lang="zh-CN" altLang="en-US" sz="1800" b="0" dirty="0">
                <a:cs typeface="Times New Roman" panose="02020603050405020304" pitchFamily="18" charset="0"/>
              </a:rPr>
              <a:t>    </a:t>
            </a:r>
            <a:r>
              <a:rPr lang="en-US" altLang="zh-CN" sz="1800" b="0" dirty="0">
                <a:cs typeface="Times New Roman" panose="02020603050405020304" pitchFamily="18" charset="0"/>
              </a:rPr>
              <a:t>}    </a:t>
            </a:r>
            <a:endParaRPr lang="en-US" altLang="zh-CN" sz="1800" b="0" dirty="0">
              <a:cs typeface="Times New Roman" panose="02020603050405020304" pitchFamily="18" charset="0"/>
            </a:endParaRPr>
          </a:p>
          <a:p>
            <a:pPr algn="l">
              <a:buClrTx/>
              <a:buSzTx/>
              <a:buFontTx/>
              <a:buNone/>
            </a:pPr>
            <a:r>
              <a:rPr lang="en-US" altLang="zh-CN" sz="1800" b="0" dirty="0">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//测试程序 </a:t>
            </a:r>
            <a:endParaRPr lang="en-US" altLang="zh-CN" sz="1800"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sz="half" idx="1"/>
          </p:nvPr>
        </p:nvSpPr>
        <p:spPr>
          <a:xfrm>
            <a:off x="533399" y="1219200"/>
            <a:ext cx="10466033" cy="4876800"/>
          </a:xfrm>
        </p:spPr>
        <p:txBody>
          <a:bodyPr/>
          <a:lstStyle/>
          <a:p>
            <a:r>
              <a:rPr lang="zh-CN" altLang="en-US" sz="2000" dirty="0">
                <a:latin typeface="微软雅黑" panose="020B0503020204020204" pitchFamily="34" charset="-122"/>
                <a:ea typeface="微软雅黑" panose="020B0503020204020204" pitchFamily="34" charset="-122"/>
              </a:rPr>
              <a:t>一元多项式：</a:t>
            </a:r>
            <a:endParaRPr lang="zh-CN" altLang="en-US" sz="2000" dirty="0">
              <a:latin typeface="微软雅黑" panose="020B0503020204020204" pitchFamily="34" charset="-122"/>
              <a:ea typeface="微软雅黑" panose="020B0503020204020204" pitchFamily="34" charset="-122"/>
            </a:endParaRPr>
          </a:p>
          <a:p>
            <a:pPr>
              <a:buFontTx/>
              <a:buNone/>
            </a:pP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buFontTx/>
              <a:buNone/>
            </a:pP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逻辑上可以看成是一个数据元素为系数的线性表：</a:t>
            </a:r>
            <a:endParaRPr lang="zh-CN" altLang="en-US"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若多项式形如</a:t>
            </a:r>
            <a:r>
              <a:rPr lang="en-US" altLang="zh-CN" sz="2000" dirty="0">
                <a:latin typeface="微软雅黑" panose="020B0503020204020204" pitchFamily="34" charset="-122"/>
                <a:ea typeface="微软雅黑" panose="020B0503020204020204" pitchFamily="34" charset="-122"/>
              </a:rPr>
              <a:t>S(x)</a:t>
            </a:r>
            <a:endParaRPr lang="zh-CN" altLang="en-US" sz="2000" i="1" dirty="0">
              <a:latin typeface="微软雅黑" panose="020B0503020204020204" pitchFamily="34" charset="-122"/>
              <a:ea typeface="微软雅黑" panose="020B0503020204020204" pitchFamily="34" charset="-122"/>
            </a:endParaRPr>
          </a:p>
        </p:txBody>
      </p:sp>
      <p:graphicFrame>
        <p:nvGraphicFramePr>
          <p:cNvPr id="92164" name="Object 8"/>
          <p:cNvGraphicFramePr>
            <a:graphicFrameLocks noGrp="1" noChangeAspect="1"/>
          </p:cNvGraphicFramePr>
          <p:nvPr>
            <p:ph sz="quarter" idx="2"/>
          </p:nvPr>
        </p:nvGraphicFramePr>
        <p:xfrm>
          <a:off x="1391443" y="1746558"/>
          <a:ext cx="4303713" cy="469900"/>
        </p:xfrm>
        <a:graphic>
          <a:graphicData uri="http://schemas.openxmlformats.org/presentationml/2006/ole">
            <mc:AlternateContent xmlns:mc="http://schemas.openxmlformats.org/markup-compatibility/2006">
              <mc:Choice xmlns:v="urn:schemas-microsoft-com:vml" Requires="v">
                <p:oleObj spid="_x0000_s0" name="公式" r:id="rId1" imgW="2209800" imgH="241300" progId="Equation.3">
                  <p:embed/>
                </p:oleObj>
              </mc:Choice>
              <mc:Fallback>
                <p:oleObj name="公式" r:id="rId1" imgW="2209800" imgH="2413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1443" y="1746558"/>
                        <a:ext cx="43037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5" name="Rectangle 4"/>
          <p:cNvSpPr>
            <a:spLocks noChangeArrowheads="1"/>
          </p:cNvSpPr>
          <p:nvPr/>
        </p:nvSpPr>
        <p:spPr bwMode="gray">
          <a:xfrm>
            <a:off x="5949966" y="2817169"/>
            <a:ext cx="2920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92166" name="Object 11"/>
          <p:cNvGraphicFramePr>
            <a:graphicFrameLocks noChangeAspect="1"/>
          </p:cNvGraphicFramePr>
          <p:nvPr/>
        </p:nvGraphicFramePr>
        <p:xfrm>
          <a:off x="3230562" y="3096416"/>
          <a:ext cx="3598863" cy="381000"/>
        </p:xfrm>
        <a:graphic>
          <a:graphicData uri="http://schemas.openxmlformats.org/presentationml/2006/ole">
            <mc:AlternateContent xmlns:mc="http://schemas.openxmlformats.org/markup-compatibility/2006">
              <mc:Choice xmlns:v="urn:schemas-microsoft-com:vml" Requires="v">
                <p:oleObj spid="_x0000_s2" name="公式" r:id="rId3" imgW="1524000" imgH="228600" progId="Equation.3">
                  <p:embed/>
                </p:oleObj>
              </mc:Choice>
              <mc:Fallback>
                <p:oleObj name="公式" r:id="rId3" imgW="1524000"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0562" y="3096416"/>
                        <a:ext cx="359886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167" name="Group 19"/>
          <p:cNvGrpSpPr/>
          <p:nvPr/>
        </p:nvGrpSpPr>
        <p:grpSpPr bwMode="auto">
          <a:xfrm>
            <a:off x="855665" y="4448712"/>
            <a:ext cx="4570413" cy="835106"/>
            <a:chOff x="1050" y="2724"/>
            <a:chExt cx="2879" cy="683"/>
          </a:xfrm>
        </p:grpSpPr>
        <p:sp>
          <p:nvSpPr>
            <p:cNvPr id="92171" name="Text Box 20"/>
            <p:cNvSpPr txBox="1">
              <a:spLocks noChangeArrowheads="1"/>
            </p:cNvSpPr>
            <p:nvPr/>
          </p:nvSpPr>
          <p:spPr bwMode="auto">
            <a:xfrm>
              <a:off x="1050" y="2724"/>
              <a:ext cx="2676" cy="325"/>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zh-CN" altLang="en-US" sz="2000" dirty="0">
                  <a:latin typeface="微软雅黑" panose="020B0503020204020204" pitchFamily="34" charset="-122"/>
                  <a:ea typeface="微软雅黑" panose="020B0503020204020204" pitchFamily="34" charset="-122"/>
                </a:rPr>
                <a:t>用数据域含两个数据项的线性表表示</a:t>
              </a:r>
              <a:endParaRPr kumimoji="1" lang="zh-CN" altLang="en-US" sz="2000" dirty="0">
                <a:latin typeface="微软雅黑" panose="020B0503020204020204" pitchFamily="34" charset="-122"/>
                <a:ea typeface="微软雅黑" panose="020B0503020204020204" pitchFamily="34" charset="-122"/>
              </a:endParaRPr>
            </a:p>
          </p:txBody>
        </p:sp>
        <p:graphicFrame>
          <p:nvGraphicFramePr>
            <p:cNvPr id="92172" name="Object 21"/>
            <p:cNvGraphicFramePr>
              <a:graphicFrameLocks noChangeAspect="1"/>
            </p:cNvGraphicFramePr>
            <p:nvPr/>
          </p:nvGraphicFramePr>
          <p:xfrm>
            <a:off x="1147" y="3104"/>
            <a:ext cx="2782" cy="303"/>
          </p:xfrm>
          <a:graphic>
            <a:graphicData uri="http://schemas.openxmlformats.org/presentationml/2006/ole">
              <mc:AlternateContent xmlns:mc="http://schemas.openxmlformats.org/markup-compatibility/2006">
                <mc:Choice xmlns:v="urn:schemas-microsoft-com:vml" Requires="v">
                  <p:oleObj spid="_x0000_s3" name="公式" r:id="rId5" imgW="1968500" imgH="228600" progId="Equation.3">
                    <p:embed/>
                  </p:oleObj>
                </mc:Choice>
                <mc:Fallback>
                  <p:oleObj name="公式" r:id="rId5" imgW="1968500" imgH="2286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7" y="3104"/>
                          <a:ext cx="2782"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168" name="Text Box 22"/>
          <p:cNvSpPr txBox="1">
            <a:spLocks noChangeArrowheads="1"/>
          </p:cNvSpPr>
          <p:nvPr/>
        </p:nvSpPr>
        <p:spPr bwMode="auto">
          <a:xfrm>
            <a:off x="855665" y="5464571"/>
            <a:ext cx="5772150" cy="396875"/>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zh-CN" altLang="en-US" sz="2000" dirty="0">
                <a:latin typeface="微软雅黑" panose="020B0503020204020204" pitchFamily="34" charset="-122"/>
                <a:ea typeface="微软雅黑" panose="020B0503020204020204" pitchFamily="34" charset="-122"/>
              </a:rPr>
              <a:t>其存储结构可以用顺序存储结构，也可以用单链表</a:t>
            </a:r>
            <a:endParaRPr kumimoji="1" lang="zh-CN" altLang="en-US" sz="2000" dirty="0">
              <a:latin typeface="微软雅黑" panose="020B0503020204020204" pitchFamily="34" charset="-122"/>
              <a:ea typeface="微软雅黑" panose="020B0503020204020204" pitchFamily="34" charset="-122"/>
            </a:endParaRPr>
          </a:p>
        </p:txBody>
      </p:sp>
      <p:graphicFrame>
        <p:nvGraphicFramePr>
          <p:cNvPr id="92169" name="Object 23"/>
          <p:cNvGraphicFramePr>
            <a:graphicFrameLocks noGrp="1" noChangeAspect="1"/>
          </p:cNvGraphicFramePr>
          <p:nvPr>
            <p:ph sz="quarter" idx="3"/>
          </p:nvPr>
        </p:nvGraphicFramePr>
        <p:xfrm>
          <a:off x="855665" y="2819400"/>
          <a:ext cx="2514600" cy="381000"/>
        </p:xfrm>
        <a:graphic>
          <a:graphicData uri="http://schemas.openxmlformats.org/presentationml/2006/ole">
            <mc:AlternateContent xmlns:mc="http://schemas.openxmlformats.org/markup-compatibility/2006">
              <mc:Choice xmlns:v="urn:schemas-microsoft-com:vml" Requires="v">
                <p:oleObj spid="_x0000_s4" name="公式" r:id="rId7" imgW="1104900" imgH="228600" progId="Equation.3">
                  <p:embed/>
                </p:oleObj>
              </mc:Choice>
              <mc:Fallback>
                <p:oleObj name="公式" r:id="rId7" imgW="1104900" imgH="22860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5665" y="2819400"/>
                        <a:ext cx="25146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0" name="Object 25"/>
          <p:cNvGraphicFramePr>
            <a:graphicFrameLocks noChangeAspect="1"/>
          </p:cNvGraphicFramePr>
          <p:nvPr/>
        </p:nvGraphicFramePr>
        <p:xfrm>
          <a:off x="855665" y="3600404"/>
          <a:ext cx="5386388" cy="838200"/>
        </p:xfrm>
        <a:graphic>
          <a:graphicData uri="http://schemas.openxmlformats.org/presentationml/2006/ole">
            <mc:AlternateContent xmlns:mc="http://schemas.openxmlformats.org/markup-compatibility/2006">
              <mc:Choice xmlns:v="urn:schemas-microsoft-com:vml" Requires="v">
                <p:oleObj spid="_x0000_s5" name="公式" r:id="rId9" imgW="2628900" imgH="482600" progId="Equation.3">
                  <p:embed/>
                </p:oleObj>
              </mc:Choice>
              <mc:Fallback>
                <p:oleObj name="公式" r:id="rId9" imgW="2628900" imgH="48260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5665" y="3600404"/>
                        <a:ext cx="538638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文本框 6"/>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sz="half" idx="1"/>
          </p:nvPr>
        </p:nvSpPr>
        <p:spPr>
          <a:xfrm>
            <a:off x="1981200" y="1295400"/>
            <a:ext cx="8534400" cy="4876800"/>
          </a:xfrm>
        </p:spPr>
        <p:txBody>
          <a:bodyPr/>
          <a:lstStyle/>
          <a:p>
            <a:pPr marL="457200" indent="-457200"/>
            <a:endParaRPr lang="en-US" altLang="zh-CN" sz="2000" dirty="0"/>
          </a:p>
          <a:p>
            <a:pPr marL="457200" indent="-457200"/>
            <a:endParaRPr lang="zh-CN" altLang="en-US" sz="2000" dirty="0"/>
          </a:p>
        </p:txBody>
      </p:sp>
      <p:graphicFrame>
        <p:nvGraphicFramePr>
          <p:cNvPr id="93188" name="Object 6"/>
          <p:cNvGraphicFramePr>
            <a:graphicFrameLocks noGrp="1" noChangeAspect="1"/>
          </p:cNvGraphicFramePr>
          <p:nvPr>
            <p:ph sz="half" idx="2"/>
          </p:nvPr>
        </p:nvGraphicFramePr>
        <p:xfrm>
          <a:off x="392806" y="1319213"/>
          <a:ext cx="3276600" cy="357187"/>
        </p:xfrm>
        <a:graphic>
          <a:graphicData uri="http://schemas.openxmlformats.org/presentationml/2006/ole">
            <mc:AlternateContent xmlns:mc="http://schemas.openxmlformats.org/markup-compatibility/2006">
              <mc:Choice xmlns:v="urn:schemas-microsoft-com:vml" Requires="v">
                <p:oleObj spid="_x0000_s0" name="公式" r:id="rId1" imgW="2095500" imgH="228600" progId="Equation.3">
                  <p:embed/>
                </p:oleObj>
              </mc:Choice>
              <mc:Fallback>
                <p:oleObj name="公式" r:id="rId1" imgW="20955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806" y="1319213"/>
                        <a:ext cx="3276600" cy="35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89" name="Rectangle 11"/>
          <p:cNvSpPr>
            <a:spLocks noChangeArrowheads="1"/>
          </p:cNvSpPr>
          <p:nvPr/>
        </p:nvSpPr>
        <p:spPr bwMode="gray">
          <a:xfrm>
            <a:off x="5949966" y="2664769"/>
            <a:ext cx="2920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endParaRPr lang="zh-CN" altLang="en-US"/>
          </a:p>
        </p:txBody>
      </p:sp>
      <p:graphicFrame>
        <p:nvGraphicFramePr>
          <p:cNvPr id="93190" name="Object 10"/>
          <p:cNvGraphicFramePr>
            <a:graphicFrameLocks noChangeAspect="1"/>
          </p:cNvGraphicFramePr>
          <p:nvPr/>
        </p:nvGraphicFramePr>
        <p:xfrm>
          <a:off x="392806" y="4627568"/>
          <a:ext cx="7391400" cy="1981200"/>
        </p:xfrm>
        <a:graphic>
          <a:graphicData uri="http://schemas.openxmlformats.org/presentationml/2006/ole">
            <mc:AlternateContent xmlns:mc="http://schemas.openxmlformats.org/markup-compatibility/2006">
              <mc:Choice xmlns:v="urn:schemas-microsoft-com:vml" Requires="v">
                <p:oleObj spid="_x0000_s2" name="" r:id="rId3" imgW="8661400" imgH="1803400" progId="Visio.Drawing.11">
                  <p:embed/>
                </p:oleObj>
              </mc:Choice>
              <mc:Fallback>
                <p:oleObj name="" r:id="rId3" imgW="8661400" imgH="1803400"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806" y="4627568"/>
                        <a:ext cx="7391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1" name="Rectangle 13"/>
          <p:cNvSpPr>
            <a:spLocks noChangeArrowheads="1"/>
          </p:cNvSpPr>
          <p:nvPr/>
        </p:nvSpPr>
        <p:spPr bwMode="gray">
          <a:xfrm>
            <a:off x="392805" y="1831981"/>
            <a:ext cx="9372631"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可用线性表</a:t>
            </a:r>
            <a:r>
              <a:rPr lang="en-US" altLang="zh-CN" sz="2000" dirty="0">
                <a:latin typeface="微软雅黑" panose="020B0503020204020204" pitchFamily="34" charset="-122"/>
                <a:ea typeface="微软雅黑" panose="020B0503020204020204" pitchFamily="34" charset="-122"/>
              </a:rPr>
              <a:t>(&lt;7,0&gt;,&lt;13,100&gt;,&lt;-50,500&gt;,&lt;26,999&gt;)</a:t>
            </a:r>
            <a:r>
              <a:rPr lang="zh-CN" altLang="en-US" sz="2000" dirty="0">
                <a:latin typeface="微软雅黑" panose="020B0503020204020204" pitchFamily="34" charset="-122"/>
                <a:ea typeface="微软雅黑" panose="020B0503020204020204" pitchFamily="34" charset="-122"/>
              </a:rPr>
              <a:t>表示</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表中的数据元素为单项式结构类型 </a:t>
            </a:r>
            <a:endParaRPr lang="zh-CN" altLang="en-US" sz="2000" dirty="0">
              <a:latin typeface="微软雅黑" panose="020B0503020204020204" pitchFamily="34" charset="-122"/>
              <a:ea typeface="微软雅黑" panose="020B0503020204020204" pitchFamily="34" charset="-122"/>
            </a:endParaRPr>
          </a:p>
          <a:p>
            <a:pPr>
              <a:buFontTx/>
              <a:buNone/>
            </a:pPr>
            <a:r>
              <a:rPr lang="en-US" altLang="zh-CN" sz="2000" i="1" dirty="0">
                <a:cs typeface="Times New Roman" panose="02020603050405020304" pitchFamily="18" charset="0"/>
              </a:rPr>
              <a:t>struct Monomial {</a:t>
            </a:r>
            <a:endParaRPr lang="en-US" altLang="zh-CN" sz="2000" i="1" dirty="0">
              <a:cs typeface="Times New Roman" panose="02020603050405020304" pitchFamily="18" charset="0"/>
            </a:endParaRPr>
          </a:p>
          <a:p>
            <a:pPr>
              <a:buFontTx/>
              <a:buNone/>
            </a:pPr>
            <a:r>
              <a:rPr lang="en-US" altLang="zh-CN" sz="2000" i="1" dirty="0">
                <a:cs typeface="Times New Roman" panose="02020603050405020304" pitchFamily="18" charset="0"/>
              </a:rPr>
              <a:t>    int </a:t>
            </a:r>
            <a:r>
              <a:rPr lang="en-US" altLang="zh-CN" sz="2000" i="1" dirty="0" err="1">
                <a:cs typeface="Times New Roman" panose="02020603050405020304" pitchFamily="18" charset="0"/>
              </a:rPr>
              <a:t>coef</a:t>
            </a:r>
            <a:r>
              <a:rPr lang="en-US" altLang="zh-CN" sz="2000" i="1" dirty="0">
                <a:cs typeface="Times New Roman" panose="02020603050405020304" pitchFamily="18" charset="0"/>
              </a:rPr>
              <a:t>;</a:t>
            </a:r>
            <a:endParaRPr lang="en-US" altLang="zh-CN" sz="2000" i="1" dirty="0">
              <a:cs typeface="Times New Roman" panose="02020603050405020304" pitchFamily="18" charset="0"/>
            </a:endParaRPr>
          </a:p>
          <a:p>
            <a:pPr>
              <a:buFontTx/>
              <a:buNone/>
            </a:pPr>
            <a:r>
              <a:rPr lang="en-US" altLang="zh-CN" sz="2000" i="1" dirty="0">
                <a:cs typeface="Times New Roman" panose="02020603050405020304" pitchFamily="18" charset="0"/>
              </a:rPr>
              <a:t>    int exp;</a:t>
            </a:r>
            <a:endParaRPr lang="en-US" altLang="zh-CN" sz="2000" i="1" dirty="0">
              <a:cs typeface="Times New Roman" panose="02020603050405020304" pitchFamily="18" charset="0"/>
            </a:endParaRPr>
          </a:p>
          <a:p>
            <a:pPr>
              <a:buFontTx/>
              <a:buNone/>
            </a:pPr>
            <a:r>
              <a:rPr lang="en-US" altLang="zh-CN" sz="2000" i="1" dirty="0">
                <a:cs typeface="Times New Roman" panose="02020603050405020304" pitchFamily="18" charset="0"/>
              </a:rPr>
              <a:t>}; </a:t>
            </a:r>
            <a:endParaRPr lang="zh-CN" altLang="en-US" sz="2000" i="1" dirty="0">
              <a:cs typeface="Times New Roman" panose="02020603050405020304" pitchFamily="18" charset="0"/>
            </a:endParaRPr>
          </a:p>
          <a:p>
            <a:r>
              <a:rPr lang="zh-CN" altLang="en-US" sz="2000" dirty="0">
                <a:latin typeface="微软雅黑" panose="020B0503020204020204" pitchFamily="34" charset="-122"/>
                <a:ea typeface="微软雅黑" panose="020B0503020204020204" pitchFamily="34" charset="-122"/>
              </a:rPr>
              <a:t>单链表结构下可表示为：</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4" name="文本框 3"/>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sz="half" idx="1"/>
          </p:nvPr>
        </p:nvSpPr>
        <p:spPr>
          <a:xfrm>
            <a:off x="392805" y="1188720"/>
            <a:ext cx="11148165" cy="4876800"/>
          </a:xfrm>
        </p:spPr>
        <p:txBody>
          <a:bodyPr/>
          <a:lstStyle/>
          <a:p>
            <a:pPr marL="457200" indent="-457200">
              <a:lnSpc>
                <a:spcPct val="125000"/>
              </a:lnSpc>
            </a:pPr>
            <a:r>
              <a:rPr lang="zh-CN" altLang="en-US" sz="2000" dirty="0">
                <a:latin typeface="微软雅黑" panose="020B0503020204020204" pitchFamily="34" charset="-122"/>
                <a:ea typeface="微软雅黑" panose="020B0503020204020204" pitchFamily="34" charset="-122"/>
              </a:rPr>
              <a:t>问题描述</a:t>
            </a:r>
            <a:endParaRPr lang="zh-CN" altLang="en-US" sz="2000" dirty="0">
              <a:latin typeface="微软雅黑" panose="020B0503020204020204" pitchFamily="34" charset="-122"/>
              <a:ea typeface="微软雅黑" panose="020B0503020204020204" pitchFamily="34" charset="-122"/>
            </a:endParaRPr>
          </a:p>
          <a:p>
            <a:pPr marL="457200" indent="-457200">
              <a:lnSpc>
                <a:spcPct val="125000"/>
              </a:lnSpc>
              <a:buNone/>
            </a:pPr>
            <a:r>
              <a:rPr lang="zh-CN" altLang="en-US" sz="2000" dirty="0">
                <a:latin typeface="微软雅黑" panose="020B0503020204020204" pitchFamily="34" charset="-122"/>
                <a:ea typeface="微软雅黑" panose="020B0503020204020204" pitchFamily="34" charset="-122"/>
              </a:rPr>
              <a:t>      已知一元多项式</a:t>
            </a:r>
            <a:r>
              <a:rPr lang="en-US" altLang="zh-CN" sz="2000" i="1" dirty="0">
                <a:latin typeface="微软雅黑" panose="020B0503020204020204" pitchFamily="34" charset="-122"/>
                <a:ea typeface="微软雅黑" panose="020B0503020204020204" pitchFamily="34" charset="-122"/>
              </a:rPr>
              <a:t>Pa</a:t>
            </a:r>
            <a:r>
              <a:rPr lang="zh-CN" altLang="en-US" sz="2000" dirty="0">
                <a:latin typeface="微软雅黑" panose="020B0503020204020204" pitchFamily="34" charset="-122"/>
                <a:ea typeface="微软雅黑" panose="020B0503020204020204" pitchFamily="34" charset="-122"/>
              </a:rPr>
              <a:t>和一元多项式</a:t>
            </a:r>
            <a:r>
              <a:rPr lang="en-US" altLang="zh-CN" sz="2000" i="1" dirty="0">
                <a:latin typeface="微软雅黑" panose="020B0503020204020204" pitchFamily="34" charset="-122"/>
                <a:ea typeface="微软雅黑" panose="020B0503020204020204" pitchFamily="34" charset="-122"/>
              </a:rPr>
              <a:t>Pb</a:t>
            </a:r>
            <a:r>
              <a:rPr lang="zh-CN" altLang="en-US" sz="2000" dirty="0">
                <a:latin typeface="微软雅黑" panose="020B0503020204020204" pitchFamily="34" charset="-122"/>
                <a:ea typeface="微软雅黑" panose="020B0503020204020204" pitchFamily="34" charset="-122"/>
              </a:rPr>
              <a:t>中的数据元素按指数值递增有序，对</a:t>
            </a:r>
            <a:r>
              <a:rPr lang="en-US" altLang="zh-CN" sz="2000" i="1" dirty="0">
                <a:latin typeface="微软雅黑" panose="020B0503020204020204" pitchFamily="34" charset="-122"/>
                <a:ea typeface="微软雅黑" panose="020B0503020204020204" pitchFamily="34" charset="-122"/>
              </a:rPr>
              <a:t>Pa</a:t>
            </a:r>
            <a:r>
              <a:rPr lang="zh-CN" altLang="en-US" sz="2000" dirty="0">
                <a:latin typeface="微软雅黑" panose="020B0503020204020204" pitchFamily="34" charset="-122"/>
                <a:ea typeface="微软雅黑" panose="020B0503020204020204" pitchFamily="34" charset="-122"/>
              </a:rPr>
              <a:t>和</a:t>
            </a:r>
            <a:r>
              <a:rPr lang="en-US" altLang="zh-CN" sz="2000" i="1" dirty="0">
                <a:latin typeface="微软雅黑" panose="020B0503020204020204" pitchFamily="34" charset="-122"/>
                <a:ea typeface="微软雅黑" panose="020B0503020204020204" pitchFamily="34" charset="-122"/>
              </a:rPr>
              <a:t>Pb</a:t>
            </a:r>
            <a:r>
              <a:rPr lang="zh-CN" altLang="en-US" sz="2000" dirty="0">
                <a:latin typeface="微软雅黑" panose="020B0503020204020204" pitchFamily="34" charset="-122"/>
                <a:ea typeface="微软雅黑" panose="020B0503020204020204" pitchFamily="34" charset="-122"/>
              </a:rPr>
              <a:t>进行相加，得到新的一元多项式</a:t>
            </a:r>
            <a:r>
              <a:rPr lang="en-US" altLang="zh-CN" sz="2000" i="1" dirty="0">
                <a:latin typeface="微软雅黑" panose="020B0503020204020204" pitchFamily="34" charset="-122"/>
                <a:ea typeface="微软雅黑" panose="020B0503020204020204" pitchFamily="34" charset="-122"/>
              </a:rPr>
              <a:t>Pc</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Pc</a:t>
            </a:r>
            <a:r>
              <a:rPr lang="zh-CN" altLang="en-US" sz="2000" dirty="0">
                <a:latin typeface="微软雅黑" panose="020B0503020204020204" pitchFamily="34" charset="-122"/>
                <a:ea typeface="微软雅黑" panose="020B0503020204020204" pitchFamily="34" charset="-122"/>
              </a:rPr>
              <a:t>中的数据元素也按指数值递增有序。</a:t>
            </a:r>
            <a:endParaRPr lang="zh-CN" altLang="en-US" sz="2000" dirty="0">
              <a:latin typeface="微软雅黑" panose="020B0503020204020204" pitchFamily="34" charset="-122"/>
              <a:ea typeface="微软雅黑" panose="020B0503020204020204" pitchFamily="34" charset="-122"/>
            </a:endParaRPr>
          </a:p>
          <a:p>
            <a:pPr marL="457200" indent="-457200"/>
            <a:r>
              <a:rPr lang="zh-CN" altLang="en-US" sz="2000" dirty="0">
                <a:latin typeface="微软雅黑" panose="020B0503020204020204" pitchFamily="34" charset="-122"/>
                <a:ea typeface="微软雅黑" panose="020B0503020204020204" pitchFamily="34" charset="-122"/>
              </a:rPr>
              <a:t>例如：</a:t>
            </a:r>
            <a:endParaRPr lang="zh-CN" altLang="en-US" sz="2000" dirty="0">
              <a:latin typeface="微软雅黑" panose="020B0503020204020204" pitchFamily="34" charset="-122"/>
              <a:ea typeface="微软雅黑" panose="020B0503020204020204" pitchFamily="34" charset="-122"/>
            </a:endParaRPr>
          </a:p>
          <a:p>
            <a:pPr marL="457200" indent="-457200"/>
            <a:endParaRPr lang="zh-CN" altLang="en-US" sz="2000" dirty="0"/>
          </a:p>
          <a:p>
            <a:pPr marL="457200" indent="-457200">
              <a:buNone/>
            </a:pPr>
            <a:endParaRPr lang="zh-CN" altLang="en-US" sz="2000" dirty="0"/>
          </a:p>
        </p:txBody>
      </p:sp>
      <p:graphicFrame>
        <p:nvGraphicFramePr>
          <p:cNvPr id="94212" name="Object 6"/>
          <p:cNvGraphicFramePr>
            <a:graphicFrameLocks noGrp="1" noChangeAspect="1"/>
          </p:cNvGraphicFramePr>
          <p:nvPr>
            <p:ph sz="half" idx="2"/>
          </p:nvPr>
        </p:nvGraphicFramePr>
        <p:xfrm>
          <a:off x="1040506" y="3223260"/>
          <a:ext cx="6553200" cy="1295400"/>
        </p:xfrm>
        <a:graphic>
          <a:graphicData uri="http://schemas.openxmlformats.org/presentationml/2006/ole">
            <mc:AlternateContent xmlns:mc="http://schemas.openxmlformats.org/markup-compatibility/2006">
              <mc:Choice xmlns:v="urn:schemas-microsoft-com:vml" Requires="v">
                <p:oleObj spid="_x0000_s0" name="公式" r:id="rId1" imgW="2590800" imgH="736600" progId="Equation.3">
                  <p:embed/>
                </p:oleObj>
              </mc:Choice>
              <mc:Fallback>
                <p:oleObj name="公式" r:id="rId1" imgW="2590800" imgH="736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506" y="3223260"/>
                        <a:ext cx="65532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3" name="文本框 2"/>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9" name="Rectangle 3"/>
          <p:cNvSpPr txBox="1">
            <a:spLocks noChangeArrowheads="1"/>
          </p:cNvSpPr>
          <p:nvPr/>
        </p:nvSpPr>
        <p:spPr>
          <a:xfrm>
            <a:off x="392805" y="1204740"/>
            <a:ext cx="11077145" cy="4876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80000"/>
              </a:lnSpc>
            </a:pPr>
            <a:r>
              <a:rPr lang="zh-CN" altLang="en-US" sz="1800" dirty="0">
                <a:latin typeface="微软雅黑" panose="020B0503020204020204" pitchFamily="34" charset="-122"/>
                <a:ea typeface="微软雅黑" panose="020B0503020204020204" pitchFamily="34" charset="-122"/>
              </a:rPr>
              <a:t>求解过程：</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rPr>
              <a:t>分别建立表长为</a:t>
            </a:r>
            <a:r>
              <a:rPr lang="en-US" altLang="zh-CN" sz="1800" i="1"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的一元多项式</a:t>
            </a:r>
            <a:r>
              <a:rPr lang="en-US" altLang="zh-CN" sz="1800" i="1" dirty="0">
                <a:latin typeface="微软雅黑" panose="020B0503020204020204" pitchFamily="34" charset="-122"/>
                <a:ea typeface="微软雅黑" panose="020B0503020204020204" pitchFamily="34" charset="-122"/>
              </a:rPr>
              <a:t>Pa</a:t>
            </a:r>
            <a:r>
              <a:rPr lang="zh-CN" altLang="en-US" sz="1800" dirty="0">
                <a:latin typeface="微软雅黑" panose="020B0503020204020204" pitchFamily="34" charset="-122"/>
                <a:ea typeface="微软雅黑" panose="020B0503020204020204" pitchFamily="34" charset="-122"/>
              </a:rPr>
              <a:t>及表长为</a:t>
            </a:r>
            <a:r>
              <a:rPr lang="en-US" altLang="zh-CN" sz="1800" i="1"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的一元多项式</a:t>
            </a:r>
            <a:r>
              <a:rPr lang="en-US" altLang="zh-CN" sz="1800" i="1" dirty="0">
                <a:latin typeface="微软雅黑" panose="020B0503020204020204" pitchFamily="34" charset="-122"/>
                <a:ea typeface="微软雅黑" panose="020B0503020204020204" pitchFamily="34" charset="-122"/>
              </a:rPr>
              <a:t>Pb</a:t>
            </a:r>
            <a:r>
              <a:rPr lang="zh-CN" altLang="en-US" sz="1800" dirty="0">
                <a:latin typeface="微软雅黑" panose="020B0503020204020204" pitchFamily="34" charset="-122"/>
                <a:ea typeface="微软雅黑" panose="020B0503020204020204" pitchFamily="34" charset="-122"/>
              </a:rPr>
              <a:t>。 </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(2)  </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 1; j = 1; k = 1; </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(3) </a:t>
            </a:r>
            <a:r>
              <a:rPr lang="zh-CN" altLang="en-US" sz="1800" dirty="0">
                <a:latin typeface="微软雅黑" panose="020B0503020204020204" pitchFamily="34" charset="-122"/>
                <a:ea typeface="微软雅黑" panose="020B0503020204020204" pitchFamily="34" charset="-122"/>
              </a:rPr>
              <a:t>当</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&lt;= n</a:t>
            </a:r>
            <a:r>
              <a:rPr lang="en-US" altLang="zh-CN" sz="1800" i="1"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&amp;&amp; j &lt;= m</a:t>
            </a:r>
            <a:r>
              <a:rPr lang="zh-CN" altLang="en-US" sz="1800" dirty="0">
                <a:latin typeface="微软雅黑" panose="020B0503020204020204" pitchFamily="34" charset="-122"/>
                <a:ea typeface="微软雅黑" panose="020B0503020204020204" pitchFamily="34" charset="-122"/>
              </a:rPr>
              <a:t>时重复步骤</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(5)</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(4) </a:t>
            </a:r>
            <a:r>
              <a:rPr lang="en-US" altLang="zh-CN" sz="1800" i="1" dirty="0">
                <a:latin typeface="微软雅黑" panose="020B0503020204020204" pitchFamily="34" charset="-122"/>
                <a:ea typeface="微软雅黑" panose="020B0503020204020204" pitchFamily="34" charset="-122"/>
              </a:rPr>
              <a:t>Pa</a:t>
            </a:r>
            <a:r>
              <a:rPr lang="zh-CN" altLang="en-US" sz="1800" dirty="0">
                <a:latin typeface="微软雅黑" panose="020B0503020204020204" pitchFamily="34" charset="-122"/>
                <a:ea typeface="微软雅黑" panose="020B0503020204020204" pitchFamily="34" charset="-122"/>
              </a:rPr>
              <a:t>的第</a:t>
            </a:r>
            <a:r>
              <a:rPr lang="en-US" altLang="zh-CN" sz="1800" i="1" dirty="0" err="1">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项给</a:t>
            </a:r>
            <a:r>
              <a:rPr lang="en-US" altLang="zh-CN" sz="1800" i="1" dirty="0">
                <a:latin typeface="微软雅黑" panose="020B0503020204020204" pitchFamily="34" charset="-122"/>
                <a:ea typeface="微软雅黑" panose="020B0503020204020204" pitchFamily="34" charset="-122"/>
              </a:rPr>
              <a:t>e</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a:t>
            </a:r>
            <a:r>
              <a:rPr lang="en-US" altLang="zh-CN" sz="1800" i="1" dirty="0">
                <a:latin typeface="微软雅黑" panose="020B0503020204020204" pitchFamily="34" charset="-122"/>
                <a:ea typeface="微软雅黑" panose="020B0503020204020204" pitchFamily="34" charset="-122"/>
              </a:rPr>
              <a:t>Pb</a:t>
            </a:r>
            <a:r>
              <a:rPr lang="zh-CN" altLang="en-US" sz="1800" dirty="0">
                <a:latin typeface="微软雅黑" panose="020B0503020204020204" pitchFamily="34" charset="-122"/>
                <a:ea typeface="微软雅黑" panose="020B0503020204020204" pitchFamily="34" charset="-122"/>
              </a:rPr>
              <a:t>的第</a:t>
            </a:r>
            <a:r>
              <a:rPr lang="en-US" altLang="zh-CN" sz="1800" i="1" dirty="0">
                <a:latin typeface="微软雅黑" panose="020B0503020204020204" pitchFamily="34" charset="-122"/>
                <a:ea typeface="微软雅黑" panose="020B0503020204020204" pitchFamily="34" charset="-122"/>
              </a:rPr>
              <a:t>j</a:t>
            </a:r>
            <a:r>
              <a:rPr lang="zh-CN" altLang="en-US" sz="1800" dirty="0">
                <a:latin typeface="微软雅黑" panose="020B0503020204020204" pitchFamily="34" charset="-122"/>
                <a:ea typeface="微软雅黑" panose="020B0503020204020204" pitchFamily="34" charset="-122"/>
              </a:rPr>
              <a:t>项给</a:t>
            </a:r>
            <a:r>
              <a:rPr lang="en-US" altLang="zh-CN" sz="1800" i="1" dirty="0">
                <a:latin typeface="微软雅黑" panose="020B0503020204020204" pitchFamily="34" charset="-122"/>
                <a:ea typeface="微软雅黑" panose="020B0503020204020204" pitchFamily="34" charset="-122"/>
              </a:rPr>
              <a:t>e</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(5) </a:t>
            </a:r>
            <a:r>
              <a:rPr lang="zh-CN" altLang="en-US" sz="1800" dirty="0">
                <a:latin typeface="微软雅黑" panose="020B0503020204020204" pitchFamily="34" charset="-122"/>
                <a:ea typeface="微软雅黑" panose="020B0503020204020204" pitchFamily="34" charset="-122"/>
              </a:rPr>
              <a:t>对</a:t>
            </a:r>
            <a:r>
              <a:rPr lang="en-US" altLang="zh-CN" sz="1800" i="1" dirty="0">
                <a:latin typeface="微软雅黑" panose="020B0503020204020204" pitchFamily="34" charset="-122"/>
                <a:ea typeface="微软雅黑" panose="020B0503020204020204" pitchFamily="34" charset="-122"/>
              </a:rPr>
              <a:t>e</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和</a:t>
            </a:r>
            <a:r>
              <a:rPr lang="en-US" altLang="zh-CN" sz="1800" i="1" dirty="0">
                <a:latin typeface="微软雅黑" panose="020B0503020204020204" pitchFamily="34" charset="-122"/>
                <a:ea typeface="微软雅黑" panose="020B0503020204020204" pitchFamily="34" charset="-122"/>
              </a:rPr>
              <a:t>e</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的指数部分作比较：</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zh-CN" altLang="en-US" sz="1800" dirty="0">
                <a:latin typeface="微软雅黑" panose="020B0503020204020204" pitchFamily="34" charset="-122"/>
                <a:ea typeface="微软雅黑" panose="020B0503020204020204" pitchFamily="34" charset="-122"/>
              </a:rPr>
              <a:t>		若</a:t>
            </a:r>
            <a:r>
              <a:rPr lang="en-US" altLang="zh-CN" sz="1800" dirty="0">
                <a:latin typeface="微软雅黑" panose="020B0503020204020204" pitchFamily="34" charset="-122"/>
                <a:ea typeface="微软雅黑" panose="020B0503020204020204" pitchFamily="34" charset="-122"/>
              </a:rPr>
              <a:t>e1.expn &lt; e2.expn  </a:t>
            </a:r>
            <a:r>
              <a:rPr lang="zh-CN" altLang="en-US" sz="1800" dirty="0">
                <a:latin typeface="微软雅黑" panose="020B0503020204020204" pitchFamily="34" charset="-122"/>
                <a:ea typeface="微软雅黑" panose="020B0503020204020204" pitchFamily="34" charset="-122"/>
              </a:rPr>
              <a:t>则将</a:t>
            </a:r>
            <a:r>
              <a:rPr lang="en-US" altLang="zh-CN" sz="1800" i="1" dirty="0">
                <a:latin typeface="微软雅黑" panose="020B0503020204020204" pitchFamily="34" charset="-122"/>
                <a:ea typeface="微软雅黑" panose="020B0503020204020204" pitchFamily="34" charset="-122"/>
              </a:rPr>
              <a:t>e</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插入至</a:t>
            </a:r>
            <a:r>
              <a:rPr lang="en-US" altLang="zh-CN" sz="1800" i="1"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表的第</a:t>
            </a:r>
            <a:r>
              <a:rPr lang="en-US" altLang="zh-CN" sz="1800" i="1"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个位置</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 k ++;</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若</a:t>
            </a:r>
            <a:r>
              <a:rPr lang="en-US" altLang="zh-CN" sz="1800" dirty="0">
                <a:latin typeface="微软雅黑" panose="020B0503020204020204" pitchFamily="34" charset="-122"/>
                <a:ea typeface="微软雅黑" panose="020B0503020204020204" pitchFamily="34" charset="-122"/>
              </a:rPr>
              <a:t>e1.expn &gt; e2.expn  </a:t>
            </a:r>
            <a:r>
              <a:rPr lang="zh-CN" altLang="en-US" sz="1800" dirty="0">
                <a:latin typeface="微软雅黑" panose="020B0503020204020204" pitchFamily="34" charset="-122"/>
                <a:ea typeface="微软雅黑" panose="020B0503020204020204" pitchFamily="34" charset="-122"/>
              </a:rPr>
              <a:t>则将</a:t>
            </a:r>
            <a:r>
              <a:rPr lang="en-US" altLang="zh-CN" sz="1800" dirty="0">
                <a:latin typeface="微软雅黑" panose="020B0503020204020204" pitchFamily="34" charset="-122"/>
                <a:ea typeface="微软雅黑" panose="020B0503020204020204" pitchFamily="34" charset="-122"/>
              </a:rPr>
              <a:t>e2</a:t>
            </a:r>
            <a:r>
              <a:rPr lang="zh-CN" altLang="en-US" sz="1800" dirty="0">
                <a:latin typeface="微软雅黑" panose="020B0503020204020204" pitchFamily="34" charset="-122"/>
                <a:ea typeface="微软雅黑" panose="020B0503020204020204" pitchFamily="34" charset="-122"/>
              </a:rPr>
              <a:t>插入至</a:t>
            </a:r>
            <a:r>
              <a:rPr lang="en-US" altLang="zh-CN" sz="1800"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表的第</a:t>
            </a:r>
            <a:r>
              <a:rPr lang="en-US" altLang="zh-CN" sz="1800" i="1"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个位置</a:t>
            </a:r>
            <a:r>
              <a:rPr lang="en-US" altLang="zh-CN" sz="1800" dirty="0">
                <a:latin typeface="微软雅黑" panose="020B0503020204020204" pitchFamily="34" charset="-122"/>
                <a:ea typeface="微软雅黑" panose="020B0503020204020204" pitchFamily="34" charset="-122"/>
              </a:rPr>
              <a:t>, j ++; k ++;</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若</a:t>
            </a:r>
            <a:r>
              <a:rPr lang="en-US" altLang="zh-CN" sz="1800" dirty="0">
                <a:latin typeface="微软雅黑" panose="020B0503020204020204" pitchFamily="34" charset="-122"/>
                <a:ea typeface="微软雅黑" panose="020B0503020204020204" pitchFamily="34" charset="-122"/>
              </a:rPr>
              <a:t>e1.expn == e2.expn </a:t>
            </a:r>
            <a:r>
              <a:rPr lang="zh-CN" altLang="en-US" sz="1800" dirty="0">
                <a:latin typeface="微软雅黑" panose="020B0503020204020204" pitchFamily="34" charset="-122"/>
                <a:ea typeface="微软雅黑" panose="020B0503020204020204" pitchFamily="34" charset="-122"/>
              </a:rPr>
              <a:t>则</a:t>
            </a:r>
            <a:r>
              <a:rPr lang="en-US" altLang="zh-CN" sz="1800" dirty="0" err="1">
                <a:latin typeface="微软雅黑" panose="020B0503020204020204" pitchFamily="34" charset="-122"/>
                <a:ea typeface="微软雅黑" panose="020B0503020204020204" pitchFamily="34" charset="-122"/>
              </a:rPr>
              <a:t>e.coef</a:t>
            </a:r>
            <a:r>
              <a:rPr lang="en-US" altLang="zh-CN" sz="1800" dirty="0">
                <a:latin typeface="微软雅黑" panose="020B0503020204020204" pitchFamily="34" charset="-122"/>
                <a:ea typeface="微软雅黑" panose="020B0503020204020204" pitchFamily="34" charset="-122"/>
              </a:rPr>
              <a:t> = e1.coef + e2.coef;</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zh-CN" altLang="en-US" sz="1800" dirty="0">
                <a:latin typeface="微软雅黑" panose="020B0503020204020204" pitchFamily="34" charset="-122"/>
                <a:ea typeface="微软雅黑" panose="020B0503020204020204" pitchFamily="34" charset="-122"/>
              </a:rPr>
              <a:t>                                  若</a:t>
            </a:r>
            <a:r>
              <a:rPr lang="en-US" altLang="zh-CN" sz="1800" dirty="0" err="1">
                <a:latin typeface="微软雅黑" panose="020B0503020204020204" pitchFamily="34" charset="-122"/>
                <a:ea typeface="微软雅黑" panose="020B0503020204020204" pitchFamily="34" charset="-122"/>
              </a:rPr>
              <a:t>e.coef</a:t>
            </a:r>
            <a:r>
              <a:rPr lang="en-US" altLang="zh-CN" sz="1800" dirty="0">
                <a:latin typeface="微软雅黑" panose="020B0503020204020204" pitchFamily="34" charset="-122"/>
                <a:ea typeface="微软雅黑" panose="020B0503020204020204" pitchFamily="34" charset="-122"/>
              </a:rPr>
              <a:t> == 0      </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zh-CN" altLang="en-US" sz="1800" dirty="0">
                <a:latin typeface="微软雅黑" panose="020B0503020204020204" pitchFamily="34" charset="-122"/>
                <a:ea typeface="微软雅黑" panose="020B0503020204020204" pitchFamily="34" charset="-122"/>
              </a:rPr>
              <a:t>                                                    则：</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j++</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zh-CN" altLang="en-US" sz="1800" dirty="0">
                <a:latin typeface="微软雅黑" panose="020B0503020204020204" pitchFamily="34" charset="-122"/>
                <a:ea typeface="微软雅黑" panose="020B0503020204020204" pitchFamily="34" charset="-122"/>
              </a:rPr>
              <a:t>                                  否则：</a:t>
            </a:r>
            <a:r>
              <a:rPr lang="en-US" altLang="zh-CN" sz="1800" dirty="0">
                <a:latin typeface="微软雅黑" panose="020B0503020204020204" pitchFamily="34" charset="-122"/>
                <a:ea typeface="微软雅黑" panose="020B0503020204020204" pitchFamily="34" charset="-122"/>
              </a:rPr>
              <a:t>e . </a:t>
            </a:r>
            <a:r>
              <a:rPr lang="en-US" altLang="zh-CN" sz="1800" dirty="0" err="1">
                <a:latin typeface="微软雅黑" panose="020B0503020204020204" pitchFamily="34" charset="-122"/>
                <a:ea typeface="微软雅黑" panose="020B0503020204020204" pitchFamily="34" charset="-122"/>
              </a:rPr>
              <a:t>expn</a:t>
            </a:r>
            <a:r>
              <a:rPr lang="en-US" altLang="zh-CN" sz="1800" dirty="0">
                <a:latin typeface="微软雅黑" panose="020B0503020204020204" pitchFamily="34" charset="-122"/>
                <a:ea typeface="微软雅黑" panose="020B0503020204020204" pitchFamily="34" charset="-122"/>
              </a:rPr>
              <a:t> = e1 . </a:t>
            </a:r>
            <a:r>
              <a:rPr lang="en-US" altLang="zh-CN" sz="1800" dirty="0" err="1">
                <a:latin typeface="微软雅黑" panose="020B0503020204020204" pitchFamily="34" charset="-122"/>
                <a:ea typeface="微软雅黑" panose="020B0503020204020204" pitchFamily="34" charset="-122"/>
              </a:rPr>
              <a:t>expn</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将</a:t>
            </a:r>
            <a:r>
              <a:rPr lang="en-US" altLang="zh-CN" sz="1800" dirty="0">
                <a:latin typeface="微软雅黑" panose="020B0503020204020204" pitchFamily="34" charset="-122"/>
                <a:ea typeface="微软雅黑" panose="020B0503020204020204" pitchFamily="34" charset="-122"/>
              </a:rPr>
              <a:t>e</a:t>
            </a:r>
            <a:r>
              <a:rPr lang="zh-CN" altLang="en-US" sz="1800" dirty="0">
                <a:latin typeface="微软雅黑" panose="020B0503020204020204" pitchFamily="34" charset="-122"/>
                <a:ea typeface="微软雅黑" panose="020B0503020204020204" pitchFamily="34" charset="-122"/>
              </a:rPr>
              <a:t>插入至</a:t>
            </a:r>
            <a:r>
              <a:rPr lang="en-US" altLang="zh-CN" sz="1800" i="1"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表的第</a:t>
            </a:r>
            <a:r>
              <a:rPr lang="en-US" altLang="zh-CN" sz="1800" i="1"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个位置，</a:t>
            </a:r>
            <a:endParaRPr lang="zh-CN" altLang="en-US" sz="1800" dirty="0">
              <a:latin typeface="微软雅黑" panose="020B0503020204020204" pitchFamily="34" charset="-122"/>
              <a:ea typeface="微软雅黑" panose="020B0503020204020204" pitchFamily="34" charset="-122"/>
            </a:endParaRPr>
          </a:p>
          <a:p>
            <a:pPr marL="457200" indent="-457200">
              <a:lnSpc>
                <a:spcPct val="80000"/>
              </a:lnSpc>
              <a:buFontTx/>
              <a:buNone/>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j++</a:t>
            </a:r>
            <a:r>
              <a:rPr lang="en-US" altLang="zh-CN" sz="1800" dirty="0">
                <a:latin typeface="微软雅黑" panose="020B0503020204020204" pitchFamily="34" charset="-122"/>
                <a:ea typeface="微软雅黑" panose="020B0503020204020204" pitchFamily="34" charset="-122"/>
              </a:rPr>
              <a:t>;  k++;</a:t>
            </a:r>
            <a:endParaRPr lang="en-US" altLang="zh-CN" sz="1800" dirty="0">
              <a:latin typeface="微软雅黑" panose="020B0503020204020204" pitchFamily="34" charset="-122"/>
              <a:ea typeface="微软雅黑" panose="020B0503020204020204" pitchFamily="34" charset="-122"/>
            </a:endParaRPr>
          </a:p>
          <a:p>
            <a:pPr marL="457200" indent="-457200">
              <a:lnSpc>
                <a:spcPct val="110000"/>
              </a:lnSpc>
              <a:buFontTx/>
              <a:buNone/>
            </a:pPr>
            <a:r>
              <a:rPr lang="en-US" altLang="zh-CN" sz="1800" dirty="0">
                <a:latin typeface="微软雅黑" panose="020B0503020204020204" pitchFamily="34" charset="-122"/>
                <a:ea typeface="微软雅黑" panose="020B0503020204020204" pitchFamily="34" charset="-122"/>
              </a:rPr>
              <a:t>(6) </a:t>
            </a:r>
            <a:r>
              <a:rPr lang="zh-CN" altLang="en-US" sz="1800" dirty="0">
                <a:latin typeface="微软雅黑" panose="020B0503020204020204" pitchFamily="34" charset="-122"/>
                <a:ea typeface="微软雅黑" panose="020B0503020204020204" pitchFamily="34" charset="-122"/>
              </a:rPr>
              <a:t>若</a:t>
            </a:r>
            <a:r>
              <a:rPr lang="en-US" altLang="zh-CN" sz="1800" dirty="0" err="1">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 &gt; </a:t>
            </a:r>
            <a:r>
              <a:rPr lang="en-US" altLang="zh-CN" sz="1800" i="1"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，则将</a:t>
            </a:r>
            <a:r>
              <a:rPr lang="en-US" altLang="zh-CN" sz="1800" i="1" dirty="0">
                <a:latin typeface="微软雅黑" panose="020B0503020204020204" pitchFamily="34" charset="-122"/>
                <a:ea typeface="微软雅黑" panose="020B0503020204020204" pitchFamily="34" charset="-122"/>
              </a:rPr>
              <a:t>Pa</a:t>
            </a:r>
            <a:r>
              <a:rPr lang="zh-CN" altLang="en-US" sz="1800" dirty="0">
                <a:latin typeface="微软雅黑" panose="020B0503020204020204" pitchFamily="34" charset="-122"/>
                <a:ea typeface="微软雅黑" panose="020B0503020204020204" pitchFamily="34" charset="-122"/>
              </a:rPr>
              <a:t>表中剩余数据元素复制至</a:t>
            </a:r>
            <a:r>
              <a:rPr lang="en-US" altLang="zh-CN" sz="1800" i="1"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表的表尾。否则，将</a:t>
            </a:r>
            <a:r>
              <a:rPr lang="en-US" altLang="zh-CN" sz="1800" i="1" dirty="0">
                <a:latin typeface="微软雅黑" panose="020B0503020204020204" pitchFamily="34" charset="-122"/>
                <a:ea typeface="微软雅黑" panose="020B0503020204020204" pitchFamily="34" charset="-122"/>
              </a:rPr>
              <a:t>Pb</a:t>
            </a:r>
            <a:r>
              <a:rPr lang="zh-CN" altLang="en-US" sz="1800" dirty="0">
                <a:latin typeface="微软雅黑" panose="020B0503020204020204" pitchFamily="34" charset="-122"/>
                <a:ea typeface="微软雅黑" panose="020B0503020204020204" pitchFamily="34" charset="-122"/>
              </a:rPr>
              <a:t>表中剩余数据元素复制至</a:t>
            </a:r>
            <a:r>
              <a:rPr lang="en-US" altLang="zh-CN" sz="1800" i="1"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表的表尾。</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blinds(horizontal)">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blinds(horizontal)">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blinds(horizontal)">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blinds(horizontal)">
                                      <p:cBhvr>
                                        <p:cTn id="22" dur="500"/>
                                        <p:tgtEl>
                                          <p:spTgt spid="9">
                                            <p:txEl>
                                              <p:pRg st="4" end="4"/>
                                            </p:txEl>
                                          </p:spTgt>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blinds(horizontal)">
                                      <p:cBhvr>
                                        <p:cTn id="26" dur="500"/>
                                        <p:tgtEl>
                                          <p:spTgt spid="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blinds(horizontal)">
                                      <p:cBhvr>
                                        <p:cTn id="31" dur="500"/>
                                        <p:tgtEl>
                                          <p:spTgt spid="9">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blinds(horizontal)">
                                      <p:cBhvr>
                                        <p:cTn id="36" dur="500"/>
                                        <p:tgtEl>
                                          <p:spTgt spid="9">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9">
                                            <p:txEl>
                                              <p:pRg st="8" end="8"/>
                                            </p:txEl>
                                          </p:spTgt>
                                        </p:tgtEl>
                                        <p:attrNameLst>
                                          <p:attrName>style.visibility</p:attrName>
                                        </p:attrNameLst>
                                      </p:cBhvr>
                                      <p:to>
                                        <p:strVal val="visible"/>
                                      </p:to>
                                    </p:set>
                                    <p:animEffect transition="in" filter="blinds(horizontal)">
                                      <p:cBhvr>
                                        <p:cTn id="41" dur="500"/>
                                        <p:tgtEl>
                                          <p:spTgt spid="9">
                                            <p:txEl>
                                              <p:pRg st="8" end="8"/>
                                            </p:txEl>
                                          </p:spTgt>
                                        </p:tgtEl>
                                      </p:cBhvr>
                                    </p:animEffect>
                                  </p:childTnLst>
                                </p:cTn>
                              </p:par>
                            </p:childTnLst>
                          </p:cTn>
                        </p:par>
                        <p:par>
                          <p:cTn id="42" fill="hold">
                            <p:stCondLst>
                              <p:cond delay="500"/>
                            </p:stCondLst>
                            <p:childTnLst>
                              <p:par>
                                <p:cTn id="43" presetID="3" presetClass="entr" presetSubtype="10" fill="hold" nodeType="afterEffect">
                                  <p:stCondLst>
                                    <p:cond delay="0"/>
                                  </p:stCondLst>
                                  <p:childTnLst>
                                    <p:set>
                                      <p:cBhvr>
                                        <p:cTn id="44" dur="1" fill="hold">
                                          <p:stCondLst>
                                            <p:cond delay="0"/>
                                          </p:stCondLst>
                                        </p:cTn>
                                        <p:tgtEl>
                                          <p:spTgt spid="9">
                                            <p:txEl>
                                              <p:pRg st="9" end="9"/>
                                            </p:txEl>
                                          </p:spTgt>
                                        </p:tgtEl>
                                        <p:attrNameLst>
                                          <p:attrName>style.visibility</p:attrName>
                                        </p:attrNameLst>
                                      </p:cBhvr>
                                      <p:to>
                                        <p:strVal val="visible"/>
                                      </p:to>
                                    </p:set>
                                    <p:animEffect transition="in" filter="blinds(horizontal)">
                                      <p:cBhvr>
                                        <p:cTn id="45" dur="500"/>
                                        <p:tgtEl>
                                          <p:spTgt spid="9">
                                            <p:txEl>
                                              <p:pRg st="9" end="9"/>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9">
                                            <p:txEl>
                                              <p:pRg st="10" end="10"/>
                                            </p:txEl>
                                          </p:spTgt>
                                        </p:tgtEl>
                                        <p:attrNameLst>
                                          <p:attrName>style.visibility</p:attrName>
                                        </p:attrNameLst>
                                      </p:cBhvr>
                                      <p:to>
                                        <p:strVal val="visible"/>
                                      </p:to>
                                    </p:set>
                                    <p:animEffect transition="in" filter="blinds(horizontal)">
                                      <p:cBhvr>
                                        <p:cTn id="48" dur="500"/>
                                        <p:tgtEl>
                                          <p:spTgt spid="9">
                                            <p:txEl>
                                              <p:pRg st="10" end="10"/>
                                            </p:txEl>
                                          </p:spTgt>
                                        </p:tgtEl>
                                      </p:cBhvr>
                                    </p:animEffect>
                                  </p:childTnLst>
                                </p:cTn>
                              </p:par>
                            </p:childTnLst>
                          </p:cTn>
                        </p:par>
                        <p:par>
                          <p:cTn id="49" fill="hold">
                            <p:stCondLst>
                              <p:cond delay="1000"/>
                            </p:stCondLst>
                            <p:childTnLst>
                              <p:par>
                                <p:cTn id="50" presetID="3" presetClass="entr" presetSubtype="10" fill="hold" nodeType="afterEffect">
                                  <p:stCondLst>
                                    <p:cond delay="0"/>
                                  </p:stCondLst>
                                  <p:childTnLst>
                                    <p:set>
                                      <p:cBhvr>
                                        <p:cTn id="51" dur="1" fill="hold">
                                          <p:stCondLst>
                                            <p:cond delay="0"/>
                                          </p:stCondLst>
                                        </p:cTn>
                                        <p:tgtEl>
                                          <p:spTgt spid="9">
                                            <p:txEl>
                                              <p:pRg st="11" end="11"/>
                                            </p:txEl>
                                          </p:spTgt>
                                        </p:tgtEl>
                                        <p:attrNameLst>
                                          <p:attrName>style.visibility</p:attrName>
                                        </p:attrNameLst>
                                      </p:cBhvr>
                                      <p:to>
                                        <p:strVal val="visible"/>
                                      </p:to>
                                    </p:set>
                                    <p:animEffect transition="in" filter="blinds(horizontal)">
                                      <p:cBhvr>
                                        <p:cTn id="52" dur="500"/>
                                        <p:tgtEl>
                                          <p:spTgt spid="9">
                                            <p:txEl>
                                              <p:pRg st="11" end="11"/>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animEffect transition="in" filter="blinds(horizontal)">
                                      <p:cBhvr>
                                        <p:cTn id="55" dur="500"/>
                                        <p:tgtEl>
                                          <p:spTgt spid="9">
                                            <p:txEl>
                                              <p:pRg st="12" end="1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9">
                                            <p:txEl>
                                              <p:pRg st="13" end="13"/>
                                            </p:txEl>
                                          </p:spTgt>
                                        </p:tgtEl>
                                        <p:attrNameLst>
                                          <p:attrName>style.visibility</p:attrName>
                                        </p:attrNameLst>
                                      </p:cBhvr>
                                      <p:to>
                                        <p:strVal val="visible"/>
                                      </p:to>
                                    </p:set>
                                    <p:animEffect transition="in" filter="blinds(horizontal)">
                                      <p:cBhvr>
                                        <p:cTn id="60" dur="500"/>
                                        <p:tgtEl>
                                          <p:spTgt spid="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457200" y="1281372"/>
            <a:ext cx="8229600" cy="4890828"/>
          </a:xfrm>
        </p:spPr>
        <p:txBody>
          <a:bodyPr>
            <a:normAutofit/>
          </a:bodyPr>
          <a:lstStyle/>
          <a:p>
            <a:pPr marL="0" indent="0">
              <a:buFontTx/>
              <a:buNone/>
              <a:defRPr/>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定义单项式 </a:t>
            </a:r>
            <a:endParaRPr lang="zh-CN" altLang="en-US"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class Monomial {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public: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coef</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exp</a:t>
            </a: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friend </a:t>
            </a:r>
            <a:r>
              <a:rPr lang="en-US" altLang="zh-CN" sz="1800" dirty="0" err="1">
                <a:latin typeface="Times New Roman" panose="02020603050405020304" pitchFamily="18" charset="0"/>
                <a:cs typeface="Times New Roman" panose="02020603050405020304" pitchFamily="18" charset="0"/>
              </a:rPr>
              <a:t>bool</a:t>
            </a:r>
            <a:r>
              <a:rPr lang="en-US" altLang="zh-CN" sz="1800" dirty="0">
                <a:latin typeface="Times New Roman" panose="02020603050405020304" pitchFamily="18" charset="0"/>
                <a:cs typeface="Times New Roman" panose="02020603050405020304" pitchFamily="18" charset="0"/>
              </a:rPr>
              <a:t> operator!=(</a:t>
            </a:r>
            <a:r>
              <a:rPr lang="en-US" altLang="zh-CN" sz="1800" dirty="0" err="1">
                <a:latin typeface="Times New Roman" panose="02020603050405020304" pitchFamily="18" charset="0"/>
                <a:cs typeface="Times New Roman" panose="02020603050405020304" pitchFamily="18" charset="0"/>
              </a:rPr>
              <a:t>const</a:t>
            </a:r>
            <a:r>
              <a:rPr lang="en-US" altLang="zh-CN" sz="1800" dirty="0">
                <a:latin typeface="Times New Roman" panose="02020603050405020304" pitchFamily="18" charset="0"/>
                <a:cs typeface="Times New Roman" panose="02020603050405020304" pitchFamily="18" charset="0"/>
              </a:rPr>
              <a:t> Monomial &amp;, </a:t>
            </a:r>
            <a:r>
              <a:rPr lang="en-US" altLang="zh-CN" sz="1800" dirty="0" err="1">
                <a:latin typeface="Times New Roman" panose="02020603050405020304" pitchFamily="18" charset="0"/>
                <a:cs typeface="Times New Roman" panose="02020603050405020304" pitchFamily="18" charset="0"/>
              </a:rPr>
              <a:t>const</a:t>
            </a:r>
            <a:r>
              <a:rPr lang="en-US" altLang="zh-CN" sz="1800" dirty="0">
                <a:latin typeface="Times New Roman" panose="02020603050405020304" pitchFamily="18" charset="0"/>
                <a:cs typeface="Times New Roman" panose="02020603050405020304" pitchFamily="18" charset="0"/>
              </a:rPr>
              <a:t> Monomial &amp;);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重载</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运算符，用于比较两个单项式是否相等 </a:t>
            </a:r>
            <a:endParaRPr lang="zh-CN" altLang="en-US"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err="1">
                <a:latin typeface="Times New Roman" panose="02020603050405020304" pitchFamily="18" charset="0"/>
                <a:cs typeface="Times New Roman" panose="02020603050405020304" pitchFamily="18" charset="0"/>
              </a:rPr>
              <a:t>bool</a:t>
            </a:r>
            <a:r>
              <a:rPr lang="en-US" altLang="zh-CN" sz="1800" dirty="0">
                <a:latin typeface="Times New Roman" panose="02020603050405020304" pitchFamily="18" charset="0"/>
                <a:cs typeface="Times New Roman" panose="02020603050405020304" pitchFamily="18" charset="0"/>
              </a:rPr>
              <a:t> operator!=(</a:t>
            </a:r>
            <a:r>
              <a:rPr lang="en-US" altLang="zh-CN" sz="1800" dirty="0" err="1">
                <a:latin typeface="Times New Roman" panose="02020603050405020304" pitchFamily="18" charset="0"/>
                <a:cs typeface="Times New Roman" panose="02020603050405020304" pitchFamily="18" charset="0"/>
              </a:rPr>
              <a:t>const</a:t>
            </a:r>
            <a:r>
              <a:rPr lang="en-US" altLang="zh-CN" sz="1800" dirty="0">
                <a:latin typeface="Times New Roman" panose="02020603050405020304" pitchFamily="18" charset="0"/>
                <a:cs typeface="Times New Roman" panose="02020603050405020304" pitchFamily="18" charset="0"/>
              </a:rPr>
              <a:t> Monomial &amp;m1, </a:t>
            </a:r>
            <a:r>
              <a:rPr lang="en-US" altLang="zh-CN" sz="1800" dirty="0" err="1">
                <a:latin typeface="Times New Roman" panose="02020603050405020304" pitchFamily="18" charset="0"/>
                <a:cs typeface="Times New Roman" panose="02020603050405020304" pitchFamily="18" charset="0"/>
              </a:rPr>
              <a:t>const</a:t>
            </a:r>
            <a:r>
              <a:rPr lang="en-US" altLang="zh-CN" sz="1800" dirty="0">
                <a:latin typeface="Times New Roman" panose="02020603050405020304" pitchFamily="18" charset="0"/>
                <a:cs typeface="Times New Roman" panose="02020603050405020304" pitchFamily="18" charset="0"/>
              </a:rPr>
              <a:t> Monomial &amp;m2) {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return m1.coef!=m2.coef || m1.exp!=m2.exp;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marL="0" indent="0">
              <a:buFontTx/>
              <a:buNone/>
              <a:defRPr/>
            </a:pPr>
            <a:r>
              <a:rPr lang="en-US" altLang="zh-CN" sz="1800" dirty="0"/>
              <a:t>	</a:t>
            </a:r>
            <a:endParaRPr lang="en-US" altLang="zh-CN" sz="1800" dirty="0"/>
          </a:p>
          <a:p>
            <a:pPr>
              <a:defRPr/>
            </a:pP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2.4.3</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522514" y="1189567"/>
            <a:ext cx="8728018" cy="4474385"/>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457200" indent="-4572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重载</a:t>
            </a:r>
            <a:r>
              <a:rPr lang="en-US" altLang="zh-CN" sz="18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cs typeface="微软雅黑" panose="020B0503020204020204" pitchFamily="34" charset="-122"/>
              </a:rPr>
              <a:t>运算符，实现两个多项式相加</a:t>
            </a:r>
            <a:endParaRPr lang="zh-CN" altLang="en-US" sz="1800" b="0" dirty="0">
              <a:latin typeface="微软雅黑" panose="020B0503020204020204" pitchFamily="34" charset="-122"/>
              <a:ea typeface="微软雅黑" panose="020B0503020204020204" pitchFamily="34" charset="-122"/>
              <a:cs typeface="微软雅黑" panose="020B0503020204020204" pitchFamily="34" charset="-122"/>
            </a:endParaRPr>
          </a:p>
          <a:p>
            <a:pPr>
              <a:buFontTx/>
              <a:buNone/>
            </a:pPr>
            <a:r>
              <a:rPr lang="en-US" altLang="zh-CN" sz="1800" b="0" dirty="0">
                <a:cs typeface="Times New Roman" panose="02020603050405020304" pitchFamily="18" charset="0"/>
              </a:rPr>
              <a:t>Polynomial operator+(const Polynomial &amp;pa, const Polynomial &amp;pb)</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Polynomial pc;</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Monomial </a:t>
            </a:r>
            <a:r>
              <a:rPr lang="en-US" altLang="zh-CN" sz="1800" b="0" dirty="0" err="1">
                <a:cs typeface="Times New Roman" panose="02020603050405020304" pitchFamily="18" charset="0"/>
              </a:rPr>
              <a:t>ma,mb,mc</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int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=1, j=1;</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int la = </a:t>
            </a:r>
            <a:r>
              <a:rPr lang="en-US" altLang="zh-CN" sz="1800" b="0" dirty="0" err="1">
                <a:cs typeface="Times New Roman" panose="02020603050405020304" pitchFamily="18" charset="0"/>
              </a:rPr>
              <a:t>pa.Length</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int </a:t>
            </a:r>
            <a:r>
              <a:rPr lang="en-US" altLang="zh-CN" sz="1800" b="0" dirty="0" err="1">
                <a:cs typeface="Times New Roman" panose="02020603050405020304" pitchFamily="18" charset="0"/>
              </a:rPr>
              <a:t>lb</a:t>
            </a:r>
            <a:r>
              <a:rPr lang="en-US" altLang="zh-CN" sz="1800" b="0" dirty="0">
                <a:cs typeface="Times New Roman" panose="02020603050405020304" pitchFamily="18" charset="0"/>
              </a:rPr>
              <a:t> = </a:t>
            </a:r>
            <a:r>
              <a:rPr lang="en-US" altLang="zh-CN" sz="1800" b="0" dirty="0" err="1">
                <a:cs typeface="Times New Roman" panose="02020603050405020304" pitchFamily="18" charset="0"/>
              </a:rPr>
              <a:t>pb.Length</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while(</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 &lt;= la &amp;&amp; j &lt;= </a:t>
            </a:r>
            <a:r>
              <a:rPr lang="en-US" altLang="zh-CN" sz="1800" b="0" dirty="0" err="1">
                <a:cs typeface="Times New Roman" panose="02020603050405020304" pitchFamily="18" charset="0"/>
              </a:rPr>
              <a:t>lb</a:t>
            </a:r>
            <a:r>
              <a:rPr lang="en-US" altLang="zh-CN" sz="1800" b="0" dirty="0">
                <a:cs typeface="Times New Roman" panose="02020603050405020304" pitchFamily="18" charset="0"/>
              </a:rPr>
              <a:t>) {  </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pa.GetElem</a:t>
            </a:r>
            <a:r>
              <a:rPr lang="en-US" altLang="zh-CN" sz="1800" b="0" dirty="0">
                <a:cs typeface="Times New Roman" panose="02020603050405020304" pitchFamily="18" charset="0"/>
              </a:rPr>
              <a:t>(ma, </a:t>
            </a:r>
            <a:r>
              <a:rPr lang="en-US" altLang="zh-CN" sz="1800" b="0" dirty="0" err="1">
                <a:cs typeface="Times New Roman" panose="02020603050405020304" pitchFamily="18" charset="0"/>
              </a:rPr>
              <a:t>i</a:t>
            </a:r>
            <a:r>
              <a:rPr lang="en-US" altLang="zh-CN" sz="1800" b="0" dirty="0">
                <a:cs typeface="Times New Roman" panose="02020603050405020304" pitchFamily="18" charset="0"/>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err="1">
                <a:cs typeface="Times New Roman" panose="02020603050405020304" pitchFamily="18" charset="0"/>
              </a:rPr>
              <a:t>pb.GetElem</a:t>
            </a:r>
            <a:r>
              <a:rPr lang="en-US" altLang="zh-CN" sz="1800" b="0" dirty="0">
                <a:cs typeface="Times New Roman" panose="02020603050405020304" pitchFamily="18" charset="0"/>
              </a:rPr>
              <a:t>(mb, j);</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r>
              <a:rPr lang="en-US" altLang="zh-CN" sz="1800" b="0" dirty="0">
                <a:cs typeface="Times New Roman" panose="02020603050405020304" pitchFamily="18" charset="0"/>
                <a:hlinkClick r:id="rId1" action="ppaction://hlinksldjump"/>
              </a:rPr>
              <a:t>………</a:t>
            </a:r>
            <a:endParaRPr lang="en-US" altLang="zh-CN" sz="1800" b="0" dirty="0">
              <a:cs typeface="Times New Roman" panose="02020603050405020304" pitchFamily="18" charset="0"/>
            </a:endParaRPr>
          </a:p>
          <a:p>
            <a:pPr>
              <a:buFontTx/>
              <a:buNone/>
            </a:pPr>
            <a:r>
              <a:rPr lang="en-US" altLang="zh-CN" sz="1800" b="0" dirty="0">
                <a:cs typeface="Times New Roman" panose="02020603050405020304" pitchFamily="18" charset="0"/>
              </a:rPr>
              <a:t>     }</a:t>
            </a:r>
            <a:endParaRPr lang="en-US" altLang="zh-CN" sz="1800" b="0" dirty="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6" name="文本框 5"/>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606425" y="871220"/>
            <a:ext cx="8714105" cy="5622925"/>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457200" indent="-4572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b="0" dirty="0"/>
              <a:t>          if (</a:t>
            </a:r>
            <a:r>
              <a:rPr lang="en-US" altLang="zh-CN" sz="1800" b="0" dirty="0" err="1"/>
              <a:t>ma.exp</a:t>
            </a:r>
            <a:r>
              <a:rPr lang="en-US" altLang="zh-CN" sz="1800" b="0" dirty="0"/>
              <a:t> &lt; </a:t>
            </a:r>
            <a:r>
              <a:rPr lang="en-US" altLang="zh-CN" sz="1800" b="0" dirty="0" err="1"/>
              <a:t>mb.exp</a:t>
            </a:r>
            <a:r>
              <a:rPr lang="en-US" altLang="zh-CN" sz="1800" b="0" dirty="0"/>
              <a:t>) {</a:t>
            </a:r>
            <a:endParaRPr lang="en-US" altLang="zh-CN" sz="1800" b="0" dirty="0"/>
          </a:p>
          <a:p>
            <a:pPr>
              <a:buFontTx/>
              <a:buNone/>
            </a:pPr>
            <a:r>
              <a:rPr lang="en-US" altLang="zh-CN" sz="1800" b="0" dirty="0"/>
              <a:t>            </a:t>
            </a:r>
            <a:r>
              <a:rPr lang="en-US" altLang="zh-CN" sz="1800" b="0" dirty="0" err="1"/>
              <a:t>pc.AppendMonomial</a:t>
            </a:r>
            <a:r>
              <a:rPr lang="en-US" altLang="zh-CN" sz="1800" b="0" dirty="0"/>
              <a:t>(ma);</a:t>
            </a:r>
            <a:endParaRPr lang="en-US" altLang="zh-CN" sz="1800" b="0" dirty="0"/>
          </a:p>
          <a:p>
            <a:pPr>
              <a:buFontTx/>
              <a:buNone/>
            </a:pPr>
            <a:r>
              <a:rPr lang="en-US" altLang="zh-CN" sz="1800" b="0" dirty="0"/>
              <a:t>            </a:t>
            </a:r>
            <a:r>
              <a:rPr lang="en-US" altLang="zh-CN" sz="1800" b="0" dirty="0" err="1"/>
              <a:t>i</a:t>
            </a:r>
            <a:r>
              <a:rPr lang="en-US" altLang="zh-CN" sz="1800" b="0" dirty="0"/>
              <a:t>++;</a:t>
            </a:r>
            <a:endParaRPr lang="en-US" altLang="zh-CN" sz="1800" b="0" dirty="0"/>
          </a:p>
          <a:p>
            <a:pPr>
              <a:buFontTx/>
              <a:buNone/>
            </a:pPr>
            <a:r>
              <a:rPr lang="en-US" altLang="zh-CN" sz="1800" b="0" dirty="0"/>
              <a:t>           }</a:t>
            </a:r>
            <a:endParaRPr lang="en-US" altLang="zh-CN" sz="1800" b="0" dirty="0"/>
          </a:p>
          <a:p>
            <a:pPr>
              <a:buFontTx/>
              <a:buNone/>
            </a:pPr>
            <a:r>
              <a:rPr lang="en-US" altLang="zh-CN" sz="1800" b="0" dirty="0"/>
              <a:t>          else if (</a:t>
            </a:r>
            <a:r>
              <a:rPr lang="en-US" altLang="zh-CN" sz="1800" b="0" dirty="0" err="1"/>
              <a:t>ma.exp</a:t>
            </a:r>
            <a:r>
              <a:rPr lang="en-US" altLang="zh-CN" sz="1800" b="0" dirty="0"/>
              <a:t> &gt; </a:t>
            </a:r>
            <a:r>
              <a:rPr lang="en-US" altLang="zh-CN" sz="1800" b="0" dirty="0" err="1"/>
              <a:t>mb.exp</a:t>
            </a:r>
            <a:r>
              <a:rPr lang="en-US" altLang="zh-CN" sz="1800" b="0" dirty="0"/>
              <a:t>) {</a:t>
            </a:r>
            <a:endParaRPr lang="en-US" altLang="zh-CN" sz="1800" b="0" dirty="0"/>
          </a:p>
          <a:p>
            <a:pPr>
              <a:buFontTx/>
              <a:buNone/>
            </a:pPr>
            <a:r>
              <a:rPr lang="en-US" altLang="zh-CN" sz="1800" b="0" dirty="0"/>
              <a:t>                </a:t>
            </a:r>
            <a:r>
              <a:rPr lang="en-US" altLang="zh-CN" sz="1800" b="0" dirty="0" err="1"/>
              <a:t>pc.AppendMonomial</a:t>
            </a:r>
            <a:r>
              <a:rPr lang="en-US" altLang="zh-CN" sz="1800" b="0" dirty="0"/>
              <a:t>(mb);</a:t>
            </a:r>
            <a:endParaRPr lang="en-US" altLang="zh-CN" sz="1800" b="0" dirty="0"/>
          </a:p>
          <a:p>
            <a:pPr>
              <a:buFontTx/>
              <a:buNone/>
            </a:pPr>
            <a:r>
              <a:rPr lang="en-US" altLang="zh-CN" sz="1800" b="0" dirty="0"/>
              <a:t>                </a:t>
            </a:r>
            <a:r>
              <a:rPr lang="en-US" altLang="zh-CN" sz="1800" b="0" dirty="0" err="1"/>
              <a:t>j++</a:t>
            </a:r>
            <a:r>
              <a:rPr lang="en-US" altLang="zh-CN" sz="1800" b="0" dirty="0"/>
              <a:t>;</a:t>
            </a:r>
            <a:endParaRPr lang="en-US" altLang="zh-CN" sz="1800" b="0" dirty="0"/>
          </a:p>
          <a:p>
            <a:pPr>
              <a:buFontTx/>
              <a:buNone/>
            </a:pPr>
            <a:r>
              <a:rPr lang="en-US" altLang="zh-CN" sz="1800" b="0" dirty="0"/>
              <a:t>         }</a:t>
            </a:r>
            <a:endParaRPr lang="en-US" altLang="zh-CN" sz="1800" b="0" dirty="0"/>
          </a:p>
          <a:p>
            <a:pPr>
              <a:buFontTx/>
              <a:buNone/>
            </a:pPr>
            <a:r>
              <a:rPr lang="en-US" altLang="zh-CN" sz="1800" b="0" dirty="0"/>
              <a:t>         else{</a:t>
            </a:r>
            <a:endParaRPr lang="en-US" altLang="zh-CN" sz="1800" b="0" dirty="0"/>
          </a:p>
          <a:p>
            <a:pPr>
              <a:buFontTx/>
              <a:buNone/>
            </a:pPr>
            <a:r>
              <a:rPr lang="en-US" altLang="zh-CN" sz="1800" b="0" dirty="0"/>
              <a:t>               </a:t>
            </a:r>
            <a:r>
              <a:rPr lang="en-US" altLang="zh-CN" sz="1800" b="0" dirty="0" err="1"/>
              <a:t>mc.coef</a:t>
            </a:r>
            <a:r>
              <a:rPr lang="en-US" altLang="zh-CN" sz="1800" b="0" dirty="0"/>
              <a:t> = </a:t>
            </a:r>
            <a:r>
              <a:rPr lang="en-US" altLang="zh-CN" sz="1800" b="0" dirty="0" err="1"/>
              <a:t>ma.coef</a:t>
            </a:r>
            <a:r>
              <a:rPr lang="en-US" altLang="zh-CN" sz="1800" b="0" dirty="0"/>
              <a:t> + </a:t>
            </a:r>
            <a:r>
              <a:rPr lang="en-US" altLang="zh-CN" sz="1800" b="0" dirty="0" err="1"/>
              <a:t>mb.coef</a:t>
            </a:r>
            <a:r>
              <a:rPr lang="en-US" altLang="zh-CN" sz="1800" b="0" dirty="0"/>
              <a:t>;</a:t>
            </a:r>
            <a:endParaRPr lang="en-US" altLang="zh-CN" sz="1800" b="0" dirty="0"/>
          </a:p>
          <a:p>
            <a:pPr>
              <a:buFontTx/>
              <a:buNone/>
            </a:pPr>
            <a:r>
              <a:rPr lang="en-US" altLang="zh-CN" sz="1800" b="0" dirty="0"/>
              <a:t>               if (</a:t>
            </a:r>
            <a:r>
              <a:rPr lang="en-US" altLang="zh-CN" sz="1800" b="0" dirty="0" err="1"/>
              <a:t>mc.coef</a:t>
            </a:r>
            <a:r>
              <a:rPr lang="en-US" altLang="zh-CN" sz="1800" b="0" dirty="0"/>
              <a:t> != 0) {</a:t>
            </a:r>
            <a:endParaRPr lang="en-US" altLang="zh-CN" sz="1800" b="0" dirty="0"/>
          </a:p>
          <a:p>
            <a:pPr>
              <a:buFontTx/>
              <a:buNone/>
            </a:pPr>
            <a:r>
              <a:rPr lang="en-US" altLang="zh-CN" sz="1800" b="0" dirty="0"/>
              <a:t>                     </a:t>
            </a:r>
            <a:r>
              <a:rPr lang="en-US" altLang="zh-CN" sz="1800" b="0" dirty="0" err="1"/>
              <a:t>mc.exp</a:t>
            </a:r>
            <a:r>
              <a:rPr lang="en-US" altLang="zh-CN" sz="1800" b="0" dirty="0"/>
              <a:t> = </a:t>
            </a:r>
            <a:r>
              <a:rPr lang="en-US" altLang="zh-CN" sz="1800" b="0" dirty="0" err="1"/>
              <a:t>ma.exp</a:t>
            </a:r>
            <a:r>
              <a:rPr lang="en-US" altLang="zh-CN" sz="1800" b="0" dirty="0"/>
              <a:t>;</a:t>
            </a:r>
            <a:endParaRPr lang="en-US" altLang="zh-CN" sz="1800" b="0" dirty="0"/>
          </a:p>
          <a:p>
            <a:pPr>
              <a:buFontTx/>
              <a:buNone/>
            </a:pPr>
            <a:r>
              <a:rPr lang="en-US" altLang="zh-CN" sz="1800" b="0" dirty="0"/>
              <a:t>                     </a:t>
            </a:r>
            <a:r>
              <a:rPr lang="en-US" altLang="zh-CN" sz="1800" b="0" dirty="0" err="1"/>
              <a:t>pc.AppendMonomial</a:t>
            </a:r>
            <a:r>
              <a:rPr lang="en-US" altLang="zh-CN" sz="1800" b="0" dirty="0"/>
              <a:t>(mc);</a:t>
            </a:r>
            <a:endParaRPr lang="en-US" altLang="zh-CN" sz="1800" b="0" dirty="0"/>
          </a:p>
          <a:p>
            <a:pPr>
              <a:buFontTx/>
              <a:buNone/>
            </a:pPr>
            <a:r>
              <a:rPr lang="en-US" altLang="zh-CN" sz="1800" b="0" dirty="0"/>
              <a:t>               }</a:t>
            </a:r>
            <a:endParaRPr lang="en-US" altLang="zh-CN" sz="1800" b="0" dirty="0"/>
          </a:p>
          <a:p>
            <a:pPr>
              <a:buFontTx/>
              <a:buNone/>
            </a:pPr>
            <a:r>
              <a:rPr lang="en-US" altLang="zh-CN" sz="1800" b="0" dirty="0"/>
              <a:t>            </a:t>
            </a:r>
            <a:r>
              <a:rPr lang="en-US" altLang="zh-CN" sz="1800" b="0" dirty="0" err="1"/>
              <a:t>i</a:t>
            </a:r>
            <a:r>
              <a:rPr lang="en-US" altLang="zh-CN" sz="1800" b="0" dirty="0"/>
              <a:t>++;</a:t>
            </a:r>
            <a:endParaRPr lang="en-US" altLang="zh-CN" sz="1800" b="0" dirty="0"/>
          </a:p>
          <a:p>
            <a:pPr>
              <a:buFontTx/>
              <a:buNone/>
            </a:pPr>
            <a:r>
              <a:rPr lang="en-US" altLang="zh-CN" sz="1800" b="0" dirty="0"/>
              <a:t>            </a:t>
            </a:r>
            <a:r>
              <a:rPr lang="en-US" altLang="zh-CN" sz="1800" b="0" dirty="0" err="1"/>
              <a:t>j++</a:t>
            </a:r>
            <a:r>
              <a:rPr lang="en-US" altLang="zh-CN" sz="1800" b="0" dirty="0"/>
              <a:t>;</a:t>
            </a:r>
            <a:endParaRPr lang="en-US" altLang="zh-CN" sz="1800" b="0" dirty="0"/>
          </a:p>
          <a:p>
            <a:pPr>
              <a:buFontTx/>
              <a:buNone/>
            </a:pPr>
            <a:r>
              <a:rPr lang="en-US" altLang="zh-CN" sz="1800" b="0" dirty="0"/>
              <a:t>}</a:t>
            </a:r>
            <a:endParaRPr lang="en-US" altLang="zh-CN" sz="1800" b="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2" name="内容占位符 2"/>
          <p:cNvSpPr txBox="1"/>
          <p:nvPr/>
        </p:nvSpPr>
        <p:spPr>
          <a:xfrm>
            <a:off x="522514" y="1031786"/>
            <a:ext cx="82296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8" name="文本框 7"/>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9" name="Rectangle 4"/>
          <p:cNvSpPr>
            <a:spLocks noChangeArrowheads="1"/>
          </p:cNvSpPr>
          <p:nvPr/>
        </p:nvSpPr>
        <p:spPr bwMode="auto">
          <a:xfrm>
            <a:off x="742315" y="1281430"/>
            <a:ext cx="7544435" cy="4545330"/>
          </a:xfrm>
          <a:prstGeom prst="rect">
            <a:avLst/>
          </a:prstGeom>
          <a:solidFill>
            <a:schemeClr val="accent1">
              <a:lumMod val="20000"/>
              <a:lumOff val="80000"/>
            </a:schemeClr>
          </a:solidFill>
          <a:ln w="3175" algn="ctr">
            <a:solidFill>
              <a:schemeClr val="tx2"/>
            </a:solidFill>
            <a:miter lim="800000"/>
          </a:ln>
          <a:effectLst>
            <a:outerShdw dist="50800" dir="2700000" algn="tl" rotWithShape="0">
              <a:srgbClr val="000000">
                <a:alpha val="39998"/>
              </a:srgbClr>
            </a:outerShdw>
          </a:effectLst>
        </p:spPr>
        <p:txBody>
          <a:bodyPr/>
          <a:lstStyle>
            <a:lvl1pPr marL="457200" indent="-4572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buFontTx/>
              <a:buNone/>
            </a:pPr>
            <a:r>
              <a:rPr lang="en-US" altLang="zh-CN" sz="1800" b="0" dirty="0"/>
              <a:t>while (</a:t>
            </a:r>
            <a:r>
              <a:rPr lang="en-US" altLang="zh-CN" sz="1800" b="0" dirty="0" err="1"/>
              <a:t>i</a:t>
            </a:r>
            <a:r>
              <a:rPr lang="en-US" altLang="zh-CN" sz="1800" b="0" dirty="0"/>
              <a:t> &lt;= la) { </a:t>
            </a:r>
            <a:endParaRPr lang="en-US" altLang="zh-CN" sz="1800" b="0" dirty="0"/>
          </a:p>
          <a:p>
            <a:pPr>
              <a:buFontTx/>
              <a:buNone/>
            </a:pPr>
            <a:r>
              <a:rPr lang="en-US" altLang="zh-CN" sz="1800" b="0" dirty="0"/>
              <a:t>       </a:t>
            </a:r>
            <a:r>
              <a:rPr lang="en-US" altLang="zh-CN" sz="1800" b="0" dirty="0" err="1"/>
              <a:t>pa.GetElem</a:t>
            </a:r>
            <a:r>
              <a:rPr lang="en-US" altLang="zh-CN" sz="1800" b="0" dirty="0"/>
              <a:t>(ma, </a:t>
            </a:r>
            <a:r>
              <a:rPr lang="en-US" altLang="zh-CN" sz="1800" b="0" dirty="0" err="1"/>
              <a:t>i</a:t>
            </a:r>
            <a:r>
              <a:rPr lang="en-US" altLang="zh-CN" sz="1800" b="0" dirty="0"/>
              <a:t>);</a:t>
            </a:r>
            <a:endParaRPr lang="en-US" altLang="zh-CN" sz="1800" b="0" dirty="0"/>
          </a:p>
          <a:p>
            <a:pPr>
              <a:buFontTx/>
              <a:buNone/>
            </a:pPr>
            <a:r>
              <a:rPr lang="en-US" altLang="zh-CN" sz="1800" b="0" dirty="0"/>
              <a:t>        </a:t>
            </a:r>
            <a:r>
              <a:rPr lang="en-US" altLang="zh-CN" sz="1800" b="0" dirty="0" err="1"/>
              <a:t>pc.AppendMonomial</a:t>
            </a:r>
            <a:r>
              <a:rPr lang="en-US" altLang="zh-CN" sz="1800" b="0" dirty="0"/>
              <a:t>(ma);</a:t>
            </a:r>
            <a:endParaRPr lang="en-US" altLang="zh-CN" sz="1800" b="0" dirty="0"/>
          </a:p>
          <a:p>
            <a:pPr>
              <a:buFontTx/>
              <a:buNone/>
            </a:pPr>
            <a:r>
              <a:rPr lang="en-US" altLang="zh-CN" sz="1800" b="0" dirty="0"/>
              <a:t>        </a:t>
            </a:r>
            <a:r>
              <a:rPr lang="en-US" altLang="zh-CN" sz="1800" b="0" dirty="0" err="1"/>
              <a:t>i</a:t>
            </a:r>
            <a:r>
              <a:rPr lang="en-US" altLang="zh-CN" sz="1800" b="0" dirty="0"/>
              <a:t>++;</a:t>
            </a:r>
            <a:endParaRPr lang="en-US" altLang="zh-CN" sz="1800" b="0" dirty="0"/>
          </a:p>
          <a:p>
            <a:pPr>
              <a:buFontTx/>
              <a:buNone/>
            </a:pPr>
            <a:r>
              <a:rPr lang="en-US" altLang="zh-CN" sz="1800" b="0" dirty="0"/>
              <a:t>    }  </a:t>
            </a:r>
            <a:endParaRPr lang="en-US" altLang="zh-CN" sz="1800" b="0" dirty="0"/>
          </a:p>
          <a:p>
            <a:pPr>
              <a:buFontTx/>
              <a:buNone/>
            </a:pPr>
            <a:r>
              <a:rPr lang="en-US" altLang="zh-CN" sz="1800" b="0" dirty="0"/>
              <a:t>    while(j &lt;= </a:t>
            </a:r>
            <a:r>
              <a:rPr lang="en-US" altLang="zh-CN" sz="1800" b="0" dirty="0" err="1"/>
              <a:t>lb</a:t>
            </a:r>
            <a:r>
              <a:rPr lang="en-US" altLang="zh-CN" sz="1800" b="0" dirty="0"/>
              <a:t>){ </a:t>
            </a:r>
            <a:endParaRPr lang="en-US" altLang="zh-CN" sz="1800" b="0" dirty="0"/>
          </a:p>
          <a:p>
            <a:pPr>
              <a:buFontTx/>
              <a:buNone/>
            </a:pPr>
            <a:r>
              <a:rPr lang="en-US" altLang="zh-CN" sz="1800" b="0" dirty="0"/>
              <a:t>        </a:t>
            </a:r>
            <a:r>
              <a:rPr lang="en-US" altLang="zh-CN" sz="1800" b="0" dirty="0" err="1"/>
              <a:t>pb.GetElem</a:t>
            </a:r>
            <a:r>
              <a:rPr lang="en-US" altLang="zh-CN" sz="1800" b="0" dirty="0"/>
              <a:t>(mb, j);</a:t>
            </a:r>
            <a:endParaRPr lang="en-US" altLang="zh-CN" sz="1800" b="0" dirty="0"/>
          </a:p>
          <a:p>
            <a:pPr>
              <a:buFontTx/>
              <a:buNone/>
            </a:pPr>
            <a:r>
              <a:rPr lang="en-US" altLang="zh-CN" sz="1800" b="0" dirty="0"/>
              <a:t>        </a:t>
            </a:r>
            <a:r>
              <a:rPr lang="en-US" altLang="zh-CN" sz="1800" b="0" dirty="0" err="1"/>
              <a:t>pc.AppendMonomial</a:t>
            </a:r>
            <a:r>
              <a:rPr lang="en-US" altLang="zh-CN" sz="1800" b="0" dirty="0"/>
              <a:t>(mb);</a:t>
            </a:r>
            <a:endParaRPr lang="en-US" altLang="zh-CN" sz="1800" b="0" dirty="0"/>
          </a:p>
          <a:p>
            <a:pPr>
              <a:buFontTx/>
              <a:buNone/>
            </a:pPr>
            <a:r>
              <a:rPr lang="en-US" altLang="zh-CN" sz="1800" b="0" dirty="0"/>
              <a:t>        </a:t>
            </a:r>
            <a:r>
              <a:rPr lang="en-US" altLang="zh-CN" sz="1800" b="0" dirty="0" err="1"/>
              <a:t>j++</a:t>
            </a:r>
            <a:r>
              <a:rPr lang="en-US" altLang="zh-CN" sz="1800" b="0" dirty="0"/>
              <a:t>;</a:t>
            </a:r>
            <a:endParaRPr lang="en-US" altLang="zh-CN" sz="1800" b="0" dirty="0"/>
          </a:p>
          <a:p>
            <a:pPr>
              <a:buFontTx/>
              <a:buNone/>
            </a:pPr>
            <a:r>
              <a:rPr lang="en-US" altLang="zh-CN" sz="1800" b="0" dirty="0"/>
              <a:t>    }   </a:t>
            </a:r>
            <a:endParaRPr lang="en-US" altLang="zh-CN" sz="1800" b="0" dirty="0"/>
          </a:p>
          <a:p>
            <a:pPr>
              <a:buFontTx/>
              <a:buNone/>
            </a:pPr>
            <a:r>
              <a:rPr lang="en-US" altLang="zh-CN" sz="1800" b="0" dirty="0"/>
              <a:t>    return pc;</a:t>
            </a:r>
            <a:endParaRPr lang="en-US" altLang="zh-CN" sz="1800" b="0" dirty="0"/>
          </a:p>
          <a:p>
            <a:pPr>
              <a:buFontTx/>
              <a:buNone/>
            </a:pPr>
            <a:r>
              <a:rPr lang="en-US" altLang="zh-CN" sz="1800" b="0" dirty="0"/>
              <a:t>}</a:t>
            </a:r>
            <a:endParaRPr lang="en-US" altLang="zh-CN" sz="1800" b="0" dirty="0"/>
          </a:p>
          <a:p>
            <a:pPr>
              <a:buFontTx/>
              <a:buNone/>
            </a:pPr>
            <a:r>
              <a:rPr lang="en-US" altLang="zh-CN" sz="1800" b="0" dirty="0">
                <a:latin typeface="Consolas" panose="020B0609020204030204" pitchFamily="49" charset="0"/>
              </a:rPr>
              <a:t>     </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测试程序 </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4" name="文本框 3"/>
          <p:cNvSpPr txBox="1"/>
          <p:nvPr/>
        </p:nvSpPr>
        <p:spPr>
          <a:xfrm>
            <a:off x="392806" y="106251"/>
            <a:ext cx="7893124"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2.4.2</a:t>
            </a:r>
            <a:r>
              <a:rPr lang="zh-CN" altLang="en-US" sz="3600" b="1" dirty="0">
                <a:solidFill>
                  <a:schemeClr val="bg1"/>
                </a:solidFill>
                <a:latin typeface="微软雅黑" panose="020B0503020204020204" pitchFamily="34" charset="-122"/>
                <a:ea typeface="微软雅黑" panose="020B0503020204020204" pitchFamily="34" charset="-122"/>
              </a:rPr>
              <a:t>一元多项式的表示和相加（续）</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Text Box 5"/>
          <p:cNvSpPr txBox="1">
            <a:spLocks noChangeArrowheads="1"/>
          </p:cNvSpPr>
          <p:nvPr/>
        </p:nvSpPr>
        <p:spPr bwMode="gray">
          <a:xfrm>
            <a:off x="3650396" y="3013501"/>
            <a:ext cx="42134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a:spcBef>
                <a:spcPct val="50000"/>
              </a:spcBef>
              <a:buFontTx/>
              <a:buNone/>
            </a:pPr>
            <a:r>
              <a:rPr lang="en-US" altLang="zh-CN" sz="4800" dirty="0"/>
              <a:t>The End!</a:t>
            </a:r>
            <a:endParaRPr lang="en-US" altLang="zh-CN" sz="4800" dirty="0"/>
          </a:p>
        </p:txBody>
      </p:sp>
    </p:spTree>
  </p:cSld>
  <p:clrMapOvr>
    <a:masterClrMapping/>
  </p:clrMapOvr>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ISLIDE.ICON" val="#404870;#405337;#404870;#393849;#394159;#175184;#154559;#174619;#393950;#87202;#381622;"/>
</p:tagLst>
</file>

<file path=ppt/tags/tag3.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ppt/theme/themeOverride2.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22986</Words>
  <Application>WPS 演示</Application>
  <PresentationFormat>宽屏</PresentationFormat>
  <Paragraphs>1922</Paragraphs>
  <Slides>91</Slides>
  <Notes>3</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19</vt:i4>
      </vt:variant>
      <vt:variant>
        <vt:lpstr>幻灯片标题</vt:lpstr>
      </vt:variant>
      <vt:variant>
        <vt:i4>91</vt:i4>
      </vt:variant>
    </vt:vector>
  </HeadingPairs>
  <TitlesOfParts>
    <vt:vector size="132" baseType="lpstr">
      <vt:lpstr>Arial</vt:lpstr>
      <vt:lpstr>宋体</vt:lpstr>
      <vt:lpstr>Wingdings</vt:lpstr>
      <vt:lpstr>OPPOSans R</vt:lpstr>
      <vt:lpstr>OPPOSans B</vt:lpstr>
      <vt:lpstr>微软雅黑</vt:lpstr>
      <vt:lpstr>Times New Roman</vt:lpstr>
      <vt:lpstr>华文行楷</vt:lpstr>
      <vt:lpstr>Georgia</vt:lpstr>
      <vt:lpstr>Calibri</vt:lpstr>
      <vt:lpstr>OPPOSans H</vt:lpstr>
      <vt:lpstr>庞门正道标题体</vt:lpstr>
      <vt:lpstr>楷体_GB2312</vt:lpstr>
      <vt:lpstr>Arial Unicode MS</vt:lpstr>
      <vt:lpstr>Symbol</vt:lpstr>
      <vt:lpstr>Wingdings 2</vt:lpstr>
      <vt:lpstr>Wingdings 2</vt:lpstr>
      <vt:lpstr>Consolas</vt:lpstr>
      <vt:lpstr>思源黑体 CN Regular</vt:lpstr>
      <vt:lpstr>黑体</vt:lpstr>
      <vt:lpstr>办公资源网：www.bangongziyuan.com</vt:lpstr>
      <vt:lpstr>自定义设计方案</vt:lpstr>
      <vt:lpstr>Equation.3</vt:lpstr>
      <vt:lpstr>Word.Document.8</vt:lpstr>
      <vt:lpstr>Visio.Drawing.11</vt:lpstr>
      <vt:lpstr>Equation.3</vt:lpstr>
      <vt:lpstr>Equation.3</vt:lpstr>
      <vt:lpstr>Equation.3</vt:lpstr>
      <vt:lpstr>Equation.3</vt:lpstr>
      <vt:lpstr>Equation.3</vt:lpstr>
      <vt:lpstr>Equation.3</vt:lpstr>
      <vt:lpstr>Visio.Drawing.11</vt:lpstr>
      <vt:lpstr>Equation.3</vt:lpstr>
      <vt:lpstr>Equation.3</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3299</cp:revision>
  <dcterms:created xsi:type="dcterms:W3CDTF">2020-11-24T06:30:00Z</dcterms:created>
  <dcterms:modified xsi:type="dcterms:W3CDTF">2024-11-04T02:58:04Z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1DBAC059655B49F29DD1BCF2EACC9986_12</vt:lpwstr>
  </property>
  <property fmtid="{D5CDD505-2E9C-101B-9397-08002B2CF9AE}" pid="3" name="KSOProductBuildVer">
    <vt:lpwstr>2052-12.1.0.18608</vt:lpwstr>
  </property>
</Properties>
</file>