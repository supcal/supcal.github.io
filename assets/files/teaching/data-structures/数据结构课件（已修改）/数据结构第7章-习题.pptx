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  <p:sldMasterId id="2147483671" r:id="rId2"/>
  </p:sldMasterIdLst>
  <p:notesMasterIdLst>
    <p:notesMasterId r:id="rId11"/>
  </p:notesMasterIdLst>
  <p:handoutMasterIdLst>
    <p:handoutMasterId r:id="rId12"/>
  </p:handoutMasterIdLst>
  <p:sldIdLst>
    <p:sldId id="15714907" r:id="rId3"/>
    <p:sldId id="15714962" r:id="rId4"/>
    <p:sldId id="15714979" r:id="rId5"/>
    <p:sldId id="15714980" r:id="rId6"/>
    <p:sldId id="15714981" r:id="rId7"/>
    <p:sldId id="15714982" r:id="rId8"/>
    <p:sldId id="15714983" r:id="rId9"/>
    <p:sldId id="1571498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E"/>
    <a:srgbClr val="000000"/>
    <a:srgbClr val="ADA19D"/>
    <a:srgbClr val="F0ECF2"/>
    <a:srgbClr val="494958"/>
    <a:srgbClr val="484C58"/>
    <a:srgbClr val="A8A8A8"/>
    <a:srgbClr val="015B9F"/>
    <a:srgbClr val="029188"/>
    <a:srgbClr val="049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8" autoAdjust="0"/>
    <p:restoredTop sz="94660"/>
  </p:normalViewPr>
  <p:slideViewPr>
    <p:cSldViewPr snapToGrid="0">
      <p:cViewPr varScale="1">
        <p:scale>
          <a:sx n="67" d="100"/>
          <a:sy n="67" d="100"/>
        </p:scale>
        <p:origin x="50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42"/>
    </p:cViewPr>
  </p:sorterViewPr>
  <p:notesViewPr>
    <p:cSldViewPr snapToGrid="0">
      <p:cViewPr varScale="1">
        <p:scale>
          <a:sx n="60" d="100"/>
          <a:sy n="60" d="100"/>
        </p:scale>
        <p:origin x="10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2FB8E2F-A5DF-4E66-89AE-5886BDFA4F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F4D85A-3E6B-451E-90A4-35F8488680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C2F0C-902B-40A3-A4BD-4EF077EA43A2}" type="datetimeFigureOut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  <a:t>2024/10/29 Tuesday</a:t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878C91-8783-4606-9D54-5F31466B8E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C150B9-F696-4102-93DF-EE07843073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2C1B7-04C4-46E7-9BAA-4B759B4AC2C1}" type="slidenum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  <a:t>‹#›</a:t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1208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3C9F0365-6E51-42DF-A7F1-912A2B6B56F1}" type="datetimeFigureOut">
              <a:rPr lang="zh-CN" altLang="en-US" smtClean="0"/>
              <a:pPr/>
              <a:t>2024/10/29 Tuesday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830FE25F-8BC0-4BE2-A57A-787CA670B11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48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F1102C-FAD4-459D-8C7A-106E6431C5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12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24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527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29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366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860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756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10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AFA38-627E-4F7B-BEA5-CF626F25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9137F2-6A37-4ADB-BF7C-8C4101C65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A83C16-FB74-4338-8858-39E1EAB0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AAF03-BE0A-4DEA-A05E-06FF7665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A7360-FBBC-4ED8-AE18-E0EFDA9B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4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03844-FC03-47DE-B229-1F3765BD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02712-6BFF-4093-8A80-E9501331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09443-1096-43EE-A4A2-EDB352A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040E1-8914-4B73-913D-54BC000D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847222-8B7D-4607-9C90-FC087C5B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1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2872D-5617-4456-9660-05102038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27F9B6-D488-40F8-B129-AFE4F4EC1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2B530E-E53D-4D77-BD0E-21F40AC8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8A13D-08F8-4ED3-86C2-C9890E9B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21B38-87B6-4C0A-87EE-0B66BBD9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553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E5D05-3637-4A33-82F1-4622ECE2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06EAC3-3F4B-4256-98C1-BA9211FC9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42EB53-9566-4336-985C-6D6918301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831B25-6B82-464F-BBAC-7B461AAF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EF524F-DA37-41AA-B3B1-D7D90E38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7488DD-0E70-4197-AA74-B18179B3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67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FAE2C-937B-401E-8C4E-1B840B46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72746B-7744-4748-BFC2-78AE71813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3E1AE7-4A76-4C93-9C6C-FBDD0AF70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315032-A34A-4483-9DD8-3EA36457F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91E8B5-0AEE-4F03-ACAF-30CC58A4C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53C842-B293-4BDC-9B3C-9A40F174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158690-01BB-4521-AA37-9A500D65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7E8A8E-C4D8-43A9-BF18-B0A344C6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00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28ED3-6AAC-45CD-BC01-DCABC39D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280777-2281-4D53-A34B-2010532D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5A28D7-2590-4880-8E81-C65D2F7E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586DE0-7F6B-447E-B471-A0C5D0BC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56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BA8348-CD47-49E9-B2AB-CC9626E8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6BDBE1-AD78-49C9-81C3-88431C8B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DB748E-92D3-4F9B-A150-AA1EB766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63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71E2C-B013-4C1B-A136-29EEB552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D1C9-773A-4AFE-BBE7-584EDFA0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5B80D2-5E0E-46BF-9A71-2D23489C5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EEB044-EF57-48D1-B1F3-BFC4DFED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A53B1E-3A41-4C9C-B7C2-B2CDFCE9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99D22B-0518-4154-AA49-DDC77737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21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DA30C-388B-477D-AD78-0A55B779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493FBE-F48E-4E0B-BA63-006EA5E7B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52955F-B1C6-41FB-B489-474C5D51E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04B7AE-8F62-4BC3-93E5-EE903F4B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865E28-AF62-40AD-A6DD-BB717201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227F69-28EA-4258-B6E8-49224B6A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96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4A543-9B39-429D-82D0-F009B246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3FC344-FACD-44C2-B4F5-931AB6C48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EECC51-547E-4E0E-A7B8-46DADCCC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A6FA4E-9C79-4D6D-95CC-4F6F384C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CB6C09-C337-4F39-8858-A2DDAC8E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24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12131D-EE71-41FE-8C14-A0A12CBCE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D62D55-D380-4C75-A2DB-B4BB75ADC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21ED18-BD91-4631-B03C-2A833506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5DB2B-7326-4E3D-A296-24F356E5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F1D20-2B75-44C9-BC19-6B80B209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64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5D244-BCDE-41CC-A65C-D24A9E5F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96AD3-9217-4C73-8E14-774B7EEF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705334-0718-4678-90F8-072254A4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17834-2F47-4907-B04F-43784146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0E9D3-BB6D-4AE9-A795-7E424EDA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442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D99D4-81E2-4592-A3EB-B270B656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6C68D6-6266-4426-AA7A-DD7D500C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3E81F0-8659-4F42-BB30-4A66211D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04C79-175D-4D38-BA45-1D05AAA4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9A8E35-3036-49CF-B23C-4221396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677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83D61-63A8-4124-8A72-22440747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9DB9F-DF63-42F0-8A2E-3FB049997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7F52A1-764A-4424-A5F4-000F5B0EE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4E75AD-43B8-42E1-9D51-9A30D62C2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B804CF-3148-4F27-BB31-6B6AF4EB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1A2DE-6774-4105-8DA3-1378F803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706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A9360-C6B8-4B28-82FD-E9C7B998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57AF6A-0E5F-4488-8641-4D70A85F6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AA46E8-2891-464C-B80A-C07A0CBC3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7B71AD-2AE5-415D-9CCC-055CE0304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7A6F69-979B-47E1-BC65-FFCDBE985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18FD03-D2C6-4D45-914D-5FA35C6D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E71421-52E9-4800-8607-135390D8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298AE3-5B74-418F-AAB3-8EED14AA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604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6C037-8327-4219-8BB9-89E26B46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8C6762-5BEE-4647-9C0A-50B0BEBD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65789A-8426-4161-9CAD-61EFDAF7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5DCB82-FDB8-40AF-BE3D-A71114BB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22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7B5CE4-FDA6-4734-9395-E4E9ADB0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91BD10-1EDA-4DB4-8D6F-BFEBEEBD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EDB813-CC17-43B2-81FF-76DA91F2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386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7DA81-9F35-4343-A405-5DB4FBD1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C6FC1-D949-404E-9E4E-EA9C5316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E3D51B-8EC7-4F32-9C79-38AF4DC6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E26E90-6430-4610-A100-C712B04A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D9C2A2-9F1F-47F0-94AF-E4E17DB9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894D03-2A3B-4FCA-A989-4FBD996B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593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DBC59-B128-4618-85EC-A0F9FB69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0730C0-772C-4F4D-81FE-175E3C44D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9F30A-4738-4738-854C-69B912501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ECC440-FF31-4ACA-BF11-BBB3A6AF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91992B-C496-4B30-93FE-1BF7FDD7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2FD2A6-7923-4DE5-89DE-B8707E18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0179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8A145-C3E6-4AFE-9F54-6C86EEEE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7ECE10-8C1E-4097-AC1F-A6FA6DB20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836C3-6D53-4706-8563-41C2D79B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A7960D-E182-4A0F-A9D0-E16CB937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B853C-78C5-4D4A-87AD-5FB415857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849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CD7066-C8BA-4CA4-BE09-4CA04616B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40BE54-8D3B-433D-8B63-DDAE4873A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B6223A-CA97-4789-AB6E-DF3254E3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2024/10/29 Tuesday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7BF1-1B3B-4357-A3ED-3E0A90D4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21D3-C256-45A3-A6E0-10F7383C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52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3D0BCA-C16D-4306-A795-6A715CD9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F5D44D-22CC-49AD-8D5B-39E6D2A8E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BBA4C-DBCC-4996-970B-53F7D8603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  <a:pPr/>
              <a:t>2024/10/29 Tuesday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2EF46F-AE67-4CCB-8C3C-F13C32770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DE7BE9-0396-45A4-B420-454185119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65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A38F4A-CD86-4D85-B769-84A13412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85E8B6-5E71-41D4-A78F-9E362AAB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C73B5A-3C2A-41D0-9710-50C836924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65A674D8-D595-481B-98B3-1F39AF99B99A}" type="datetimeFigureOut">
              <a:rPr lang="zh-CN" altLang="en-US" smtClean="0"/>
              <a:pPr/>
              <a:t>2024/10/29 Tuesday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C0C24F-3BC4-45D8-A22C-ADE4ACFE5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AF3A3-4D41-4E21-A8D1-DB359598E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B35DD3EC-14B0-476A-A7B6-2379185BAD1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220991-5AEB-4C3B-8A05-33998EA4EB07}"/>
              </a:ext>
            </a:extLst>
          </p:cNvPr>
          <p:cNvCxnSpPr>
            <a:cxnSpLocks/>
          </p:cNvCxnSpPr>
          <p:nvPr userDrawn="1"/>
        </p:nvCxnSpPr>
        <p:spPr>
          <a:xfrm>
            <a:off x="527050" y="923086"/>
            <a:ext cx="111379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EE6DF22C-0C3D-4391-A682-D78EBF6C8B4B}"/>
              </a:ext>
            </a:extLst>
          </p:cNvPr>
          <p:cNvSpPr/>
          <p:nvPr userDrawn="1"/>
        </p:nvSpPr>
        <p:spPr>
          <a:xfrm rot="5400000">
            <a:off x="478876" y="414720"/>
            <a:ext cx="441960" cy="267628"/>
          </a:xfrm>
          <a:prstGeom prst="triangle">
            <a:avLst/>
          </a:prstGeom>
          <a:solidFill>
            <a:srgbClr val="005A9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5" rIns="91428" bIns="45715" rtlCol="0" anchor="ctr"/>
          <a:lstStyle/>
          <a:p>
            <a:pPr algn="ctr"/>
            <a:endParaRPr lang="zh-CN" altLang="en-US" sz="2400" dirty="0">
              <a:latin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655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2DC8C90-B5CC-4D9A-ADFF-75D98787208C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283">
            <a:extLst>
              <a:ext uri="{FF2B5EF4-FFF2-40B4-BE49-F238E27FC236}">
                <a16:creationId xmlns:a16="http://schemas.microsoft.com/office/drawing/2014/main" id="{385E9F82-1BD4-4CE0-8227-4012790F0999}"/>
              </a:ext>
            </a:extLst>
          </p:cNvPr>
          <p:cNvSpPr txBox="1"/>
          <p:nvPr/>
        </p:nvSpPr>
        <p:spPr>
          <a:xfrm>
            <a:off x="3191766" y="1691998"/>
            <a:ext cx="600174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1" i="0" u="none" strike="noStrike" kern="1200" cap="none" spc="100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实例练习</a:t>
            </a:r>
            <a:endParaRPr kumimoji="0" lang="en-US" altLang="zh-CN" sz="7200" b="1" i="0" u="none" strike="noStrike" kern="1200" cap="none" spc="100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spc="1000" dirty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常用排序算法比较</a:t>
            </a:r>
            <a:endParaRPr kumimoji="0" lang="zh-CN" altLang="en-US" sz="3200" b="1" i="0" u="none" strike="noStrike" kern="1200" cap="none" spc="100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8EE7C36-6AE8-4DCA-8AEC-1643A9B38993}"/>
              </a:ext>
            </a:extLst>
          </p:cNvPr>
          <p:cNvGrpSpPr/>
          <p:nvPr/>
        </p:nvGrpSpPr>
        <p:grpSpPr>
          <a:xfrm>
            <a:off x="4356353" y="4939300"/>
            <a:ext cx="3950519" cy="1029628"/>
            <a:chOff x="4293107" y="4891174"/>
            <a:chExt cx="3479292" cy="1029628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05FE2DA-81DF-4D03-B1ED-5EE9A6B6EA3C}"/>
                </a:ext>
              </a:extLst>
            </p:cNvPr>
            <p:cNvSpPr txBox="1"/>
            <p:nvPr/>
          </p:nvSpPr>
          <p:spPr>
            <a:xfrm flipH="1">
              <a:off x="4293107" y="4891174"/>
              <a:ext cx="3479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rtlCol="0">
              <a:spAutoFit/>
            </a:bodyPr>
            <a:lstStyle/>
            <a:p>
              <a:pPr marL="342900" lvl="0" indent="-342900" defTabSz="1219170">
                <a:buFont typeface="Wingdings" panose="05000000000000000000" pitchFamily="2" charset="2"/>
                <a:buChar char="u"/>
                <a:defRPr/>
              </a:pPr>
              <a:r>
                <a:rPr lang="zh-CN" altLang="en-US" sz="200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  <a:sym typeface="+mn-lt"/>
                </a:rPr>
                <a:t>课程性质：专业必修课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6EF8926-17FE-48B9-A798-525949A4FD8C}"/>
                </a:ext>
              </a:extLst>
            </p:cNvPr>
            <p:cNvSpPr txBox="1"/>
            <p:nvPr/>
          </p:nvSpPr>
          <p:spPr>
            <a:xfrm flipH="1">
              <a:off x="4293107" y="5520692"/>
              <a:ext cx="3479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rtlCol="0">
              <a:spAutoFit/>
            </a:bodyPr>
            <a:lstStyle/>
            <a:p>
              <a:pPr marL="342900" lvl="0" indent="-342900" defTabSz="1219170">
                <a:buFont typeface="Wingdings" panose="05000000000000000000" pitchFamily="2" charset="2"/>
                <a:buChar char="u"/>
                <a:defRPr/>
              </a:pPr>
              <a:r>
                <a:rPr lang="zh-CN" altLang="en-US" sz="200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  <a:sym typeface="+mn-lt"/>
                </a:rPr>
                <a:t>授课对象：本科二年级</a:t>
              </a: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81BAEEE2-B590-4914-A80D-F0E3D306735B}"/>
              </a:ext>
            </a:extLst>
          </p:cNvPr>
          <p:cNvSpPr/>
          <p:nvPr/>
        </p:nvSpPr>
        <p:spPr>
          <a:xfrm>
            <a:off x="2253378" y="3947028"/>
            <a:ext cx="7685244" cy="586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CF8CCD0-61EB-4AAF-A75E-58F65E85A73D}"/>
              </a:ext>
            </a:extLst>
          </p:cNvPr>
          <p:cNvCxnSpPr>
            <a:cxnSpLocks/>
          </p:cNvCxnSpPr>
          <p:nvPr/>
        </p:nvCxnSpPr>
        <p:spPr>
          <a:xfrm>
            <a:off x="1796779" y="6270902"/>
            <a:ext cx="8598443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283">
            <a:extLst>
              <a:ext uri="{FF2B5EF4-FFF2-40B4-BE49-F238E27FC236}">
                <a16:creationId xmlns:a16="http://schemas.microsoft.com/office/drawing/2014/main" id="{98B2D04C-909F-490F-8E5F-FC379354021C}"/>
              </a:ext>
            </a:extLst>
          </p:cNvPr>
          <p:cNvSpPr txBox="1"/>
          <p:nvPr/>
        </p:nvSpPr>
        <p:spPr>
          <a:xfrm>
            <a:off x="3000776" y="3992461"/>
            <a:ext cx="6383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100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课程名称：数据结构</a:t>
            </a:r>
          </a:p>
        </p:txBody>
      </p:sp>
      <p:sp>
        <p:nvSpPr>
          <p:cNvPr id="12" name="文本框 283">
            <a:extLst>
              <a:ext uri="{FF2B5EF4-FFF2-40B4-BE49-F238E27FC236}">
                <a16:creationId xmlns:a16="http://schemas.microsoft.com/office/drawing/2014/main" id="{3A4E8994-1F07-435D-ADD0-199A8B28FA9D}"/>
              </a:ext>
            </a:extLst>
          </p:cNvPr>
          <p:cNvSpPr txBox="1"/>
          <p:nvPr/>
        </p:nvSpPr>
        <p:spPr>
          <a:xfrm>
            <a:off x="-893619" y="356264"/>
            <a:ext cx="6001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600" normalizeH="0" baseline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OPPOSans B" panose="00020600040101010101" pitchFamily="18" charset="-122"/>
              </a:defRPr>
            </a:lvl1pPr>
          </a:lstStyle>
          <a:p>
            <a:r>
              <a:rPr lang="zh-CN" altLang="en-US" dirty="0"/>
              <a:t>节选自第七章 排序</a:t>
            </a:r>
          </a:p>
        </p:txBody>
      </p:sp>
      <p:sp>
        <p:nvSpPr>
          <p:cNvPr id="13" name="文本框 283">
            <a:extLst>
              <a:ext uri="{FF2B5EF4-FFF2-40B4-BE49-F238E27FC236}">
                <a16:creationId xmlns:a16="http://schemas.microsoft.com/office/drawing/2014/main" id="{3A4E8994-1F07-435D-ADD0-199A8B28FA9D}"/>
              </a:ext>
            </a:extLst>
          </p:cNvPr>
          <p:cNvSpPr txBox="1"/>
          <p:nvPr/>
        </p:nvSpPr>
        <p:spPr>
          <a:xfrm>
            <a:off x="9719732" y="331578"/>
            <a:ext cx="2044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1" u="none" strike="noStrike" cap="none" spc="600" normalizeH="0" baseline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OPPOSans B" panose="00020600040101010101" pitchFamily="18" charset="-122"/>
              </a:defRPr>
            </a:lvl1pPr>
          </a:lstStyle>
          <a:p>
            <a:pPr algn="dist"/>
            <a:r>
              <a:rPr lang="en-US" altLang="zh-CN" i="0" spc="0" dirty="0"/>
              <a:t>《</a:t>
            </a:r>
            <a:r>
              <a:rPr lang="en-US" altLang="zh-CN" spc="0" dirty="0"/>
              <a:t>Sorting</a:t>
            </a:r>
            <a:r>
              <a:rPr lang="en-US" altLang="zh-CN" i="0" spc="0" dirty="0"/>
              <a:t>》</a:t>
            </a:r>
            <a:endParaRPr lang="zh-CN" altLang="en-US" i="0" spc="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7787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>
            <a:extLst>
              <a:ext uri="{FF2B5EF4-FFF2-40B4-BE49-F238E27FC236}">
                <a16:creationId xmlns:a16="http://schemas.microsoft.com/office/drawing/2014/main" id="{7BA2472B-DD58-4083-BED6-6ED858919F81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618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，判断所用排序算法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0E8AF5C-1613-77BF-B9F5-216DA6206DF1}"/>
              </a:ext>
            </a:extLst>
          </p:cNvPr>
          <p:cNvSpPr txBox="1">
            <a:spLocks/>
          </p:cNvSpPr>
          <p:nvPr/>
        </p:nvSpPr>
        <p:spPr>
          <a:xfrm>
            <a:off x="1457325" y="2422697"/>
            <a:ext cx="5372100" cy="20126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初始状态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57  68   59   52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趟：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57  68   59   52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趟：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57  59   68   52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趟：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52  57   59   68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横卷形 2">
            <a:extLst>
              <a:ext uri="{FF2B5EF4-FFF2-40B4-BE49-F238E27FC236}">
                <a16:creationId xmlns:a16="http://schemas.microsoft.com/office/drawing/2014/main" id="{FA6B7F1F-2F15-F7DC-76ED-084A3C6E6D97}"/>
              </a:ext>
            </a:extLst>
          </p:cNvPr>
          <p:cNvSpPr/>
          <p:nvPr/>
        </p:nvSpPr>
        <p:spPr>
          <a:xfrm>
            <a:off x="9050065" y="908196"/>
            <a:ext cx="2888343" cy="972457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直接插入排序</a:t>
            </a:r>
          </a:p>
        </p:txBody>
      </p:sp>
    </p:spTree>
    <p:extLst>
      <p:ext uri="{BB962C8B-B14F-4D97-AF65-F5344CB8AC3E}">
        <p14:creationId xmlns:p14="http://schemas.microsoft.com/office/powerpoint/2010/main" val="181525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>
            <a:extLst>
              <a:ext uri="{FF2B5EF4-FFF2-40B4-BE49-F238E27FC236}">
                <a16:creationId xmlns:a16="http://schemas.microsoft.com/office/drawing/2014/main" id="{7BA2472B-DD58-4083-BED6-6ED858919F81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618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，判断所用排序算法</a:t>
            </a:r>
          </a:p>
        </p:txBody>
      </p:sp>
      <p:pic>
        <p:nvPicPr>
          <p:cNvPr id="6" name="图片 5" descr="http://my.csdn.net/uploads/201205/12/1336807959_9188.png">
            <a:extLst>
              <a:ext uri="{FF2B5EF4-FFF2-40B4-BE49-F238E27FC236}">
                <a16:creationId xmlns:a16="http://schemas.microsoft.com/office/drawing/2014/main" id="{18D7F5F0-0941-AA9A-90E7-51820C4490F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916" y="2200275"/>
            <a:ext cx="7176710" cy="34432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横卷形 4">
            <a:extLst>
              <a:ext uri="{FF2B5EF4-FFF2-40B4-BE49-F238E27FC236}">
                <a16:creationId xmlns:a16="http://schemas.microsoft.com/office/drawing/2014/main" id="{526FBBC3-B248-60BB-9FA3-F9509D713384}"/>
              </a:ext>
            </a:extLst>
          </p:cNvPr>
          <p:cNvSpPr/>
          <p:nvPr/>
        </p:nvSpPr>
        <p:spPr>
          <a:xfrm>
            <a:off x="9050065" y="908196"/>
            <a:ext cx="2888343" cy="972457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路归并排序</a:t>
            </a:r>
          </a:p>
        </p:txBody>
      </p:sp>
    </p:spTree>
    <p:extLst>
      <p:ext uri="{BB962C8B-B14F-4D97-AF65-F5344CB8AC3E}">
        <p14:creationId xmlns:p14="http://schemas.microsoft.com/office/powerpoint/2010/main" val="217548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>
            <a:extLst>
              <a:ext uri="{FF2B5EF4-FFF2-40B4-BE49-F238E27FC236}">
                <a16:creationId xmlns:a16="http://schemas.microsoft.com/office/drawing/2014/main" id="{7BA2472B-DD58-4083-BED6-6ED858919F81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618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，判断所用排序算法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92CE4-2E04-BA46-4D7A-380A5CC46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475" y="2008880"/>
            <a:ext cx="7056967" cy="4330008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 descr="http://my.csdn.net/uploads/201205/12/1336792712_3691.png">
            <a:extLst>
              <a:ext uri="{FF2B5EF4-FFF2-40B4-BE49-F238E27FC236}">
                <a16:creationId xmlns:a16="http://schemas.microsoft.com/office/drawing/2014/main" id="{AB53B311-D435-21F1-9A5E-F4CFAD41A01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6"/>
          <a:stretch/>
        </p:blipFill>
        <p:spPr bwMode="auto">
          <a:xfrm>
            <a:off x="1343933" y="1937762"/>
            <a:ext cx="7171417" cy="462496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9DE820B-8F54-9B8D-BFE3-0466582005B6}"/>
              </a:ext>
            </a:extLst>
          </p:cNvPr>
          <p:cNvSpPr/>
          <p:nvPr/>
        </p:nvSpPr>
        <p:spPr>
          <a:xfrm>
            <a:off x="1514476" y="2575636"/>
            <a:ext cx="6762318" cy="881032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702243-1A9D-E791-F1FD-452ADDB432FA}"/>
              </a:ext>
            </a:extLst>
          </p:cNvPr>
          <p:cNvSpPr/>
          <p:nvPr/>
        </p:nvSpPr>
        <p:spPr>
          <a:xfrm>
            <a:off x="1369335" y="3916620"/>
            <a:ext cx="7115409" cy="881032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右箭头 6">
            <a:extLst>
              <a:ext uri="{FF2B5EF4-FFF2-40B4-BE49-F238E27FC236}">
                <a16:creationId xmlns:a16="http://schemas.microsoft.com/office/drawing/2014/main" id="{4C7B992C-BD21-C3F2-EC28-2CA617AF9F4A}"/>
              </a:ext>
            </a:extLst>
          </p:cNvPr>
          <p:cNvSpPr/>
          <p:nvPr/>
        </p:nvSpPr>
        <p:spPr>
          <a:xfrm>
            <a:off x="705304" y="2109472"/>
            <a:ext cx="664031" cy="53439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横卷形 7">
            <a:extLst>
              <a:ext uri="{FF2B5EF4-FFF2-40B4-BE49-F238E27FC236}">
                <a16:creationId xmlns:a16="http://schemas.microsoft.com/office/drawing/2014/main" id="{E0E42C07-D5B0-3DF8-CB90-3A64757C460E}"/>
              </a:ext>
            </a:extLst>
          </p:cNvPr>
          <p:cNvSpPr/>
          <p:nvPr/>
        </p:nvSpPr>
        <p:spPr>
          <a:xfrm>
            <a:off x="9050065" y="908196"/>
            <a:ext cx="2888343" cy="972457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希尔排序</a:t>
            </a:r>
          </a:p>
        </p:txBody>
      </p:sp>
    </p:spTree>
    <p:extLst>
      <p:ext uri="{BB962C8B-B14F-4D97-AF65-F5344CB8AC3E}">
        <p14:creationId xmlns:p14="http://schemas.microsoft.com/office/powerpoint/2010/main" val="324701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>
            <a:extLst>
              <a:ext uri="{FF2B5EF4-FFF2-40B4-BE49-F238E27FC236}">
                <a16:creationId xmlns:a16="http://schemas.microsoft.com/office/drawing/2014/main" id="{7BA2472B-DD58-4083-BED6-6ED858919F81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618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，判断所用排序算法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391F4D9-6380-4022-D115-12329B9D9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0" y="2369343"/>
            <a:ext cx="4819650" cy="21193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初始状态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57  68   59   52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趟：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52  68   59   57</a:t>
            </a: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趟：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52  57   59   68</a:t>
            </a: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趟：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52  57   59   68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横卷形 3">
            <a:extLst>
              <a:ext uri="{FF2B5EF4-FFF2-40B4-BE49-F238E27FC236}">
                <a16:creationId xmlns:a16="http://schemas.microsoft.com/office/drawing/2014/main" id="{B3E270CD-3551-6F89-9CD2-69C6AC4DDBEA}"/>
              </a:ext>
            </a:extLst>
          </p:cNvPr>
          <p:cNvSpPr/>
          <p:nvPr/>
        </p:nvSpPr>
        <p:spPr>
          <a:xfrm>
            <a:off x="9050065" y="908196"/>
            <a:ext cx="2888343" cy="972457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简单选择排序</a:t>
            </a:r>
          </a:p>
        </p:txBody>
      </p:sp>
    </p:spTree>
    <p:extLst>
      <p:ext uri="{BB962C8B-B14F-4D97-AF65-F5344CB8AC3E}">
        <p14:creationId xmlns:p14="http://schemas.microsoft.com/office/powerpoint/2010/main" val="344943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>
            <a:extLst>
              <a:ext uri="{FF2B5EF4-FFF2-40B4-BE49-F238E27FC236}">
                <a16:creationId xmlns:a16="http://schemas.microsoft.com/office/drawing/2014/main" id="{7BA2472B-DD58-4083-BED6-6ED858919F81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618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，判断所用排序算法</a:t>
            </a:r>
          </a:p>
        </p:txBody>
      </p:sp>
      <p:pic>
        <p:nvPicPr>
          <p:cNvPr id="5" name="图片 4" descr="http://my.csdn.net/uploads/201205/12/1336807392_9769.png">
            <a:extLst>
              <a:ext uri="{FF2B5EF4-FFF2-40B4-BE49-F238E27FC236}">
                <a16:creationId xmlns:a16="http://schemas.microsoft.com/office/drawing/2014/main" id="{620A63C1-1460-BDE9-134A-9D46ED54E4C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67" y="2343149"/>
            <a:ext cx="7162733" cy="33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横卷形 7">
            <a:extLst>
              <a:ext uri="{FF2B5EF4-FFF2-40B4-BE49-F238E27FC236}">
                <a16:creationId xmlns:a16="http://schemas.microsoft.com/office/drawing/2014/main" id="{0CB1E34A-82BF-2F85-0E38-B792868262CE}"/>
              </a:ext>
            </a:extLst>
          </p:cNvPr>
          <p:cNvSpPr/>
          <p:nvPr/>
        </p:nvSpPr>
        <p:spPr>
          <a:xfrm>
            <a:off x="9050065" y="908196"/>
            <a:ext cx="2888343" cy="972457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冒泡排序</a:t>
            </a:r>
          </a:p>
        </p:txBody>
      </p:sp>
    </p:spTree>
    <p:extLst>
      <p:ext uri="{BB962C8B-B14F-4D97-AF65-F5344CB8AC3E}">
        <p14:creationId xmlns:p14="http://schemas.microsoft.com/office/powerpoint/2010/main" val="372372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>
            <a:extLst>
              <a:ext uri="{FF2B5EF4-FFF2-40B4-BE49-F238E27FC236}">
                <a16:creationId xmlns:a16="http://schemas.microsoft.com/office/drawing/2014/main" id="{7BA2472B-DD58-4083-BED6-6ED858919F81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618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，判断所用排序算法</a:t>
            </a:r>
          </a:p>
        </p:txBody>
      </p:sp>
      <p:pic>
        <p:nvPicPr>
          <p:cNvPr id="3" name="图片 2" descr="http://my.csdn.net/uploads/201205/12/1336807447_1275.png">
            <a:extLst>
              <a:ext uri="{FF2B5EF4-FFF2-40B4-BE49-F238E27FC236}">
                <a16:creationId xmlns:a16="http://schemas.microsoft.com/office/drawing/2014/main" id="{4AAA3AC8-0220-6C3D-3108-38BABFE8C53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1400175"/>
            <a:ext cx="4978400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横卷形 4">
            <a:extLst>
              <a:ext uri="{FF2B5EF4-FFF2-40B4-BE49-F238E27FC236}">
                <a16:creationId xmlns:a16="http://schemas.microsoft.com/office/drawing/2014/main" id="{35593CB6-4AAA-F298-9DEA-B13357538701}"/>
              </a:ext>
            </a:extLst>
          </p:cNvPr>
          <p:cNvSpPr/>
          <p:nvPr/>
        </p:nvSpPr>
        <p:spPr>
          <a:xfrm>
            <a:off x="9050065" y="908196"/>
            <a:ext cx="2888343" cy="972457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快速排序</a:t>
            </a:r>
          </a:p>
        </p:txBody>
      </p:sp>
    </p:spTree>
    <p:extLst>
      <p:ext uri="{BB962C8B-B14F-4D97-AF65-F5344CB8AC3E}">
        <p14:creationId xmlns:p14="http://schemas.microsoft.com/office/powerpoint/2010/main" val="373289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>
            <a:extLst>
              <a:ext uri="{FF2B5EF4-FFF2-40B4-BE49-F238E27FC236}">
                <a16:creationId xmlns:a16="http://schemas.microsoft.com/office/drawing/2014/main" id="{7BA2472B-DD58-4083-BED6-6ED858919F81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618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实例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判断所用排序算法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1AFEB99-E029-A4D6-F056-EEAB10126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146" y="2438400"/>
            <a:ext cx="11404048" cy="410746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初始序列：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46, 79, 56, 38, 40, 84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http://my.csdn.net/uploads/201205/12/1336793950_6973.png">
            <a:extLst>
              <a:ext uri="{FF2B5EF4-FFF2-40B4-BE49-F238E27FC236}">
                <a16:creationId xmlns:a16="http://schemas.microsoft.com/office/drawing/2014/main" id="{689AC3CC-A83C-96BA-E5DA-23EC28D41F0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0" r="17600"/>
          <a:stretch/>
        </p:blipFill>
        <p:spPr bwMode="auto">
          <a:xfrm>
            <a:off x="392806" y="3005145"/>
            <a:ext cx="3643085" cy="3082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http://my.csdn.net/uploads/201205/12/1336793977_2095.png">
            <a:extLst>
              <a:ext uri="{FF2B5EF4-FFF2-40B4-BE49-F238E27FC236}">
                <a16:creationId xmlns:a16="http://schemas.microsoft.com/office/drawing/2014/main" id="{23480EBC-DCA5-F7D9-326C-01D1E3128C8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890" y="3005146"/>
            <a:ext cx="4476365" cy="308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http://my.csdn.net/uploads/201205/12/1336793996_7183.png">
            <a:extLst>
              <a:ext uri="{FF2B5EF4-FFF2-40B4-BE49-F238E27FC236}">
                <a16:creationId xmlns:a16="http://schemas.microsoft.com/office/drawing/2014/main" id="{59E54D51-7038-02CB-16D9-11D8FE458CF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5" r="15699"/>
          <a:stretch/>
        </p:blipFill>
        <p:spPr bwMode="auto">
          <a:xfrm>
            <a:off x="8512261" y="3005145"/>
            <a:ext cx="3280229" cy="30823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横卷形 7">
            <a:extLst>
              <a:ext uri="{FF2B5EF4-FFF2-40B4-BE49-F238E27FC236}">
                <a16:creationId xmlns:a16="http://schemas.microsoft.com/office/drawing/2014/main" id="{042372A4-7517-7009-B76C-FD995AD8059F}"/>
              </a:ext>
            </a:extLst>
          </p:cNvPr>
          <p:cNvSpPr/>
          <p:nvPr/>
        </p:nvSpPr>
        <p:spPr>
          <a:xfrm>
            <a:off x="9050065" y="908196"/>
            <a:ext cx="2888343" cy="972457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</a:p>
        </p:txBody>
      </p:sp>
    </p:spTree>
    <p:extLst>
      <p:ext uri="{BB962C8B-B14F-4D97-AF65-F5344CB8AC3E}">
        <p14:creationId xmlns:p14="http://schemas.microsoft.com/office/powerpoint/2010/main" val="378479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70;#405337;#404870;#393849;#394159;#171092;#134425;#37043;#393940;"/>
</p:tagLst>
</file>

<file path=ppt/theme/theme1.xml><?xml version="1.0" encoding="utf-8"?>
<a:theme xmlns:a="http://schemas.openxmlformats.org/drawingml/2006/main" name="办公资源网：www.bangongziyuan.com">
  <a:themeElements>
    <a:clrScheme name="自定义 1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A9E"/>
      </a:accent1>
      <a:accent2>
        <a:srgbClr val="7F7F7F"/>
      </a:accent2>
      <a:accent3>
        <a:srgbClr val="45546B"/>
      </a:accent3>
      <a:accent4>
        <a:srgbClr val="E5EAF0"/>
      </a:accent4>
      <a:accent5>
        <a:srgbClr val="A5A5A5"/>
      </a:accent5>
      <a:accent6>
        <a:srgbClr val="C9C9C9"/>
      </a:accent6>
      <a:hlink>
        <a:srgbClr val="49738F"/>
      </a:hlink>
      <a:folHlink>
        <a:srgbClr val="BFBFBF"/>
      </a:folHlink>
    </a:clrScheme>
    <a:fontScheme name="自定义 1">
      <a:majorFont>
        <a:latin typeface="Calibri"/>
        <a:ea typeface="阿里巴巴普惠体 B"/>
        <a:cs typeface=""/>
      </a:majorFont>
      <a:minorFont>
        <a:latin typeface="Calibri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A9E"/>
      </a:accent1>
      <a:accent2>
        <a:srgbClr val="7F7F7F"/>
      </a:accent2>
      <a:accent3>
        <a:srgbClr val="45546B"/>
      </a:accent3>
      <a:accent4>
        <a:srgbClr val="E5EAF0"/>
      </a:accent4>
      <a:accent5>
        <a:srgbClr val="A5A5A5"/>
      </a:accent5>
      <a:accent6>
        <a:srgbClr val="C9C9C9"/>
      </a:accent6>
      <a:hlink>
        <a:srgbClr val="49738F"/>
      </a:hlink>
      <a:folHlink>
        <a:srgbClr val="BFBFBF"/>
      </a:folHlink>
    </a:clrScheme>
    <a:fontScheme name="自定义 1">
      <a:majorFont>
        <a:latin typeface="Calibri"/>
        <a:ea typeface="阿里巴巴普惠体 B"/>
        <a:cs typeface=""/>
      </a:majorFont>
      <a:minorFont>
        <a:latin typeface="Calibri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1">
    <a:dk1>
      <a:srgbClr val="000000"/>
    </a:dk1>
    <a:lt1>
      <a:srgbClr val="FFFFFF"/>
    </a:lt1>
    <a:dk2>
      <a:srgbClr val="778495"/>
    </a:dk2>
    <a:lt2>
      <a:srgbClr val="F0F0F0"/>
    </a:lt2>
    <a:accent1>
      <a:srgbClr val="005A9E"/>
    </a:accent1>
    <a:accent2>
      <a:srgbClr val="7F7F7F"/>
    </a:accent2>
    <a:accent3>
      <a:srgbClr val="45546B"/>
    </a:accent3>
    <a:accent4>
      <a:srgbClr val="E5EAF0"/>
    </a:accent4>
    <a:accent5>
      <a:srgbClr val="A5A5A5"/>
    </a:accent5>
    <a:accent6>
      <a:srgbClr val="C9C9C9"/>
    </a:accent6>
    <a:hlink>
      <a:srgbClr val="49738F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21285</TotalTime>
  <Words>208</Words>
  <Application>Microsoft Office PowerPoint</Application>
  <PresentationFormat>宽屏</PresentationFormat>
  <Paragraphs>52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OPPOSans B</vt:lpstr>
      <vt:lpstr>OPPOSans R</vt:lpstr>
      <vt:lpstr>华文行楷</vt:lpstr>
      <vt:lpstr>微软雅黑</vt:lpstr>
      <vt:lpstr>Arial</vt:lpstr>
      <vt:lpstr>Times New Roman</vt:lpstr>
      <vt:lpstr>Wingdings</vt:lpstr>
      <vt:lpstr>办公资源网：www.bangongziyuan.com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欣鸿 郑</cp:lastModifiedBy>
  <cp:revision>3278</cp:revision>
  <dcterms:created xsi:type="dcterms:W3CDTF">2020-11-24T06:30:03Z</dcterms:created>
  <dcterms:modified xsi:type="dcterms:W3CDTF">2024-10-29T14:31:31Z</dcterms:modified>
</cp:coreProperties>
</file>