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52"/>
  </p:handoutMasterIdLst>
  <p:sldIdLst>
    <p:sldId id="15714907" r:id="rId4"/>
    <p:sldId id="15714897" r:id="rId6"/>
    <p:sldId id="15714992" r:id="rId7"/>
    <p:sldId id="15714959" r:id="rId8"/>
    <p:sldId id="15714993" r:id="rId9"/>
    <p:sldId id="15714994" r:id="rId10"/>
    <p:sldId id="15714995" r:id="rId11"/>
    <p:sldId id="15714996" r:id="rId12"/>
    <p:sldId id="15714997" r:id="rId13"/>
    <p:sldId id="15714998" r:id="rId14"/>
    <p:sldId id="15714999" r:id="rId15"/>
    <p:sldId id="15715000" r:id="rId16"/>
    <p:sldId id="15715001" r:id="rId17"/>
    <p:sldId id="15715002" r:id="rId18"/>
    <p:sldId id="15715003" r:id="rId19"/>
    <p:sldId id="15715004" r:id="rId20"/>
    <p:sldId id="15715005" r:id="rId21"/>
    <p:sldId id="15715024" r:id="rId22"/>
    <p:sldId id="15715043" r:id="rId23"/>
    <p:sldId id="15715045" r:id="rId24"/>
    <p:sldId id="15715046" r:id="rId25"/>
    <p:sldId id="15715047" r:id="rId26"/>
    <p:sldId id="15715051" r:id="rId27"/>
    <p:sldId id="15715053" r:id="rId28"/>
    <p:sldId id="15715054" r:id="rId29"/>
    <p:sldId id="15715055" r:id="rId30"/>
    <p:sldId id="15715052" r:id="rId31"/>
    <p:sldId id="15715056" r:id="rId32"/>
    <p:sldId id="15715049" r:id="rId33"/>
    <p:sldId id="15715050" r:id="rId34"/>
    <p:sldId id="15715048" r:id="rId35"/>
    <p:sldId id="15715059" r:id="rId36"/>
    <p:sldId id="15715060" r:id="rId37"/>
    <p:sldId id="15715061" r:id="rId38"/>
    <p:sldId id="15715062" r:id="rId39"/>
    <p:sldId id="15715063" r:id="rId40"/>
    <p:sldId id="15715058" r:id="rId41"/>
    <p:sldId id="15715057" r:id="rId42"/>
    <p:sldId id="15715066" r:id="rId43"/>
    <p:sldId id="15715065" r:id="rId44"/>
    <p:sldId id="15715064" r:id="rId45"/>
    <p:sldId id="15715068" r:id="rId46"/>
    <p:sldId id="15715069" r:id="rId47"/>
    <p:sldId id="15715074" r:id="rId48"/>
    <p:sldId id="15715077" r:id="rId49"/>
    <p:sldId id="15715075" r:id="rId50"/>
    <p:sldId id="15715076" r:id="rId51"/>
    <p:sldId id="15715080" r:id="rId52"/>
    <p:sldId id="15715198" r:id="rId53"/>
    <p:sldId id="15715071" r:id="rId54"/>
    <p:sldId id="15715078" r:id="rId55"/>
    <p:sldId id="15715093" r:id="rId56"/>
    <p:sldId id="15715079" r:id="rId57"/>
    <p:sldId id="15715098" r:id="rId58"/>
    <p:sldId id="15715097" r:id="rId59"/>
    <p:sldId id="15715096" r:id="rId60"/>
    <p:sldId id="15715095" r:id="rId61"/>
    <p:sldId id="15715083" r:id="rId62"/>
    <p:sldId id="15715100" r:id="rId63"/>
    <p:sldId id="15715102" r:id="rId64"/>
    <p:sldId id="15715103" r:id="rId65"/>
    <p:sldId id="15715104" r:id="rId66"/>
    <p:sldId id="15715105" r:id="rId67"/>
    <p:sldId id="15715106" r:id="rId68"/>
    <p:sldId id="15715101" r:id="rId69"/>
    <p:sldId id="15715099" r:id="rId70"/>
    <p:sldId id="15715084" r:id="rId71"/>
    <p:sldId id="15715085" r:id="rId72"/>
    <p:sldId id="15715107" r:id="rId73"/>
    <p:sldId id="15715109" r:id="rId74"/>
    <p:sldId id="15715111" r:id="rId75"/>
    <p:sldId id="15715112" r:id="rId76"/>
    <p:sldId id="15715110" r:id="rId77"/>
    <p:sldId id="15715114" r:id="rId78"/>
    <p:sldId id="15715115" r:id="rId79"/>
    <p:sldId id="15715113" r:id="rId80"/>
    <p:sldId id="15715086" r:id="rId81"/>
    <p:sldId id="15715087" r:id="rId82"/>
    <p:sldId id="15715088" r:id="rId83"/>
    <p:sldId id="15715089" r:id="rId84"/>
    <p:sldId id="15715090" r:id="rId85"/>
    <p:sldId id="15715116" r:id="rId86"/>
    <p:sldId id="15715117" r:id="rId87"/>
    <p:sldId id="15715119" r:id="rId88"/>
    <p:sldId id="15715120" r:id="rId89"/>
    <p:sldId id="15715118" r:id="rId90"/>
    <p:sldId id="15715091" r:id="rId91"/>
    <p:sldId id="15715122" r:id="rId92"/>
    <p:sldId id="15715126" r:id="rId93"/>
    <p:sldId id="15715127" r:id="rId94"/>
    <p:sldId id="15715129" r:id="rId95"/>
    <p:sldId id="15715131" r:id="rId96"/>
    <p:sldId id="15715132" r:id="rId97"/>
    <p:sldId id="15715134" r:id="rId98"/>
    <p:sldId id="15715135" r:id="rId99"/>
    <p:sldId id="15715137" r:id="rId100"/>
    <p:sldId id="15715136" r:id="rId101"/>
    <p:sldId id="15715133" r:id="rId102"/>
    <p:sldId id="15715130" r:id="rId103"/>
    <p:sldId id="15715138" r:id="rId104"/>
    <p:sldId id="15715128" r:id="rId105"/>
    <p:sldId id="15715125" r:id="rId106"/>
    <p:sldId id="15715143" r:id="rId107"/>
    <p:sldId id="15715141" r:id="rId108"/>
    <p:sldId id="15715140" r:id="rId109"/>
    <p:sldId id="15715199" r:id="rId110"/>
    <p:sldId id="15715139" r:id="rId111"/>
    <p:sldId id="15715145" r:id="rId112"/>
    <p:sldId id="15715146" r:id="rId113"/>
    <p:sldId id="15715147" r:id="rId114"/>
    <p:sldId id="15715144" r:id="rId115"/>
    <p:sldId id="15715148" r:id="rId116"/>
    <p:sldId id="15715149" r:id="rId117"/>
    <p:sldId id="15715150" r:id="rId118"/>
    <p:sldId id="15715151" r:id="rId119"/>
    <p:sldId id="15715152" r:id="rId120"/>
    <p:sldId id="15715154" r:id="rId121"/>
    <p:sldId id="15715153" r:id="rId122"/>
    <p:sldId id="15715156" r:id="rId123"/>
    <p:sldId id="15715157" r:id="rId124"/>
    <p:sldId id="15715158" r:id="rId125"/>
    <p:sldId id="15715155" r:id="rId126"/>
    <p:sldId id="15715159" r:id="rId127"/>
    <p:sldId id="15715162" r:id="rId128"/>
    <p:sldId id="15715163" r:id="rId129"/>
    <p:sldId id="15715161" r:id="rId130"/>
    <p:sldId id="15715160" r:id="rId131"/>
    <p:sldId id="15715168" r:id="rId132"/>
    <p:sldId id="15715169" r:id="rId133"/>
    <p:sldId id="15715170" r:id="rId134"/>
    <p:sldId id="15715171" r:id="rId135"/>
    <p:sldId id="15715164" r:id="rId136"/>
    <p:sldId id="15715165" r:id="rId137"/>
    <p:sldId id="15715166" r:id="rId138"/>
    <p:sldId id="15715167" r:id="rId139"/>
    <p:sldId id="15715177" r:id="rId140"/>
    <p:sldId id="15715176" r:id="rId141"/>
    <p:sldId id="15715178" r:id="rId142"/>
    <p:sldId id="15715179" r:id="rId143"/>
    <p:sldId id="15715180" r:id="rId144"/>
    <p:sldId id="15715181" r:id="rId145"/>
    <p:sldId id="15715183" r:id="rId146"/>
    <p:sldId id="15715200" r:id="rId147"/>
    <p:sldId id="15715201" r:id="rId148"/>
    <p:sldId id="15715189" r:id="rId149"/>
    <p:sldId id="15715190" r:id="rId150"/>
    <p:sldId id="15715184" r:id="rId151"/>
  </p:sldIdLst>
  <p:sldSz cx="12192000" cy="6858000"/>
  <p:notesSz cx="6858000" cy="9144000"/>
  <p:custDataLst>
    <p:tags r:id="rId1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000000"/>
    <a:srgbClr val="015B9F"/>
    <a:srgbClr val="ADA19D"/>
    <a:srgbClr val="F0ECF2"/>
    <a:srgbClr val="494958"/>
    <a:srgbClr val="484C58"/>
    <a:srgbClr val="A8A8A8"/>
    <a:srgbClr val="029188"/>
    <a:srgbClr val="0493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4" autoAdjust="0"/>
    <p:restoredTop sz="94660"/>
  </p:normalViewPr>
  <p:slideViewPr>
    <p:cSldViewPr snapToGrid="0">
      <p:cViewPr varScale="1">
        <p:scale>
          <a:sx n="62" d="100"/>
          <a:sy n="62" d="100"/>
        </p:scale>
        <p:origin x="704" y="40"/>
      </p:cViewPr>
      <p:guideLst/>
    </p:cSldViewPr>
  </p:slideViewPr>
  <p:notesTextViewPr>
    <p:cViewPr>
      <p:scale>
        <a:sx n="3" d="2"/>
        <a:sy n="3" d="2"/>
      </p:scale>
      <p:origin x="0" y="0"/>
    </p:cViewPr>
  </p:notesTextViewPr>
  <p:sorterViewPr>
    <p:cViewPr>
      <p:scale>
        <a:sx n="100" d="100"/>
        <a:sy n="100" d="100"/>
      </p:scale>
      <p:origin x="0" y="-642"/>
    </p:cViewPr>
  </p:sorterViewPr>
  <p:notesViewPr>
    <p:cSldViewPr snapToGrid="0">
      <p:cViewPr varScale="1">
        <p:scale>
          <a:sx n="60" d="100"/>
          <a:sy n="60" d="100"/>
        </p:scale>
        <p:origin x="1014" y="6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6" Type="http://schemas.openxmlformats.org/officeDocument/2006/relationships/tags" Target="tags/tag276.xml"/><Relationship Id="rId155" Type="http://schemas.openxmlformats.org/officeDocument/2006/relationships/tableStyles" Target="tableStyles.xml"/><Relationship Id="rId154" Type="http://schemas.openxmlformats.org/officeDocument/2006/relationships/viewProps" Target="viewProps.xml"/><Relationship Id="rId153" Type="http://schemas.openxmlformats.org/officeDocument/2006/relationships/presProps" Target="presProps.xml"/><Relationship Id="rId152" Type="http://schemas.openxmlformats.org/officeDocument/2006/relationships/handoutMaster" Target="handoutMasters/handoutMaster1.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6.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cs typeface="+mn-cs"/>
              </a:rPr>
            </a:fld>
            <a:endParaRPr kumimoji="0" lang="zh-CN" altLang="en-US" sz="1200" b="0" i="0" u="none" strike="noStrike" kern="1200" cap="none" spc="0" normalizeH="0" baseline="0" noProof="0" dirty="0">
              <a:ln>
                <a:noFill/>
              </a:ln>
              <a:solidFill>
                <a:prstClr val="black"/>
              </a:solidFill>
              <a:effectLst/>
              <a:uLnTx/>
              <a:uFillTx/>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B35DD3EC-14B0-476A-A7B6-2379185BAD17}" type="slidenum">
              <a:rPr lang="zh-CN" altLang="en-US" smtClean="0"/>
            </a:fld>
            <a:endParaRPr lang="zh-CN" altLang="en-US" dirty="0"/>
          </a:p>
        </p:txBody>
      </p:sp>
      <p:cxnSp>
        <p:nvCxnSpPr>
          <p:cNvPr id="7" name="直接连接符 6"/>
          <p:cNvCxnSpPr/>
          <p:nvPr userDrawn="1"/>
        </p:nvCxnSpPr>
        <p:spPr>
          <a:xfrm>
            <a:off x="527050" y="923086"/>
            <a:ext cx="111379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等腰三角形 7"/>
          <p:cNvSpPr/>
          <p:nvPr userDrawn="1"/>
        </p:nvSpPr>
        <p:spPr>
          <a:xfrm rot="5400000">
            <a:off x="478876" y="414720"/>
            <a:ext cx="441960" cy="267628"/>
          </a:xfrm>
          <a:prstGeom prst="triangle">
            <a:avLst/>
          </a:prstGeom>
          <a:solidFill>
            <a:srgbClr val="005A9E"/>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zh-CN" altLang="en-US" sz="2400"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3" Type="http://schemas.openxmlformats.org/officeDocument/2006/relationships/notesSlide" Target="../notesSlides/notesSlide2.xml"/><Relationship Id="rId32" Type="http://schemas.openxmlformats.org/officeDocument/2006/relationships/slideLayout" Target="../slideLayouts/slideLayout2.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7" Type="http://schemas.openxmlformats.org/officeDocument/2006/relationships/notesSlide" Target="../notesSlides/notesSlide3.xml"/><Relationship Id="rId16" Type="http://schemas.openxmlformats.org/officeDocument/2006/relationships/slideLayout" Target="../slideLayouts/slideLayout2.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tags" Target="../tags/tag5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6.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7" Type="http://schemas.openxmlformats.org/officeDocument/2006/relationships/notesSlide" Target="../notesSlides/notesSlide14.xml"/><Relationship Id="rId16" Type="http://schemas.openxmlformats.org/officeDocument/2006/relationships/slideLayout" Target="../slideLayouts/slideLayout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tags" Target="../tags/tag8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tags" Target="../tags/tag93.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tags" Target="../tags/tag10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1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tags" Target="../tags/tag11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tags" Target="../tags/tag121.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tags" Target="../tags/tag122.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tags" Target="../tags/tag124.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tags" Target="../tags/tag12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9.emf"/><Relationship Id="rId2" Type="http://schemas.openxmlformats.org/officeDocument/2006/relationships/oleObject" Target="../embeddings/oleObject6.bin"/><Relationship Id="rId1" Type="http://schemas.openxmlformats.org/officeDocument/2006/relationships/tags" Target="../tags/tag127.xml"/></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0.emf"/><Relationship Id="rId2" Type="http://schemas.openxmlformats.org/officeDocument/2006/relationships/oleObject" Target="../embeddings/oleObject7.bin"/><Relationship Id="rId1" Type="http://schemas.openxmlformats.org/officeDocument/2006/relationships/tags" Target="../tags/tag136.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55.xml.rels><?xml version="1.0" encoding="UTF-8" standalone="yes"?>
<Relationships xmlns="http://schemas.openxmlformats.org/package/2006/relationships"><Relationship Id="rId8" Type="http://schemas.openxmlformats.org/officeDocument/2006/relationships/notesSlide" Target="../notesSlides/notesSlide53.xml"/><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oleObject" Target="../embeddings/oleObject9.bin"/><Relationship Id="rId3" Type="http://schemas.openxmlformats.org/officeDocument/2006/relationships/image" Target="../media/image11.emf"/><Relationship Id="rId2" Type="http://schemas.openxmlformats.org/officeDocument/2006/relationships/oleObject" Target="../embeddings/oleObject8.bin"/><Relationship Id="rId1" Type="http://schemas.openxmlformats.org/officeDocument/2006/relationships/tags" Target="../tags/tag138.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2.xml"/><Relationship Id="rId2" Type="http://schemas.openxmlformats.org/officeDocument/2006/relationships/tags" Target="../tags/tag144.xml"/><Relationship Id="rId1" Type="http://schemas.openxmlformats.org/officeDocument/2006/relationships/tags" Target="../tags/tag143.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2.xml"/><Relationship Id="rId2" Type="http://schemas.openxmlformats.org/officeDocument/2006/relationships/tags" Target="../tags/tag153.xml"/><Relationship Id="rId1" Type="http://schemas.openxmlformats.org/officeDocument/2006/relationships/tags" Target="../tags/tag152.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2.xml"/><Relationship Id="rId2" Type="http://schemas.openxmlformats.org/officeDocument/2006/relationships/tags" Target="../tags/tag155.xml"/><Relationship Id="rId1" Type="http://schemas.openxmlformats.org/officeDocument/2006/relationships/tags" Target="../tags/tag154.xml"/></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64.xml"/><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13.emf"/><Relationship Id="rId2" Type="http://schemas.openxmlformats.org/officeDocument/2006/relationships/oleObject" Target="../embeddings/oleObject10.bin"/><Relationship Id="rId1" Type="http://schemas.openxmlformats.org/officeDocument/2006/relationships/tags" Target="../tags/tag156.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2.xml"/><Relationship Id="rId2" Type="http://schemas.openxmlformats.org/officeDocument/2006/relationships/tags" Target="../tags/tag158.xml"/><Relationship Id="rId1" Type="http://schemas.openxmlformats.org/officeDocument/2006/relationships/tags" Target="../tags/tag157.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2.xml"/><Relationship Id="rId2" Type="http://schemas.openxmlformats.org/officeDocument/2006/relationships/tags" Target="../tags/tag160.xml"/><Relationship Id="rId1" Type="http://schemas.openxmlformats.org/officeDocument/2006/relationships/tags" Target="../tags/tag159.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tags" Target="../tags/tag161.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tags" Target="../tags/tag164.xml"/><Relationship Id="rId1" Type="http://schemas.openxmlformats.org/officeDocument/2006/relationships/tags" Target="../tags/tag163.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2.xml"/><Relationship Id="rId2" Type="http://schemas.openxmlformats.org/officeDocument/2006/relationships/tags" Target="../tags/tag166.xml"/><Relationship Id="rId1" Type="http://schemas.openxmlformats.org/officeDocument/2006/relationships/tags" Target="../tags/tag165.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2.xml"/><Relationship Id="rId2" Type="http://schemas.openxmlformats.org/officeDocument/2006/relationships/tags" Target="../tags/tag168.xml"/><Relationship Id="rId1" Type="http://schemas.openxmlformats.org/officeDocument/2006/relationships/tags" Target="../tags/tag167.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2.xml"/><Relationship Id="rId2" Type="http://schemas.openxmlformats.org/officeDocument/2006/relationships/tags" Target="../tags/tag170.xml"/><Relationship Id="rId1" Type="http://schemas.openxmlformats.org/officeDocument/2006/relationships/tags" Target="../tags/tag169.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2.xml"/><Relationship Id="rId2" Type="http://schemas.openxmlformats.org/officeDocument/2006/relationships/tags" Target="../tags/tag172.xml"/><Relationship Id="rId1" Type="http://schemas.openxmlformats.org/officeDocument/2006/relationships/tags" Target="../tags/tag171.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2.xml"/><Relationship Id="rId2" Type="http://schemas.openxmlformats.org/officeDocument/2006/relationships/tags" Target="../tags/tag174.xml"/><Relationship Id="rId1" Type="http://schemas.openxmlformats.org/officeDocument/2006/relationships/tags" Target="../tags/tag173.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2.xml"/><Relationship Id="rId2" Type="http://schemas.openxmlformats.org/officeDocument/2006/relationships/tags" Target="../tags/tag176.xml"/><Relationship Id="rId1" Type="http://schemas.openxmlformats.org/officeDocument/2006/relationships/tags" Target="../tags/tag17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81.xml.rels><?xml version="1.0" encoding="UTF-8" standalone="yes"?>
<Relationships xmlns="http://schemas.openxmlformats.org/package/2006/relationships"><Relationship Id="rId6" Type="http://schemas.openxmlformats.org/officeDocument/2006/relationships/notesSlide" Target="../notesSlides/notesSlide79.xml"/><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14.emf"/><Relationship Id="rId2" Type="http://schemas.openxmlformats.org/officeDocument/2006/relationships/oleObject" Target="../embeddings/oleObject11.bin"/><Relationship Id="rId1" Type="http://schemas.openxmlformats.org/officeDocument/2006/relationships/tags" Target="../tags/tag181.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81.xml"/><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oleObject" Target="../embeddings/oleObject13.bin"/><Relationship Id="rId3" Type="http://schemas.openxmlformats.org/officeDocument/2006/relationships/image" Target="../media/image15.emf"/><Relationship Id="rId2" Type="http://schemas.openxmlformats.org/officeDocument/2006/relationships/oleObject" Target="../embeddings/oleObject12.bin"/><Relationship Id="rId1" Type="http://schemas.openxmlformats.org/officeDocument/2006/relationships/tags" Target="../tags/tag183.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tags" Target="../tags/tag18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2.xml"/><Relationship Id="rId2" Type="http://schemas.openxmlformats.org/officeDocument/2006/relationships/tags" Target="../tags/tag188.xml"/><Relationship Id="rId1" Type="http://schemas.openxmlformats.org/officeDocument/2006/relationships/tags" Target="../tags/tag187.xml"/></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2.xml"/><Relationship Id="rId2" Type="http://schemas.openxmlformats.org/officeDocument/2006/relationships/tags" Target="../tags/tag190.xml"/><Relationship Id="rId1" Type="http://schemas.openxmlformats.org/officeDocument/2006/relationships/tags" Target="../tags/tag189.xml"/></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2.xml"/><Relationship Id="rId2" Type="http://schemas.openxmlformats.org/officeDocument/2006/relationships/tags" Target="../tags/tag192.xml"/><Relationship Id="rId1" Type="http://schemas.openxmlformats.org/officeDocument/2006/relationships/tags" Target="../tags/tag191.xml"/></Relationships>
</file>

<file path=ppt/slides/_rels/slide90.xml.rels><?xml version="1.0" encoding="UTF-8" standalone="yes"?>
<Relationships xmlns="http://schemas.openxmlformats.org/package/2006/relationships"><Relationship Id="rId5" Type="http://schemas.openxmlformats.org/officeDocument/2006/relationships/notesSlide" Target="../notesSlides/notesSlide88.xml"/><Relationship Id="rId4" Type="http://schemas.openxmlformats.org/officeDocument/2006/relationships/slideLayout" Target="../slideLayouts/slideLayout2.xml"/><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89.xml"/><Relationship Id="rId4" Type="http://schemas.openxmlformats.org/officeDocument/2006/relationships/slideLayout" Target="../slideLayouts/slideLayout2.xml"/><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s>
</file>

<file path=ppt/slides/_rels/slide92.xml.rels><?xml version="1.0" encoding="UTF-8" standalone="yes"?>
<Relationships xmlns="http://schemas.openxmlformats.org/package/2006/relationships"><Relationship Id="rId5" Type="http://schemas.openxmlformats.org/officeDocument/2006/relationships/notesSlide" Target="../notesSlides/notesSlide90.xml"/><Relationship Id="rId4" Type="http://schemas.openxmlformats.org/officeDocument/2006/relationships/slideLayout" Target="../slideLayouts/slideLayout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91.xml"/><Relationship Id="rId3" Type="http://schemas.openxmlformats.org/officeDocument/2006/relationships/slideLayout" Target="../slideLayouts/slideLayout2.xml"/><Relationship Id="rId2" Type="http://schemas.openxmlformats.org/officeDocument/2006/relationships/tags" Target="../tags/tag203.xml"/><Relationship Id="rId1" Type="http://schemas.openxmlformats.org/officeDocument/2006/relationships/tags" Target="../tags/tag202.xml"/></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2.xml"/><Relationship Id="rId2" Type="http://schemas.openxmlformats.org/officeDocument/2006/relationships/tags" Target="../tags/tag205.xml"/><Relationship Id="rId1" Type="http://schemas.openxmlformats.org/officeDocument/2006/relationships/tags" Target="../tags/tag204.xml"/></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2.xml"/><Relationship Id="rId2" Type="http://schemas.openxmlformats.org/officeDocument/2006/relationships/tags" Target="../tags/tag207.xml"/><Relationship Id="rId1" Type="http://schemas.openxmlformats.org/officeDocument/2006/relationships/tags" Target="../tags/tag206.xml"/></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2.xml"/><Relationship Id="rId2" Type="http://schemas.openxmlformats.org/officeDocument/2006/relationships/tags" Target="../tags/tag209.xml"/><Relationship Id="rId1" Type="http://schemas.openxmlformats.org/officeDocument/2006/relationships/tags" Target="../tags/tag208.xml"/></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2.xml"/><Relationship Id="rId2" Type="http://schemas.openxmlformats.org/officeDocument/2006/relationships/tags" Target="../tags/tag211.xml"/><Relationship Id="rId1" Type="http://schemas.openxmlformats.org/officeDocument/2006/relationships/tags" Target="../tags/tag210.xml"/></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2.xml"/><Relationship Id="rId2" Type="http://schemas.openxmlformats.org/officeDocument/2006/relationships/tags" Target="../tags/tag213.xml"/><Relationship Id="rId1" Type="http://schemas.openxmlformats.org/officeDocument/2006/relationships/tags" Target="../tags/tag212.xml"/></Relationships>
</file>

<file path=ppt/slides/_rels/slide99.xml.rels><?xml version="1.0" encoding="UTF-8" standalone="yes"?>
<Relationships xmlns="http://schemas.openxmlformats.org/package/2006/relationships"><Relationship Id="rId7" Type="http://schemas.openxmlformats.org/officeDocument/2006/relationships/notesSlide" Target="../notesSlides/notesSlide97.xml"/><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17.emf"/><Relationship Id="rId3" Type="http://schemas.openxmlformats.org/officeDocument/2006/relationships/oleObject" Target="../embeddings/oleObject14.bin"/><Relationship Id="rId2" Type="http://schemas.openxmlformats.org/officeDocument/2006/relationships/tags" Target="../tags/tag215.xml"/><Relationship Id="rId1" Type="http://schemas.openxmlformats.org/officeDocument/2006/relationships/tags" Target="../tags/tag214.xml"/></Relationships>
</file>

<file path=ppt/slides/_rels/slide100.xml.rels><?xml version="1.0" encoding="UTF-8" standalone="yes"?>
<Relationships xmlns="http://schemas.openxmlformats.org/package/2006/relationships"><Relationship Id="rId7" Type="http://schemas.openxmlformats.org/officeDocument/2006/relationships/notesSlide" Target="../notesSlides/notesSlide98.xml"/><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18.emf"/><Relationship Id="rId3" Type="http://schemas.openxmlformats.org/officeDocument/2006/relationships/oleObject" Target="../embeddings/oleObject15.bin"/><Relationship Id="rId2" Type="http://schemas.openxmlformats.org/officeDocument/2006/relationships/tags" Target="../tags/tag217.xml"/><Relationship Id="rId1" Type="http://schemas.openxmlformats.org/officeDocument/2006/relationships/tags" Target="../tags/tag216.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2.xml"/><Relationship Id="rId2" Type="http://schemas.openxmlformats.org/officeDocument/2006/relationships/tags" Target="../tags/tag219.xml"/><Relationship Id="rId1" Type="http://schemas.openxmlformats.org/officeDocument/2006/relationships/tags" Target="../tags/tag218.xml"/></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2.xml"/><Relationship Id="rId2" Type="http://schemas.openxmlformats.org/officeDocument/2006/relationships/tags" Target="../tags/tag221.xml"/><Relationship Id="rId1" Type="http://schemas.openxmlformats.org/officeDocument/2006/relationships/tags" Target="../tags/tag220.xml"/></Relationships>
</file>

<file path=ppt/slides/_rels/slide103.xml.rels><?xml version="1.0" encoding="UTF-8" standalone="yes"?>
<Relationships xmlns="http://schemas.openxmlformats.org/package/2006/relationships"><Relationship Id="rId7" Type="http://schemas.openxmlformats.org/officeDocument/2006/relationships/notesSlide" Target="../notesSlides/notesSlide101.xml"/><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19.emf"/><Relationship Id="rId3" Type="http://schemas.openxmlformats.org/officeDocument/2006/relationships/oleObject" Target="../embeddings/oleObject16.bin"/><Relationship Id="rId2" Type="http://schemas.openxmlformats.org/officeDocument/2006/relationships/tags" Target="../tags/tag223.xml"/><Relationship Id="rId1" Type="http://schemas.openxmlformats.org/officeDocument/2006/relationships/tags" Target="../tags/tag222.xml"/></Relationships>
</file>

<file path=ppt/slides/_rels/slide104.xml.rels><?xml version="1.0" encoding="UTF-8" standalone="yes"?>
<Relationships xmlns="http://schemas.openxmlformats.org/package/2006/relationships"><Relationship Id="rId7" Type="http://schemas.openxmlformats.org/officeDocument/2006/relationships/notesSlide" Target="../notesSlides/notesSlide102.xml"/><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20.emf"/><Relationship Id="rId3" Type="http://schemas.openxmlformats.org/officeDocument/2006/relationships/oleObject" Target="../embeddings/oleObject17.bin"/><Relationship Id="rId2" Type="http://schemas.openxmlformats.org/officeDocument/2006/relationships/tags" Target="../tags/tag225.xml"/><Relationship Id="rId1" Type="http://schemas.openxmlformats.org/officeDocument/2006/relationships/tags" Target="../tags/tag224.xml"/></Relationships>
</file>

<file path=ppt/slides/_rels/slide105.xml.rels><?xml version="1.0" encoding="UTF-8" standalone="yes"?>
<Relationships xmlns="http://schemas.openxmlformats.org/package/2006/relationships"><Relationship Id="rId7" Type="http://schemas.openxmlformats.org/officeDocument/2006/relationships/notesSlide" Target="../notesSlides/notesSlide103.xml"/><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21.emf"/><Relationship Id="rId3" Type="http://schemas.openxmlformats.org/officeDocument/2006/relationships/oleObject" Target="../embeddings/oleObject18.bin"/><Relationship Id="rId2" Type="http://schemas.openxmlformats.org/officeDocument/2006/relationships/tags" Target="../tags/tag227.xml"/><Relationship Id="rId1" Type="http://schemas.openxmlformats.org/officeDocument/2006/relationships/tags" Target="../tags/tag226.xml"/></Relationships>
</file>

<file path=ppt/slides/_rels/slide106.xml.rels><?xml version="1.0" encoding="UTF-8" standalone="yes"?>
<Relationships xmlns="http://schemas.openxmlformats.org/package/2006/relationships"><Relationship Id="rId8" Type="http://schemas.openxmlformats.org/officeDocument/2006/relationships/notesSlide" Target="../notesSlides/notesSlide104.xml"/><Relationship Id="rId7" Type="http://schemas.openxmlformats.org/officeDocument/2006/relationships/vmlDrawing" Target="../drawings/vmlDrawing17.vml"/><Relationship Id="rId6"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oleObject" Target="../embeddings/oleObject19.bin"/><Relationship Id="rId3" Type="http://schemas.openxmlformats.org/officeDocument/2006/relationships/image" Target="../media/image22.wmf"/><Relationship Id="rId2" Type="http://schemas.openxmlformats.org/officeDocument/2006/relationships/tags" Target="../tags/tag229.xml"/><Relationship Id="rId1" Type="http://schemas.openxmlformats.org/officeDocument/2006/relationships/tags" Target="../tags/tag228.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tags" Target="../tags/tag230.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tags" Target="../tags/tag231.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232.xml"/></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2.xml"/><Relationship Id="rId2" Type="http://schemas.openxmlformats.org/officeDocument/2006/relationships/tags" Target="../tags/tag234.xml"/><Relationship Id="rId1" Type="http://schemas.openxmlformats.org/officeDocument/2006/relationships/tags" Target="../tags/tag233.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tags" Target="../tags/tag235.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236.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tags" Target="../tags/tag237.xml"/></Relationships>
</file>

<file path=ppt/slides/_rels/slide114.xml.rels><?xml version="1.0" encoding="UTF-8" standalone="yes"?>
<Relationships xmlns="http://schemas.openxmlformats.org/package/2006/relationships"><Relationship Id="rId6" Type="http://schemas.openxmlformats.org/officeDocument/2006/relationships/notesSlide" Target="../notesSlides/notesSlide112.xml"/><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tags" Target="../tags/tag238.xml"/></Relationships>
</file>

<file path=ppt/slides/_rels/slide115.xml.rels><?xml version="1.0" encoding="UTF-8" standalone="yes"?>
<Relationships xmlns="http://schemas.openxmlformats.org/package/2006/relationships"><Relationship Id="rId9" Type="http://schemas.openxmlformats.org/officeDocument/2006/relationships/notesSlide" Target="../notesSlides/notesSlide113.xml"/><Relationship Id="rId8" Type="http://schemas.openxmlformats.org/officeDocument/2006/relationships/vmlDrawing" Target="../drawings/vmlDrawing19.vml"/><Relationship Id="rId7"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22.bin"/><Relationship Id="rId4" Type="http://schemas.openxmlformats.org/officeDocument/2006/relationships/image" Target="../media/image27.png"/><Relationship Id="rId3" Type="http://schemas.openxmlformats.org/officeDocument/2006/relationships/image" Target="../media/image26.wmf"/><Relationship Id="rId2" Type="http://schemas.openxmlformats.org/officeDocument/2006/relationships/oleObject" Target="../embeddings/oleObject21.bin"/><Relationship Id="rId1" Type="http://schemas.openxmlformats.org/officeDocument/2006/relationships/tags" Target="../tags/tag239.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tags" Target="../tags/tag240.xml"/></Relationships>
</file>

<file path=ppt/slides/_rels/slide117.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2.xml"/><Relationship Id="rId7" Type="http://schemas.openxmlformats.org/officeDocument/2006/relationships/tags" Target="../tags/tag242.xml"/><Relationship Id="rId6" Type="http://schemas.openxmlformats.org/officeDocument/2006/relationships/image" Target="../media/image31.wmf"/><Relationship Id="rId5" Type="http://schemas.openxmlformats.org/officeDocument/2006/relationships/oleObject" Target="../embeddings/oleObject24.bin"/><Relationship Id="rId4" Type="http://schemas.openxmlformats.org/officeDocument/2006/relationships/image" Target="../media/image30.wmf"/><Relationship Id="rId3" Type="http://schemas.openxmlformats.org/officeDocument/2006/relationships/oleObject" Target="../embeddings/oleObject23.bin"/><Relationship Id="rId2" Type="http://schemas.openxmlformats.org/officeDocument/2006/relationships/image" Target="../media/image29.png"/><Relationship Id="rId10" Type="http://schemas.openxmlformats.org/officeDocument/2006/relationships/notesSlide" Target="../notesSlides/notesSlide115.xml"/><Relationship Id="rId1" Type="http://schemas.openxmlformats.org/officeDocument/2006/relationships/tags" Target="../tags/tag241.xml"/></Relationships>
</file>

<file path=ppt/slides/_rels/slide1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44.xml"/><Relationship Id="rId7" Type="http://schemas.openxmlformats.org/officeDocument/2006/relationships/image" Target="../media/image34.wmf"/><Relationship Id="rId6" Type="http://schemas.openxmlformats.org/officeDocument/2006/relationships/oleObject" Target="../embeddings/oleObject27.bin"/><Relationship Id="rId5" Type="http://schemas.openxmlformats.org/officeDocument/2006/relationships/image" Target="../media/image33.wmf"/><Relationship Id="rId4" Type="http://schemas.openxmlformats.org/officeDocument/2006/relationships/oleObject" Target="../embeddings/oleObject26.bin"/><Relationship Id="rId3" Type="http://schemas.openxmlformats.org/officeDocument/2006/relationships/image" Target="../media/image32.wmf"/><Relationship Id="rId2" Type="http://schemas.openxmlformats.org/officeDocument/2006/relationships/oleObject" Target="../embeddings/oleObject25.bin"/><Relationship Id="rId11" Type="http://schemas.openxmlformats.org/officeDocument/2006/relationships/notesSlide" Target="../notesSlides/notesSlide116.xml"/><Relationship Id="rId10" Type="http://schemas.openxmlformats.org/officeDocument/2006/relationships/vmlDrawing" Target="../drawings/vmlDrawing21.vml"/><Relationship Id="rId1" Type="http://schemas.openxmlformats.org/officeDocument/2006/relationships/tags" Target="../tags/tag243.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tags" Target="../tags/tag245.xml"/></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tags" Target="../tags/tag246.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tags" Target="../tags/tag247.xml"/></Relationships>
</file>

<file path=ppt/slides/_rels/slide122.xml.rels><?xml version="1.0" encoding="UTF-8" standalone="yes"?>
<Relationships xmlns="http://schemas.openxmlformats.org/package/2006/relationships"><Relationship Id="rId5" Type="http://schemas.openxmlformats.org/officeDocument/2006/relationships/notesSlide" Target="../notesSlides/notesSlide120.xml"/><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tags" Target="../tags/tag248.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tags" Target="../tags/tag249.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tags" Target="../tags/tag250.xml"/></Relationships>
</file>

<file path=ppt/slides/_rels/slide125.xml.rels><?xml version="1.0" encoding="UTF-8" standalone="yes"?>
<Relationships xmlns="http://schemas.openxmlformats.org/package/2006/relationships"><Relationship Id="rId4" Type="http://schemas.openxmlformats.org/officeDocument/2006/relationships/notesSlide" Target="../notesSlides/notesSlide123.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tags" Target="../tags/tag251.xml"/></Relationships>
</file>

<file path=ppt/slides/_rels/slide126.xml.rels><?xml version="1.0" encoding="UTF-8" standalone="yes"?>
<Relationships xmlns="http://schemas.openxmlformats.org/package/2006/relationships"><Relationship Id="rId5" Type="http://schemas.openxmlformats.org/officeDocument/2006/relationships/notesSlide" Target="../notesSlides/notesSlide124.xml"/><Relationship Id="rId4" Type="http://schemas.openxmlformats.org/officeDocument/2006/relationships/slideLayout" Target="../slideLayouts/slideLayout2.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tags" Target="../tags/tag255.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tags" Target="../tags/tag256.xml"/></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127.xml"/><Relationship Id="rId3" Type="http://schemas.openxmlformats.org/officeDocument/2006/relationships/slideLayout" Target="../slideLayouts/slideLayout2.xml"/><Relationship Id="rId2" Type="http://schemas.openxmlformats.org/officeDocument/2006/relationships/tags" Target="../tags/tag258.xml"/><Relationship Id="rId1" Type="http://schemas.openxmlformats.org/officeDocument/2006/relationships/tags" Target="../tags/tag257.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tags" Target="../tags/tag259.xml"/></Relationships>
</file>

<file path=ppt/slides/_rels/slide131.xml.rels><?xml version="1.0" encoding="UTF-8" standalone="yes"?>
<Relationships xmlns="http://schemas.openxmlformats.org/package/2006/relationships"><Relationship Id="rId7" Type="http://schemas.openxmlformats.org/officeDocument/2006/relationships/notesSlide" Target="../notesSlides/notesSlide129.xml"/><Relationship Id="rId6" Type="http://schemas.openxmlformats.org/officeDocument/2006/relationships/vmlDrawing" Target="../drawings/vmlDrawing22.vml"/><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8.wmf"/><Relationship Id="rId2" Type="http://schemas.openxmlformats.org/officeDocument/2006/relationships/oleObject" Target="../embeddings/oleObject28.bin"/><Relationship Id="rId1" Type="http://schemas.openxmlformats.org/officeDocument/2006/relationships/tags" Target="../tags/tag260.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tags" Target="../tags/tag261.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2.xml"/><Relationship Id="rId1" Type="http://schemas.openxmlformats.org/officeDocument/2006/relationships/tags" Target="../tags/tag262.xml"/></Relationships>
</file>

<file path=ppt/slides/_rels/slide134.xml.rels><?xml version="1.0" encoding="UTF-8" standalone="yes"?>
<Relationships xmlns="http://schemas.openxmlformats.org/package/2006/relationships"><Relationship Id="rId6" Type="http://schemas.openxmlformats.org/officeDocument/2006/relationships/notesSlide" Target="../notesSlides/notesSlide132.xml"/><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tags" Target="../tags/tag263.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2.xml"/><Relationship Id="rId1" Type="http://schemas.openxmlformats.org/officeDocument/2006/relationships/tags" Target="../tags/tag264.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2.xml"/><Relationship Id="rId1" Type="http://schemas.openxmlformats.org/officeDocument/2006/relationships/tags" Target="../tags/tag265.xml"/></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135.xml"/><Relationship Id="rId3" Type="http://schemas.openxmlformats.org/officeDocument/2006/relationships/slideLayout" Target="../slideLayouts/slideLayout2.xml"/><Relationship Id="rId2" Type="http://schemas.openxmlformats.org/officeDocument/2006/relationships/tags" Target="../tags/tag267.xml"/><Relationship Id="rId1" Type="http://schemas.openxmlformats.org/officeDocument/2006/relationships/tags" Target="../tags/tag266.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2.xml"/><Relationship Id="rId1" Type="http://schemas.openxmlformats.org/officeDocument/2006/relationships/tags" Target="../tags/tag268.xml"/></Relationships>
</file>

<file path=ppt/slides/_rels/slide139.xml.rels><?xml version="1.0" encoding="UTF-8" standalone="yes"?>
<Relationships xmlns="http://schemas.openxmlformats.org/package/2006/relationships"><Relationship Id="rId4" Type="http://schemas.openxmlformats.org/officeDocument/2006/relationships/notesSlide" Target="../notesSlides/notesSlide137.xml"/><Relationship Id="rId3" Type="http://schemas.openxmlformats.org/officeDocument/2006/relationships/slideLayout" Target="../slideLayouts/slideLayout2.xml"/><Relationship Id="rId2" Type="http://schemas.openxmlformats.org/officeDocument/2006/relationships/tags" Target="../tags/tag270.xml"/><Relationship Id="rId1" Type="http://schemas.openxmlformats.org/officeDocument/2006/relationships/tags" Target="../tags/tag269.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tags" Target="../tags/tag271.xml"/></Relationships>
</file>

<file path=ppt/slides/_rels/slide141.xml.rels><?xml version="1.0" encoding="UTF-8" standalone="yes"?>
<Relationships xmlns="http://schemas.openxmlformats.org/package/2006/relationships"><Relationship Id="rId5" Type="http://schemas.openxmlformats.org/officeDocument/2006/relationships/notesSlide" Target="../notesSlides/notesSlide139.xml"/><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tags" Target="../tags/tag272.xml"/></Relationships>
</file>

<file path=ppt/slides/_rels/slide14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emf"/><Relationship Id="rId4" Type="http://schemas.openxmlformats.org/officeDocument/2006/relationships/oleObject" Target="" TargetMode="External"/><Relationship Id="rId3" Type="http://schemas.openxmlformats.org/officeDocument/2006/relationships/image" Target="../media/image45.png"/><Relationship Id="rId2" Type="http://schemas.openxmlformats.org/officeDocument/2006/relationships/image" Target="../media/image44.png"/><Relationship Id="rId11" Type="http://schemas.openxmlformats.org/officeDocument/2006/relationships/notesSlide" Target="../notesSlides/notesSlide140.xml"/><Relationship Id="rId10" Type="http://schemas.openxmlformats.org/officeDocument/2006/relationships/vmlDrawing" Target="../drawings/vmlDrawing23.vml"/><Relationship Id="rId1" Type="http://schemas.openxmlformats.org/officeDocument/2006/relationships/tags" Target="../tags/tag273.xml"/></Relationships>
</file>

<file path=ppt/slides/_rels/slide143.xml.rels><?xml version="1.0" encoding="UTF-8" standalone="yes"?>
<Relationships xmlns="http://schemas.openxmlformats.org/package/2006/relationships"><Relationship Id="rId5" Type="http://schemas.openxmlformats.org/officeDocument/2006/relationships/notesSlide" Target="../notesSlides/notesSlide141.xml"/><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tags" Target="../tags/tag274.xml"/></Relationships>
</file>

<file path=ppt/slides/_rels/slide144.xml.rels><?xml version="1.0" encoding="UTF-8" standalone="yes"?>
<Relationships xmlns="http://schemas.openxmlformats.org/package/2006/relationships"><Relationship Id="rId9" Type="http://schemas.openxmlformats.org/officeDocument/2006/relationships/notesSlide" Target="../notesSlides/notesSlide142.xml"/><Relationship Id="rId8" Type="http://schemas.openxmlformats.org/officeDocument/2006/relationships/slideLayout" Target="../slideLayouts/slideLayout2.xml"/><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tags" Target="../tags/tag275.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42900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7" name="文本框 283"/>
          <p:cNvSpPr txBox="1"/>
          <p:nvPr/>
        </p:nvSpPr>
        <p:spPr>
          <a:xfrm>
            <a:off x="2253378" y="1728204"/>
            <a:ext cx="7685244" cy="119888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其他线性结构</a:t>
            </a:r>
            <a:endPar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 name="组合 7"/>
          <p:cNvGrpSpPr/>
          <p:nvPr/>
        </p:nvGrpSpPr>
        <p:grpSpPr>
          <a:xfrm>
            <a:off x="4356353" y="4939300"/>
            <a:ext cx="3950519" cy="1029628"/>
            <a:chOff x="4293107" y="4891174"/>
            <a:chExt cx="3479292" cy="1029628"/>
          </a:xfrm>
        </p:grpSpPr>
        <p:sp>
          <p:nvSpPr>
            <p:cNvPr id="28" name="文本框 27"/>
            <p:cNvSpPr txBox="1"/>
            <p:nvPr/>
          </p:nvSpPr>
          <p:spPr>
            <a:xfrm flipH="1">
              <a:off x="4293107" y="4891174"/>
              <a:ext cx="3479292" cy="400110"/>
            </a:xfrm>
            <a:prstGeom prst="rect">
              <a:avLst/>
            </a:prstGeom>
            <a:noFill/>
            <a:ln>
              <a:noFill/>
            </a:ln>
          </p:spPr>
          <p:txBody>
            <a:bodyPr vert="horz" wrap="square" rtlCol="0">
              <a:spAutoFit/>
            </a:bodyPr>
            <a:lstStyle/>
            <a:p>
              <a:pPr marL="342900" lvl="0" indent="-342900" defTabSz="1219200">
                <a:buFont typeface="微软雅黑" panose="020B0503020204020204" pitchFamily="34" charset="-12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rPr>
                <a:t>课程性质：专业</a:t>
              </a:r>
              <a:r>
                <a:rPr lang="zh-CN" altLang="en-US" sz="2000" spc="300" dirty="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rPr>
                <a:t>必修课</a:t>
              </a:r>
              <a:endParaRPr lang="zh-CN" altLang="en-US" sz="2000" spc="3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30" name="文本框 29"/>
            <p:cNvSpPr txBox="1"/>
            <p:nvPr/>
          </p:nvSpPr>
          <p:spPr>
            <a:xfrm flipH="1">
              <a:off x="4293107" y="5520692"/>
              <a:ext cx="3479292" cy="400110"/>
            </a:xfrm>
            <a:prstGeom prst="rect">
              <a:avLst/>
            </a:prstGeom>
            <a:noFill/>
            <a:ln>
              <a:noFill/>
            </a:ln>
          </p:spPr>
          <p:txBody>
            <a:bodyPr vert="horz" wrap="square" rtlCol="0">
              <a:spAutoFit/>
            </a:bodyPr>
            <a:lstStyle/>
            <a:p>
              <a:pPr marL="342900" lvl="0" indent="-342900" defTabSz="1219200">
                <a:buFont typeface="微软雅黑" panose="020B0503020204020204" pitchFamily="34" charset="-12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rPr>
                <a:t>授课对象：本科二年级</a:t>
              </a:r>
              <a:endParaRPr lang="zh-CN" altLang="en-US" sz="2000" spc="3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grpSp>
      <p:sp>
        <p:nvSpPr>
          <p:cNvPr id="16" name="矩形 15"/>
          <p:cNvSpPr/>
          <p:nvPr/>
        </p:nvSpPr>
        <p:spPr>
          <a:xfrm>
            <a:off x="2253378" y="3947028"/>
            <a:ext cx="7685244" cy="586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796779" y="6270902"/>
            <a:ext cx="8598443" cy="0"/>
          </a:xfrm>
          <a:prstGeom prst="line">
            <a:avLst/>
          </a:prstGeom>
          <a:ln w="12700">
            <a:gradFill>
              <a:gsLst>
                <a:gs pos="0">
                  <a:schemeClr val="accent1">
                    <a:lumMod val="5000"/>
                    <a:lumOff val="95000"/>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283"/>
          <p:cNvSpPr txBox="1"/>
          <p:nvPr/>
        </p:nvSpPr>
        <p:spPr>
          <a:xfrm>
            <a:off x="3000776" y="3992461"/>
            <a:ext cx="638372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课程名称：数据结构</a:t>
            </a:r>
            <a:endPar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283"/>
          <p:cNvSpPr txBox="1"/>
          <p:nvPr/>
        </p:nvSpPr>
        <p:spPr>
          <a:xfrm>
            <a:off x="-358103" y="331578"/>
            <a:ext cx="6001746" cy="46037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0"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r>
              <a:rPr lang="zh-CN" altLang="en-US" dirty="0">
                <a:latin typeface="微软雅黑" panose="020B0503020204020204" pitchFamily="34" charset="-122"/>
                <a:cs typeface="微软雅黑" panose="020B0503020204020204" pitchFamily="34" charset="-122"/>
              </a:rPr>
              <a:t>节选自第三章 </a:t>
            </a:r>
            <a:r>
              <a:rPr lang="zh-CN" dirty="0">
                <a:latin typeface="微软雅黑" panose="020B0503020204020204" pitchFamily="34" charset="-122"/>
                <a:cs typeface="微软雅黑" panose="020B0503020204020204" pitchFamily="34" charset="-122"/>
              </a:rPr>
              <a:t>其他线性结构</a:t>
            </a:r>
            <a:endParaRPr lang="zh-CN" dirty="0">
              <a:latin typeface="微软雅黑" panose="020B0503020204020204" pitchFamily="34" charset="-122"/>
              <a:cs typeface="微软雅黑" panose="020B0503020204020204" pitchFamily="34" charset="-122"/>
            </a:endParaRPr>
          </a:p>
        </p:txBody>
      </p:sp>
      <p:sp>
        <p:nvSpPr>
          <p:cNvPr id="2" name="文本框 283"/>
          <p:cNvSpPr txBox="1"/>
          <p:nvPr/>
        </p:nvSpPr>
        <p:spPr>
          <a:xfrm>
            <a:off x="8307705" y="331470"/>
            <a:ext cx="3618230" cy="46037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1"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algn="l"/>
            <a:r>
              <a:rPr lang="en-US" altLang="zh-CN" i="0" spc="0" dirty="0" smtClean="0"/>
              <a:t>《Other linear structures</a:t>
            </a:r>
            <a:r>
              <a:rPr lang="en-US" altLang="zh-CN" i="0" spc="0" dirty="0"/>
              <a:t>》</a:t>
            </a:r>
            <a:endParaRPr lang="zh-CN" altLang="en-US" i="0" spc="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0"/>
            <a:ext cx="3770345"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nvGrpSpPr>
          <p:cNvPr id="35" name="组合 34"/>
          <p:cNvGrpSpPr/>
          <p:nvPr/>
        </p:nvGrpSpPr>
        <p:grpSpPr>
          <a:xfrm>
            <a:off x="538579" y="2731214"/>
            <a:ext cx="2732672" cy="1290429"/>
            <a:chOff x="1960631" y="2033950"/>
            <a:chExt cx="2732672" cy="1290429"/>
          </a:xfrm>
        </p:grpSpPr>
        <p:sp>
          <p:nvSpPr>
            <p:cNvPr id="36" name="Title 1"/>
            <p:cNvSpPr txBox="1"/>
            <p:nvPr/>
          </p:nvSpPr>
          <p:spPr>
            <a:xfrm>
              <a:off x="2390080" y="2033950"/>
              <a:ext cx="1873774" cy="761875"/>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i="0"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kumimoji="0" lang="en-US" sz="5400" i="0"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7" name="文本框 36"/>
            <p:cNvSpPr txBox="1"/>
            <p:nvPr/>
          </p:nvSpPr>
          <p:spPr>
            <a:xfrm>
              <a:off x="1960631" y="2924269"/>
              <a:ext cx="2732672" cy="400110"/>
            </a:xfrm>
            <a:prstGeom prst="rect">
              <a:avLst/>
            </a:prstGeom>
            <a:noFill/>
          </p:spPr>
          <p:txBody>
            <a:bodyPr wrap="square">
              <a:spAutoFit/>
            </a:bodyPr>
            <a:lstStyle/>
            <a:p>
              <a:pPr algn="ctr"/>
              <a:r>
                <a:rPr lang="en-US" altLang="zh-CN" sz="2000" b="1" spc="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CONTENTS</a:t>
              </a:r>
              <a:endParaRPr lang="zh-CN" altLang="en-US" sz="2000" b="1" spc="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 name="组合 6"/>
          <p:cNvGrpSpPr/>
          <p:nvPr>
            <p:custDataLst>
              <p:tags r:id="rId1"/>
            </p:custDataLst>
          </p:nvPr>
        </p:nvGrpSpPr>
        <p:grpSpPr>
          <a:xfrm rot="0">
            <a:off x="5054600" y="1212215"/>
            <a:ext cx="6137275" cy="649605"/>
            <a:chOff x="5054619" y="1197820"/>
            <a:chExt cx="6137122" cy="649706"/>
          </a:xfrm>
        </p:grpSpPr>
        <p:sp>
          <p:nvSpPr>
            <p:cNvPr id="51" name="矩形 50"/>
            <p:cNvSpPr/>
            <p:nvPr>
              <p:custDataLst>
                <p:tags r:id="rId2"/>
              </p:custDataLst>
            </p:nvPr>
          </p:nvSpPr>
          <p:spPr>
            <a:xfrm>
              <a:off x="5265495" y="1197820"/>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2" name="矩形 51"/>
            <p:cNvSpPr/>
            <p:nvPr>
              <p:custDataLst>
                <p:tags r:id="rId3"/>
              </p:custDataLst>
            </p:nvPr>
          </p:nvSpPr>
          <p:spPr>
            <a:xfrm>
              <a:off x="6465289" y="1197820"/>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3" name="文本框 9"/>
            <p:cNvSpPr txBox="1"/>
            <p:nvPr>
              <p:custDataLst>
                <p:tags r:id="rId4"/>
              </p:custDataLst>
            </p:nvPr>
          </p:nvSpPr>
          <p:spPr>
            <a:xfrm>
              <a:off x="5054619" y="1286814"/>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4" name="TextBox 49"/>
            <p:cNvSpPr txBox="1"/>
            <p:nvPr>
              <p:custDataLst>
                <p:tags r:id="rId5"/>
              </p:custDataLst>
            </p:nvPr>
          </p:nvSpPr>
          <p:spPr>
            <a:xfrm>
              <a:off x="7557741" y="1256036"/>
              <a:ext cx="2654770"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2" name="progress-report_18229"/>
            <p:cNvSpPr/>
            <p:nvPr>
              <p:custDataLst>
                <p:tags r:id="rId6"/>
              </p:custDataLst>
            </p:nvPr>
          </p:nvSpPr>
          <p:spPr>
            <a:xfrm>
              <a:off x="6739399" y="1295210"/>
              <a:ext cx="473328" cy="453283"/>
            </a:xfrm>
            <a:custGeom>
              <a:avLst/>
              <a:gdLst>
                <a:gd name="T0" fmla="*/ 9715 w 10362"/>
                <a:gd name="T1" fmla="*/ 3586 h 10386"/>
                <a:gd name="T2" fmla="*/ 8844 w 10362"/>
                <a:gd name="T3" fmla="*/ 3586 h 10386"/>
                <a:gd name="T4" fmla="*/ 5353 w 10362"/>
                <a:gd name="T5" fmla="*/ 95 h 10386"/>
                <a:gd name="T6" fmla="*/ 5010 w 10362"/>
                <a:gd name="T7" fmla="*/ 95 h 10386"/>
                <a:gd name="T8" fmla="*/ 1519 w 10362"/>
                <a:gd name="T9" fmla="*/ 3586 h 10386"/>
                <a:gd name="T10" fmla="*/ 647 w 10362"/>
                <a:gd name="T11" fmla="*/ 3586 h 10386"/>
                <a:gd name="T12" fmla="*/ 0 w 10362"/>
                <a:gd name="T13" fmla="*/ 4234 h 10386"/>
                <a:gd name="T14" fmla="*/ 0 w 10362"/>
                <a:gd name="T15" fmla="*/ 9739 h 10386"/>
                <a:gd name="T16" fmla="*/ 647 w 10362"/>
                <a:gd name="T17" fmla="*/ 10386 h 10386"/>
                <a:gd name="T18" fmla="*/ 9715 w 10362"/>
                <a:gd name="T19" fmla="*/ 10386 h 10386"/>
                <a:gd name="T20" fmla="*/ 10362 w 10362"/>
                <a:gd name="T21" fmla="*/ 9739 h 10386"/>
                <a:gd name="T22" fmla="*/ 10362 w 10362"/>
                <a:gd name="T23" fmla="*/ 4234 h 10386"/>
                <a:gd name="T24" fmla="*/ 9715 w 10362"/>
                <a:gd name="T25" fmla="*/ 3586 h 10386"/>
                <a:gd name="T26" fmla="*/ 5181 w 10362"/>
                <a:gd name="T27" fmla="*/ 610 h 10386"/>
                <a:gd name="T28" fmla="*/ 8157 w 10362"/>
                <a:gd name="T29" fmla="*/ 3586 h 10386"/>
                <a:gd name="T30" fmla="*/ 2206 w 10362"/>
                <a:gd name="T31" fmla="*/ 3586 h 10386"/>
                <a:gd name="T32" fmla="*/ 5181 w 10362"/>
                <a:gd name="T33" fmla="*/ 610 h 10386"/>
                <a:gd name="T34" fmla="*/ 2031 w 10362"/>
                <a:gd name="T35" fmla="*/ 9091 h 10386"/>
                <a:gd name="T36" fmla="*/ 1545 w 10362"/>
                <a:gd name="T37" fmla="*/ 8605 h 10386"/>
                <a:gd name="T38" fmla="*/ 2031 w 10362"/>
                <a:gd name="T39" fmla="*/ 8119 h 10386"/>
                <a:gd name="T40" fmla="*/ 2517 w 10362"/>
                <a:gd name="T41" fmla="*/ 8605 h 10386"/>
                <a:gd name="T42" fmla="*/ 2031 w 10362"/>
                <a:gd name="T43" fmla="*/ 9091 h 10386"/>
                <a:gd name="T44" fmla="*/ 2031 w 10362"/>
                <a:gd name="T45" fmla="*/ 7471 h 10386"/>
                <a:gd name="T46" fmla="*/ 1545 w 10362"/>
                <a:gd name="T47" fmla="*/ 6985 h 10386"/>
                <a:gd name="T48" fmla="*/ 2031 w 10362"/>
                <a:gd name="T49" fmla="*/ 6499 h 10386"/>
                <a:gd name="T50" fmla="*/ 2517 w 10362"/>
                <a:gd name="T51" fmla="*/ 6985 h 10386"/>
                <a:gd name="T52" fmla="*/ 2031 w 10362"/>
                <a:gd name="T53" fmla="*/ 7471 h 10386"/>
                <a:gd name="T54" fmla="*/ 2031 w 10362"/>
                <a:gd name="T55" fmla="*/ 5852 h 10386"/>
                <a:gd name="T56" fmla="*/ 1545 w 10362"/>
                <a:gd name="T57" fmla="*/ 5366 h 10386"/>
                <a:gd name="T58" fmla="*/ 2031 w 10362"/>
                <a:gd name="T59" fmla="*/ 4880 h 10386"/>
                <a:gd name="T60" fmla="*/ 2517 w 10362"/>
                <a:gd name="T61" fmla="*/ 5366 h 10386"/>
                <a:gd name="T62" fmla="*/ 2031 w 10362"/>
                <a:gd name="T63" fmla="*/ 5852 h 10386"/>
                <a:gd name="T64" fmla="*/ 8817 w 10362"/>
                <a:gd name="T65" fmla="*/ 8848 h 10386"/>
                <a:gd name="T66" fmla="*/ 3636 w 10362"/>
                <a:gd name="T67" fmla="*/ 8848 h 10386"/>
                <a:gd name="T68" fmla="*/ 3394 w 10362"/>
                <a:gd name="T69" fmla="*/ 8605 h 10386"/>
                <a:gd name="T70" fmla="*/ 3636 w 10362"/>
                <a:gd name="T71" fmla="*/ 8363 h 10386"/>
                <a:gd name="T72" fmla="*/ 8817 w 10362"/>
                <a:gd name="T73" fmla="*/ 8363 h 10386"/>
                <a:gd name="T74" fmla="*/ 9060 w 10362"/>
                <a:gd name="T75" fmla="*/ 8605 h 10386"/>
                <a:gd name="T76" fmla="*/ 8817 w 10362"/>
                <a:gd name="T77" fmla="*/ 8848 h 10386"/>
                <a:gd name="T78" fmla="*/ 8817 w 10362"/>
                <a:gd name="T79" fmla="*/ 7229 h 10386"/>
                <a:gd name="T80" fmla="*/ 3636 w 10362"/>
                <a:gd name="T81" fmla="*/ 7229 h 10386"/>
                <a:gd name="T82" fmla="*/ 3394 w 10362"/>
                <a:gd name="T83" fmla="*/ 6986 h 10386"/>
                <a:gd name="T84" fmla="*/ 3636 w 10362"/>
                <a:gd name="T85" fmla="*/ 6744 h 10386"/>
                <a:gd name="T86" fmla="*/ 8817 w 10362"/>
                <a:gd name="T87" fmla="*/ 6744 h 10386"/>
                <a:gd name="T88" fmla="*/ 9060 w 10362"/>
                <a:gd name="T89" fmla="*/ 6986 h 10386"/>
                <a:gd name="T90" fmla="*/ 8817 w 10362"/>
                <a:gd name="T91" fmla="*/ 7229 h 10386"/>
                <a:gd name="T92" fmla="*/ 8817 w 10362"/>
                <a:gd name="T93" fmla="*/ 5610 h 10386"/>
                <a:gd name="T94" fmla="*/ 3636 w 10362"/>
                <a:gd name="T95" fmla="*/ 5610 h 10386"/>
                <a:gd name="T96" fmla="*/ 3394 w 10362"/>
                <a:gd name="T97" fmla="*/ 5368 h 10386"/>
                <a:gd name="T98" fmla="*/ 3636 w 10362"/>
                <a:gd name="T99" fmla="*/ 5125 h 10386"/>
                <a:gd name="T100" fmla="*/ 8817 w 10362"/>
                <a:gd name="T101" fmla="*/ 5125 h 10386"/>
                <a:gd name="T102" fmla="*/ 9060 w 10362"/>
                <a:gd name="T103" fmla="*/ 5368 h 10386"/>
                <a:gd name="T104" fmla="*/ 8817 w 10362"/>
                <a:gd name="T105" fmla="*/ 5610 h 10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362" h="10386">
                  <a:moveTo>
                    <a:pt x="9715" y="3586"/>
                  </a:moveTo>
                  <a:lnTo>
                    <a:pt x="8844" y="3586"/>
                  </a:lnTo>
                  <a:lnTo>
                    <a:pt x="5353" y="95"/>
                  </a:lnTo>
                  <a:cubicBezTo>
                    <a:pt x="5258" y="0"/>
                    <a:pt x="5105" y="0"/>
                    <a:pt x="5010" y="95"/>
                  </a:cubicBezTo>
                  <a:lnTo>
                    <a:pt x="1519" y="3586"/>
                  </a:lnTo>
                  <a:lnTo>
                    <a:pt x="647" y="3586"/>
                  </a:lnTo>
                  <a:cubicBezTo>
                    <a:pt x="290" y="3586"/>
                    <a:pt x="0" y="3876"/>
                    <a:pt x="0" y="4234"/>
                  </a:cubicBezTo>
                  <a:lnTo>
                    <a:pt x="0" y="9739"/>
                  </a:lnTo>
                  <a:cubicBezTo>
                    <a:pt x="0" y="10096"/>
                    <a:pt x="290" y="10386"/>
                    <a:pt x="647" y="10386"/>
                  </a:cubicBezTo>
                  <a:lnTo>
                    <a:pt x="9715" y="10386"/>
                  </a:lnTo>
                  <a:cubicBezTo>
                    <a:pt x="10072" y="10386"/>
                    <a:pt x="10362" y="10096"/>
                    <a:pt x="10362" y="9739"/>
                  </a:cubicBezTo>
                  <a:lnTo>
                    <a:pt x="10362" y="4234"/>
                  </a:lnTo>
                  <a:cubicBezTo>
                    <a:pt x="10362" y="3876"/>
                    <a:pt x="10072" y="3586"/>
                    <a:pt x="9715" y="3586"/>
                  </a:cubicBezTo>
                  <a:close/>
                  <a:moveTo>
                    <a:pt x="5181" y="610"/>
                  </a:moveTo>
                  <a:lnTo>
                    <a:pt x="8157" y="3586"/>
                  </a:lnTo>
                  <a:lnTo>
                    <a:pt x="2206" y="3586"/>
                  </a:lnTo>
                  <a:lnTo>
                    <a:pt x="5181" y="610"/>
                  </a:lnTo>
                  <a:close/>
                  <a:moveTo>
                    <a:pt x="2031" y="9091"/>
                  </a:moveTo>
                  <a:cubicBezTo>
                    <a:pt x="1762" y="9091"/>
                    <a:pt x="1545" y="8874"/>
                    <a:pt x="1545" y="8605"/>
                  </a:cubicBezTo>
                  <a:cubicBezTo>
                    <a:pt x="1545" y="8336"/>
                    <a:pt x="1762" y="8119"/>
                    <a:pt x="2031" y="8119"/>
                  </a:cubicBezTo>
                  <a:cubicBezTo>
                    <a:pt x="2300" y="8119"/>
                    <a:pt x="2517" y="8336"/>
                    <a:pt x="2517" y="8605"/>
                  </a:cubicBezTo>
                  <a:cubicBezTo>
                    <a:pt x="2517" y="8874"/>
                    <a:pt x="2300" y="9091"/>
                    <a:pt x="2031" y="9091"/>
                  </a:cubicBezTo>
                  <a:close/>
                  <a:moveTo>
                    <a:pt x="2031" y="7471"/>
                  </a:moveTo>
                  <a:cubicBezTo>
                    <a:pt x="1762" y="7471"/>
                    <a:pt x="1545" y="7254"/>
                    <a:pt x="1545" y="6985"/>
                  </a:cubicBezTo>
                  <a:cubicBezTo>
                    <a:pt x="1545" y="6716"/>
                    <a:pt x="1762" y="6499"/>
                    <a:pt x="2031" y="6499"/>
                  </a:cubicBezTo>
                  <a:cubicBezTo>
                    <a:pt x="2300" y="6499"/>
                    <a:pt x="2517" y="6716"/>
                    <a:pt x="2517" y="6985"/>
                  </a:cubicBezTo>
                  <a:cubicBezTo>
                    <a:pt x="2517" y="7254"/>
                    <a:pt x="2300" y="7471"/>
                    <a:pt x="2031" y="7471"/>
                  </a:cubicBezTo>
                  <a:close/>
                  <a:moveTo>
                    <a:pt x="2031" y="5852"/>
                  </a:moveTo>
                  <a:cubicBezTo>
                    <a:pt x="1762" y="5852"/>
                    <a:pt x="1545" y="5635"/>
                    <a:pt x="1545" y="5366"/>
                  </a:cubicBezTo>
                  <a:cubicBezTo>
                    <a:pt x="1545" y="5098"/>
                    <a:pt x="1762" y="4880"/>
                    <a:pt x="2031" y="4880"/>
                  </a:cubicBezTo>
                  <a:cubicBezTo>
                    <a:pt x="2300" y="4880"/>
                    <a:pt x="2517" y="5098"/>
                    <a:pt x="2517" y="5366"/>
                  </a:cubicBezTo>
                  <a:cubicBezTo>
                    <a:pt x="2517" y="5635"/>
                    <a:pt x="2300" y="5852"/>
                    <a:pt x="2031" y="5852"/>
                  </a:cubicBezTo>
                  <a:close/>
                  <a:moveTo>
                    <a:pt x="8817" y="8848"/>
                  </a:moveTo>
                  <a:lnTo>
                    <a:pt x="3636" y="8848"/>
                  </a:lnTo>
                  <a:cubicBezTo>
                    <a:pt x="3502" y="8848"/>
                    <a:pt x="3394" y="8739"/>
                    <a:pt x="3394" y="8605"/>
                  </a:cubicBezTo>
                  <a:cubicBezTo>
                    <a:pt x="3394" y="8471"/>
                    <a:pt x="3502" y="8363"/>
                    <a:pt x="3636" y="8363"/>
                  </a:cubicBezTo>
                  <a:lnTo>
                    <a:pt x="8817" y="8363"/>
                  </a:lnTo>
                  <a:cubicBezTo>
                    <a:pt x="8951" y="8363"/>
                    <a:pt x="9060" y="8471"/>
                    <a:pt x="9060" y="8605"/>
                  </a:cubicBezTo>
                  <a:cubicBezTo>
                    <a:pt x="9060" y="8739"/>
                    <a:pt x="8951" y="8848"/>
                    <a:pt x="8817" y="8848"/>
                  </a:cubicBezTo>
                  <a:close/>
                  <a:moveTo>
                    <a:pt x="8817" y="7229"/>
                  </a:moveTo>
                  <a:lnTo>
                    <a:pt x="3636" y="7229"/>
                  </a:lnTo>
                  <a:cubicBezTo>
                    <a:pt x="3502" y="7229"/>
                    <a:pt x="3394" y="7120"/>
                    <a:pt x="3394" y="6986"/>
                  </a:cubicBezTo>
                  <a:cubicBezTo>
                    <a:pt x="3394" y="6853"/>
                    <a:pt x="3502" y="6744"/>
                    <a:pt x="3636" y="6744"/>
                  </a:cubicBezTo>
                  <a:lnTo>
                    <a:pt x="8817" y="6744"/>
                  </a:lnTo>
                  <a:cubicBezTo>
                    <a:pt x="8951" y="6744"/>
                    <a:pt x="9060" y="6853"/>
                    <a:pt x="9060" y="6986"/>
                  </a:cubicBezTo>
                  <a:cubicBezTo>
                    <a:pt x="9060" y="7120"/>
                    <a:pt x="8951" y="7229"/>
                    <a:pt x="8817" y="7229"/>
                  </a:cubicBezTo>
                  <a:close/>
                  <a:moveTo>
                    <a:pt x="8817" y="5610"/>
                  </a:moveTo>
                  <a:lnTo>
                    <a:pt x="3636" y="5610"/>
                  </a:lnTo>
                  <a:cubicBezTo>
                    <a:pt x="3502" y="5610"/>
                    <a:pt x="3394" y="5501"/>
                    <a:pt x="3394" y="5368"/>
                  </a:cubicBezTo>
                  <a:cubicBezTo>
                    <a:pt x="3394" y="5234"/>
                    <a:pt x="3502" y="5125"/>
                    <a:pt x="3636" y="5125"/>
                  </a:cubicBezTo>
                  <a:lnTo>
                    <a:pt x="8817" y="5125"/>
                  </a:lnTo>
                  <a:cubicBezTo>
                    <a:pt x="8951" y="5125"/>
                    <a:pt x="9060" y="5234"/>
                    <a:pt x="9060" y="5368"/>
                  </a:cubicBezTo>
                  <a:cubicBezTo>
                    <a:pt x="9060" y="5501"/>
                    <a:pt x="8951" y="5610"/>
                    <a:pt x="8817" y="56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9" name="组合 8"/>
          <p:cNvGrpSpPr/>
          <p:nvPr>
            <p:custDataLst>
              <p:tags r:id="rId7"/>
            </p:custDataLst>
          </p:nvPr>
        </p:nvGrpSpPr>
        <p:grpSpPr>
          <a:xfrm rot="0">
            <a:off x="5055235" y="2158365"/>
            <a:ext cx="6137275" cy="649605"/>
            <a:chOff x="5054619" y="3078396"/>
            <a:chExt cx="6137122" cy="649706"/>
          </a:xfrm>
        </p:grpSpPr>
        <p:sp>
          <p:nvSpPr>
            <p:cNvPr id="38" name="矩形 37"/>
            <p:cNvSpPr/>
            <p:nvPr>
              <p:custDataLst>
                <p:tags r:id="rId8"/>
              </p:custDataLst>
            </p:nvPr>
          </p:nvSpPr>
          <p:spPr>
            <a:xfrm>
              <a:off x="5265495" y="3078396"/>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9" name="矩形 38"/>
            <p:cNvSpPr/>
            <p:nvPr>
              <p:custDataLst>
                <p:tags r:id="rId9"/>
              </p:custDataLst>
            </p:nvPr>
          </p:nvSpPr>
          <p:spPr>
            <a:xfrm>
              <a:off x="6465289" y="3078396"/>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40" name="文本框 9"/>
            <p:cNvSpPr txBox="1"/>
            <p:nvPr>
              <p:custDataLst>
                <p:tags r:id="rId10"/>
              </p:custDataLst>
            </p:nvPr>
          </p:nvSpPr>
          <p:spPr>
            <a:xfrm>
              <a:off x="5054619" y="3167390"/>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1" name="TextBox 49"/>
            <p:cNvSpPr txBox="1"/>
            <p:nvPr>
              <p:custDataLst>
                <p:tags r:id="rId11"/>
              </p:custDataLst>
            </p:nvPr>
          </p:nvSpPr>
          <p:spPr>
            <a:xfrm>
              <a:off x="7557740" y="3136612"/>
              <a:ext cx="2654771"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spc="6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队列</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1" name="progress-report_18229"/>
            <p:cNvSpPr/>
            <p:nvPr>
              <p:custDataLst>
                <p:tags r:id="rId12"/>
              </p:custDataLst>
            </p:nvPr>
          </p:nvSpPr>
          <p:spPr>
            <a:xfrm>
              <a:off x="6738867" y="3175786"/>
              <a:ext cx="474393" cy="453283"/>
            </a:xfrm>
            <a:custGeom>
              <a:avLst/>
              <a:gdLst>
                <a:gd name="T0" fmla="*/ 12774 w 12774"/>
                <a:gd name="T1" fmla="*/ 3193 h 12774"/>
                <a:gd name="T2" fmla="*/ 9581 w 12774"/>
                <a:gd name="T3" fmla="*/ 0 h 12774"/>
                <a:gd name="T4" fmla="*/ 6387 w 12774"/>
                <a:gd name="T5" fmla="*/ 3193 h 12774"/>
                <a:gd name="T6" fmla="*/ 3193 w 12774"/>
                <a:gd name="T7" fmla="*/ 0 h 12774"/>
                <a:gd name="T8" fmla="*/ 0 w 12774"/>
                <a:gd name="T9" fmla="*/ 3193 h 12774"/>
                <a:gd name="T10" fmla="*/ 3193 w 12774"/>
                <a:gd name="T11" fmla="*/ 6387 h 12774"/>
                <a:gd name="T12" fmla="*/ 0 w 12774"/>
                <a:gd name="T13" fmla="*/ 9581 h 12774"/>
                <a:gd name="T14" fmla="*/ 0 w 12774"/>
                <a:gd name="T15" fmla="*/ 12774 h 12774"/>
                <a:gd name="T16" fmla="*/ 3193 w 12774"/>
                <a:gd name="T17" fmla="*/ 12774 h 12774"/>
                <a:gd name="T18" fmla="*/ 6387 w 12774"/>
                <a:gd name="T19" fmla="*/ 9581 h 12774"/>
                <a:gd name="T20" fmla="*/ 9581 w 12774"/>
                <a:gd name="T21" fmla="*/ 12774 h 12774"/>
                <a:gd name="T22" fmla="*/ 12774 w 12774"/>
                <a:gd name="T23" fmla="*/ 9581 h 12774"/>
                <a:gd name="T24" fmla="*/ 9581 w 12774"/>
                <a:gd name="T25" fmla="*/ 6387 h 12774"/>
                <a:gd name="T26" fmla="*/ 12774 w 12774"/>
                <a:gd name="T27" fmla="*/ 3193 h 12774"/>
                <a:gd name="T28" fmla="*/ 3273 w 12774"/>
                <a:gd name="T29" fmla="*/ 5349 h 12774"/>
                <a:gd name="T30" fmla="*/ 4630 w 12774"/>
                <a:gd name="T31" fmla="*/ 3992 h 12774"/>
                <a:gd name="T32" fmla="*/ 4072 w 12774"/>
                <a:gd name="T33" fmla="*/ 3433 h 12774"/>
                <a:gd name="T34" fmla="*/ 2714 w 12774"/>
                <a:gd name="T35" fmla="*/ 4790 h 12774"/>
                <a:gd name="T36" fmla="*/ 2235 w 12774"/>
                <a:gd name="T37" fmla="*/ 4311 h 12774"/>
                <a:gd name="T38" fmla="*/ 3673 w 12774"/>
                <a:gd name="T39" fmla="*/ 2875 h 12774"/>
                <a:gd name="T40" fmla="*/ 3033 w 12774"/>
                <a:gd name="T41" fmla="*/ 2315 h 12774"/>
                <a:gd name="T42" fmla="*/ 1677 w 12774"/>
                <a:gd name="T43" fmla="*/ 3753 h 12774"/>
                <a:gd name="T44" fmla="*/ 1117 w 12774"/>
                <a:gd name="T45" fmla="*/ 3194 h 12774"/>
                <a:gd name="T46" fmla="*/ 3193 w 12774"/>
                <a:gd name="T47" fmla="*/ 1118 h 12774"/>
                <a:gd name="T48" fmla="*/ 5827 w 12774"/>
                <a:gd name="T49" fmla="*/ 3752 h 12774"/>
                <a:gd name="T50" fmla="*/ 3752 w 12774"/>
                <a:gd name="T51" fmla="*/ 5828 h 12774"/>
                <a:gd name="T52" fmla="*/ 3273 w 12774"/>
                <a:gd name="T53" fmla="*/ 5349 h 12774"/>
                <a:gd name="T54" fmla="*/ 798 w 12774"/>
                <a:gd name="T55" fmla="*/ 11976 h 12774"/>
                <a:gd name="T56" fmla="*/ 798 w 12774"/>
                <a:gd name="T57" fmla="*/ 10379 h 12774"/>
                <a:gd name="T58" fmla="*/ 2395 w 12774"/>
                <a:gd name="T59" fmla="*/ 11976 h 12774"/>
                <a:gd name="T60" fmla="*/ 798 w 12774"/>
                <a:gd name="T61" fmla="*/ 11976 h 12774"/>
                <a:gd name="T62" fmla="*/ 3193 w 12774"/>
                <a:gd name="T63" fmla="*/ 11657 h 12774"/>
                <a:gd name="T64" fmla="*/ 1117 w 12774"/>
                <a:gd name="T65" fmla="*/ 9581 h 12774"/>
                <a:gd name="T66" fmla="*/ 9581 w 12774"/>
                <a:gd name="T67" fmla="*/ 1117 h 12774"/>
                <a:gd name="T68" fmla="*/ 11657 w 12774"/>
                <a:gd name="T69" fmla="*/ 3193 h 12774"/>
                <a:gd name="T70" fmla="*/ 3193 w 12774"/>
                <a:gd name="T71" fmla="*/ 11657 h 12774"/>
                <a:gd name="T72" fmla="*/ 11657 w 12774"/>
                <a:gd name="T73" fmla="*/ 9581 h 12774"/>
                <a:gd name="T74" fmla="*/ 9581 w 12774"/>
                <a:gd name="T75" fmla="*/ 11657 h 12774"/>
                <a:gd name="T76" fmla="*/ 9022 w 12774"/>
                <a:gd name="T77" fmla="*/ 11097 h 12774"/>
                <a:gd name="T78" fmla="*/ 10459 w 12774"/>
                <a:gd name="T79" fmla="*/ 9661 h 12774"/>
                <a:gd name="T80" fmla="*/ 9900 w 12774"/>
                <a:gd name="T81" fmla="*/ 9101 h 12774"/>
                <a:gd name="T82" fmla="*/ 8463 w 12774"/>
                <a:gd name="T83" fmla="*/ 10539 h 12774"/>
                <a:gd name="T84" fmla="*/ 7984 w 12774"/>
                <a:gd name="T85" fmla="*/ 10060 h 12774"/>
                <a:gd name="T86" fmla="*/ 9421 w 12774"/>
                <a:gd name="T87" fmla="*/ 8623 h 12774"/>
                <a:gd name="T88" fmla="*/ 8782 w 12774"/>
                <a:gd name="T89" fmla="*/ 8063 h 12774"/>
                <a:gd name="T90" fmla="*/ 7345 w 12774"/>
                <a:gd name="T91" fmla="*/ 9501 h 12774"/>
                <a:gd name="T92" fmla="*/ 6865 w 12774"/>
                <a:gd name="T93" fmla="*/ 9022 h 12774"/>
                <a:gd name="T94" fmla="*/ 8942 w 12774"/>
                <a:gd name="T95" fmla="*/ 6946 h 12774"/>
                <a:gd name="T96" fmla="*/ 11657 w 12774"/>
                <a:gd name="T97" fmla="*/ 9581 h 12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74" h="12774">
                  <a:moveTo>
                    <a:pt x="12774" y="3193"/>
                  </a:moveTo>
                  <a:lnTo>
                    <a:pt x="9581" y="0"/>
                  </a:lnTo>
                  <a:lnTo>
                    <a:pt x="6387" y="3193"/>
                  </a:lnTo>
                  <a:lnTo>
                    <a:pt x="3193" y="0"/>
                  </a:lnTo>
                  <a:lnTo>
                    <a:pt x="0" y="3193"/>
                  </a:lnTo>
                  <a:lnTo>
                    <a:pt x="3193" y="6387"/>
                  </a:lnTo>
                  <a:lnTo>
                    <a:pt x="0" y="9581"/>
                  </a:lnTo>
                  <a:lnTo>
                    <a:pt x="0" y="12774"/>
                  </a:lnTo>
                  <a:lnTo>
                    <a:pt x="3193" y="12774"/>
                  </a:lnTo>
                  <a:lnTo>
                    <a:pt x="6387" y="9581"/>
                  </a:lnTo>
                  <a:lnTo>
                    <a:pt x="9581" y="12774"/>
                  </a:lnTo>
                  <a:lnTo>
                    <a:pt x="12774" y="9581"/>
                  </a:lnTo>
                  <a:lnTo>
                    <a:pt x="9581" y="6387"/>
                  </a:lnTo>
                  <a:lnTo>
                    <a:pt x="12774" y="3193"/>
                  </a:lnTo>
                  <a:close/>
                  <a:moveTo>
                    <a:pt x="3273" y="5349"/>
                  </a:moveTo>
                  <a:lnTo>
                    <a:pt x="4630" y="3992"/>
                  </a:lnTo>
                  <a:lnTo>
                    <a:pt x="4072" y="3433"/>
                  </a:lnTo>
                  <a:lnTo>
                    <a:pt x="2714" y="4790"/>
                  </a:lnTo>
                  <a:lnTo>
                    <a:pt x="2235" y="4311"/>
                  </a:lnTo>
                  <a:lnTo>
                    <a:pt x="3673" y="2875"/>
                  </a:lnTo>
                  <a:lnTo>
                    <a:pt x="3033" y="2315"/>
                  </a:lnTo>
                  <a:lnTo>
                    <a:pt x="1677" y="3753"/>
                  </a:lnTo>
                  <a:lnTo>
                    <a:pt x="1117" y="3194"/>
                  </a:lnTo>
                  <a:lnTo>
                    <a:pt x="3193" y="1118"/>
                  </a:lnTo>
                  <a:lnTo>
                    <a:pt x="5827" y="3752"/>
                  </a:lnTo>
                  <a:lnTo>
                    <a:pt x="3752" y="5828"/>
                  </a:lnTo>
                  <a:lnTo>
                    <a:pt x="3273" y="5349"/>
                  </a:lnTo>
                  <a:close/>
                  <a:moveTo>
                    <a:pt x="798" y="11976"/>
                  </a:moveTo>
                  <a:lnTo>
                    <a:pt x="798" y="10379"/>
                  </a:lnTo>
                  <a:lnTo>
                    <a:pt x="2395" y="11976"/>
                  </a:lnTo>
                  <a:lnTo>
                    <a:pt x="798" y="11976"/>
                  </a:lnTo>
                  <a:close/>
                  <a:moveTo>
                    <a:pt x="3193" y="11657"/>
                  </a:moveTo>
                  <a:lnTo>
                    <a:pt x="1117" y="9581"/>
                  </a:lnTo>
                  <a:lnTo>
                    <a:pt x="9581" y="1117"/>
                  </a:lnTo>
                  <a:lnTo>
                    <a:pt x="11657" y="3193"/>
                  </a:lnTo>
                  <a:lnTo>
                    <a:pt x="3193" y="11657"/>
                  </a:lnTo>
                  <a:close/>
                  <a:moveTo>
                    <a:pt x="11657" y="9581"/>
                  </a:moveTo>
                  <a:lnTo>
                    <a:pt x="9581" y="11657"/>
                  </a:lnTo>
                  <a:lnTo>
                    <a:pt x="9022" y="11097"/>
                  </a:lnTo>
                  <a:lnTo>
                    <a:pt x="10459" y="9661"/>
                  </a:lnTo>
                  <a:lnTo>
                    <a:pt x="9900" y="9101"/>
                  </a:lnTo>
                  <a:lnTo>
                    <a:pt x="8463" y="10539"/>
                  </a:lnTo>
                  <a:lnTo>
                    <a:pt x="7984" y="10060"/>
                  </a:lnTo>
                  <a:lnTo>
                    <a:pt x="9421" y="8623"/>
                  </a:lnTo>
                  <a:lnTo>
                    <a:pt x="8782" y="8063"/>
                  </a:lnTo>
                  <a:lnTo>
                    <a:pt x="7345" y="9501"/>
                  </a:lnTo>
                  <a:lnTo>
                    <a:pt x="6865" y="9022"/>
                  </a:lnTo>
                  <a:lnTo>
                    <a:pt x="8942" y="6946"/>
                  </a:lnTo>
                  <a:lnTo>
                    <a:pt x="11657" y="958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11" name="组合 10"/>
          <p:cNvGrpSpPr/>
          <p:nvPr>
            <p:custDataLst>
              <p:tags r:id="rId13"/>
            </p:custDataLst>
          </p:nvPr>
        </p:nvGrpSpPr>
        <p:grpSpPr>
          <a:xfrm rot="0">
            <a:off x="5055870" y="4050665"/>
            <a:ext cx="6137275" cy="649605"/>
            <a:chOff x="5054619" y="5010474"/>
            <a:chExt cx="6137122" cy="649706"/>
          </a:xfrm>
        </p:grpSpPr>
        <p:sp>
          <p:nvSpPr>
            <p:cNvPr id="74" name="矩形 73"/>
            <p:cNvSpPr/>
            <p:nvPr>
              <p:custDataLst>
                <p:tags r:id="rId14"/>
              </p:custDataLst>
            </p:nvPr>
          </p:nvSpPr>
          <p:spPr>
            <a:xfrm>
              <a:off x="5265495" y="501047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75" name="矩形 74"/>
            <p:cNvSpPr/>
            <p:nvPr>
              <p:custDataLst>
                <p:tags r:id="rId15"/>
              </p:custDataLst>
            </p:nvPr>
          </p:nvSpPr>
          <p:spPr>
            <a:xfrm>
              <a:off x="6465289" y="5010474"/>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76" name="文本框 9"/>
            <p:cNvSpPr txBox="1"/>
            <p:nvPr>
              <p:custDataLst>
                <p:tags r:id="rId16"/>
              </p:custDataLst>
            </p:nvPr>
          </p:nvSpPr>
          <p:spPr>
            <a:xfrm>
              <a:off x="5054619" y="5099468"/>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04</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7" name="TextBox 49"/>
            <p:cNvSpPr txBox="1"/>
            <p:nvPr>
              <p:custDataLst>
                <p:tags r:id="rId17"/>
              </p:custDataLst>
            </p:nvPr>
          </p:nvSpPr>
          <p:spPr>
            <a:xfrm>
              <a:off x="7557742" y="5068690"/>
              <a:ext cx="2654770"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spc="6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数组</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8" name="progress-report_18229"/>
            <p:cNvSpPr/>
            <p:nvPr>
              <p:custDataLst>
                <p:tags r:id="rId18"/>
              </p:custDataLst>
            </p:nvPr>
          </p:nvSpPr>
          <p:spPr>
            <a:xfrm>
              <a:off x="6749997" y="5112093"/>
              <a:ext cx="452134" cy="453283"/>
            </a:xfrm>
            <a:custGeom>
              <a:avLst/>
              <a:gdLst>
                <a:gd name="T0" fmla="*/ 4155 w 4907"/>
                <a:gd name="T1" fmla="*/ 2163 h 5157"/>
                <a:gd name="T2" fmla="*/ 4086 w 4907"/>
                <a:gd name="T3" fmla="*/ 2978 h 5157"/>
                <a:gd name="T4" fmla="*/ 4651 w 4907"/>
                <a:gd name="T5" fmla="*/ 2978 h 5157"/>
                <a:gd name="T6" fmla="*/ 4411 w 4907"/>
                <a:gd name="T7" fmla="*/ 2858 h 5157"/>
                <a:gd name="T8" fmla="*/ 4139 w 4907"/>
                <a:gd name="T9" fmla="*/ 1926 h 5157"/>
                <a:gd name="T10" fmla="*/ 4005 w 4907"/>
                <a:gd name="T11" fmla="*/ 1663 h 5157"/>
                <a:gd name="T12" fmla="*/ 2710 w 4907"/>
                <a:gd name="T13" fmla="*/ 1831 h 5157"/>
                <a:gd name="T14" fmla="*/ 2210 w 4907"/>
                <a:gd name="T15" fmla="*/ 1571 h 5157"/>
                <a:gd name="T16" fmla="*/ 2210 w 4907"/>
                <a:gd name="T17" fmla="*/ 1571 h 5157"/>
                <a:gd name="T18" fmla="*/ 4000 w 4907"/>
                <a:gd name="T19" fmla="*/ 2493 h 5157"/>
                <a:gd name="T20" fmla="*/ 4227 w 4907"/>
                <a:gd name="T21" fmla="*/ 2602 h 5157"/>
                <a:gd name="T22" fmla="*/ 1129 w 4907"/>
                <a:gd name="T23" fmla="*/ 240 h 5157"/>
                <a:gd name="T24" fmla="*/ 1841 w 4907"/>
                <a:gd name="T25" fmla="*/ 252 h 5157"/>
                <a:gd name="T26" fmla="*/ 1353 w 4907"/>
                <a:gd name="T27" fmla="*/ 2236 h 5157"/>
                <a:gd name="T28" fmla="*/ 3037 w 4907"/>
                <a:gd name="T29" fmla="*/ 4917 h 5157"/>
                <a:gd name="T30" fmla="*/ 2227 w 4907"/>
                <a:gd name="T31" fmla="*/ 2810 h 5157"/>
                <a:gd name="T32" fmla="*/ 2148 w 4907"/>
                <a:gd name="T33" fmla="*/ 2530 h 5157"/>
                <a:gd name="T34" fmla="*/ 2032 w 4907"/>
                <a:gd name="T35" fmla="*/ 2549 h 5157"/>
                <a:gd name="T36" fmla="*/ 1987 w 4907"/>
                <a:gd name="T37" fmla="*/ 3806 h 5157"/>
                <a:gd name="T38" fmla="*/ 1997 w 4907"/>
                <a:gd name="T39" fmla="*/ 3855 h 5157"/>
                <a:gd name="T40" fmla="*/ 1997 w 4907"/>
                <a:gd name="T41" fmla="*/ 3856 h 5157"/>
                <a:gd name="T42" fmla="*/ 1997 w 4907"/>
                <a:gd name="T43" fmla="*/ 3857 h 5157"/>
                <a:gd name="T44" fmla="*/ 1998 w 4907"/>
                <a:gd name="T45" fmla="*/ 3857 h 5157"/>
                <a:gd name="T46" fmla="*/ 1998 w 4907"/>
                <a:gd name="T47" fmla="*/ 3858 h 5157"/>
                <a:gd name="T48" fmla="*/ 1999 w 4907"/>
                <a:gd name="T49" fmla="*/ 3859 h 5157"/>
                <a:gd name="T50" fmla="*/ 1999 w 4907"/>
                <a:gd name="T51" fmla="*/ 3860 h 5157"/>
                <a:gd name="T52" fmla="*/ 1999 w 4907"/>
                <a:gd name="T53" fmla="*/ 3860 h 5157"/>
                <a:gd name="T54" fmla="*/ 2000 w 4907"/>
                <a:gd name="T55" fmla="*/ 3861 h 5157"/>
                <a:gd name="T56" fmla="*/ 2013 w 4907"/>
                <a:gd name="T57" fmla="*/ 3882 h 5157"/>
                <a:gd name="T58" fmla="*/ 2014 w 4907"/>
                <a:gd name="T59" fmla="*/ 3883 h 5157"/>
                <a:gd name="T60" fmla="*/ 2014 w 4907"/>
                <a:gd name="T61" fmla="*/ 3883 h 5157"/>
                <a:gd name="T62" fmla="*/ 2015 w 4907"/>
                <a:gd name="T63" fmla="*/ 3884 h 5157"/>
                <a:gd name="T64" fmla="*/ 2015 w 4907"/>
                <a:gd name="T65" fmla="*/ 3884 h 5157"/>
                <a:gd name="T66" fmla="*/ 2016 w 4907"/>
                <a:gd name="T67" fmla="*/ 3885 h 5157"/>
                <a:gd name="T68" fmla="*/ 2016 w 4907"/>
                <a:gd name="T69" fmla="*/ 3886 h 5157"/>
                <a:gd name="T70" fmla="*/ 2017 w 4907"/>
                <a:gd name="T71" fmla="*/ 3886 h 5157"/>
                <a:gd name="T72" fmla="*/ 2017 w 4907"/>
                <a:gd name="T73" fmla="*/ 3887 h 5157"/>
                <a:gd name="T74" fmla="*/ 2018 w 4907"/>
                <a:gd name="T75" fmla="*/ 3887 h 5157"/>
                <a:gd name="T76" fmla="*/ 2018 w 4907"/>
                <a:gd name="T77" fmla="*/ 3888 h 5157"/>
                <a:gd name="T78" fmla="*/ 2019 w 4907"/>
                <a:gd name="T79" fmla="*/ 3888 h 5157"/>
                <a:gd name="T80" fmla="*/ 2797 w 4907"/>
                <a:gd name="T81" fmla="*/ 3929 h 5157"/>
                <a:gd name="T82" fmla="*/ 2917 w 4907"/>
                <a:gd name="T83" fmla="*/ 5157 h 5157"/>
                <a:gd name="T84" fmla="*/ 3241 w 4907"/>
                <a:gd name="T85" fmla="*/ 4917 h 5157"/>
                <a:gd name="T86" fmla="*/ 2952 w 4907"/>
                <a:gd name="T87" fmla="*/ 3366 h 5157"/>
                <a:gd name="T88" fmla="*/ 4253 w 4907"/>
                <a:gd name="T89" fmla="*/ 4917 h 5157"/>
                <a:gd name="T90" fmla="*/ 4907 w 4907"/>
                <a:gd name="T91" fmla="*/ 5037 h 5157"/>
                <a:gd name="T92" fmla="*/ 4907 w 4907"/>
                <a:gd name="T93" fmla="*/ 3366 h 5157"/>
                <a:gd name="T94" fmla="*/ 1774 w 4907"/>
                <a:gd name="T95" fmla="*/ 3021 h 5157"/>
                <a:gd name="T96" fmla="*/ 1534 w 4907"/>
                <a:gd name="T97" fmla="*/ 4238 h 5157"/>
                <a:gd name="T98" fmla="*/ 1774 w 4907"/>
                <a:gd name="T99" fmla="*/ 4358 h 5157"/>
                <a:gd name="T100" fmla="*/ 2567 w 4907"/>
                <a:gd name="T101" fmla="*/ 5037 h 5157"/>
                <a:gd name="T102" fmla="*/ 1414 w 4907"/>
                <a:gd name="T103" fmla="*/ 1584 h 5157"/>
                <a:gd name="T104" fmla="*/ 1129 w 4907"/>
                <a:gd name="T105" fmla="*/ 1772 h 5157"/>
                <a:gd name="T106" fmla="*/ 845 w 4907"/>
                <a:gd name="T107" fmla="*/ 1584 h 5157"/>
                <a:gd name="T108" fmla="*/ 744 w 4907"/>
                <a:gd name="T109" fmla="*/ 1249 h 5157"/>
                <a:gd name="T110" fmla="*/ 744 w 4907"/>
                <a:gd name="T111" fmla="*/ 1009 h 5157"/>
                <a:gd name="T112" fmla="*/ 845 w 4907"/>
                <a:gd name="T113" fmla="*/ 675 h 5157"/>
                <a:gd name="T114" fmla="*/ 1129 w 4907"/>
                <a:gd name="T115" fmla="*/ 486 h 5157"/>
                <a:gd name="T116" fmla="*/ 1414 w 4907"/>
                <a:gd name="T117" fmla="*/ 675 h 5157"/>
                <a:gd name="T118" fmla="*/ 1515 w 4907"/>
                <a:gd name="T119" fmla="*/ 1009 h 5157"/>
                <a:gd name="T120" fmla="*/ 1515 w 4907"/>
                <a:gd name="T121" fmla="*/ 1249 h 5157"/>
                <a:gd name="T122" fmla="*/ 1293 w 4907"/>
                <a:gd name="T123" fmla="*/ 1129 h 5157"/>
                <a:gd name="T124" fmla="*/ 1293 w 4907"/>
                <a:gd name="T125" fmla="*/ 1129 h 5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07" h="5157">
                  <a:moveTo>
                    <a:pt x="3676" y="2163"/>
                  </a:moveTo>
                  <a:cubicBezTo>
                    <a:pt x="3676" y="2096"/>
                    <a:pt x="3730" y="2043"/>
                    <a:pt x="3796" y="2043"/>
                  </a:cubicBezTo>
                  <a:lnTo>
                    <a:pt x="4035" y="2043"/>
                  </a:lnTo>
                  <a:cubicBezTo>
                    <a:pt x="4102" y="2043"/>
                    <a:pt x="4155" y="2096"/>
                    <a:pt x="4155" y="2163"/>
                  </a:cubicBezTo>
                  <a:cubicBezTo>
                    <a:pt x="4155" y="2229"/>
                    <a:pt x="4102" y="2283"/>
                    <a:pt x="4035" y="2283"/>
                  </a:cubicBezTo>
                  <a:lnTo>
                    <a:pt x="3796" y="2283"/>
                  </a:lnTo>
                  <a:cubicBezTo>
                    <a:pt x="3730" y="2283"/>
                    <a:pt x="3676" y="2229"/>
                    <a:pt x="3676" y="2163"/>
                  </a:cubicBezTo>
                  <a:close/>
                  <a:moveTo>
                    <a:pt x="4086" y="2978"/>
                  </a:moveTo>
                  <a:cubicBezTo>
                    <a:pt x="4086" y="3045"/>
                    <a:pt x="4140" y="3098"/>
                    <a:pt x="4206" y="3098"/>
                  </a:cubicBezTo>
                  <a:lnTo>
                    <a:pt x="4528" y="3098"/>
                  </a:lnTo>
                  <a:cubicBezTo>
                    <a:pt x="4529" y="3098"/>
                    <a:pt x="4530" y="3098"/>
                    <a:pt x="4531" y="3098"/>
                  </a:cubicBezTo>
                  <a:cubicBezTo>
                    <a:pt x="4597" y="3098"/>
                    <a:pt x="4651" y="3045"/>
                    <a:pt x="4651" y="2978"/>
                  </a:cubicBezTo>
                  <a:lnTo>
                    <a:pt x="4651" y="1751"/>
                  </a:lnTo>
                  <a:cubicBezTo>
                    <a:pt x="4651" y="1684"/>
                    <a:pt x="4597" y="1631"/>
                    <a:pt x="4531" y="1631"/>
                  </a:cubicBezTo>
                  <a:cubicBezTo>
                    <a:pt x="4464" y="1631"/>
                    <a:pt x="4411" y="1684"/>
                    <a:pt x="4411" y="1751"/>
                  </a:cubicBezTo>
                  <a:lnTo>
                    <a:pt x="4411" y="2858"/>
                  </a:lnTo>
                  <a:lnTo>
                    <a:pt x="4206" y="2858"/>
                  </a:lnTo>
                  <a:cubicBezTo>
                    <a:pt x="4140" y="2858"/>
                    <a:pt x="4086" y="2912"/>
                    <a:pt x="4086" y="2978"/>
                  </a:cubicBezTo>
                  <a:close/>
                  <a:moveTo>
                    <a:pt x="4052" y="1888"/>
                  </a:moveTo>
                  <a:cubicBezTo>
                    <a:pt x="4076" y="1913"/>
                    <a:pt x="4107" y="1926"/>
                    <a:pt x="4139" y="1926"/>
                  </a:cubicBezTo>
                  <a:cubicBezTo>
                    <a:pt x="4169" y="1926"/>
                    <a:pt x="4198" y="1915"/>
                    <a:pt x="4222" y="1893"/>
                  </a:cubicBezTo>
                  <a:cubicBezTo>
                    <a:pt x="4270" y="1847"/>
                    <a:pt x="4272" y="1771"/>
                    <a:pt x="4227" y="1723"/>
                  </a:cubicBezTo>
                  <a:lnTo>
                    <a:pt x="4175" y="1668"/>
                  </a:lnTo>
                  <a:cubicBezTo>
                    <a:pt x="4129" y="1620"/>
                    <a:pt x="4053" y="1618"/>
                    <a:pt x="4005" y="1663"/>
                  </a:cubicBezTo>
                  <a:cubicBezTo>
                    <a:pt x="3957" y="1709"/>
                    <a:pt x="3955" y="1785"/>
                    <a:pt x="4000" y="1833"/>
                  </a:cubicBezTo>
                  <a:lnTo>
                    <a:pt x="4052" y="1888"/>
                  </a:lnTo>
                  <a:close/>
                  <a:moveTo>
                    <a:pt x="2210" y="1331"/>
                  </a:moveTo>
                  <a:cubicBezTo>
                    <a:pt x="2486" y="1331"/>
                    <a:pt x="2710" y="1555"/>
                    <a:pt x="2710" y="1831"/>
                  </a:cubicBezTo>
                  <a:cubicBezTo>
                    <a:pt x="2710" y="2107"/>
                    <a:pt x="2486" y="2331"/>
                    <a:pt x="2210" y="2331"/>
                  </a:cubicBezTo>
                  <a:cubicBezTo>
                    <a:pt x="1934" y="2331"/>
                    <a:pt x="1710" y="2107"/>
                    <a:pt x="1710" y="1831"/>
                  </a:cubicBezTo>
                  <a:cubicBezTo>
                    <a:pt x="1710" y="1555"/>
                    <a:pt x="1934" y="1331"/>
                    <a:pt x="2210" y="1331"/>
                  </a:cubicBezTo>
                  <a:close/>
                  <a:moveTo>
                    <a:pt x="2210" y="1571"/>
                  </a:moveTo>
                  <a:cubicBezTo>
                    <a:pt x="2066" y="1571"/>
                    <a:pt x="1950" y="1687"/>
                    <a:pt x="1950" y="1831"/>
                  </a:cubicBezTo>
                  <a:cubicBezTo>
                    <a:pt x="1950" y="1975"/>
                    <a:pt x="2066" y="2091"/>
                    <a:pt x="2210" y="2091"/>
                  </a:cubicBezTo>
                  <a:cubicBezTo>
                    <a:pt x="2354" y="2091"/>
                    <a:pt x="2470" y="1975"/>
                    <a:pt x="2470" y="1831"/>
                  </a:cubicBezTo>
                  <a:cubicBezTo>
                    <a:pt x="2470" y="1687"/>
                    <a:pt x="2354" y="1571"/>
                    <a:pt x="2210" y="1571"/>
                  </a:cubicBezTo>
                  <a:close/>
                  <a:moveTo>
                    <a:pt x="4227" y="2602"/>
                  </a:moveTo>
                  <a:cubicBezTo>
                    <a:pt x="4272" y="2554"/>
                    <a:pt x="4270" y="2478"/>
                    <a:pt x="4222" y="2433"/>
                  </a:cubicBezTo>
                  <a:cubicBezTo>
                    <a:pt x="4173" y="2387"/>
                    <a:pt x="4098" y="2389"/>
                    <a:pt x="4052" y="2437"/>
                  </a:cubicBezTo>
                  <a:lnTo>
                    <a:pt x="4000" y="2493"/>
                  </a:lnTo>
                  <a:cubicBezTo>
                    <a:pt x="3955" y="2541"/>
                    <a:pt x="3957" y="2617"/>
                    <a:pt x="4005" y="2662"/>
                  </a:cubicBezTo>
                  <a:cubicBezTo>
                    <a:pt x="4028" y="2684"/>
                    <a:pt x="4058" y="2695"/>
                    <a:pt x="4087" y="2695"/>
                  </a:cubicBezTo>
                  <a:cubicBezTo>
                    <a:pt x="4119" y="2695"/>
                    <a:pt x="4151" y="2682"/>
                    <a:pt x="4175" y="2657"/>
                  </a:cubicBezTo>
                  <a:lnTo>
                    <a:pt x="4227" y="2602"/>
                  </a:lnTo>
                  <a:close/>
                  <a:moveTo>
                    <a:pt x="1306" y="2001"/>
                  </a:moveTo>
                  <a:cubicBezTo>
                    <a:pt x="1248" y="2012"/>
                    <a:pt x="1189" y="2018"/>
                    <a:pt x="1129" y="2018"/>
                  </a:cubicBezTo>
                  <a:cubicBezTo>
                    <a:pt x="639" y="2018"/>
                    <a:pt x="240" y="1619"/>
                    <a:pt x="240" y="1129"/>
                  </a:cubicBezTo>
                  <a:cubicBezTo>
                    <a:pt x="240" y="639"/>
                    <a:pt x="639" y="240"/>
                    <a:pt x="1129" y="240"/>
                  </a:cubicBezTo>
                  <a:cubicBezTo>
                    <a:pt x="1543" y="240"/>
                    <a:pt x="1908" y="533"/>
                    <a:pt x="1997" y="936"/>
                  </a:cubicBezTo>
                  <a:cubicBezTo>
                    <a:pt x="2012" y="1001"/>
                    <a:pt x="2076" y="1041"/>
                    <a:pt x="2140" y="1027"/>
                  </a:cubicBezTo>
                  <a:cubicBezTo>
                    <a:pt x="2205" y="1013"/>
                    <a:pt x="2246" y="949"/>
                    <a:pt x="2232" y="884"/>
                  </a:cubicBezTo>
                  <a:cubicBezTo>
                    <a:pt x="2177" y="637"/>
                    <a:pt x="2038" y="413"/>
                    <a:pt x="1841" y="252"/>
                  </a:cubicBezTo>
                  <a:cubicBezTo>
                    <a:pt x="1640" y="90"/>
                    <a:pt x="1388" y="0"/>
                    <a:pt x="1129" y="0"/>
                  </a:cubicBezTo>
                  <a:cubicBezTo>
                    <a:pt x="507" y="0"/>
                    <a:pt x="0" y="507"/>
                    <a:pt x="0" y="1129"/>
                  </a:cubicBezTo>
                  <a:cubicBezTo>
                    <a:pt x="0" y="1752"/>
                    <a:pt x="507" y="2258"/>
                    <a:pt x="1129" y="2258"/>
                  </a:cubicBezTo>
                  <a:cubicBezTo>
                    <a:pt x="1205" y="2258"/>
                    <a:pt x="1280" y="2251"/>
                    <a:pt x="1353" y="2236"/>
                  </a:cubicBezTo>
                  <a:cubicBezTo>
                    <a:pt x="1418" y="2223"/>
                    <a:pt x="1460" y="2160"/>
                    <a:pt x="1447" y="2095"/>
                  </a:cubicBezTo>
                  <a:cubicBezTo>
                    <a:pt x="1434" y="2030"/>
                    <a:pt x="1371" y="1988"/>
                    <a:pt x="1306" y="2001"/>
                  </a:cubicBezTo>
                  <a:close/>
                  <a:moveTo>
                    <a:pt x="3241" y="4917"/>
                  </a:moveTo>
                  <a:lnTo>
                    <a:pt x="3037" y="4917"/>
                  </a:lnTo>
                  <a:lnTo>
                    <a:pt x="3037" y="3810"/>
                  </a:lnTo>
                  <a:cubicBezTo>
                    <a:pt x="3037" y="3743"/>
                    <a:pt x="2983" y="3690"/>
                    <a:pt x="2917" y="3690"/>
                  </a:cubicBezTo>
                  <a:lnTo>
                    <a:pt x="2227" y="3687"/>
                  </a:lnTo>
                  <a:lnTo>
                    <a:pt x="2227" y="2810"/>
                  </a:lnTo>
                  <a:lnTo>
                    <a:pt x="3073" y="3092"/>
                  </a:lnTo>
                  <a:cubicBezTo>
                    <a:pt x="3136" y="3113"/>
                    <a:pt x="3204" y="3079"/>
                    <a:pt x="3225" y="3016"/>
                  </a:cubicBezTo>
                  <a:cubicBezTo>
                    <a:pt x="3246" y="2953"/>
                    <a:pt x="3212" y="2885"/>
                    <a:pt x="3149" y="2864"/>
                  </a:cubicBezTo>
                  <a:lnTo>
                    <a:pt x="2148" y="2530"/>
                  </a:lnTo>
                  <a:cubicBezTo>
                    <a:pt x="2136" y="2526"/>
                    <a:pt x="2122" y="2523"/>
                    <a:pt x="2108" y="2523"/>
                  </a:cubicBezTo>
                  <a:cubicBezTo>
                    <a:pt x="2106" y="2523"/>
                    <a:pt x="2104" y="2523"/>
                    <a:pt x="2102" y="2523"/>
                  </a:cubicBezTo>
                  <a:cubicBezTo>
                    <a:pt x="2102" y="2523"/>
                    <a:pt x="2102" y="2523"/>
                    <a:pt x="2102" y="2523"/>
                  </a:cubicBezTo>
                  <a:cubicBezTo>
                    <a:pt x="2075" y="2524"/>
                    <a:pt x="2051" y="2534"/>
                    <a:pt x="2032" y="2549"/>
                  </a:cubicBezTo>
                  <a:cubicBezTo>
                    <a:pt x="2019" y="2560"/>
                    <a:pt x="2008" y="2573"/>
                    <a:pt x="2000" y="2588"/>
                  </a:cubicBezTo>
                  <a:cubicBezTo>
                    <a:pt x="1995" y="2597"/>
                    <a:pt x="1992" y="2606"/>
                    <a:pt x="1990" y="2616"/>
                  </a:cubicBezTo>
                  <a:cubicBezTo>
                    <a:pt x="1987" y="2626"/>
                    <a:pt x="1986" y="2637"/>
                    <a:pt x="1987" y="2647"/>
                  </a:cubicBezTo>
                  <a:lnTo>
                    <a:pt x="1987" y="3806"/>
                  </a:lnTo>
                  <a:cubicBezTo>
                    <a:pt x="1986" y="3823"/>
                    <a:pt x="1990" y="3840"/>
                    <a:pt x="1997" y="3855"/>
                  </a:cubicBezTo>
                  <a:cubicBezTo>
                    <a:pt x="1997" y="3855"/>
                    <a:pt x="1997" y="3855"/>
                    <a:pt x="1997" y="3855"/>
                  </a:cubicBezTo>
                  <a:cubicBezTo>
                    <a:pt x="1997" y="3855"/>
                    <a:pt x="1997" y="3855"/>
                    <a:pt x="1997" y="3855"/>
                  </a:cubicBezTo>
                  <a:cubicBezTo>
                    <a:pt x="1997" y="3855"/>
                    <a:pt x="1997" y="3855"/>
                    <a:pt x="1997" y="3855"/>
                  </a:cubicBezTo>
                  <a:cubicBezTo>
                    <a:pt x="1997" y="3855"/>
                    <a:pt x="1997" y="3856"/>
                    <a:pt x="1997" y="3856"/>
                  </a:cubicBezTo>
                  <a:cubicBezTo>
                    <a:pt x="1997" y="3856"/>
                    <a:pt x="1997" y="3856"/>
                    <a:pt x="1997" y="3856"/>
                  </a:cubicBezTo>
                  <a:cubicBezTo>
                    <a:pt x="1997" y="3856"/>
                    <a:pt x="1997" y="3856"/>
                    <a:pt x="1997" y="3856"/>
                  </a:cubicBezTo>
                  <a:lnTo>
                    <a:pt x="1997" y="3856"/>
                  </a:lnTo>
                  <a:cubicBezTo>
                    <a:pt x="1997" y="3856"/>
                    <a:pt x="1997" y="3856"/>
                    <a:pt x="1997" y="3856"/>
                  </a:cubicBezTo>
                  <a:lnTo>
                    <a:pt x="1997" y="3856"/>
                  </a:lnTo>
                  <a:lnTo>
                    <a:pt x="1997" y="3857"/>
                  </a:lnTo>
                  <a:cubicBezTo>
                    <a:pt x="1997" y="3857"/>
                    <a:pt x="1997" y="3857"/>
                    <a:pt x="1997" y="3857"/>
                  </a:cubicBezTo>
                  <a:cubicBezTo>
                    <a:pt x="1998" y="3857"/>
                    <a:pt x="1998" y="3857"/>
                    <a:pt x="1998" y="3857"/>
                  </a:cubicBezTo>
                  <a:cubicBezTo>
                    <a:pt x="1998" y="3857"/>
                    <a:pt x="1998" y="3857"/>
                    <a:pt x="1998" y="3857"/>
                  </a:cubicBezTo>
                  <a:cubicBezTo>
                    <a:pt x="1998" y="3857"/>
                    <a:pt x="1998" y="3857"/>
                    <a:pt x="1998" y="3857"/>
                  </a:cubicBezTo>
                  <a:cubicBezTo>
                    <a:pt x="1998" y="3857"/>
                    <a:pt x="1998" y="3857"/>
                    <a:pt x="1998" y="3857"/>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9"/>
                    <a:pt x="1998" y="3859"/>
                    <a:pt x="1998" y="3859"/>
                  </a:cubicBezTo>
                  <a:cubicBezTo>
                    <a:pt x="1998" y="3859"/>
                    <a:pt x="1998" y="3859"/>
                    <a:pt x="1999" y="3859"/>
                  </a:cubicBezTo>
                  <a:cubicBezTo>
                    <a:pt x="1999" y="3859"/>
                    <a:pt x="1999" y="3859"/>
                    <a:pt x="1999" y="3859"/>
                  </a:cubicBezTo>
                  <a:cubicBezTo>
                    <a:pt x="1999" y="3859"/>
                    <a:pt x="1999" y="3859"/>
                    <a:pt x="1999" y="3859"/>
                  </a:cubicBezTo>
                  <a:cubicBezTo>
                    <a:pt x="1999" y="3859"/>
                    <a:pt x="1999" y="3859"/>
                    <a:pt x="1999" y="3859"/>
                  </a:cubicBezTo>
                  <a:cubicBezTo>
                    <a:pt x="1999" y="3859"/>
                    <a:pt x="1999" y="3859"/>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1"/>
                  </a:cubicBezTo>
                  <a:cubicBezTo>
                    <a:pt x="1999" y="3861"/>
                    <a:pt x="1999" y="3861"/>
                    <a:pt x="1999" y="3861"/>
                  </a:cubicBezTo>
                  <a:cubicBezTo>
                    <a:pt x="1999" y="3861"/>
                    <a:pt x="1999" y="3861"/>
                    <a:pt x="2000" y="3861"/>
                  </a:cubicBezTo>
                  <a:cubicBezTo>
                    <a:pt x="2000" y="3861"/>
                    <a:pt x="2000" y="3861"/>
                    <a:pt x="2000" y="3861"/>
                  </a:cubicBezTo>
                  <a:cubicBezTo>
                    <a:pt x="2003" y="3868"/>
                    <a:pt x="2008" y="3876"/>
                    <a:pt x="2013" y="3882"/>
                  </a:cubicBezTo>
                  <a:lnTo>
                    <a:pt x="2013" y="3882"/>
                  </a:lnTo>
                  <a:cubicBezTo>
                    <a:pt x="2013" y="3882"/>
                    <a:pt x="2013" y="3882"/>
                    <a:pt x="2013" y="3882"/>
                  </a:cubicBezTo>
                  <a:lnTo>
                    <a:pt x="2014" y="3882"/>
                  </a:lnTo>
                  <a:lnTo>
                    <a:pt x="2014" y="3883"/>
                  </a:lnTo>
                  <a:lnTo>
                    <a:pt x="2014" y="3883"/>
                  </a:lnTo>
                  <a:cubicBezTo>
                    <a:pt x="2014" y="3883"/>
                    <a:pt x="2014" y="3883"/>
                    <a:pt x="2014" y="3883"/>
                  </a:cubicBezTo>
                  <a:lnTo>
                    <a:pt x="2014" y="3883"/>
                  </a:lnTo>
                  <a:lnTo>
                    <a:pt x="2014" y="3883"/>
                  </a:lnTo>
                  <a:lnTo>
                    <a:pt x="2014" y="3883"/>
                  </a:lnTo>
                  <a:cubicBezTo>
                    <a:pt x="2014" y="3883"/>
                    <a:pt x="2014" y="3883"/>
                    <a:pt x="2014" y="3883"/>
                  </a:cubicBezTo>
                  <a:cubicBezTo>
                    <a:pt x="2014" y="3883"/>
                    <a:pt x="2014" y="3883"/>
                    <a:pt x="2014" y="3883"/>
                  </a:cubicBezTo>
                  <a:cubicBezTo>
                    <a:pt x="2015" y="3884"/>
                    <a:pt x="2015" y="3884"/>
                    <a:pt x="2015" y="3884"/>
                  </a:cubicBezTo>
                  <a:lnTo>
                    <a:pt x="2015" y="3884"/>
                  </a:lnTo>
                  <a:cubicBezTo>
                    <a:pt x="2015" y="3884"/>
                    <a:pt x="2015" y="3884"/>
                    <a:pt x="2015" y="3884"/>
                  </a:cubicBezTo>
                  <a:lnTo>
                    <a:pt x="2015" y="3884"/>
                  </a:lnTo>
                  <a:lnTo>
                    <a:pt x="2015" y="3884"/>
                  </a:lnTo>
                  <a:lnTo>
                    <a:pt x="2015" y="3884"/>
                  </a:lnTo>
                  <a:cubicBezTo>
                    <a:pt x="2015" y="3884"/>
                    <a:pt x="2015" y="3884"/>
                    <a:pt x="2015" y="3884"/>
                  </a:cubicBezTo>
                  <a:cubicBezTo>
                    <a:pt x="2015" y="3884"/>
                    <a:pt x="2015" y="3885"/>
                    <a:pt x="2015" y="3885"/>
                  </a:cubicBezTo>
                  <a:cubicBezTo>
                    <a:pt x="2015"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6"/>
                  </a:cubicBezTo>
                  <a:cubicBezTo>
                    <a:pt x="2016" y="3886"/>
                    <a:pt x="2016" y="3886"/>
                    <a:pt x="2016" y="3886"/>
                  </a:cubicBezTo>
                  <a:cubicBezTo>
                    <a:pt x="2016" y="3886"/>
                    <a:pt x="2016" y="3886"/>
                    <a:pt x="2016" y="3886"/>
                  </a:cubicBezTo>
                  <a:cubicBezTo>
                    <a:pt x="2017" y="3886"/>
                    <a:pt x="2017" y="3886"/>
                    <a:pt x="2017" y="3886"/>
                  </a:cubicBezTo>
                  <a:cubicBezTo>
                    <a:pt x="2017" y="3886"/>
                    <a:pt x="2017" y="3886"/>
                    <a:pt x="2017" y="3886"/>
                  </a:cubicBezTo>
                  <a:cubicBezTo>
                    <a:pt x="2017" y="3886"/>
                    <a:pt x="2017" y="3886"/>
                    <a:pt x="2017" y="3886"/>
                  </a:cubicBezTo>
                  <a:cubicBezTo>
                    <a:pt x="2017" y="3886"/>
                    <a:pt x="2017" y="3886"/>
                    <a:pt x="2017" y="3886"/>
                  </a:cubicBezTo>
                  <a:cubicBezTo>
                    <a:pt x="2017" y="3886"/>
                    <a:pt x="2017" y="3886"/>
                    <a:pt x="2017" y="3886"/>
                  </a:cubicBezTo>
                  <a:cubicBezTo>
                    <a:pt x="2017" y="3886"/>
                    <a:pt x="2017" y="3887"/>
                    <a:pt x="2017" y="3887"/>
                  </a:cubicBezTo>
                  <a:cubicBezTo>
                    <a:pt x="2017" y="3887"/>
                    <a:pt x="2017" y="3887"/>
                    <a:pt x="2017" y="3887"/>
                  </a:cubicBezTo>
                  <a:cubicBezTo>
                    <a:pt x="2017" y="3887"/>
                    <a:pt x="2017" y="3887"/>
                    <a:pt x="2017" y="3887"/>
                  </a:cubicBezTo>
                  <a:cubicBezTo>
                    <a:pt x="2017" y="3887"/>
                    <a:pt x="2018" y="3887"/>
                    <a:pt x="2018" y="3887"/>
                  </a:cubicBezTo>
                  <a:lnTo>
                    <a:pt x="2018" y="3887"/>
                  </a:lnTo>
                  <a:cubicBezTo>
                    <a:pt x="2018" y="3887"/>
                    <a:pt x="2018" y="3887"/>
                    <a:pt x="2018" y="3887"/>
                  </a:cubicBezTo>
                  <a:lnTo>
                    <a:pt x="2018" y="3887"/>
                  </a:lnTo>
                  <a:cubicBezTo>
                    <a:pt x="2018" y="3887"/>
                    <a:pt x="2018" y="3887"/>
                    <a:pt x="2018" y="3888"/>
                  </a:cubicBezTo>
                  <a:cubicBezTo>
                    <a:pt x="2018" y="3888"/>
                    <a:pt x="2018" y="3888"/>
                    <a:pt x="2018" y="3888"/>
                  </a:cubicBezTo>
                  <a:cubicBezTo>
                    <a:pt x="2018" y="3888"/>
                    <a:pt x="2018" y="3888"/>
                    <a:pt x="2018" y="3888"/>
                  </a:cubicBezTo>
                  <a:cubicBezTo>
                    <a:pt x="2018" y="3888"/>
                    <a:pt x="2018" y="3888"/>
                    <a:pt x="2018" y="3888"/>
                  </a:cubicBezTo>
                  <a:cubicBezTo>
                    <a:pt x="2018" y="3888"/>
                    <a:pt x="2019" y="3888"/>
                    <a:pt x="2019" y="3888"/>
                  </a:cubicBezTo>
                  <a:lnTo>
                    <a:pt x="2019" y="3888"/>
                  </a:lnTo>
                  <a:cubicBezTo>
                    <a:pt x="2019" y="3888"/>
                    <a:pt x="2019" y="3888"/>
                    <a:pt x="2019" y="3888"/>
                  </a:cubicBezTo>
                  <a:lnTo>
                    <a:pt x="2019" y="3888"/>
                  </a:lnTo>
                  <a:cubicBezTo>
                    <a:pt x="2041" y="3912"/>
                    <a:pt x="2072" y="3926"/>
                    <a:pt x="2106" y="3927"/>
                  </a:cubicBezTo>
                  <a:lnTo>
                    <a:pt x="2797" y="3929"/>
                  </a:lnTo>
                  <a:lnTo>
                    <a:pt x="2797" y="5034"/>
                  </a:lnTo>
                  <a:cubicBezTo>
                    <a:pt x="2797" y="5035"/>
                    <a:pt x="2797" y="5036"/>
                    <a:pt x="2797" y="5037"/>
                  </a:cubicBezTo>
                  <a:cubicBezTo>
                    <a:pt x="2797" y="5079"/>
                    <a:pt x="2818" y="5115"/>
                    <a:pt x="2849" y="5137"/>
                  </a:cubicBezTo>
                  <a:cubicBezTo>
                    <a:pt x="2869" y="5150"/>
                    <a:pt x="2892" y="5157"/>
                    <a:pt x="2917" y="5157"/>
                  </a:cubicBezTo>
                  <a:cubicBezTo>
                    <a:pt x="2918" y="5157"/>
                    <a:pt x="2919" y="5157"/>
                    <a:pt x="2919" y="5157"/>
                  </a:cubicBezTo>
                  <a:lnTo>
                    <a:pt x="3241" y="5157"/>
                  </a:lnTo>
                  <a:cubicBezTo>
                    <a:pt x="3307" y="5157"/>
                    <a:pt x="3361" y="5104"/>
                    <a:pt x="3361" y="5037"/>
                  </a:cubicBezTo>
                  <a:cubicBezTo>
                    <a:pt x="3361" y="4971"/>
                    <a:pt x="3307" y="4917"/>
                    <a:pt x="3241" y="4917"/>
                  </a:cubicBezTo>
                  <a:close/>
                  <a:moveTo>
                    <a:pt x="4787" y="3246"/>
                  </a:moveTo>
                  <a:cubicBezTo>
                    <a:pt x="4786" y="3246"/>
                    <a:pt x="4786" y="3246"/>
                    <a:pt x="4785" y="3246"/>
                  </a:cubicBezTo>
                  <a:lnTo>
                    <a:pt x="3072" y="3246"/>
                  </a:lnTo>
                  <a:cubicBezTo>
                    <a:pt x="3006" y="3246"/>
                    <a:pt x="2952" y="3299"/>
                    <a:pt x="2952" y="3366"/>
                  </a:cubicBezTo>
                  <a:cubicBezTo>
                    <a:pt x="2952" y="3432"/>
                    <a:pt x="3006" y="3486"/>
                    <a:pt x="3072" y="3486"/>
                  </a:cubicBezTo>
                  <a:lnTo>
                    <a:pt x="4667" y="3486"/>
                  </a:lnTo>
                  <a:lnTo>
                    <a:pt x="4667" y="4917"/>
                  </a:lnTo>
                  <a:lnTo>
                    <a:pt x="4253" y="4917"/>
                  </a:lnTo>
                  <a:cubicBezTo>
                    <a:pt x="4187" y="4917"/>
                    <a:pt x="4133" y="4971"/>
                    <a:pt x="4133" y="5037"/>
                  </a:cubicBezTo>
                  <a:cubicBezTo>
                    <a:pt x="4133" y="5104"/>
                    <a:pt x="4187" y="5157"/>
                    <a:pt x="4253" y="5157"/>
                  </a:cubicBezTo>
                  <a:lnTo>
                    <a:pt x="4787" y="5157"/>
                  </a:lnTo>
                  <a:cubicBezTo>
                    <a:pt x="4854" y="5157"/>
                    <a:pt x="4907" y="5104"/>
                    <a:pt x="4907" y="5037"/>
                  </a:cubicBezTo>
                  <a:cubicBezTo>
                    <a:pt x="4907" y="5030"/>
                    <a:pt x="4907" y="5023"/>
                    <a:pt x="4905" y="5016"/>
                  </a:cubicBezTo>
                  <a:cubicBezTo>
                    <a:pt x="4907" y="5009"/>
                    <a:pt x="4907" y="5001"/>
                    <a:pt x="4907" y="4994"/>
                  </a:cubicBezTo>
                  <a:lnTo>
                    <a:pt x="4907" y="3366"/>
                  </a:lnTo>
                  <a:lnTo>
                    <a:pt x="4907" y="3366"/>
                  </a:lnTo>
                  <a:cubicBezTo>
                    <a:pt x="4907" y="3299"/>
                    <a:pt x="4854" y="3246"/>
                    <a:pt x="4787" y="3246"/>
                  </a:cubicBezTo>
                  <a:close/>
                  <a:moveTo>
                    <a:pt x="2447" y="4118"/>
                  </a:moveTo>
                  <a:lnTo>
                    <a:pt x="1774" y="4118"/>
                  </a:lnTo>
                  <a:lnTo>
                    <a:pt x="1774" y="3021"/>
                  </a:lnTo>
                  <a:cubicBezTo>
                    <a:pt x="1774" y="2955"/>
                    <a:pt x="1720" y="2901"/>
                    <a:pt x="1654" y="2901"/>
                  </a:cubicBezTo>
                  <a:cubicBezTo>
                    <a:pt x="1588" y="2901"/>
                    <a:pt x="1534" y="2955"/>
                    <a:pt x="1534" y="3021"/>
                  </a:cubicBezTo>
                  <a:lnTo>
                    <a:pt x="1534" y="4235"/>
                  </a:lnTo>
                  <a:cubicBezTo>
                    <a:pt x="1534" y="4236"/>
                    <a:pt x="1534" y="4237"/>
                    <a:pt x="1534" y="4238"/>
                  </a:cubicBezTo>
                  <a:lnTo>
                    <a:pt x="1534" y="5037"/>
                  </a:lnTo>
                  <a:cubicBezTo>
                    <a:pt x="1534" y="5104"/>
                    <a:pt x="1587" y="5157"/>
                    <a:pt x="1654" y="5157"/>
                  </a:cubicBezTo>
                  <a:cubicBezTo>
                    <a:pt x="1720" y="5157"/>
                    <a:pt x="1774" y="5104"/>
                    <a:pt x="1774" y="5037"/>
                  </a:cubicBezTo>
                  <a:lnTo>
                    <a:pt x="1774" y="4358"/>
                  </a:lnTo>
                  <a:lnTo>
                    <a:pt x="2327" y="4358"/>
                  </a:lnTo>
                  <a:lnTo>
                    <a:pt x="2327" y="5037"/>
                  </a:lnTo>
                  <a:cubicBezTo>
                    <a:pt x="2327" y="5104"/>
                    <a:pt x="2380" y="5157"/>
                    <a:pt x="2447" y="5157"/>
                  </a:cubicBezTo>
                  <a:cubicBezTo>
                    <a:pt x="2513" y="5157"/>
                    <a:pt x="2567" y="5104"/>
                    <a:pt x="2567" y="5037"/>
                  </a:cubicBezTo>
                  <a:lnTo>
                    <a:pt x="2567" y="4238"/>
                  </a:lnTo>
                  <a:cubicBezTo>
                    <a:pt x="2567" y="4172"/>
                    <a:pt x="2513" y="4118"/>
                    <a:pt x="2447" y="4118"/>
                  </a:cubicBezTo>
                  <a:close/>
                  <a:moveTo>
                    <a:pt x="1584" y="1584"/>
                  </a:moveTo>
                  <a:cubicBezTo>
                    <a:pt x="1537" y="1630"/>
                    <a:pt x="1461" y="1630"/>
                    <a:pt x="1414" y="1584"/>
                  </a:cubicBezTo>
                  <a:lnTo>
                    <a:pt x="1317" y="1486"/>
                  </a:lnTo>
                  <a:cubicBezTo>
                    <a:pt x="1295" y="1498"/>
                    <a:pt x="1273" y="1507"/>
                    <a:pt x="1249" y="1514"/>
                  </a:cubicBezTo>
                  <a:lnTo>
                    <a:pt x="1249" y="1652"/>
                  </a:lnTo>
                  <a:cubicBezTo>
                    <a:pt x="1249" y="1718"/>
                    <a:pt x="1196" y="1772"/>
                    <a:pt x="1129" y="1772"/>
                  </a:cubicBezTo>
                  <a:cubicBezTo>
                    <a:pt x="1063" y="1772"/>
                    <a:pt x="1009" y="1718"/>
                    <a:pt x="1009" y="1652"/>
                  </a:cubicBezTo>
                  <a:lnTo>
                    <a:pt x="1009" y="1514"/>
                  </a:lnTo>
                  <a:cubicBezTo>
                    <a:pt x="986" y="1507"/>
                    <a:pt x="963" y="1498"/>
                    <a:pt x="942" y="1486"/>
                  </a:cubicBezTo>
                  <a:lnTo>
                    <a:pt x="845" y="1584"/>
                  </a:lnTo>
                  <a:cubicBezTo>
                    <a:pt x="798" y="1630"/>
                    <a:pt x="722" y="1630"/>
                    <a:pt x="675" y="1584"/>
                  </a:cubicBezTo>
                  <a:cubicBezTo>
                    <a:pt x="628" y="1537"/>
                    <a:pt x="628" y="1461"/>
                    <a:pt x="675" y="1414"/>
                  </a:cubicBezTo>
                  <a:lnTo>
                    <a:pt x="772" y="1317"/>
                  </a:lnTo>
                  <a:cubicBezTo>
                    <a:pt x="761" y="1295"/>
                    <a:pt x="751" y="1273"/>
                    <a:pt x="744" y="1249"/>
                  </a:cubicBezTo>
                  <a:lnTo>
                    <a:pt x="607" y="1249"/>
                  </a:lnTo>
                  <a:cubicBezTo>
                    <a:pt x="540" y="1249"/>
                    <a:pt x="487" y="1195"/>
                    <a:pt x="487" y="1129"/>
                  </a:cubicBezTo>
                  <a:cubicBezTo>
                    <a:pt x="487" y="1063"/>
                    <a:pt x="540" y="1009"/>
                    <a:pt x="607" y="1009"/>
                  </a:cubicBezTo>
                  <a:lnTo>
                    <a:pt x="744" y="1009"/>
                  </a:lnTo>
                  <a:cubicBezTo>
                    <a:pt x="751" y="986"/>
                    <a:pt x="761" y="963"/>
                    <a:pt x="772" y="942"/>
                  </a:cubicBezTo>
                  <a:lnTo>
                    <a:pt x="675" y="844"/>
                  </a:lnTo>
                  <a:cubicBezTo>
                    <a:pt x="628" y="798"/>
                    <a:pt x="628" y="722"/>
                    <a:pt x="675" y="675"/>
                  </a:cubicBezTo>
                  <a:cubicBezTo>
                    <a:pt x="722" y="628"/>
                    <a:pt x="798" y="628"/>
                    <a:pt x="845" y="675"/>
                  </a:cubicBezTo>
                  <a:lnTo>
                    <a:pt x="942" y="772"/>
                  </a:lnTo>
                  <a:cubicBezTo>
                    <a:pt x="963" y="761"/>
                    <a:pt x="986" y="751"/>
                    <a:pt x="1009" y="744"/>
                  </a:cubicBezTo>
                  <a:lnTo>
                    <a:pt x="1009" y="606"/>
                  </a:lnTo>
                  <a:cubicBezTo>
                    <a:pt x="1009" y="540"/>
                    <a:pt x="1063" y="486"/>
                    <a:pt x="1129" y="486"/>
                  </a:cubicBezTo>
                  <a:cubicBezTo>
                    <a:pt x="1196" y="486"/>
                    <a:pt x="1249" y="540"/>
                    <a:pt x="1249" y="606"/>
                  </a:cubicBezTo>
                  <a:lnTo>
                    <a:pt x="1249" y="744"/>
                  </a:lnTo>
                  <a:cubicBezTo>
                    <a:pt x="1273" y="751"/>
                    <a:pt x="1295" y="761"/>
                    <a:pt x="1317" y="772"/>
                  </a:cubicBezTo>
                  <a:lnTo>
                    <a:pt x="1414" y="675"/>
                  </a:lnTo>
                  <a:cubicBezTo>
                    <a:pt x="1461" y="628"/>
                    <a:pt x="1537" y="628"/>
                    <a:pt x="1584" y="675"/>
                  </a:cubicBezTo>
                  <a:cubicBezTo>
                    <a:pt x="1631" y="722"/>
                    <a:pt x="1631" y="798"/>
                    <a:pt x="1584" y="844"/>
                  </a:cubicBezTo>
                  <a:lnTo>
                    <a:pt x="1486" y="942"/>
                  </a:lnTo>
                  <a:cubicBezTo>
                    <a:pt x="1498" y="963"/>
                    <a:pt x="1507" y="986"/>
                    <a:pt x="1515" y="1009"/>
                  </a:cubicBezTo>
                  <a:lnTo>
                    <a:pt x="1652" y="1009"/>
                  </a:lnTo>
                  <a:cubicBezTo>
                    <a:pt x="1718" y="1009"/>
                    <a:pt x="1772" y="1063"/>
                    <a:pt x="1772" y="1129"/>
                  </a:cubicBezTo>
                  <a:cubicBezTo>
                    <a:pt x="1772" y="1195"/>
                    <a:pt x="1718" y="1249"/>
                    <a:pt x="1652" y="1249"/>
                  </a:cubicBezTo>
                  <a:lnTo>
                    <a:pt x="1515" y="1249"/>
                  </a:lnTo>
                  <a:cubicBezTo>
                    <a:pt x="1507" y="1273"/>
                    <a:pt x="1498" y="1295"/>
                    <a:pt x="1486" y="1317"/>
                  </a:cubicBezTo>
                  <a:lnTo>
                    <a:pt x="1584" y="1414"/>
                  </a:lnTo>
                  <a:cubicBezTo>
                    <a:pt x="1631" y="1461"/>
                    <a:pt x="1631" y="1537"/>
                    <a:pt x="1584" y="1584"/>
                  </a:cubicBezTo>
                  <a:close/>
                  <a:moveTo>
                    <a:pt x="1293" y="1129"/>
                  </a:moveTo>
                  <a:cubicBezTo>
                    <a:pt x="1293" y="1039"/>
                    <a:pt x="1219" y="966"/>
                    <a:pt x="1129" y="966"/>
                  </a:cubicBezTo>
                  <a:cubicBezTo>
                    <a:pt x="1039" y="966"/>
                    <a:pt x="966" y="1039"/>
                    <a:pt x="966" y="1129"/>
                  </a:cubicBezTo>
                  <a:cubicBezTo>
                    <a:pt x="966" y="1219"/>
                    <a:pt x="1039" y="1293"/>
                    <a:pt x="1129" y="1293"/>
                  </a:cubicBezTo>
                  <a:cubicBezTo>
                    <a:pt x="1219" y="1293"/>
                    <a:pt x="1293" y="1219"/>
                    <a:pt x="1293" y="112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10" name="组合 9"/>
          <p:cNvGrpSpPr/>
          <p:nvPr>
            <p:custDataLst>
              <p:tags r:id="rId19"/>
            </p:custDataLst>
          </p:nvPr>
        </p:nvGrpSpPr>
        <p:grpSpPr>
          <a:xfrm rot="0">
            <a:off x="5056505" y="3104515"/>
            <a:ext cx="6137275" cy="649605"/>
            <a:chOff x="5054619" y="4018684"/>
            <a:chExt cx="6137122" cy="649706"/>
          </a:xfrm>
        </p:grpSpPr>
        <p:sp>
          <p:nvSpPr>
            <p:cNvPr id="58" name="矩形 57"/>
            <p:cNvSpPr/>
            <p:nvPr>
              <p:custDataLst>
                <p:tags r:id="rId20"/>
              </p:custDataLst>
            </p:nvPr>
          </p:nvSpPr>
          <p:spPr>
            <a:xfrm>
              <a:off x="5265495" y="401868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9" name="矩形 58"/>
            <p:cNvSpPr/>
            <p:nvPr>
              <p:custDataLst>
                <p:tags r:id="rId21"/>
              </p:custDataLst>
            </p:nvPr>
          </p:nvSpPr>
          <p:spPr>
            <a:xfrm>
              <a:off x="6465289" y="4018684"/>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60" name="文本框 9"/>
            <p:cNvSpPr txBox="1"/>
            <p:nvPr>
              <p:custDataLst>
                <p:tags r:id="rId22"/>
              </p:custDataLst>
            </p:nvPr>
          </p:nvSpPr>
          <p:spPr>
            <a:xfrm>
              <a:off x="5054619" y="4107678"/>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1" name="TextBox 49"/>
            <p:cNvSpPr txBox="1"/>
            <p:nvPr>
              <p:custDataLst>
                <p:tags r:id="rId23"/>
              </p:custDataLst>
            </p:nvPr>
          </p:nvSpPr>
          <p:spPr>
            <a:xfrm>
              <a:off x="7557742" y="4076900"/>
              <a:ext cx="2654770" cy="583565"/>
            </a:xfrm>
            <a:prstGeom prst="rect">
              <a:avLst/>
            </a:prstGeom>
            <a:noFill/>
          </p:spPr>
          <p:txBody>
            <a:bodyPr wrap="square" rtlCol="0">
              <a:spAutoFit/>
            </a:bodyPr>
            <a:lstStyle/>
            <a:p>
              <a:pPr lvl="0" algn="ctr">
                <a:defRPr/>
              </a:pPr>
              <a:r>
                <a:rPr lang="zh-CN" altLang="en-US" sz="3200" b="1" spc="6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串</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0" name="progress-report_18229"/>
            <p:cNvSpPr/>
            <p:nvPr>
              <p:custDataLst>
                <p:tags r:id="rId24"/>
              </p:custDataLst>
            </p:nvPr>
          </p:nvSpPr>
          <p:spPr>
            <a:xfrm>
              <a:off x="6738829" y="4119492"/>
              <a:ext cx="474471" cy="411297"/>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微软雅黑" panose="020B0503020204020204" pitchFamily="34" charset="-122"/>
                <a:ea typeface="微软雅黑" panose="020B0503020204020204" pitchFamily="34" charset="-122"/>
              </a:endParaRPr>
            </a:p>
          </p:txBody>
        </p:sp>
      </p:grpSp>
      <p:grpSp>
        <p:nvGrpSpPr>
          <p:cNvPr id="14" name="组合 13"/>
          <p:cNvGrpSpPr/>
          <p:nvPr>
            <p:custDataLst>
              <p:tags r:id="rId25"/>
            </p:custDataLst>
          </p:nvPr>
        </p:nvGrpSpPr>
        <p:grpSpPr>
          <a:xfrm rot="0">
            <a:off x="5054600" y="4996815"/>
            <a:ext cx="6137275" cy="649605"/>
            <a:chOff x="5054619" y="5010474"/>
            <a:chExt cx="6137122" cy="649706"/>
          </a:xfrm>
        </p:grpSpPr>
        <p:sp>
          <p:nvSpPr>
            <p:cNvPr id="15" name="矩形 14"/>
            <p:cNvSpPr/>
            <p:nvPr>
              <p:custDataLst>
                <p:tags r:id="rId26"/>
              </p:custDataLst>
            </p:nvPr>
          </p:nvSpPr>
          <p:spPr>
            <a:xfrm>
              <a:off x="5265495" y="501047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16" name="矩形 15"/>
            <p:cNvSpPr/>
            <p:nvPr>
              <p:custDataLst>
                <p:tags r:id="rId27"/>
              </p:custDataLst>
            </p:nvPr>
          </p:nvSpPr>
          <p:spPr>
            <a:xfrm>
              <a:off x="6465289" y="5010474"/>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17" name="文本框 9"/>
            <p:cNvSpPr txBox="1"/>
            <p:nvPr>
              <p:custDataLst>
                <p:tags r:id="rId28"/>
              </p:custDataLst>
            </p:nvPr>
          </p:nvSpPr>
          <p:spPr>
            <a:xfrm>
              <a:off x="5054619" y="5099468"/>
              <a:ext cx="1126048" cy="5220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05</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8" name="TextBox 49"/>
            <p:cNvSpPr txBox="1"/>
            <p:nvPr>
              <p:custDataLst>
                <p:tags r:id="rId29"/>
              </p:custDataLst>
            </p:nvPr>
          </p:nvSpPr>
          <p:spPr>
            <a:xfrm>
              <a:off x="7557742" y="5068690"/>
              <a:ext cx="2654770" cy="58365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广义表</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69" name="Freeform 65"/>
          <p:cNvSpPr>
            <a:spLocks noEditPoints="1"/>
          </p:cNvSpPr>
          <p:nvPr>
            <p:custDataLst>
              <p:tags r:id="rId30"/>
            </p:custDataLst>
          </p:nvPr>
        </p:nvSpPr>
        <p:spPr bwMode="auto">
          <a:xfrm>
            <a:off x="6737985" y="5109845"/>
            <a:ext cx="465455" cy="424180"/>
          </a:xfrm>
          <a:custGeom>
            <a:avLst/>
            <a:gdLst/>
            <a:ahLst/>
            <a:cxnLst>
              <a:cxn ang="0">
                <a:pos x="45" y="41"/>
              </a:cxn>
              <a:cxn ang="0">
                <a:pos x="47" y="50"/>
              </a:cxn>
              <a:cxn ang="0">
                <a:pos x="40" y="56"/>
              </a:cxn>
              <a:cxn ang="0">
                <a:pos x="31" y="60"/>
              </a:cxn>
              <a:cxn ang="0">
                <a:pos x="21" y="60"/>
              </a:cxn>
              <a:cxn ang="0">
                <a:pos x="13" y="56"/>
              </a:cxn>
              <a:cxn ang="0">
                <a:pos x="5" y="50"/>
              </a:cxn>
              <a:cxn ang="0">
                <a:pos x="8" y="41"/>
              </a:cxn>
              <a:cxn ang="0">
                <a:pos x="0" y="32"/>
              </a:cxn>
              <a:cxn ang="0">
                <a:pos x="9" y="26"/>
              </a:cxn>
              <a:cxn ang="0">
                <a:pos x="5" y="20"/>
              </a:cxn>
              <a:cxn ang="0">
                <a:pos x="17" y="18"/>
              </a:cxn>
              <a:cxn ang="0">
                <a:pos x="22" y="10"/>
              </a:cxn>
              <a:cxn ang="0">
                <a:pos x="32" y="17"/>
              </a:cxn>
              <a:cxn ang="0">
                <a:pos x="41" y="14"/>
              </a:cxn>
              <a:cxn ang="0">
                <a:pos x="47" y="22"/>
              </a:cxn>
              <a:cxn ang="0">
                <a:pos x="51" y="30"/>
              </a:cxn>
              <a:cxn ang="0">
                <a:pos x="26" y="25"/>
              </a:cxn>
              <a:cxn ang="0">
                <a:pos x="36" y="35"/>
              </a:cxn>
              <a:cxn ang="0">
                <a:pos x="72" y="19"/>
              </a:cxn>
              <a:cxn ang="0">
                <a:pos x="72" y="27"/>
              </a:cxn>
              <a:cxn ang="0">
                <a:pos x="62" y="25"/>
              </a:cxn>
              <a:cxn ang="0">
                <a:pos x="52" y="27"/>
              </a:cxn>
              <a:cxn ang="0">
                <a:pos x="53" y="19"/>
              </a:cxn>
              <a:cxn ang="0">
                <a:pos x="53" y="11"/>
              </a:cxn>
              <a:cxn ang="0">
                <a:pos x="52" y="3"/>
              </a:cxn>
              <a:cxn ang="0">
                <a:pos x="62" y="4"/>
              </a:cxn>
              <a:cxn ang="0">
                <a:pos x="67" y="0"/>
              </a:cxn>
              <a:cxn ang="0">
                <a:pos x="70" y="9"/>
              </a:cxn>
              <a:cxn ang="0">
                <a:pos x="78" y="18"/>
              </a:cxn>
              <a:cxn ang="0">
                <a:pos x="70" y="62"/>
              </a:cxn>
              <a:cxn ang="0">
                <a:pos x="67" y="71"/>
              </a:cxn>
              <a:cxn ang="0">
                <a:pos x="61" y="66"/>
              </a:cxn>
              <a:cxn ang="0">
                <a:pos x="52" y="68"/>
              </a:cxn>
              <a:cxn ang="0">
                <a:pos x="47" y="59"/>
              </a:cxn>
              <a:cxn ang="0">
                <a:pos x="54" y="50"/>
              </a:cxn>
              <a:cxn ang="0">
                <a:pos x="57" y="41"/>
              </a:cxn>
              <a:cxn ang="0">
                <a:pos x="63" y="46"/>
              </a:cxn>
              <a:cxn ang="0">
                <a:pos x="72" y="44"/>
              </a:cxn>
              <a:cxn ang="0">
                <a:pos x="72" y="52"/>
              </a:cxn>
              <a:cxn ang="0">
                <a:pos x="62" y="10"/>
              </a:cxn>
              <a:cxn ang="0">
                <a:pos x="67" y="15"/>
              </a:cxn>
              <a:cxn ang="0">
                <a:pos x="57" y="56"/>
              </a:cxn>
              <a:cxn ang="0">
                <a:pos x="62" y="51"/>
              </a:cxn>
            </a:cxnLst>
            <a:rect l="0" t="0" r="r" b="b"/>
            <a:pathLst>
              <a:path w="78" h="71">
                <a:moveTo>
                  <a:pt x="52" y="39"/>
                </a:moveTo>
                <a:cubicBezTo>
                  <a:pt x="52" y="40"/>
                  <a:pt x="51" y="40"/>
                  <a:pt x="51" y="40"/>
                </a:cubicBezTo>
                <a:cubicBezTo>
                  <a:pt x="45" y="41"/>
                  <a:pt x="45" y="41"/>
                  <a:pt x="45" y="41"/>
                </a:cubicBezTo>
                <a:cubicBezTo>
                  <a:pt x="44" y="42"/>
                  <a:pt x="44" y="43"/>
                  <a:pt x="43" y="44"/>
                </a:cubicBezTo>
                <a:cubicBezTo>
                  <a:pt x="45" y="46"/>
                  <a:pt x="46" y="47"/>
                  <a:pt x="47" y="49"/>
                </a:cubicBezTo>
                <a:cubicBezTo>
                  <a:pt x="47" y="49"/>
                  <a:pt x="47" y="49"/>
                  <a:pt x="47" y="50"/>
                </a:cubicBezTo>
                <a:cubicBezTo>
                  <a:pt x="47" y="50"/>
                  <a:pt x="47" y="50"/>
                  <a:pt x="47" y="50"/>
                </a:cubicBezTo>
                <a:cubicBezTo>
                  <a:pt x="46" y="52"/>
                  <a:pt x="42" y="56"/>
                  <a:pt x="41" y="56"/>
                </a:cubicBezTo>
                <a:cubicBezTo>
                  <a:pt x="40" y="56"/>
                  <a:pt x="40" y="56"/>
                  <a:pt x="40" y="56"/>
                </a:cubicBezTo>
                <a:cubicBezTo>
                  <a:pt x="35" y="53"/>
                  <a:pt x="35" y="53"/>
                  <a:pt x="35" y="53"/>
                </a:cubicBezTo>
                <a:cubicBezTo>
                  <a:pt x="34" y="53"/>
                  <a:pt x="33" y="53"/>
                  <a:pt x="32" y="54"/>
                </a:cubicBezTo>
                <a:cubicBezTo>
                  <a:pt x="32" y="56"/>
                  <a:pt x="32" y="58"/>
                  <a:pt x="31" y="60"/>
                </a:cubicBezTo>
                <a:cubicBezTo>
                  <a:pt x="31" y="61"/>
                  <a:pt x="30" y="61"/>
                  <a:pt x="30" y="61"/>
                </a:cubicBezTo>
                <a:cubicBezTo>
                  <a:pt x="22" y="61"/>
                  <a:pt x="22" y="61"/>
                  <a:pt x="22" y="61"/>
                </a:cubicBezTo>
                <a:cubicBezTo>
                  <a:pt x="22" y="61"/>
                  <a:pt x="21" y="61"/>
                  <a:pt x="21" y="60"/>
                </a:cubicBezTo>
                <a:cubicBezTo>
                  <a:pt x="20" y="54"/>
                  <a:pt x="20" y="54"/>
                  <a:pt x="20" y="54"/>
                </a:cubicBezTo>
                <a:cubicBezTo>
                  <a:pt x="19" y="54"/>
                  <a:pt x="18" y="53"/>
                  <a:pt x="17" y="53"/>
                </a:cubicBezTo>
                <a:cubicBezTo>
                  <a:pt x="13" y="56"/>
                  <a:pt x="13" y="56"/>
                  <a:pt x="13" y="56"/>
                </a:cubicBezTo>
                <a:cubicBezTo>
                  <a:pt x="12" y="56"/>
                  <a:pt x="12" y="56"/>
                  <a:pt x="12" y="56"/>
                </a:cubicBezTo>
                <a:cubicBezTo>
                  <a:pt x="11" y="56"/>
                  <a:pt x="11" y="56"/>
                  <a:pt x="11" y="56"/>
                </a:cubicBezTo>
                <a:cubicBezTo>
                  <a:pt x="10" y="55"/>
                  <a:pt x="5" y="51"/>
                  <a:pt x="5" y="50"/>
                </a:cubicBezTo>
                <a:cubicBezTo>
                  <a:pt x="5" y="49"/>
                  <a:pt x="5" y="49"/>
                  <a:pt x="5" y="49"/>
                </a:cubicBezTo>
                <a:cubicBezTo>
                  <a:pt x="7" y="47"/>
                  <a:pt x="8" y="46"/>
                  <a:pt x="9" y="44"/>
                </a:cubicBezTo>
                <a:cubicBezTo>
                  <a:pt x="8" y="43"/>
                  <a:pt x="8" y="42"/>
                  <a:pt x="8" y="41"/>
                </a:cubicBezTo>
                <a:cubicBezTo>
                  <a:pt x="1" y="40"/>
                  <a:pt x="1" y="40"/>
                  <a:pt x="1" y="40"/>
                </a:cubicBezTo>
                <a:cubicBezTo>
                  <a:pt x="1" y="40"/>
                  <a:pt x="0" y="40"/>
                  <a:pt x="0" y="39"/>
                </a:cubicBezTo>
                <a:cubicBezTo>
                  <a:pt x="0" y="32"/>
                  <a:pt x="0" y="32"/>
                  <a:pt x="0" y="32"/>
                </a:cubicBezTo>
                <a:cubicBezTo>
                  <a:pt x="0" y="31"/>
                  <a:pt x="1" y="30"/>
                  <a:pt x="1" y="30"/>
                </a:cubicBezTo>
                <a:cubicBezTo>
                  <a:pt x="8" y="29"/>
                  <a:pt x="8" y="29"/>
                  <a:pt x="8" y="29"/>
                </a:cubicBezTo>
                <a:cubicBezTo>
                  <a:pt x="8" y="28"/>
                  <a:pt x="8" y="27"/>
                  <a:pt x="9" y="26"/>
                </a:cubicBezTo>
                <a:cubicBezTo>
                  <a:pt x="8" y="25"/>
                  <a:pt x="7" y="23"/>
                  <a:pt x="5" y="22"/>
                </a:cubicBezTo>
                <a:cubicBezTo>
                  <a:pt x="5" y="21"/>
                  <a:pt x="5" y="21"/>
                  <a:pt x="5" y="21"/>
                </a:cubicBezTo>
                <a:cubicBezTo>
                  <a:pt x="5" y="21"/>
                  <a:pt x="5" y="20"/>
                  <a:pt x="5" y="20"/>
                </a:cubicBezTo>
                <a:cubicBezTo>
                  <a:pt x="6" y="19"/>
                  <a:pt x="11" y="14"/>
                  <a:pt x="12" y="14"/>
                </a:cubicBezTo>
                <a:cubicBezTo>
                  <a:pt x="12" y="14"/>
                  <a:pt x="12" y="14"/>
                  <a:pt x="13" y="14"/>
                </a:cubicBezTo>
                <a:cubicBezTo>
                  <a:pt x="17" y="18"/>
                  <a:pt x="17" y="18"/>
                  <a:pt x="17" y="18"/>
                </a:cubicBezTo>
                <a:cubicBezTo>
                  <a:pt x="18" y="18"/>
                  <a:pt x="19" y="17"/>
                  <a:pt x="20" y="17"/>
                </a:cubicBezTo>
                <a:cubicBezTo>
                  <a:pt x="21" y="15"/>
                  <a:pt x="21" y="13"/>
                  <a:pt x="21" y="11"/>
                </a:cubicBezTo>
                <a:cubicBezTo>
                  <a:pt x="21" y="10"/>
                  <a:pt x="22" y="10"/>
                  <a:pt x="22" y="10"/>
                </a:cubicBezTo>
                <a:cubicBezTo>
                  <a:pt x="30" y="10"/>
                  <a:pt x="30" y="10"/>
                  <a:pt x="30" y="10"/>
                </a:cubicBezTo>
                <a:cubicBezTo>
                  <a:pt x="30" y="10"/>
                  <a:pt x="31" y="10"/>
                  <a:pt x="31" y="11"/>
                </a:cubicBezTo>
                <a:cubicBezTo>
                  <a:pt x="32" y="17"/>
                  <a:pt x="32" y="17"/>
                  <a:pt x="32" y="17"/>
                </a:cubicBezTo>
                <a:cubicBezTo>
                  <a:pt x="33" y="17"/>
                  <a:pt x="34" y="18"/>
                  <a:pt x="35" y="18"/>
                </a:cubicBezTo>
                <a:cubicBezTo>
                  <a:pt x="40" y="14"/>
                  <a:pt x="40" y="14"/>
                  <a:pt x="40" y="14"/>
                </a:cubicBezTo>
                <a:cubicBezTo>
                  <a:pt x="40" y="14"/>
                  <a:pt x="40" y="14"/>
                  <a:pt x="41" y="14"/>
                </a:cubicBezTo>
                <a:cubicBezTo>
                  <a:pt x="41" y="14"/>
                  <a:pt x="41" y="14"/>
                  <a:pt x="41" y="14"/>
                </a:cubicBezTo>
                <a:cubicBezTo>
                  <a:pt x="42" y="15"/>
                  <a:pt x="47" y="20"/>
                  <a:pt x="47" y="21"/>
                </a:cubicBezTo>
                <a:cubicBezTo>
                  <a:pt x="47" y="21"/>
                  <a:pt x="47" y="21"/>
                  <a:pt x="47" y="22"/>
                </a:cubicBezTo>
                <a:cubicBezTo>
                  <a:pt x="46" y="23"/>
                  <a:pt x="45" y="25"/>
                  <a:pt x="43" y="26"/>
                </a:cubicBezTo>
                <a:cubicBezTo>
                  <a:pt x="44" y="27"/>
                  <a:pt x="44" y="28"/>
                  <a:pt x="45" y="30"/>
                </a:cubicBezTo>
                <a:cubicBezTo>
                  <a:pt x="51" y="30"/>
                  <a:pt x="51" y="30"/>
                  <a:pt x="51" y="30"/>
                </a:cubicBezTo>
                <a:cubicBezTo>
                  <a:pt x="51" y="31"/>
                  <a:pt x="52" y="31"/>
                  <a:pt x="52" y="32"/>
                </a:cubicBezTo>
                <a:lnTo>
                  <a:pt x="52" y="39"/>
                </a:lnTo>
                <a:close/>
                <a:moveTo>
                  <a:pt x="26" y="25"/>
                </a:moveTo>
                <a:cubicBezTo>
                  <a:pt x="21" y="25"/>
                  <a:pt x="16" y="30"/>
                  <a:pt x="16" y="35"/>
                </a:cubicBezTo>
                <a:cubicBezTo>
                  <a:pt x="16" y="41"/>
                  <a:pt x="21" y="46"/>
                  <a:pt x="26" y="46"/>
                </a:cubicBezTo>
                <a:cubicBezTo>
                  <a:pt x="32" y="46"/>
                  <a:pt x="36" y="41"/>
                  <a:pt x="36" y="35"/>
                </a:cubicBezTo>
                <a:cubicBezTo>
                  <a:pt x="36" y="30"/>
                  <a:pt x="32" y="25"/>
                  <a:pt x="26" y="25"/>
                </a:cubicBezTo>
                <a:close/>
                <a:moveTo>
                  <a:pt x="78" y="18"/>
                </a:moveTo>
                <a:cubicBezTo>
                  <a:pt x="78" y="18"/>
                  <a:pt x="72" y="19"/>
                  <a:pt x="72" y="19"/>
                </a:cubicBezTo>
                <a:cubicBezTo>
                  <a:pt x="71" y="20"/>
                  <a:pt x="71" y="20"/>
                  <a:pt x="70" y="21"/>
                </a:cubicBezTo>
                <a:cubicBezTo>
                  <a:pt x="71" y="22"/>
                  <a:pt x="72" y="26"/>
                  <a:pt x="72" y="26"/>
                </a:cubicBezTo>
                <a:cubicBezTo>
                  <a:pt x="72" y="27"/>
                  <a:pt x="72" y="27"/>
                  <a:pt x="72" y="27"/>
                </a:cubicBezTo>
                <a:cubicBezTo>
                  <a:pt x="72" y="27"/>
                  <a:pt x="68" y="30"/>
                  <a:pt x="67" y="30"/>
                </a:cubicBezTo>
                <a:cubicBezTo>
                  <a:pt x="67" y="30"/>
                  <a:pt x="64" y="26"/>
                  <a:pt x="63" y="25"/>
                </a:cubicBezTo>
                <a:cubicBezTo>
                  <a:pt x="63" y="25"/>
                  <a:pt x="63" y="25"/>
                  <a:pt x="62" y="25"/>
                </a:cubicBezTo>
                <a:cubicBezTo>
                  <a:pt x="62" y="25"/>
                  <a:pt x="61" y="25"/>
                  <a:pt x="61" y="25"/>
                </a:cubicBezTo>
                <a:cubicBezTo>
                  <a:pt x="61" y="26"/>
                  <a:pt x="58" y="30"/>
                  <a:pt x="57" y="30"/>
                </a:cubicBezTo>
                <a:cubicBezTo>
                  <a:pt x="57" y="30"/>
                  <a:pt x="53" y="27"/>
                  <a:pt x="52" y="27"/>
                </a:cubicBezTo>
                <a:cubicBezTo>
                  <a:pt x="52" y="27"/>
                  <a:pt x="52" y="27"/>
                  <a:pt x="52" y="26"/>
                </a:cubicBezTo>
                <a:cubicBezTo>
                  <a:pt x="52" y="26"/>
                  <a:pt x="54" y="22"/>
                  <a:pt x="54" y="21"/>
                </a:cubicBezTo>
                <a:cubicBezTo>
                  <a:pt x="53" y="20"/>
                  <a:pt x="53" y="20"/>
                  <a:pt x="53" y="19"/>
                </a:cubicBezTo>
                <a:cubicBezTo>
                  <a:pt x="52" y="19"/>
                  <a:pt x="47" y="18"/>
                  <a:pt x="47" y="18"/>
                </a:cubicBezTo>
                <a:cubicBezTo>
                  <a:pt x="47" y="12"/>
                  <a:pt x="47" y="12"/>
                  <a:pt x="47" y="12"/>
                </a:cubicBezTo>
                <a:cubicBezTo>
                  <a:pt x="47" y="11"/>
                  <a:pt x="52" y="11"/>
                  <a:pt x="53" y="11"/>
                </a:cubicBezTo>
                <a:cubicBezTo>
                  <a:pt x="53" y="10"/>
                  <a:pt x="53" y="9"/>
                  <a:pt x="54" y="9"/>
                </a:cubicBezTo>
                <a:cubicBezTo>
                  <a:pt x="54" y="8"/>
                  <a:pt x="52" y="4"/>
                  <a:pt x="52" y="3"/>
                </a:cubicBezTo>
                <a:cubicBezTo>
                  <a:pt x="52" y="3"/>
                  <a:pt x="52" y="3"/>
                  <a:pt x="52" y="3"/>
                </a:cubicBezTo>
                <a:cubicBezTo>
                  <a:pt x="53" y="3"/>
                  <a:pt x="57" y="0"/>
                  <a:pt x="57" y="0"/>
                </a:cubicBezTo>
                <a:cubicBezTo>
                  <a:pt x="58" y="0"/>
                  <a:pt x="61" y="4"/>
                  <a:pt x="61" y="5"/>
                </a:cubicBezTo>
                <a:cubicBezTo>
                  <a:pt x="61" y="4"/>
                  <a:pt x="62" y="4"/>
                  <a:pt x="62" y="4"/>
                </a:cubicBezTo>
                <a:cubicBezTo>
                  <a:pt x="63" y="4"/>
                  <a:pt x="63" y="4"/>
                  <a:pt x="63" y="5"/>
                </a:cubicBezTo>
                <a:cubicBezTo>
                  <a:pt x="64" y="3"/>
                  <a:pt x="66" y="1"/>
                  <a:pt x="67" y="0"/>
                </a:cubicBezTo>
                <a:cubicBezTo>
                  <a:pt x="67" y="0"/>
                  <a:pt x="67" y="0"/>
                  <a:pt x="67" y="0"/>
                </a:cubicBezTo>
                <a:cubicBezTo>
                  <a:pt x="68" y="0"/>
                  <a:pt x="72" y="2"/>
                  <a:pt x="72" y="3"/>
                </a:cubicBezTo>
                <a:cubicBezTo>
                  <a:pt x="72" y="3"/>
                  <a:pt x="72" y="3"/>
                  <a:pt x="72" y="3"/>
                </a:cubicBezTo>
                <a:cubicBezTo>
                  <a:pt x="72" y="4"/>
                  <a:pt x="71" y="8"/>
                  <a:pt x="70" y="9"/>
                </a:cubicBezTo>
                <a:cubicBezTo>
                  <a:pt x="71" y="9"/>
                  <a:pt x="71" y="10"/>
                  <a:pt x="72" y="11"/>
                </a:cubicBezTo>
                <a:cubicBezTo>
                  <a:pt x="72" y="11"/>
                  <a:pt x="78" y="11"/>
                  <a:pt x="78" y="12"/>
                </a:cubicBezTo>
                <a:lnTo>
                  <a:pt x="78" y="18"/>
                </a:lnTo>
                <a:close/>
                <a:moveTo>
                  <a:pt x="78" y="59"/>
                </a:moveTo>
                <a:cubicBezTo>
                  <a:pt x="78" y="59"/>
                  <a:pt x="72" y="60"/>
                  <a:pt x="72" y="60"/>
                </a:cubicBezTo>
                <a:cubicBezTo>
                  <a:pt x="71" y="61"/>
                  <a:pt x="71" y="61"/>
                  <a:pt x="70" y="62"/>
                </a:cubicBezTo>
                <a:cubicBezTo>
                  <a:pt x="71" y="63"/>
                  <a:pt x="72" y="67"/>
                  <a:pt x="72" y="68"/>
                </a:cubicBezTo>
                <a:cubicBezTo>
                  <a:pt x="72" y="68"/>
                  <a:pt x="72" y="68"/>
                  <a:pt x="72" y="68"/>
                </a:cubicBezTo>
                <a:cubicBezTo>
                  <a:pt x="72" y="68"/>
                  <a:pt x="68" y="71"/>
                  <a:pt x="67" y="71"/>
                </a:cubicBezTo>
                <a:cubicBezTo>
                  <a:pt x="67" y="71"/>
                  <a:pt x="64" y="67"/>
                  <a:pt x="63" y="66"/>
                </a:cubicBezTo>
                <a:cubicBezTo>
                  <a:pt x="63" y="66"/>
                  <a:pt x="63" y="66"/>
                  <a:pt x="62" y="66"/>
                </a:cubicBezTo>
                <a:cubicBezTo>
                  <a:pt x="62" y="66"/>
                  <a:pt x="61" y="66"/>
                  <a:pt x="61" y="66"/>
                </a:cubicBezTo>
                <a:cubicBezTo>
                  <a:pt x="61" y="67"/>
                  <a:pt x="58" y="71"/>
                  <a:pt x="57" y="71"/>
                </a:cubicBezTo>
                <a:cubicBezTo>
                  <a:pt x="57" y="71"/>
                  <a:pt x="53" y="68"/>
                  <a:pt x="52" y="68"/>
                </a:cubicBezTo>
                <a:cubicBezTo>
                  <a:pt x="52" y="68"/>
                  <a:pt x="52" y="68"/>
                  <a:pt x="52" y="68"/>
                </a:cubicBezTo>
                <a:cubicBezTo>
                  <a:pt x="52" y="67"/>
                  <a:pt x="54" y="63"/>
                  <a:pt x="54" y="62"/>
                </a:cubicBezTo>
                <a:cubicBezTo>
                  <a:pt x="53" y="61"/>
                  <a:pt x="53" y="61"/>
                  <a:pt x="53" y="60"/>
                </a:cubicBezTo>
                <a:cubicBezTo>
                  <a:pt x="52" y="60"/>
                  <a:pt x="47" y="59"/>
                  <a:pt x="47" y="59"/>
                </a:cubicBezTo>
                <a:cubicBezTo>
                  <a:pt x="47" y="53"/>
                  <a:pt x="47" y="53"/>
                  <a:pt x="47" y="53"/>
                </a:cubicBezTo>
                <a:cubicBezTo>
                  <a:pt x="47" y="52"/>
                  <a:pt x="52" y="52"/>
                  <a:pt x="53" y="52"/>
                </a:cubicBezTo>
                <a:cubicBezTo>
                  <a:pt x="53" y="51"/>
                  <a:pt x="53" y="50"/>
                  <a:pt x="54" y="50"/>
                </a:cubicBezTo>
                <a:cubicBezTo>
                  <a:pt x="54" y="49"/>
                  <a:pt x="52" y="45"/>
                  <a:pt x="52" y="44"/>
                </a:cubicBezTo>
                <a:cubicBezTo>
                  <a:pt x="52" y="44"/>
                  <a:pt x="52" y="44"/>
                  <a:pt x="52" y="44"/>
                </a:cubicBezTo>
                <a:cubicBezTo>
                  <a:pt x="53" y="44"/>
                  <a:pt x="57" y="41"/>
                  <a:pt x="57" y="41"/>
                </a:cubicBezTo>
                <a:cubicBezTo>
                  <a:pt x="58" y="41"/>
                  <a:pt x="61" y="45"/>
                  <a:pt x="61" y="46"/>
                </a:cubicBezTo>
                <a:cubicBezTo>
                  <a:pt x="61" y="46"/>
                  <a:pt x="62" y="46"/>
                  <a:pt x="62" y="46"/>
                </a:cubicBezTo>
                <a:cubicBezTo>
                  <a:pt x="63" y="46"/>
                  <a:pt x="63" y="46"/>
                  <a:pt x="63" y="46"/>
                </a:cubicBezTo>
                <a:cubicBezTo>
                  <a:pt x="64" y="44"/>
                  <a:pt x="66" y="43"/>
                  <a:pt x="67" y="41"/>
                </a:cubicBezTo>
                <a:cubicBezTo>
                  <a:pt x="67" y="41"/>
                  <a:pt x="67" y="41"/>
                  <a:pt x="67" y="41"/>
                </a:cubicBezTo>
                <a:cubicBezTo>
                  <a:pt x="68" y="41"/>
                  <a:pt x="72" y="44"/>
                  <a:pt x="72" y="44"/>
                </a:cubicBezTo>
                <a:cubicBezTo>
                  <a:pt x="72" y="44"/>
                  <a:pt x="72" y="44"/>
                  <a:pt x="72" y="44"/>
                </a:cubicBezTo>
                <a:cubicBezTo>
                  <a:pt x="72" y="45"/>
                  <a:pt x="71" y="49"/>
                  <a:pt x="70" y="50"/>
                </a:cubicBezTo>
                <a:cubicBezTo>
                  <a:pt x="71" y="50"/>
                  <a:pt x="71" y="51"/>
                  <a:pt x="72" y="52"/>
                </a:cubicBezTo>
                <a:cubicBezTo>
                  <a:pt x="72" y="52"/>
                  <a:pt x="78" y="52"/>
                  <a:pt x="78" y="53"/>
                </a:cubicBezTo>
                <a:lnTo>
                  <a:pt x="78" y="59"/>
                </a:lnTo>
                <a:close/>
                <a:moveTo>
                  <a:pt x="62" y="10"/>
                </a:moveTo>
                <a:cubicBezTo>
                  <a:pt x="59" y="10"/>
                  <a:pt x="57" y="12"/>
                  <a:pt x="57" y="15"/>
                </a:cubicBezTo>
                <a:cubicBezTo>
                  <a:pt x="57" y="18"/>
                  <a:pt x="59" y="20"/>
                  <a:pt x="62" y="20"/>
                </a:cubicBezTo>
                <a:cubicBezTo>
                  <a:pt x="65" y="20"/>
                  <a:pt x="67" y="18"/>
                  <a:pt x="67" y="15"/>
                </a:cubicBezTo>
                <a:cubicBezTo>
                  <a:pt x="67" y="12"/>
                  <a:pt x="65" y="10"/>
                  <a:pt x="62" y="10"/>
                </a:cubicBezTo>
                <a:close/>
                <a:moveTo>
                  <a:pt x="62" y="51"/>
                </a:moveTo>
                <a:cubicBezTo>
                  <a:pt x="59" y="51"/>
                  <a:pt x="57" y="53"/>
                  <a:pt x="57" y="56"/>
                </a:cubicBezTo>
                <a:cubicBezTo>
                  <a:pt x="57" y="59"/>
                  <a:pt x="59" y="61"/>
                  <a:pt x="62" y="61"/>
                </a:cubicBezTo>
                <a:cubicBezTo>
                  <a:pt x="65" y="61"/>
                  <a:pt x="67" y="59"/>
                  <a:pt x="67" y="56"/>
                </a:cubicBezTo>
                <a:cubicBezTo>
                  <a:pt x="67" y="53"/>
                  <a:pt x="65" y="51"/>
                  <a:pt x="62" y="51"/>
                </a:cubicBezTo>
                <a:close/>
              </a:path>
            </a:pathLst>
          </a:custGeom>
          <a:solidFill>
            <a:schemeClr val="bg1"/>
          </a:solidFill>
          <a:ln w="9525">
            <a:noFill/>
            <a:round/>
          </a:ln>
        </p:spPr>
        <p:txBody>
          <a:bodyPr vert="horz" wrap="square" lIns="91440" tIns="45720" rIns="91440" bIns="45720" numCol="1" anchor="t" anchorCtr="0" compatLnSpc="1"/>
          <a:p>
            <a:endParaRPr lang="en-US">
              <a:solidFill>
                <a:srgbClr val="4B7FB1"/>
              </a:solidFill>
            </a:endParaRPr>
          </a:p>
        </p:txBody>
      </p:sp>
    </p:spTree>
    <p:custDataLst>
      <p:tags r:id="rId3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2806" y="106251"/>
            <a:ext cx="2994132"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3.1 </a:t>
            </a:r>
            <a:r>
              <a:rPr lang="zh-CN" altLang="en-US" sz="3600" b="1" dirty="0" smtClean="0">
                <a:solidFill>
                  <a:schemeClr val="bg1"/>
                </a:solidFill>
                <a:latin typeface="微软雅黑" panose="020B0503020204020204" pitchFamily="34" charset="-122"/>
                <a:ea typeface="微软雅黑" panose="020B0503020204020204" pitchFamily="34" charset="-122"/>
              </a:rPr>
              <a:t>栈</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609600" y="1343660"/>
            <a:ext cx="11101705" cy="1753235"/>
          </a:xfrm>
          <a:prstGeom prst="rect">
            <a:avLst/>
          </a:prstGeom>
          <a:noFill/>
        </p:spPr>
        <p:txBody>
          <a:bodyPr wrap="square" rtlCol="0">
            <a:spAutoFit/>
          </a:bodyPr>
          <a:p>
            <a:pPr indent="457200" fontAlgn="auto">
              <a:lnSpc>
                <a:spcPct val="150000"/>
              </a:lnSpc>
              <a:buFont typeface="Arial" panose="020B0604020202020204" pitchFamily="34" charset="0"/>
              <a:buNone/>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由于栈的插入和删除操作总是在栈顶进行，所以，后进去的元素一定先出来。因而，栈又被称为后进先出（Last In First Out）的线性表，简称LIFO表。栈对于内含反转的应用特别有用。</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Text Box 29"/>
          <p:cNvSpPr txBox="1">
            <a:spLocks noChangeArrowheads="1"/>
          </p:cNvSpPr>
          <p:nvPr/>
        </p:nvSpPr>
        <p:spPr bwMode="auto">
          <a:xfrm>
            <a:off x="1843405" y="3733800"/>
            <a:ext cx="1066800" cy="583565"/>
          </a:xfrm>
          <a:prstGeom prst="rect">
            <a:avLst/>
          </a:prstGeom>
          <a:noFill/>
          <a:ln w="9525">
            <a:noFill/>
            <a:miter lim="800000"/>
          </a:ln>
        </p:spPr>
        <p:txBody>
          <a:bodyPr>
            <a:spAutoFit/>
          </a:bodyPr>
          <a:p>
            <a:pPr marR="0" algn="ctr" defTabSz="914400">
              <a:spcBef>
                <a:spcPct val="50000"/>
              </a:spcBef>
              <a:buClrTx/>
              <a:buSzTx/>
              <a:buFontTx/>
              <a:buNone/>
              <a:defRPr/>
            </a:pPr>
            <a:r>
              <a:rPr kumimoji="0" lang="zh-CN" altLang="en-US" sz="32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思考：</a:t>
            </a:r>
            <a:endParaRPr kumimoji="0" lang="zh-CN" altLang="en-US" sz="32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endParaRPr>
          </a:p>
        </p:txBody>
      </p:sp>
      <p:sp>
        <p:nvSpPr>
          <p:cNvPr id="9" name="Text Box 26"/>
          <p:cNvSpPr txBox="1"/>
          <p:nvPr/>
        </p:nvSpPr>
        <p:spPr>
          <a:xfrm>
            <a:off x="3693160" y="3806190"/>
            <a:ext cx="3200400" cy="1568450"/>
          </a:xfrm>
          <a:prstGeom prst="rect">
            <a:avLst/>
          </a:prstGeom>
          <a:noFill/>
          <a:ln w="9525">
            <a:noFill/>
          </a:ln>
        </p:spPr>
        <p:txBody>
          <a:bodyPr>
            <a:spAutoFit/>
          </a:bodyPr>
          <a:p>
            <a:pPr>
              <a:spcBef>
                <a:spcPct val="50000"/>
              </a:spcBef>
            </a:pPr>
            <a:r>
              <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若输入序列是</a:t>
            </a:r>
            <a:r>
              <a:rPr lang="en-US" altLang="zh-CN" sz="24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1,2,3</a:t>
            </a:r>
            <a:r>
              <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则可能的输出序列有</a:t>
            </a:r>
            <a:endPar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spcBef>
                <a:spcPct val="50000"/>
              </a:spcBef>
            </a:pPr>
            <a:r>
              <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哪些？</a:t>
            </a:r>
            <a:endParaRPr lang="zh-CN" altLang="en-US" sz="24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ext Box 28"/>
          <p:cNvSpPr txBox="1"/>
          <p:nvPr/>
        </p:nvSpPr>
        <p:spPr>
          <a:xfrm>
            <a:off x="8321040" y="4187190"/>
            <a:ext cx="1066800" cy="460375"/>
          </a:xfrm>
          <a:prstGeom prst="rect">
            <a:avLst/>
          </a:prstGeom>
          <a:noFill/>
          <a:ln w="9525">
            <a:noFill/>
          </a:ln>
        </p:spPr>
        <p:txBody>
          <a:bodyPr>
            <a:spAutoFit/>
          </a:bodyPr>
          <a:p>
            <a:pPr algn="ctr">
              <a:spcBef>
                <a:spcPct val="50000"/>
              </a:spcBef>
            </a:pPr>
            <a:r>
              <a:rPr lang="en-US" altLang="zh-CN" sz="2400" b="0">
                <a:solidFill>
                  <a:schemeClr val="tx1"/>
                </a:solidFill>
                <a:latin typeface="微软雅黑" panose="020B0503020204020204" pitchFamily="34" charset="-122"/>
                <a:ea typeface="微软雅黑" panose="020B0503020204020204" pitchFamily="34" charset="-122"/>
              </a:rPr>
              <a:t>1,3,2</a:t>
            </a:r>
            <a:endParaRPr lang="en-US" altLang="zh-CN" sz="2400" b="0">
              <a:solidFill>
                <a:schemeClr val="tx1"/>
              </a:solidFill>
              <a:latin typeface="微软雅黑" panose="020B0503020204020204" pitchFamily="34" charset="-122"/>
              <a:ea typeface="微软雅黑" panose="020B0503020204020204" pitchFamily="34" charset="-122"/>
            </a:endParaRPr>
          </a:p>
        </p:txBody>
      </p:sp>
      <p:sp>
        <p:nvSpPr>
          <p:cNvPr id="5" name="Text Box 29"/>
          <p:cNvSpPr txBox="1"/>
          <p:nvPr/>
        </p:nvSpPr>
        <p:spPr>
          <a:xfrm>
            <a:off x="8321040" y="3806190"/>
            <a:ext cx="1066800" cy="460375"/>
          </a:xfrm>
          <a:prstGeom prst="rect">
            <a:avLst/>
          </a:prstGeom>
          <a:noFill/>
          <a:ln w="9525">
            <a:noFill/>
          </a:ln>
        </p:spPr>
        <p:txBody>
          <a:bodyPr>
            <a:spAutoFit/>
          </a:bodyPr>
          <a:p>
            <a:pPr algn="ctr">
              <a:spcBef>
                <a:spcPct val="50000"/>
              </a:spcBef>
            </a:pPr>
            <a:r>
              <a:rPr lang="en-US" altLang="zh-CN" sz="2400" b="0">
                <a:solidFill>
                  <a:schemeClr val="tx1"/>
                </a:solidFill>
                <a:latin typeface="微软雅黑" panose="020B0503020204020204" pitchFamily="34" charset="-122"/>
                <a:ea typeface="微软雅黑" panose="020B0503020204020204" pitchFamily="34" charset="-122"/>
              </a:rPr>
              <a:t>1,2,3</a:t>
            </a:r>
            <a:endParaRPr lang="en-US" altLang="zh-CN" sz="2400" b="0">
              <a:solidFill>
                <a:schemeClr val="tx1"/>
              </a:solidFill>
              <a:latin typeface="微软雅黑" panose="020B0503020204020204" pitchFamily="34" charset="-122"/>
              <a:ea typeface="微软雅黑" panose="020B0503020204020204" pitchFamily="34" charset="-122"/>
            </a:endParaRPr>
          </a:p>
        </p:txBody>
      </p:sp>
      <p:sp>
        <p:nvSpPr>
          <p:cNvPr id="3" name="Text Box 30"/>
          <p:cNvSpPr txBox="1"/>
          <p:nvPr/>
        </p:nvSpPr>
        <p:spPr>
          <a:xfrm>
            <a:off x="8321040" y="4568190"/>
            <a:ext cx="1066800" cy="460375"/>
          </a:xfrm>
          <a:prstGeom prst="rect">
            <a:avLst/>
          </a:prstGeom>
          <a:noFill/>
          <a:ln w="9525">
            <a:noFill/>
          </a:ln>
        </p:spPr>
        <p:txBody>
          <a:bodyPr>
            <a:spAutoFit/>
          </a:bodyPr>
          <a:p>
            <a:pPr algn="ctr">
              <a:spcBef>
                <a:spcPct val="50000"/>
              </a:spcBef>
            </a:pPr>
            <a:r>
              <a:rPr lang="en-US" altLang="zh-CN" sz="2400" b="0">
                <a:solidFill>
                  <a:schemeClr val="tx1"/>
                </a:solidFill>
                <a:latin typeface="微软雅黑" panose="020B0503020204020204" pitchFamily="34" charset="-122"/>
                <a:ea typeface="微软雅黑" panose="020B0503020204020204" pitchFamily="34" charset="-122"/>
              </a:rPr>
              <a:t>2,1,3</a:t>
            </a:r>
            <a:endParaRPr lang="en-US" altLang="zh-CN" sz="2400" b="0">
              <a:solidFill>
                <a:schemeClr val="tx1"/>
              </a:solidFill>
              <a:latin typeface="微软雅黑" panose="020B0503020204020204" pitchFamily="34" charset="-122"/>
              <a:ea typeface="微软雅黑" panose="020B0503020204020204" pitchFamily="34" charset="-122"/>
            </a:endParaRPr>
          </a:p>
        </p:txBody>
      </p:sp>
      <p:sp>
        <p:nvSpPr>
          <p:cNvPr id="12" name="Text Box 31"/>
          <p:cNvSpPr txBox="1"/>
          <p:nvPr/>
        </p:nvSpPr>
        <p:spPr>
          <a:xfrm>
            <a:off x="8321040" y="5330190"/>
            <a:ext cx="1066800" cy="460375"/>
          </a:xfrm>
          <a:prstGeom prst="rect">
            <a:avLst/>
          </a:prstGeom>
          <a:noFill/>
          <a:ln w="9525">
            <a:noFill/>
          </a:ln>
        </p:spPr>
        <p:txBody>
          <a:bodyPr>
            <a:spAutoFit/>
          </a:bodyPr>
          <a:p>
            <a:pPr algn="ctr">
              <a:spcBef>
                <a:spcPct val="50000"/>
              </a:spcBef>
            </a:pPr>
            <a:r>
              <a:rPr lang="en-US" altLang="zh-CN" sz="2400" b="0">
                <a:solidFill>
                  <a:schemeClr val="tx1"/>
                </a:solidFill>
                <a:latin typeface="微软雅黑" panose="020B0503020204020204" pitchFamily="34" charset="-122"/>
                <a:ea typeface="微软雅黑" panose="020B0503020204020204" pitchFamily="34" charset="-122"/>
              </a:rPr>
              <a:t>3,2,1</a:t>
            </a:r>
            <a:endParaRPr lang="en-US" altLang="zh-CN" sz="2400" b="0">
              <a:solidFill>
                <a:schemeClr val="tx1"/>
              </a:solidFill>
              <a:latin typeface="微软雅黑" panose="020B0503020204020204" pitchFamily="34" charset="-122"/>
              <a:ea typeface="微软雅黑" panose="020B0503020204020204" pitchFamily="34" charset="-122"/>
            </a:endParaRPr>
          </a:p>
        </p:txBody>
      </p:sp>
      <p:sp>
        <p:nvSpPr>
          <p:cNvPr id="13" name="Text Box 32"/>
          <p:cNvSpPr txBox="1"/>
          <p:nvPr/>
        </p:nvSpPr>
        <p:spPr>
          <a:xfrm>
            <a:off x="8321040" y="4949190"/>
            <a:ext cx="1066800" cy="460375"/>
          </a:xfrm>
          <a:prstGeom prst="rect">
            <a:avLst/>
          </a:prstGeom>
          <a:noFill/>
          <a:ln w="9525">
            <a:noFill/>
          </a:ln>
        </p:spPr>
        <p:txBody>
          <a:bodyPr>
            <a:spAutoFit/>
          </a:bodyPr>
          <a:p>
            <a:pPr algn="ctr">
              <a:spcBef>
                <a:spcPct val="50000"/>
              </a:spcBef>
            </a:pPr>
            <a:r>
              <a:rPr lang="en-US" altLang="zh-CN" sz="2400" b="0">
                <a:solidFill>
                  <a:schemeClr val="tx1"/>
                </a:solidFill>
                <a:latin typeface="微软雅黑" panose="020B0503020204020204" pitchFamily="34" charset="-122"/>
                <a:ea typeface="微软雅黑" panose="020B0503020204020204" pitchFamily="34" charset="-122"/>
              </a:rPr>
              <a:t>2,3,1</a:t>
            </a:r>
            <a:endParaRPr lang="en-US" altLang="zh-CN" sz="2400" b="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strips(downRigh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1+#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1+#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1+#ppt_w/2"/>
                                          </p:val>
                                        </p:tav>
                                        <p:tav tm="100000">
                                          <p:val>
                                            <p:strVal val="#ppt_x"/>
                                          </p:val>
                                        </p:tav>
                                      </p:tavLst>
                                    </p:anim>
                                    <p:anim calcmode="lin" valueType="num">
                                      <p:cBhvr additive="base">
                                        <p:cTn id="31"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additive="base">
                                        <p:cTn id="36" dur="500" fill="hold"/>
                                        <p:tgtEl>
                                          <p:spTgt spid="13"/>
                                        </p:tgtEl>
                                        <p:attrNameLst>
                                          <p:attrName>ppt_x</p:attrName>
                                        </p:attrNameLst>
                                      </p:cBhvr>
                                      <p:tavLst>
                                        <p:tav tm="0">
                                          <p:val>
                                            <p:strVal val="1+#ppt_w/2"/>
                                          </p:val>
                                        </p:tav>
                                        <p:tav tm="100000">
                                          <p:val>
                                            <p:strVal val="#ppt_x"/>
                                          </p:val>
                                        </p:tav>
                                      </p:tavLst>
                                    </p:anim>
                                    <p:anim calcmode="lin" valueType="num">
                                      <p:cBhvr additive="base">
                                        <p:cTn id="37"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1+#ppt_w/2"/>
                                          </p:val>
                                        </p:tav>
                                        <p:tav tm="100000">
                                          <p:val>
                                            <p:strVal val="#ppt_x"/>
                                          </p:val>
                                        </p:tav>
                                      </p:tavLst>
                                    </p:anim>
                                    <p:anim calcmode="lin" valueType="num">
                                      <p:cBhvr additive="base">
                                        <p:cTn id="4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2" grpId="0"/>
      <p:bldP spid="5" grpId="0"/>
      <p:bldP spid="3"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2806" y="106251"/>
            <a:ext cx="2994132"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3.1 </a:t>
            </a:r>
            <a:r>
              <a:rPr lang="zh-CN" altLang="en-US" sz="3600" b="1" dirty="0" smtClean="0">
                <a:solidFill>
                  <a:schemeClr val="bg1"/>
                </a:solidFill>
                <a:latin typeface="微软雅黑" panose="020B0503020204020204" pitchFamily="34" charset="-122"/>
                <a:ea typeface="微软雅黑" panose="020B0503020204020204" pitchFamily="34" charset="-122"/>
              </a:rPr>
              <a:t>栈</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609600" y="1343660"/>
            <a:ext cx="10530205" cy="645160"/>
          </a:xfrm>
          <a:prstGeom prst="rect">
            <a:avLst/>
          </a:prstGeom>
          <a:noFill/>
        </p:spPr>
        <p:txBody>
          <a:bodyPr wrap="square" rtlCol="0">
            <a:spAutoFit/>
          </a:bodyPr>
          <a:p>
            <a:pPr marL="285750" indent="284480" fontAlgn="auto">
              <a:lnSpc>
                <a:spcPct val="150000"/>
              </a:lnSpc>
              <a:buFont typeface="Arial" panose="020B0604020202020204" pitchFamily="34" charset="0"/>
              <a:buChar char="•"/>
            </a:pP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栈（</a:t>
            </a:r>
            <a:r>
              <a:rPr lang="en-US" altLang="zh-CN" sz="2400" b="1">
                <a:latin typeface="微软雅黑" panose="020B0503020204020204" pitchFamily="34" charset="-122"/>
                <a:ea typeface="微软雅黑" panose="020B0503020204020204" pitchFamily="34" charset="-122"/>
                <a:cs typeface="微软雅黑" panose="020B0503020204020204" pitchFamily="34" charset="-122"/>
                <a:sym typeface="+mn-ea"/>
              </a:rPr>
              <a:t>Stack</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是只允许在</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的同一端进行插入和删除操作的特殊的线性表。</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125" name="Object 4"/>
          <p:cNvGraphicFramePr>
            <a:graphicFrameLocks noChangeAspect="1"/>
          </p:cNvGraphicFramePr>
          <p:nvPr/>
        </p:nvGraphicFramePr>
        <p:xfrm>
          <a:off x="3789045" y="2174240"/>
          <a:ext cx="3962400" cy="2819400"/>
        </p:xfrm>
        <a:graphic>
          <a:graphicData uri="http://schemas.openxmlformats.org/presentationml/2006/ole">
            <mc:AlternateContent xmlns:mc="http://schemas.openxmlformats.org/markup-compatibility/2006">
              <mc:Choice xmlns:v="urn:schemas-microsoft-com:vml" Requires="v">
                <p:oleObj spid="_x0000_s3076" name="" r:id="rId1" imgW="1879600" imgH="1506855" progId="Visio.Drawing.11">
                  <p:embed/>
                </p:oleObj>
              </mc:Choice>
              <mc:Fallback>
                <p:oleObj name="" r:id="rId1" imgW="1879600" imgH="1506855" progId="Visio.Drawing.11">
                  <p:embed/>
                  <p:pic>
                    <p:nvPicPr>
                      <p:cNvPr id="0" name="图片 3075"/>
                      <p:cNvPicPr/>
                      <p:nvPr/>
                    </p:nvPicPr>
                    <p:blipFill>
                      <a:blip r:embed="rId2"/>
                      <a:stretch>
                        <a:fillRect/>
                      </a:stretch>
                    </p:blipFill>
                    <p:spPr>
                      <a:xfrm>
                        <a:off x="3789045" y="2174240"/>
                        <a:ext cx="3962400" cy="2819400"/>
                      </a:xfrm>
                      <a:prstGeom prst="rect">
                        <a:avLst/>
                      </a:prstGeom>
                      <a:noFill/>
                      <a:ln w="38100">
                        <a:noFill/>
                        <a:miter/>
                      </a:ln>
                    </p:spPr>
                  </p:pic>
                </p:oleObj>
              </mc:Fallback>
            </mc:AlternateContent>
          </a:graphicData>
        </a:graphic>
      </p:graphicFrame>
      <p:sp>
        <p:nvSpPr>
          <p:cNvPr id="5128" name="TextBox 8"/>
          <p:cNvSpPr txBox="1"/>
          <p:nvPr/>
        </p:nvSpPr>
        <p:spPr>
          <a:xfrm>
            <a:off x="1884045" y="2329180"/>
            <a:ext cx="1905000" cy="398780"/>
          </a:xfrm>
          <a:prstGeom prst="rect">
            <a:avLst/>
          </a:prstGeom>
          <a:noFill/>
          <a:ln w="9525">
            <a:noFill/>
          </a:ln>
        </p:spPr>
        <p:txBody>
          <a:bodyPr>
            <a:spAutoFit/>
          </a:bodyPr>
          <a:p>
            <a:pPr algn="ctr"/>
            <a:r>
              <a:rPr lang="zh-CN" altLang="en-US" sz="2000" b="0" dirty="0">
                <a:solidFill>
                  <a:schemeClr val="tx1"/>
                </a:solidFill>
                <a:latin typeface="微软雅黑" panose="020B0503020204020204" pitchFamily="34" charset="-122"/>
                <a:ea typeface="微软雅黑" panose="020B0503020204020204" pitchFamily="34" charset="-122"/>
              </a:rPr>
              <a:t>（退栈、弹出）</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sp>
        <p:nvSpPr>
          <p:cNvPr id="5127" name="TextBox 7"/>
          <p:cNvSpPr txBox="1"/>
          <p:nvPr/>
        </p:nvSpPr>
        <p:spPr>
          <a:xfrm>
            <a:off x="7922895" y="2329180"/>
            <a:ext cx="1905000" cy="398780"/>
          </a:xfrm>
          <a:prstGeom prst="rect">
            <a:avLst/>
          </a:prstGeom>
          <a:noFill/>
          <a:ln w="9525">
            <a:noFill/>
          </a:ln>
        </p:spPr>
        <p:txBody>
          <a:bodyPr>
            <a:spAutoFit/>
          </a:bodyPr>
          <a:p>
            <a:pPr algn="ctr"/>
            <a:r>
              <a:rPr lang="zh-CN" altLang="en-US" sz="2000" b="0" dirty="0">
                <a:solidFill>
                  <a:schemeClr val="tx1"/>
                </a:solidFill>
                <a:latin typeface="微软雅黑" panose="020B0503020204020204" pitchFamily="34" charset="-122"/>
                <a:ea typeface="微软雅黑" panose="020B0503020204020204" pitchFamily="34" charset="-122"/>
              </a:rPr>
              <a:t>（进栈、压入）</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sp>
        <p:nvSpPr>
          <p:cNvPr id="415" name="矩形 414"/>
          <p:cNvSpPr/>
          <p:nvPr/>
        </p:nvSpPr>
        <p:spPr>
          <a:xfrm>
            <a:off x="1036677" y="5317712"/>
            <a:ext cx="5051820" cy="645160"/>
          </a:xfrm>
          <a:prstGeom prst="rect">
            <a:avLst/>
          </a:prstGeom>
          <a:solidFill>
            <a:schemeClr val="accent5">
              <a:lumMod val="20000"/>
              <a:lumOff val="80000"/>
            </a:schemeClr>
          </a:solidFill>
          <a:ln>
            <a:noFill/>
          </a:ln>
        </p:spPr>
        <p:txBody>
          <a:bodyPr wrap="square" rtlCol="0" anchor="ctr">
            <a:spAutoFit/>
          </a:bodyPr>
          <a:p>
            <a:pPr marL="0" lvl="1" algn="ctr">
              <a:lnSpc>
                <a:spcPct val="150000"/>
              </a:lnSpc>
            </a:pP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当栈中没有任何元素时称为空栈。</a:t>
            </a:r>
            <a:endPar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5"/>
                                        </p:tgtEl>
                                        <p:attrNameLst>
                                          <p:attrName>style.visibility</p:attrName>
                                        </p:attrNameLst>
                                      </p:cBhvr>
                                      <p:to>
                                        <p:strVal val="visible"/>
                                      </p:to>
                                    </p:set>
                                    <p:animEffect transition="in" filter="fade">
                                      <p:cBhvr>
                                        <p:cTn id="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2806" y="106251"/>
            <a:ext cx="2994132"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3.1 </a:t>
            </a:r>
            <a:r>
              <a:rPr lang="zh-CN" altLang="en-US" sz="3600" b="1" dirty="0" smtClean="0">
                <a:solidFill>
                  <a:schemeClr val="bg1"/>
                </a:solidFill>
                <a:latin typeface="微软雅黑" panose="020B0503020204020204" pitchFamily="34" charset="-122"/>
                <a:ea typeface="微软雅黑" panose="020B0503020204020204" pitchFamily="34" charset="-122"/>
              </a:rPr>
              <a:t>栈</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51" name="矩形 50"/>
          <p:cNvSpPr/>
          <p:nvPr>
            <p:custDataLst>
              <p:tags r:id="rId1"/>
            </p:custDataLst>
          </p:nvPr>
        </p:nvSpPr>
        <p:spPr>
          <a:xfrm>
            <a:off x="2124075" y="2233295"/>
            <a:ext cx="704215" cy="6496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2" name="矩形 51"/>
          <p:cNvSpPr/>
          <p:nvPr>
            <p:custDataLst>
              <p:tags r:id="rId2"/>
            </p:custDataLst>
          </p:nvPr>
        </p:nvSpPr>
        <p:spPr>
          <a:xfrm>
            <a:off x="3324225" y="2233295"/>
            <a:ext cx="6750050" cy="6496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3" name="文本框 9"/>
          <p:cNvSpPr txBox="1"/>
          <p:nvPr>
            <p:custDataLst>
              <p:tags r:id="rId3"/>
            </p:custDataLst>
          </p:nvPr>
        </p:nvSpPr>
        <p:spPr>
          <a:xfrm>
            <a:off x="1913255" y="232219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4" name="TextBox 49"/>
          <p:cNvSpPr txBox="1"/>
          <p:nvPr>
            <p:custDataLst>
              <p:tags r:id="rId4"/>
            </p:custDataLst>
          </p:nvPr>
        </p:nvSpPr>
        <p:spPr>
          <a:xfrm>
            <a:off x="4416425" y="2291715"/>
            <a:ext cx="5528945"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栈的抽象数据类型定义</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2" name="progress-report_18229"/>
          <p:cNvSpPr/>
          <p:nvPr>
            <p:custDataLst>
              <p:tags r:id="rId5"/>
            </p:custDataLst>
          </p:nvPr>
        </p:nvSpPr>
        <p:spPr>
          <a:xfrm>
            <a:off x="3597910" y="2330450"/>
            <a:ext cx="473075" cy="453390"/>
          </a:xfrm>
          <a:custGeom>
            <a:avLst/>
            <a:gdLst>
              <a:gd name="T0" fmla="*/ 9715 w 10362"/>
              <a:gd name="T1" fmla="*/ 3586 h 10386"/>
              <a:gd name="T2" fmla="*/ 8844 w 10362"/>
              <a:gd name="T3" fmla="*/ 3586 h 10386"/>
              <a:gd name="T4" fmla="*/ 5353 w 10362"/>
              <a:gd name="T5" fmla="*/ 95 h 10386"/>
              <a:gd name="T6" fmla="*/ 5010 w 10362"/>
              <a:gd name="T7" fmla="*/ 95 h 10386"/>
              <a:gd name="T8" fmla="*/ 1519 w 10362"/>
              <a:gd name="T9" fmla="*/ 3586 h 10386"/>
              <a:gd name="T10" fmla="*/ 647 w 10362"/>
              <a:gd name="T11" fmla="*/ 3586 h 10386"/>
              <a:gd name="T12" fmla="*/ 0 w 10362"/>
              <a:gd name="T13" fmla="*/ 4234 h 10386"/>
              <a:gd name="T14" fmla="*/ 0 w 10362"/>
              <a:gd name="T15" fmla="*/ 9739 h 10386"/>
              <a:gd name="T16" fmla="*/ 647 w 10362"/>
              <a:gd name="T17" fmla="*/ 10386 h 10386"/>
              <a:gd name="T18" fmla="*/ 9715 w 10362"/>
              <a:gd name="T19" fmla="*/ 10386 h 10386"/>
              <a:gd name="T20" fmla="*/ 10362 w 10362"/>
              <a:gd name="T21" fmla="*/ 9739 h 10386"/>
              <a:gd name="T22" fmla="*/ 10362 w 10362"/>
              <a:gd name="T23" fmla="*/ 4234 h 10386"/>
              <a:gd name="T24" fmla="*/ 9715 w 10362"/>
              <a:gd name="T25" fmla="*/ 3586 h 10386"/>
              <a:gd name="T26" fmla="*/ 5181 w 10362"/>
              <a:gd name="T27" fmla="*/ 610 h 10386"/>
              <a:gd name="T28" fmla="*/ 8157 w 10362"/>
              <a:gd name="T29" fmla="*/ 3586 h 10386"/>
              <a:gd name="T30" fmla="*/ 2206 w 10362"/>
              <a:gd name="T31" fmla="*/ 3586 h 10386"/>
              <a:gd name="T32" fmla="*/ 5181 w 10362"/>
              <a:gd name="T33" fmla="*/ 610 h 10386"/>
              <a:gd name="T34" fmla="*/ 2031 w 10362"/>
              <a:gd name="T35" fmla="*/ 9091 h 10386"/>
              <a:gd name="T36" fmla="*/ 1545 w 10362"/>
              <a:gd name="T37" fmla="*/ 8605 h 10386"/>
              <a:gd name="T38" fmla="*/ 2031 w 10362"/>
              <a:gd name="T39" fmla="*/ 8119 h 10386"/>
              <a:gd name="T40" fmla="*/ 2517 w 10362"/>
              <a:gd name="T41" fmla="*/ 8605 h 10386"/>
              <a:gd name="T42" fmla="*/ 2031 w 10362"/>
              <a:gd name="T43" fmla="*/ 9091 h 10386"/>
              <a:gd name="T44" fmla="*/ 2031 w 10362"/>
              <a:gd name="T45" fmla="*/ 7471 h 10386"/>
              <a:gd name="T46" fmla="*/ 1545 w 10362"/>
              <a:gd name="T47" fmla="*/ 6985 h 10386"/>
              <a:gd name="T48" fmla="*/ 2031 w 10362"/>
              <a:gd name="T49" fmla="*/ 6499 h 10386"/>
              <a:gd name="T50" fmla="*/ 2517 w 10362"/>
              <a:gd name="T51" fmla="*/ 6985 h 10386"/>
              <a:gd name="T52" fmla="*/ 2031 w 10362"/>
              <a:gd name="T53" fmla="*/ 7471 h 10386"/>
              <a:gd name="T54" fmla="*/ 2031 w 10362"/>
              <a:gd name="T55" fmla="*/ 5852 h 10386"/>
              <a:gd name="T56" fmla="*/ 1545 w 10362"/>
              <a:gd name="T57" fmla="*/ 5366 h 10386"/>
              <a:gd name="T58" fmla="*/ 2031 w 10362"/>
              <a:gd name="T59" fmla="*/ 4880 h 10386"/>
              <a:gd name="T60" fmla="*/ 2517 w 10362"/>
              <a:gd name="T61" fmla="*/ 5366 h 10386"/>
              <a:gd name="T62" fmla="*/ 2031 w 10362"/>
              <a:gd name="T63" fmla="*/ 5852 h 10386"/>
              <a:gd name="T64" fmla="*/ 8817 w 10362"/>
              <a:gd name="T65" fmla="*/ 8848 h 10386"/>
              <a:gd name="T66" fmla="*/ 3636 w 10362"/>
              <a:gd name="T67" fmla="*/ 8848 h 10386"/>
              <a:gd name="T68" fmla="*/ 3394 w 10362"/>
              <a:gd name="T69" fmla="*/ 8605 h 10386"/>
              <a:gd name="T70" fmla="*/ 3636 w 10362"/>
              <a:gd name="T71" fmla="*/ 8363 h 10386"/>
              <a:gd name="T72" fmla="*/ 8817 w 10362"/>
              <a:gd name="T73" fmla="*/ 8363 h 10386"/>
              <a:gd name="T74" fmla="*/ 9060 w 10362"/>
              <a:gd name="T75" fmla="*/ 8605 h 10386"/>
              <a:gd name="T76" fmla="*/ 8817 w 10362"/>
              <a:gd name="T77" fmla="*/ 8848 h 10386"/>
              <a:gd name="T78" fmla="*/ 8817 w 10362"/>
              <a:gd name="T79" fmla="*/ 7229 h 10386"/>
              <a:gd name="T80" fmla="*/ 3636 w 10362"/>
              <a:gd name="T81" fmla="*/ 7229 h 10386"/>
              <a:gd name="T82" fmla="*/ 3394 w 10362"/>
              <a:gd name="T83" fmla="*/ 6986 h 10386"/>
              <a:gd name="T84" fmla="*/ 3636 w 10362"/>
              <a:gd name="T85" fmla="*/ 6744 h 10386"/>
              <a:gd name="T86" fmla="*/ 8817 w 10362"/>
              <a:gd name="T87" fmla="*/ 6744 h 10386"/>
              <a:gd name="T88" fmla="*/ 9060 w 10362"/>
              <a:gd name="T89" fmla="*/ 6986 h 10386"/>
              <a:gd name="T90" fmla="*/ 8817 w 10362"/>
              <a:gd name="T91" fmla="*/ 7229 h 10386"/>
              <a:gd name="T92" fmla="*/ 8817 w 10362"/>
              <a:gd name="T93" fmla="*/ 5610 h 10386"/>
              <a:gd name="T94" fmla="*/ 3636 w 10362"/>
              <a:gd name="T95" fmla="*/ 5610 h 10386"/>
              <a:gd name="T96" fmla="*/ 3394 w 10362"/>
              <a:gd name="T97" fmla="*/ 5368 h 10386"/>
              <a:gd name="T98" fmla="*/ 3636 w 10362"/>
              <a:gd name="T99" fmla="*/ 5125 h 10386"/>
              <a:gd name="T100" fmla="*/ 8817 w 10362"/>
              <a:gd name="T101" fmla="*/ 5125 h 10386"/>
              <a:gd name="T102" fmla="*/ 9060 w 10362"/>
              <a:gd name="T103" fmla="*/ 5368 h 10386"/>
              <a:gd name="T104" fmla="*/ 8817 w 10362"/>
              <a:gd name="T105" fmla="*/ 5610 h 10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362" h="10386">
                <a:moveTo>
                  <a:pt x="9715" y="3586"/>
                </a:moveTo>
                <a:lnTo>
                  <a:pt x="8844" y="3586"/>
                </a:lnTo>
                <a:lnTo>
                  <a:pt x="5353" y="95"/>
                </a:lnTo>
                <a:cubicBezTo>
                  <a:pt x="5258" y="0"/>
                  <a:pt x="5105" y="0"/>
                  <a:pt x="5010" y="95"/>
                </a:cubicBezTo>
                <a:lnTo>
                  <a:pt x="1519" y="3586"/>
                </a:lnTo>
                <a:lnTo>
                  <a:pt x="647" y="3586"/>
                </a:lnTo>
                <a:cubicBezTo>
                  <a:pt x="290" y="3586"/>
                  <a:pt x="0" y="3876"/>
                  <a:pt x="0" y="4234"/>
                </a:cubicBezTo>
                <a:lnTo>
                  <a:pt x="0" y="9739"/>
                </a:lnTo>
                <a:cubicBezTo>
                  <a:pt x="0" y="10096"/>
                  <a:pt x="290" y="10386"/>
                  <a:pt x="647" y="10386"/>
                </a:cubicBezTo>
                <a:lnTo>
                  <a:pt x="9715" y="10386"/>
                </a:lnTo>
                <a:cubicBezTo>
                  <a:pt x="10072" y="10386"/>
                  <a:pt x="10362" y="10096"/>
                  <a:pt x="10362" y="9739"/>
                </a:cubicBezTo>
                <a:lnTo>
                  <a:pt x="10362" y="4234"/>
                </a:lnTo>
                <a:cubicBezTo>
                  <a:pt x="10362" y="3876"/>
                  <a:pt x="10072" y="3586"/>
                  <a:pt x="9715" y="3586"/>
                </a:cubicBezTo>
                <a:close/>
                <a:moveTo>
                  <a:pt x="5181" y="610"/>
                </a:moveTo>
                <a:lnTo>
                  <a:pt x="8157" y="3586"/>
                </a:lnTo>
                <a:lnTo>
                  <a:pt x="2206" y="3586"/>
                </a:lnTo>
                <a:lnTo>
                  <a:pt x="5181" y="610"/>
                </a:lnTo>
                <a:close/>
                <a:moveTo>
                  <a:pt x="2031" y="9091"/>
                </a:moveTo>
                <a:cubicBezTo>
                  <a:pt x="1762" y="9091"/>
                  <a:pt x="1545" y="8874"/>
                  <a:pt x="1545" y="8605"/>
                </a:cubicBezTo>
                <a:cubicBezTo>
                  <a:pt x="1545" y="8336"/>
                  <a:pt x="1762" y="8119"/>
                  <a:pt x="2031" y="8119"/>
                </a:cubicBezTo>
                <a:cubicBezTo>
                  <a:pt x="2300" y="8119"/>
                  <a:pt x="2517" y="8336"/>
                  <a:pt x="2517" y="8605"/>
                </a:cubicBezTo>
                <a:cubicBezTo>
                  <a:pt x="2517" y="8874"/>
                  <a:pt x="2300" y="9091"/>
                  <a:pt x="2031" y="9091"/>
                </a:cubicBezTo>
                <a:close/>
                <a:moveTo>
                  <a:pt x="2031" y="7471"/>
                </a:moveTo>
                <a:cubicBezTo>
                  <a:pt x="1762" y="7471"/>
                  <a:pt x="1545" y="7254"/>
                  <a:pt x="1545" y="6985"/>
                </a:cubicBezTo>
                <a:cubicBezTo>
                  <a:pt x="1545" y="6716"/>
                  <a:pt x="1762" y="6499"/>
                  <a:pt x="2031" y="6499"/>
                </a:cubicBezTo>
                <a:cubicBezTo>
                  <a:pt x="2300" y="6499"/>
                  <a:pt x="2517" y="6716"/>
                  <a:pt x="2517" y="6985"/>
                </a:cubicBezTo>
                <a:cubicBezTo>
                  <a:pt x="2517" y="7254"/>
                  <a:pt x="2300" y="7471"/>
                  <a:pt x="2031" y="7471"/>
                </a:cubicBezTo>
                <a:close/>
                <a:moveTo>
                  <a:pt x="2031" y="5852"/>
                </a:moveTo>
                <a:cubicBezTo>
                  <a:pt x="1762" y="5852"/>
                  <a:pt x="1545" y="5635"/>
                  <a:pt x="1545" y="5366"/>
                </a:cubicBezTo>
                <a:cubicBezTo>
                  <a:pt x="1545" y="5098"/>
                  <a:pt x="1762" y="4880"/>
                  <a:pt x="2031" y="4880"/>
                </a:cubicBezTo>
                <a:cubicBezTo>
                  <a:pt x="2300" y="4880"/>
                  <a:pt x="2517" y="5098"/>
                  <a:pt x="2517" y="5366"/>
                </a:cubicBezTo>
                <a:cubicBezTo>
                  <a:pt x="2517" y="5635"/>
                  <a:pt x="2300" y="5852"/>
                  <a:pt x="2031" y="5852"/>
                </a:cubicBezTo>
                <a:close/>
                <a:moveTo>
                  <a:pt x="8817" y="8848"/>
                </a:moveTo>
                <a:lnTo>
                  <a:pt x="3636" y="8848"/>
                </a:lnTo>
                <a:cubicBezTo>
                  <a:pt x="3502" y="8848"/>
                  <a:pt x="3394" y="8739"/>
                  <a:pt x="3394" y="8605"/>
                </a:cubicBezTo>
                <a:cubicBezTo>
                  <a:pt x="3394" y="8471"/>
                  <a:pt x="3502" y="8363"/>
                  <a:pt x="3636" y="8363"/>
                </a:cubicBezTo>
                <a:lnTo>
                  <a:pt x="8817" y="8363"/>
                </a:lnTo>
                <a:cubicBezTo>
                  <a:pt x="8951" y="8363"/>
                  <a:pt x="9060" y="8471"/>
                  <a:pt x="9060" y="8605"/>
                </a:cubicBezTo>
                <a:cubicBezTo>
                  <a:pt x="9060" y="8739"/>
                  <a:pt x="8951" y="8848"/>
                  <a:pt x="8817" y="8848"/>
                </a:cubicBezTo>
                <a:close/>
                <a:moveTo>
                  <a:pt x="8817" y="7229"/>
                </a:moveTo>
                <a:lnTo>
                  <a:pt x="3636" y="7229"/>
                </a:lnTo>
                <a:cubicBezTo>
                  <a:pt x="3502" y="7229"/>
                  <a:pt x="3394" y="7120"/>
                  <a:pt x="3394" y="6986"/>
                </a:cubicBezTo>
                <a:cubicBezTo>
                  <a:pt x="3394" y="6853"/>
                  <a:pt x="3502" y="6744"/>
                  <a:pt x="3636" y="6744"/>
                </a:cubicBezTo>
                <a:lnTo>
                  <a:pt x="8817" y="6744"/>
                </a:lnTo>
                <a:cubicBezTo>
                  <a:pt x="8951" y="6744"/>
                  <a:pt x="9060" y="6853"/>
                  <a:pt x="9060" y="6986"/>
                </a:cubicBezTo>
                <a:cubicBezTo>
                  <a:pt x="9060" y="7120"/>
                  <a:pt x="8951" y="7229"/>
                  <a:pt x="8817" y="7229"/>
                </a:cubicBezTo>
                <a:close/>
                <a:moveTo>
                  <a:pt x="8817" y="5610"/>
                </a:moveTo>
                <a:lnTo>
                  <a:pt x="3636" y="5610"/>
                </a:lnTo>
                <a:cubicBezTo>
                  <a:pt x="3502" y="5610"/>
                  <a:pt x="3394" y="5501"/>
                  <a:pt x="3394" y="5368"/>
                </a:cubicBezTo>
                <a:cubicBezTo>
                  <a:pt x="3394" y="5234"/>
                  <a:pt x="3502" y="5125"/>
                  <a:pt x="3636" y="5125"/>
                </a:cubicBezTo>
                <a:lnTo>
                  <a:pt x="8817" y="5125"/>
                </a:lnTo>
                <a:cubicBezTo>
                  <a:pt x="8951" y="5125"/>
                  <a:pt x="9060" y="5234"/>
                  <a:pt x="9060" y="5368"/>
                </a:cubicBezTo>
                <a:cubicBezTo>
                  <a:pt x="9060" y="5501"/>
                  <a:pt x="8951" y="5610"/>
                  <a:pt x="8817" y="56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sp>
        <p:nvSpPr>
          <p:cNvPr id="38" name="矩形 37"/>
          <p:cNvSpPr/>
          <p:nvPr>
            <p:custDataLst>
              <p:tags r:id="rId6"/>
            </p:custDataLst>
          </p:nvPr>
        </p:nvSpPr>
        <p:spPr>
          <a:xfrm>
            <a:off x="2124075" y="3088005"/>
            <a:ext cx="704215" cy="6496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9" name="矩形 38"/>
          <p:cNvSpPr/>
          <p:nvPr>
            <p:custDataLst>
              <p:tags r:id="rId7"/>
            </p:custDataLst>
          </p:nvPr>
        </p:nvSpPr>
        <p:spPr>
          <a:xfrm>
            <a:off x="3324225" y="3088005"/>
            <a:ext cx="6750685" cy="6496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40" name="文本框 9"/>
          <p:cNvSpPr txBox="1"/>
          <p:nvPr>
            <p:custDataLst>
              <p:tags r:id="rId8"/>
            </p:custDataLst>
          </p:nvPr>
        </p:nvSpPr>
        <p:spPr>
          <a:xfrm>
            <a:off x="1913255" y="317690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1" name="TextBox 49"/>
          <p:cNvSpPr txBox="1"/>
          <p:nvPr>
            <p:custDataLst>
              <p:tags r:id="rId9"/>
            </p:custDataLst>
          </p:nvPr>
        </p:nvSpPr>
        <p:spPr>
          <a:xfrm>
            <a:off x="4416425" y="3146425"/>
            <a:ext cx="5529580"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spc="6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栈的存储结构及操作实现</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1" name="progress-report_18229"/>
          <p:cNvSpPr/>
          <p:nvPr>
            <p:custDataLst>
              <p:tags r:id="rId10"/>
            </p:custDataLst>
          </p:nvPr>
        </p:nvSpPr>
        <p:spPr>
          <a:xfrm>
            <a:off x="3597275" y="3185160"/>
            <a:ext cx="474345" cy="453390"/>
          </a:xfrm>
          <a:custGeom>
            <a:avLst/>
            <a:gdLst>
              <a:gd name="T0" fmla="*/ 12774 w 12774"/>
              <a:gd name="T1" fmla="*/ 3193 h 12774"/>
              <a:gd name="T2" fmla="*/ 9581 w 12774"/>
              <a:gd name="T3" fmla="*/ 0 h 12774"/>
              <a:gd name="T4" fmla="*/ 6387 w 12774"/>
              <a:gd name="T5" fmla="*/ 3193 h 12774"/>
              <a:gd name="T6" fmla="*/ 3193 w 12774"/>
              <a:gd name="T7" fmla="*/ 0 h 12774"/>
              <a:gd name="T8" fmla="*/ 0 w 12774"/>
              <a:gd name="T9" fmla="*/ 3193 h 12774"/>
              <a:gd name="T10" fmla="*/ 3193 w 12774"/>
              <a:gd name="T11" fmla="*/ 6387 h 12774"/>
              <a:gd name="T12" fmla="*/ 0 w 12774"/>
              <a:gd name="T13" fmla="*/ 9581 h 12774"/>
              <a:gd name="T14" fmla="*/ 0 w 12774"/>
              <a:gd name="T15" fmla="*/ 12774 h 12774"/>
              <a:gd name="T16" fmla="*/ 3193 w 12774"/>
              <a:gd name="T17" fmla="*/ 12774 h 12774"/>
              <a:gd name="T18" fmla="*/ 6387 w 12774"/>
              <a:gd name="T19" fmla="*/ 9581 h 12774"/>
              <a:gd name="T20" fmla="*/ 9581 w 12774"/>
              <a:gd name="T21" fmla="*/ 12774 h 12774"/>
              <a:gd name="T22" fmla="*/ 12774 w 12774"/>
              <a:gd name="T23" fmla="*/ 9581 h 12774"/>
              <a:gd name="T24" fmla="*/ 9581 w 12774"/>
              <a:gd name="T25" fmla="*/ 6387 h 12774"/>
              <a:gd name="T26" fmla="*/ 12774 w 12774"/>
              <a:gd name="T27" fmla="*/ 3193 h 12774"/>
              <a:gd name="T28" fmla="*/ 3273 w 12774"/>
              <a:gd name="T29" fmla="*/ 5349 h 12774"/>
              <a:gd name="T30" fmla="*/ 4630 w 12774"/>
              <a:gd name="T31" fmla="*/ 3992 h 12774"/>
              <a:gd name="T32" fmla="*/ 4072 w 12774"/>
              <a:gd name="T33" fmla="*/ 3433 h 12774"/>
              <a:gd name="T34" fmla="*/ 2714 w 12774"/>
              <a:gd name="T35" fmla="*/ 4790 h 12774"/>
              <a:gd name="T36" fmla="*/ 2235 w 12774"/>
              <a:gd name="T37" fmla="*/ 4311 h 12774"/>
              <a:gd name="T38" fmla="*/ 3673 w 12774"/>
              <a:gd name="T39" fmla="*/ 2875 h 12774"/>
              <a:gd name="T40" fmla="*/ 3033 w 12774"/>
              <a:gd name="T41" fmla="*/ 2315 h 12774"/>
              <a:gd name="T42" fmla="*/ 1677 w 12774"/>
              <a:gd name="T43" fmla="*/ 3753 h 12774"/>
              <a:gd name="T44" fmla="*/ 1117 w 12774"/>
              <a:gd name="T45" fmla="*/ 3194 h 12774"/>
              <a:gd name="T46" fmla="*/ 3193 w 12774"/>
              <a:gd name="T47" fmla="*/ 1118 h 12774"/>
              <a:gd name="T48" fmla="*/ 5827 w 12774"/>
              <a:gd name="T49" fmla="*/ 3752 h 12774"/>
              <a:gd name="T50" fmla="*/ 3752 w 12774"/>
              <a:gd name="T51" fmla="*/ 5828 h 12774"/>
              <a:gd name="T52" fmla="*/ 3273 w 12774"/>
              <a:gd name="T53" fmla="*/ 5349 h 12774"/>
              <a:gd name="T54" fmla="*/ 798 w 12774"/>
              <a:gd name="T55" fmla="*/ 11976 h 12774"/>
              <a:gd name="T56" fmla="*/ 798 w 12774"/>
              <a:gd name="T57" fmla="*/ 10379 h 12774"/>
              <a:gd name="T58" fmla="*/ 2395 w 12774"/>
              <a:gd name="T59" fmla="*/ 11976 h 12774"/>
              <a:gd name="T60" fmla="*/ 798 w 12774"/>
              <a:gd name="T61" fmla="*/ 11976 h 12774"/>
              <a:gd name="T62" fmla="*/ 3193 w 12774"/>
              <a:gd name="T63" fmla="*/ 11657 h 12774"/>
              <a:gd name="T64" fmla="*/ 1117 w 12774"/>
              <a:gd name="T65" fmla="*/ 9581 h 12774"/>
              <a:gd name="T66" fmla="*/ 9581 w 12774"/>
              <a:gd name="T67" fmla="*/ 1117 h 12774"/>
              <a:gd name="T68" fmla="*/ 11657 w 12774"/>
              <a:gd name="T69" fmla="*/ 3193 h 12774"/>
              <a:gd name="T70" fmla="*/ 3193 w 12774"/>
              <a:gd name="T71" fmla="*/ 11657 h 12774"/>
              <a:gd name="T72" fmla="*/ 11657 w 12774"/>
              <a:gd name="T73" fmla="*/ 9581 h 12774"/>
              <a:gd name="T74" fmla="*/ 9581 w 12774"/>
              <a:gd name="T75" fmla="*/ 11657 h 12774"/>
              <a:gd name="T76" fmla="*/ 9022 w 12774"/>
              <a:gd name="T77" fmla="*/ 11097 h 12774"/>
              <a:gd name="T78" fmla="*/ 10459 w 12774"/>
              <a:gd name="T79" fmla="*/ 9661 h 12774"/>
              <a:gd name="T80" fmla="*/ 9900 w 12774"/>
              <a:gd name="T81" fmla="*/ 9101 h 12774"/>
              <a:gd name="T82" fmla="*/ 8463 w 12774"/>
              <a:gd name="T83" fmla="*/ 10539 h 12774"/>
              <a:gd name="T84" fmla="*/ 7984 w 12774"/>
              <a:gd name="T85" fmla="*/ 10060 h 12774"/>
              <a:gd name="T86" fmla="*/ 9421 w 12774"/>
              <a:gd name="T87" fmla="*/ 8623 h 12774"/>
              <a:gd name="T88" fmla="*/ 8782 w 12774"/>
              <a:gd name="T89" fmla="*/ 8063 h 12774"/>
              <a:gd name="T90" fmla="*/ 7345 w 12774"/>
              <a:gd name="T91" fmla="*/ 9501 h 12774"/>
              <a:gd name="T92" fmla="*/ 6865 w 12774"/>
              <a:gd name="T93" fmla="*/ 9022 h 12774"/>
              <a:gd name="T94" fmla="*/ 8942 w 12774"/>
              <a:gd name="T95" fmla="*/ 6946 h 12774"/>
              <a:gd name="T96" fmla="*/ 11657 w 12774"/>
              <a:gd name="T97" fmla="*/ 9581 h 12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74" h="12774">
                <a:moveTo>
                  <a:pt x="12774" y="3193"/>
                </a:moveTo>
                <a:lnTo>
                  <a:pt x="9581" y="0"/>
                </a:lnTo>
                <a:lnTo>
                  <a:pt x="6387" y="3193"/>
                </a:lnTo>
                <a:lnTo>
                  <a:pt x="3193" y="0"/>
                </a:lnTo>
                <a:lnTo>
                  <a:pt x="0" y="3193"/>
                </a:lnTo>
                <a:lnTo>
                  <a:pt x="3193" y="6387"/>
                </a:lnTo>
                <a:lnTo>
                  <a:pt x="0" y="9581"/>
                </a:lnTo>
                <a:lnTo>
                  <a:pt x="0" y="12774"/>
                </a:lnTo>
                <a:lnTo>
                  <a:pt x="3193" y="12774"/>
                </a:lnTo>
                <a:lnTo>
                  <a:pt x="6387" y="9581"/>
                </a:lnTo>
                <a:lnTo>
                  <a:pt x="9581" y="12774"/>
                </a:lnTo>
                <a:lnTo>
                  <a:pt x="12774" y="9581"/>
                </a:lnTo>
                <a:lnTo>
                  <a:pt x="9581" y="6387"/>
                </a:lnTo>
                <a:lnTo>
                  <a:pt x="12774" y="3193"/>
                </a:lnTo>
                <a:close/>
                <a:moveTo>
                  <a:pt x="3273" y="5349"/>
                </a:moveTo>
                <a:lnTo>
                  <a:pt x="4630" y="3992"/>
                </a:lnTo>
                <a:lnTo>
                  <a:pt x="4072" y="3433"/>
                </a:lnTo>
                <a:lnTo>
                  <a:pt x="2714" y="4790"/>
                </a:lnTo>
                <a:lnTo>
                  <a:pt x="2235" y="4311"/>
                </a:lnTo>
                <a:lnTo>
                  <a:pt x="3673" y="2875"/>
                </a:lnTo>
                <a:lnTo>
                  <a:pt x="3033" y="2315"/>
                </a:lnTo>
                <a:lnTo>
                  <a:pt x="1677" y="3753"/>
                </a:lnTo>
                <a:lnTo>
                  <a:pt x="1117" y="3194"/>
                </a:lnTo>
                <a:lnTo>
                  <a:pt x="3193" y="1118"/>
                </a:lnTo>
                <a:lnTo>
                  <a:pt x="5827" y="3752"/>
                </a:lnTo>
                <a:lnTo>
                  <a:pt x="3752" y="5828"/>
                </a:lnTo>
                <a:lnTo>
                  <a:pt x="3273" y="5349"/>
                </a:lnTo>
                <a:close/>
                <a:moveTo>
                  <a:pt x="798" y="11976"/>
                </a:moveTo>
                <a:lnTo>
                  <a:pt x="798" y="10379"/>
                </a:lnTo>
                <a:lnTo>
                  <a:pt x="2395" y="11976"/>
                </a:lnTo>
                <a:lnTo>
                  <a:pt x="798" y="11976"/>
                </a:lnTo>
                <a:close/>
                <a:moveTo>
                  <a:pt x="3193" y="11657"/>
                </a:moveTo>
                <a:lnTo>
                  <a:pt x="1117" y="9581"/>
                </a:lnTo>
                <a:lnTo>
                  <a:pt x="9581" y="1117"/>
                </a:lnTo>
                <a:lnTo>
                  <a:pt x="11657" y="3193"/>
                </a:lnTo>
                <a:lnTo>
                  <a:pt x="3193" y="11657"/>
                </a:lnTo>
                <a:close/>
                <a:moveTo>
                  <a:pt x="11657" y="9581"/>
                </a:moveTo>
                <a:lnTo>
                  <a:pt x="9581" y="11657"/>
                </a:lnTo>
                <a:lnTo>
                  <a:pt x="9022" y="11097"/>
                </a:lnTo>
                <a:lnTo>
                  <a:pt x="10459" y="9661"/>
                </a:lnTo>
                <a:lnTo>
                  <a:pt x="9900" y="9101"/>
                </a:lnTo>
                <a:lnTo>
                  <a:pt x="8463" y="10539"/>
                </a:lnTo>
                <a:lnTo>
                  <a:pt x="7984" y="10060"/>
                </a:lnTo>
                <a:lnTo>
                  <a:pt x="9421" y="8623"/>
                </a:lnTo>
                <a:lnTo>
                  <a:pt x="8782" y="8063"/>
                </a:lnTo>
                <a:lnTo>
                  <a:pt x="7345" y="9501"/>
                </a:lnTo>
                <a:lnTo>
                  <a:pt x="6865" y="9022"/>
                </a:lnTo>
                <a:lnTo>
                  <a:pt x="8942" y="6946"/>
                </a:lnTo>
                <a:lnTo>
                  <a:pt x="11657" y="958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sp>
        <p:nvSpPr>
          <p:cNvPr id="58" name="矩形 57"/>
          <p:cNvSpPr/>
          <p:nvPr>
            <p:custDataLst>
              <p:tags r:id="rId11"/>
            </p:custDataLst>
          </p:nvPr>
        </p:nvSpPr>
        <p:spPr>
          <a:xfrm>
            <a:off x="2124075" y="4013835"/>
            <a:ext cx="704215" cy="6496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9" name="矩形 58"/>
          <p:cNvSpPr/>
          <p:nvPr>
            <p:custDataLst>
              <p:tags r:id="rId12"/>
            </p:custDataLst>
          </p:nvPr>
        </p:nvSpPr>
        <p:spPr>
          <a:xfrm>
            <a:off x="3324225" y="4013835"/>
            <a:ext cx="6750685" cy="6496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60" name="文本框 9"/>
          <p:cNvSpPr txBox="1"/>
          <p:nvPr>
            <p:custDataLst>
              <p:tags r:id="rId13"/>
            </p:custDataLst>
          </p:nvPr>
        </p:nvSpPr>
        <p:spPr>
          <a:xfrm>
            <a:off x="1913255" y="410273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1" name="TextBox 49"/>
          <p:cNvSpPr txBox="1"/>
          <p:nvPr>
            <p:custDataLst>
              <p:tags r:id="rId14"/>
            </p:custDataLst>
          </p:nvPr>
        </p:nvSpPr>
        <p:spPr>
          <a:xfrm>
            <a:off x="4416425" y="4072255"/>
            <a:ext cx="5529580" cy="583565"/>
          </a:xfrm>
          <a:prstGeom prst="rect">
            <a:avLst/>
          </a:prstGeom>
          <a:noFill/>
        </p:spPr>
        <p:txBody>
          <a:bodyPr wrap="square" rtlCol="0">
            <a:spAutoFit/>
          </a:bodyPr>
          <a:lstStyle/>
          <a:p>
            <a:pPr lvl="0" algn="ctr">
              <a:defRPr/>
            </a:pPr>
            <a:r>
              <a:rPr lang="zh-CN" altLang="en-US" sz="3200" b="1" spc="600"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栈的应用举例</a:t>
            </a:r>
            <a:endParaRPr lang="zh-CN" altLang="en-US" sz="32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0" name="progress-report_18229"/>
          <p:cNvSpPr/>
          <p:nvPr>
            <p:custDataLst>
              <p:tags r:id="rId15"/>
            </p:custDataLst>
          </p:nvPr>
        </p:nvSpPr>
        <p:spPr>
          <a:xfrm>
            <a:off x="3597275" y="4114800"/>
            <a:ext cx="474345" cy="411480"/>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3.1.1 </a:t>
            </a:r>
            <a:r>
              <a:rPr lang="zh-CN" altLang="en-US" sz="36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栈的抽象数据类型定义</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53" name="文本框 9"/>
          <p:cNvSpPr txBox="1"/>
          <p:nvPr>
            <p:custDataLst>
              <p:tags r:id="rId2"/>
            </p:custDataLst>
          </p:nvPr>
        </p:nvSpPr>
        <p:spPr>
          <a:xfrm>
            <a:off x="1913255" y="232219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0" name="文本框 9"/>
          <p:cNvSpPr txBox="1"/>
          <p:nvPr>
            <p:custDataLst>
              <p:tags r:id="rId3"/>
            </p:custDataLst>
          </p:nvPr>
        </p:nvSpPr>
        <p:spPr>
          <a:xfrm>
            <a:off x="1913255" y="3176905"/>
            <a:ext cx="1125855" cy="22453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栈的抽象数据类型定义</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0" name="文本框 9"/>
          <p:cNvSpPr txBox="1"/>
          <p:nvPr>
            <p:custDataLst>
              <p:tags r:id="rId4"/>
            </p:custDataLst>
          </p:nvPr>
        </p:nvSpPr>
        <p:spPr>
          <a:xfrm>
            <a:off x="1913255" y="410273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 name="文本框 1"/>
          <p:cNvSpPr txBox="1"/>
          <p:nvPr>
            <p:custDataLst>
              <p:tags r:id="rId5"/>
            </p:custDataLst>
          </p:nvPr>
        </p:nvSpPr>
        <p:spPr>
          <a:xfrm>
            <a:off x="2647950" y="1781810"/>
            <a:ext cx="4064000" cy="368300"/>
          </a:xfrm>
          <a:prstGeom prst="rect">
            <a:avLst/>
          </a:prstGeom>
          <a:noFill/>
        </p:spPr>
        <p:txBody>
          <a:bodyPr wrap="square" rtlCol="0">
            <a:spAutoFit/>
          </a:bodyPr>
          <a:p>
            <a:r>
              <a:rPr lang="zh-CN" altLang="en-US"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栈的抽象数据类型定义</a:t>
            </a:r>
            <a:endParaRPr lang="zh-CN" altLang="en-US"/>
          </a:p>
        </p:txBody>
      </p:sp>
      <p:graphicFrame>
        <p:nvGraphicFramePr>
          <p:cNvPr id="9" name="表格 8"/>
          <p:cNvGraphicFramePr>
            <a:graphicFrameLocks noGrp="1"/>
          </p:cNvGraphicFramePr>
          <p:nvPr>
            <p:custDataLst>
              <p:tags r:id="rId6"/>
            </p:custDataLst>
          </p:nvPr>
        </p:nvGraphicFramePr>
        <p:xfrm>
          <a:off x="1706880" y="883285"/>
          <a:ext cx="6911975" cy="5455920"/>
        </p:xfrm>
        <a:graphic>
          <a:graphicData uri="http://schemas.openxmlformats.org/drawingml/2006/table">
            <a:tbl>
              <a:tblPr/>
              <a:tblGrid>
                <a:gridCol w="6911975"/>
              </a:tblGrid>
              <a:tr h="5455920">
                <a:tc>
                  <a:txBody>
                    <a:bodyPr/>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ADT Stack</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数据对象：</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 = {</a:t>
                      </a:r>
                      <a:r>
                        <a:rPr lang="en-US" sz="12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200" i="1"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2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200" i="1"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2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=1,2, </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数据关系：</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R1 = {&lt;</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2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2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2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&gt; | </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2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2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2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 </a:t>
                      </a:r>
                      <a:r>
                        <a:rPr lang="en-US" sz="12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=2,3,</a:t>
                      </a:r>
                      <a:r>
                        <a:rPr 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基本操作：</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Init(&amp;S)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操作结果：构造一个空的栈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Destroy(&amp;S)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操作结果：销毁栈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Clear(&amp;S)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操作结果：将栈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清空</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Empty(S)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操作结果：若</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为空栈，则返回</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true</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，否则返回</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false</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Length(S)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操作结果：返回栈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的长度。</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Top(S)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非空。</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操作结果：返回栈顶元素的值。</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Push(&amp;S, e)</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未满。</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操作结果：插入新的元素</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e</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到栈顶。</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Pop(&amp;S)</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初始条件：栈</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200" dirty="0">
                          <a:latin typeface="Times New Roman" panose="02020603050405020304" pitchFamily="18" charset="0"/>
                          <a:ea typeface="微软雅黑" panose="020B0503020204020204" pitchFamily="34" charset="-122"/>
                          <a:cs typeface="Times New Roman" panose="02020603050405020304" pitchFamily="18" charset="0"/>
                        </a:rPr>
                        <a:t>S</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非空。</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zh-CN" sz="1200" dirty="0">
                          <a:latin typeface="Times New Roman" panose="02020603050405020304" pitchFamily="18" charset="0"/>
                          <a:ea typeface="微软雅黑" panose="020B0503020204020204" pitchFamily="34" charset="-122"/>
                          <a:cs typeface="Times New Roman" panose="02020603050405020304" pitchFamily="18" charset="0"/>
                        </a:rPr>
                        <a:t>操作结果：删除栈顶元素。</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lang="en-US" altLang="zh-CN" sz="3600" b="1" dirty="0" smtClean="0">
                <a:solidFill>
                  <a:schemeClr val="bg1"/>
                </a:solidFill>
                <a:latin typeface="微软雅黑" panose="020B0503020204020204" pitchFamily="34" charset="-122"/>
                <a:ea typeface="微软雅黑" panose="020B0503020204020204" pitchFamily="34" charset="-122"/>
              </a:rPr>
              <a:t>3.1.2 </a:t>
            </a:r>
            <a:r>
              <a:rPr lang="zh-CN" altLang="en-US" sz="36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栈的存储结构及操作实现</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53" name="文本框 9"/>
          <p:cNvSpPr txBox="1"/>
          <p:nvPr>
            <p:custDataLst>
              <p:tags r:id="rId2"/>
            </p:custDataLst>
          </p:nvPr>
        </p:nvSpPr>
        <p:spPr>
          <a:xfrm>
            <a:off x="1913255" y="232219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0" name="文本框 9"/>
          <p:cNvSpPr txBox="1"/>
          <p:nvPr>
            <p:custDataLst>
              <p:tags r:id="rId3"/>
            </p:custDataLst>
          </p:nvPr>
        </p:nvSpPr>
        <p:spPr>
          <a:xfrm>
            <a:off x="1913255" y="3176905"/>
            <a:ext cx="1125855" cy="22453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栈的抽象数据类型定义</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0" name="文本框 9"/>
          <p:cNvSpPr txBox="1"/>
          <p:nvPr>
            <p:custDataLst>
              <p:tags r:id="rId4"/>
            </p:custDataLst>
          </p:nvPr>
        </p:nvSpPr>
        <p:spPr>
          <a:xfrm>
            <a:off x="1913255" y="4102735"/>
            <a:ext cx="1125855" cy="52324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 name="文本框 1"/>
          <p:cNvSpPr txBox="1"/>
          <p:nvPr>
            <p:custDataLst>
              <p:tags r:id="rId5"/>
            </p:custDataLst>
          </p:nvPr>
        </p:nvSpPr>
        <p:spPr>
          <a:xfrm>
            <a:off x="2647950" y="1781810"/>
            <a:ext cx="4064000" cy="368300"/>
          </a:xfrm>
          <a:prstGeom prst="rect">
            <a:avLst/>
          </a:prstGeom>
          <a:noFill/>
        </p:spPr>
        <p:txBody>
          <a:bodyPr wrap="square" rtlCol="0">
            <a:spAutoFit/>
          </a:bodyPr>
          <a:p>
            <a:r>
              <a:rPr lang="zh-CN" altLang="en-US" b="1" spc="6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栈的抽象数据类型定义</a:t>
            </a:r>
            <a:endParaRPr lang="zh-CN" altLang="en-US"/>
          </a:p>
        </p:txBody>
      </p:sp>
      <p:sp>
        <p:nvSpPr>
          <p:cNvPr id="3" name="文本框 2"/>
          <p:cNvSpPr txBox="1"/>
          <p:nvPr/>
        </p:nvSpPr>
        <p:spPr>
          <a:xfrm>
            <a:off x="1200150" y="1621790"/>
            <a:ext cx="9906000" cy="1198880"/>
          </a:xfrm>
          <a:prstGeom prst="rect">
            <a:avLst/>
          </a:prstGeom>
          <a:noFill/>
        </p:spPr>
        <p:txBody>
          <a:bodyPr wrap="square" rtlCol="0" anchor="t">
            <a:spAutoFit/>
          </a:bodyPr>
          <a:p>
            <a:pPr indent="457200" fontAlgn="auto">
              <a:lnSpc>
                <a:spcPct val="150000"/>
              </a:lnSpc>
              <a:buNone/>
            </a:pPr>
            <a:r>
              <a:rPr lang="zh-CN" altLang="zh-CN" sz="2400" dirty="0">
                <a:latin typeface="微软雅黑" panose="020B0503020204020204" pitchFamily="34" charset="-122"/>
                <a:ea typeface="微软雅黑" panose="020B0503020204020204" pitchFamily="34" charset="-122"/>
                <a:sym typeface="+mn-ea"/>
              </a:rPr>
              <a:t>栈是一种操作受限的特殊的线性表。因此，线性表的存储结构同样适用于栈，故栈也可以采用顺序存储结构和链式存储结构。</a:t>
            </a:r>
            <a:endParaRPr lang="zh-CN" altLang="zh-CN" sz="2400" dirty="0">
              <a:latin typeface="微软雅黑" panose="020B0503020204020204" pitchFamily="34" charset="-122"/>
              <a:ea typeface="微软雅黑" panose="020B0503020204020204" pitchFamily="34" charset="-122"/>
              <a:sym typeface="+mn-ea"/>
            </a:endParaRPr>
          </a:p>
        </p:txBody>
      </p:sp>
      <p:sp>
        <p:nvSpPr>
          <p:cNvPr id="5" name="内容占位符 2"/>
          <p:cNvSpPr txBox="1"/>
          <p:nvPr/>
        </p:nvSpPr>
        <p:spPr bwMode="gray">
          <a:xfrm>
            <a:off x="3738245" y="3583940"/>
            <a:ext cx="1676400" cy="68580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顺序栈</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endParaRPr>
          </a:p>
        </p:txBody>
      </p:sp>
      <p:sp>
        <p:nvSpPr>
          <p:cNvPr id="10" name="内容占位符 2"/>
          <p:cNvSpPr txBox="1"/>
          <p:nvPr/>
        </p:nvSpPr>
        <p:spPr bwMode="gray">
          <a:xfrm>
            <a:off x="3841750" y="4625975"/>
            <a:ext cx="1676400" cy="68580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链栈</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栈的顺序存储表示——顺序栈</a:t>
            </a:r>
            <a:endParaRPr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243" name="内容占位符 2"/>
          <p:cNvSpPr>
            <a:spLocks noGrp="1"/>
          </p:cNvSpPr>
          <p:nvPr>
            <p:ph idx="1"/>
          </p:nvPr>
        </p:nvSpPr>
        <p:spPr>
          <a:xfrm>
            <a:off x="295275" y="1535430"/>
            <a:ext cx="11316970" cy="2691765"/>
          </a:xfrm>
        </p:spPr>
        <p:txBody>
          <a:bodyPr vert="horz" wrap="square" lIns="91440" tIns="45720" rIns="91440" bIns="45720" anchor="t" anchorCtr="0">
            <a:noAutofit/>
          </a:bodyPr>
          <a:p>
            <a:pPr indent="0" fontAlgn="auto">
              <a:lnSpc>
                <a:spcPct val="100000"/>
              </a:lnSpc>
              <a:buNone/>
            </a:pPr>
            <a:r>
              <a:rPr lang="en-US" altLang="zh-CN" sz="2000" err="1">
                <a:cs typeface="微软雅黑" panose="020B0503020204020204" pitchFamily="34" charset="-122"/>
              </a:rPr>
              <a:t> 栈的顺序存储表示</a:t>
            </a:r>
            <a:r>
              <a:rPr lang="en-US" altLang="zh-CN" sz="2000">
                <a:cs typeface="微软雅黑" panose="020B0503020204020204" pitchFamily="34" charset="-122"/>
              </a:rPr>
              <a:t>——</a:t>
            </a:r>
            <a:r>
              <a:rPr lang="en-US" altLang="zh-CN" sz="2000" err="1">
                <a:cs typeface="微软雅黑" panose="020B0503020204020204" pitchFamily="34" charset="-122"/>
              </a:rPr>
              <a:t>顺序栈</a:t>
            </a:r>
            <a:endParaRPr lang="en-US" altLang="zh-CN" sz="2000">
              <a:cs typeface="微软雅黑" panose="020B0503020204020204" pitchFamily="34" charset="-122"/>
            </a:endParaRPr>
          </a:p>
          <a:p>
            <a:pPr indent="457200" fontAlgn="auto">
              <a:lnSpc>
                <a:spcPct val="100000"/>
              </a:lnSpc>
              <a:buNone/>
            </a:pPr>
            <a:r>
              <a:rPr lang="en-US" altLang="zh-CN" sz="2400">
                <a:cs typeface="微软雅黑" panose="020B0503020204020204" pitchFamily="34" charset="-122"/>
              </a:rPr>
              <a:t> </a:t>
            </a:r>
            <a:r>
              <a:rPr lang="zh-CN" altLang="zh-CN" sz="2000" dirty="0">
                <a:cs typeface="微软雅黑" panose="020B0503020204020204" pitchFamily="34" charset="-122"/>
              </a:rPr>
              <a:t>用一维数组来模拟连续的存储空间。将</a:t>
            </a:r>
            <a:r>
              <a:rPr lang="en-US" altLang="zh-CN" sz="2000">
                <a:cs typeface="微软雅黑" panose="020B0503020204020204" pitchFamily="34" charset="-122"/>
              </a:rPr>
              <a:t>0</a:t>
            </a:r>
            <a:r>
              <a:rPr lang="zh-CN" altLang="zh-CN" sz="2000" dirty="0">
                <a:cs typeface="微软雅黑" panose="020B0503020204020204" pitchFamily="34" charset="-122"/>
              </a:rPr>
              <a:t>下标端设为栈底，栈的第</a:t>
            </a:r>
            <a:r>
              <a:rPr lang="en-US" altLang="zh-CN" sz="2000" i="1">
                <a:cs typeface="微软雅黑" panose="020B0503020204020204" pitchFamily="34" charset="-122"/>
              </a:rPr>
              <a:t>i</a:t>
            </a:r>
            <a:r>
              <a:rPr lang="zh-CN" altLang="zh-CN" sz="2000" dirty="0">
                <a:cs typeface="微软雅黑" panose="020B0503020204020204" pitchFamily="34" charset="-122"/>
              </a:rPr>
              <a:t>个元素存放在</a:t>
            </a:r>
            <a:r>
              <a:rPr lang="en-US" altLang="zh-CN" sz="2000" i="1">
                <a:cs typeface="微软雅黑" panose="020B0503020204020204" pitchFamily="34" charset="-122"/>
              </a:rPr>
              <a:t>i</a:t>
            </a:r>
            <a:r>
              <a:rPr lang="en-US" altLang="zh-CN" sz="2000">
                <a:cs typeface="微软雅黑" panose="020B0503020204020204" pitchFamily="34" charset="-122"/>
              </a:rPr>
              <a:t>-1</a:t>
            </a:r>
            <a:r>
              <a:rPr lang="zh-CN" altLang="zh-CN" sz="2000" dirty="0">
                <a:cs typeface="微软雅黑" panose="020B0503020204020204" pitchFamily="34" charset="-122"/>
              </a:rPr>
              <a:t>下标位置。</a:t>
            </a:r>
            <a:endParaRPr lang="en-US" altLang="zh-CN" sz="2000">
              <a:cs typeface="微软雅黑" panose="020B0503020204020204" pitchFamily="34" charset="-122"/>
            </a:endParaRPr>
          </a:p>
          <a:p>
            <a:pPr indent="457200" fontAlgn="auto">
              <a:lnSpc>
                <a:spcPct val="100000"/>
              </a:lnSpc>
              <a:buNone/>
            </a:pPr>
            <a:r>
              <a:rPr lang="en-US" altLang="zh-CN" sz="2000">
                <a:cs typeface="微软雅黑" panose="020B0503020204020204" pitchFamily="34" charset="-122"/>
              </a:rPr>
              <a:t> </a:t>
            </a:r>
            <a:r>
              <a:rPr lang="zh-CN" altLang="zh-CN" sz="2000" dirty="0">
                <a:cs typeface="微软雅黑" panose="020B0503020204020204" pitchFamily="34" charset="-122"/>
              </a:rPr>
              <a:t>设置一个栈顶指针（或称指示器）</a:t>
            </a:r>
            <a:r>
              <a:rPr lang="en-US" altLang="zh-CN" sz="2000">
                <a:cs typeface="微软雅黑" panose="020B0503020204020204" pitchFamily="34" charset="-122"/>
              </a:rPr>
              <a:t>top</a:t>
            </a:r>
            <a:r>
              <a:rPr lang="zh-CN" altLang="zh-CN" sz="2000" dirty="0">
                <a:cs typeface="微软雅黑" panose="020B0503020204020204" pitchFamily="34" charset="-122"/>
              </a:rPr>
              <a:t>来指示栈顶位置。初始时，栈为空，置</a:t>
            </a:r>
            <a:r>
              <a:rPr lang="en-US" altLang="zh-CN" sz="2000">
                <a:cs typeface="微软雅黑" panose="020B0503020204020204" pitchFamily="34" charset="-122"/>
              </a:rPr>
              <a:t>top = 0</a:t>
            </a:r>
            <a:r>
              <a:rPr lang="zh-CN" altLang="zh-CN" sz="2000" dirty="0">
                <a:cs typeface="微软雅黑" panose="020B0503020204020204" pitchFamily="34" charset="-122"/>
              </a:rPr>
              <a:t>；入栈时，</a:t>
            </a:r>
            <a:r>
              <a:rPr lang="en-US" altLang="zh-CN" sz="2000">
                <a:cs typeface="微软雅黑" panose="020B0503020204020204" pitchFamily="34" charset="-122"/>
              </a:rPr>
              <a:t>top</a:t>
            </a:r>
            <a:r>
              <a:rPr lang="zh-CN" altLang="zh-CN" sz="2000" dirty="0">
                <a:cs typeface="微软雅黑" panose="020B0503020204020204" pitchFamily="34" charset="-122"/>
              </a:rPr>
              <a:t>加</a:t>
            </a:r>
            <a:r>
              <a:rPr lang="en-US" altLang="zh-CN" sz="2000">
                <a:cs typeface="微软雅黑" panose="020B0503020204020204" pitchFamily="34" charset="-122"/>
              </a:rPr>
              <a:t>1</a:t>
            </a:r>
            <a:r>
              <a:rPr lang="zh-CN" altLang="zh-CN" sz="2000" dirty="0">
                <a:cs typeface="微软雅黑" panose="020B0503020204020204" pitchFamily="34" charset="-122"/>
              </a:rPr>
              <a:t>；出栈时，</a:t>
            </a:r>
            <a:r>
              <a:rPr lang="en-US" altLang="zh-CN" sz="2000">
                <a:cs typeface="微软雅黑" panose="020B0503020204020204" pitchFamily="34" charset="-122"/>
              </a:rPr>
              <a:t>top</a:t>
            </a:r>
            <a:r>
              <a:rPr lang="zh-CN" altLang="zh-CN" sz="2000" dirty="0">
                <a:cs typeface="微软雅黑" panose="020B0503020204020204" pitchFamily="34" charset="-122"/>
              </a:rPr>
              <a:t>减</a:t>
            </a:r>
            <a:r>
              <a:rPr lang="en-US" altLang="zh-CN" sz="2000">
                <a:cs typeface="微软雅黑" panose="020B0503020204020204" pitchFamily="34" charset="-122"/>
              </a:rPr>
              <a:t>1</a:t>
            </a:r>
            <a:r>
              <a:rPr lang="zh-CN" altLang="zh-CN" sz="2000" dirty="0">
                <a:cs typeface="微软雅黑" panose="020B0503020204020204" pitchFamily="34" charset="-122"/>
              </a:rPr>
              <a:t>；当栈满时，</a:t>
            </a:r>
            <a:r>
              <a:rPr lang="en-US" altLang="zh-CN" sz="2000">
                <a:cs typeface="微软雅黑" panose="020B0503020204020204" pitchFamily="34" charset="-122"/>
              </a:rPr>
              <a:t>top</a:t>
            </a:r>
            <a:r>
              <a:rPr lang="zh-CN" altLang="zh-CN" sz="2000" dirty="0">
                <a:cs typeface="微软雅黑" panose="020B0503020204020204" pitchFamily="34" charset="-122"/>
              </a:rPr>
              <a:t>等于数组空间大小。因此，</a:t>
            </a:r>
            <a:r>
              <a:rPr lang="en-US" altLang="zh-CN" sz="2000">
                <a:cs typeface="微软雅黑" panose="020B0503020204020204" pitchFamily="34" charset="-122"/>
              </a:rPr>
              <a:t>top</a:t>
            </a:r>
            <a:r>
              <a:rPr lang="zh-CN" altLang="zh-CN" sz="2000" dirty="0">
                <a:cs typeface="微软雅黑" panose="020B0503020204020204" pitchFamily="34" charset="-122"/>
              </a:rPr>
              <a:t>总是指在栈顶元素的后一个下标位置。</a:t>
            </a:r>
            <a:endParaRPr lang="zh-CN" altLang="zh-CN" sz="2000" dirty="0">
              <a:cs typeface="微软雅黑" panose="020B0503020204020204" pitchFamily="34" charset="-122"/>
            </a:endParaRPr>
          </a:p>
        </p:txBody>
      </p:sp>
      <p:graphicFrame>
        <p:nvGraphicFramePr>
          <p:cNvPr id="10245" name="Object 2"/>
          <p:cNvGraphicFramePr>
            <a:graphicFrameLocks noChangeAspect="1"/>
          </p:cNvGraphicFramePr>
          <p:nvPr/>
        </p:nvGraphicFramePr>
        <p:xfrm>
          <a:off x="1746885" y="3610610"/>
          <a:ext cx="7467600" cy="2400300"/>
        </p:xfrm>
        <a:graphic>
          <a:graphicData uri="http://schemas.openxmlformats.org/presentationml/2006/ole">
            <mc:AlternateContent xmlns:mc="http://schemas.openxmlformats.org/markup-compatibility/2006">
              <mc:Choice xmlns:v="urn:schemas-microsoft-com:vml" Requires="v">
                <p:oleObj spid="_x0000_s3077" name="" r:id="rId2" imgW="4292600" imgH="1379855" progId="Visio.Drawing.11">
                  <p:embed/>
                </p:oleObj>
              </mc:Choice>
              <mc:Fallback>
                <p:oleObj name="" r:id="rId2" imgW="4292600" imgH="1379855" progId="Visio.Drawing.11">
                  <p:embed/>
                  <p:pic>
                    <p:nvPicPr>
                      <p:cNvPr id="0" name="图片 3076"/>
                      <p:cNvPicPr/>
                      <p:nvPr/>
                    </p:nvPicPr>
                    <p:blipFill>
                      <a:blip r:embed="rId3"/>
                      <a:stretch>
                        <a:fillRect/>
                      </a:stretch>
                    </p:blipFill>
                    <p:spPr>
                      <a:xfrm>
                        <a:off x="1746885" y="3610610"/>
                        <a:ext cx="7467600" cy="24003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定义</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nvGraphicFramePr>
        <p:xfrm>
          <a:off x="1764030" y="1028065"/>
          <a:ext cx="7696200" cy="4664075"/>
        </p:xfrm>
        <a:graphic>
          <a:graphicData uri="http://schemas.openxmlformats.org/drawingml/2006/table">
            <a:tbl>
              <a:tblPr/>
              <a:tblGrid>
                <a:gridCol w="7696200"/>
              </a:tblGrid>
              <a:tr h="4664075">
                <a:tc>
                  <a:txBody>
                    <a:bodyPr/>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&gt;    	</a:t>
                      </a:r>
                      <a:r>
                        <a:rPr 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声明一个类模板</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class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SqStack</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a:latin typeface="微软雅黑" panose="020B0503020204020204" pitchFamily="34" charset="-122"/>
                          <a:ea typeface="微软雅黑" panose="020B0503020204020204" pitchFamily="34" charset="-122"/>
                          <a:cs typeface="微软雅黑" panose="020B0503020204020204" pitchFamily="34" charset="-122"/>
                        </a:rPr>
                        <a:t>     // </a:t>
                      </a:r>
                      <a:r>
                        <a:rPr lang="zh-CN" sz="1800" dirty="0">
                          <a:latin typeface="微软雅黑" panose="020B0503020204020204" pitchFamily="34" charset="-122"/>
                          <a:ea typeface="微软雅黑" panose="020B0503020204020204" pitchFamily="34" charset="-122"/>
                          <a:cs typeface="微软雅黑" panose="020B0503020204020204" pitchFamily="34" charset="-122"/>
                        </a:rPr>
                        <a:t>顺序栈类</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public:</a:t>
                      </a:r>
                      <a:endParaRPr 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SqStack</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int</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m)</a:t>
                      </a:r>
                      <a:r>
                        <a:rPr lang="en-US" sz="1800" dirty="0">
                          <a:solidFill>
                            <a:schemeClr val="accent1">
                              <a:lumMod val="20000"/>
                              <a:lumOff val="8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sz="1800" dirty="0">
                          <a:latin typeface="微软雅黑" panose="020B0503020204020204" pitchFamily="34" charset="-122"/>
                          <a:ea typeface="微软雅黑" panose="020B0503020204020204" pitchFamily="34" charset="-122"/>
                          <a:cs typeface="微软雅黑" panose="020B0503020204020204" pitchFamily="34" charset="-122"/>
                        </a:rPr>
                        <a:t>构造函数</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SqStack</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sz="1800" dirty="0">
                          <a:latin typeface="微软雅黑" panose="020B0503020204020204" pitchFamily="34" charset="-122"/>
                          <a:ea typeface="微软雅黑" panose="020B0503020204020204" pitchFamily="34" charset="-122"/>
                          <a:cs typeface="微软雅黑" panose="020B0503020204020204" pitchFamily="34" charset="-122"/>
                        </a:rPr>
                        <a:t>析构函数</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void Clear();             	</a:t>
                      </a:r>
                      <a:r>
                        <a:rPr lang="en-US" sz="1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sz="1800" dirty="0">
                          <a:latin typeface="微软雅黑" panose="020B0503020204020204" pitchFamily="34" charset="-122"/>
                          <a:ea typeface="微软雅黑" panose="020B0503020204020204" pitchFamily="34" charset="-122"/>
                          <a:cs typeface="微软雅黑" panose="020B0503020204020204" pitchFamily="34" charset="-122"/>
                        </a:rPr>
                        <a:t>清空栈</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bool</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Empty() const;  </a:t>
                      </a:r>
                      <a:r>
                        <a:rPr lang="en-US" sz="1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判栈空</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int</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Length() const;          </a:t>
                      </a:r>
                      <a:r>
                        <a:rPr lang="en-US" sz="1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mj-lt"/>
                          <a:ea typeface="+mj-lt"/>
                          <a:cs typeface="+mj-lt"/>
                        </a:rPr>
                        <a:t>// </a:t>
                      </a:r>
                      <a:r>
                        <a:rPr lang="zh-CN" sz="1800" dirty="0">
                          <a:latin typeface="+mj-lt"/>
                          <a:ea typeface="+mj-lt"/>
                          <a:cs typeface="+mj-lt"/>
                        </a:rPr>
                        <a:t>求长度</a:t>
                      </a:r>
                      <a:endParaRPr lang="zh-CN" sz="1800" dirty="0">
                        <a:latin typeface="+mj-lt"/>
                        <a:ea typeface="+mj-lt"/>
                        <a:cs typeface="+mj-lt"/>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&amp; Top() const;        </a:t>
                      </a:r>
                      <a:r>
                        <a:rPr 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取栈顶元素</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void Push(const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&amp;e);  </a:t>
                      </a:r>
                      <a:r>
                        <a:rPr lang="en-US" sz="1800" baseline="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入栈</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void Pop();                    </a:t>
                      </a:r>
                      <a:r>
                        <a:rPr 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出栈</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private:	</a:t>
                      </a:r>
                      <a:endParaRPr 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m_base</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基地址指针</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int</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m_top</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a:latin typeface="Times New Roman" panose="02020603050405020304" pitchFamily="18" charset="0"/>
                          <a:ea typeface="+mj-lt"/>
                          <a:cs typeface="Times New Roman" panose="02020603050405020304" pitchFamily="18" charset="0"/>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栈顶指针</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 pos="2340610" algn="l"/>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int</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err="1">
                          <a:latin typeface="Times New Roman" panose="02020603050405020304" pitchFamily="18" charset="0"/>
                          <a:ea typeface="微软雅黑" panose="020B0503020204020204" pitchFamily="34" charset="-122"/>
                          <a:cs typeface="Times New Roman" panose="02020603050405020304" pitchFamily="18" charset="0"/>
                        </a:rPr>
                        <a:t>m_size</a:t>
                      </a:r>
                      <a:r>
                        <a:rPr 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sz="18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sz="1800" dirty="0">
                          <a:latin typeface="微软雅黑" panose="020B0503020204020204" pitchFamily="34" charset="-122"/>
                          <a:ea typeface="微软雅黑" panose="020B0503020204020204" pitchFamily="34" charset="-122"/>
                          <a:cs typeface="微软雅黑" panose="020B0503020204020204" pitchFamily="34" charset="-122"/>
                        </a:rPr>
                        <a:t>向量空间大小</a:t>
                      </a:r>
                      <a:endParaRPr 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indent="127000" algn="just">
                        <a:spcAft>
                          <a:spcPts val="0"/>
                        </a:spcAft>
                        <a:tabLst>
                          <a:tab pos="3581400" algn="l"/>
                        </a:tabLst>
                      </a:pPr>
                      <a:r>
                        <a:rPr 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sz="180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1. </a:t>
            </a:r>
            <a:r>
              <a:rPr lang="zh-CN" altLang="zh-CN" sz="2400" dirty="0">
                <a:cs typeface="微软雅黑" panose="020B0503020204020204" pitchFamily="34" charset="-122"/>
              </a:rPr>
              <a:t>栈初始化</a:t>
            </a:r>
            <a:endParaRPr lang="zh-CN" altLang="zh-CN" sz="2400" dirty="0">
              <a:cs typeface="微软雅黑" panose="020B0503020204020204" pitchFamily="34" charset="-122"/>
            </a:endParaRPr>
          </a:p>
        </p:txBody>
      </p:sp>
      <p:graphicFrame>
        <p:nvGraphicFramePr>
          <p:cNvPr id="12315" name="Group 27"/>
          <p:cNvGraphicFramePr>
            <a:graphicFrameLocks noGrp="1"/>
          </p:cNvGraphicFramePr>
          <p:nvPr/>
        </p:nvGraphicFramePr>
        <p:xfrm>
          <a:off x="1482090" y="2012950"/>
          <a:ext cx="7620000" cy="2514600"/>
        </p:xfrm>
        <a:graphic>
          <a:graphicData uri="http://schemas.openxmlformats.org/drawingml/2006/table">
            <a:tbl>
              <a:tblPr/>
              <a:tblGrid>
                <a:gridCol w="7620000"/>
              </a:tblGrid>
              <a:tr h="2514600">
                <a:tc>
                  <a:txBody>
                    <a:bodyPr/>
                    <a:p>
                      <a:pPr marL="0" marR="0" lvl="0" indent="266700" algn="just" defTabSz="914400" rtl="0" eaLnBrk="1" fontAlgn="base" latinLnBrk="0" hangingPunct="1">
                        <a:lnSpc>
                          <a:spcPct val="100000"/>
                        </a:lnSpc>
                        <a:spcBef>
                          <a:spcPct val="20000"/>
                        </a:spcBef>
                        <a:spcAft>
                          <a:spcPct val="0"/>
                        </a:spcAft>
                        <a:buClrTx/>
                        <a:buSzTx/>
                        <a:buFontTx/>
                        <a:buNone/>
                      </a:pPr>
                      <a:endParaRPr kumimoji="0" lang="en-US" altLang="zh-CN" sz="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266700" algn="just"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构造函数，分配</a:t>
                      </a: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m</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个结点的顺序空间，构造一个空的顺序栈</a:t>
                      </a:r>
                      <a:endPar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SqStack &lt;ElemType&gt;::SqStack(int m)</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m_top = 0;</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m_base = new ElemType[m];</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m_size = m;</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grpSp>
        <p:nvGrpSpPr>
          <p:cNvPr id="2" name="Group 26"/>
          <p:cNvGrpSpPr/>
          <p:nvPr/>
        </p:nvGrpSpPr>
        <p:grpSpPr>
          <a:xfrm>
            <a:off x="3545840" y="4672965"/>
            <a:ext cx="5010150" cy="1752600"/>
            <a:chOff x="1842" y="2795"/>
            <a:chExt cx="2638" cy="1104"/>
          </a:xfrm>
        </p:grpSpPr>
        <p:sp>
          <p:nvSpPr>
            <p:cNvPr id="12299" name="Rectangle 4"/>
            <p:cNvSpPr/>
            <p:nvPr/>
          </p:nvSpPr>
          <p:spPr>
            <a:xfrm rot="5400000">
              <a:off x="3168" y="1897"/>
              <a:ext cx="414" cy="2210"/>
            </a:xfrm>
            <a:prstGeom prst="rect">
              <a:avLst/>
            </a:prstGeom>
            <a:solidFill>
              <a:srgbClr val="FFFFFF"/>
            </a:solidFill>
            <a:ln w="9525" cap="flat" cmpd="sng">
              <a:solidFill>
                <a:srgbClr val="000000"/>
              </a:solidFill>
              <a:prstDash val="solid"/>
              <a:miter/>
              <a:headEnd type="none" w="med" len="med"/>
              <a:tailEnd type="none" w="med" len="med"/>
            </a:ln>
          </p:spPr>
          <p:txBody>
            <a:bodyPr/>
            <a:p>
              <a:endParaRPr lang="zh-CN" altLang="en-US" dirty="0">
                <a:latin typeface="微软雅黑" panose="020B0503020204020204" pitchFamily="34" charset="-122"/>
              </a:endParaRPr>
            </a:p>
          </p:txBody>
        </p:sp>
        <p:sp>
          <p:nvSpPr>
            <p:cNvPr id="12300" name="Line 5"/>
            <p:cNvSpPr/>
            <p:nvPr/>
          </p:nvSpPr>
          <p:spPr>
            <a:xfrm rot="5400000">
              <a:off x="2465" y="3002"/>
              <a:ext cx="414" cy="0"/>
            </a:xfrm>
            <a:prstGeom prst="line">
              <a:avLst/>
            </a:prstGeom>
            <a:ln w="9525" cap="flat" cmpd="sng">
              <a:solidFill>
                <a:srgbClr val="000000"/>
              </a:solidFill>
              <a:prstDash val="solid"/>
              <a:headEnd type="none" w="med" len="med"/>
              <a:tailEnd type="none" w="med" len="med"/>
            </a:ln>
          </p:spPr>
        </p:sp>
        <p:sp>
          <p:nvSpPr>
            <p:cNvPr id="12301" name="Line 6"/>
            <p:cNvSpPr/>
            <p:nvPr/>
          </p:nvSpPr>
          <p:spPr>
            <a:xfrm rot="5400000">
              <a:off x="2867" y="3002"/>
              <a:ext cx="414" cy="0"/>
            </a:xfrm>
            <a:prstGeom prst="line">
              <a:avLst/>
            </a:prstGeom>
            <a:ln w="9525" cap="flat" cmpd="sng">
              <a:solidFill>
                <a:srgbClr val="000000"/>
              </a:solidFill>
              <a:prstDash val="solid"/>
              <a:headEnd type="none" w="med" len="med"/>
              <a:tailEnd type="none" w="med" len="med"/>
            </a:ln>
          </p:spPr>
        </p:sp>
        <p:sp>
          <p:nvSpPr>
            <p:cNvPr id="12302" name="Line 7"/>
            <p:cNvSpPr/>
            <p:nvPr/>
          </p:nvSpPr>
          <p:spPr>
            <a:xfrm rot="5400000">
              <a:off x="3888" y="3002"/>
              <a:ext cx="414" cy="0"/>
            </a:xfrm>
            <a:prstGeom prst="line">
              <a:avLst/>
            </a:prstGeom>
            <a:ln w="9525" cap="flat" cmpd="sng">
              <a:solidFill>
                <a:srgbClr val="000000"/>
              </a:solidFill>
              <a:prstDash val="solid"/>
              <a:headEnd type="none" w="med" len="med"/>
              <a:tailEnd type="none" w="med" len="med"/>
            </a:ln>
          </p:spPr>
        </p:sp>
        <p:sp>
          <p:nvSpPr>
            <p:cNvPr id="12303" name="Line 11"/>
            <p:cNvSpPr/>
            <p:nvPr/>
          </p:nvSpPr>
          <p:spPr>
            <a:xfrm rot="-5400000" flipV="1">
              <a:off x="2440" y="3345"/>
              <a:ext cx="237" cy="0"/>
            </a:xfrm>
            <a:prstGeom prst="line">
              <a:avLst/>
            </a:prstGeom>
            <a:ln w="19050" cap="flat" cmpd="sng">
              <a:solidFill>
                <a:srgbClr val="FF0000"/>
              </a:solidFill>
              <a:prstDash val="solid"/>
              <a:headEnd type="none" w="med" len="med"/>
              <a:tailEnd type="triangle" w="med" len="med"/>
            </a:ln>
          </p:spPr>
        </p:sp>
        <p:sp>
          <p:nvSpPr>
            <p:cNvPr id="12304" name="Line 12"/>
            <p:cNvSpPr/>
            <p:nvPr/>
          </p:nvSpPr>
          <p:spPr>
            <a:xfrm rot="-5400000">
              <a:off x="2251" y="3342"/>
              <a:ext cx="231" cy="0"/>
            </a:xfrm>
            <a:prstGeom prst="line">
              <a:avLst/>
            </a:prstGeom>
            <a:ln w="19050" cap="flat" cmpd="sng">
              <a:solidFill>
                <a:srgbClr val="00B050"/>
              </a:solidFill>
              <a:prstDash val="solid"/>
              <a:headEnd type="none" w="med" len="med"/>
              <a:tailEnd type="triangle" w="med" len="med"/>
            </a:ln>
          </p:spPr>
        </p:sp>
        <p:sp>
          <p:nvSpPr>
            <p:cNvPr id="13" name="Text Box 13"/>
            <p:cNvSpPr txBox="1">
              <a:spLocks noChangeArrowheads="1"/>
            </p:cNvSpPr>
            <p:nvPr/>
          </p:nvSpPr>
          <p:spPr bwMode="auto">
            <a:xfrm>
              <a:off x="2419" y="3419"/>
              <a:ext cx="576" cy="288"/>
            </a:xfrm>
            <a:prstGeom prst="rect">
              <a:avLst/>
            </a:prstGeom>
            <a:noFill/>
            <a:ln w="9525">
              <a:noFill/>
              <a:miter lim="800000"/>
            </a:ln>
          </p:spPr>
          <p:txBody>
            <a:bodyPr/>
            <a:p>
              <a:pPr marR="0" defTabSz="914400">
                <a:buClrTx/>
                <a:buSzTx/>
                <a:buFontTx/>
                <a:buNone/>
                <a:tabLst>
                  <a:tab pos="5273675" algn="r"/>
                </a:tabLst>
                <a:defRPr/>
              </a:pPr>
              <a:r>
                <a:rPr kumimoji="0" lang="en-US" altLang="zh-CN" sz="2000" kern="1200" cap="none" spc="0" normalizeH="0" baseline="0" noProof="0" dirty="0" err="1">
                  <a:solidFill>
                    <a:srgbClr val="FF0000"/>
                  </a:solidFill>
                  <a:latin typeface="+mn-lt"/>
                  <a:ea typeface="微软雅黑" panose="020B0503020204020204" pitchFamily="34" charset="-122"/>
                  <a:cs typeface="+mn-cs"/>
                </a:rPr>
                <a:t>m_top</a:t>
              </a:r>
              <a:endParaRPr kumimoji="0" lang="en-US" altLang="zh-CN" sz="2400" kern="1200" cap="none" spc="0" normalizeH="0" baseline="0" noProof="0" dirty="0">
                <a:solidFill>
                  <a:srgbClr val="FFFFFF"/>
                </a:solidFill>
                <a:latin typeface="+mn-lt"/>
                <a:ea typeface="微软雅黑" panose="020B0503020204020204" pitchFamily="34" charset="-122"/>
                <a:cs typeface="+mn-cs"/>
              </a:endParaRPr>
            </a:p>
          </p:txBody>
        </p:sp>
        <p:sp>
          <p:nvSpPr>
            <p:cNvPr id="14" name="Text Box 14"/>
            <p:cNvSpPr txBox="1">
              <a:spLocks noChangeArrowheads="1"/>
            </p:cNvSpPr>
            <p:nvPr/>
          </p:nvSpPr>
          <p:spPr bwMode="auto">
            <a:xfrm>
              <a:off x="1930" y="3419"/>
              <a:ext cx="624" cy="239"/>
            </a:xfrm>
            <a:prstGeom prst="rect">
              <a:avLst/>
            </a:prstGeom>
            <a:noFill/>
            <a:ln w="9525">
              <a:noFill/>
              <a:miter lim="800000"/>
            </a:ln>
          </p:spPr>
          <p:txBody>
            <a:bodyPr/>
            <a:p>
              <a:pPr marR="0" defTabSz="914400">
                <a:buClrTx/>
                <a:buSzTx/>
                <a:buFontTx/>
                <a:buNone/>
                <a:tabLst>
                  <a:tab pos="5273675" algn="r"/>
                </a:tabLst>
                <a:defRPr/>
              </a:pPr>
              <a:r>
                <a:rPr kumimoji="0" lang="en-US" altLang="zh-CN" sz="2000" kern="1200" cap="none" spc="0" normalizeH="0" baseline="0" noProof="0" dirty="0" err="1">
                  <a:solidFill>
                    <a:srgbClr val="006600"/>
                  </a:solidFill>
                  <a:latin typeface="+mn-lt"/>
                  <a:ea typeface="微软雅黑" panose="020B0503020204020204" pitchFamily="34" charset="-122"/>
                  <a:cs typeface="+mn-cs"/>
                </a:rPr>
                <a:t>m_base</a:t>
              </a:r>
              <a:endParaRPr kumimoji="0" lang="en-US" altLang="zh-CN" sz="2000" kern="1200" cap="none" spc="0" normalizeH="0" baseline="0" noProof="0" dirty="0">
                <a:solidFill>
                  <a:srgbClr val="006600"/>
                </a:solidFill>
                <a:latin typeface="+mn-lt"/>
                <a:ea typeface="微软雅黑" panose="020B0503020204020204" pitchFamily="34" charset="-122"/>
                <a:cs typeface="+mn-cs"/>
              </a:endParaRPr>
            </a:p>
            <a:p>
              <a:pPr marR="0" defTabSz="914400">
                <a:buClrTx/>
                <a:buSzTx/>
                <a:buFontTx/>
                <a:buNone/>
                <a:tabLst>
                  <a:tab pos="5273675" algn="r"/>
                </a:tabLst>
                <a:defRPr/>
              </a:pPr>
              <a:endParaRPr kumimoji="0" lang="en-US" altLang="zh-CN" sz="2400" kern="1200" cap="none" spc="0" normalizeH="0" baseline="0" noProof="0" dirty="0">
                <a:solidFill>
                  <a:srgbClr val="006600"/>
                </a:solidFill>
                <a:latin typeface="+mn-lt"/>
                <a:ea typeface="微软雅黑" panose="020B0503020204020204" pitchFamily="34" charset="-122"/>
                <a:cs typeface="+mn-cs"/>
              </a:endParaRPr>
            </a:p>
          </p:txBody>
        </p:sp>
        <p:sp>
          <p:nvSpPr>
            <p:cNvPr id="12307" name="Text Box 15"/>
            <p:cNvSpPr txBox="1"/>
            <p:nvPr/>
          </p:nvSpPr>
          <p:spPr>
            <a:xfrm rot="5400000">
              <a:off x="3125" y="2902"/>
              <a:ext cx="356" cy="336"/>
            </a:xfrm>
            <a:prstGeom prst="rect">
              <a:avLst/>
            </a:prstGeom>
            <a:noFill/>
            <a:ln w="9525">
              <a:noFill/>
            </a:ln>
          </p:spPr>
          <p:txBody>
            <a:bodyPr vert="eaVert"/>
            <a:p>
              <a:pPr algn="just"/>
              <a:r>
                <a:rPr lang="en-US" altLang="zh-CN"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p:txBody>
        </p:sp>
        <p:sp>
          <p:nvSpPr>
            <p:cNvPr id="12308" name="Text Box 17"/>
            <p:cNvSpPr txBox="1"/>
            <p:nvPr/>
          </p:nvSpPr>
          <p:spPr>
            <a:xfrm>
              <a:off x="1842" y="3611"/>
              <a:ext cx="672" cy="288"/>
            </a:xfrm>
            <a:prstGeom prst="rect">
              <a:avLst/>
            </a:prstGeom>
            <a:noFill/>
            <a:ln w="9525">
              <a:noFill/>
            </a:ln>
          </p:spPr>
          <p:txBody>
            <a:bodyPr>
              <a:spAutoFit/>
            </a:bodyPr>
            <a:p>
              <a:pPr>
                <a:spcBef>
                  <a:spcPct val="50000"/>
                </a:spcBef>
              </a:pPr>
              <a:r>
                <a:rPr lang="en-US" altLang="zh-CN" sz="2400">
                  <a:solidFill>
                    <a:srgbClr val="006600"/>
                  </a:solidFill>
                  <a:latin typeface="微软雅黑" panose="020B0503020204020204" pitchFamily="34" charset="-122"/>
                  <a:ea typeface="微软雅黑" panose="020B0503020204020204" pitchFamily="34" charset="-122"/>
                </a:rPr>
                <a:t>(</a:t>
              </a:r>
              <a:r>
                <a:rPr lang="zh-CN" altLang="en-US" sz="2400" dirty="0">
                  <a:solidFill>
                    <a:srgbClr val="006600"/>
                  </a:solidFill>
                  <a:latin typeface="微软雅黑" panose="020B0503020204020204" pitchFamily="34" charset="-122"/>
                  <a:ea typeface="微软雅黑" panose="020B0503020204020204" pitchFamily="34" charset="-122"/>
                </a:rPr>
                <a:t>栈底</a:t>
              </a:r>
              <a:r>
                <a:rPr lang="en-US" altLang="zh-CN" sz="2400">
                  <a:solidFill>
                    <a:srgbClr val="006600"/>
                  </a:solidFill>
                  <a:latin typeface="微软雅黑" panose="020B0503020204020204" pitchFamily="34" charset="-122"/>
                  <a:ea typeface="微软雅黑" panose="020B0503020204020204" pitchFamily="34" charset="-122"/>
                </a:rPr>
                <a:t>)</a:t>
              </a:r>
              <a:endParaRPr lang="en-US" altLang="zh-CN" sz="2400">
                <a:solidFill>
                  <a:srgbClr val="006600"/>
                </a:solidFill>
                <a:latin typeface="微软雅黑" panose="020B0503020204020204" pitchFamily="34" charset="-122"/>
                <a:ea typeface="微软雅黑" panose="020B0503020204020204" pitchFamily="34" charset="-122"/>
              </a:endParaRPr>
            </a:p>
          </p:txBody>
        </p:sp>
        <p:sp>
          <p:nvSpPr>
            <p:cNvPr id="12309" name="Text Box 18"/>
            <p:cNvSpPr txBox="1"/>
            <p:nvPr/>
          </p:nvSpPr>
          <p:spPr>
            <a:xfrm>
              <a:off x="2367" y="3611"/>
              <a:ext cx="720" cy="288"/>
            </a:xfrm>
            <a:prstGeom prst="rect">
              <a:avLst/>
            </a:prstGeom>
            <a:noFill/>
            <a:ln w="9525">
              <a:noFill/>
            </a:ln>
          </p:spPr>
          <p:txBody>
            <a:bodyPr>
              <a:spAutoFit/>
            </a:bodyPr>
            <a:p>
              <a:pPr>
                <a:spcBef>
                  <a:spcPct val="50000"/>
                </a:spcBef>
              </a:pPr>
              <a:r>
                <a:rPr lang="en-US" altLang="zh-CN" sz="240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栈顶</a:t>
              </a:r>
              <a:r>
                <a:rPr lang="en-US" altLang="zh-CN" sz="2400">
                  <a:solidFill>
                    <a:srgbClr val="FF0000"/>
                  </a:solidFill>
                  <a:latin typeface="微软雅黑" panose="020B0503020204020204" pitchFamily="34" charset="-122"/>
                  <a:ea typeface="微软雅黑" panose="020B0503020204020204" pitchFamily="34" charset="-122"/>
                </a:rPr>
                <a:t>)</a:t>
              </a:r>
              <a:endParaRPr lang="en-US" altLang="zh-CN" sz="2400">
                <a:solidFill>
                  <a:srgbClr val="FF0000"/>
                </a:solidFill>
                <a:latin typeface="微软雅黑" panose="020B0503020204020204" pitchFamily="34" charset="-122"/>
                <a:ea typeface="微软雅黑" panose="020B0503020204020204" pitchFamily="34" charset="-122"/>
              </a:endParaRPr>
            </a:p>
          </p:txBody>
        </p:sp>
        <p:sp>
          <p:nvSpPr>
            <p:cNvPr id="12310" name="Line 20"/>
            <p:cNvSpPr/>
            <p:nvPr/>
          </p:nvSpPr>
          <p:spPr>
            <a:xfrm rot="5400000">
              <a:off x="3504" y="3002"/>
              <a:ext cx="414" cy="0"/>
            </a:xfrm>
            <a:prstGeom prst="line">
              <a:avLst/>
            </a:prstGeom>
            <a:ln w="9525" cap="flat" cmpd="sng">
              <a:solidFill>
                <a:srgbClr val="000000"/>
              </a:solidFill>
              <a:prstDash val="solid"/>
              <a:headEnd type="none" w="med" len="med"/>
              <a:tailEnd type="none" w="med" len="med"/>
            </a:ln>
          </p:spPr>
        </p:sp>
        <p:sp>
          <p:nvSpPr>
            <p:cNvPr id="19" name="Text Box 21"/>
            <p:cNvSpPr txBox="1">
              <a:spLocks noChangeArrowheads="1"/>
            </p:cNvSpPr>
            <p:nvPr/>
          </p:nvSpPr>
          <p:spPr bwMode="auto">
            <a:xfrm>
              <a:off x="3061" y="3430"/>
              <a:ext cx="1008" cy="250"/>
            </a:xfrm>
            <a:prstGeom prst="rect">
              <a:avLst/>
            </a:prstGeom>
            <a:noFill/>
            <a:ln w="9525">
              <a:noFill/>
              <a:miter lim="800000"/>
            </a:ln>
          </p:spPr>
          <p:txBody>
            <a:bodyPr>
              <a:spAutoFit/>
            </a:bodyPr>
            <a:p>
              <a:pPr marR="0" defTabSz="914400">
                <a:spcBef>
                  <a:spcPct val="50000"/>
                </a:spcBef>
                <a:buClrTx/>
                <a:buSzTx/>
                <a:buFontTx/>
                <a:buNone/>
                <a:defRPr/>
              </a:pPr>
              <a:r>
                <a:rPr kumimoji="0" lang="en-US" altLang="zh-CN" sz="2000" b="0" kern="1200" cap="none" spc="0" normalizeH="0" baseline="0" noProof="0" dirty="0" err="1">
                  <a:solidFill>
                    <a:schemeClr val="tx1"/>
                  </a:solidFill>
                  <a:latin typeface="+mn-lt"/>
                  <a:ea typeface="微软雅黑" panose="020B0503020204020204" pitchFamily="34" charset="-122"/>
                  <a:cs typeface="+mn-cs"/>
                </a:rPr>
                <a:t>m_size</a:t>
              </a:r>
              <a:endParaRPr kumimoji="0" lang="en-US" altLang="zh-CN" sz="2000" b="0" kern="1200" cap="none" spc="0" normalizeH="0" baseline="0" noProof="0" dirty="0">
                <a:solidFill>
                  <a:schemeClr val="tx1"/>
                </a:solidFill>
                <a:latin typeface="+mn-lt"/>
                <a:ea typeface="微软雅黑" panose="020B0503020204020204" pitchFamily="34" charset="-122"/>
                <a:cs typeface="+mn-cs"/>
              </a:endParaRPr>
            </a:p>
          </p:txBody>
        </p:sp>
        <p:sp>
          <p:nvSpPr>
            <p:cNvPr id="12312" name="AutoShape 25"/>
            <p:cNvSpPr/>
            <p:nvPr/>
          </p:nvSpPr>
          <p:spPr>
            <a:xfrm rot="-5400000" flipV="1">
              <a:off x="3310" y="2228"/>
              <a:ext cx="136" cy="2177"/>
            </a:xfrm>
            <a:prstGeom prst="leftBrace">
              <a:avLst>
                <a:gd name="adj1" fmla="val 133394"/>
                <a:gd name="adj2" fmla="val 50000"/>
              </a:avLst>
            </a:prstGeom>
            <a:noFill/>
            <a:ln w="9525" cap="flat" cmpd="sng">
              <a:solidFill>
                <a:schemeClr val="tx1"/>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2. </a:t>
            </a:r>
            <a:r>
              <a:rPr lang="zh-CN" altLang="en-US" sz="2400">
                <a:cs typeface="微软雅黑" panose="020B0503020204020204" pitchFamily="34" charset="-122"/>
              </a:rPr>
              <a:t>销毁栈</a:t>
            </a:r>
            <a:endParaRPr lang="zh-CN" altLang="en-US" sz="2400">
              <a:cs typeface="微软雅黑" panose="020B0503020204020204" pitchFamily="34" charset="-122"/>
            </a:endParaRPr>
          </a:p>
        </p:txBody>
      </p:sp>
      <p:graphicFrame>
        <p:nvGraphicFramePr>
          <p:cNvPr id="3" name="表格 2"/>
          <p:cNvGraphicFramePr>
            <a:graphicFrameLocks noGrp="1"/>
          </p:cNvGraphicFramePr>
          <p:nvPr/>
        </p:nvGraphicFramePr>
        <p:xfrm>
          <a:off x="1435735" y="2054860"/>
          <a:ext cx="7696200" cy="1905000"/>
        </p:xfrm>
        <a:graphic>
          <a:graphicData uri="http://schemas.openxmlformats.org/drawingml/2006/table">
            <a:tbl>
              <a:tblPr/>
              <a:tblGrid>
                <a:gridCol w="7696200"/>
              </a:tblGrid>
              <a:tr h="190500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析构函数，将栈结构销毁</a:t>
                      </a:r>
                      <a:endPar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SqStack &lt;ElemType&gt;::~SqStack()</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 (m_base != NULL) delete[] m_base;</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3. </a:t>
            </a:r>
            <a:r>
              <a:rPr lang="zh-CN" altLang="en-US" sz="2400">
                <a:cs typeface="微软雅黑" panose="020B0503020204020204" pitchFamily="34" charset="-122"/>
              </a:rPr>
              <a:t>清空栈</a:t>
            </a:r>
            <a:endParaRPr lang="zh-CN" altLang="en-US" sz="2400">
              <a:cs typeface="微软雅黑" panose="020B0503020204020204" pitchFamily="34" charset="-122"/>
            </a:endParaRPr>
          </a:p>
        </p:txBody>
      </p:sp>
      <p:graphicFrame>
        <p:nvGraphicFramePr>
          <p:cNvPr id="2" name="表格 1"/>
          <p:cNvGraphicFramePr>
            <a:graphicFrameLocks noGrp="1"/>
          </p:cNvGraphicFramePr>
          <p:nvPr/>
        </p:nvGraphicFramePr>
        <p:xfrm>
          <a:off x="1306830" y="2052320"/>
          <a:ext cx="6979285" cy="1752600"/>
        </p:xfrm>
        <a:graphic>
          <a:graphicData uri="http://schemas.openxmlformats.org/drawingml/2006/table">
            <a:tbl>
              <a:tblPr/>
              <a:tblGrid>
                <a:gridCol w="6979285"/>
              </a:tblGrid>
              <a:tr h="175260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清空栈</a:t>
                      </a:r>
                      <a:endPar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void SqStack &lt;ElemType&gt;::Clear()</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m_top = 0;</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4. </a:t>
            </a:r>
            <a:r>
              <a:rPr lang="zh-CN" altLang="en-US" sz="2400">
                <a:cs typeface="微软雅黑" panose="020B0503020204020204" pitchFamily="34" charset="-122"/>
              </a:rPr>
              <a:t>判空栈</a:t>
            </a:r>
            <a:endParaRPr lang="zh-CN" altLang="en-US" sz="2400">
              <a:cs typeface="微软雅黑" panose="020B0503020204020204" pitchFamily="34" charset="-122"/>
            </a:endParaRPr>
          </a:p>
        </p:txBody>
      </p:sp>
      <p:graphicFrame>
        <p:nvGraphicFramePr>
          <p:cNvPr id="3" name="表格 2"/>
          <p:cNvGraphicFramePr>
            <a:graphicFrameLocks noGrp="1"/>
          </p:cNvGraphicFramePr>
          <p:nvPr/>
        </p:nvGraphicFramePr>
        <p:xfrm>
          <a:off x="1539240" y="1929765"/>
          <a:ext cx="6858000" cy="1869440"/>
        </p:xfrm>
        <a:graphic>
          <a:graphicData uri="http://schemas.openxmlformats.org/drawingml/2006/table">
            <a:tbl>
              <a:tblPr/>
              <a:tblGrid>
                <a:gridCol w="6858000"/>
              </a:tblGrid>
              <a:tr h="186944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若栈为空，则返回</a:t>
                      </a: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true</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，否则返回</a:t>
                      </a: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false</a:t>
                      </a:r>
                      <a:endParaRPr kumimoji="0" lang="zh-CN"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bool SqStack &lt;ElemType&gt;::Empty() const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return m_top == 0;</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5. </a:t>
            </a:r>
            <a:r>
              <a:rPr lang="zh-CN" altLang="en-US" sz="2400">
                <a:cs typeface="微软雅黑" panose="020B0503020204020204" pitchFamily="34" charset="-122"/>
              </a:rPr>
              <a:t>求长度</a:t>
            </a:r>
            <a:endParaRPr lang="zh-CN" altLang="en-US" sz="2400">
              <a:cs typeface="微软雅黑" panose="020B0503020204020204" pitchFamily="34" charset="-122"/>
            </a:endParaRPr>
          </a:p>
        </p:txBody>
      </p:sp>
      <p:graphicFrame>
        <p:nvGraphicFramePr>
          <p:cNvPr id="2" name="表格 1"/>
          <p:cNvGraphicFramePr>
            <a:graphicFrameLocks noGrp="1"/>
          </p:cNvGraphicFramePr>
          <p:nvPr/>
        </p:nvGraphicFramePr>
        <p:xfrm>
          <a:off x="1234440" y="1929765"/>
          <a:ext cx="7162800" cy="1942465"/>
        </p:xfrm>
        <a:graphic>
          <a:graphicData uri="http://schemas.openxmlformats.org/drawingml/2006/table">
            <a:tbl>
              <a:tblPr/>
              <a:tblGrid>
                <a:gridCol w="7162800"/>
              </a:tblGrid>
              <a:tr h="1942465">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求栈中元素的个数</a:t>
                      </a:r>
                      <a:endPar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 SqStack &lt;ElemType&gt;::Length() const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return m_top;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6. </a:t>
            </a:r>
            <a:r>
              <a:rPr lang="zh-CN" altLang="en-US" sz="2400">
                <a:cs typeface="微软雅黑" panose="020B0503020204020204" pitchFamily="34" charset="-122"/>
              </a:rPr>
              <a:t>取栈顶元素的值</a:t>
            </a:r>
            <a:endParaRPr lang="zh-CN" altLang="en-US" sz="2400">
              <a:cs typeface="微软雅黑" panose="020B0503020204020204" pitchFamily="34" charset="-122"/>
            </a:endParaRPr>
          </a:p>
        </p:txBody>
      </p:sp>
      <p:graphicFrame>
        <p:nvGraphicFramePr>
          <p:cNvPr id="3" name="表格 2"/>
          <p:cNvGraphicFramePr>
            <a:graphicFrameLocks noGrp="1"/>
          </p:cNvGraphicFramePr>
          <p:nvPr/>
        </p:nvGraphicFramePr>
        <p:xfrm>
          <a:off x="1485900" y="2018665"/>
          <a:ext cx="7086600" cy="1828800"/>
        </p:xfrm>
        <a:graphic>
          <a:graphicData uri="http://schemas.openxmlformats.org/drawingml/2006/table">
            <a:tbl>
              <a:tblPr/>
              <a:tblGrid>
                <a:gridCol w="7086600"/>
              </a:tblGrid>
              <a:tr h="182880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取栈顶元素的值。先决条件是栈不空</a:t>
                      </a:r>
                      <a:endPar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ElemType &amp; SqStack &lt;ElemType&gt;::Top() const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return m_base[m_top - 1];</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sz="2400">
                <a:cs typeface="微软雅黑" panose="020B0503020204020204" pitchFamily="34" charset="-122"/>
              </a:rPr>
              <a:t>7. </a:t>
            </a:r>
            <a:r>
              <a:rPr lang="zh-CN" altLang="en-US" sz="2400">
                <a:cs typeface="微软雅黑" panose="020B0503020204020204" pitchFamily="34" charset="-122"/>
              </a:rPr>
              <a:t>入栈</a:t>
            </a:r>
            <a:endParaRPr lang="zh-CN" altLang="en-US" sz="2400">
              <a:cs typeface="微软雅黑" panose="020B0503020204020204" pitchFamily="34" charset="-122"/>
            </a:endParaRPr>
          </a:p>
        </p:txBody>
      </p:sp>
      <p:graphicFrame>
        <p:nvGraphicFramePr>
          <p:cNvPr id="2" name="表格 1"/>
          <p:cNvGraphicFramePr>
            <a:graphicFrameLocks noGrp="1"/>
          </p:cNvGraphicFramePr>
          <p:nvPr>
            <p:custDataLst>
              <p:tags r:id="rId2"/>
            </p:custDataLst>
          </p:nvPr>
        </p:nvGraphicFramePr>
        <p:xfrm>
          <a:off x="1350645" y="1769110"/>
          <a:ext cx="9358630" cy="4133850"/>
        </p:xfrm>
        <a:graphic>
          <a:graphicData uri="http://schemas.openxmlformats.org/drawingml/2006/table">
            <a:tbl>
              <a:tblPr/>
              <a:tblGrid>
                <a:gridCol w="9358630"/>
              </a:tblGrid>
              <a:tr h="413385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入栈，若栈满，则先扩展空间。插入</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e</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到栈顶</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t</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emplate &lt;class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void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SqStack</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&lt;</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&gt;::Push(const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&amp;e)</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m_top</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&gt;=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m_size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若栈满，则扩展空间</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newbase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newbase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new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m_size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+ 10];</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扩大</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个元素空间</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for(</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j = 0; j &lt;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m_top</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j++)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复制元素到新空间</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newbase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[j] =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[j];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delete[]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释放原空间</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newbase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重置基地址</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m_size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10;</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m_base</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m_top</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e;</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grpSp>
        <p:nvGrpSpPr>
          <p:cNvPr id="71" name="Group 20"/>
          <p:cNvGrpSpPr/>
          <p:nvPr/>
        </p:nvGrpSpPr>
        <p:grpSpPr>
          <a:xfrm>
            <a:off x="7793034" y="5684837"/>
            <a:ext cx="990322" cy="920365"/>
            <a:chOff x="3223" y="3313"/>
            <a:chExt cx="624" cy="580"/>
          </a:xfrm>
        </p:grpSpPr>
        <p:sp>
          <p:nvSpPr>
            <p:cNvPr id="72" name="Line 11"/>
            <p:cNvSpPr>
              <a:spLocks noChangeShapeType="1"/>
            </p:cNvSpPr>
            <p:nvPr/>
          </p:nvSpPr>
          <p:spPr bwMode="auto">
            <a:xfrm rot="16200000" flipV="1">
              <a:off x="3386" y="3431"/>
              <a:ext cx="237" cy="0"/>
            </a:xfrm>
            <a:prstGeom prst="line">
              <a:avLst/>
            </a:prstGeom>
            <a:noFill/>
            <a:ln w="19050">
              <a:solidFill>
                <a:srgbClr val="000000"/>
              </a:solidFill>
              <a:round/>
              <a:tailEnd type="triangle" w="med" len="me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73" name="Text Box 13"/>
            <p:cNvSpPr txBox="1">
              <a:spLocks noChangeArrowheads="1"/>
            </p:cNvSpPr>
            <p:nvPr/>
          </p:nvSpPr>
          <p:spPr bwMode="auto">
            <a:xfrm>
              <a:off x="3223" y="3557"/>
              <a:ext cx="624" cy="336"/>
            </a:xfrm>
            <a:prstGeom prst="rect">
              <a:avLst/>
            </a:prstGeom>
            <a:noFill/>
            <a:ln w="9525">
              <a:noFill/>
              <a:miter lim="800000"/>
            </a:ln>
          </p:spPr>
          <p:txBody>
            <a:bodyPr/>
            <a:p>
              <a:pPr marR="0" defTabSz="914400">
                <a:buClrTx/>
                <a:buSzTx/>
                <a:buFontTx/>
                <a:buNone/>
                <a:tabLst>
                  <a:tab pos="5273675" algn="r"/>
                </a:tabLst>
                <a:defRPr/>
              </a:pPr>
              <a:r>
                <a:rPr kumimoji="0" lang="en-US" altLang="zh-CN" b="0" kern="1200" cap="none" spc="0" normalizeH="0" baseline="0" noProof="0" dirty="0" err="1">
                  <a:solidFill>
                    <a:srgbClr val="FF0000"/>
                  </a:solidFill>
                  <a:latin typeface="+mn-lt"/>
                  <a:ea typeface="微软雅黑" panose="020B0503020204020204" pitchFamily="34" charset="-122"/>
                  <a:cs typeface="+mn-cs"/>
                </a:rPr>
                <a:t>m_top</a:t>
              </a:r>
              <a:endParaRPr kumimoji="0" lang="en-US" altLang="zh-CN" b="0" kern="1200" cap="none" spc="0" normalizeH="0" baseline="0" noProof="0" dirty="0" err="1">
                <a:solidFill>
                  <a:srgbClr val="FF0000"/>
                </a:solidFill>
                <a:latin typeface="+mn-lt"/>
                <a:ea typeface="微软雅黑" panose="020B0503020204020204" pitchFamily="34" charset="-122"/>
                <a:cs typeface="+mn-cs"/>
              </a:endParaRPr>
            </a:p>
          </p:txBody>
        </p:sp>
      </p:grpSp>
      <p:grpSp>
        <p:nvGrpSpPr>
          <p:cNvPr id="74" name="Group 22"/>
          <p:cNvGrpSpPr/>
          <p:nvPr>
            <p:custDataLst>
              <p:tags r:id="rId3"/>
            </p:custDataLst>
          </p:nvPr>
        </p:nvGrpSpPr>
        <p:grpSpPr>
          <a:xfrm>
            <a:off x="5572125" y="4997450"/>
            <a:ext cx="3658870" cy="1322097"/>
            <a:chOff x="2160" y="2880"/>
            <a:chExt cx="2305" cy="833"/>
          </a:xfrm>
        </p:grpSpPr>
        <p:sp>
          <p:nvSpPr>
            <p:cNvPr id="76" name="Rectangle 4"/>
            <p:cNvSpPr>
              <a:spLocks noChangeArrowheads="1"/>
            </p:cNvSpPr>
            <p:nvPr>
              <p:custDataLst>
                <p:tags r:id="rId4"/>
              </p:custDataLst>
            </p:nvPr>
          </p:nvSpPr>
          <p:spPr bwMode="auto">
            <a:xfrm rot="5400000">
              <a:off x="3153" y="1982"/>
              <a:ext cx="414" cy="2210"/>
            </a:xfrm>
            <a:prstGeom prst="rect">
              <a:avLst/>
            </a:prstGeom>
            <a:solidFill>
              <a:srgbClr val="FFFFFF"/>
            </a:solidFill>
            <a:ln w="9525">
              <a:solidFill>
                <a:srgbClr val="000000"/>
              </a:solidFill>
              <a:miter lim="800000"/>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rgbClr val="FFFFFF"/>
                </a:solidFill>
                <a:effectLst/>
                <a:uLnTx/>
                <a:uFillTx/>
                <a:latin typeface="+mn-lt"/>
                <a:ea typeface="微软雅黑" panose="020B0503020204020204" pitchFamily="34" charset="-122"/>
                <a:cs typeface="+mn-cs"/>
              </a:endParaRPr>
            </a:p>
          </p:txBody>
        </p:sp>
        <p:sp>
          <p:nvSpPr>
            <p:cNvPr id="77" name="Line 5"/>
            <p:cNvSpPr>
              <a:spLocks noChangeShapeType="1"/>
            </p:cNvSpPr>
            <p:nvPr>
              <p:custDataLst>
                <p:tags r:id="rId5"/>
              </p:custDataLst>
            </p:nvPr>
          </p:nvSpPr>
          <p:spPr bwMode="auto">
            <a:xfrm rot="5400000">
              <a:off x="2433"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78" name="Line 6"/>
            <p:cNvSpPr>
              <a:spLocks noChangeShapeType="1"/>
            </p:cNvSpPr>
            <p:nvPr>
              <p:custDataLst>
                <p:tags r:id="rId6"/>
              </p:custDataLst>
            </p:nvPr>
          </p:nvSpPr>
          <p:spPr bwMode="auto">
            <a:xfrm rot="5400000">
              <a:off x="2817"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79" name="Line 7"/>
            <p:cNvSpPr>
              <a:spLocks noChangeShapeType="1"/>
            </p:cNvSpPr>
            <p:nvPr>
              <p:custDataLst>
                <p:tags r:id="rId7"/>
              </p:custDataLst>
            </p:nvPr>
          </p:nvSpPr>
          <p:spPr bwMode="auto">
            <a:xfrm rot="5400000">
              <a:off x="3856"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80" name="Text Box 8"/>
            <p:cNvSpPr txBox="1">
              <a:spLocks noChangeArrowheads="1"/>
            </p:cNvSpPr>
            <p:nvPr>
              <p:custDataLst>
                <p:tags r:id="rId8"/>
              </p:custDataLst>
            </p:nvPr>
          </p:nvSpPr>
          <p:spPr bwMode="auto">
            <a:xfrm>
              <a:off x="2352" y="2929"/>
              <a:ext cx="355" cy="237"/>
            </a:xfrm>
            <a:prstGeom prst="rect">
              <a:avLst/>
            </a:prstGeom>
            <a:noFill/>
            <a:ln w="9525">
              <a:noFill/>
              <a:miter lim="800000"/>
            </a:ln>
          </p:spPr>
          <p:txBody>
            <a:bodyPr/>
            <a:p>
              <a:pPr marR="0" algn="just" defTabSz="914400">
                <a:buClrTx/>
                <a:buSzTx/>
                <a:buFontTx/>
                <a:buNone/>
                <a:defRPr/>
              </a:pPr>
              <a:r>
                <a:rPr kumimoji="0" lang="en-US" altLang="zh-CN" sz="2000" b="0" kern="1200" cap="none" spc="0" normalizeH="0" baseline="0" noProof="0" dirty="0">
                  <a:solidFill>
                    <a:schemeClr val="tx1"/>
                  </a:solidFill>
                  <a:latin typeface="+mn-lt"/>
                  <a:ea typeface="微软雅黑" panose="020B0503020204020204" pitchFamily="34" charset="-122"/>
                  <a:cs typeface="+mn-cs"/>
                </a:rPr>
                <a:t>a</a:t>
              </a:r>
              <a:r>
                <a:rPr kumimoji="0" lang="en-US" altLang="zh-CN" sz="2000" b="0" kern="1200" cap="none" spc="0" normalizeH="0" baseline="-30000" noProof="0" dirty="0">
                  <a:solidFill>
                    <a:schemeClr val="tx1"/>
                  </a:solidFill>
                  <a:latin typeface="+mn-lt"/>
                  <a:ea typeface="微软雅黑" panose="020B0503020204020204" pitchFamily="34" charset="-122"/>
                  <a:cs typeface="+mn-cs"/>
                </a:rPr>
                <a:t>1</a:t>
              </a:r>
              <a:endParaRPr kumimoji="0" lang="en-US" altLang="zh-CN" sz="2000" b="0" kern="1200" cap="none" spc="0" normalizeH="0" baseline="-30000" noProof="0" dirty="0">
                <a:solidFill>
                  <a:schemeClr val="tx1"/>
                </a:solidFill>
                <a:latin typeface="+mn-lt"/>
                <a:ea typeface="微软雅黑" panose="020B0503020204020204" pitchFamily="34" charset="-122"/>
                <a:cs typeface="+mn-cs"/>
              </a:endParaRPr>
            </a:p>
          </p:txBody>
        </p:sp>
        <p:sp>
          <p:nvSpPr>
            <p:cNvPr id="81" name="Text Box 9"/>
            <p:cNvSpPr txBox="1">
              <a:spLocks noChangeArrowheads="1"/>
            </p:cNvSpPr>
            <p:nvPr>
              <p:custDataLst>
                <p:tags r:id="rId9"/>
              </p:custDataLst>
            </p:nvPr>
          </p:nvSpPr>
          <p:spPr bwMode="auto">
            <a:xfrm>
              <a:off x="2736" y="2929"/>
              <a:ext cx="355" cy="225"/>
            </a:xfrm>
            <a:prstGeom prst="rect">
              <a:avLst/>
            </a:prstGeom>
            <a:noFill/>
            <a:ln w="9525">
              <a:noFill/>
              <a:miter lim="800000"/>
            </a:ln>
          </p:spPr>
          <p:txBody>
            <a:bodyPr/>
            <a:p>
              <a:pPr marR="0" algn="just" defTabSz="914400">
                <a:buClrTx/>
                <a:buSzTx/>
                <a:buFontTx/>
                <a:buNone/>
                <a:defRPr/>
              </a:pPr>
              <a:r>
                <a:rPr kumimoji="0" lang="en-US" altLang="zh-CN" sz="2000" b="0" kern="1200" cap="none" spc="0" normalizeH="0" baseline="0" noProof="0" dirty="0">
                  <a:solidFill>
                    <a:schemeClr val="tx1"/>
                  </a:solidFill>
                  <a:latin typeface="+mn-lt"/>
                  <a:ea typeface="微软雅黑" panose="020B0503020204020204" pitchFamily="34" charset="-122"/>
                  <a:cs typeface="+mn-cs"/>
                </a:rPr>
                <a:t>a</a:t>
              </a:r>
              <a:r>
                <a:rPr kumimoji="0" lang="en-US" altLang="zh-CN" sz="2000" b="0" kern="1200" cap="none" spc="0" normalizeH="0" baseline="-30000" noProof="0" dirty="0">
                  <a:solidFill>
                    <a:schemeClr val="tx1"/>
                  </a:solidFill>
                  <a:latin typeface="+mn-lt"/>
                  <a:ea typeface="微软雅黑" panose="020B0503020204020204" pitchFamily="34" charset="-122"/>
                  <a:cs typeface="+mn-cs"/>
                </a:rPr>
                <a:t>2</a:t>
              </a:r>
              <a:endParaRPr kumimoji="0" lang="en-US" altLang="zh-CN" sz="2000" b="0" kern="1200" cap="none" spc="0" normalizeH="0" baseline="-30000" noProof="0" dirty="0">
                <a:solidFill>
                  <a:schemeClr val="tx1"/>
                </a:solidFill>
                <a:latin typeface="+mn-lt"/>
                <a:ea typeface="微软雅黑" panose="020B0503020204020204" pitchFamily="34" charset="-122"/>
                <a:cs typeface="+mn-cs"/>
              </a:endParaRPr>
            </a:p>
          </p:txBody>
        </p:sp>
        <p:sp>
          <p:nvSpPr>
            <p:cNvPr id="82" name="Text Box 10"/>
            <p:cNvSpPr txBox="1">
              <a:spLocks noChangeArrowheads="1"/>
            </p:cNvSpPr>
            <p:nvPr>
              <p:custDataLst>
                <p:tags r:id="rId10"/>
              </p:custDataLst>
            </p:nvPr>
          </p:nvSpPr>
          <p:spPr bwMode="auto">
            <a:xfrm>
              <a:off x="3360" y="2928"/>
              <a:ext cx="355" cy="336"/>
            </a:xfrm>
            <a:prstGeom prst="rect">
              <a:avLst/>
            </a:prstGeom>
            <a:noFill/>
            <a:ln w="9525">
              <a:noFill/>
              <a:miter lim="800000"/>
            </a:ln>
          </p:spPr>
          <p:txBody>
            <a:bodyPr/>
            <a:p>
              <a:pPr marR="0" algn="just" defTabSz="914400">
                <a:buClrTx/>
                <a:buSzTx/>
                <a:buFontTx/>
                <a:buNone/>
                <a:defRPr/>
              </a:pPr>
              <a:r>
                <a:rPr kumimoji="0" lang="en-US" altLang="zh-CN" sz="2000" b="0" kern="1200" cap="none" spc="0" normalizeH="0" baseline="0" noProof="0" dirty="0">
                  <a:solidFill>
                    <a:schemeClr val="tx1"/>
                  </a:solidFill>
                  <a:latin typeface="+mn-lt"/>
                  <a:ea typeface="微软雅黑" panose="020B0503020204020204" pitchFamily="34" charset="-122"/>
                  <a:cs typeface="+mn-cs"/>
                </a:rPr>
                <a:t>a</a:t>
              </a:r>
              <a:r>
                <a:rPr kumimoji="0" lang="en-US" altLang="zh-CN" sz="2000" b="0" kern="1200" cap="none" spc="0" normalizeH="0" baseline="-30000" noProof="0" dirty="0">
                  <a:solidFill>
                    <a:schemeClr val="tx1"/>
                  </a:solidFill>
                  <a:latin typeface="+mn-lt"/>
                  <a:ea typeface="微软雅黑" panose="020B0503020204020204" pitchFamily="34" charset="-122"/>
                  <a:cs typeface="+mn-cs"/>
                </a:rPr>
                <a:t>n</a:t>
              </a:r>
              <a:endParaRPr kumimoji="0" lang="en-US" altLang="zh-CN" sz="2000" b="0" kern="1200" cap="none" spc="0" normalizeH="0" baseline="-30000" noProof="0" dirty="0">
                <a:solidFill>
                  <a:schemeClr val="tx1"/>
                </a:solidFill>
                <a:latin typeface="+mn-lt"/>
                <a:ea typeface="微软雅黑" panose="020B0503020204020204" pitchFamily="34" charset="-122"/>
                <a:cs typeface="+mn-cs"/>
              </a:endParaRPr>
            </a:p>
          </p:txBody>
        </p:sp>
        <p:sp>
          <p:nvSpPr>
            <p:cNvPr id="83" name="Line 12"/>
            <p:cNvSpPr>
              <a:spLocks noChangeShapeType="1"/>
            </p:cNvSpPr>
            <p:nvPr/>
          </p:nvSpPr>
          <p:spPr bwMode="auto">
            <a:xfrm rot="-5400000">
              <a:off x="2333" y="3429"/>
              <a:ext cx="231" cy="0"/>
            </a:xfrm>
            <a:prstGeom prst="line">
              <a:avLst/>
            </a:prstGeom>
            <a:noFill/>
            <a:ln w="19050">
              <a:solidFill>
                <a:srgbClr val="000000"/>
              </a:solidFill>
              <a:round/>
              <a:tailEnd type="triangle" w="med" len="me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84" name="Text Box 14"/>
            <p:cNvSpPr txBox="1">
              <a:spLocks noChangeArrowheads="1"/>
            </p:cNvSpPr>
            <p:nvPr/>
          </p:nvSpPr>
          <p:spPr bwMode="auto">
            <a:xfrm>
              <a:off x="2160" y="3552"/>
              <a:ext cx="931" cy="161"/>
            </a:xfrm>
            <a:prstGeom prst="rect">
              <a:avLst/>
            </a:prstGeom>
            <a:noFill/>
            <a:ln w="9525">
              <a:noFill/>
              <a:miter lim="800000"/>
            </a:ln>
          </p:spPr>
          <p:txBody>
            <a:bodyPr/>
            <a:p>
              <a:pPr marR="0" defTabSz="914400">
                <a:buClrTx/>
                <a:buSzTx/>
                <a:buFontTx/>
                <a:buNone/>
                <a:tabLst>
                  <a:tab pos="5273675" algn="r"/>
                </a:tabLst>
                <a:defRPr/>
              </a:pPr>
              <a:r>
                <a:rPr kumimoji="0" lang="en-US" altLang="zh-CN" b="0" kern="1200" cap="none" spc="0" normalizeH="0" baseline="0" noProof="0" dirty="0" err="1">
                  <a:solidFill>
                    <a:srgbClr val="FF0000"/>
                  </a:solidFill>
                  <a:latin typeface="+mn-lt"/>
                  <a:ea typeface="微软雅黑" panose="020B0503020204020204" pitchFamily="34" charset="-122"/>
                  <a:cs typeface="+mn-cs"/>
                </a:rPr>
                <a:t>m_base</a:t>
              </a:r>
              <a:endParaRPr kumimoji="0" lang="en-US" altLang="zh-CN" b="0" kern="1200" cap="none" spc="0" normalizeH="0" baseline="0" noProof="0" dirty="0">
                <a:solidFill>
                  <a:srgbClr val="FF0000"/>
                </a:solidFill>
                <a:latin typeface="+mn-lt"/>
                <a:ea typeface="微软雅黑" panose="020B0503020204020204" pitchFamily="34" charset="-122"/>
                <a:cs typeface="+mn-cs"/>
              </a:endParaRPr>
            </a:p>
            <a:p>
              <a:pPr marR="0" defTabSz="914400">
                <a:buClrTx/>
                <a:buSzTx/>
                <a:buFontTx/>
                <a:buNone/>
                <a:tabLst>
                  <a:tab pos="5273675" algn="r"/>
                </a:tabLst>
                <a:defRPr/>
              </a:pPr>
              <a:endParaRPr kumimoji="0" lang="en-US" altLang="zh-CN" b="0" kern="1200" cap="none" spc="0" normalizeH="0" baseline="0" noProof="0" dirty="0">
                <a:solidFill>
                  <a:srgbClr val="FF0000"/>
                </a:solidFill>
                <a:latin typeface="+mn-lt"/>
                <a:ea typeface="微软雅黑" panose="020B0503020204020204" pitchFamily="34" charset="-122"/>
                <a:cs typeface="+mn-cs"/>
              </a:endParaRPr>
            </a:p>
          </p:txBody>
        </p:sp>
        <p:sp>
          <p:nvSpPr>
            <p:cNvPr id="85" name="Text Box 15"/>
            <p:cNvSpPr txBox="1">
              <a:spLocks noChangeArrowheads="1"/>
            </p:cNvSpPr>
            <p:nvPr>
              <p:custDataLst>
                <p:tags r:id="rId11"/>
              </p:custDataLst>
            </p:nvPr>
          </p:nvSpPr>
          <p:spPr bwMode="auto">
            <a:xfrm rot="5400000">
              <a:off x="2966" y="2986"/>
              <a:ext cx="356" cy="336"/>
            </a:xfrm>
            <a:prstGeom prst="rect">
              <a:avLst/>
            </a:prstGeom>
            <a:noFill/>
            <a:ln w="9525">
              <a:noFill/>
              <a:miter lim="800000"/>
            </a:ln>
          </p:spPr>
          <p:txBody>
            <a:bodyPr vert="eaVert"/>
            <a:p>
              <a:pPr marR="0" algn="just" defTabSz="914400">
                <a:buClrTx/>
                <a:buSzTx/>
                <a:buFontTx/>
                <a:buNone/>
                <a:defRPr/>
              </a:pPr>
              <a:r>
                <a:rPr kumimoji="0" lang="en-US" altLang="zh-CN" sz="2400" b="0" kern="1200" cap="none" spc="0" normalizeH="0" baseline="0" noProof="0" dirty="0">
                  <a:solidFill>
                    <a:schemeClr val="tx1"/>
                  </a:solidFill>
                  <a:latin typeface="+mn-lt"/>
                  <a:ea typeface="微软雅黑" panose="020B0503020204020204" pitchFamily="34" charset="-122"/>
                  <a:cs typeface="+mn-cs"/>
                </a:rPr>
                <a:t>…</a:t>
              </a:r>
              <a:endParaRPr kumimoji="0" lang="en-US" altLang="zh-CN" sz="2400" b="0" kern="1200" cap="none" spc="0" normalizeH="0" baseline="0" noProof="0" dirty="0">
                <a:solidFill>
                  <a:schemeClr val="tx1"/>
                </a:solidFill>
                <a:latin typeface="+mn-lt"/>
                <a:ea typeface="微软雅黑" panose="020B0503020204020204" pitchFamily="34" charset="-122"/>
                <a:cs typeface="+mn-cs"/>
              </a:endParaRPr>
            </a:p>
          </p:txBody>
        </p:sp>
        <p:sp>
          <p:nvSpPr>
            <p:cNvPr id="86" name="Line 17"/>
            <p:cNvSpPr>
              <a:spLocks noChangeShapeType="1"/>
            </p:cNvSpPr>
            <p:nvPr>
              <p:custDataLst>
                <p:tags r:id="rId12"/>
              </p:custDataLst>
            </p:nvPr>
          </p:nvSpPr>
          <p:spPr bwMode="auto">
            <a:xfrm rot="5400000">
              <a:off x="3489"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87" name="Line 18"/>
            <p:cNvSpPr>
              <a:spLocks noChangeShapeType="1"/>
            </p:cNvSpPr>
            <p:nvPr>
              <p:custDataLst>
                <p:tags r:id="rId13"/>
              </p:custDataLst>
            </p:nvPr>
          </p:nvSpPr>
          <p:spPr bwMode="auto">
            <a:xfrm rot="5400000">
              <a:off x="3105"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grpSp>
      <p:grpSp>
        <p:nvGrpSpPr>
          <p:cNvPr id="88" name="Group 23"/>
          <p:cNvGrpSpPr/>
          <p:nvPr/>
        </p:nvGrpSpPr>
        <p:grpSpPr>
          <a:xfrm>
            <a:off x="8605335" y="5684729"/>
            <a:ext cx="994930" cy="727893"/>
            <a:chOff x="3387" y="3313"/>
            <a:chExt cx="349" cy="492"/>
          </a:xfrm>
        </p:grpSpPr>
        <p:sp>
          <p:nvSpPr>
            <p:cNvPr id="89" name="Line 24"/>
            <p:cNvSpPr>
              <a:spLocks noChangeShapeType="1"/>
            </p:cNvSpPr>
            <p:nvPr/>
          </p:nvSpPr>
          <p:spPr bwMode="auto">
            <a:xfrm rot="16200000" flipV="1">
              <a:off x="3426" y="3431"/>
              <a:ext cx="237" cy="0"/>
            </a:xfrm>
            <a:prstGeom prst="line">
              <a:avLst/>
            </a:prstGeom>
            <a:noFill/>
            <a:ln w="19050">
              <a:solidFill>
                <a:srgbClr val="000000"/>
              </a:solidFill>
              <a:round/>
              <a:tailEnd type="triangle" w="med" len="me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90" name="Text Box 25"/>
            <p:cNvSpPr txBox="1">
              <a:spLocks noChangeArrowheads="1"/>
            </p:cNvSpPr>
            <p:nvPr/>
          </p:nvSpPr>
          <p:spPr bwMode="auto">
            <a:xfrm>
              <a:off x="3387" y="3566"/>
              <a:ext cx="349" cy="239"/>
            </a:xfrm>
            <a:prstGeom prst="rect">
              <a:avLst/>
            </a:prstGeom>
            <a:noFill/>
            <a:ln w="9525">
              <a:noFill/>
              <a:miter lim="800000"/>
            </a:ln>
          </p:spPr>
          <p:txBody>
            <a:bodyPr/>
            <a:p>
              <a:pPr marR="0" defTabSz="914400">
                <a:buClrTx/>
                <a:buSzTx/>
                <a:buFontTx/>
                <a:buNone/>
                <a:tabLst>
                  <a:tab pos="5273675" algn="r"/>
                </a:tabLst>
                <a:defRPr/>
              </a:pPr>
              <a:r>
                <a:rPr kumimoji="0" lang="en-US" altLang="zh-CN" b="0" kern="1200" cap="none" spc="0" normalizeH="0" baseline="0" noProof="0" dirty="0" err="1">
                  <a:solidFill>
                    <a:srgbClr val="FF0000"/>
                  </a:solidFill>
                  <a:latin typeface="+mn-lt"/>
                  <a:ea typeface="微软雅黑" panose="020B0503020204020204" pitchFamily="34" charset="-122"/>
                  <a:cs typeface="+mn-cs"/>
                </a:rPr>
                <a:t>m_top</a:t>
              </a:r>
              <a:endParaRPr kumimoji="0" lang="en-US" altLang="zh-CN" b="0" kern="1200" cap="none" spc="0" normalizeH="0" baseline="0" noProof="0" dirty="0" err="1">
                <a:solidFill>
                  <a:srgbClr val="FF0000"/>
                </a:solidFill>
                <a:latin typeface="+mn-lt"/>
                <a:ea typeface="微软雅黑" panose="020B0503020204020204" pitchFamily="34" charset="-122"/>
                <a:cs typeface="+mn-cs"/>
              </a:endParaRPr>
            </a:p>
          </p:txBody>
        </p:sp>
      </p:grpSp>
      <p:sp>
        <p:nvSpPr>
          <p:cNvPr id="91" name="Text Box 26"/>
          <p:cNvSpPr txBox="1"/>
          <p:nvPr>
            <p:custDataLst>
              <p:tags r:id="rId14"/>
            </p:custDataLst>
          </p:nvPr>
        </p:nvSpPr>
        <p:spPr>
          <a:xfrm>
            <a:off x="8148320" y="5073650"/>
            <a:ext cx="457200" cy="398780"/>
          </a:xfrm>
          <a:prstGeom prst="rect">
            <a:avLst/>
          </a:prstGeom>
          <a:noFill/>
          <a:ln w="9525">
            <a:noFill/>
          </a:ln>
        </p:spPr>
        <p:txBody>
          <a:bodyPr>
            <a:spAutoFit/>
          </a:bodyPr>
          <a:p>
            <a:pPr>
              <a:spcBef>
                <a:spcPct val="50000"/>
              </a:spcBef>
            </a:pPr>
            <a:r>
              <a:rPr lang="en-US" altLang="zh-CN" sz="2000">
                <a:solidFill>
                  <a:srgbClr val="FF0000"/>
                </a:solidFill>
                <a:latin typeface="微软雅黑" panose="020B0503020204020204" pitchFamily="34" charset="-122"/>
                <a:ea typeface="微软雅黑" panose="020B0503020204020204" pitchFamily="34" charset="-122"/>
              </a:rPr>
              <a:t>e</a:t>
            </a:r>
            <a:endParaRPr lang="en-US" altLang="zh-CN" sz="2000">
              <a:solidFill>
                <a:srgbClr val="FF0000"/>
              </a:solidFill>
              <a:latin typeface="微软雅黑" panose="020B0503020204020204" pitchFamily="34" charset="-122"/>
              <a:ea typeface="微软雅黑" panose="020B0503020204020204" pitchFamily="34" charset="-122"/>
            </a:endParaRPr>
          </a:p>
        </p:txBody>
      </p:sp>
      <p:sp>
        <p:nvSpPr>
          <p:cNvPr id="92" name="Text Box 27"/>
          <p:cNvSpPr txBox="1">
            <a:spLocks noChangeArrowheads="1"/>
          </p:cNvSpPr>
          <p:nvPr>
            <p:custDataLst>
              <p:tags r:id="rId15"/>
            </p:custDataLst>
          </p:nvPr>
        </p:nvSpPr>
        <p:spPr bwMode="auto">
          <a:xfrm>
            <a:off x="8696325" y="4997450"/>
            <a:ext cx="457200" cy="457200"/>
          </a:xfrm>
          <a:prstGeom prst="rect">
            <a:avLst/>
          </a:prstGeom>
          <a:noFill/>
          <a:ln w="9525">
            <a:noFill/>
            <a:miter lim="800000"/>
          </a:ln>
        </p:spPr>
        <p:txBody>
          <a:bodyPr>
            <a:spAutoFit/>
          </a:bodyPr>
          <a:p>
            <a:pPr marR="0" defTabSz="914400">
              <a:spcBef>
                <a:spcPct val="50000"/>
              </a:spcBef>
              <a:buClrTx/>
              <a:buSzTx/>
              <a:buFontTx/>
              <a:buNone/>
              <a:defRPr/>
            </a:pPr>
            <a:r>
              <a:rPr kumimoji="0" lang="en-US" altLang="zh-CN" sz="2400" b="0" kern="1200" cap="none" spc="0" normalizeH="0" baseline="0" noProof="0" dirty="0">
                <a:solidFill>
                  <a:schemeClr val="tx1"/>
                </a:solidFill>
                <a:latin typeface="+mn-lt"/>
                <a:ea typeface="微软雅黑" panose="020B0503020204020204" pitchFamily="34" charset="-122"/>
                <a:cs typeface="+mn-cs"/>
              </a:rPr>
              <a:t>…</a:t>
            </a:r>
            <a:endParaRPr kumimoji="0" lang="en-US" altLang="zh-CN" sz="2400" b="0" kern="1200" cap="none" spc="0" normalizeH="0" baseline="0" noProof="0" dirty="0">
              <a:solidFill>
                <a:schemeClr val="tx1"/>
              </a:solidFill>
              <a:latin typeface="+mn-lt"/>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dissolve">
                                      <p:cBhvr>
                                        <p:cTn id="7" dur="500"/>
                                        <p:tgtEl>
                                          <p:spTgt spid="7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92"/>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71"/>
                                        </p:tgtEl>
                                        <p:attrNameLst>
                                          <p:attrName>style.visibility</p:attrName>
                                        </p:attrNameLst>
                                      </p:cBhvr>
                                      <p:to>
                                        <p:strVal val="visible"/>
                                      </p:to>
                                    </p:set>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91"/>
                                        </p:tgtEl>
                                        <p:attrNameLst>
                                          <p:attrName>style.visibility</p:attrName>
                                        </p:attrNameLst>
                                      </p:cBhvr>
                                      <p:to>
                                        <p:strVal val="visible"/>
                                      </p:to>
                                    </p:set>
                                    <p:anim calcmode="lin" valueType="num">
                                      <p:cBhvr additive="base">
                                        <p:cTn id="18" dur="500" fill="hold"/>
                                        <p:tgtEl>
                                          <p:spTgt spid="91"/>
                                        </p:tgtEl>
                                        <p:attrNameLst>
                                          <p:attrName>ppt_x</p:attrName>
                                        </p:attrNameLst>
                                      </p:cBhvr>
                                      <p:tavLst>
                                        <p:tav tm="0">
                                          <p:val>
                                            <p:strVal val="1+#ppt_w/2"/>
                                          </p:val>
                                        </p:tav>
                                        <p:tav tm="100000">
                                          <p:val>
                                            <p:strVal val="#ppt_x"/>
                                          </p:val>
                                        </p:tav>
                                      </p:tavLst>
                                    </p:anim>
                                    <p:anim calcmode="lin" valueType="num">
                                      <p:cBhvr additive="base">
                                        <p:cTn id="19" dur="500" fill="hold"/>
                                        <p:tgtEl>
                                          <p:spTgt spid="91"/>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2" presetClass="entr" presetSubtype="8" fill="hold" nodeType="after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slide(fromLeft)">
                                      <p:cBhvr>
                                        <p:cTn id="23"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lstStyle/>
          <a:p>
            <a:r>
              <a:rPr sz="3600" b="1" dirty="0">
                <a:solidFill>
                  <a:schemeClr val="bg1"/>
                </a:solidFill>
                <a:latin typeface="微软雅黑" panose="020B0503020204020204" pitchFamily="34" charset="-122"/>
                <a:ea typeface="微软雅黑" panose="020B0503020204020204" pitchFamily="34" charset="-122"/>
              </a:rPr>
              <a:t>顺序栈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8229600" cy="685800"/>
          </a:xfrm>
        </p:spPr>
        <p:txBody>
          <a:bodyPr vert="horz" wrap="square" lIns="91440" tIns="45720" rIns="91440" bIns="45720" anchor="t" anchorCtr="0"/>
          <a:p>
            <a:pPr>
              <a:buNone/>
            </a:pPr>
            <a:r>
              <a:rPr lang="en-US" altLang="zh-CN">
                <a:cs typeface="微软雅黑" panose="020B0503020204020204" pitchFamily="34" charset="-122"/>
              </a:rPr>
              <a:t>8. </a:t>
            </a:r>
            <a:r>
              <a:rPr lang="zh-CN" altLang="en-US">
                <a:cs typeface="微软雅黑" panose="020B0503020204020204" pitchFamily="34" charset="-122"/>
              </a:rPr>
              <a:t>出栈</a:t>
            </a:r>
            <a:endParaRPr lang="zh-CN" altLang="en-US">
              <a:cs typeface="微软雅黑" panose="020B0503020204020204" pitchFamily="34" charset="-122"/>
            </a:endParaRPr>
          </a:p>
        </p:txBody>
      </p:sp>
      <p:graphicFrame>
        <p:nvGraphicFramePr>
          <p:cNvPr id="3" name="表格 2"/>
          <p:cNvGraphicFramePr>
            <a:graphicFrameLocks noGrp="1"/>
          </p:cNvGraphicFramePr>
          <p:nvPr/>
        </p:nvGraphicFramePr>
        <p:xfrm>
          <a:off x="1750695" y="2082165"/>
          <a:ext cx="6781800" cy="1752600"/>
        </p:xfrm>
        <a:graphic>
          <a:graphicData uri="http://schemas.openxmlformats.org/drawingml/2006/table">
            <a:tbl>
              <a:tblPr/>
              <a:tblGrid>
                <a:gridCol w="6781800"/>
              </a:tblGrid>
              <a:tr h="175260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出栈，弹出栈顶元素。先决条件是栈不空</a:t>
                      </a:r>
                      <a:endParaRPr kumimoji="0" 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void SqStack &lt;ElemType&gt;::Pop()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m_top--;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grpSp>
        <p:nvGrpSpPr>
          <p:cNvPr id="5" name="Group 21"/>
          <p:cNvGrpSpPr/>
          <p:nvPr/>
        </p:nvGrpSpPr>
        <p:grpSpPr>
          <a:xfrm>
            <a:off x="5758229" y="5060633"/>
            <a:ext cx="1129030" cy="687706"/>
            <a:chOff x="3950" y="3313"/>
            <a:chExt cx="711" cy="433"/>
          </a:xfrm>
        </p:grpSpPr>
        <p:sp>
          <p:nvSpPr>
            <p:cNvPr id="9" name="Line 12"/>
            <p:cNvSpPr>
              <a:spLocks noChangeShapeType="1"/>
            </p:cNvSpPr>
            <p:nvPr/>
          </p:nvSpPr>
          <p:spPr bwMode="auto">
            <a:xfrm rot="16200000" flipV="1">
              <a:off x="4058" y="3431"/>
              <a:ext cx="237" cy="0"/>
            </a:xfrm>
            <a:prstGeom prst="line">
              <a:avLst/>
            </a:prstGeom>
            <a:noFill/>
            <a:ln w="19050">
              <a:solidFill>
                <a:srgbClr val="000000"/>
              </a:solidFill>
              <a:round/>
              <a:tailEnd type="triangle" w="med" len="me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10" name="Text Box 14"/>
            <p:cNvSpPr txBox="1">
              <a:spLocks noChangeArrowheads="1"/>
            </p:cNvSpPr>
            <p:nvPr/>
          </p:nvSpPr>
          <p:spPr bwMode="auto">
            <a:xfrm>
              <a:off x="3950" y="3507"/>
              <a:ext cx="711" cy="239"/>
            </a:xfrm>
            <a:prstGeom prst="rect">
              <a:avLst/>
            </a:prstGeom>
            <a:noFill/>
            <a:ln w="9525">
              <a:noFill/>
              <a:miter lim="800000"/>
            </a:ln>
          </p:spPr>
          <p:txBody>
            <a:bodyPr/>
            <a:p>
              <a:pPr marR="0" defTabSz="914400">
                <a:buClrTx/>
                <a:buSzTx/>
                <a:buFontTx/>
                <a:buNone/>
                <a:tabLst>
                  <a:tab pos="5273675" algn="r"/>
                </a:tabLst>
                <a:defRPr/>
              </a:pPr>
              <a:r>
                <a:rPr kumimoji="0" lang="en-US" altLang="zh-CN" sz="2000" b="0" kern="1200" cap="none" spc="0" normalizeH="0" baseline="0" noProof="0" dirty="0" err="1">
                  <a:solidFill>
                    <a:srgbClr val="FF0000"/>
                  </a:solidFill>
                  <a:latin typeface="+mn-lt"/>
                  <a:ea typeface="微软雅黑" panose="020B0503020204020204" pitchFamily="34" charset="-122"/>
                  <a:cs typeface="+mn-cs"/>
                </a:rPr>
                <a:t>m_top</a:t>
              </a:r>
              <a:endParaRPr kumimoji="0" lang="en-US" altLang="zh-CN" sz="2400" b="0" kern="1200" cap="none" spc="0" normalizeH="0" baseline="0" noProof="0" dirty="0">
                <a:solidFill>
                  <a:srgbClr val="FFFFFF"/>
                </a:solidFill>
                <a:latin typeface="+mn-lt"/>
                <a:ea typeface="微软雅黑" panose="020B0503020204020204" pitchFamily="34" charset="-122"/>
                <a:cs typeface="+mn-cs"/>
              </a:endParaRPr>
            </a:p>
          </p:txBody>
        </p:sp>
      </p:grpSp>
      <p:grpSp>
        <p:nvGrpSpPr>
          <p:cNvPr id="11" name="Group 26"/>
          <p:cNvGrpSpPr/>
          <p:nvPr/>
        </p:nvGrpSpPr>
        <p:grpSpPr>
          <a:xfrm>
            <a:off x="2764155" y="4373245"/>
            <a:ext cx="4878705" cy="1308403"/>
            <a:chOff x="2112" y="2880"/>
            <a:chExt cx="3073" cy="824"/>
          </a:xfrm>
        </p:grpSpPr>
        <p:sp>
          <p:nvSpPr>
            <p:cNvPr id="12" name="Rectangle 5"/>
            <p:cNvSpPr>
              <a:spLocks noChangeArrowheads="1"/>
            </p:cNvSpPr>
            <p:nvPr/>
          </p:nvSpPr>
          <p:spPr bwMode="auto">
            <a:xfrm rot="5400000">
              <a:off x="3513" y="1638"/>
              <a:ext cx="414" cy="2929"/>
            </a:xfrm>
            <a:prstGeom prst="rect">
              <a:avLst/>
            </a:prstGeom>
            <a:solidFill>
              <a:srgbClr val="FFFFFF"/>
            </a:solidFill>
            <a:ln w="9525">
              <a:solidFill>
                <a:srgbClr val="000000"/>
              </a:solidFill>
              <a:miter lim="800000"/>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13" name="Line 6"/>
            <p:cNvSpPr>
              <a:spLocks noChangeShapeType="1"/>
            </p:cNvSpPr>
            <p:nvPr/>
          </p:nvSpPr>
          <p:spPr bwMode="auto">
            <a:xfrm rot="5400000">
              <a:off x="2450"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14" name="Line 7"/>
            <p:cNvSpPr>
              <a:spLocks noChangeShapeType="1"/>
            </p:cNvSpPr>
            <p:nvPr/>
          </p:nvSpPr>
          <p:spPr bwMode="auto">
            <a:xfrm rot="5400000">
              <a:off x="2852"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15" name="Line 8"/>
            <p:cNvSpPr>
              <a:spLocks noChangeShapeType="1"/>
            </p:cNvSpPr>
            <p:nvPr/>
          </p:nvSpPr>
          <p:spPr bwMode="auto">
            <a:xfrm rot="5400000">
              <a:off x="3856"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16" name="Text Box 9"/>
            <p:cNvSpPr txBox="1">
              <a:spLocks noChangeArrowheads="1"/>
            </p:cNvSpPr>
            <p:nvPr/>
          </p:nvSpPr>
          <p:spPr bwMode="auto">
            <a:xfrm>
              <a:off x="2352" y="2929"/>
              <a:ext cx="355" cy="237"/>
            </a:xfrm>
            <a:prstGeom prst="rect">
              <a:avLst/>
            </a:prstGeom>
            <a:noFill/>
            <a:ln w="9525">
              <a:noFill/>
              <a:miter lim="800000"/>
            </a:ln>
          </p:spPr>
          <p:txBody>
            <a:bodyPr/>
            <a:p>
              <a:pPr marR="0" algn="just" defTabSz="914400">
                <a:buClrTx/>
                <a:buSzTx/>
                <a:buFontTx/>
                <a:buNone/>
                <a:defRPr/>
              </a:pPr>
              <a:r>
                <a:rPr kumimoji="0" lang="en-US" altLang="zh-CN" sz="2400" b="0" kern="1200" cap="none" spc="0" normalizeH="0" baseline="0" noProof="0">
                  <a:solidFill>
                    <a:schemeClr val="tx1"/>
                  </a:solidFill>
                  <a:latin typeface="+mn-lt"/>
                  <a:ea typeface="微软雅黑" panose="020B0503020204020204" pitchFamily="34" charset="-122"/>
                  <a:cs typeface="+mn-cs"/>
                </a:rPr>
                <a:t>a</a:t>
              </a:r>
              <a:r>
                <a:rPr kumimoji="0" lang="en-US" altLang="zh-CN" sz="2400" b="0" kern="1200" cap="none" spc="0" normalizeH="0" baseline="-30000" noProof="0">
                  <a:solidFill>
                    <a:schemeClr val="tx1"/>
                  </a:solidFill>
                  <a:latin typeface="+mn-lt"/>
                  <a:ea typeface="微软雅黑" panose="020B0503020204020204" pitchFamily="34" charset="-122"/>
                  <a:cs typeface="+mn-cs"/>
                </a:rPr>
                <a:t>1</a:t>
              </a:r>
              <a:endParaRPr kumimoji="0" lang="en-US" altLang="zh-CN" sz="2400" b="0" kern="1200" cap="none" spc="0" normalizeH="0" baseline="0" noProof="0">
                <a:solidFill>
                  <a:schemeClr val="tx1"/>
                </a:solidFill>
                <a:latin typeface="+mn-lt"/>
                <a:ea typeface="微软雅黑" panose="020B0503020204020204" pitchFamily="34" charset="-122"/>
                <a:cs typeface="+mn-cs"/>
              </a:endParaRPr>
            </a:p>
          </p:txBody>
        </p:sp>
        <p:sp>
          <p:nvSpPr>
            <p:cNvPr id="17" name="Text Box 10"/>
            <p:cNvSpPr txBox="1">
              <a:spLocks noChangeArrowheads="1"/>
            </p:cNvSpPr>
            <p:nvPr/>
          </p:nvSpPr>
          <p:spPr bwMode="auto">
            <a:xfrm>
              <a:off x="2736" y="2929"/>
              <a:ext cx="355" cy="225"/>
            </a:xfrm>
            <a:prstGeom prst="rect">
              <a:avLst/>
            </a:prstGeom>
            <a:noFill/>
            <a:ln w="9525">
              <a:noFill/>
              <a:miter lim="800000"/>
            </a:ln>
          </p:spPr>
          <p:txBody>
            <a:bodyPr/>
            <a:p>
              <a:pPr marR="0" algn="just" defTabSz="914400">
                <a:buClrTx/>
                <a:buSzTx/>
                <a:buFontTx/>
                <a:buNone/>
                <a:defRPr/>
              </a:pPr>
              <a:r>
                <a:rPr kumimoji="0" lang="en-US" altLang="zh-CN" sz="2400" b="0" kern="1200" cap="none" spc="0" normalizeH="0" baseline="0" noProof="0" dirty="0">
                  <a:solidFill>
                    <a:schemeClr val="tx1"/>
                  </a:solidFill>
                  <a:latin typeface="+mn-lt"/>
                  <a:ea typeface="微软雅黑" panose="020B0503020204020204" pitchFamily="34" charset="-122"/>
                  <a:cs typeface="+mn-cs"/>
                </a:rPr>
                <a:t>a</a:t>
              </a:r>
              <a:r>
                <a:rPr kumimoji="0" lang="en-US" altLang="zh-CN" sz="2400" b="0" kern="1200" cap="none" spc="0" normalizeH="0" baseline="-30000" noProof="0" dirty="0">
                  <a:solidFill>
                    <a:schemeClr val="tx1"/>
                  </a:solidFill>
                  <a:latin typeface="+mn-lt"/>
                  <a:ea typeface="微软雅黑" panose="020B0503020204020204" pitchFamily="34" charset="-122"/>
                  <a:cs typeface="+mn-cs"/>
                </a:rPr>
                <a:t>2</a:t>
              </a:r>
              <a:endParaRPr kumimoji="0" lang="en-US" altLang="zh-CN" sz="2400" b="0" kern="1200" cap="none" spc="0" normalizeH="0" baseline="0" noProof="0" dirty="0">
                <a:solidFill>
                  <a:schemeClr val="tx1"/>
                </a:solidFill>
                <a:latin typeface="+mn-lt"/>
                <a:ea typeface="微软雅黑" panose="020B0503020204020204" pitchFamily="34" charset="-122"/>
                <a:cs typeface="+mn-cs"/>
              </a:endParaRPr>
            </a:p>
          </p:txBody>
        </p:sp>
        <p:sp>
          <p:nvSpPr>
            <p:cNvPr id="18" name="Text Box 11"/>
            <p:cNvSpPr txBox="1">
              <a:spLocks noChangeArrowheads="1"/>
            </p:cNvSpPr>
            <p:nvPr/>
          </p:nvSpPr>
          <p:spPr bwMode="auto">
            <a:xfrm>
              <a:off x="3744" y="2929"/>
              <a:ext cx="355" cy="336"/>
            </a:xfrm>
            <a:prstGeom prst="rect">
              <a:avLst/>
            </a:prstGeom>
            <a:noFill/>
            <a:ln w="9525">
              <a:noFill/>
              <a:miter lim="800000"/>
            </a:ln>
          </p:spPr>
          <p:txBody>
            <a:bodyPr/>
            <a:p>
              <a:pPr marR="0" algn="just" defTabSz="914400">
                <a:buClrTx/>
                <a:buSzTx/>
                <a:buFontTx/>
                <a:buNone/>
                <a:defRPr/>
              </a:pPr>
              <a:r>
                <a:rPr kumimoji="0" lang="en-US" altLang="zh-CN" sz="2400" b="0" kern="1200" cap="none" spc="0" normalizeH="0" baseline="0" noProof="0" dirty="0">
                  <a:solidFill>
                    <a:schemeClr val="tx1"/>
                  </a:solidFill>
                  <a:latin typeface="+mn-lt"/>
                  <a:ea typeface="微软雅黑" panose="020B0503020204020204" pitchFamily="34" charset="-122"/>
                  <a:cs typeface="+mn-cs"/>
                </a:rPr>
                <a:t>a</a:t>
              </a:r>
              <a:r>
                <a:rPr kumimoji="0" lang="en-US" altLang="zh-CN" sz="2400" b="0" kern="1200" cap="none" spc="0" normalizeH="0" baseline="-30000" noProof="0" dirty="0">
                  <a:solidFill>
                    <a:schemeClr val="tx1"/>
                  </a:solidFill>
                  <a:latin typeface="+mn-lt"/>
                  <a:ea typeface="微软雅黑" panose="020B0503020204020204" pitchFamily="34" charset="-122"/>
                  <a:cs typeface="+mn-cs"/>
                </a:rPr>
                <a:t>n</a:t>
              </a:r>
              <a:endParaRPr kumimoji="0" lang="en-US" altLang="zh-CN" sz="2400" b="0" kern="1200" cap="none" spc="0" normalizeH="0" baseline="0" noProof="0" dirty="0">
                <a:solidFill>
                  <a:schemeClr val="tx1"/>
                </a:solidFill>
                <a:latin typeface="+mn-lt"/>
                <a:ea typeface="微软雅黑" panose="020B0503020204020204" pitchFamily="34" charset="-122"/>
                <a:cs typeface="+mn-cs"/>
              </a:endParaRPr>
            </a:p>
          </p:txBody>
        </p:sp>
        <p:sp>
          <p:nvSpPr>
            <p:cNvPr id="19" name="Line 13"/>
            <p:cNvSpPr>
              <a:spLocks noChangeShapeType="1"/>
            </p:cNvSpPr>
            <p:nvPr/>
          </p:nvSpPr>
          <p:spPr bwMode="auto">
            <a:xfrm rot="-5400000">
              <a:off x="2334" y="3428"/>
              <a:ext cx="231" cy="0"/>
            </a:xfrm>
            <a:prstGeom prst="line">
              <a:avLst/>
            </a:prstGeom>
            <a:noFill/>
            <a:ln w="19050">
              <a:solidFill>
                <a:srgbClr val="000000"/>
              </a:solidFill>
              <a:round/>
              <a:tailEnd type="triangle" w="med" len="me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20" name="Text Box 15"/>
            <p:cNvSpPr txBox="1">
              <a:spLocks noChangeArrowheads="1"/>
            </p:cNvSpPr>
            <p:nvPr/>
          </p:nvSpPr>
          <p:spPr bwMode="auto">
            <a:xfrm>
              <a:off x="2112" y="3504"/>
              <a:ext cx="834" cy="200"/>
            </a:xfrm>
            <a:prstGeom prst="rect">
              <a:avLst/>
            </a:prstGeom>
            <a:noFill/>
            <a:ln w="9525">
              <a:noFill/>
              <a:miter lim="800000"/>
            </a:ln>
          </p:spPr>
          <p:txBody>
            <a:bodyPr/>
            <a:p>
              <a:pPr marR="0" defTabSz="914400">
                <a:buClrTx/>
                <a:buSzTx/>
                <a:buFontTx/>
                <a:buNone/>
                <a:tabLst>
                  <a:tab pos="5273675" algn="r"/>
                </a:tabLst>
                <a:defRPr/>
              </a:pPr>
              <a:r>
                <a:rPr kumimoji="0" lang="en-US" altLang="zh-CN" sz="2000" b="0" kern="1200" cap="none" spc="0" normalizeH="0" baseline="0" noProof="0" dirty="0" err="1">
                  <a:solidFill>
                    <a:srgbClr val="FF0000"/>
                  </a:solidFill>
                  <a:latin typeface="+mn-lt"/>
                  <a:ea typeface="微软雅黑" panose="020B0503020204020204" pitchFamily="34" charset="-122"/>
                  <a:cs typeface="+mn-cs"/>
                </a:rPr>
                <a:t>m_base</a:t>
              </a:r>
              <a:endParaRPr kumimoji="0" lang="en-US" altLang="zh-CN" sz="2000" b="0" kern="1200" cap="none" spc="0" normalizeH="0" baseline="0" noProof="0" dirty="0">
                <a:solidFill>
                  <a:srgbClr val="FF0000"/>
                </a:solidFill>
                <a:latin typeface="+mn-lt"/>
                <a:ea typeface="微软雅黑" panose="020B0503020204020204" pitchFamily="34" charset="-122"/>
                <a:cs typeface="+mn-cs"/>
              </a:endParaRPr>
            </a:p>
            <a:p>
              <a:pPr marR="0" defTabSz="914400">
                <a:buClrTx/>
                <a:buSzTx/>
                <a:buFontTx/>
                <a:buNone/>
                <a:tabLst>
                  <a:tab pos="5273675" algn="r"/>
                </a:tabLst>
                <a:defRPr/>
              </a:pPr>
              <a:endParaRPr kumimoji="0" lang="en-US" altLang="zh-CN" sz="2400" b="0" kern="1200" cap="none" spc="0" normalizeH="0" baseline="0" noProof="0" dirty="0">
                <a:solidFill>
                  <a:srgbClr val="FF0000"/>
                </a:solidFill>
                <a:latin typeface="+mn-lt"/>
                <a:ea typeface="微软雅黑" panose="020B0503020204020204" pitchFamily="34" charset="-122"/>
                <a:cs typeface="+mn-cs"/>
              </a:endParaRPr>
            </a:p>
          </p:txBody>
        </p:sp>
        <p:sp>
          <p:nvSpPr>
            <p:cNvPr id="21" name="Text Box 16"/>
            <p:cNvSpPr txBox="1">
              <a:spLocks noChangeArrowheads="1"/>
            </p:cNvSpPr>
            <p:nvPr/>
          </p:nvSpPr>
          <p:spPr bwMode="auto">
            <a:xfrm rot="5400000">
              <a:off x="3110" y="2987"/>
              <a:ext cx="356" cy="336"/>
            </a:xfrm>
            <a:prstGeom prst="rect">
              <a:avLst/>
            </a:prstGeom>
            <a:noFill/>
            <a:ln w="9525">
              <a:noFill/>
              <a:miter lim="800000"/>
            </a:ln>
          </p:spPr>
          <p:txBody>
            <a:bodyPr vert="eaVert"/>
            <a:p>
              <a:pPr marR="0" algn="just" defTabSz="914400">
                <a:buClrTx/>
                <a:buSzTx/>
                <a:buFontTx/>
                <a:buNone/>
                <a:defRPr/>
              </a:pPr>
              <a:r>
                <a:rPr kumimoji="0" lang="en-US" altLang="zh-CN" sz="2400" b="0" kern="1200" cap="none" spc="0" normalizeH="0" baseline="0" noProof="0" dirty="0">
                  <a:solidFill>
                    <a:schemeClr val="tx1"/>
                  </a:solidFill>
                  <a:latin typeface="+mn-lt"/>
                  <a:ea typeface="微软雅黑" panose="020B0503020204020204" pitchFamily="34" charset="-122"/>
                  <a:cs typeface="+mn-cs"/>
                </a:rPr>
                <a:t>…</a:t>
              </a:r>
              <a:endParaRPr kumimoji="0" lang="en-US" altLang="zh-CN" sz="2400" b="0" kern="1200" cap="none" spc="0" normalizeH="0" baseline="0" noProof="0" dirty="0">
                <a:solidFill>
                  <a:schemeClr val="tx1"/>
                </a:solidFill>
                <a:latin typeface="+mn-lt"/>
                <a:ea typeface="微软雅黑" panose="020B0503020204020204" pitchFamily="34" charset="-122"/>
                <a:cs typeface="+mn-cs"/>
              </a:endParaRPr>
            </a:p>
          </p:txBody>
        </p:sp>
        <p:sp>
          <p:nvSpPr>
            <p:cNvPr id="22" name="Line 18"/>
            <p:cNvSpPr>
              <a:spLocks noChangeShapeType="1"/>
            </p:cNvSpPr>
            <p:nvPr/>
          </p:nvSpPr>
          <p:spPr bwMode="auto">
            <a:xfrm rot="5400000">
              <a:off x="3489"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23" name="Line 19"/>
            <p:cNvSpPr>
              <a:spLocks noChangeShapeType="1"/>
            </p:cNvSpPr>
            <p:nvPr/>
          </p:nvSpPr>
          <p:spPr bwMode="auto">
            <a:xfrm rot="5400000">
              <a:off x="4209" y="3087"/>
              <a:ext cx="414" cy="0"/>
            </a:xfrm>
            <a:prstGeom prst="line">
              <a:avLst/>
            </a:prstGeom>
            <a:noFill/>
            <a:ln w="9525">
              <a:solidFill>
                <a:srgbClr val="000000"/>
              </a:solidFill>
              <a:roun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24" name="Text Box 20"/>
            <p:cNvSpPr txBox="1">
              <a:spLocks noChangeArrowheads="1"/>
            </p:cNvSpPr>
            <p:nvPr/>
          </p:nvSpPr>
          <p:spPr bwMode="auto">
            <a:xfrm>
              <a:off x="4656" y="2880"/>
              <a:ext cx="384" cy="288"/>
            </a:xfrm>
            <a:prstGeom prst="rect">
              <a:avLst/>
            </a:prstGeom>
            <a:noFill/>
            <a:ln w="9525">
              <a:noFill/>
              <a:miter lim="800000"/>
            </a:ln>
          </p:spPr>
          <p:txBody>
            <a:bodyPr>
              <a:spAutoFit/>
            </a:bodyPr>
            <a:p>
              <a:pPr marR="0" defTabSz="914400">
                <a:spcBef>
                  <a:spcPct val="50000"/>
                </a:spcBef>
                <a:buClrTx/>
                <a:buSzTx/>
                <a:buFontTx/>
                <a:buNone/>
                <a:defRPr/>
              </a:pPr>
              <a:r>
                <a:rPr kumimoji="0" lang="en-US" altLang="zh-CN" sz="2400" kern="1200" cap="none" spc="0" normalizeH="0" baseline="0" noProof="0">
                  <a:solidFill>
                    <a:srgbClr val="FFFFFF"/>
                  </a:solidFill>
                  <a:latin typeface="+mn-lt"/>
                  <a:ea typeface="微软雅黑" panose="020B0503020204020204" pitchFamily="34" charset="-122"/>
                  <a:cs typeface="+mn-cs"/>
                </a:rPr>
                <a:t>…</a:t>
              </a:r>
              <a:endParaRPr kumimoji="0" lang="en-US" altLang="zh-CN" sz="2400" kern="1200" cap="none" spc="0" normalizeH="0" baseline="0" noProof="0">
                <a:solidFill>
                  <a:srgbClr val="FFFFFF"/>
                </a:solidFill>
                <a:latin typeface="+mn-lt"/>
                <a:ea typeface="微软雅黑" panose="020B0503020204020204" pitchFamily="34" charset="-122"/>
                <a:cs typeface="+mn-cs"/>
              </a:endParaRPr>
            </a:p>
          </p:txBody>
        </p:sp>
      </p:grpSp>
      <p:grpSp>
        <p:nvGrpSpPr>
          <p:cNvPr id="25" name="Group 23"/>
          <p:cNvGrpSpPr/>
          <p:nvPr/>
        </p:nvGrpSpPr>
        <p:grpSpPr>
          <a:xfrm>
            <a:off x="4856447" y="5060633"/>
            <a:ext cx="1129030" cy="682942"/>
            <a:chOff x="3766" y="3313"/>
            <a:chExt cx="711" cy="430"/>
          </a:xfrm>
        </p:grpSpPr>
        <p:sp>
          <p:nvSpPr>
            <p:cNvPr id="26" name="Line 24"/>
            <p:cNvSpPr>
              <a:spLocks noChangeShapeType="1"/>
            </p:cNvSpPr>
            <p:nvPr/>
          </p:nvSpPr>
          <p:spPr bwMode="auto">
            <a:xfrm rot="16200000" flipV="1">
              <a:off x="4058" y="3431"/>
              <a:ext cx="237" cy="0"/>
            </a:xfrm>
            <a:prstGeom prst="line">
              <a:avLst/>
            </a:prstGeom>
            <a:noFill/>
            <a:ln w="19050">
              <a:solidFill>
                <a:srgbClr val="000000"/>
              </a:solidFill>
              <a:round/>
              <a:tailEnd type="triangle" w="med" len="med"/>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微软雅黑" panose="020B0503020204020204" pitchFamily="34" charset="-122"/>
                <a:cs typeface="+mn-cs"/>
              </a:endParaRPr>
            </a:p>
          </p:txBody>
        </p:sp>
        <p:sp>
          <p:nvSpPr>
            <p:cNvPr id="27" name="Text Box 25"/>
            <p:cNvSpPr txBox="1">
              <a:spLocks noChangeArrowheads="1"/>
            </p:cNvSpPr>
            <p:nvPr/>
          </p:nvSpPr>
          <p:spPr bwMode="auto">
            <a:xfrm>
              <a:off x="3766" y="3504"/>
              <a:ext cx="711" cy="239"/>
            </a:xfrm>
            <a:prstGeom prst="rect">
              <a:avLst/>
            </a:prstGeom>
            <a:noFill/>
            <a:ln w="9525">
              <a:noFill/>
              <a:miter lim="800000"/>
            </a:ln>
          </p:spPr>
          <p:txBody>
            <a:bodyPr/>
            <a:p>
              <a:pPr marR="0" defTabSz="914400">
                <a:buClrTx/>
                <a:buSzTx/>
                <a:buFontTx/>
                <a:buNone/>
                <a:tabLst>
                  <a:tab pos="5273675" algn="r"/>
                </a:tabLst>
                <a:defRPr/>
              </a:pPr>
              <a:r>
                <a:rPr kumimoji="0" lang="en-US" altLang="zh-CN" sz="2000" b="0" kern="1200" cap="none" spc="0" normalizeH="0" baseline="0" noProof="0" dirty="0" err="1">
                  <a:solidFill>
                    <a:srgbClr val="FF0000"/>
                  </a:solidFill>
                  <a:latin typeface="+mn-lt"/>
                  <a:ea typeface="微软雅黑" panose="020B0503020204020204" pitchFamily="34" charset="-122"/>
                  <a:cs typeface="+mn-cs"/>
                </a:rPr>
                <a:t>m_top</a:t>
              </a:r>
              <a:endParaRPr kumimoji="0" lang="en-US" altLang="zh-CN" sz="2400" b="0" kern="1200" cap="none" spc="0" normalizeH="0" baseline="0" noProof="0" dirty="0">
                <a:solidFill>
                  <a:srgbClr val="FFFFFF"/>
                </a:solidFill>
                <a:latin typeface="+mn-lt"/>
                <a:ea typeface="微软雅黑" panose="020B0503020204020204" pitchFamily="34"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2" presetClass="entr" presetSubtype="2"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slide(fromRight)">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538605"/>
            <a:ext cx="10616565" cy="4952365"/>
          </a:xfrm>
        </p:spPr>
        <p:txBody>
          <a:bodyPr vert="horz" wrap="square" lIns="91440" tIns="45720" rIns="91440" bIns="45720" anchor="t" anchorCtr="0">
            <a:normAutofit/>
          </a:bodyPr>
          <a:p>
            <a:pPr fontAlgn="auto">
              <a:lnSpc>
                <a:spcPct val="125000"/>
              </a:lnSpc>
              <a:buNone/>
            </a:pPr>
            <a:r>
              <a:rPr lang="en-US" altLang="zh-CN">
                <a:sym typeface="+mn-ea"/>
              </a:rPr>
              <a:t>       </a:t>
            </a:r>
            <a:r>
              <a:rPr lang="zh-CN" altLang="zh-CN" sz="2000" dirty="0">
                <a:cs typeface="微软雅黑" panose="020B0503020204020204" pitchFamily="34" charset="-122"/>
                <a:sym typeface="+mn-ea"/>
              </a:rPr>
              <a:t>在链栈中，由于元素的存储空间是在需要时通过</a:t>
            </a:r>
            <a:r>
              <a:rPr lang="en-US" altLang="zh-CN" sz="2000">
                <a:cs typeface="微软雅黑" panose="020B0503020204020204" pitchFamily="34" charset="-122"/>
                <a:sym typeface="+mn-ea"/>
              </a:rPr>
              <a:t>new</a:t>
            </a:r>
            <a:r>
              <a:rPr lang="zh-CN" altLang="zh-CN" sz="2000" dirty="0">
                <a:cs typeface="微软雅黑" panose="020B0503020204020204" pitchFamily="34" charset="-122"/>
                <a:sym typeface="+mn-ea"/>
              </a:rPr>
              <a:t>运算符动态分配的，因此，正常情况下，不会出现栈满的情形，除非内存中没有空闲的存储空间可供分配。</a:t>
            </a:r>
            <a:endParaRPr lang="en-US" altLang="zh-CN" sz="2000">
              <a:cs typeface="微软雅黑" panose="020B0503020204020204" pitchFamily="34" charset="-122"/>
            </a:endParaRPr>
          </a:p>
          <a:p>
            <a:pPr fontAlgn="auto">
              <a:lnSpc>
                <a:spcPct val="125000"/>
              </a:lnSpc>
              <a:buNone/>
            </a:pPr>
            <a:endParaRPr lang="en-US" altLang="zh-CN" sz="2000">
              <a:cs typeface="微软雅黑" panose="020B0503020204020204" pitchFamily="34" charset="-122"/>
            </a:endParaRPr>
          </a:p>
          <a:p>
            <a:pPr fontAlgn="auto">
              <a:lnSpc>
                <a:spcPct val="125000"/>
              </a:lnSpc>
              <a:buNone/>
            </a:pPr>
            <a:r>
              <a:rPr lang="en-US" altLang="zh-CN" sz="2000" dirty="0">
                <a:cs typeface="微软雅黑" panose="020B0503020204020204" pitchFamily="34" charset="-122"/>
                <a:sym typeface="+mn-ea"/>
              </a:rPr>
              <a:t>        </a:t>
            </a:r>
            <a:r>
              <a:rPr lang="zh-CN" altLang="zh-CN" sz="2000" dirty="0">
                <a:cs typeface="微软雅黑" panose="020B0503020204020204" pitchFamily="34" charset="-122"/>
                <a:sym typeface="+mn-ea"/>
              </a:rPr>
              <a:t>在链栈的操作中，栈的销毁、清空、求长度操作的时间复杂度为</a:t>
            </a:r>
            <a:r>
              <a:rPr lang="en-US" altLang="zh-CN" sz="2000" i="1" err="1">
                <a:solidFill>
                  <a:schemeClr val="accent1"/>
                </a:solidFill>
                <a:cs typeface="微软雅黑" panose="020B0503020204020204" pitchFamily="34" charset="-122"/>
                <a:sym typeface="+mn-ea"/>
              </a:rPr>
              <a:t>O</a:t>
            </a:r>
            <a:r>
              <a:rPr lang="en-US" altLang="zh-CN" sz="2000" err="1">
                <a:solidFill>
                  <a:schemeClr val="accent1"/>
                </a:solidFill>
                <a:cs typeface="微软雅黑" panose="020B0503020204020204" pitchFamily="34" charset="-122"/>
                <a:sym typeface="+mn-ea"/>
              </a:rPr>
              <a:t>(</a:t>
            </a:r>
            <a:r>
              <a:rPr lang="en-US" altLang="zh-CN" sz="2000" i="1" err="1">
                <a:solidFill>
                  <a:schemeClr val="accent1"/>
                </a:solidFill>
                <a:cs typeface="微软雅黑" panose="020B0503020204020204" pitchFamily="34" charset="-122"/>
                <a:sym typeface="+mn-ea"/>
              </a:rPr>
              <a:t>n</a:t>
            </a:r>
            <a:r>
              <a:rPr lang="en-US" altLang="zh-CN" sz="2000">
                <a:solidFill>
                  <a:schemeClr val="accent1"/>
                </a:solidFill>
                <a:cs typeface="微软雅黑" panose="020B0503020204020204" pitchFamily="34" charset="-122"/>
                <a:sym typeface="+mn-ea"/>
              </a:rPr>
              <a:t>)</a:t>
            </a:r>
            <a:r>
              <a:rPr lang="zh-CN" altLang="zh-CN" sz="2000" dirty="0">
                <a:cs typeface="微软雅黑" panose="020B0503020204020204" pitchFamily="34" charset="-122"/>
                <a:sym typeface="+mn-ea"/>
              </a:rPr>
              <a:t>，因为需要对链表的每一个元素结点进行处理。其余操作的时间复杂度为</a:t>
            </a:r>
            <a:r>
              <a:rPr lang="en-US" altLang="zh-CN" sz="2000" i="1">
                <a:solidFill>
                  <a:schemeClr val="accent1"/>
                </a:solidFill>
                <a:cs typeface="微软雅黑" panose="020B0503020204020204" pitchFamily="34" charset="-122"/>
                <a:sym typeface="+mn-ea"/>
              </a:rPr>
              <a:t>O</a:t>
            </a:r>
            <a:r>
              <a:rPr lang="en-US" altLang="zh-CN" sz="2000">
                <a:solidFill>
                  <a:schemeClr val="accent1"/>
                </a:solidFill>
                <a:cs typeface="微软雅黑" panose="020B0503020204020204" pitchFamily="34" charset="-122"/>
                <a:sym typeface="+mn-ea"/>
              </a:rPr>
              <a:t>(1)</a:t>
            </a:r>
            <a:r>
              <a:rPr lang="zh-CN" altLang="zh-CN" sz="2000" dirty="0">
                <a:cs typeface="微软雅黑" panose="020B0503020204020204" pitchFamily="34" charset="-122"/>
                <a:sym typeface="+mn-ea"/>
              </a:rPr>
              <a:t>。</a:t>
            </a:r>
            <a:endParaRPr lang="zh-CN" altLang="zh-CN" sz="2000" dirty="0">
              <a:cs typeface="微软雅黑" panose="020B0503020204020204" pitchFamily="34" charset="-122"/>
            </a:endParaRPr>
          </a:p>
          <a:p>
            <a:pPr fontAlgn="auto">
              <a:lnSpc>
                <a:spcPct val="125000"/>
              </a:lnSpc>
              <a:buNone/>
            </a:pPr>
            <a:endParaRPr lang="zh-CN" altLang="zh-CN" sz="2000" dirty="0">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sz="3600" b="1" dirty="0">
                <a:solidFill>
                  <a:schemeClr val="bg1"/>
                </a:solidFill>
                <a:latin typeface="微软雅黑" panose="020B0503020204020204" pitchFamily="34" charset="-122"/>
                <a:ea typeface="微软雅黑" panose="020B0503020204020204" pitchFamily="34" charset="-122"/>
              </a:rPr>
              <a:t>顺序栈</a:t>
            </a:r>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indent="457200" fontAlgn="auto">
              <a:buNone/>
            </a:pPr>
            <a:r>
              <a:rPr lang="zh-CN" altLang="en-US" sz="2400" dirty="0">
                <a:cs typeface="微软雅黑" panose="020B0503020204020204" pitchFamily="34" charset="-122"/>
                <a:sym typeface="+mn-ea"/>
              </a:rPr>
              <a:t>可用</a:t>
            </a:r>
            <a:r>
              <a:rPr lang="zh-CN" altLang="zh-CN" sz="2400" dirty="0">
                <a:solidFill>
                  <a:srgbClr val="0000FF"/>
                </a:solidFill>
                <a:cs typeface="微软雅黑" panose="020B0503020204020204" pitchFamily="34" charset="-122"/>
                <a:sym typeface="+mn-ea"/>
              </a:rPr>
              <a:t>不带头结点的单链表</a:t>
            </a:r>
            <a:r>
              <a:rPr lang="zh-CN" altLang="zh-CN" sz="2400" dirty="0">
                <a:cs typeface="微软雅黑" panose="020B0503020204020204" pitchFamily="34" charset="-122"/>
                <a:sym typeface="+mn-ea"/>
              </a:rPr>
              <a:t>来表示链栈。当栈非空时，</a:t>
            </a:r>
            <a:r>
              <a:rPr lang="en-US" altLang="zh-CN" sz="2400">
                <a:cs typeface="微软雅黑" panose="020B0503020204020204" pitchFamily="34" charset="-122"/>
                <a:sym typeface="+mn-ea"/>
              </a:rPr>
              <a:t>top</a:t>
            </a:r>
            <a:r>
              <a:rPr lang="zh-CN" altLang="zh-CN" sz="2400" dirty="0">
                <a:cs typeface="微软雅黑" panose="020B0503020204020204" pitchFamily="34" charset="-122"/>
                <a:sym typeface="+mn-ea"/>
              </a:rPr>
              <a:t>指向栈顶元素结点；而当栈为空时，</a:t>
            </a:r>
            <a:r>
              <a:rPr lang="en-US" altLang="zh-CN" sz="2400">
                <a:cs typeface="微软雅黑" panose="020B0503020204020204" pitchFamily="34" charset="-122"/>
                <a:sym typeface="+mn-ea"/>
              </a:rPr>
              <a:t>top</a:t>
            </a:r>
            <a:r>
              <a:rPr lang="zh-CN" altLang="zh-CN" sz="2400" dirty="0">
                <a:cs typeface="微软雅黑" panose="020B0503020204020204" pitchFamily="34" charset="-122"/>
                <a:sym typeface="+mn-ea"/>
              </a:rPr>
              <a:t>为空指针。</a:t>
            </a:r>
            <a:endParaRPr lang="zh-CN" altLang="en-US" sz="2400" b="0" dirty="0">
              <a:solidFill>
                <a:schemeClr val="tx1"/>
              </a:solidFill>
              <a:cs typeface="微软雅黑" panose="020B0503020204020204" pitchFamily="34" charset="-122"/>
            </a:endParaRPr>
          </a:p>
          <a:p>
            <a:pPr indent="0" fontAlgn="auto">
              <a:buNone/>
            </a:pPr>
            <a:endParaRPr lang="zh-CN" altLang="en-US" sz="2400" b="0" dirty="0">
              <a:solidFill>
                <a:schemeClr val="tx1"/>
              </a:solidFill>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的链式存储器表示</a:t>
            </a:r>
            <a:r>
              <a:rPr lang="en-US" altLang="zh-CN" sz="3600" b="1" dirty="0">
                <a:solidFill>
                  <a:schemeClr val="bg1"/>
                </a:solidFill>
                <a:latin typeface="微软雅黑" panose="020B0503020204020204" pitchFamily="34" charset="-122"/>
                <a:ea typeface="微软雅黑" panose="020B0503020204020204" pitchFamily="34" charset="-122"/>
              </a:rPr>
              <a:t>——</a:t>
            </a:r>
            <a:r>
              <a:rPr lang="zh-CN" altLang="en-US" sz="3600" b="1" dirty="0">
                <a:solidFill>
                  <a:schemeClr val="bg1"/>
                </a:solidFill>
                <a:latin typeface="微软雅黑" panose="020B0503020204020204" pitchFamily="34" charset="-122"/>
                <a:ea typeface="微软雅黑" panose="020B0503020204020204" pitchFamily="34" charset="-122"/>
              </a:rPr>
              <a:t>链栈</a:t>
            </a:r>
            <a:endParaRPr lang="zh-CN" altLang="en-US" sz="3600" i="1" dirty="0"/>
          </a:p>
          <a:p>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1509" name="Object 121"/>
          <p:cNvGraphicFramePr>
            <a:graphicFrameLocks noChangeAspect="1"/>
          </p:cNvGraphicFramePr>
          <p:nvPr/>
        </p:nvGraphicFramePr>
        <p:xfrm>
          <a:off x="2257425" y="3058795"/>
          <a:ext cx="6705600" cy="595313"/>
        </p:xfrm>
        <a:graphic>
          <a:graphicData uri="http://schemas.openxmlformats.org/presentationml/2006/ole">
            <mc:AlternateContent xmlns:mc="http://schemas.openxmlformats.org/markup-compatibility/2006">
              <mc:Choice xmlns:v="urn:schemas-microsoft-com:vml" Requires="v">
                <p:oleObj spid="_x0000_s3076" name="" r:id="rId2" imgW="3446145" imgH="313055" progId="Visio.Drawing.11">
                  <p:embed/>
                </p:oleObj>
              </mc:Choice>
              <mc:Fallback>
                <p:oleObj name="" r:id="rId2" imgW="3446145" imgH="313055" progId="Visio.Drawing.11">
                  <p:embed/>
                  <p:pic>
                    <p:nvPicPr>
                      <p:cNvPr id="0" name="图片 3075"/>
                      <p:cNvPicPr/>
                      <p:nvPr/>
                    </p:nvPicPr>
                    <p:blipFill>
                      <a:blip r:embed="rId3"/>
                      <a:stretch>
                        <a:fillRect/>
                      </a:stretch>
                    </p:blipFill>
                    <p:spPr>
                      <a:xfrm>
                        <a:off x="2257425" y="3058795"/>
                        <a:ext cx="6705600" cy="5953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类定义</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2"/>
            </p:custDataLst>
          </p:nvPr>
        </p:nvGraphicFramePr>
        <p:xfrm>
          <a:off x="1849755" y="995045"/>
          <a:ext cx="8898890" cy="5305425"/>
        </p:xfrm>
        <a:graphic>
          <a:graphicData uri="http://schemas.openxmlformats.org/drawingml/2006/table">
            <a:tbl>
              <a:tblPr/>
              <a:tblGrid>
                <a:gridCol w="8898890"/>
              </a:tblGrid>
              <a:tr h="5305425">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struct LinkNode    // </a:t>
                      </a:r>
                      <a:r>
                        <a:rPr kumimoji="0" 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链栈结点</a:t>
                      </a:r>
                      <a:endParaRPr kumimoji="0" 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ElemType data;</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LinkNode&lt;ElemType&gt; *next;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   // </a:t>
                      </a:r>
                      <a:r>
                        <a:rPr kumimoji="0" 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链栈类</a:t>
                      </a:r>
                      <a:endParaRPr kumimoji="0" 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class LinkStack</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public:</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LinkStack();</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~LinkStack();</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void Clear();</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bool Empty() const;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int Length() const;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ElemType &amp; Top() const;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void Push(const ElemType &amp;);</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void Pop();</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private:</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LinkNode&lt;ElemType&gt; *top;</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r>
              <a:rPr lang="en-US" altLang="zh-CN" sz="2400">
                <a:sym typeface="+mn-ea"/>
              </a:rPr>
              <a:t>1. </a:t>
            </a:r>
            <a:r>
              <a:rPr lang="zh-CN" altLang="zh-CN" sz="2400" dirty="0">
                <a:sym typeface="+mn-ea"/>
              </a:rPr>
              <a:t>栈初始化</a:t>
            </a:r>
            <a:endParaRPr lang="en-US" altLang="zh-CN" sz="2400"/>
          </a:p>
          <a:p>
            <a:pPr>
              <a:buNone/>
            </a:pPr>
            <a:endParaRPr lang="en-US" altLang="zh-CN" sz="2400">
              <a:cs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1179830" y="2034540"/>
          <a:ext cx="8415655" cy="1856740"/>
        </p:xfrm>
        <a:graphic>
          <a:graphicData uri="http://schemas.openxmlformats.org/drawingml/2006/table">
            <a:tbl>
              <a:tblPr/>
              <a:tblGrid>
                <a:gridCol w="8415655"/>
              </a:tblGrid>
              <a:tr h="1856740">
                <a:tc>
                  <a:txBody>
                    <a:bodyPr/>
                    <a:p>
                      <a:pPr marL="0" indent="266700" algn="just" defTabSz="914400" rtl="0" eaLnBrk="1" latinLnBrk="0" hangingPunct="1">
                        <a:spcAft>
                          <a:spcPts val="0"/>
                        </a:spcAft>
                      </a:pPr>
                      <a:r>
                        <a:rPr lang="en-US" altLang="zh-CN" sz="1400" kern="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kern="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构造函数，构造一个空的链栈</a:t>
                      </a:r>
                      <a:endParaRPr lang="zh-CN" altLang="zh-CN" sz="1800" kern="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914400" rtl="0" eaLnBrk="1" latinLnBrk="0" hangingPunct="1">
                        <a:spcAft>
                          <a:spcPts val="0"/>
                        </a:spcAft>
                      </a:pP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266700" algn="just" defTabSz="914400" rtl="0" eaLnBrk="1" latinLnBrk="0" hangingPunct="1">
                        <a:spcAft>
                          <a:spcPts val="0"/>
                        </a:spcAft>
                      </a:pPr>
                      <a:r>
                        <a:rPr lang="en-US" altLang="zh-CN" sz="1800" kern="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1800" kern="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266700" algn="just" defTabSz="914400" rtl="0" eaLnBrk="1" latinLnBrk="0" hangingPunct="1">
                        <a:spcAft>
                          <a:spcPts val="0"/>
                        </a:spcAft>
                      </a:pP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266700" algn="just" defTabSz="914400" rtl="0" eaLnBrk="1" latinLnBrk="0" hangingPunct="1">
                        <a:spcAft>
                          <a:spcPts val="0"/>
                        </a:spcAft>
                      </a:pP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top = NULL;</a:t>
                      </a:r>
                      <a:endParaRPr lang="zh-CN"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marL="0" indent="266700" algn="just" defTabSz="914400" rtl="0" eaLnBrk="1" latinLnBrk="0" hangingPunct="1">
                        <a:spcAft>
                          <a:spcPts val="0"/>
                        </a:spcAft>
                      </a:pPr>
                      <a:r>
                        <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
        <p:nvSpPr>
          <p:cNvPr id="2" name="文本框 1"/>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2.</a:t>
            </a:r>
            <a:r>
              <a:rPr lang="zh-CN" altLang="zh-CN" sz="2400" dirty="0">
                <a:sym typeface="+mn-ea"/>
              </a:rPr>
              <a:t>销毁栈</a:t>
            </a:r>
            <a:endParaRPr lang="zh-CN" altLang="zh-CN" sz="2400" dirty="0">
              <a:cs typeface="微软雅黑" panose="020B0503020204020204" pitchFamily="34" charset="-122"/>
              <a:sym typeface="+mn-ea"/>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762000" y="1905000"/>
          <a:ext cx="8504555" cy="1979930"/>
        </p:xfrm>
        <a:graphic>
          <a:graphicData uri="http://schemas.openxmlformats.org/drawingml/2006/table">
            <a:tbl>
              <a:tblPr/>
              <a:tblGrid>
                <a:gridCol w="8504555"/>
              </a:tblGrid>
              <a:tr h="1979930">
                <a:tc>
                  <a:txBody>
                    <a:bodyPr/>
                    <a:p>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将栈结构销毁</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Clear(); </a:t>
                      </a:r>
                      <a:r>
                        <a:rPr lang="en-US" altLang="zh-CN" sz="1800" kern="1200" dirty="0" smtClean="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成员函数</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Clear()</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的功能是释放链栈中的所有结点</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3.</a:t>
            </a:r>
            <a:r>
              <a:rPr lang="zh-CN" altLang="zh-CN" sz="2400" dirty="0">
                <a:sym typeface="+mn-ea"/>
              </a:rPr>
              <a:t>清空栈</a:t>
            </a:r>
            <a:endParaRPr lang="zh-CN" altLang="zh-CN" sz="2400" dirty="0"/>
          </a:p>
          <a:p>
            <a:pPr>
              <a:buNone/>
            </a:pPr>
            <a:endParaRPr lang="zh-CN" altLang="zh-CN" sz="2400" dirty="0">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5604" name="表格 25603"/>
          <p:cNvGraphicFramePr/>
          <p:nvPr>
            <p:custDataLst>
              <p:tags r:id="rId2"/>
            </p:custDataLst>
          </p:nvPr>
        </p:nvGraphicFramePr>
        <p:xfrm>
          <a:off x="762000" y="1872615"/>
          <a:ext cx="8460740" cy="3308985"/>
        </p:xfrm>
        <a:graphic>
          <a:graphicData uri="http://schemas.openxmlformats.org/drawingml/2006/table">
            <a:tbl>
              <a:tblPr/>
              <a:tblGrid>
                <a:gridCol w="8460740"/>
              </a:tblGrid>
              <a:tr h="3308985">
                <a:tc>
                  <a:txBody>
                    <a:bodyPr/>
                    <a:lstStyle>
                      <a:lvl1pPr marL="342900" lvl="0" indent="-342900" algn="l" rtl="0" eaLnBrk="0" fontAlgn="base" hangingPunct="0">
                        <a:spcBef>
                          <a:spcPct val="20000"/>
                        </a:spcBef>
                        <a:spcAft>
                          <a:spcPct val="0"/>
                        </a:spcAft>
                        <a:buClrTx/>
                        <a:buSzTx/>
                        <a:buFontTx/>
                        <a:buChar char="•"/>
                        <a:defRPr sz="2000" b="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Tx/>
                        <a:buChar char="–"/>
                        <a:defRPr sz="2000">
                          <a:solidFill>
                            <a:schemeClr val="tx1"/>
                          </a:solidFill>
                          <a:latin typeface="+mn-lt"/>
                          <a:ea typeface="+mn-ea"/>
                        </a:defRPr>
                      </a:lvl2pPr>
                      <a:lvl3pPr marL="1143000" lvl="2" indent="-228600" algn="l" rtl="0" eaLnBrk="0" fontAlgn="base" hangingPunct="0">
                        <a:spcBef>
                          <a:spcPct val="20000"/>
                        </a:spcBef>
                        <a:spcAft>
                          <a:spcPct val="0"/>
                        </a:spcAft>
                        <a:buClrTx/>
                        <a:buSzTx/>
                        <a:buFontTx/>
                        <a:buChar char="•"/>
                        <a:defRPr sz="2000">
                          <a:solidFill>
                            <a:schemeClr val="tx1"/>
                          </a:solidFill>
                          <a:latin typeface="+mn-lt"/>
                          <a:ea typeface="+mn-ea"/>
                        </a:defRPr>
                      </a:lvl3pPr>
                      <a:lvl4pPr marL="1600200" lvl="3" indent="-228600" algn="l" rtl="0" eaLnBrk="0" fontAlgn="base" hangingPunct="0">
                        <a:spcBef>
                          <a:spcPct val="20000"/>
                        </a:spcBef>
                        <a:spcAft>
                          <a:spcPct val="0"/>
                        </a:spcAft>
                        <a:buClrTx/>
                        <a:buSzTx/>
                        <a:buFontTx/>
                        <a:buChar char="–"/>
                        <a:defRPr sz="2000">
                          <a:solidFill>
                            <a:schemeClr val="tx1"/>
                          </a:solidFill>
                          <a:latin typeface="+mn-lt"/>
                          <a:ea typeface="+mn-ea"/>
                        </a:defRPr>
                      </a:lvl4pPr>
                      <a:lvl5pPr marL="2057400" lvl="4" indent="-228600" algn="l" rtl="0" eaLnBrk="0" fontAlgn="base" hangingPunct="0">
                        <a:spcBef>
                          <a:spcPct val="20000"/>
                        </a:spcBef>
                        <a:spcAft>
                          <a:spcPct val="0"/>
                        </a:spcAft>
                        <a:buClrTx/>
                        <a:buSzTx/>
                        <a:buFontTx/>
                        <a:buChar char="»"/>
                        <a:defRPr sz="2000">
                          <a:solidFill>
                            <a:schemeClr val="tx1"/>
                          </a:solidFill>
                          <a:latin typeface="+mn-lt"/>
                          <a:ea typeface="+mn-ea"/>
                        </a:defRPr>
                      </a:lvl5pPr>
                    </a:lstStyle>
                    <a:p>
                      <a:pPr marL="0" lvl="0" indent="266700" algn="just" eaLnBrk="1" hangingPunct="1">
                        <a:spcBef>
                          <a:spcPct val="0"/>
                        </a:spcBef>
                        <a:buNone/>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a:t>
                      </a:r>
                      <a:r>
                        <a:rPr lang="zh-CN" altLang="x-none" sz="1800" dirty="0">
                          <a:latin typeface="微软雅黑" panose="020B0503020204020204" pitchFamily="34" charset="-122"/>
                          <a:ea typeface="微软雅黑" panose="020B0503020204020204" pitchFamily="34" charset="-122"/>
                          <a:cs typeface="微软雅黑" panose="020B0503020204020204" pitchFamily="34" charset="-122"/>
                        </a:rPr>
                        <a:t>将栈清空</a:t>
                      </a:r>
                      <a:endParaRPr lang="zh-CN" altLang="x-none" sz="18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Template&lt;class </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void </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&gt;::Clear()</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&gt; *p;</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while(top</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  // </a:t>
                      </a:r>
                      <a:r>
                        <a:rPr lang="zh-CN" altLang="x-none" sz="1800" dirty="0">
                          <a:latin typeface="微软雅黑" panose="020B0503020204020204" pitchFamily="34" charset="-122"/>
                          <a:ea typeface="微软雅黑" panose="020B0503020204020204" pitchFamily="34" charset="-122"/>
                          <a:cs typeface="微软雅黑" panose="020B0503020204020204" pitchFamily="34" charset="-122"/>
                        </a:rPr>
                        <a:t>依次释放链表中的所有结点</a:t>
                      </a:r>
                      <a:endParaRPr lang="zh-CN" altLang="x-none" sz="18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266700" algn="just" eaLnBrk="1" hangingPunct="1">
                        <a:spcBef>
                          <a:spcPct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p = top;</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top = </a:t>
                      </a:r>
                      <a:r>
                        <a:rPr lang="en-US" altLang="zh-CN" sz="1800" err="1">
                          <a:latin typeface="Times New Roman" panose="02020603050405020304" pitchFamily="18" charset="0"/>
                          <a:ea typeface="微软雅黑" panose="020B0503020204020204" pitchFamily="34" charset="-122"/>
                          <a:cs typeface="Times New Roman" panose="02020603050405020304" pitchFamily="18" charset="0"/>
                        </a:rPr>
                        <a:t>top</a:t>
                      </a: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-&gt;next;</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delete p;</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lvl="0" indent="266700" algn="just" eaLnBrk="1" hangingPunct="1">
                        <a:spcBef>
                          <a:spcPct val="0"/>
                        </a:spcBef>
                        <a:buNone/>
                      </a:pPr>
                      <a:r>
                        <a:rPr lang="en-US" altLang="zh-CN" sz="180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solidFill>
                        <a:srgbClr val="000000"/>
                      </a:solidFill>
                      <a:prstDash val="solid"/>
                      <a:headEnd type="none" w="med" len="med"/>
                      <a:tailEnd type="none" w="med" len="med"/>
                    </a:lnL>
                    <a:lnR w="38100" cap="flat" cmpd="dbl">
                      <a:solidFill>
                        <a:srgbClr val="000000"/>
                      </a:solidFill>
                      <a:prstDash val="solid"/>
                      <a:headEnd type="none" w="med" len="med"/>
                      <a:tailEnd type="none" w="med" len="med"/>
                    </a:lnR>
                    <a:lnT w="38100" cap="flat" cmpd="dbl">
                      <a:solidFill>
                        <a:srgbClr val="000000"/>
                      </a:solidFill>
                      <a:prstDash val="solid"/>
                      <a:headEnd type="none" w="med" len="med"/>
                      <a:tailEnd type="none" w="med" len="med"/>
                    </a:lnT>
                    <a:lnB w="38100" cap="flat" cmpd="dbl">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4.</a:t>
            </a:r>
            <a:r>
              <a:rPr lang="zh-CN" altLang="zh-CN" sz="2400" dirty="0">
                <a:sym typeface="+mn-ea"/>
              </a:rPr>
              <a:t>判栈空</a:t>
            </a:r>
            <a:endParaRPr lang="zh-CN" altLang="zh-CN" sz="2400" dirty="0"/>
          </a:p>
          <a:p>
            <a:pPr>
              <a:buNone/>
            </a:pPr>
            <a:endParaRPr lang="zh-CN" altLang="zh-CN" sz="2400" dirty="0">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765810" y="1966595"/>
          <a:ext cx="9357995" cy="2973705"/>
        </p:xfrm>
        <a:graphic>
          <a:graphicData uri="http://schemas.openxmlformats.org/drawingml/2006/table">
            <a:tbl>
              <a:tblPr/>
              <a:tblGrid>
                <a:gridCol w="9357995"/>
              </a:tblGrid>
              <a:tr h="2973705">
                <a:tc>
                  <a:txBody>
                    <a:bodyPr/>
                    <a:p>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若栈为空，则返回</a:t>
                      </a: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true</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false</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bool</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&gt;::Empty() const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top == NULL;</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5.</a:t>
            </a:r>
            <a:r>
              <a:rPr lang="zh-CN" altLang="zh-CN" sz="2400" dirty="0">
                <a:sym typeface="+mn-ea"/>
              </a:rPr>
              <a:t>求长度</a:t>
            </a:r>
            <a:endParaRPr lang="zh-CN" altLang="zh-CN" sz="2400" dirty="0"/>
          </a:p>
          <a:p>
            <a:pPr>
              <a:buNone/>
            </a:pPr>
            <a:endParaRPr lang="zh-CN" altLang="zh-CN" sz="2400" dirty="0">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762000" y="1905000"/>
          <a:ext cx="8472170" cy="3591560"/>
        </p:xfrm>
        <a:graphic>
          <a:graphicData uri="http://schemas.openxmlformats.org/drawingml/2006/table">
            <a:tbl>
              <a:tblPr/>
              <a:tblGrid>
                <a:gridCol w="8472170"/>
              </a:tblGrid>
              <a:tr h="3591560">
                <a:tc>
                  <a:txBody>
                    <a:bodyPr/>
                    <a:p>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返回栈中元素个数</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&gt;::Length() const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0;</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&gt; *p = top;</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while(p){    </a:t>
                      </a: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对链表中的结点计数</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 = p-&gt;next;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6.</a:t>
            </a:r>
            <a:r>
              <a:rPr lang="zh-CN" altLang="zh-CN" sz="2400" dirty="0">
                <a:sym typeface="+mn-ea"/>
              </a:rPr>
              <a:t>取栈顶元素的值</a:t>
            </a:r>
            <a:endParaRPr lang="zh-CN" altLang="zh-CN" sz="2400" dirty="0"/>
          </a:p>
          <a:p>
            <a:pPr>
              <a:buNone/>
            </a:pPr>
            <a:endParaRPr lang="zh-CN" altLang="zh-CN" sz="2400" dirty="0">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728980" y="1863090"/>
          <a:ext cx="9731375" cy="2472690"/>
        </p:xfrm>
        <a:graphic>
          <a:graphicData uri="http://schemas.openxmlformats.org/drawingml/2006/table">
            <a:tbl>
              <a:tblPr/>
              <a:tblGrid>
                <a:gridCol w="9731375"/>
              </a:tblGrid>
              <a:tr h="2472690">
                <a:tc>
                  <a:txBody>
                    <a:bodyPr/>
                    <a:p>
                      <a:r>
                        <a:rPr lang="en-US" altLang="zh-CN" sz="1600" kern="1200" dirty="0" smtClean="0">
                          <a:solidFill>
                            <a:schemeClr val="tx1"/>
                          </a:solidFill>
                          <a:latin typeface="微软雅黑" panose="020B0503020204020204" pitchFamily="34" charset="-122"/>
                          <a:ea typeface="+mn-ea"/>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取栈顶元素的值。先决条件是栈不空</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&amp;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&gt;::Top() const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return top-&gt;data;</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7.</a:t>
            </a:r>
            <a:r>
              <a:rPr lang="zh-CN" altLang="zh-CN" sz="2400" dirty="0">
                <a:sym typeface="+mn-ea"/>
              </a:rPr>
              <a:t>入栈</a:t>
            </a:r>
            <a:endParaRPr lang="zh-CN" altLang="zh-CN" sz="2400" dirty="0"/>
          </a:p>
          <a:p>
            <a:pPr>
              <a:buNone/>
            </a:pPr>
            <a:endParaRPr lang="zh-CN" altLang="zh-CN" sz="2400" dirty="0">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762000" y="1830070"/>
          <a:ext cx="9427845" cy="3064510"/>
        </p:xfrm>
        <a:graphic>
          <a:graphicData uri="http://schemas.openxmlformats.org/drawingml/2006/table">
            <a:tbl>
              <a:tblPr/>
              <a:tblGrid>
                <a:gridCol w="9427845"/>
              </a:tblGrid>
              <a:tr h="3064510">
                <a:tc>
                  <a:txBody>
                    <a:bodyPr/>
                    <a:p>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入栈</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void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&gt;::Push(const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&amp;e)</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&gt; *p;</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 = new </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p-&gt;data = e;</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p-&gt;next = top;  </a:t>
                      </a: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新结点插在链表的头部</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top = p;</a:t>
                      </a:r>
                      <a:endParaRPr lang="zh-CN" altLang="zh-CN" sz="1800" kern="1200"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en-US" altLang="zh-CN" sz="1800" kern="1200" dirty="0" smtClean="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sz="2400">
                <a:sym typeface="+mn-ea"/>
              </a:rPr>
              <a:t>8.</a:t>
            </a:r>
            <a:r>
              <a:rPr lang="zh-CN" altLang="zh-CN" sz="2400" dirty="0">
                <a:sym typeface="+mn-ea"/>
              </a:rPr>
              <a:t>出栈</a:t>
            </a:r>
            <a:endParaRPr lang="zh-CN" altLang="zh-CN" dirty="0"/>
          </a:p>
          <a:p>
            <a:pPr>
              <a:buNone/>
            </a:pPr>
            <a:endParaRPr lang="zh-CN" altLang="zh-CN" dirty="0"/>
          </a:p>
          <a:p>
            <a:pPr>
              <a:buNone/>
            </a:pPr>
            <a:endParaRPr lang="zh-CN" altLang="en-US">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r>
              <a:rPr lang="zh-CN" sz="3600" b="1" dirty="0">
                <a:solidFill>
                  <a:schemeClr val="bg1"/>
                </a:solidFill>
                <a:latin typeface="微软雅黑" panose="020B0503020204020204" pitchFamily="34" charset="-122"/>
                <a:ea typeface="微软雅黑" panose="020B0503020204020204" pitchFamily="34" charset="-122"/>
              </a:rPr>
              <a:t>的基本操作的实现</a:t>
            </a:r>
            <a:endParaRPr 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2"/>
            </p:custDataLst>
          </p:nvPr>
        </p:nvGraphicFramePr>
        <p:xfrm>
          <a:off x="762000" y="1905000"/>
          <a:ext cx="9182735" cy="2921000"/>
        </p:xfrm>
        <a:graphic>
          <a:graphicData uri="http://schemas.openxmlformats.org/drawingml/2006/table">
            <a:tbl>
              <a:tblPr/>
              <a:tblGrid>
                <a:gridCol w="9182735"/>
              </a:tblGrid>
              <a:tr h="2921000">
                <a:tc>
                  <a:txBody>
                    <a:bodyPr/>
                    <a:p>
                      <a:r>
                        <a:rPr lang="en-US" altLang="zh-CN" sz="1800" kern="1200" dirty="0" smtClean="0">
                          <a:solidFill>
                            <a:schemeClr val="tx1"/>
                          </a:solidFill>
                          <a:latin typeface="微软雅黑" panose="020B0503020204020204" pitchFamily="34" charset="-122"/>
                          <a:ea typeface="+mn-ea"/>
                          <a:cs typeface="微软雅黑" panose="020B0503020204020204" pitchFamily="34" charset="-122"/>
                        </a:rPr>
                        <a:t>// </a:t>
                      </a:r>
                      <a:r>
                        <a:rPr lang="zh-CN" altLang="zh-CN" sz="1800" kern="1200" dirty="0" smtClean="0">
                          <a:solidFill>
                            <a:schemeClr val="tx1"/>
                          </a:solidFill>
                          <a:latin typeface="微软雅黑" panose="020B0503020204020204" pitchFamily="34" charset="-122"/>
                          <a:ea typeface="+mn-ea"/>
                          <a:cs typeface="微软雅黑" panose="020B0503020204020204" pitchFamily="34" charset="-122"/>
                        </a:rPr>
                        <a:t>出栈。先决条件是栈不空</a:t>
                      </a:r>
                      <a:endParaRPr lang="zh-CN" altLang="zh-CN" sz="1800" kern="1200" dirty="0" smtClean="0">
                        <a:solidFill>
                          <a:schemeClr val="tx1"/>
                        </a:solidFill>
                        <a:latin typeface="微软雅黑" panose="020B0503020204020204" pitchFamily="34" charset="-122"/>
                        <a:ea typeface="+mn-ea"/>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void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LinkStack</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&gt;::Pop()</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LinkNode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&lt;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&gt; *p = top; </a:t>
                      </a:r>
                      <a:r>
                        <a:rPr lang="en-US"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删除并释放第一个结点</a:t>
                      </a:r>
                      <a:endParaRPr lang="zh-CN" altLang="zh-CN" sz="1800" kern="12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top = top-&gt;next;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delete p;</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微软雅黑" panose="020B0503020204020204" pitchFamily="34" charset="-122"/>
                          <a:ea typeface="+mn-ea"/>
                          <a:cs typeface="微软雅黑" panose="020B0503020204020204" pitchFamily="34" charset="-122"/>
                        </a:rPr>
                        <a:t>}</a:t>
                      </a:r>
                      <a:endParaRPr lang="en-US" altLang="zh-CN" sz="1800" kern="1200" dirty="0" smtClean="0">
                        <a:solidFill>
                          <a:schemeClr val="tx1"/>
                        </a:solidFill>
                        <a:latin typeface="微软雅黑" panose="020B0503020204020204" pitchFamily="34" charset="-122"/>
                        <a:ea typeface="+mn-ea"/>
                        <a:cs typeface="微软雅黑" panose="020B0503020204020204" pitchFamily="34" charset="-122"/>
                      </a:endParaRPr>
                    </a:p>
                  </a:txBody>
                  <a:tcPr marL="68580" marR="6858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r>
              <a:rPr lang="zh-CN" sz="3600" b="1" dirty="0">
                <a:solidFill>
                  <a:schemeClr val="bg1"/>
                </a:solidFill>
                <a:latin typeface="微软雅黑" panose="020B0503020204020204" pitchFamily="34" charset="-122"/>
                <a:ea typeface="微软雅黑" panose="020B0503020204020204" pitchFamily="34" charset="-122"/>
              </a:rPr>
              <a:t>链</a:t>
            </a:r>
            <a:r>
              <a:rPr sz="3600" b="1" dirty="0">
                <a:solidFill>
                  <a:schemeClr val="bg1"/>
                </a:solidFill>
                <a:latin typeface="微软雅黑" panose="020B0503020204020204" pitchFamily="34" charset="-122"/>
                <a:ea typeface="微软雅黑" panose="020B0503020204020204" pitchFamily="34" charset="-122"/>
              </a:rPr>
              <a:t>栈</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31746" name="内容占位符 2"/>
          <p:cNvSpPr>
            <a:spLocks noGrp="1"/>
          </p:cNvSpPr>
          <p:nvPr/>
        </p:nvSpPr>
        <p:spPr>
          <a:xfrm>
            <a:off x="393065" y="1456690"/>
            <a:ext cx="10818495" cy="45021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vl6pPr marL="2514600" indent="-228600" algn="l" rtl="0" fontAlgn="base">
              <a:spcBef>
                <a:spcPct val="20000"/>
              </a:spcBef>
              <a:spcAft>
                <a:spcPct val="0"/>
              </a:spcAft>
              <a:buChar char="»"/>
              <a:defRPr sz="2400">
                <a:solidFill>
                  <a:schemeClr val="tx1"/>
                </a:solidFill>
                <a:latin typeface="+mn-lt"/>
                <a:ea typeface="+mn-ea"/>
              </a:defRPr>
            </a:lvl6pPr>
            <a:lvl7pPr marL="2971800" indent="-228600" algn="l" rtl="0" fontAlgn="base">
              <a:spcBef>
                <a:spcPct val="20000"/>
              </a:spcBef>
              <a:spcAft>
                <a:spcPct val="0"/>
              </a:spcAft>
              <a:buChar char="»"/>
              <a:defRPr sz="2400">
                <a:solidFill>
                  <a:schemeClr val="tx1"/>
                </a:solidFill>
                <a:latin typeface="+mn-lt"/>
                <a:ea typeface="+mn-ea"/>
              </a:defRPr>
            </a:lvl7pPr>
            <a:lvl8pPr marL="3429000" indent="-228600" algn="l" rtl="0" fontAlgn="base">
              <a:spcBef>
                <a:spcPct val="20000"/>
              </a:spcBef>
              <a:spcAft>
                <a:spcPct val="0"/>
              </a:spcAft>
              <a:buChar char="»"/>
              <a:defRPr sz="2400">
                <a:solidFill>
                  <a:schemeClr val="tx1"/>
                </a:solidFill>
                <a:latin typeface="+mn-lt"/>
                <a:ea typeface="+mn-ea"/>
              </a:defRPr>
            </a:lvl8pPr>
            <a:lvl9pPr marL="3886200" indent="-228600" algn="l" rtl="0" fontAlgn="base">
              <a:spcBef>
                <a:spcPct val="20000"/>
              </a:spcBef>
              <a:spcAft>
                <a:spcPct val="0"/>
              </a:spcAft>
              <a:buChar char="»"/>
              <a:defRPr sz="2400">
                <a:solidFill>
                  <a:schemeClr val="tx1"/>
                </a:solidFill>
                <a:latin typeface="+mn-lt"/>
                <a:ea typeface="+mn-ea"/>
              </a:defRPr>
            </a:lvl9pPr>
          </a:lstStyle>
          <a:p>
            <a:pPr indent="342265">
              <a:lnSpc>
                <a:spcPct val="125000"/>
              </a:lnSpc>
              <a:spcBef>
                <a:spcPts val="0"/>
              </a:spcBef>
              <a:buNone/>
            </a:pPr>
            <a:r>
              <a:rPr lang="en-US" altLang="zh-CN" sz="2800"/>
              <a:t> </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在链栈中，由于元素的存储空间是在需要时通过</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new</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运算符动态分配的，因此，正常情况下，不会出现栈满的情形，除非内存中没有空闲的存储空间可供分配。</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a:p>
            <a:pPr indent="342265">
              <a:lnSpc>
                <a:spcPct val="125000"/>
              </a:lnSpc>
              <a:spcBef>
                <a:spcPts val="0"/>
              </a:spcBef>
              <a:buNone/>
            </a:pPr>
            <a:endParaRPr lang="en-US" altLang="zh-CN" sz="2000">
              <a:latin typeface="微软雅黑" panose="020B0503020204020204" pitchFamily="34" charset="-122"/>
              <a:ea typeface="微软雅黑" panose="020B0503020204020204" pitchFamily="34" charset="-122"/>
              <a:cs typeface="微软雅黑" panose="020B0503020204020204" pitchFamily="34" charset="-122"/>
            </a:endParaRPr>
          </a:p>
          <a:p>
            <a:pPr indent="342265">
              <a:lnSpc>
                <a:spcPct val="125000"/>
              </a:lnSpc>
              <a:spcBef>
                <a:spcPts val="0"/>
              </a:spcBef>
              <a:buNone/>
            </a:pP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在链栈的操作中，栈的销毁、清空、求长度操作的时间复杂度为</a:t>
            </a:r>
            <a:r>
              <a:rPr lang="en-US" altLang="zh-CN" sz="2000" i="1" err="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O</a:t>
            </a:r>
            <a:r>
              <a:rPr lang="en-US" altLang="zh-CN" sz="2000" err="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err="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，因为需要对链表的每一个元素结点进行处理。其余操作的时间复杂度为</a:t>
            </a:r>
            <a:r>
              <a:rPr lang="en-US" altLang="zh-CN" sz="2000" i="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O</a:t>
            </a:r>
            <a:r>
              <a:rPr lang="en-US" altLang="zh-CN"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1177290" y="932815"/>
            <a:ext cx="10533380" cy="539115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r>
              <a:rPr sz="3600" b="1" dirty="0">
                <a:solidFill>
                  <a:schemeClr val="bg1"/>
                </a:solidFill>
                <a:latin typeface="微软雅黑" panose="020B0503020204020204" pitchFamily="34" charset="-122"/>
                <a:ea typeface="微软雅黑" panose="020B0503020204020204" pitchFamily="34" charset="-122"/>
              </a:rPr>
              <a:t>3.</a:t>
            </a:r>
            <a:r>
              <a:rPr sz="3600" b="1" dirty="0">
                <a:solidFill>
                  <a:schemeClr val="bg1"/>
                </a:solidFill>
                <a:latin typeface="微软雅黑" panose="020B0503020204020204" pitchFamily="34" charset="-122"/>
                <a:ea typeface="微软雅黑" panose="020B0503020204020204" pitchFamily="34" charset="-122"/>
                <a:sym typeface="+mn-ea"/>
              </a:rPr>
              <a:t>1.3 栈的应用举例</a:t>
            </a:r>
            <a:endParaRPr lang="zh-CN" altLang="en-US" sz="3600" dirty="0"/>
          </a:p>
          <a:p>
            <a:endParaRPr lang="zh-CN" altLang="en-US" sz="3600" dirty="0"/>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5" name="内容占位符 2"/>
          <p:cNvSpPr txBox="1"/>
          <p:nvPr>
            <p:custDataLst>
              <p:tags r:id="rId2"/>
            </p:custDataLst>
          </p:nvPr>
        </p:nvSpPr>
        <p:spPr bwMode="gray">
          <a:xfrm>
            <a:off x="1828800" y="1752600"/>
            <a:ext cx="2209800" cy="609600"/>
          </a:xfrm>
          <a:prstGeom prst="rect">
            <a:avLst/>
          </a:prstGeom>
          <a:noFill/>
          <a:ln w="9525">
            <a:noFill/>
            <a:miter lim="800000"/>
          </a:ln>
        </p:spPr>
        <p:txBody>
          <a:bodyPr/>
          <a:p>
            <a:pPr marR="0" defTabSz="914400">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回文判断</a:t>
            </a:r>
            <a:endParaRPr kumimoji="0" lang="en-US" altLang="zh-CN" sz="2800" kern="1200" cap="none" spc="0" normalizeH="0" baseline="0" noProof="0" dirty="0">
              <a:solidFill>
                <a:schemeClr val="tx1"/>
              </a:solidFill>
              <a:latin typeface="+mn-ea"/>
              <a:ea typeface="+mn-ea"/>
              <a:cs typeface="+mn-cs"/>
            </a:endParaRPr>
          </a:p>
        </p:txBody>
      </p:sp>
      <p:sp>
        <p:nvSpPr>
          <p:cNvPr id="2" name="内容占位符 2"/>
          <p:cNvSpPr txBox="1"/>
          <p:nvPr>
            <p:custDataLst>
              <p:tags r:id="rId3"/>
            </p:custDataLst>
          </p:nvPr>
        </p:nvSpPr>
        <p:spPr bwMode="gray">
          <a:xfrm>
            <a:off x="1828800" y="2438400"/>
            <a:ext cx="2209800" cy="609600"/>
          </a:xfrm>
          <a:prstGeom prst="rect">
            <a:avLst/>
          </a:prstGeom>
          <a:noFill/>
          <a:ln w="9525">
            <a:noFill/>
            <a:miter lim="800000"/>
          </a:ln>
        </p:spPr>
        <p:txBody>
          <a:bodyPr/>
          <a:p>
            <a:pPr marR="0" defTabSz="914400">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迷宫问题</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endParaRPr>
          </a:p>
        </p:txBody>
      </p:sp>
      <p:sp>
        <p:nvSpPr>
          <p:cNvPr id="3" name="内容占位符 2"/>
          <p:cNvSpPr txBox="1"/>
          <p:nvPr>
            <p:custDataLst>
              <p:tags r:id="rId4"/>
            </p:custDataLst>
          </p:nvPr>
        </p:nvSpPr>
        <p:spPr bwMode="gray">
          <a:xfrm>
            <a:off x="1828800" y="3124200"/>
            <a:ext cx="2806065" cy="609600"/>
          </a:xfrm>
          <a:prstGeom prst="rect">
            <a:avLst/>
          </a:prstGeom>
          <a:noFill/>
          <a:ln w="9525">
            <a:noFill/>
            <a:miter lim="800000"/>
          </a:ln>
        </p:spPr>
        <p:txBody>
          <a:bodyPr/>
          <a:p>
            <a:pPr marR="0" algn="l" defTabSz="914400">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表达式求值</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endParaRPr>
          </a:p>
        </p:txBody>
      </p:sp>
      <p:sp>
        <p:nvSpPr>
          <p:cNvPr id="10" name="内容占位符 2"/>
          <p:cNvSpPr txBox="1"/>
          <p:nvPr>
            <p:custDataLst>
              <p:tags r:id="rId5"/>
            </p:custDataLst>
          </p:nvPr>
        </p:nvSpPr>
        <p:spPr bwMode="gray">
          <a:xfrm>
            <a:off x="1828800" y="3810000"/>
            <a:ext cx="3585210" cy="609600"/>
          </a:xfrm>
          <a:prstGeom prst="rect">
            <a:avLst/>
          </a:prstGeom>
          <a:noFill/>
          <a:ln w="9525">
            <a:noFill/>
            <a:miter lim="800000"/>
          </a:ln>
        </p:spPr>
        <p:txBody>
          <a:bodyPr/>
          <a:p>
            <a:pPr marR="0" defTabSz="914400">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递归和汉诺塔问题</a:t>
            </a:r>
            <a:endParaRPr kumimoji="0" lang="en-US" altLang="zh-CN" sz="2800" kern="1200" cap="none" spc="0" normalizeH="0" baseline="0" noProof="0" dirty="0">
              <a:solidFill>
                <a:schemeClr val="tx1"/>
              </a:solidFill>
              <a:latin typeface="+mn-ea"/>
              <a:ea typeface="+mn-ea"/>
              <a:cs typeface="+mn-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49530"/>
            <a:ext cx="8004175" cy="645160"/>
          </a:xfrm>
          <a:prstGeom prst="rect">
            <a:avLst/>
          </a:prstGeom>
          <a:noFill/>
        </p:spPr>
        <p:txBody>
          <a:bodyPr wrap="square" rtlCol="0">
            <a:spAutoFit/>
          </a:bodyPr>
          <a:p>
            <a:r>
              <a:rPr sz="3600" b="1" dirty="0">
                <a:solidFill>
                  <a:schemeClr val="bg1"/>
                </a:solidFill>
                <a:latin typeface="微软雅黑" panose="020B0503020204020204" pitchFamily="34" charset="-122"/>
                <a:ea typeface="微软雅黑" panose="020B0503020204020204" pitchFamily="34" charset="-122"/>
                <a:sym typeface="+mn-ea"/>
              </a:rPr>
              <a:t>3.1.3 栈的应用举例——回文判断</a:t>
            </a:r>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93065" y="1243965"/>
            <a:ext cx="10412095" cy="1916430"/>
          </a:xfrm>
          <a:prstGeom prst="rect">
            <a:avLst/>
          </a:prstGeom>
          <a:noFill/>
        </p:spPr>
        <p:txBody>
          <a:bodyPr wrap="square" rtlCol="0" anchor="t">
            <a:noAutofit/>
          </a:bodyPr>
          <a:p>
            <a:pPr marL="457200" marR="0" lvl="1" indent="0" algn="l" defTabSz="914400" rtl="0" eaLnBrk="1" fontAlgn="base" latinLnBrk="0" hangingPunct="1">
              <a:lnSpc>
                <a:spcPct val="100000"/>
              </a:lnSpc>
              <a:spcBef>
                <a:spcPct val="0"/>
              </a:spcBef>
              <a:spcAft>
                <a:spcPct val="0"/>
              </a:spcAft>
              <a:buClrTx/>
              <a:buSzTx/>
              <a:buFontTx/>
              <a:buNone/>
              <a:defRPr/>
            </a:pPr>
            <a:r>
              <a:rPr lang="en-US" altLang="zh-CN" sz="240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sym typeface="+mn-ea"/>
              </a:rPr>
              <a:t>【</a:t>
            </a:r>
            <a:r>
              <a:rPr lang="zh-CN" altLang="en-US" sz="240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sym typeface="+mn-ea"/>
              </a:rPr>
              <a:t>例</a:t>
            </a:r>
            <a:r>
              <a:rPr lang="en-US" altLang="zh-CN" sz="240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sym typeface="+mn-ea"/>
              </a:rPr>
              <a:t>3.1】 </a:t>
            </a:r>
            <a:r>
              <a:rPr lang="zh-CN" altLang="zh-CN" sz="240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sym typeface="+mn-ea"/>
              </a:rPr>
              <a:t>回文判断</a:t>
            </a:r>
            <a:endParaRPr kumimoji="0" lang="en-US" altLang="zh-CN" sz="2400" b="0" i="0" u="none" strike="noStrike" kern="1200" cap="none" spc="0" normalizeH="0" baseline="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a:p>
            <a:pPr marL="457200" marR="0" lvl="1" indent="457200" algn="l" defTabSz="914400" rtl="0" fontAlgn="base">
              <a:lnSpc>
                <a:spcPct val="150000"/>
              </a:lnSpc>
              <a:spcBef>
                <a:spcPct val="0"/>
              </a:spcBef>
              <a:spcAft>
                <a:spcPct val="0"/>
              </a:spcAft>
              <a:buClrTx/>
              <a:buSzTx/>
              <a:buFontTx/>
              <a:buNone/>
              <a:defRPr/>
            </a:pPr>
            <a:r>
              <a:rPr lang="zh-CN" altLang="zh-CN" sz="200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sym typeface="+mn-ea"/>
              </a:rPr>
              <a:t>所谓回文，是指一个字符串的字符序列（不包括空格）顺读和逆读是一样的。</a:t>
            </a:r>
            <a:endParaRPr kumimoji="0" lang="en-US" altLang="zh-CN" sz="2000" b="0" i="0" u="none" strike="noStrike" kern="1200" cap="none" spc="0" normalizeH="0" baseline="0" noProof="0" dirty="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a:p>
            <a:pPr marL="457200" marR="0" lvl="1" indent="457200" algn="l" defTabSz="914400" rtl="0" fontAlgn="base">
              <a:lnSpc>
                <a:spcPct val="150000"/>
              </a:lnSpc>
              <a:spcBef>
                <a:spcPct val="0"/>
              </a:spcBef>
              <a:spcAft>
                <a:spcPct val="0"/>
              </a:spcAft>
              <a:buClrTx/>
              <a:buSzTx/>
              <a:buFontTx/>
              <a:buNone/>
              <a:defRPr/>
            </a:pPr>
            <a:r>
              <a:rPr lang="zh-CN" altLang="zh-CN" sz="2000" noProof="0" dirty="0">
                <a:ln>
                  <a:noFill/>
                </a:ln>
                <a:effectLst/>
                <a:uLnTx/>
                <a:uFillTx/>
                <a:latin typeface="微软雅黑" panose="020B0503020204020204" pitchFamily="34" charset="-122"/>
                <a:ea typeface="微软雅黑" panose="020B0503020204020204" pitchFamily="34" charset="-122"/>
                <a:sym typeface="+mn-ea"/>
              </a:rPr>
              <a:t>例如</a:t>
            </a:r>
            <a:r>
              <a:rPr lang="zh-CN" altLang="en-US" sz="2000" noProof="0" dirty="0">
                <a:ln>
                  <a:noFill/>
                </a:ln>
                <a:effectLst/>
                <a:uLnTx/>
                <a:uFillTx/>
                <a:latin typeface="微软雅黑" panose="020B0503020204020204" pitchFamily="34" charset="-122"/>
                <a:ea typeface="微软雅黑" panose="020B0503020204020204" pitchFamily="34" charset="-122"/>
                <a:sym typeface="+mn-ea"/>
              </a:rPr>
              <a:t>：</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"dad"</a:t>
            </a:r>
            <a:r>
              <a:rPr lang="zh-CN" altLang="zh-CN" sz="2000" noProof="0" dirty="0">
                <a:ln>
                  <a:noFill/>
                </a:ln>
                <a:effectLst/>
                <a:uLnTx/>
                <a:uFillTx/>
                <a:latin typeface="微软雅黑" panose="020B0503020204020204" pitchFamily="34" charset="-122"/>
                <a:ea typeface="微软雅黑" panose="020B0503020204020204" pitchFamily="34" charset="-122"/>
                <a:sym typeface="+mn-ea"/>
              </a:rPr>
              <a:t>、</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"mum"</a:t>
            </a:r>
            <a:r>
              <a:rPr lang="zh-CN" altLang="zh-CN" sz="2000" noProof="0" dirty="0">
                <a:ln>
                  <a:noFill/>
                </a:ln>
                <a:effectLst/>
                <a:uLnTx/>
                <a:uFillTx/>
                <a:latin typeface="微软雅黑" panose="020B0503020204020204" pitchFamily="34" charset="-122"/>
                <a:ea typeface="微软雅黑" panose="020B0503020204020204" pitchFamily="34" charset="-122"/>
                <a:sym typeface="+mn-ea"/>
              </a:rPr>
              <a:t>、</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"noon"</a:t>
            </a:r>
            <a:r>
              <a:rPr lang="zh-CN" altLang="zh-CN" sz="2000" noProof="0" dirty="0">
                <a:ln>
                  <a:noFill/>
                </a:ln>
                <a:effectLst/>
                <a:uLnTx/>
                <a:uFillTx/>
                <a:latin typeface="微软雅黑" panose="020B0503020204020204" pitchFamily="34" charset="-122"/>
                <a:ea typeface="微软雅黑" panose="020B0503020204020204" pitchFamily="34" charset="-122"/>
                <a:sym typeface="+mn-ea"/>
              </a:rPr>
              <a:t>、</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"was it a cat </a:t>
            </a:r>
            <a:r>
              <a:rPr lang="en-US" altLang="zh-CN" sz="2000" noProof="0" dirty="0" err="1">
                <a:ln>
                  <a:noFill/>
                </a:ln>
                <a:effectLst/>
                <a:uLnTx/>
                <a:uFillTx/>
                <a:latin typeface="微软雅黑" panose="020B0503020204020204" pitchFamily="34" charset="-122"/>
                <a:ea typeface="微软雅黑" panose="020B0503020204020204" pitchFamily="34" charset="-122"/>
                <a:sym typeface="+mn-ea"/>
              </a:rPr>
              <a:t>i</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 saw"</a:t>
            </a:r>
            <a:r>
              <a:rPr lang="zh-CN" altLang="zh-CN" sz="2000" noProof="0" dirty="0">
                <a:ln>
                  <a:noFill/>
                </a:ln>
                <a:effectLst/>
                <a:uLnTx/>
                <a:uFillTx/>
                <a:latin typeface="微软雅黑" panose="020B0503020204020204" pitchFamily="34" charset="-122"/>
                <a:ea typeface="微软雅黑" panose="020B0503020204020204" pitchFamily="34" charset="-122"/>
                <a:sym typeface="+mn-ea"/>
              </a:rPr>
              <a:t>都是回文，而</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"good"</a:t>
            </a:r>
            <a:r>
              <a:rPr lang="zh-CN" altLang="zh-CN" sz="2000" noProof="0" dirty="0">
                <a:ln>
                  <a:noFill/>
                </a:ln>
                <a:effectLst/>
                <a:uLnTx/>
                <a:uFillTx/>
                <a:latin typeface="微软雅黑" panose="020B0503020204020204" pitchFamily="34" charset="-122"/>
                <a:ea typeface="微软雅黑" panose="020B0503020204020204" pitchFamily="34" charset="-122"/>
                <a:sym typeface="+mn-ea"/>
              </a:rPr>
              <a:t>，</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"so </a:t>
            </a:r>
            <a:r>
              <a:rPr lang="en-US" altLang="zh-CN" sz="2000" noProof="0" dirty="0" err="1">
                <a:ln>
                  <a:noFill/>
                </a:ln>
                <a:effectLst/>
                <a:uLnTx/>
                <a:uFillTx/>
                <a:latin typeface="微软雅黑" panose="020B0503020204020204" pitchFamily="34" charset="-122"/>
                <a:ea typeface="微软雅黑" panose="020B0503020204020204" pitchFamily="34" charset="-122"/>
                <a:sym typeface="+mn-ea"/>
              </a:rPr>
              <a:t>so</a:t>
            </a:r>
            <a:r>
              <a:rPr lang="en-US" altLang="zh-CN" sz="2000" noProof="0" dirty="0">
                <a:ln>
                  <a:noFill/>
                </a:ln>
                <a:effectLst/>
                <a:uLnTx/>
                <a:uFillTx/>
                <a:latin typeface="微软雅黑" panose="020B0503020204020204" pitchFamily="34" charset="-122"/>
                <a:ea typeface="微软雅黑" panose="020B0503020204020204" pitchFamily="34" charset="-122"/>
                <a:sym typeface="+mn-ea"/>
              </a:rPr>
              <a:t>"</a:t>
            </a:r>
            <a:r>
              <a:rPr lang="zh-CN" altLang="zh-CN" sz="2000" noProof="0" dirty="0">
                <a:ln>
                  <a:noFill/>
                </a:ln>
                <a:effectLst/>
                <a:uLnTx/>
                <a:uFillTx/>
                <a:latin typeface="微软雅黑" panose="020B0503020204020204" pitchFamily="34" charset="-122"/>
                <a:ea typeface="微软雅黑" panose="020B0503020204020204" pitchFamily="34" charset="-122"/>
                <a:sym typeface="+mn-ea"/>
              </a:rPr>
              <a:t>则不是。</a:t>
            </a:r>
            <a:endParaRPr lang="zh-CN" altLang="zh-CN" sz="2000" noProof="0" dirty="0">
              <a:ln>
                <a:noFill/>
              </a:ln>
              <a:effectLst/>
              <a:uLnTx/>
              <a:uFillTx/>
              <a:latin typeface="微软雅黑" panose="020B0503020204020204" pitchFamily="34" charset="-122"/>
              <a:ea typeface="微软雅黑" panose="020B0503020204020204" pitchFamily="34" charset="-122"/>
              <a:sym typeface="+mn-ea"/>
            </a:endParaRPr>
          </a:p>
        </p:txBody>
      </p:sp>
      <p:sp>
        <p:nvSpPr>
          <p:cNvPr id="9" name="内容占位符 2"/>
          <p:cNvSpPr txBox="1"/>
          <p:nvPr/>
        </p:nvSpPr>
        <p:spPr bwMode="gray">
          <a:xfrm>
            <a:off x="553720" y="2998470"/>
            <a:ext cx="10428605" cy="2400935"/>
          </a:xfrm>
          <a:prstGeom prst="rect">
            <a:avLst/>
          </a:prstGeom>
          <a:noFill/>
          <a:ln w="9525">
            <a:noFill/>
            <a:miter lim="800000"/>
          </a:ln>
        </p:spPr>
        <p:txBody>
          <a:bodyPr/>
          <a:p>
            <a:pPr marL="457200" marR="0" lvl="1" indent="457200" algn="l" defTabSz="914400" rtl="0" fontAlgn="base">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015B9F"/>
                </a:solidFill>
                <a:effectLst/>
                <a:uLnTx/>
                <a:uFillTx/>
                <a:latin typeface="微软雅黑" panose="020B0503020204020204" pitchFamily="34" charset="-122"/>
                <a:ea typeface="微软雅黑" panose="020B0503020204020204" pitchFamily="34" charset="-122"/>
                <a:cs typeface="+mn-cs"/>
              </a:rPr>
              <a:t>本例</a:t>
            </a:r>
            <a:r>
              <a:rPr kumimoji="0" lang="zh-CN" altLang="zh-CN" sz="2000" b="0" i="0" u="none" strike="noStrike" kern="1200" cap="none" spc="0" normalizeH="0" baseline="0" noProof="0" dirty="0">
                <a:ln>
                  <a:noFill/>
                </a:ln>
                <a:solidFill>
                  <a:srgbClr val="015B9F"/>
                </a:solidFill>
                <a:effectLst/>
                <a:uLnTx/>
                <a:uFillTx/>
                <a:latin typeface="微软雅黑" panose="020B0503020204020204" pitchFamily="34" charset="-122"/>
                <a:ea typeface="微软雅黑" panose="020B0503020204020204" pitchFamily="34" charset="-122"/>
                <a:cs typeface="+mn-cs"/>
              </a:rPr>
              <a:t>读入一个字符串，过滤字符串中的空格，然后检查其是否回文。</a:t>
            </a:r>
            <a:endParaRPr kumimoji="0" lang="en-US" altLang="zh-CN" sz="2000" b="0" i="0" u="none" strike="noStrike" kern="1200" cap="none" spc="0" normalizeH="0" baseline="0" noProof="0" dirty="0">
              <a:ln>
                <a:noFill/>
              </a:ln>
              <a:solidFill>
                <a:srgbClr val="015B9F"/>
              </a:solidFill>
              <a:effectLst/>
              <a:uLnTx/>
              <a:uFillTx/>
              <a:latin typeface="微软雅黑" panose="020B0503020204020204" pitchFamily="34" charset="-122"/>
              <a:ea typeface="微软雅黑" panose="020B0503020204020204" pitchFamily="34" charset="-122"/>
              <a:cs typeface="+mn-cs"/>
            </a:endParaRPr>
          </a:p>
          <a:p>
            <a:pPr marL="457200" marR="0" lvl="1" indent="457200" algn="l" defTabSz="914400" rtl="0" fontAlgn="base">
              <a:lnSpc>
                <a:spcPct val="15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可以用栈来处理。对去掉了空格的串通过两遍扫描来检查其是否回文。第一遍扫描，将每个字符压入栈，形成一个逆序的串。第二遍扫描，将原串中的每一个字符与从栈中弹出的字符作比较，若字符不同，则结束处理，该串不是回文。若直到栈空每一对比较的字符都相同，则该串是回文。</a:t>
            </a:r>
            <a:endPar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3975" y="49530"/>
            <a:ext cx="8004175" cy="1198880"/>
          </a:xfrm>
          <a:prstGeom prst="rect">
            <a:avLst/>
          </a:prstGeom>
          <a:noFill/>
        </p:spPr>
        <p:txBody>
          <a:bodyPr wrap="square" rtlCol="0">
            <a:spAutoFit/>
          </a:bodyPr>
          <a:p>
            <a:r>
              <a:rPr sz="3600" b="1" dirty="0">
                <a:solidFill>
                  <a:schemeClr val="bg1"/>
                </a:solidFill>
                <a:latin typeface="微软雅黑" panose="020B0503020204020204" pitchFamily="34" charset="-122"/>
                <a:ea typeface="微软雅黑" panose="020B0503020204020204" pitchFamily="34" charset="-122"/>
                <a:sym typeface="+mn-ea"/>
              </a:rPr>
              <a:t>3.1.3 栈的应用举例——迷宫问题</a:t>
            </a:r>
            <a:endParaRPr lang="zh-CN" altLang="en-US" sz="3600" dirty="0"/>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9" name="内容占位符 2"/>
          <p:cNvSpPr txBox="1"/>
          <p:nvPr/>
        </p:nvSpPr>
        <p:spPr bwMode="gray">
          <a:xfrm>
            <a:off x="304800" y="2107565"/>
            <a:ext cx="10556240" cy="1084580"/>
          </a:xfrm>
          <a:prstGeom prst="rect">
            <a:avLst/>
          </a:prstGeom>
          <a:noFill/>
          <a:ln w="9525">
            <a:noFill/>
            <a:miter lim="800000"/>
          </a:ln>
        </p:spPr>
        <p:txBody>
          <a:bodyPr/>
          <a:p>
            <a:pPr marL="457200" marR="0" lvl="1" indent="457200" algn="l" defTabSz="914400" rtl="0" fontAlgn="base">
              <a:lnSpc>
                <a:spcPct val="125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用一个二维数组模拟迷宫地图，如图</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(A)</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所示，</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0</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表示可以通行，</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1</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表示墙壁，无法通过。为了方便处理边界，可以在迷宫的四周加设围墙，如图</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(B)</a:t>
            </a:r>
            <a:r>
              <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所示。</a:t>
            </a:r>
            <a:endParaRPr kumimoji="0" lang="zh-CN"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34821" name="Picture 3"/>
          <p:cNvPicPr>
            <a:picLocks noChangeAspect="1"/>
          </p:cNvPicPr>
          <p:nvPr/>
        </p:nvPicPr>
        <p:blipFill>
          <a:blip r:embed="rId2"/>
          <a:stretch>
            <a:fillRect/>
          </a:stretch>
        </p:blipFill>
        <p:spPr>
          <a:xfrm>
            <a:off x="1798320" y="3103880"/>
            <a:ext cx="7569200" cy="2362200"/>
          </a:xfrm>
          <a:prstGeom prst="rect">
            <a:avLst/>
          </a:prstGeom>
          <a:noFill/>
          <a:ln w="9525">
            <a:noFill/>
          </a:ln>
        </p:spPr>
      </p:pic>
      <p:sp>
        <p:nvSpPr>
          <p:cNvPr id="2" name="文本框 1"/>
          <p:cNvSpPr txBox="1"/>
          <p:nvPr/>
        </p:nvSpPr>
        <p:spPr>
          <a:xfrm>
            <a:off x="1962150" y="5734685"/>
            <a:ext cx="2895600" cy="368300"/>
          </a:xfrm>
          <a:prstGeom prst="rect">
            <a:avLst/>
          </a:prstGeom>
          <a:noFill/>
        </p:spPr>
        <p:txBody>
          <a:bodyPr wrap="square" rtlCol="0" anchor="t">
            <a:spAutoFit/>
          </a:bodyPr>
          <a:p>
            <a:r>
              <a:rPr lang="zh-CN" altLang="en-US" dirty="0">
                <a:latin typeface="微软雅黑" panose="020B0503020204020204" pitchFamily="34" charset="-122"/>
                <a:sym typeface="+mn-ea"/>
              </a:rPr>
              <a:t>图</a:t>
            </a:r>
            <a:r>
              <a:rPr lang="en-US" altLang="zh-CN">
                <a:latin typeface="微软雅黑" panose="020B0503020204020204" pitchFamily="34" charset="-122"/>
                <a:sym typeface="+mn-ea"/>
              </a:rPr>
              <a:t>(A) </a:t>
            </a:r>
            <a:r>
              <a:rPr lang="zh-CN" altLang="en-US" dirty="0">
                <a:latin typeface="微软雅黑" panose="020B0503020204020204" pitchFamily="34" charset="-122"/>
                <a:sym typeface="+mn-ea"/>
              </a:rPr>
              <a:t>迷宫地图</a:t>
            </a:r>
            <a:endParaRPr lang="zh-CN" altLang="en-US" dirty="0">
              <a:latin typeface="微软雅黑" panose="020B0503020204020204" pitchFamily="34" charset="-122"/>
              <a:sym typeface="+mn-ea"/>
            </a:endParaRPr>
          </a:p>
        </p:txBody>
      </p:sp>
      <p:sp>
        <p:nvSpPr>
          <p:cNvPr id="34823" name="TextBox 9"/>
          <p:cNvSpPr txBox="1"/>
          <p:nvPr/>
        </p:nvSpPr>
        <p:spPr>
          <a:xfrm>
            <a:off x="5997893" y="5734685"/>
            <a:ext cx="3230562" cy="369888"/>
          </a:xfrm>
          <a:prstGeom prst="rect">
            <a:avLst/>
          </a:prstGeom>
          <a:noFill/>
          <a:ln w="9525">
            <a:noFill/>
          </a:ln>
        </p:spPr>
        <p:txBody>
          <a:bodyPr wrap="none">
            <a:spAutoFit/>
          </a:bodyPr>
          <a:p>
            <a:pPr algn="ctr"/>
            <a:r>
              <a:rPr lang="zh-CN" altLang="en-US" b="0" dirty="0">
                <a:solidFill>
                  <a:schemeClr val="tx1"/>
                </a:solidFill>
                <a:latin typeface="微软雅黑" panose="020B0503020204020204" pitchFamily="34" charset="-122"/>
              </a:rPr>
              <a:t>图</a:t>
            </a:r>
            <a:r>
              <a:rPr lang="en-US" altLang="zh-CN" b="0">
                <a:solidFill>
                  <a:schemeClr val="tx1"/>
                </a:solidFill>
                <a:latin typeface="微软雅黑" panose="020B0503020204020204" pitchFamily="34" charset="-122"/>
              </a:rPr>
              <a:t>(B) </a:t>
            </a:r>
            <a:r>
              <a:rPr lang="zh-CN" altLang="en-US" b="0" dirty="0">
                <a:solidFill>
                  <a:schemeClr val="tx1"/>
                </a:solidFill>
                <a:latin typeface="微软雅黑" panose="020B0503020204020204" pitchFamily="34" charset="-122"/>
              </a:rPr>
              <a:t>加设围墙后的迷宫地图</a:t>
            </a:r>
            <a:endParaRPr lang="zh-CN" altLang="en-US" b="0" dirty="0">
              <a:solidFill>
                <a:schemeClr val="tx1"/>
              </a:solidFill>
              <a:latin typeface="微软雅黑" panose="020B0503020204020204" pitchFamily="34" charset="-122"/>
            </a:endParaRPr>
          </a:p>
        </p:txBody>
      </p:sp>
      <p:sp>
        <p:nvSpPr>
          <p:cNvPr id="3" name="文本框 2"/>
          <p:cNvSpPr txBox="1"/>
          <p:nvPr/>
        </p:nvSpPr>
        <p:spPr>
          <a:xfrm>
            <a:off x="304800" y="1327785"/>
            <a:ext cx="7557135" cy="804545"/>
          </a:xfrm>
          <a:prstGeom prst="rect">
            <a:avLst/>
          </a:prstGeom>
          <a:noFill/>
          <a:ln>
            <a:noFill/>
          </a:ln>
        </p:spPr>
        <p:txBody>
          <a:bodyPr wrap="square" rtlCol="0" anchor="t">
            <a:noAutofit/>
          </a:bodyPr>
          <a:p>
            <a:pPr marL="457200" lvl="1" indent="0" algn="l" fontAlgn="base">
              <a:lnSpc>
                <a:spcPct val="100000"/>
              </a:lnSpc>
              <a:buClrTx/>
              <a:buSzTx/>
              <a:buFontTx/>
              <a:buNone/>
              <a:defRPr/>
            </a:pPr>
            <a:r>
              <a:rPr lang="zh-CN" altLang="en-US" sz="2400" noProof="0" dirty="0">
                <a:ln>
                  <a:noFill/>
                </a:ln>
                <a:solidFill>
                  <a:srgbClr val="000066">
                    <a:lumMod val="60000"/>
                    <a:lumOff val="40000"/>
                  </a:srgbClr>
                </a:solidFill>
                <a:effectLst/>
                <a:uLnTx/>
                <a:uFillTx/>
                <a:cs typeface="+mn-ea"/>
                <a:sym typeface="+mn-ea"/>
              </a:rPr>
              <a:t>【例</a:t>
            </a:r>
            <a:r>
              <a:rPr lang="en-US" altLang="zh-CN" sz="2400" noProof="0" dirty="0">
                <a:ln>
                  <a:noFill/>
                </a:ln>
                <a:solidFill>
                  <a:srgbClr val="000066">
                    <a:lumMod val="60000"/>
                    <a:lumOff val="40000"/>
                  </a:srgbClr>
                </a:solidFill>
                <a:effectLst/>
                <a:uLnTx/>
                <a:uFillTx/>
                <a:cs typeface="+mn-ea"/>
                <a:sym typeface="+mn-ea"/>
              </a:rPr>
              <a:t>3.2】 </a:t>
            </a:r>
            <a:r>
              <a:rPr lang="en-US" altLang="zh-CN" sz="2400" noProof="0" dirty="0" err="1">
                <a:ln>
                  <a:noFill/>
                </a:ln>
                <a:solidFill>
                  <a:srgbClr val="000066">
                    <a:lumMod val="60000"/>
                    <a:lumOff val="40000"/>
                  </a:srgbClr>
                </a:solidFill>
                <a:effectLst/>
                <a:uLnTx/>
                <a:uFillTx/>
                <a:cs typeface="+mn-ea"/>
                <a:sym typeface="+mn-ea"/>
              </a:rPr>
              <a:t>迷宫问题</a:t>
            </a:r>
            <a:endParaRPr lang="en-US" altLang="zh-CN" sz="2400" noProof="0" dirty="0" err="1">
              <a:ln>
                <a:noFill/>
              </a:ln>
              <a:solidFill>
                <a:srgbClr val="000066">
                  <a:lumMod val="60000"/>
                  <a:lumOff val="40000"/>
                </a:srgbClr>
              </a:solidFill>
              <a:effectLst/>
              <a:uLnTx/>
              <a:uFillTx/>
              <a:cs typeface="+mn-ea"/>
              <a:sym typeface="+mn-ea"/>
            </a:endParaRPr>
          </a:p>
          <a:p>
            <a:pPr marL="457200" lvl="1" indent="457200" algn="l" fontAlgn="base">
              <a:lnSpc>
                <a:spcPct val="100000"/>
              </a:lnSpc>
              <a:buClrTx/>
              <a:buSzTx/>
              <a:buFontTx/>
              <a:buNone/>
              <a:defRPr/>
            </a:pPr>
            <a:r>
              <a:rPr lang="zh-CN" altLang="zh-CN" sz="2000" noProof="0" dirty="0">
                <a:ln>
                  <a:noFill/>
                </a:ln>
                <a:solidFill>
                  <a:srgbClr val="000066">
                    <a:lumMod val="60000"/>
                    <a:lumOff val="40000"/>
                  </a:srgbClr>
                </a:solidFill>
                <a:effectLst/>
                <a:uLnTx/>
                <a:uFillTx/>
                <a:cs typeface="+mn-ea"/>
                <a:sym typeface="+mn-ea"/>
              </a:rPr>
              <a:t>找出一条</a:t>
            </a:r>
            <a:r>
              <a:rPr lang="zh-CN" altLang="en-US" sz="2000" noProof="0" dirty="0">
                <a:ln>
                  <a:noFill/>
                </a:ln>
                <a:solidFill>
                  <a:srgbClr val="000066">
                    <a:lumMod val="60000"/>
                    <a:lumOff val="40000"/>
                  </a:srgbClr>
                </a:solidFill>
                <a:effectLst/>
                <a:uLnTx/>
                <a:uFillTx/>
                <a:cs typeface="+mn-ea"/>
                <a:sym typeface="+mn-ea"/>
              </a:rPr>
              <a:t>从</a:t>
            </a:r>
            <a:r>
              <a:rPr lang="zh-CN" altLang="zh-CN" sz="2000" noProof="0" dirty="0">
                <a:ln>
                  <a:noFill/>
                </a:ln>
                <a:solidFill>
                  <a:srgbClr val="000066">
                    <a:lumMod val="60000"/>
                    <a:lumOff val="40000"/>
                  </a:srgbClr>
                </a:solidFill>
                <a:effectLst/>
                <a:uLnTx/>
                <a:uFillTx/>
                <a:cs typeface="+mn-ea"/>
                <a:sym typeface="+mn-ea"/>
              </a:rPr>
              <a:t>迷宫</a:t>
            </a:r>
            <a:r>
              <a:rPr lang="zh-CN" altLang="en-US" sz="2000" noProof="0" dirty="0">
                <a:ln>
                  <a:noFill/>
                </a:ln>
                <a:solidFill>
                  <a:srgbClr val="000066">
                    <a:lumMod val="60000"/>
                    <a:lumOff val="40000"/>
                  </a:srgbClr>
                </a:solidFill>
                <a:effectLst/>
                <a:uLnTx/>
                <a:uFillTx/>
                <a:cs typeface="+mn-ea"/>
                <a:sym typeface="+mn-ea"/>
              </a:rPr>
              <a:t>的入口到</a:t>
            </a:r>
            <a:r>
              <a:rPr lang="zh-CN" altLang="zh-CN" sz="2000" noProof="0" dirty="0">
                <a:ln>
                  <a:noFill/>
                </a:ln>
                <a:solidFill>
                  <a:srgbClr val="000066">
                    <a:lumMod val="60000"/>
                    <a:lumOff val="40000"/>
                  </a:srgbClr>
                </a:solidFill>
                <a:effectLst/>
                <a:uLnTx/>
                <a:uFillTx/>
                <a:cs typeface="+mn-ea"/>
                <a:sym typeface="+mn-ea"/>
              </a:rPr>
              <a:t>出口</a:t>
            </a:r>
            <a:r>
              <a:rPr lang="zh-CN" altLang="en-US" sz="2000" noProof="0" dirty="0">
                <a:ln>
                  <a:noFill/>
                </a:ln>
                <a:solidFill>
                  <a:srgbClr val="000066">
                    <a:lumMod val="60000"/>
                    <a:lumOff val="40000"/>
                  </a:srgbClr>
                </a:solidFill>
                <a:effectLst/>
                <a:uLnTx/>
                <a:uFillTx/>
                <a:cs typeface="+mn-ea"/>
                <a:sym typeface="+mn-ea"/>
              </a:rPr>
              <a:t>的</a:t>
            </a:r>
            <a:r>
              <a:rPr lang="zh-CN" altLang="zh-CN" sz="2000" noProof="0" dirty="0">
                <a:ln>
                  <a:noFill/>
                </a:ln>
                <a:solidFill>
                  <a:srgbClr val="000066">
                    <a:lumMod val="60000"/>
                    <a:lumOff val="40000"/>
                  </a:srgbClr>
                </a:solidFill>
                <a:effectLst/>
                <a:uLnTx/>
                <a:uFillTx/>
                <a:cs typeface="+mn-ea"/>
                <a:sym typeface="+mn-ea"/>
              </a:rPr>
              <a:t>通路（如果存在通路）</a:t>
            </a:r>
            <a:r>
              <a:rPr lang="zh-CN" altLang="zh-CN" noProof="0" dirty="0">
                <a:ln>
                  <a:noFill/>
                </a:ln>
                <a:solidFill>
                  <a:srgbClr val="000066">
                    <a:lumMod val="60000"/>
                    <a:lumOff val="40000"/>
                  </a:srgbClr>
                </a:solidFill>
                <a:effectLst/>
                <a:uLnTx/>
                <a:uFillTx/>
                <a:cs typeface="+mn-ea"/>
                <a:sym typeface="+mn-ea"/>
              </a:rPr>
              <a:t>。</a:t>
            </a:r>
            <a:endParaRPr kumimoji="0" lang="zh-CN" altLang="zh-CN" sz="2400" b="0" i="0" u="none" strike="noStrike" kern="1200" cap="none" spc="0" normalizeH="0" baseline="0" noProof="0" dirty="0">
              <a:ln>
                <a:noFill/>
              </a:ln>
              <a:solidFill>
                <a:srgbClr val="000000"/>
              </a:solidFill>
              <a:effectLst/>
              <a:uLnTx/>
              <a:uFillTx/>
              <a:cs typeface="+mn-ea"/>
            </a:endParaRPr>
          </a:p>
          <a:p>
            <a:pPr>
              <a:buNone/>
            </a:pPr>
            <a:endParaRPr kumimoji="0" lang="zh-CN" altLang="zh-CN" sz="2400" b="0" i="0" u="none" strike="noStrike" kern="12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迷宫问题</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2" name="内容占位符 2"/>
          <p:cNvSpPr txBox="1"/>
          <p:nvPr/>
        </p:nvSpPr>
        <p:spPr bwMode="gray">
          <a:xfrm>
            <a:off x="643255" y="1457960"/>
            <a:ext cx="10699115" cy="1631315"/>
          </a:xfrm>
          <a:prstGeom prst="rect">
            <a:avLst/>
          </a:prstGeom>
          <a:noFill/>
          <a:ln w="9525">
            <a:noFill/>
            <a:miter lim="800000"/>
          </a:ln>
        </p:spPr>
        <p:txBody>
          <a:bodyPr/>
          <a:p>
            <a:pPr marR="0" indent="0" defTabSz="914400" fontAlgn="auto">
              <a:lnSpc>
                <a:spcPct val="125000"/>
              </a:lnSpc>
              <a:buClrTx/>
              <a:buSzTx/>
              <a:buFontTx/>
              <a:buNone/>
              <a:defRPr/>
            </a:pPr>
            <a:r>
              <a:rPr kumimoji="0" lang="zh-CN" altLang="zh-CN" sz="2400" b="0" kern="1200" cap="none" spc="0" normalizeH="0" baseline="0" noProof="0" dirty="0">
                <a:solidFill>
                  <a:schemeClr val="tx1"/>
                </a:solidFill>
                <a:latin typeface="+mn-ea"/>
                <a:ea typeface="+mn-ea"/>
                <a:cs typeface="+mn-cs"/>
              </a:rPr>
              <a:t>在迷宫中行进时必须遵循三个原则：</a:t>
            </a:r>
            <a:endParaRPr kumimoji="0" lang="zh-CN" altLang="zh-CN" sz="2400" b="0" kern="1200" cap="none" spc="0" normalizeH="0" baseline="0" noProof="0" dirty="0">
              <a:solidFill>
                <a:schemeClr val="tx1"/>
              </a:solidFill>
              <a:latin typeface="+mn-ea"/>
              <a:ea typeface="+mn-ea"/>
              <a:cs typeface="+mn-cs"/>
            </a:endParaRPr>
          </a:p>
          <a:p>
            <a:pPr marR="0" indent="457200" defTabSz="914400" fontAlgn="auto">
              <a:lnSpc>
                <a:spcPct val="125000"/>
              </a:lnSpc>
              <a:buClrTx/>
              <a:buSzTx/>
              <a:buFontTx/>
              <a:buNone/>
              <a:defRPr/>
            </a:pPr>
            <a:r>
              <a:rPr kumimoji="0" lang="en-US" altLang="zh-CN" sz="2000" b="0" kern="1200" cap="none" spc="0" normalizeH="0" baseline="0" noProof="0" dirty="0">
                <a:solidFill>
                  <a:schemeClr val="tx1"/>
                </a:solidFill>
                <a:latin typeface="+mn-ea"/>
                <a:ea typeface="+mn-ea"/>
                <a:cs typeface="+mn-cs"/>
              </a:rPr>
              <a:t>1. </a:t>
            </a:r>
            <a:r>
              <a:rPr kumimoji="0" lang="zh-CN" altLang="zh-CN" sz="2000" b="0" kern="1200" cap="none" spc="0" normalizeH="0" baseline="0" noProof="0" dirty="0">
                <a:solidFill>
                  <a:schemeClr val="tx1"/>
                </a:solidFill>
                <a:latin typeface="+mn-ea"/>
                <a:ea typeface="+mn-ea"/>
                <a:cs typeface="+mn-cs"/>
              </a:rPr>
              <a:t>每一步只走一格；</a:t>
            </a:r>
            <a:endParaRPr kumimoji="0" lang="zh-CN" altLang="zh-CN" sz="2000" b="0" kern="1200" cap="none" spc="0" normalizeH="0" baseline="0" noProof="0" dirty="0">
              <a:solidFill>
                <a:schemeClr val="tx1"/>
              </a:solidFill>
              <a:latin typeface="+mn-ea"/>
              <a:ea typeface="+mn-ea"/>
              <a:cs typeface="+mn-cs"/>
            </a:endParaRPr>
          </a:p>
          <a:p>
            <a:pPr marR="0" indent="457200" defTabSz="914400" fontAlgn="auto">
              <a:lnSpc>
                <a:spcPct val="125000"/>
              </a:lnSpc>
              <a:buClrTx/>
              <a:buSzTx/>
              <a:buFontTx/>
              <a:buNone/>
              <a:defRPr/>
            </a:pPr>
            <a:r>
              <a:rPr kumimoji="0" lang="en-US" altLang="zh-CN" sz="2000" b="0" kern="1200" cap="none" spc="0" normalizeH="0" baseline="0" noProof="0" dirty="0">
                <a:solidFill>
                  <a:schemeClr val="tx1"/>
                </a:solidFill>
                <a:latin typeface="+mn-ea"/>
                <a:ea typeface="+mn-ea"/>
                <a:cs typeface="+mn-cs"/>
              </a:rPr>
              <a:t>2. </a:t>
            </a:r>
            <a:r>
              <a:rPr kumimoji="0" lang="zh-CN" altLang="zh-CN" sz="2000" b="0" kern="1200" cap="none" spc="0" normalizeH="0" baseline="0" noProof="0" dirty="0">
                <a:solidFill>
                  <a:schemeClr val="tx1"/>
                </a:solidFill>
                <a:latin typeface="+mn-ea"/>
                <a:ea typeface="+mn-ea"/>
                <a:cs typeface="+mn-cs"/>
              </a:rPr>
              <a:t>遇到死胡同时退回一步，看是否有其他的路可以走；</a:t>
            </a:r>
            <a:endParaRPr kumimoji="0" lang="zh-CN" altLang="zh-CN" sz="2000" b="0" kern="1200" cap="none" spc="0" normalizeH="0" baseline="0" noProof="0" dirty="0">
              <a:solidFill>
                <a:schemeClr val="tx1"/>
              </a:solidFill>
              <a:latin typeface="+mn-ea"/>
              <a:ea typeface="+mn-ea"/>
              <a:cs typeface="+mn-cs"/>
            </a:endParaRPr>
          </a:p>
          <a:p>
            <a:pPr marR="0" indent="457200" defTabSz="914400" fontAlgn="auto">
              <a:lnSpc>
                <a:spcPct val="125000"/>
              </a:lnSpc>
              <a:buClrTx/>
              <a:buSzTx/>
              <a:buFontTx/>
              <a:buNone/>
              <a:defRPr/>
            </a:pPr>
            <a:r>
              <a:rPr kumimoji="0" lang="en-US" altLang="zh-CN" sz="2000" b="0" kern="1200" cap="none" spc="0" normalizeH="0" baseline="0" noProof="0" dirty="0">
                <a:solidFill>
                  <a:schemeClr val="tx1"/>
                </a:solidFill>
                <a:latin typeface="+mn-ea"/>
                <a:ea typeface="+mn-ea"/>
                <a:cs typeface="+mn-cs"/>
              </a:rPr>
              <a:t>3. </a:t>
            </a:r>
            <a:r>
              <a:rPr kumimoji="0" lang="zh-CN" altLang="zh-CN" sz="2000" b="0" kern="1200" cap="none" spc="0" normalizeH="0" baseline="0" noProof="0" dirty="0">
                <a:solidFill>
                  <a:schemeClr val="tx1"/>
                </a:solidFill>
                <a:latin typeface="+mn-ea"/>
                <a:ea typeface="+mn-ea"/>
                <a:cs typeface="+mn-cs"/>
              </a:rPr>
              <a:t>走过的路不会再走第二次。</a:t>
            </a:r>
            <a:endParaRPr kumimoji="0" lang="zh-CN" altLang="zh-CN" sz="2000" b="0" kern="1200" cap="none" spc="0" normalizeH="0" baseline="0" noProof="0" dirty="0">
              <a:solidFill>
                <a:schemeClr val="tx1"/>
              </a:solidFill>
              <a:latin typeface="+mn-ea"/>
              <a:ea typeface="+mn-ea"/>
              <a:cs typeface="+mn-cs"/>
            </a:endParaRPr>
          </a:p>
        </p:txBody>
      </p:sp>
      <p:sp>
        <p:nvSpPr>
          <p:cNvPr id="3" name="文本框 2"/>
          <p:cNvSpPr txBox="1"/>
          <p:nvPr/>
        </p:nvSpPr>
        <p:spPr>
          <a:xfrm>
            <a:off x="553720" y="3950335"/>
            <a:ext cx="11063605" cy="2245995"/>
          </a:xfrm>
          <a:prstGeom prst="rect">
            <a:avLst/>
          </a:prstGeom>
          <a:noFill/>
        </p:spPr>
        <p:txBody>
          <a:bodyPr wrap="square" rtlCol="0" anchor="t">
            <a:noAutofit/>
          </a:bodyPr>
          <a:p>
            <a:pPr marR="0" indent="0" defTabSz="914400" fontAlgn="auto">
              <a:lnSpc>
                <a:spcPct val="125000"/>
              </a:lnSpc>
              <a:buClrTx/>
              <a:buSzTx/>
              <a:buFontTx/>
              <a:buNone/>
              <a:defRPr/>
            </a:pPr>
            <a:r>
              <a:rPr lang="zh-CN" altLang="zh-CN" sz="2400" noProof="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用回溯法来求解迷宫问题</a:t>
            </a:r>
            <a:r>
              <a:rPr lang="en-US" altLang="zh-CN" sz="2400" noProof="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a:t>
            </a:r>
            <a:endParaRPr kumimoji="0" lang="en-US" altLang="zh-CN" sz="2400" b="0" kern="1200" cap="none" spc="0" normalizeH="0" baseline="0" noProof="0"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mn-cs"/>
            </a:endParaRPr>
          </a:p>
          <a:p>
            <a:pPr marR="0" indent="457200" defTabSz="914400" fontAlgn="auto">
              <a:lnSpc>
                <a:spcPct val="125000"/>
              </a:lnSpc>
              <a:buClrTx/>
              <a:buSzTx/>
              <a:buFontTx/>
              <a:buNone/>
              <a:defRPr/>
            </a:pPr>
            <a:r>
              <a:rPr lang="zh-CN" altLang="zh-CN" sz="2000" noProof="0" dirty="0">
                <a:latin typeface="微软雅黑" panose="020B0503020204020204" pitchFamily="34" charset="-122"/>
                <a:ea typeface="微软雅黑" panose="020B0503020204020204" pitchFamily="34" charset="-122"/>
                <a:sym typeface="+mn-ea"/>
              </a:rPr>
              <a:t>首先从入口出发，按东南西北的次序依次向下一步探索，若未走过且能通过，则前进一步进入下一位置；否则试探下一个方向。若所有的方向均没有通路，则将该点标为死胡同并沿原路退回到前一步，再换下一个方向继续试探。直到找到一条通路，或无路可走返回到入口。</a:t>
            </a:r>
            <a:endParaRPr lang="zh-CN" altLang="zh-CN" sz="2000" noProof="0" dirty="0">
              <a:latin typeface="微软雅黑" panose="020B0503020204020204" pitchFamily="34" charset="-122"/>
              <a:ea typeface="微软雅黑" panose="020B0503020204020204" pitchFamily="34" charset="-122"/>
              <a:sym typeface="+mn-ea"/>
            </a:endParaRPr>
          </a:p>
        </p:txBody>
      </p:sp>
      <p:sp>
        <p:nvSpPr>
          <p:cNvPr id="5" name="内容占位符 2"/>
          <p:cNvSpPr txBox="1"/>
          <p:nvPr/>
        </p:nvSpPr>
        <p:spPr bwMode="gray">
          <a:xfrm>
            <a:off x="553720" y="3060700"/>
            <a:ext cx="10788650" cy="1295400"/>
          </a:xfrm>
          <a:prstGeom prst="rect">
            <a:avLst/>
          </a:prstGeom>
          <a:noFill/>
          <a:ln w="9525">
            <a:noFill/>
            <a:miter lim="800000"/>
          </a:ln>
        </p:spPr>
        <p:txBody>
          <a:bodyPr/>
          <a:p>
            <a:pPr marR="0" indent="457200" defTabSz="914400" fontAlgn="auto">
              <a:lnSpc>
                <a:spcPct val="125000"/>
              </a:lnSpc>
              <a:buClrTx/>
              <a:buSzTx/>
              <a:buFontTx/>
              <a:buNone/>
              <a:defRPr/>
            </a:pPr>
            <a:r>
              <a:rPr kumimoji="0" lang="zh-CN" altLang="zh-CN" sz="2000" b="0" kern="1200" cap="none" spc="0" normalizeH="0" baseline="0" noProof="0" dirty="0">
                <a:solidFill>
                  <a:schemeClr val="tx1"/>
                </a:solidFill>
                <a:latin typeface="+mn-ea"/>
                <a:ea typeface="+mn-ea"/>
                <a:cs typeface="+mn-cs"/>
              </a:rPr>
              <a:t>为此，程序在搜索迷宫出口的过程中不但要记录走过的路径，还必须判断下一步应该往哪个方向走，可以选择的方向有</a:t>
            </a:r>
            <a:r>
              <a:rPr kumimoji="0" lang="en-US" altLang="zh-CN" sz="2000" b="0" kern="1200" cap="none" spc="0" normalizeH="0" baseline="0" noProof="0" dirty="0">
                <a:solidFill>
                  <a:schemeClr val="tx1"/>
                </a:solidFill>
                <a:latin typeface="+mn-ea"/>
                <a:ea typeface="+mn-ea"/>
                <a:cs typeface="+mn-cs"/>
              </a:rPr>
              <a:t>4</a:t>
            </a:r>
            <a:r>
              <a:rPr kumimoji="0" lang="zh-CN" altLang="zh-CN" sz="2000" b="0" kern="1200" cap="none" spc="0" normalizeH="0" baseline="0" noProof="0" dirty="0">
                <a:solidFill>
                  <a:schemeClr val="tx1"/>
                </a:solidFill>
                <a:latin typeface="+mn-ea"/>
                <a:ea typeface="+mn-ea"/>
                <a:cs typeface="+mn-cs"/>
              </a:rPr>
              <a:t>个，分别为东（右）、南（下）、西（左）、北（上）。</a:t>
            </a:r>
            <a:endParaRPr kumimoji="0" lang="zh-CN" altLang="zh-CN" sz="2000" b="0" kern="1200" cap="none" spc="0" normalizeH="0" baseline="0" noProof="0" dirty="0">
              <a:solidFill>
                <a:schemeClr val="tx1"/>
              </a:solidFill>
              <a:latin typeface="+mn-ea"/>
              <a:ea typeface="+mn-ea"/>
              <a:cs typeface="+mn-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2" name="文本框 1"/>
          <p:cNvSpPr txBox="1"/>
          <p:nvPr/>
        </p:nvSpPr>
        <p:spPr>
          <a:xfrm>
            <a:off x="0" y="49530"/>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迷宫问题</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3" name="内容占位符 2"/>
          <p:cNvSpPr txBox="1"/>
          <p:nvPr/>
        </p:nvSpPr>
        <p:spPr bwMode="gray">
          <a:xfrm>
            <a:off x="765175" y="1070610"/>
            <a:ext cx="10246360" cy="4907915"/>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在求解过程中，为了能够退回到前一步以便继续向下一个方向探索前进，需要用一个</a:t>
            </a:r>
            <a:r>
              <a:rPr kumimoji="0" lang="zh-CN" altLang="zh-CN" sz="2000" b="0" kern="1200" cap="none" spc="0" normalizeH="0" baseline="0" noProof="0" dirty="0">
                <a:solidFill>
                  <a:srgbClr val="E76969">
                    <a:lumMod val="75000"/>
                  </a:srgbClr>
                </a:solidFill>
                <a:latin typeface="微软雅黑" panose="020B0503020204020204" pitchFamily="34" charset="-122"/>
                <a:ea typeface="微软雅黑" panose="020B0503020204020204" pitchFamily="34" charset="-122"/>
                <a:cs typeface="+mn-ea"/>
              </a:rPr>
              <a:t>栈</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来保存当前所走线路沿途的每一个位置的</a:t>
            </a:r>
            <a:r>
              <a:rPr kumimoji="0" lang="zh-CN" altLang="zh-CN" sz="2000" b="0" kern="1200" cap="none" spc="0" normalizeH="0" baseline="0" noProof="0" dirty="0">
                <a:solidFill>
                  <a:srgbClr val="000066">
                    <a:lumMod val="60000"/>
                    <a:lumOff val="40000"/>
                  </a:srgbClr>
                </a:solidFill>
                <a:latin typeface="微软雅黑" panose="020B0503020204020204" pitchFamily="34" charset="-122"/>
                <a:ea typeface="微软雅黑" panose="020B0503020204020204" pitchFamily="34" charset="-122"/>
                <a:cs typeface="+mn-ea"/>
              </a:rPr>
              <a:t>坐标</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以及从该位置前进的</a:t>
            </a:r>
            <a:r>
              <a:rPr kumimoji="0" lang="zh-CN" altLang="zh-CN" sz="2000" b="0" kern="1200" cap="none" spc="0" normalizeH="0" baseline="0" noProof="0" dirty="0">
                <a:solidFill>
                  <a:srgbClr val="000066">
                    <a:lumMod val="60000"/>
                    <a:lumOff val="40000"/>
                  </a:srgbClr>
                </a:solidFill>
                <a:latin typeface="微软雅黑" panose="020B0503020204020204" pitchFamily="34" charset="-122"/>
                <a:ea typeface="微软雅黑" panose="020B0503020204020204" pitchFamily="34" charset="-122"/>
                <a:cs typeface="+mn-ea"/>
              </a:rPr>
              <a:t>方向</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，而栈顶的位置便是当前的位置。当到达出口时，栈中从底到顶即为一条由入口到出口的通路。路径上的每一步到达的位置用序号（从</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开始）编排，称为足迹。若存在从入口到出口的路径，则程序以足迹的形式输出一条路径。</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5" name="内容占位符 2"/>
          <p:cNvSpPr txBox="1"/>
          <p:nvPr/>
        </p:nvSpPr>
        <p:spPr bwMode="gray">
          <a:xfrm>
            <a:off x="765175" y="5689600"/>
            <a:ext cx="4876800" cy="609600"/>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程序请见教程 </a:t>
            </a:r>
            <a:r>
              <a:rPr kumimoji="0" lang="en-US" altLang="zh-CN" sz="2000" b="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P.57</a:t>
            </a:r>
            <a:endParaRPr kumimoji="0" lang="en-US" altLang="zh-CN" sz="2000" b="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3.1.3 栈的应用举例——表达式求值</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2" name="内容占位符 2"/>
          <p:cNvSpPr txBox="1"/>
          <p:nvPr/>
        </p:nvSpPr>
        <p:spPr bwMode="gray">
          <a:xfrm>
            <a:off x="219710" y="1243965"/>
            <a:ext cx="11017885" cy="1555115"/>
          </a:xfrm>
          <a:prstGeom prst="rect">
            <a:avLst/>
          </a:prstGeom>
          <a:noFill/>
          <a:ln w="9525">
            <a:noFill/>
            <a:miter lim="800000"/>
          </a:ln>
        </p:spPr>
        <p:txBody>
          <a:bodyPr/>
          <a:p>
            <a:pPr marL="457200" marR="0" lvl="1" indent="0" algn="l" defTabSz="914400" rtl="0" fontAlgn="base">
              <a:lnSpc>
                <a:spcPct val="125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a:t>
            </a:r>
            <a:r>
              <a:rPr kumimoji="0" lang="zh-CN" altLang="en-US" sz="28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例</a:t>
            </a:r>
            <a:r>
              <a:rPr kumimoji="0" lang="en-US" altLang="zh-CN" sz="28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3.3】 </a:t>
            </a:r>
            <a:r>
              <a:rPr kumimoji="0" lang="en-US" altLang="zh-CN" sz="2800" b="0" i="0" u="none" strike="noStrike" kern="1200" cap="none" spc="0" normalizeH="0" baseline="0" noProof="0" dirty="0" err="1">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表达式求值</a:t>
            </a:r>
            <a:endParaRPr kumimoji="0" lang="en-US" altLang="zh-CN" sz="28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endParaRPr>
          </a:p>
          <a:p>
            <a:pPr marL="457200" marR="0" lvl="1" indent="457200" algn="l" defTabSz="914400" rtl="0" fontAlgn="base">
              <a:lnSpc>
                <a:spcPct val="125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求一个表达式的值是程序设计语言编译程序中的一个基本问题，实现表达式的求值是栈的一个典型应用。</a:t>
            </a: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37892" name="内容占位符 2"/>
          <p:cNvSpPr txBox="1"/>
          <p:nvPr/>
        </p:nvSpPr>
        <p:spPr>
          <a:xfrm>
            <a:off x="152400" y="2722880"/>
            <a:ext cx="10737850" cy="1616710"/>
          </a:xfrm>
          <a:prstGeom prst="rect">
            <a:avLst/>
          </a:prstGeom>
          <a:noFill/>
          <a:ln w="9525">
            <a:noFill/>
          </a:ln>
        </p:spPr>
        <p:txBody>
          <a:bodyPr/>
          <a:p>
            <a:pPr lvl="1" indent="457200" fontAlgn="auto">
              <a:lnSpc>
                <a:spcPct val="125000"/>
              </a:lnSpc>
            </a:pPr>
            <a:r>
              <a:rPr lang="zh-CN" altLang="zh-CN" sz="2000" b="0" dirty="0">
                <a:solidFill>
                  <a:srgbClr val="000000"/>
                </a:solidFill>
                <a:latin typeface="微软雅黑" panose="020B0503020204020204" pitchFamily="34" charset="-122"/>
              </a:rPr>
              <a:t>在这里，仅讨论最基本的算术四则运算：＋（加）、－（减）、﹡（乘）、／（除），以及为了强调优先计算的括号。</a:t>
            </a:r>
            <a:endParaRPr lang="zh-CN" altLang="zh-CN" sz="2000" b="0" dirty="0">
              <a:solidFill>
                <a:srgbClr val="000000"/>
              </a:solidFill>
              <a:latin typeface="微软雅黑" panose="020B0503020204020204" pitchFamily="34" charset="-122"/>
            </a:endParaRPr>
          </a:p>
        </p:txBody>
      </p:sp>
      <p:sp>
        <p:nvSpPr>
          <p:cNvPr id="37893" name="内容占位符 2"/>
          <p:cNvSpPr txBox="1"/>
          <p:nvPr/>
        </p:nvSpPr>
        <p:spPr>
          <a:xfrm>
            <a:off x="659765" y="3886200"/>
            <a:ext cx="10405110" cy="1748790"/>
          </a:xfrm>
          <a:prstGeom prst="rect">
            <a:avLst/>
          </a:prstGeom>
          <a:noFill/>
          <a:ln w="9525">
            <a:noFill/>
          </a:ln>
        </p:spPr>
        <p:txBody>
          <a:bodyPr/>
          <a:p>
            <a:pPr indent="0" fontAlgn="auto">
              <a:lnSpc>
                <a:spcPct val="125000"/>
              </a:lnSpc>
            </a:pPr>
            <a:r>
              <a:rPr lang="zh-CN" altLang="zh-CN" sz="2400" b="0" dirty="0">
                <a:solidFill>
                  <a:schemeClr val="tx1"/>
                </a:solidFill>
                <a:latin typeface="微软雅黑" panose="020B0503020204020204" pitchFamily="34" charset="-122"/>
              </a:rPr>
              <a:t>表达式可定义为（“</a:t>
            </a:r>
            <a:r>
              <a:rPr lang="en-US" altLang="zh-CN" sz="2400" b="0">
                <a:solidFill>
                  <a:schemeClr val="tx1"/>
                </a:solidFill>
                <a:latin typeface="微软雅黑" panose="020B0503020204020204" pitchFamily="34" charset="-122"/>
              </a:rPr>
              <a:t>::=</a:t>
            </a:r>
            <a:r>
              <a:rPr lang="zh-CN" altLang="zh-CN" sz="2400" b="0" dirty="0">
                <a:solidFill>
                  <a:schemeClr val="tx1"/>
                </a:solidFill>
                <a:latin typeface="微软雅黑" panose="020B0503020204020204" pitchFamily="34" charset="-122"/>
              </a:rPr>
              <a:t>”为定义符）：</a:t>
            </a:r>
            <a:endParaRPr lang="zh-CN" altLang="zh-CN" sz="2400" b="0" dirty="0">
              <a:solidFill>
                <a:schemeClr val="tx1"/>
              </a:solidFill>
              <a:latin typeface="微软雅黑" panose="020B0503020204020204" pitchFamily="34" charset="-122"/>
            </a:endParaRPr>
          </a:p>
          <a:p>
            <a:pPr indent="457200" fontAlgn="auto">
              <a:lnSpc>
                <a:spcPct val="125000"/>
              </a:lnSpc>
            </a:pPr>
            <a:r>
              <a:rPr lang="zh-CN" altLang="zh-CN" sz="2000" b="0" dirty="0">
                <a:solidFill>
                  <a:schemeClr val="tx1"/>
                </a:solidFill>
                <a:latin typeface="微软雅黑" panose="020B0503020204020204" pitchFamily="34" charset="-122"/>
              </a:rPr>
              <a:t>表达式</a:t>
            </a:r>
            <a:r>
              <a:rPr lang="en-US" altLang="zh-CN" sz="2000" b="0">
                <a:solidFill>
                  <a:schemeClr val="tx1"/>
                </a:solidFill>
                <a:latin typeface="微软雅黑" panose="020B0503020204020204" pitchFamily="34" charset="-122"/>
              </a:rPr>
              <a:t> ::= &lt;</a:t>
            </a:r>
            <a:r>
              <a:rPr lang="zh-CN" altLang="zh-CN" sz="2000" b="0" dirty="0">
                <a:solidFill>
                  <a:schemeClr val="tx1"/>
                </a:solidFill>
                <a:latin typeface="微软雅黑" panose="020B0503020204020204" pitchFamily="34" charset="-122"/>
              </a:rPr>
              <a:t>运算数</a:t>
            </a:r>
            <a:r>
              <a:rPr lang="en-US" altLang="zh-CN" sz="2000" b="0">
                <a:solidFill>
                  <a:schemeClr val="tx1"/>
                </a:solidFill>
                <a:latin typeface="微软雅黑" panose="020B0503020204020204" pitchFamily="34" charset="-122"/>
              </a:rPr>
              <a:t>&gt; &lt;</a:t>
            </a:r>
            <a:r>
              <a:rPr lang="zh-CN" altLang="zh-CN" sz="2000" b="0" dirty="0">
                <a:solidFill>
                  <a:schemeClr val="tx1"/>
                </a:solidFill>
                <a:latin typeface="微软雅黑" panose="020B0503020204020204" pitchFamily="34" charset="-122"/>
              </a:rPr>
              <a:t>运算符</a:t>
            </a:r>
            <a:r>
              <a:rPr lang="en-US" altLang="zh-CN" sz="2000" b="0">
                <a:solidFill>
                  <a:schemeClr val="tx1"/>
                </a:solidFill>
                <a:latin typeface="微软雅黑" panose="020B0503020204020204" pitchFamily="34" charset="-122"/>
              </a:rPr>
              <a:t>&gt; &lt;</a:t>
            </a:r>
            <a:r>
              <a:rPr lang="zh-CN" altLang="zh-CN" sz="2000" b="0" dirty="0">
                <a:solidFill>
                  <a:schemeClr val="tx1"/>
                </a:solidFill>
                <a:latin typeface="微软雅黑" panose="020B0503020204020204" pitchFamily="34" charset="-122"/>
              </a:rPr>
              <a:t>运算数</a:t>
            </a:r>
            <a:r>
              <a:rPr lang="en-US" altLang="zh-CN" sz="2000" b="0">
                <a:solidFill>
                  <a:schemeClr val="tx1"/>
                </a:solidFill>
                <a:latin typeface="微软雅黑" panose="020B0503020204020204" pitchFamily="34" charset="-122"/>
              </a:rPr>
              <a:t>&gt;</a:t>
            </a:r>
            <a:endParaRPr lang="zh-CN" altLang="zh-CN" sz="2000" b="0" dirty="0">
              <a:solidFill>
                <a:schemeClr val="tx1"/>
              </a:solidFill>
              <a:latin typeface="微软雅黑" panose="020B0503020204020204" pitchFamily="34" charset="-122"/>
            </a:endParaRPr>
          </a:p>
          <a:p>
            <a:pPr indent="457200" fontAlgn="auto">
              <a:lnSpc>
                <a:spcPct val="125000"/>
              </a:lnSpc>
            </a:pPr>
            <a:r>
              <a:rPr lang="zh-CN" altLang="zh-CN" sz="2000" b="0" dirty="0">
                <a:solidFill>
                  <a:schemeClr val="tx1"/>
                </a:solidFill>
                <a:latin typeface="微软雅黑" panose="020B0503020204020204" pitchFamily="34" charset="-122"/>
              </a:rPr>
              <a:t>运算数</a:t>
            </a:r>
            <a:r>
              <a:rPr lang="en-US" altLang="zh-CN" sz="2000" b="0">
                <a:solidFill>
                  <a:schemeClr val="tx1"/>
                </a:solidFill>
                <a:latin typeface="微软雅黑" panose="020B0503020204020204" pitchFamily="34" charset="-122"/>
              </a:rPr>
              <a:t> ::= </a:t>
            </a:r>
            <a:r>
              <a:rPr lang="zh-CN" altLang="zh-CN" sz="2000" b="0" dirty="0">
                <a:solidFill>
                  <a:schemeClr val="tx1"/>
                </a:solidFill>
                <a:latin typeface="微软雅黑" panose="020B0503020204020204" pitchFamily="34" charset="-122"/>
              </a:rPr>
              <a:t>无符号整数</a:t>
            </a:r>
            <a:r>
              <a:rPr lang="en-US" altLang="zh-CN" sz="2000" b="0">
                <a:solidFill>
                  <a:schemeClr val="tx1"/>
                </a:solidFill>
                <a:latin typeface="微软雅黑" panose="020B0503020204020204" pitchFamily="34" charset="-122"/>
              </a:rPr>
              <a:t> | </a:t>
            </a:r>
            <a:r>
              <a:rPr lang="zh-CN" altLang="zh-CN" sz="2000" b="0" dirty="0">
                <a:solidFill>
                  <a:schemeClr val="tx1"/>
                </a:solidFill>
                <a:latin typeface="微软雅黑" panose="020B0503020204020204" pitchFamily="34" charset="-122"/>
              </a:rPr>
              <a:t>表达式</a:t>
            </a:r>
            <a:r>
              <a:rPr lang="en-US" altLang="zh-CN" sz="2000" b="0">
                <a:solidFill>
                  <a:schemeClr val="tx1"/>
                </a:solidFill>
                <a:latin typeface="微软雅黑" panose="020B0503020204020204" pitchFamily="34" charset="-122"/>
              </a:rPr>
              <a:t> | (</a:t>
            </a:r>
            <a:r>
              <a:rPr lang="zh-CN" altLang="zh-CN" sz="2000" b="0" dirty="0">
                <a:solidFill>
                  <a:schemeClr val="tx1"/>
                </a:solidFill>
                <a:latin typeface="微软雅黑" panose="020B0503020204020204" pitchFamily="34" charset="-122"/>
              </a:rPr>
              <a:t>表达式</a:t>
            </a:r>
            <a:r>
              <a:rPr lang="en-US" altLang="zh-CN" sz="2000" b="0">
                <a:solidFill>
                  <a:schemeClr val="tx1"/>
                </a:solidFill>
                <a:latin typeface="微软雅黑" panose="020B0503020204020204" pitchFamily="34" charset="-122"/>
              </a:rPr>
              <a:t>)</a:t>
            </a:r>
            <a:endParaRPr lang="zh-CN" altLang="zh-CN" sz="2000" b="0" dirty="0">
              <a:solidFill>
                <a:schemeClr val="tx1"/>
              </a:solidFill>
              <a:latin typeface="微软雅黑" panose="020B0503020204020204" pitchFamily="34" charset="-122"/>
            </a:endParaRPr>
          </a:p>
          <a:p>
            <a:pPr indent="457200" fontAlgn="auto">
              <a:lnSpc>
                <a:spcPct val="125000"/>
              </a:lnSpc>
            </a:pPr>
            <a:r>
              <a:rPr lang="zh-CN" altLang="zh-CN" sz="2000" b="0" dirty="0">
                <a:solidFill>
                  <a:schemeClr val="tx1"/>
                </a:solidFill>
                <a:latin typeface="微软雅黑" panose="020B0503020204020204" pitchFamily="34" charset="-122"/>
              </a:rPr>
              <a:t>运算符</a:t>
            </a:r>
            <a:r>
              <a:rPr lang="en-US" altLang="zh-CN" sz="2000" b="0">
                <a:solidFill>
                  <a:schemeClr val="tx1"/>
                </a:solidFill>
                <a:latin typeface="微软雅黑" panose="020B0503020204020204" pitchFamily="34" charset="-122"/>
              </a:rPr>
              <a:t> ::= + | – | * | / | ( | ) | =</a:t>
            </a:r>
            <a:endParaRPr lang="en-US" altLang="zh-CN" sz="2000" b="0" dirty="0">
              <a:solidFill>
                <a:schemeClr val="tx1"/>
              </a:solidFill>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marL="0" indent="0" algn="just" fontAlgn="base">
              <a:lnSpc>
                <a:spcPct val="100000"/>
              </a:lnSpc>
              <a:buNone/>
            </a:pPr>
            <a:r>
              <a:rPr lang="en-US" altLang="zh-CN">
                <a:sym typeface="+mn-ea"/>
              </a:rPr>
              <a:t>  </a:t>
            </a:r>
            <a:endParaRPr lang="zh-CN" altLang="en-US" sz="2800" b="0" dirty="0">
              <a:solidFill>
                <a:srgbClr val="000000"/>
              </a:solidFill>
            </a:endParaRPr>
          </a:p>
          <a:p>
            <a:pPr marL="0" indent="0" algn="just" fontAlgn="base">
              <a:lnSpc>
                <a:spcPct val="100000"/>
              </a:lnSpc>
              <a:buNone/>
            </a:pP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表达式求值</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38916" name="Text Box 5"/>
          <p:cNvSpPr txBox="1"/>
          <p:nvPr/>
        </p:nvSpPr>
        <p:spPr>
          <a:xfrm>
            <a:off x="925830" y="1304925"/>
            <a:ext cx="10071100" cy="1845310"/>
          </a:xfrm>
          <a:prstGeom prst="rect">
            <a:avLst/>
          </a:prstGeom>
          <a:noFill/>
          <a:ln w="9525">
            <a:noFill/>
          </a:ln>
        </p:spPr>
        <p:txBody>
          <a:bodyPr wrap="square">
            <a:spAutoFit/>
          </a:bodyPr>
          <a:p>
            <a:pPr algn="just"/>
            <a:r>
              <a:rPr lang="zh-CN" altLang="en-US" sz="2400" b="0" dirty="0">
                <a:solidFill>
                  <a:srgbClr val="880000"/>
                </a:solidFill>
                <a:latin typeface="微软雅黑" panose="020B0503020204020204" pitchFamily="34" charset="-122"/>
              </a:rPr>
              <a:t>算术四则运算的规则为：</a:t>
            </a:r>
            <a:endParaRPr lang="zh-CN" altLang="en-US" sz="2400" b="0" dirty="0">
              <a:solidFill>
                <a:srgbClr val="880000"/>
              </a:solidFill>
              <a:latin typeface="微软雅黑" panose="020B0503020204020204" pitchFamily="34" charset="-122"/>
            </a:endParaRPr>
          </a:p>
          <a:p>
            <a:pPr indent="0" algn="just" fontAlgn="auto">
              <a:lnSpc>
                <a:spcPct val="150000"/>
              </a:lnSpc>
            </a:pPr>
            <a:r>
              <a:rPr lang="zh-CN" altLang="en-US" sz="2000" b="0" dirty="0">
                <a:solidFill>
                  <a:srgbClr val="000000"/>
                </a:solidFill>
                <a:latin typeface="微软雅黑" panose="020B0503020204020204" pitchFamily="34" charset="-122"/>
              </a:rPr>
              <a:t>（</a:t>
            </a:r>
            <a:r>
              <a:rPr lang="en-US" altLang="zh-CN" sz="2000" b="0">
                <a:solidFill>
                  <a:srgbClr val="000000"/>
                </a:solidFill>
                <a:latin typeface="微软雅黑" panose="020B0503020204020204" pitchFamily="34" charset="-122"/>
              </a:rPr>
              <a:t>1</a:t>
            </a:r>
            <a:r>
              <a:rPr lang="zh-CN" altLang="en-US" sz="2000" b="0" dirty="0">
                <a:solidFill>
                  <a:srgbClr val="000000"/>
                </a:solidFill>
                <a:latin typeface="微软雅黑" panose="020B0503020204020204" pitchFamily="34" charset="-122"/>
              </a:rPr>
              <a:t>）先乘除、后加减；</a:t>
            </a:r>
            <a:endParaRPr lang="zh-CN" altLang="en-US" sz="2000" b="0" dirty="0">
              <a:solidFill>
                <a:srgbClr val="000000"/>
              </a:solidFill>
              <a:latin typeface="微软雅黑" panose="020B0503020204020204" pitchFamily="34" charset="-122"/>
            </a:endParaRPr>
          </a:p>
          <a:p>
            <a:pPr indent="0" algn="just" fontAlgn="auto">
              <a:lnSpc>
                <a:spcPct val="150000"/>
              </a:lnSpc>
            </a:pPr>
            <a:r>
              <a:rPr lang="zh-CN" altLang="en-US" sz="2000" b="0" dirty="0">
                <a:solidFill>
                  <a:srgbClr val="000000"/>
                </a:solidFill>
                <a:latin typeface="微软雅黑" panose="020B0503020204020204" pitchFamily="34" charset="-122"/>
              </a:rPr>
              <a:t>（</a:t>
            </a:r>
            <a:r>
              <a:rPr lang="en-US" altLang="zh-CN" sz="2000" b="0">
                <a:solidFill>
                  <a:srgbClr val="000000"/>
                </a:solidFill>
                <a:latin typeface="微软雅黑" panose="020B0503020204020204" pitchFamily="34" charset="-122"/>
              </a:rPr>
              <a:t>2</a:t>
            </a:r>
            <a:r>
              <a:rPr lang="zh-CN" altLang="en-US" sz="2000" b="0" dirty="0">
                <a:solidFill>
                  <a:srgbClr val="000000"/>
                </a:solidFill>
                <a:latin typeface="微软雅黑" panose="020B0503020204020204" pitchFamily="34" charset="-122"/>
              </a:rPr>
              <a:t>）同级运算时先左后右；</a:t>
            </a:r>
            <a:endParaRPr lang="zh-CN" altLang="en-US" sz="2000" b="0" dirty="0">
              <a:solidFill>
                <a:srgbClr val="000000"/>
              </a:solidFill>
              <a:latin typeface="微软雅黑" panose="020B0503020204020204" pitchFamily="34" charset="-122"/>
            </a:endParaRPr>
          </a:p>
          <a:p>
            <a:pPr indent="0" algn="just" fontAlgn="auto">
              <a:lnSpc>
                <a:spcPct val="150000"/>
              </a:lnSpc>
            </a:pPr>
            <a:r>
              <a:rPr lang="zh-CN" altLang="en-US" sz="2000" b="0" dirty="0">
                <a:solidFill>
                  <a:srgbClr val="000000"/>
                </a:solidFill>
                <a:latin typeface="微软雅黑" panose="020B0503020204020204" pitchFamily="34" charset="-122"/>
              </a:rPr>
              <a:t>（</a:t>
            </a:r>
            <a:r>
              <a:rPr lang="en-US" altLang="zh-CN" sz="2000" b="0">
                <a:solidFill>
                  <a:srgbClr val="000000"/>
                </a:solidFill>
                <a:latin typeface="微软雅黑" panose="020B0503020204020204" pitchFamily="34" charset="-122"/>
              </a:rPr>
              <a:t>3</a:t>
            </a:r>
            <a:r>
              <a:rPr lang="zh-CN" altLang="en-US" sz="2000" b="0" dirty="0">
                <a:solidFill>
                  <a:srgbClr val="000000"/>
                </a:solidFill>
                <a:latin typeface="微软雅黑" panose="020B0503020204020204" pitchFamily="34" charset="-122"/>
              </a:rPr>
              <a:t>）先括号内，后括号外。</a:t>
            </a:r>
            <a:endParaRPr lang="zh-CN" altLang="en-US" sz="2000" b="0" dirty="0">
              <a:solidFill>
                <a:srgbClr val="000000"/>
              </a:solidFill>
              <a:latin typeface="微软雅黑" panose="020B0503020204020204" pitchFamily="34" charset="-122"/>
            </a:endParaRPr>
          </a:p>
        </p:txBody>
      </p:sp>
      <p:sp>
        <p:nvSpPr>
          <p:cNvPr id="2" name="Rectangle 6"/>
          <p:cNvSpPr txBox="1">
            <a:spLocks noChangeArrowheads="1"/>
          </p:cNvSpPr>
          <p:nvPr/>
        </p:nvSpPr>
        <p:spPr bwMode="black">
          <a:xfrm>
            <a:off x="925830" y="3402330"/>
            <a:ext cx="7391400" cy="533400"/>
          </a:xfrm>
          <a:prstGeom prst="rect">
            <a:avLst/>
          </a:prstGeom>
          <a:noFill/>
          <a:ln w="9525">
            <a:noFill/>
            <a:miter lim="800000"/>
          </a:ln>
          <a:effectLst>
            <a:outerShdw dist="35921" dir="2700000" algn="ctr" rotWithShape="0">
              <a:srgbClr val="FFFFFF"/>
            </a:outerShdw>
          </a:effectLst>
        </p:spPr>
        <p:txBody>
          <a:bodyPr anchor="ctr"/>
          <a:p>
            <a:pPr marR="0" defTabSz="914400">
              <a:buClrTx/>
              <a:buSzTx/>
              <a:buFontTx/>
              <a:buNone/>
              <a:defRPr/>
            </a:pPr>
            <a:r>
              <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算法设置了两个栈：</a:t>
            </a:r>
            <a:endPar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38918" name="Text Box 10"/>
          <p:cNvSpPr txBox="1"/>
          <p:nvPr/>
        </p:nvSpPr>
        <p:spPr>
          <a:xfrm>
            <a:off x="1158240" y="4187825"/>
            <a:ext cx="8229600" cy="398780"/>
          </a:xfrm>
          <a:prstGeom prst="rect">
            <a:avLst/>
          </a:prstGeom>
          <a:noFill/>
          <a:ln w="9525">
            <a:noFill/>
          </a:ln>
        </p:spPr>
        <p:txBody>
          <a:bodyPr>
            <a:spAutoFit/>
          </a:bodyPr>
          <a:p>
            <a:pPr marL="457200" indent="-457200">
              <a:spcBef>
                <a:spcPct val="50000"/>
              </a:spcBef>
            </a:pPr>
            <a:r>
              <a:rPr lang="en-US" altLang="zh-CN" sz="2000" b="0">
                <a:solidFill>
                  <a:srgbClr val="FF0000"/>
                </a:solidFill>
                <a:latin typeface="微软雅黑" panose="020B0503020204020204" pitchFamily="34" charset="-122"/>
              </a:rPr>
              <a:t>(1)</a:t>
            </a:r>
            <a:r>
              <a:rPr lang="zh-CN" altLang="en-US" sz="2000" b="0" dirty="0">
                <a:solidFill>
                  <a:srgbClr val="FF0000"/>
                </a:solidFill>
                <a:latin typeface="微软雅黑" panose="020B0503020204020204" pitchFamily="34" charset="-122"/>
              </a:rPr>
              <a:t>运算数栈</a:t>
            </a:r>
            <a:r>
              <a:rPr lang="zh-CN" altLang="en-US" sz="2000" b="0" dirty="0">
                <a:solidFill>
                  <a:schemeClr val="tx1"/>
                </a:solidFill>
                <a:latin typeface="微软雅黑" panose="020B0503020204020204" pitchFamily="34" charset="-122"/>
              </a:rPr>
              <a:t>（</a:t>
            </a:r>
            <a:r>
              <a:rPr lang="en-US" altLang="zh-CN" sz="2000" b="0">
                <a:solidFill>
                  <a:schemeClr val="tx1"/>
                </a:solidFill>
                <a:latin typeface="微软雅黑" panose="020B0503020204020204" pitchFamily="34" charset="-122"/>
              </a:rPr>
              <a:t>OPRD</a:t>
            </a:r>
            <a:r>
              <a:rPr lang="zh-CN" altLang="en-US" sz="2000" b="0" dirty="0">
                <a:solidFill>
                  <a:schemeClr val="tx1"/>
                </a:solidFill>
                <a:latin typeface="微软雅黑" panose="020B0503020204020204" pitchFamily="34" charset="-122"/>
              </a:rPr>
              <a:t>）：存放处理表达式过程中的操作数。</a:t>
            </a:r>
            <a:endParaRPr lang="zh-CN" altLang="en-US" sz="2000" b="0" dirty="0">
              <a:solidFill>
                <a:schemeClr val="tx1"/>
              </a:solidFill>
              <a:latin typeface="微软雅黑" panose="020B0503020204020204" pitchFamily="34" charset="-122"/>
            </a:endParaRPr>
          </a:p>
        </p:txBody>
      </p:sp>
      <p:sp>
        <p:nvSpPr>
          <p:cNvPr id="38919" name="Text Box 11"/>
          <p:cNvSpPr txBox="1"/>
          <p:nvPr/>
        </p:nvSpPr>
        <p:spPr>
          <a:xfrm>
            <a:off x="1182370" y="4727258"/>
            <a:ext cx="8763000" cy="398780"/>
          </a:xfrm>
          <a:prstGeom prst="rect">
            <a:avLst/>
          </a:prstGeom>
          <a:noFill/>
          <a:ln w="9525">
            <a:noFill/>
          </a:ln>
        </p:spPr>
        <p:txBody>
          <a:bodyPr>
            <a:spAutoFit/>
          </a:bodyPr>
          <a:p>
            <a:pPr>
              <a:spcBef>
                <a:spcPct val="50000"/>
              </a:spcBef>
            </a:pPr>
            <a:r>
              <a:rPr lang="en-US" altLang="zh-CN" sz="2000" b="0">
                <a:solidFill>
                  <a:srgbClr val="FF0000"/>
                </a:solidFill>
                <a:latin typeface="微软雅黑" panose="020B0503020204020204" pitchFamily="34" charset="-122"/>
              </a:rPr>
              <a:t>(2)</a:t>
            </a:r>
            <a:r>
              <a:rPr lang="zh-CN" altLang="en-US" sz="2000" b="0" dirty="0">
                <a:solidFill>
                  <a:srgbClr val="FF0000"/>
                </a:solidFill>
                <a:latin typeface="微软雅黑" panose="020B0503020204020204" pitchFamily="34" charset="-122"/>
              </a:rPr>
              <a:t>运算符栈</a:t>
            </a:r>
            <a:r>
              <a:rPr lang="zh-CN" altLang="en-US" sz="2000" b="0" dirty="0">
                <a:solidFill>
                  <a:srgbClr val="000000"/>
                </a:solidFill>
                <a:latin typeface="微软雅黑" panose="020B0503020204020204" pitchFamily="34" charset="-122"/>
              </a:rPr>
              <a:t>（</a:t>
            </a:r>
            <a:r>
              <a:rPr lang="en-US" altLang="zh-CN" sz="2000" b="0">
                <a:solidFill>
                  <a:srgbClr val="000000"/>
                </a:solidFill>
                <a:latin typeface="微软雅黑" panose="020B0503020204020204" pitchFamily="34" charset="-122"/>
              </a:rPr>
              <a:t>OPTR</a:t>
            </a:r>
            <a:r>
              <a:rPr lang="zh-CN" altLang="en-US" sz="2000" b="0" dirty="0">
                <a:solidFill>
                  <a:srgbClr val="000000"/>
                </a:solidFill>
                <a:latin typeface="微软雅黑" panose="020B0503020204020204" pitchFamily="34" charset="-122"/>
              </a:rPr>
              <a:t>）：存放处理表达式过程中的运算符。</a:t>
            </a:r>
            <a:endParaRPr lang="zh-CN" altLang="en-US" sz="2000" b="0" dirty="0">
              <a:solidFill>
                <a:srgbClr val="000000"/>
              </a:solidFill>
              <a:latin typeface="微软雅黑" panose="020B0503020204020204" pitchFamily="34" charset="-122"/>
            </a:endParaRPr>
          </a:p>
        </p:txBody>
      </p:sp>
      <p:sp>
        <p:nvSpPr>
          <p:cNvPr id="38915" name="内容占位符 2"/>
          <p:cNvSpPr txBox="1"/>
          <p:nvPr/>
        </p:nvSpPr>
        <p:spPr>
          <a:xfrm>
            <a:off x="480060" y="5267325"/>
            <a:ext cx="10405110" cy="609600"/>
          </a:xfrm>
          <a:prstGeom prst="rect">
            <a:avLst/>
          </a:prstGeom>
          <a:noFill/>
          <a:ln w="9525">
            <a:noFill/>
          </a:ln>
        </p:spPr>
        <p:txBody>
          <a:bodyPr/>
          <a:p>
            <a:pPr lvl="1" eaLnBrk="1" hangingPunct="1"/>
            <a:r>
              <a:rPr lang="zh-CN" altLang="zh-CN" sz="2000" b="0" dirty="0">
                <a:solidFill>
                  <a:schemeClr val="tx1"/>
                </a:solidFill>
                <a:latin typeface="微软雅黑" panose="020B0503020204020204" pitchFamily="34" charset="-122"/>
              </a:rPr>
              <a:t>在此，把一个运算数或一个运算符均称为一个元素。</a:t>
            </a:r>
            <a:endParaRPr lang="zh-CN" altLang="zh-CN" sz="2000" b="0" dirty="0">
              <a:solidFill>
                <a:schemeClr val="tx1"/>
              </a:solidFill>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635000" y="1243965"/>
            <a:ext cx="10535285" cy="464439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2" name="内容占位符 2"/>
          <p:cNvSpPr txBox="1"/>
          <p:nvPr/>
        </p:nvSpPr>
        <p:spPr bwMode="gray">
          <a:xfrm>
            <a:off x="6938010" y="5948045"/>
            <a:ext cx="4876800" cy="609600"/>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C00000"/>
                </a:solidFill>
                <a:latin typeface="+mn-ea"/>
                <a:ea typeface="+mn-ea"/>
                <a:cs typeface="+mn-cs"/>
              </a:rPr>
              <a:t>程序请见教程 </a:t>
            </a:r>
            <a:r>
              <a:rPr kumimoji="0" lang="en-US" altLang="zh-CN" sz="2000" b="0" kern="1200" cap="none" spc="0" normalizeH="0" baseline="0" noProof="0" dirty="0">
                <a:solidFill>
                  <a:srgbClr val="C00000"/>
                </a:solidFill>
                <a:latin typeface="+mn-ea"/>
                <a:ea typeface="+mn-ea"/>
                <a:cs typeface="+mn-cs"/>
              </a:rPr>
              <a:t>P.62</a:t>
            </a:r>
            <a:endParaRPr kumimoji="0" lang="en-US" altLang="zh-CN" sz="2000" b="0" kern="1200" cap="none" spc="0" normalizeH="0" baseline="0" noProof="0" dirty="0">
              <a:solidFill>
                <a:srgbClr val="C00000"/>
              </a:solidFill>
              <a:latin typeface="+mn-ea"/>
              <a:ea typeface="+mn-ea"/>
              <a:cs typeface="+mn-cs"/>
            </a:endParaRPr>
          </a:p>
        </p:txBody>
      </p:sp>
      <p:sp>
        <p:nvSpPr>
          <p:cNvPr id="3" name="文本框 2"/>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表达式求值</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7" name="内容占位符 2"/>
          <p:cNvSpPr txBox="1"/>
          <p:nvPr/>
        </p:nvSpPr>
        <p:spPr>
          <a:xfrm>
            <a:off x="452120" y="969645"/>
            <a:ext cx="9743440" cy="4977765"/>
          </a:xfrm>
          <a:prstGeom prst="rect">
            <a:avLst/>
          </a:prstGeom>
          <a:noFill/>
          <a:ln w="9525">
            <a:noFill/>
          </a:ln>
        </p:spPr>
        <p:txBody>
          <a:bodyPr/>
          <a:p>
            <a:pPr indent="0" fontAlgn="auto">
              <a:lnSpc>
                <a:spcPct val="125000"/>
              </a:lnSpc>
            </a:pPr>
            <a:r>
              <a:rPr lang="zh-CN" altLang="zh-CN" sz="2000" b="0" dirty="0">
                <a:solidFill>
                  <a:schemeClr val="tx1"/>
                </a:solidFill>
                <a:latin typeface="楷体_GB2312" panose="02010609030101010101" pitchFamily="49" charset="-122"/>
              </a:rPr>
              <a:t>假设表达式语法正确，并以“</a:t>
            </a:r>
            <a:r>
              <a:rPr lang="en-US" altLang="zh-CN" sz="2000" b="0">
                <a:solidFill>
                  <a:schemeClr val="tx1"/>
                </a:solidFill>
                <a:latin typeface="宋体" panose="02010600030101010101" pitchFamily="2" charset="-122"/>
                <a:ea typeface="宋体" panose="02010600030101010101" pitchFamily="2" charset="-122"/>
              </a:rPr>
              <a:t>=</a:t>
            </a:r>
            <a:r>
              <a:rPr lang="zh-CN" altLang="zh-CN" sz="2000" b="0" dirty="0">
                <a:solidFill>
                  <a:schemeClr val="tx1"/>
                </a:solidFill>
                <a:latin typeface="楷体_GB2312" panose="02010609030101010101" pitchFamily="49" charset="-122"/>
              </a:rPr>
              <a:t>”结束。算术表达式求值的算法如下：</a:t>
            </a:r>
            <a:endParaRPr lang="zh-CN" altLang="zh-CN" sz="2000"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1. </a:t>
            </a:r>
            <a:r>
              <a:rPr lang="zh-CN" altLang="zh-CN" b="0" dirty="0">
                <a:solidFill>
                  <a:schemeClr val="tx1"/>
                </a:solidFill>
                <a:latin typeface="楷体_GB2312" panose="02010609030101010101" pitchFamily="49" charset="-122"/>
              </a:rPr>
              <a:t>初始化运算数栈和运算符栈</a:t>
            </a:r>
            <a:r>
              <a:rPr lang="en-US" altLang="zh-CN" b="0">
                <a:solidFill>
                  <a:schemeClr val="tx1"/>
                </a:solidFill>
                <a:latin typeface="楷体_GB2312" panose="02010609030101010101" pitchFamily="49" charset="-122"/>
              </a:rPr>
              <a:t>；</a:t>
            </a:r>
            <a:r>
              <a:rPr lang="en-US" altLang="zh-CN" b="0" err="1">
                <a:solidFill>
                  <a:schemeClr val="tx1"/>
                </a:solidFill>
                <a:latin typeface="楷体_GB2312" panose="02010609030101010101" pitchFamily="49" charset="-122"/>
              </a:rPr>
              <a:t>将运算符</a:t>
            </a:r>
            <a:r>
              <a:rPr lang="zh-CN" altLang="zh-CN" b="0" dirty="0">
                <a:solidFill>
                  <a:schemeClr val="tx1"/>
                </a:solidFill>
                <a:latin typeface="楷体_GB2312" panose="02010609030101010101" pitchFamily="49" charset="-122"/>
              </a:rPr>
              <a:t>“</a:t>
            </a:r>
            <a:r>
              <a:rPr lang="en-US" altLang="zh-CN" b="0">
                <a:solidFill>
                  <a:schemeClr val="tx1"/>
                </a:solidFill>
                <a:latin typeface="宋体" panose="02010600030101010101" pitchFamily="2" charset="-122"/>
                <a:ea typeface="宋体" panose="02010600030101010101" pitchFamily="2" charset="-122"/>
              </a:rPr>
              <a:t>=</a:t>
            </a:r>
            <a:r>
              <a:rPr lang="zh-CN" altLang="zh-CN" b="0" dirty="0">
                <a:solidFill>
                  <a:schemeClr val="tx1"/>
                </a:solidFill>
                <a:latin typeface="楷体_GB2312" panose="02010609030101010101" pitchFamily="49" charset="-122"/>
              </a:rPr>
              <a:t>”</a:t>
            </a:r>
            <a:r>
              <a:rPr lang="en-US" altLang="zh-CN" b="0" err="1">
                <a:solidFill>
                  <a:schemeClr val="tx1"/>
                </a:solidFill>
                <a:latin typeface="楷体_GB2312" panose="02010609030101010101" pitchFamily="49" charset="-122"/>
              </a:rPr>
              <a:t>压入运算符栈</a:t>
            </a:r>
            <a:r>
              <a:rPr lang="en-US" altLang="zh-CN" b="0">
                <a:solidFill>
                  <a:schemeClr val="tx1"/>
                </a:solidFill>
                <a:latin typeface="楷体_GB2312" panose="02010609030101010101" pitchFamily="49" charset="-122"/>
              </a:rPr>
              <a:t>；</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2. </a:t>
            </a:r>
            <a:r>
              <a:rPr lang="en-US" altLang="zh-CN" b="0" err="1">
                <a:solidFill>
                  <a:schemeClr val="tx1"/>
                </a:solidFill>
                <a:latin typeface="楷体_GB2312" panose="02010609030101010101" pitchFamily="49" charset="-122"/>
              </a:rPr>
              <a:t>读入一个元素</a:t>
            </a:r>
            <a:r>
              <a:rPr lang="en-US" altLang="zh-CN" b="0">
                <a:solidFill>
                  <a:schemeClr val="tx1"/>
                </a:solidFill>
                <a:latin typeface="楷体_GB2312" panose="02010609030101010101" pitchFamily="49" charset="-122"/>
              </a:rPr>
              <a:t>；</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3. </a:t>
            </a:r>
            <a:r>
              <a:rPr lang="en-US" altLang="zh-CN" b="0" err="1">
                <a:solidFill>
                  <a:schemeClr val="tx1"/>
                </a:solidFill>
                <a:latin typeface="楷体_GB2312" panose="02010609030101010101" pitchFamily="49" charset="-122"/>
              </a:rPr>
              <a:t>当元素</a:t>
            </a:r>
            <a:r>
              <a:rPr lang="zh-CN" altLang="zh-CN" b="0" dirty="0">
                <a:solidFill>
                  <a:schemeClr val="tx1"/>
                </a:solidFill>
                <a:latin typeface="楷体_GB2312" panose="02010609030101010101" pitchFamily="49" charset="-122"/>
              </a:rPr>
              <a:t>不</a:t>
            </a:r>
            <a:r>
              <a:rPr lang="en-US" altLang="zh-CN" b="0">
                <a:solidFill>
                  <a:schemeClr val="tx1"/>
                </a:solidFill>
                <a:latin typeface="楷体_GB2312" panose="02010609030101010101" pitchFamily="49" charset="-122"/>
              </a:rPr>
              <a:t>为</a:t>
            </a:r>
            <a:r>
              <a:rPr lang="zh-CN" altLang="zh-CN" b="0" dirty="0">
                <a:solidFill>
                  <a:schemeClr val="tx1"/>
                </a:solidFill>
                <a:latin typeface="楷体_GB2312" panose="02010609030101010101" pitchFamily="49" charset="-122"/>
              </a:rPr>
              <a:t>“</a:t>
            </a:r>
            <a:r>
              <a:rPr lang="en-US" altLang="zh-CN" b="0">
                <a:solidFill>
                  <a:schemeClr val="tx1"/>
                </a:solidFill>
                <a:latin typeface="宋体" panose="02010600030101010101" pitchFamily="2" charset="-122"/>
                <a:ea typeface="宋体" panose="02010600030101010101" pitchFamily="2" charset="-122"/>
              </a:rPr>
              <a:t>=</a:t>
            </a:r>
            <a:r>
              <a:rPr lang="zh-CN" altLang="zh-CN" b="0" dirty="0">
                <a:solidFill>
                  <a:schemeClr val="tx1"/>
                </a:solidFill>
                <a:latin typeface="楷体_GB2312" panose="02010609030101010101" pitchFamily="49" charset="-122"/>
              </a:rPr>
              <a:t>”或</a:t>
            </a:r>
            <a:r>
              <a:rPr lang="en-US" altLang="zh-CN" b="0" err="1">
                <a:solidFill>
                  <a:schemeClr val="tx1"/>
                </a:solidFill>
                <a:latin typeface="楷体_GB2312" panose="02010609030101010101" pitchFamily="49" charset="-122"/>
              </a:rPr>
              <a:t>运算符栈顶</a:t>
            </a:r>
            <a:r>
              <a:rPr lang="zh-CN" altLang="zh-CN" b="0" dirty="0">
                <a:solidFill>
                  <a:schemeClr val="tx1"/>
                </a:solidFill>
                <a:latin typeface="楷体_GB2312" panose="02010609030101010101" pitchFamily="49" charset="-122"/>
              </a:rPr>
              <a:t>不</a:t>
            </a:r>
            <a:r>
              <a:rPr lang="en-US" altLang="zh-CN" b="0">
                <a:solidFill>
                  <a:schemeClr val="tx1"/>
                </a:solidFill>
                <a:latin typeface="楷体_GB2312" panose="02010609030101010101" pitchFamily="49" charset="-122"/>
              </a:rPr>
              <a:t>为</a:t>
            </a:r>
            <a:r>
              <a:rPr lang="zh-CN" altLang="zh-CN" b="0" dirty="0">
                <a:solidFill>
                  <a:schemeClr val="tx1"/>
                </a:solidFill>
                <a:latin typeface="楷体_GB2312" panose="02010609030101010101" pitchFamily="49" charset="-122"/>
              </a:rPr>
              <a:t>“</a:t>
            </a:r>
            <a:r>
              <a:rPr lang="en-US" altLang="zh-CN" b="0">
                <a:solidFill>
                  <a:schemeClr val="tx1"/>
                </a:solidFill>
                <a:latin typeface="宋体" panose="02010600030101010101" pitchFamily="2" charset="-122"/>
                <a:ea typeface="宋体" panose="02010600030101010101" pitchFamily="2" charset="-122"/>
              </a:rPr>
              <a:t>=</a:t>
            </a:r>
            <a:r>
              <a:rPr lang="zh-CN" altLang="zh-CN" b="0" dirty="0">
                <a:solidFill>
                  <a:schemeClr val="tx1"/>
                </a:solidFill>
                <a:latin typeface="楷体_GB2312" panose="02010609030101010101" pitchFamily="49" charset="-122"/>
              </a:rPr>
              <a:t>”</a:t>
            </a:r>
            <a:r>
              <a:rPr lang="en-US" altLang="zh-CN" b="0" err="1">
                <a:solidFill>
                  <a:schemeClr val="tx1"/>
                </a:solidFill>
                <a:latin typeface="楷体_GB2312" panose="02010609030101010101" pitchFamily="49" charset="-122"/>
              </a:rPr>
              <a:t>时，循环执行</a:t>
            </a:r>
            <a:r>
              <a:rPr lang="en-US" altLang="zh-CN" b="0">
                <a:solidFill>
                  <a:schemeClr val="tx1"/>
                </a:solidFill>
                <a:latin typeface="楷体_GB2312" panose="02010609030101010101" pitchFamily="49" charset="-122"/>
              </a:rPr>
              <a:t>：</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en-US" altLang="zh-CN" b="0" err="1">
                <a:solidFill>
                  <a:schemeClr val="tx1"/>
                </a:solidFill>
                <a:latin typeface="楷体_GB2312" panose="02010609030101010101" pitchFamily="49" charset="-122"/>
              </a:rPr>
              <a:t>若元素是一个运算数，则将其压入运算数栈，读入下一个元素</a:t>
            </a:r>
            <a:r>
              <a:rPr lang="en-US" altLang="zh-CN" b="0">
                <a:solidFill>
                  <a:schemeClr val="tx1"/>
                </a:solidFill>
                <a:latin typeface="楷体_GB2312" panose="02010609030101010101" pitchFamily="49" charset="-122"/>
              </a:rPr>
              <a:t>；</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·若元素是运算符(op2)，则将运算符栈的栈顶运算符(op1)比较</a:t>
            </a:r>
            <a:endParaRPr lang="en-US" altLang="zh-CN" b="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优先级（运算符间的优先关系见P.62 表3.1）：</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zh-CN" altLang="zh-CN" b="0" dirty="0">
                <a:solidFill>
                  <a:schemeClr val="tx1"/>
                </a:solidFill>
                <a:latin typeface="楷体_GB2312" panose="02010609030101010101" pitchFamily="49" charset="-122"/>
              </a:rPr>
              <a:t>若</a:t>
            </a:r>
            <a:r>
              <a:rPr lang="en-US" altLang="zh-CN" b="0">
                <a:solidFill>
                  <a:schemeClr val="tx1"/>
                </a:solidFill>
                <a:latin typeface="楷体_GB2312" panose="02010609030101010101" pitchFamily="49" charset="-122"/>
              </a:rPr>
              <a:t>op1&lt;op2</a:t>
            </a:r>
            <a:r>
              <a:rPr lang="zh-CN" altLang="zh-CN" b="0" dirty="0">
                <a:solidFill>
                  <a:schemeClr val="tx1"/>
                </a:solidFill>
                <a:latin typeface="楷体_GB2312" panose="02010609030101010101" pitchFamily="49" charset="-122"/>
              </a:rPr>
              <a:t>，则将</a:t>
            </a:r>
            <a:r>
              <a:rPr lang="en-US" altLang="zh-CN" b="0">
                <a:solidFill>
                  <a:schemeClr val="tx1"/>
                </a:solidFill>
                <a:latin typeface="楷体_GB2312" panose="02010609030101010101" pitchFamily="49" charset="-122"/>
              </a:rPr>
              <a:t>op2</a:t>
            </a:r>
            <a:r>
              <a:rPr lang="zh-CN" altLang="zh-CN" b="0" dirty="0">
                <a:solidFill>
                  <a:schemeClr val="tx1"/>
                </a:solidFill>
                <a:latin typeface="楷体_GB2312" panose="02010609030101010101" pitchFamily="49" charset="-122"/>
              </a:rPr>
              <a:t>压入运算符栈，读入下一个元素；</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zh-CN" altLang="zh-CN" b="0" dirty="0">
                <a:solidFill>
                  <a:schemeClr val="tx1"/>
                </a:solidFill>
                <a:latin typeface="楷体_GB2312" panose="02010609030101010101" pitchFamily="49" charset="-122"/>
              </a:rPr>
              <a:t>若</a:t>
            </a:r>
            <a:r>
              <a:rPr lang="en-US" altLang="zh-CN" b="0">
                <a:solidFill>
                  <a:schemeClr val="tx1"/>
                </a:solidFill>
                <a:latin typeface="楷体_GB2312" panose="02010609030101010101" pitchFamily="49" charset="-122"/>
              </a:rPr>
              <a:t>op1</a:t>
            </a:r>
            <a:r>
              <a:rPr lang="en-US" altLang="zh-CN" b="0">
                <a:solidFill>
                  <a:schemeClr val="tx1"/>
                </a:solidFill>
                <a:latin typeface="宋体" panose="02010600030101010101" pitchFamily="2" charset="-122"/>
                <a:ea typeface="宋体" panose="02010600030101010101" pitchFamily="2" charset="-122"/>
              </a:rPr>
              <a:t>==</a:t>
            </a:r>
            <a:r>
              <a:rPr lang="en-US" altLang="zh-CN" b="0">
                <a:solidFill>
                  <a:schemeClr val="tx1"/>
                </a:solidFill>
                <a:latin typeface="楷体_GB2312" panose="02010609030101010101" pitchFamily="49" charset="-122"/>
              </a:rPr>
              <a:t>op2</a:t>
            </a:r>
            <a:r>
              <a:rPr lang="zh-CN" altLang="zh-CN" b="0" dirty="0">
                <a:solidFill>
                  <a:schemeClr val="tx1"/>
                </a:solidFill>
                <a:latin typeface="楷体_GB2312" panose="02010609030101010101" pitchFamily="49" charset="-122"/>
              </a:rPr>
              <a:t>，则删除运算符栈的栈顶运算符，读入下一个元素；</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zh-CN" altLang="zh-CN" b="0" dirty="0">
                <a:solidFill>
                  <a:schemeClr val="tx1"/>
                </a:solidFill>
                <a:latin typeface="楷体_GB2312" panose="02010609030101010101" pitchFamily="49" charset="-122"/>
              </a:rPr>
              <a:t>若</a:t>
            </a:r>
            <a:r>
              <a:rPr lang="en-US" altLang="zh-CN" b="0">
                <a:solidFill>
                  <a:schemeClr val="tx1"/>
                </a:solidFill>
                <a:latin typeface="楷体_GB2312" panose="02010609030101010101" pitchFamily="49" charset="-122"/>
              </a:rPr>
              <a:t>op1&gt;op2</a:t>
            </a:r>
            <a:r>
              <a:rPr lang="zh-CN" altLang="zh-CN" b="0" dirty="0">
                <a:solidFill>
                  <a:schemeClr val="tx1"/>
                </a:solidFill>
                <a:latin typeface="楷体_GB2312" panose="02010609030101010101" pitchFamily="49" charset="-122"/>
              </a:rPr>
              <a:t>，则从运算符栈弹出运算符给</a:t>
            </a:r>
            <a:r>
              <a:rPr lang="en-US" altLang="zh-CN" b="0">
                <a:solidFill>
                  <a:schemeClr val="tx1"/>
                </a:solidFill>
                <a:latin typeface="楷体_GB2312" panose="02010609030101010101" pitchFamily="49" charset="-122"/>
              </a:rPr>
              <a:t>op</a:t>
            </a:r>
            <a:r>
              <a:rPr lang="zh-CN" altLang="zh-CN" b="0" dirty="0">
                <a:solidFill>
                  <a:schemeClr val="tx1"/>
                </a:solidFill>
                <a:latin typeface="楷体_GB2312" panose="02010609030101010101" pitchFamily="49" charset="-122"/>
              </a:rPr>
              <a:t>，并先后从运算数栈</a:t>
            </a:r>
            <a:endParaRPr lang="en-US" altLang="zh-CN" b="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zh-CN" altLang="zh-CN" b="0" dirty="0">
                <a:solidFill>
                  <a:schemeClr val="tx1"/>
                </a:solidFill>
                <a:latin typeface="楷体_GB2312" panose="02010609030101010101" pitchFamily="49" charset="-122"/>
              </a:rPr>
              <a:t>中弹出两个运算数给</a:t>
            </a:r>
            <a:r>
              <a:rPr lang="en-US" altLang="zh-CN" b="0">
                <a:solidFill>
                  <a:schemeClr val="tx1"/>
                </a:solidFill>
                <a:latin typeface="楷体_GB2312" panose="02010609030101010101" pitchFamily="49" charset="-122"/>
              </a:rPr>
              <a:t>y</a:t>
            </a:r>
            <a:r>
              <a:rPr lang="zh-CN" altLang="zh-CN" b="0" dirty="0">
                <a:solidFill>
                  <a:schemeClr val="tx1"/>
                </a:solidFill>
                <a:latin typeface="楷体_GB2312" panose="02010609030101010101" pitchFamily="49" charset="-122"/>
              </a:rPr>
              <a:t>和</a:t>
            </a:r>
            <a:r>
              <a:rPr lang="en-US" altLang="zh-CN" b="0">
                <a:solidFill>
                  <a:schemeClr val="tx1"/>
                </a:solidFill>
                <a:latin typeface="楷体_GB2312" panose="02010609030101010101" pitchFamily="49" charset="-122"/>
              </a:rPr>
              <a:t>x</a:t>
            </a:r>
            <a:r>
              <a:rPr lang="zh-CN" altLang="zh-CN" b="0" dirty="0">
                <a:solidFill>
                  <a:schemeClr val="tx1"/>
                </a:solidFill>
                <a:latin typeface="楷体_GB2312" panose="02010609030101010101" pitchFamily="49" charset="-122"/>
              </a:rPr>
              <a:t>，计算</a:t>
            </a:r>
            <a:r>
              <a:rPr lang="en-US" altLang="zh-CN" b="0">
                <a:solidFill>
                  <a:schemeClr val="tx1"/>
                </a:solidFill>
                <a:latin typeface="楷体_GB2312" panose="02010609030101010101" pitchFamily="49" charset="-122"/>
              </a:rPr>
              <a:t>x&lt;op&gt;y</a:t>
            </a:r>
            <a:r>
              <a:rPr lang="zh-CN" altLang="zh-CN" b="0" dirty="0">
                <a:solidFill>
                  <a:schemeClr val="tx1"/>
                </a:solidFill>
                <a:latin typeface="楷体_GB2312" panose="02010609030101010101" pitchFamily="49" charset="-122"/>
              </a:rPr>
              <a:t>（如果是除运算且除数</a:t>
            </a:r>
            <a:endParaRPr lang="en-US" altLang="zh-CN" b="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zh-CN" altLang="zh-CN" b="0" dirty="0">
                <a:solidFill>
                  <a:schemeClr val="tx1"/>
                </a:solidFill>
                <a:latin typeface="楷体_GB2312" panose="02010609030101010101" pitchFamily="49" charset="-122"/>
              </a:rPr>
              <a:t>为</a:t>
            </a:r>
            <a:r>
              <a:rPr lang="en-US" altLang="zh-CN" b="0">
                <a:solidFill>
                  <a:schemeClr val="tx1"/>
                </a:solidFill>
                <a:latin typeface="楷体_GB2312" panose="02010609030101010101" pitchFamily="49" charset="-122"/>
              </a:rPr>
              <a:t>0</a:t>
            </a:r>
            <a:r>
              <a:rPr lang="zh-CN" altLang="zh-CN" b="0" dirty="0">
                <a:solidFill>
                  <a:schemeClr val="tx1"/>
                </a:solidFill>
                <a:latin typeface="楷体_GB2312" panose="02010609030101010101" pitchFamily="49" charset="-122"/>
              </a:rPr>
              <a:t>，则报错并结束算法）的值并将结果压入运算数栈。</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   </a:t>
            </a:r>
            <a:r>
              <a:rPr lang="zh-CN" altLang="zh-CN" b="0" dirty="0">
                <a:solidFill>
                  <a:schemeClr val="tx1"/>
                </a:solidFill>
                <a:latin typeface="楷体_GB2312" panose="02010609030101010101" pitchFamily="49" charset="-122"/>
              </a:rPr>
              <a:t>直到</a:t>
            </a:r>
            <a:r>
              <a:rPr lang="en-US" altLang="zh-CN" b="0">
                <a:solidFill>
                  <a:schemeClr val="tx1"/>
                </a:solidFill>
                <a:latin typeface="楷体_GB2312" panose="02010609030101010101" pitchFamily="49" charset="-122"/>
              </a:rPr>
              <a:t>op1</a:t>
            </a:r>
            <a:r>
              <a:rPr lang="zh-CN" altLang="zh-CN" b="0" dirty="0">
                <a:solidFill>
                  <a:schemeClr val="tx1"/>
                </a:solidFill>
                <a:latin typeface="楷体_GB2312" panose="02010609030101010101" pitchFamily="49" charset="-122"/>
              </a:rPr>
              <a:t>和</a:t>
            </a:r>
            <a:r>
              <a:rPr lang="en-US" altLang="zh-CN" b="0">
                <a:solidFill>
                  <a:schemeClr val="tx1"/>
                </a:solidFill>
                <a:latin typeface="楷体_GB2312" panose="02010609030101010101" pitchFamily="49" charset="-122"/>
              </a:rPr>
              <a:t>op2</a:t>
            </a:r>
            <a:r>
              <a:rPr lang="zh-CN" altLang="zh-CN" b="0" dirty="0">
                <a:solidFill>
                  <a:schemeClr val="tx1"/>
                </a:solidFill>
                <a:latin typeface="楷体_GB2312" panose="02010609030101010101" pitchFamily="49" charset="-122"/>
              </a:rPr>
              <a:t>均为“</a:t>
            </a:r>
            <a:r>
              <a:rPr lang="en-US" altLang="zh-CN" b="0">
                <a:solidFill>
                  <a:schemeClr val="tx1"/>
                </a:solidFill>
                <a:latin typeface="宋体" panose="02010600030101010101" pitchFamily="2" charset="-122"/>
                <a:ea typeface="宋体" panose="02010600030101010101" pitchFamily="2" charset="-122"/>
              </a:rPr>
              <a:t>=</a:t>
            </a:r>
            <a:r>
              <a:rPr lang="zh-CN" altLang="zh-CN" b="0" dirty="0">
                <a:solidFill>
                  <a:schemeClr val="tx1"/>
                </a:solidFill>
                <a:latin typeface="楷体_GB2312" panose="02010609030101010101" pitchFamily="49" charset="-122"/>
              </a:rPr>
              <a:t>”。</a:t>
            </a:r>
            <a:endParaRPr lang="zh-CN" altLang="zh-CN" b="0" dirty="0">
              <a:solidFill>
                <a:schemeClr val="tx1"/>
              </a:solidFill>
              <a:latin typeface="楷体_GB2312" panose="02010609030101010101" pitchFamily="49" charset="-122"/>
            </a:endParaRPr>
          </a:p>
          <a:p>
            <a:pPr indent="0" fontAlgn="auto">
              <a:lnSpc>
                <a:spcPct val="125000"/>
              </a:lnSpc>
            </a:pPr>
            <a:r>
              <a:rPr lang="en-US" altLang="zh-CN" b="0">
                <a:solidFill>
                  <a:schemeClr val="tx1"/>
                </a:solidFill>
                <a:latin typeface="楷体_GB2312" panose="02010609030101010101" pitchFamily="49" charset="-122"/>
              </a:rPr>
              <a:t>4. </a:t>
            </a:r>
            <a:r>
              <a:rPr lang="zh-CN" altLang="zh-CN" b="0" dirty="0">
                <a:solidFill>
                  <a:schemeClr val="tx1"/>
                </a:solidFill>
                <a:latin typeface="楷体_GB2312" panose="02010609030101010101" pitchFamily="49" charset="-122"/>
              </a:rPr>
              <a:t>运算数栈的栈顶元素就是求得的表达式的值。</a:t>
            </a:r>
            <a:endParaRPr lang="zh-CN" altLang="zh-CN" b="0" dirty="0">
              <a:solidFill>
                <a:schemeClr val="tx1"/>
              </a:solidFill>
              <a:latin typeface="楷体_GB2312" panose="02010609030101010101"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表达式求值</a:t>
            </a:r>
            <a:endParaRPr sz="3600" b="1" dirty="0">
              <a:solidFill>
                <a:schemeClr val="bg1"/>
              </a:solidFill>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bwMode="black">
          <a:xfrm>
            <a:off x="457200" y="1233488"/>
            <a:ext cx="3962400" cy="685800"/>
          </a:xfrm>
          <a:prstGeom prst="rect">
            <a:avLst/>
          </a:prstGeom>
          <a:noFill/>
          <a:ln w="9525">
            <a:noFill/>
            <a:miter lim="800000"/>
          </a:ln>
          <a:effectLst>
            <a:outerShdw dist="35921" dir="2700000" algn="ctr" rotWithShape="0">
              <a:srgbClr val="FFFFFF"/>
            </a:outerShdw>
          </a:effectLst>
        </p:spPr>
        <p:txBody>
          <a:bodyPr anchor="ctr"/>
          <a:p>
            <a:pPr marR="0" defTabSz="914400">
              <a:buClrTx/>
              <a:buSzTx/>
              <a:buFontTx/>
              <a:buNone/>
              <a:defRPr/>
            </a:pPr>
            <a:r>
              <a:rPr kumimoji="0" lang="zh-CN" altLang="en-US" sz="2800" kern="0" cap="none" spc="0" normalizeH="0" baseline="0" noProof="0" dirty="0">
                <a:solidFill>
                  <a:srgbClr val="880000"/>
                </a:solidFill>
                <a:latin typeface="微软雅黑" panose="020B0503020204020204" pitchFamily="34" charset="-122"/>
                <a:ea typeface="微软雅黑" panose="020B0503020204020204" pitchFamily="34" charset="-122"/>
                <a:cs typeface="+mn-ea"/>
              </a:rPr>
              <a:t>算法的计算过程举例</a:t>
            </a:r>
            <a:r>
              <a:rPr kumimoji="0" lang="en-US" altLang="zh-CN" sz="2800" kern="0" cap="none" spc="0" normalizeH="0" baseline="0" noProof="0" dirty="0">
                <a:solidFill>
                  <a:srgbClr val="880000"/>
                </a:solidFill>
                <a:latin typeface="微软雅黑" panose="020B0503020204020204" pitchFamily="34" charset="-122"/>
                <a:ea typeface="微软雅黑" panose="020B0503020204020204" pitchFamily="34" charset="-122"/>
                <a:cs typeface="+mn-ea"/>
              </a:rPr>
              <a:t>:</a:t>
            </a:r>
            <a:endParaRPr kumimoji="0" lang="en-US" altLang="zh-CN" sz="2800" kern="0" cap="none" spc="0" normalizeH="0" baseline="0" noProof="0" dirty="0">
              <a:solidFill>
                <a:srgbClr val="880000"/>
              </a:solidFill>
              <a:latin typeface="微软雅黑" panose="020B0503020204020204" pitchFamily="34" charset="-122"/>
              <a:ea typeface="微软雅黑" panose="020B0503020204020204" pitchFamily="34" charset="-122"/>
              <a:cs typeface="+mn-ea"/>
            </a:endParaRPr>
          </a:p>
        </p:txBody>
      </p:sp>
      <p:sp>
        <p:nvSpPr>
          <p:cNvPr id="40964" name="Rectangle 4"/>
          <p:cNvSpPr/>
          <p:nvPr/>
        </p:nvSpPr>
        <p:spPr>
          <a:xfrm>
            <a:off x="2779713" y="1828800"/>
            <a:ext cx="5602287" cy="523875"/>
          </a:xfrm>
          <a:prstGeom prst="rect">
            <a:avLst/>
          </a:prstGeom>
          <a:noFill/>
          <a:ln w="9525">
            <a:noFill/>
          </a:ln>
        </p:spPr>
        <p:txBody>
          <a:bodyPr>
            <a:spAutoFit/>
          </a:bodyPr>
          <a:p>
            <a:r>
              <a:rPr lang="en-US" altLang="zh-CN" sz="2800">
                <a:solidFill>
                  <a:srgbClr val="000099"/>
                </a:solidFill>
                <a:latin typeface="微软雅黑" panose="020B0503020204020204" pitchFamily="34" charset="-122"/>
                <a:ea typeface="微软雅黑" panose="020B0503020204020204" pitchFamily="34" charset="-122"/>
              </a:rPr>
              <a:t>5 + ( 6 - 4 / 2 ) * 3 =</a:t>
            </a:r>
            <a:endParaRPr lang="zh-CN" altLang="en-US" sz="2800" dirty="0">
              <a:latin typeface="微软雅黑" panose="020B0503020204020204" pitchFamily="34" charset="-122"/>
              <a:ea typeface="微软雅黑" panose="020B0503020204020204" pitchFamily="34" charset="-122"/>
            </a:endParaRPr>
          </a:p>
        </p:txBody>
      </p:sp>
      <p:grpSp>
        <p:nvGrpSpPr>
          <p:cNvPr id="3" name="Group 91"/>
          <p:cNvGrpSpPr/>
          <p:nvPr/>
        </p:nvGrpSpPr>
        <p:grpSpPr>
          <a:xfrm>
            <a:off x="2500313" y="2857500"/>
            <a:ext cx="1143000" cy="2438400"/>
            <a:chOff x="624" y="1536"/>
            <a:chExt cx="720" cy="1536"/>
          </a:xfrm>
        </p:grpSpPr>
        <p:sp>
          <p:nvSpPr>
            <p:cNvPr id="41026" name="Rectangle 6"/>
            <p:cNvSpPr/>
            <p:nvPr/>
          </p:nvSpPr>
          <p:spPr>
            <a:xfrm>
              <a:off x="624" y="1776"/>
              <a:ext cx="720" cy="1296"/>
            </a:xfrm>
            <a:prstGeom prst="rect">
              <a:avLst/>
            </a:prstGeom>
            <a:noFill/>
            <a:ln w="9525" cap="flat" cmpd="sng">
              <a:solidFill>
                <a:srgbClr val="000000"/>
              </a:solidFill>
              <a:prstDash val="solid"/>
              <a:miter/>
              <a:headEnd type="none" w="med" len="med"/>
              <a:tailEnd type="none" w="med" len="med"/>
            </a:ln>
          </p:spPr>
          <p:txBody>
            <a:bodyPr anchor="ctr" anchorCtr="0"/>
            <a:p>
              <a:pPr algn="ctr"/>
              <a:endParaRPr lang="zh-CN" altLang="en-US" dirty="0">
                <a:latin typeface="微软雅黑" panose="020B0503020204020204" pitchFamily="34" charset="-122"/>
              </a:endParaRPr>
            </a:p>
          </p:txBody>
        </p:sp>
        <p:sp>
          <p:nvSpPr>
            <p:cNvPr id="41027" name="Line 7"/>
            <p:cNvSpPr/>
            <p:nvPr/>
          </p:nvSpPr>
          <p:spPr>
            <a:xfrm>
              <a:off x="624" y="2299"/>
              <a:ext cx="720" cy="0"/>
            </a:xfrm>
            <a:prstGeom prst="line">
              <a:avLst/>
            </a:prstGeom>
            <a:ln w="9525" cap="flat" cmpd="sng">
              <a:solidFill>
                <a:srgbClr val="000000"/>
              </a:solidFill>
              <a:prstDash val="solid"/>
              <a:headEnd type="none" w="med" len="med"/>
              <a:tailEnd type="none" w="med" len="med"/>
            </a:ln>
          </p:spPr>
        </p:sp>
        <p:sp>
          <p:nvSpPr>
            <p:cNvPr id="41028" name="Line 8"/>
            <p:cNvSpPr/>
            <p:nvPr/>
          </p:nvSpPr>
          <p:spPr>
            <a:xfrm>
              <a:off x="624" y="2814"/>
              <a:ext cx="720" cy="0"/>
            </a:xfrm>
            <a:prstGeom prst="line">
              <a:avLst/>
            </a:prstGeom>
            <a:ln w="9525" cap="flat" cmpd="sng">
              <a:solidFill>
                <a:srgbClr val="000000"/>
              </a:solidFill>
              <a:prstDash val="solid"/>
              <a:headEnd type="none" w="med" len="med"/>
              <a:tailEnd type="none" w="med" len="med"/>
            </a:ln>
          </p:spPr>
        </p:sp>
        <p:sp>
          <p:nvSpPr>
            <p:cNvPr id="41029" name="Line 9"/>
            <p:cNvSpPr/>
            <p:nvPr/>
          </p:nvSpPr>
          <p:spPr>
            <a:xfrm>
              <a:off x="624" y="2557"/>
              <a:ext cx="720" cy="0"/>
            </a:xfrm>
            <a:prstGeom prst="line">
              <a:avLst/>
            </a:prstGeom>
            <a:ln w="9525" cap="flat" cmpd="sng">
              <a:solidFill>
                <a:srgbClr val="000000"/>
              </a:solidFill>
              <a:prstDash val="solid"/>
              <a:headEnd type="none" w="med" len="med"/>
              <a:tailEnd type="none" w="med" len="med"/>
            </a:ln>
          </p:spPr>
        </p:sp>
        <p:sp>
          <p:nvSpPr>
            <p:cNvPr id="41030" name="Line 10"/>
            <p:cNvSpPr/>
            <p:nvPr/>
          </p:nvSpPr>
          <p:spPr>
            <a:xfrm>
              <a:off x="624" y="2041"/>
              <a:ext cx="720" cy="0"/>
            </a:xfrm>
            <a:prstGeom prst="line">
              <a:avLst/>
            </a:prstGeom>
            <a:ln w="9525" cap="flat" cmpd="sng">
              <a:solidFill>
                <a:srgbClr val="000000"/>
              </a:solidFill>
              <a:prstDash val="solid"/>
              <a:headEnd type="none" w="med" len="med"/>
              <a:tailEnd type="none" w="med" len="med"/>
            </a:ln>
          </p:spPr>
        </p:sp>
        <p:sp>
          <p:nvSpPr>
            <p:cNvPr id="41031" name="Line 11"/>
            <p:cNvSpPr/>
            <p:nvPr/>
          </p:nvSpPr>
          <p:spPr>
            <a:xfrm flipV="1">
              <a:off x="624" y="1536"/>
              <a:ext cx="0" cy="258"/>
            </a:xfrm>
            <a:prstGeom prst="line">
              <a:avLst/>
            </a:prstGeom>
            <a:ln w="9525" cap="flat" cmpd="sng">
              <a:solidFill>
                <a:srgbClr val="000000"/>
              </a:solidFill>
              <a:prstDash val="solid"/>
              <a:headEnd type="none" w="med" len="med"/>
              <a:tailEnd type="none" w="med" len="med"/>
            </a:ln>
          </p:spPr>
        </p:sp>
        <p:sp>
          <p:nvSpPr>
            <p:cNvPr id="41032" name="Line 12"/>
            <p:cNvSpPr/>
            <p:nvPr/>
          </p:nvSpPr>
          <p:spPr>
            <a:xfrm flipV="1">
              <a:off x="1344" y="1536"/>
              <a:ext cx="0" cy="258"/>
            </a:xfrm>
            <a:prstGeom prst="line">
              <a:avLst/>
            </a:prstGeom>
            <a:ln w="9525" cap="flat" cmpd="sng">
              <a:solidFill>
                <a:srgbClr val="000000"/>
              </a:solidFill>
              <a:prstDash val="solid"/>
              <a:headEnd type="none" w="med" len="med"/>
              <a:tailEnd type="none" w="med" len="med"/>
            </a:ln>
          </p:spPr>
        </p:sp>
      </p:grpSp>
      <p:grpSp>
        <p:nvGrpSpPr>
          <p:cNvPr id="9" name="Group 92"/>
          <p:cNvGrpSpPr/>
          <p:nvPr/>
        </p:nvGrpSpPr>
        <p:grpSpPr>
          <a:xfrm>
            <a:off x="4643438" y="2857500"/>
            <a:ext cx="1143000" cy="2438400"/>
            <a:chOff x="432" y="2064"/>
            <a:chExt cx="720" cy="1536"/>
          </a:xfrm>
        </p:grpSpPr>
        <p:sp>
          <p:nvSpPr>
            <p:cNvPr id="41033" name="Rectangle 14"/>
            <p:cNvSpPr/>
            <p:nvPr/>
          </p:nvSpPr>
          <p:spPr>
            <a:xfrm>
              <a:off x="432" y="2304"/>
              <a:ext cx="720" cy="1296"/>
            </a:xfrm>
            <a:prstGeom prst="rect">
              <a:avLst/>
            </a:prstGeom>
            <a:noFill/>
            <a:ln w="9525" cap="flat" cmpd="sng">
              <a:solidFill>
                <a:srgbClr val="000000"/>
              </a:solidFill>
              <a:prstDash val="solid"/>
              <a:miter/>
              <a:headEnd type="none" w="med" len="med"/>
              <a:tailEnd type="none" w="med" len="med"/>
            </a:ln>
          </p:spPr>
          <p:txBody>
            <a:bodyPr/>
            <a:p>
              <a:endParaRPr lang="zh-CN" altLang="en-US" dirty="0">
                <a:latin typeface="微软雅黑" panose="020B0503020204020204" pitchFamily="34" charset="-122"/>
              </a:endParaRPr>
            </a:p>
          </p:txBody>
        </p:sp>
        <p:sp>
          <p:nvSpPr>
            <p:cNvPr id="41034" name="Line 15"/>
            <p:cNvSpPr/>
            <p:nvPr/>
          </p:nvSpPr>
          <p:spPr>
            <a:xfrm>
              <a:off x="432" y="2827"/>
              <a:ext cx="720" cy="0"/>
            </a:xfrm>
            <a:prstGeom prst="line">
              <a:avLst/>
            </a:prstGeom>
            <a:ln w="9525" cap="flat" cmpd="sng">
              <a:solidFill>
                <a:srgbClr val="000000"/>
              </a:solidFill>
              <a:prstDash val="solid"/>
              <a:headEnd type="none" w="med" len="med"/>
              <a:tailEnd type="none" w="med" len="med"/>
            </a:ln>
          </p:spPr>
        </p:sp>
        <p:sp>
          <p:nvSpPr>
            <p:cNvPr id="41035" name="Line 16"/>
            <p:cNvSpPr/>
            <p:nvPr/>
          </p:nvSpPr>
          <p:spPr>
            <a:xfrm>
              <a:off x="432" y="3342"/>
              <a:ext cx="720" cy="0"/>
            </a:xfrm>
            <a:prstGeom prst="line">
              <a:avLst/>
            </a:prstGeom>
            <a:ln w="9525" cap="flat" cmpd="sng">
              <a:solidFill>
                <a:srgbClr val="000000"/>
              </a:solidFill>
              <a:prstDash val="solid"/>
              <a:headEnd type="none" w="med" len="med"/>
              <a:tailEnd type="none" w="med" len="med"/>
            </a:ln>
          </p:spPr>
        </p:sp>
        <p:sp>
          <p:nvSpPr>
            <p:cNvPr id="41036" name="Line 17"/>
            <p:cNvSpPr/>
            <p:nvPr/>
          </p:nvSpPr>
          <p:spPr>
            <a:xfrm>
              <a:off x="432" y="3085"/>
              <a:ext cx="720" cy="0"/>
            </a:xfrm>
            <a:prstGeom prst="line">
              <a:avLst/>
            </a:prstGeom>
            <a:ln w="9525" cap="flat" cmpd="sng">
              <a:solidFill>
                <a:srgbClr val="000000"/>
              </a:solidFill>
              <a:prstDash val="solid"/>
              <a:headEnd type="none" w="med" len="med"/>
              <a:tailEnd type="none" w="med" len="med"/>
            </a:ln>
          </p:spPr>
        </p:sp>
        <p:sp>
          <p:nvSpPr>
            <p:cNvPr id="41037" name="Line 18"/>
            <p:cNvSpPr/>
            <p:nvPr/>
          </p:nvSpPr>
          <p:spPr>
            <a:xfrm>
              <a:off x="432" y="2569"/>
              <a:ext cx="720" cy="0"/>
            </a:xfrm>
            <a:prstGeom prst="line">
              <a:avLst/>
            </a:prstGeom>
            <a:ln w="9525" cap="flat" cmpd="sng">
              <a:solidFill>
                <a:srgbClr val="000000"/>
              </a:solidFill>
              <a:prstDash val="solid"/>
              <a:headEnd type="none" w="med" len="med"/>
              <a:tailEnd type="none" w="med" len="med"/>
            </a:ln>
          </p:spPr>
        </p:sp>
        <p:sp>
          <p:nvSpPr>
            <p:cNvPr id="41038" name="Line 19"/>
            <p:cNvSpPr/>
            <p:nvPr/>
          </p:nvSpPr>
          <p:spPr>
            <a:xfrm flipV="1">
              <a:off x="432" y="2064"/>
              <a:ext cx="0" cy="258"/>
            </a:xfrm>
            <a:prstGeom prst="line">
              <a:avLst/>
            </a:prstGeom>
            <a:ln w="9525" cap="flat" cmpd="sng">
              <a:solidFill>
                <a:srgbClr val="000000"/>
              </a:solidFill>
              <a:prstDash val="solid"/>
              <a:headEnd type="none" w="med" len="med"/>
              <a:tailEnd type="none" w="med" len="med"/>
            </a:ln>
          </p:spPr>
        </p:sp>
        <p:sp>
          <p:nvSpPr>
            <p:cNvPr id="41039" name="Line 20"/>
            <p:cNvSpPr/>
            <p:nvPr/>
          </p:nvSpPr>
          <p:spPr>
            <a:xfrm flipV="1">
              <a:off x="1152" y="2064"/>
              <a:ext cx="0" cy="258"/>
            </a:xfrm>
            <a:prstGeom prst="line">
              <a:avLst/>
            </a:prstGeom>
            <a:ln w="9525" cap="flat" cmpd="sng">
              <a:solidFill>
                <a:srgbClr val="000000"/>
              </a:solidFill>
              <a:prstDash val="solid"/>
              <a:headEnd type="none" w="med" len="med"/>
              <a:tailEnd type="none" w="med" len="med"/>
            </a:ln>
          </p:spPr>
        </p:sp>
      </p:grpSp>
      <p:sp>
        <p:nvSpPr>
          <p:cNvPr id="12" name="Text Box 28"/>
          <p:cNvSpPr txBox="1"/>
          <p:nvPr/>
        </p:nvSpPr>
        <p:spPr>
          <a:xfrm>
            <a:off x="4876800" y="4900613"/>
            <a:ext cx="625475" cy="357187"/>
          </a:xfrm>
          <a:prstGeom prst="rect">
            <a:avLst/>
          </a:prstGeom>
          <a:noFill/>
          <a:ln w="9525">
            <a:noFill/>
          </a:ln>
        </p:spPr>
        <p:txBody>
          <a:bodyPr anchor="ctr" anchorCtr="0"/>
          <a:p>
            <a:pPr algn="ctr"/>
            <a:r>
              <a:rPr lang="en-US" altLang="zh-CN">
                <a:solidFill>
                  <a:srgbClr val="006600"/>
                </a:solidFill>
                <a:latin typeface="微软雅黑" panose="020B0503020204020204" pitchFamily="34" charset="-122"/>
              </a:rPr>
              <a:t>=</a:t>
            </a:r>
            <a:endParaRPr lang="en-US" altLang="zh-CN">
              <a:solidFill>
                <a:srgbClr val="006600"/>
              </a:solidFill>
              <a:latin typeface="微软雅黑" panose="020B0503020204020204" pitchFamily="34" charset="-122"/>
            </a:endParaRPr>
          </a:p>
        </p:txBody>
      </p:sp>
      <p:sp>
        <p:nvSpPr>
          <p:cNvPr id="65" name="Rectangle 88"/>
          <p:cNvSpPr/>
          <p:nvPr/>
        </p:nvSpPr>
        <p:spPr>
          <a:xfrm>
            <a:off x="2857500" y="4876800"/>
            <a:ext cx="419100" cy="369888"/>
          </a:xfrm>
          <a:prstGeom prst="rect">
            <a:avLst/>
          </a:prstGeom>
          <a:noFill/>
          <a:ln w="9525">
            <a:noFill/>
          </a:ln>
        </p:spPr>
        <p:txBody>
          <a:bodyPr wrap="none" anchor="ctr" anchorCtr="0">
            <a:spAutoFit/>
          </a:bodyPr>
          <a:p>
            <a:pPr algn="ctr"/>
            <a:r>
              <a:rPr lang="en-US" altLang="zh-CN">
                <a:solidFill>
                  <a:srgbClr val="FF0000"/>
                </a:solidFill>
                <a:latin typeface="微软雅黑" panose="020B0503020204020204" pitchFamily="34" charset="-122"/>
              </a:rPr>
              <a:t>17</a:t>
            </a:r>
            <a:endParaRPr lang="en-US" altLang="zh-CN">
              <a:solidFill>
                <a:srgbClr val="FF0000"/>
              </a:solidFill>
              <a:latin typeface="微软雅黑" panose="020B0503020204020204" pitchFamily="34" charset="-122"/>
            </a:endParaRPr>
          </a:p>
        </p:txBody>
      </p:sp>
      <p:sp>
        <p:nvSpPr>
          <p:cNvPr id="10" name="Rectangle 21"/>
          <p:cNvSpPr>
            <a:spLocks noChangeArrowheads="1"/>
          </p:cNvSpPr>
          <p:nvPr/>
        </p:nvSpPr>
        <p:spPr bwMode="auto">
          <a:xfrm>
            <a:off x="2576513" y="5410200"/>
            <a:ext cx="1004888" cy="338138"/>
          </a:xfrm>
          <a:prstGeom prst="rect">
            <a:avLst/>
          </a:prstGeom>
          <a:noFill/>
          <a:ln w="9525">
            <a:noFill/>
            <a:miter lim="800000"/>
          </a:ln>
        </p:spPr>
        <p:txBody>
          <a:bodyPr wrap="none" anchor="ctr">
            <a:spAutoFit/>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tx1"/>
                </a:solidFill>
                <a:effectLst/>
                <a:uLnTx/>
                <a:uFillTx/>
                <a:latin typeface="+mn-ea"/>
                <a:ea typeface="+mn-ea"/>
                <a:cs typeface="+mn-cs"/>
              </a:rPr>
              <a:t>运算数栈</a:t>
            </a:r>
            <a:endParaRPr kumimoji="0" lang="en-US" altLang="zh-CN" sz="1600" b="0" i="0" u="none" strike="noStrike" kern="1200" cap="none" spc="0" normalizeH="0" baseline="0" noProof="0" dirty="0">
              <a:ln>
                <a:noFill/>
              </a:ln>
              <a:solidFill>
                <a:schemeClr val="tx1"/>
              </a:solidFill>
              <a:effectLst/>
              <a:uLnTx/>
              <a:uFillTx/>
              <a:latin typeface="+mn-ea"/>
              <a:ea typeface="+mn-ea"/>
              <a:cs typeface="+mn-cs"/>
            </a:endParaRPr>
          </a:p>
        </p:txBody>
      </p:sp>
      <p:sp>
        <p:nvSpPr>
          <p:cNvPr id="11" name="Text Box 22"/>
          <p:cNvSpPr txBox="1">
            <a:spLocks noChangeArrowheads="1"/>
          </p:cNvSpPr>
          <p:nvPr/>
        </p:nvSpPr>
        <p:spPr bwMode="auto">
          <a:xfrm>
            <a:off x="4724400" y="5410200"/>
            <a:ext cx="1004888" cy="290513"/>
          </a:xfrm>
          <a:prstGeom prst="rect">
            <a:avLst/>
          </a:prstGeom>
          <a:noFill/>
          <a:ln w="9525">
            <a:noFill/>
            <a:miter lim="800000"/>
          </a:ln>
        </p:spPr>
        <p:txBody>
          <a:bodyPr anchor="ctr"/>
          <a:p>
            <a:pPr marR="0" algn="ctr" defTabSz="914400">
              <a:buClrTx/>
              <a:buSzTx/>
              <a:buFontTx/>
              <a:buNone/>
              <a:defRPr/>
            </a:pPr>
            <a:r>
              <a:rPr kumimoji="0" lang="zh-CN" altLang="en-US" sz="1600" b="0" kern="1200" cap="none" spc="0" normalizeH="0" baseline="0" noProof="0" dirty="0">
                <a:solidFill>
                  <a:schemeClr val="tx1"/>
                </a:solidFill>
                <a:latin typeface="+mn-ea"/>
                <a:ea typeface="+mn-ea"/>
                <a:cs typeface="+mn-cs"/>
              </a:rPr>
              <a:t>运算符栈</a:t>
            </a:r>
            <a:endParaRPr kumimoji="0" lang="en-US" altLang="zh-CN" sz="1600" b="0" kern="1200" cap="none" spc="0" normalizeH="0" baseline="0" noProof="0" dirty="0">
              <a:solidFill>
                <a:schemeClr val="tx1"/>
              </a:solidFill>
              <a:latin typeface="+mn-ea"/>
              <a:ea typeface="+mn-ea"/>
              <a:cs typeface="+mn-cs"/>
            </a:endParaRPr>
          </a:p>
        </p:txBody>
      </p:sp>
      <p:grpSp>
        <p:nvGrpSpPr>
          <p:cNvPr id="13" name="组合 12"/>
          <p:cNvGrpSpPr/>
          <p:nvPr/>
        </p:nvGrpSpPr>
        <p:grpSpPr>
          <a:xfrm>
            <a:off x="6781800" y="3692890"/>
            <a:ext cx="2216150" cy="1960530"/>
            <a:chOff x="10680" y="6284"/>
            <a:chExt cx="2060" cy="2634"/>
          </a:xfrm>
        </p:grpSpPr>
        <p:sp>
          <p:nvSpPr>
            <p:cNvPr id="27" name="Rectangle 45"/>
            <p:cNvSpPr/>
            <p:nvPr/>
          </p:nvSpPr>
          <p:spPr>
            <a:xfrm>
              <a:off x="11040" y="6284"/>
              <a:ext cx="475" cy="495"/>
            </a:xfrm>
            <a:prstGeom prst="rect">
              <a:avLst/>
            </a:prstGeom>
            <a:noFill/>
            <a:ln w="9525">
              <a:noFill/>
            </a:ln>
          </p:spPr>
          <p:txBody>
            <a:bodyPr wrap="square" anchor="ctr" anchorCtr="0">
              <a:spAutoFit/>
            </a:bodyPr>
            <a:p>
              <a:r>
                <a:rPr lang="en-US" altLang="zh-CN">
                  <a:solidFill>
                    <a:srgbClr val="006600"/>
                  </a:solidFill>
                  <a:latin typeface="微软雅黑" panose="020B0503020204020204" pitchFamily="34" charset="-122"/>
                </a:rPr>
                <a:t>/</a:t>
              </a:r>
              <a:endParaRPr lang="en-US" altLang="zh-CN">
                <a:solidFill>
                  <a:srgbClr val="006600"/>
                </a:solidFill>
                <a:latin typeface="微软雅黑" panose="020B0503020204020204" pitchFamily="34" charset="-122"/>
              </a:endParaRPr>
            </a:p>
          </p:txBody>
        </p:sp>
        <p:sp>
          <p:nvSpPr>
            <p:cNvPr id="28" name="Rectangle 46"/>
            <p:cNvSpPr/>
            <p:nvPr/>
          </p:nvSpPr>
          <p:spPr>
            <a:xfrm>
              <a:off x="11400" y="6284"/>
              <a:ext cx="475" cy="495"/>
            </a:xfrm>
            <a:prstGeom prst="rect">
              <a:avLst/>
            </a:prstGeom>
            <a:noFill/>
            <a:ln w="9525">
              <a:noFill/>
            </a:ln>
          </p:spPr>
          <p:txBody>
            <a:bodyPr wrap="square" anchor="ctr" anchorCtr="0">
              <a:spAutoFit/>
            </a:bodyPr>
            <a:p>
              <a:r>
                <a:rPr lang="en-US" altLang="zh-CN">
                  <a:solidFill>
                    <a:srgbClr val="FF0000"/>
                  </a:solidFill>
                  <a:latin typeface="微软雅黑" panose="020B0503020204020204" pitchFamily="34" charset="-122"/>
                </a:rPr>
                <a:t>2</a:t>
              </a:r>
              <a:endParaRPr lang="en-US" altLang="zh-CN">
                <a:solidFill>
                  <a:srgbClr val="FF0000"/>
                </a:solidFill>
                <a:latin typeface="微软雅黑" panose="020B0503020204020204" pitchFamily="34" charset="-122"/>
              </a:endParaRPr>
            </a:p>
          </p:txBody>
        </p:sp>
        <p:sp>
          <p:nvSpPr>
            <p:cNvPr id="29" name="Rectangle 47"/>
            <p:cNvSpPr/>
            <p:nvPr/>
          </p:nvSpPr>
          <p:spPr>
            <a:xfrm>
              <a:off x="10680" y="6284"/>
              <a:ext cx="475" cy="495"/>
            </a:xfrm>
            <a:prstGeom prst="rect">
              <a:avLst/>
            </a:prstGeom>
            <a:noFill/>
            <a:ln w="9525">
              <a:noFill/>
            </a:ln>
          </p:spPr>
          <p:txBody>
            <a:bodyPr wrap="square" anchor="ctr" anchorCtr="0">
              <a:spAutoFit/>
            </a:bodyPr>
            <a:p>
              <a:r>
                <a:rPr lang="en-US" altLang="zh-CN">
                  <a:solidFill>
                    <a:srgbClr val="FF0000"/>
                  </a:solidFill>
                  <a:latin typeface="微软雅黑" panose="020B0503020204020204" pitchFamily="34" charset="-122"/>
                </a:rPr>
                <a:t>4</a:t>
              </a:r>
              <a:endParaRPr lang="en-US" altLang="zh-CN">
                <a:solidFill>
                  <a:srgbClr val="FF0000"/>
                </a:solidFill>
                <a:latin typeface="微软雅黑" panose="020B0503020204020204" pitchFamily="34" charset="-122"/>
              </a:endParaRPr>
            </a:p>
          </p:txBody>
        </p:sp>
        <p:sp>
          <p:nvSpPr>
            <p:cNvPr id="31" name="Text Box 54"/>
            <p:cNvSpPr txBox="1"/>
            <p:nvPr/>
          </p:nvSpPr>
          <p:spPr>
            <a:xfrm>
              <a:off x="11778" y="6284"/>
              <a:ext cx="675" cy="495"/>
            </a:xfrm>
            <a:prstGeom prst="rect">
              <a:avLst/>
            </a:prstGeom>
            <a:noFill/>
            <a:ln w="9525">
              <a:noFill/>
            </a:ln>
          </p:spPr>
          <p:txBody>
            <a:bodyPr wrap="square" anchor="ctr" anchorCtr="0">
              <a:spAutoFit/>
            </a:bodyPr>
            <a:p>
              <a:r>
                <a:rPr lang="en-US" altLang="zh-CN">
                  <a:solidFill>
                    <a:schemeClr val="tx1"/>
                  </a:solidFill>
                  <a:latin typeface="微软雅黑" panose="020B0503020204020204" pitchFamily="34" charset="-122"/>
                </a:rPr>
                <a:t>=</a:t>
              </a:r>
              <a:r>
                <a:rPr lang="en-US" altLang="zh-CN">
                  <a:solidFill>
                    <a:srgbClr val="FF0000"/>
                  </a:solidFill>
                  <a:latin typeface="微软雅黑" panose="020B0503020204020204" pitchFamily="34" charset="-122"/>
                </a:rPr>
                <a:t>2</a:t>
              </a:r>
              <a:endParaRPr lang="en-US" altLang="zh-CN">
                <a:solidFill>
                  <a:srgbClr val="FF0000"/>
                </a:solidFill>
                <a:latin typeface="微软雅黑" panose="020B0503020204020204" pitchFamily="34" charset="-122"/>
              </a:endParaRPr>
            </a:p>
          </p:txBody>
        </p:sp>
        <p:sp>
          <p:nvSpPr>
            <p:cNvPr id="37" name="Rectangle 60"/>
            <p:cNvSpPr/>
            <p:nvPr/>
          </p:nvSpPr>
          <p:spPr>
            <a:xfrm>
              <a:off x="11040" y="6983"/>
              <a:ext cx="573" cy="495"/>
            </a:xfrm>
            <a:prstGeom prst="rect">
              <a:avLst/>
            </a:prstGeom>
            <a:noFill/>
            <a:ln w="9525">
              <a:noFill/>
            </a:ln>
          </p:spPr>
          <p:txBody>
            <a:bodyPr wrap="square">
              <a:spAutoFit/>
            </a:bodyPr>
            <a:p>
              <a:r>
                <a:rPr lang="en-US" altLang="zh-CN">
                  <a:solidFill>
                    <a:srgbClr val="006600"/>
                  </a:solidFill>
                  <a:latin typeface="微软雅黑" panose="020B0503020204020204" pitchFamily="34" charset="-122"/>
                </a:rPr>
                <a:t>-</a:t>
              </a:r>
              <a:endParaRPr lang="en-US" altLang="zh-CN">
                <a:solidFill>
                  <a:srgbClr val="006600"/>
                </a:solidFill>
                <a:latin typeface="微软雅黑" panose="020B0503020204020204" pitchFamily="34" charset="-122"/>
              </a:endParaRPr>
            </a:p>
          </p:txBody>
        </p:sp>
        <p:sp>
          <p:nvSpPr>
            <p:cNvPr id="38" name="Rectangle 61"/>
            <p:cNvSpPr/>
            <p:nvPr/>
          </p:nvSpPr>
          <p:spPr>
            <a:xfrm>
              <a:off x="11400" y="6983"/>
              <a:ext cx="573" cy="495"/>
            </a:xfrm>
            <a:prstGeom prst="rect">
              <a:avLst/>
            </a:prstGeom>
            <a:noFill/>
            <a:ln w="9525">
              <a:noFill/>
            </a:ln>
          </p:spPr>
          <p:txBody>
            <a:bodyPr wrap="square">
              <a:spAutoFit/>
            </a:bodyPr>
            <a:p>
              <a:r>
                <a:rPr lang="en-US" altLang="zh-CN">
                  <a:solidFill>
                    <a:srgbClr val="FF0000"/>
                  </a:solidFill>
                  <a:latin typeface="微软雅黑" panose="020B0503020204020204" pitchFamily="34" charset="-122"/>
                </a:rPr>
                <a:t>2</a:t>
              </a:r>
              <a:endParaRPr lang="en-US" altLang="zh-CN">
                <a:solidFill>
                  <a:srgbClr val="FF0000"/>
                </a:solidFill>
                <a:latin typeface="微软雅黑" panose="020B0503020204020204" pitchFamily="34" charset="-122"/>
              </a:endParaRPr>
            </a:p>
          </p:txBody>
        </p:sp>
        <p:sp>
          <p:nvSpPr>
            <p:cNvPr id="39" name="Rectangle 62"/>
            <p:cNvSpPr/>
            <p:nvPr/>
          </p:nvSpPr>
          <p:spPr>
            <a:xfrm>
              <a:off x="10680" y="6983"/>
              <a:ext cx="573" cy="495"/>
            </a:xfrm>
            <a:prstGeom prst="rect">
              <a:avLst/>
            </a:prstGeom>
            <a:noFill/>
            <a:ln w="9525">
              <a:noFill/>
            </a:ln>
          </p:spPr>
          <p:txBody>
            <a:bodyPr wrap="square">
              <a:spAutoFit/>
            </a:bodyPr>
            <a:p>
              <a:r>
                <a:rPr lang="en-US" altLang="zh-CN">
                  <a:solidFill>
                    <a:srgbClr val="FF0000"/>
                  </a:solidFill>
                  <a:latin typeface="微软雅黑" panose="020B0503020204020204" pitchFamily="34" charset="-122"/>
                </a:rPr>
                <a:t>6</a:t>
              </a:r>
              <a:endParaRPr lang="en-US" altLang="zh-CN">
                <a:solidFill>
                  <a:srgbClr val="FF0000"/>
                </a:solidFill>
                <a:latin typeface="微软雅黑" panose="020B0503020204020204" pitchFamily="34" charset="-122"/>
              </a:endParaRPr>
            </a:p>
          </p:txBody>
        </p:sp>
        <p:sp>
          <p:nvSpPr>
            <p:cNvPr id="42" name="Rectangle 65"/>
            <p:cNvSpPr/>
            <p:nvPr/>
          </p:nvSpPr>
          <p:spPr>
            <a:xfrm>
              <a:off x="11760" y="6983"/>
              <a:ext cx="675" cy="495"/>
            </a:xfrm>
            <a:prstGeom prst="rect">
              <a:avLst/>
            </a:prstGeom>
            <a:noFill/>
            <a:ln w="9525">
              <a:noFill/>
            </a:ln>
          </p:spPr>
          <p:txBody>
            <a:bodyPr wrap="square">
              <a:spAutoFit/>
            </a:bodyPr>
            <a:p>
              <a:r>
                <a:rPr lang="en-US" altLang="zh-CN">
                  <a:solidFill>
                    <a:schemeClr val="tx1"/>
                  </a:solidFill>
                  <a:latin typeface="微软雅黑" panose="020B0503020204020204" pitchFamily="34" charset="-122"/>
                </a:rPr>
                <a:t>=</a:t>
              </a:r>
              <a:r>
                <a:rPr lang="en-US" altLang="zh-CN">
                  <a:solidFill>
                    <a:srgbClr val="FF0000"/>
                  </a:solidFill>
                  <a:latin typeface="微软雅黑" panose="020B0503020204020204" pitchFamily="34" charset="-122"/>
                </a:rPr>
                <a:t>4</a:t>
              </a:r>
              <a:endParaRPr lang="en-US" altLang="zh-CN">
                <a:solidFill>
                  <a:srgbClr val="FF0000"/>
                </a:solidFill>
                <a:latin typeface="微软雅黑" panose="020B0503020204020204" pitchFamily="34" charset="-122"/>
              </a:endParaRPr>
            </a:p>
          </p:txBody>
        </p:sp>
        <p:sp>
          <p:nvSpPr>
            <p:cNvPr id="51" name="Rectangle 74"/>
            <p:cNvSpPr/>
            <p:nvPr/>
          </p:nvSpPr>
          <p:spPr>
            <a:xfrm>
              <a:off x="11040" y="7605"/>
              <a:ext cx="573" cy="495"/>
            </a:xfrm>
            <a:prstGeom prst="rect">
              <a:avLst/>
            </a:prstGeom>
            <a:noFill/>
            <a:ln w="9525">
              <a:noFill/>
            </a:ln>
          </p:spPr>
          <p:txBody>
            <a:bodyPr wrap="square">
              <a:spAutoFit/>
            </a:bodyPr>
            <a:p>
              <a:r>
                <a:rPr lang="en-US" altLang="zh-CN">
                  <a:solidFill>
                    <a:srgbClr val="006600"/>
                  </a:solidFill>
                  <a:latin typeface="微软雅黑" panose="020B0503020204020204" pitchFamily="34" charset="-122"/>
                </a:rPr>
                <a:t>*</a:t>
              </a:r>
              <a:endParaRPr lang="en-US" altLang="zh-CN">
                <a:solidFill>
                  <a:srgbClr val="006600"/>
                </a:solidFill>
                <a:latin typeface="微软雅黑" panose="020B0503020204020204" pitchFamily="34" charset="-122"/>
              </a:endParaRPr>
            </a:p>
          </p:txBody>
        </p:sp>
        <p:sp>
          <p:nvSpPr>
            <p:cNvPr id="53" name="Rectangle 76"/>
            <p:cNvSpPr/>
            <p:nvPr/>
          </p:nvSpPr>
          <p:spPr>
            <a:xfrm>
              <a:off x="11400" y="7605"/>
              <a:ext cx="573" cy="495"/>
            </a:xfrm>
            <a:prstGeom prst="rect">
              <a:avLst/>
            </a:prstGeom>
            <a:noFill/>
            <a:ln w="9525">
              <a:noFill/>
            </a:ln>
          </p:spPr>
          <p:txBody>
            <a:bodyPr wrap="square">
              <a:spAutoFit/>
            </a:bodyPr>
            <a:p>
              <a:r>
                <a:rPr lang="en-US" altLang="zh-CN">
                  <a:solidFill>
                    <a:srgbClr val="FF0000"/>
                  </a:solidFill>
                  <a:latin typeface="微软雅黑" panose="020B0503020204020204" pitchFamily="34" charset="-122"/>
                </a:rPr>
                <a:t>3</a:t>
              </a:r>
              <a:endParaRPr lang="en-US" altLang="zh-CN">
                <a:solidFill>
                  <a:srgbClr val="FF0000"/>
                </a:solidFill>
                <a:latin typeface="微软雅黑" panose="020B0503020204020204" pitchFamily="34" charset="-122"/>
              </a:endParaRPr>
            </a:p>
          </p:txBody>
        </p:sp>
        <p:sp>
          <p:nvSpPr>
            <p:cNvPr id="54" name="Rectangle 77"/>
            <p:cNvSpPr/>
            <p:nvPr/>
          </p:nvSpPr>
          <p:spPr>
            <a:xfrm>
              <a:off x="10680" y="7605"/>
              <a:ext cx="570" cy="495"/>
            </a:xfrm>
            <a:prstGeom prst="rect">
              <a:avLst/>
            </a:prstGeom>
            <a:noFill/>
            <a:ln w="9525">
              <a:noFill/>
            </a:ln>
          </p:spPr>
          <p:txBody>
            <a:bodyPr wrap="square">
              <a:spAutoFit/>
            </a:bodyPr>
            <a:p>
              <a:r>
                <a:rPr lang="en-US" altLang="zh-CN">
                  <a:solidFill>
                    <a:srgbClr val="FF0000"/>
                  </a:solidFill>
                  <a:latin typeface="微软雅黑" panose="020B0503020204020204" pitchFamily="34" charset="-122"/>
                </a:rPr>
                <a:t>4</a:t>
              </a:r>
              <a:endParaRPr lang="en-US" altLang="zh-CN">
                <a:solidFill>
                  <a:srgbClr val="FF0000"/>
                </a:solidFill>
                <a:latin typeface="微软雅黑" panose="020B0503020204020204" pitchFamily="34" charset="-122"/>
              </a:endParaRPr>
            </a:p>
          </p:txBody>
        </p:sp>
        <p:sp>
          <p:nvSpPr>
            <p:cNvPr id="56" name="Rectangle 79"/>
            <p:cNvSpPr/>
            <p:nvPr/>
          </p:nvSpPr>
          <p:spPr>
            <a:xfrm>
              <a:off x="11760" y="7605"/>
              <a:ext cx="860" cy="495"/>
            </a:xfrm>
            <a:prstGeom prst="rect">
              <a:avLst/>
            </a:prstGeom>
            <a:noFill/>
            <a:ln w="9525">
              <a:noFill/>
            </a:ln>
          </p:spPr>
          <p:txBody>
            <a:bodyPr wrap="square">
              <a:spAutoFit/>
            </a:bodyPr>
            <a:p>
              <a:r>
                <a:rPr lang="en-US" altLang="zh-CN">
                  <a:solidFill>
                    <a:schemeClr val="tx1"/>
                  </a:solidFill>
                  <a:latin typeface="微软雅黑" panose="020B0503020204020204" pitchFamily="34" charset="-122"/>
                </a:rPr>
                <a:t>=</a:t>
              </a:r>
              <a:r>
                <a:rPr lang="en-US" altLang="zh-CN">
                  <a:solidFill>
                    <a:srgbClr val="FF0000"/>
                  </a:solidFill>
                  <a:latin typeface="微软雅黑" panose="020B0503020204020204" pitchFamily="34" charset="-122"/>
                </a:rPr>
                <a:t>12</a:t>
              </a:r>
              <a:endParaRPr lang="en-US" altLang="zh-CN">
                <a:solidFill>
                  <a:srgbClr val="FF0000"/>
                </a:solidFill>
                <a:latin typeface="微软雅黑" panose="020B0503020204020204" pitchFamily="34" charset="-122"/>
              </a:endParaRPr>
            </a:p>
          </p:txBody>
        </p:sp>
        <p:sp>
          <p:nvSpPr>
            <p:cNvPr id="64" name="Rectangle 87"/>
            <p:cNvSpPr/>
            <p:nvPr/>
          </p:nvSpPr>
          <p:spPr>
            <a:xfrm>
              <a:off x="11880" y="8423"/>
              <a:ext cx="860" cy="495"/>
            </a:xfrm>
            <a:prstGeom prst="rect">
              <a:avLst/>
            </a:prstGeom>
            <a:noFill/>
            <a:ln w="9525">
              <a:noFill/>
            </a:ln>
          </p:spPr>
          <p:txBody>
            <a:bodyPr wrap="square">
              <a:spAutoFit/>
            </a:bodyPr>
            <a:p>
              <a:r>
                <a:rPr lang="en-US" altLang="zh-CN">
                  <a:solidFill>
                    <a:schemeClr val="tx1"/>
                  </a:solidFill>
                  <a:latin typeface="微软雅黑" panose="020B0503020204020204" pitchFamily="34" charset="-122"/>
                </a:rPr>
                <a:t>=</a:t>
              </a:r>
              <a:r>
                <a:rPr lang="en-US" altLang="zh-CN">
                  <a:solidFill>
                    <a:srgbClr val="FF0000"/>
                  </a:solidFill>
                  <a:latin typeface="微软雅黑" panose="020B0503020204020204" pitchFamily="34" charset="-122"/>
                </a:rPr>
                <a:t>17</a:t>
              </a:r>
              <a:endParaRPr lang="en-US" altLang="zh-CN">
                <a:solidFill>
                  <a:srgbClr val="FF0000"/>
                </a:solidFill>
                <a:latin typeface="微软雅黑" panose="020B0503020204020204" pitchFamily="34" charset="-122"/>
              </a:endParaRPr>
            </a:p>
          </p:txBody>
        </p:sp>
      </p:grpSp>
      <p:sp>
        <p:nvSpPr>
          <p:cNvPr id="63" name="Rectangle 86"/>
          <p:cNvSpPr/>
          <p:nvPr/>
        </p:nvSpPr>
        <p:spPr>
          <a:xfrm>
            <a:off x="6781800" y="5247005"/>
            <a:ext cx="361950" cy="620395"/>
          </a:xfrm>
          <a:prstGeom prst="rect">
            <a:avLst/>
          </a:prstGeom>
          <a:noFill/>
          <a:ln w="9525">
            <a:noFill/>
          </a:ln>
        </p:spPr>
        <p:txBody>
          <a:bodyPr wrap="none">
            <a:noAutofit/>
          </a:bodyPr>
          <a:p>
            <a:r>
              <a:rPr lang="en-US" altLang="zh-CN">
                <a:solidFill>
                  <a:srgbClr val="FF0000"/>
                </a:solidFill>
                <a:latin typeface="微软雅黑" panose="020B0503020204020204" pitchFamily="34" charset="-122"/>
              </a:rPr>
              <a:t>5</a:t>
            </a:r>
            <a:endParaRPr lang="en-US" altLang="zh-CN">
              <a:solidFill>
                <a:srgbClr val="FF0000"/>
              </a:solidFill>
              <a:latin typeface="微软雅黑" panose="020B0503020204020204" pitchFamily="34" charset="-122"/>
            </a:endParaRPr>
          </a:p>
        </p:txBody>
      </p:sp>
      <p:sp>
        <p:nvSpPr>
          <p:cNvPr id="59" name="Rectangle 82"/>
          <p:cNvSpPr/>
          <p:nvPr/>
        </p:nvSpPr>
        <p:spPr>
          <a:xfrm>
            <a:off x="7169785" y="5295900"/>
            <a:ext cx="615950" cy="571500"/>
          </a:xfrm>
          <a:prstGeom prst="rect">
            <a:avLst/>
          </a:prstGeom>
          <a:noFill/>
          <a:ln w="9525">
            <a:noFill/>
          </a:ln>
        </p:spPr>
        <p:txBody>
          <a:bodyPr wrap="none">
            <a:noAutofit/>
          </a:bodyPr>
          <a:p>
            <a:r>
              <a:rPr lang="en-US" altLang="zh-CN">
                <a:solidFill>
                  <a:srgbClr val="006600"/>
                </a:solidFill>
                <a:latin typeface="微软雅黑" panose="020B0503020204020204" pitchFamily="34" charset="-122"/>
              </a:rPr>
              <a:t>+</a:t>
            </a:r>
            <a:endParaRPr lang="en-US" altLang="zh-CN">
              <a:solidFill>
                <a:srgbClr val="006600"/>
              </a:solidFill>
              <a:latin typeface="微软雅黑" panose="020B0503020204020204" pitchFamily="34" charset="-122"/>
            </a:endParaRPr>
          </a:p>
        </p:txBody>
      </p:sp>
      <p:sp>
        <p:nvSpPr>
          <p:cNvPr id="14" name="文本框 13"/>
          <p:cNvSpPr txBox="1"/>
          <p:nvPr/>
        </p:nvSpPr>
        <p:spPr>
          <a:xfrm>
            <a:off x="7487920" y="5247005"/>
            <a:ext cx="6096000" cy="368300"/>
          </a:xfrm>
          <a:prstGeom prst="rect">
            <a:avLst/>
          </a:prstGeom>
          <a:noFill/>
        </p:spPr>
        <p:txBody>
          <a:bodyPr wrap="square" rtlCol="0" anchor="t">
            <a:spAutoFit/>
          </a:bodyPr>
          <a:p>
            <a:r>
              <a:rPr lang="en-US" altLang="zh-CN">
                <a:solidFill>
                  <a:srgbClr val="FF0000"/>
                </a:solidFill>
                <a:latin typeface="微软雅黑" panose="020B0503020204020204" pitchFamily="34" charset="-122"/>
                <a:sym typeface="+mn-ea"/>
              </a:rPr>
              <a:t>12</a:t>
            </a:r>
            <a:endParaRPr lang="en-US" altLang="zh-CN">
              <a:solidFill>
                <a:srgbClr val="FF0000"/>
              </a:solidFill>
              <a:latin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 calcmode="lin" valueType="num">
                                      <p:cBhvr additive="base">
                                        <p:cTn id="23" dur="500" fill="hold"/>
                                        <p:tgtEl>
                                          <p:spTgt spid="65"/>
                                        </p:tgtEl>
                                        <p:attrNameLst>
                                          <p:attrName>ppt_x</p:attrName>
                                        </p:attrNameLst>
                                      </p:cBhvr>
                                      <p:tavLst>
                                        <p:tav tm="0">
                                          <p:val>
                                            <p:strVal val="#ppt_x"/>
                                          </p:val>
                                        </p:tav>
                                        <p:tav tm="100000">
                                          <p:val>
                                            <p:strVal val="#ppt_x"/>
                                          </p:val>
                                        </p:tav>
                                      </p:tavLst>
                                    </p:anim>
                                    <p:anim calcmode="lin" valueType="num">
                                      <p:cBhvr additive="base">
                                        <p:cTn id="24" dur="500" fill="hold"/>
                                        <p:tgtEl>
                                          <p:spTgt spid="65"/>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childTnLst>
                          </p:cTn>
                        </p:par>
                        <p:par>
                          <p:cTn id="29" fill="hold">
                            <p:stCondLst>
                              <p:cond delay="1000"/>
                            </p:stCondLst>
                            <p:childTnLst>
                              <p:par>
                                <p:cTn id="30" presetID="9"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par>
                          <p:cTn id="33" fill="hold">
                            <p:stCondLst>
                              <p:cond delay="1500"/>
                            </p:stCondLst>
                            <p:childTnLst>
                              <p:par>
                                <p:cTn id="34" presetID="9" presetClass="entr" presetSubtype="0" fill="hold" grpId="0" nodeType="after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dissolve">
                                      <p:cBhvr>
                                        <p:cTn id="36" dur="500"/>
                                        <p:tgtEl>
                                          <p:spTgt spid="63"/>
                                        </p:tgtEl>
                                      </p:cBhvr>
                                    </p:animEffect>
                                  </p:childTnLst>
                                </p:cTn>
                              </p:par>
                            </p:childTnLst>
                          </p:cTn>
                        </p:par>
                        <p:par>
                          <p:cTn id="37" fill="hold">
                            <p:stCondLst>
                              <p:cond delay="2000"/>
                            </p:stCondLst>
                            <p:childTnLst>
                              <p:par>
                                <p:cTn id="38" presetID="9" presetClass="entr" presetSubtype="0" fill="hold" grpId="0" nodeType="after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dissolve">
                                      <p:cBhvr>
                                        <p:cTn id="40"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5" grpId="0"/>
      <p:bldP spid="10" grpId="0"/>
      <p:bldP spid="11" grpId="0"/>
      <p:bldP spid="63" grpId="0"/>
      <p:bldP spid="5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284480" y="1615440"/>
            <a:ext cx="11064240" cy="1022350"/>
          </a:xfrm>
        </p:spPr>
        <p:txBody>
          <a:bodyPr vert="horz" wrap="square" lIns="91440" tIns="45720" rIns="91440" bIns="45720" anchor="t" anchorCtr="0">
            <a:normAutofit fontScale="90000" lnSpcReduction="20000"/>
          </a:bodyPr>
          <a:p>
            <a:pPr indent="230505" fontAlgn="auto">
              <a:lnSpc>
                <a:spcPct val="150000"/>
              </a:lnSpc>
              <a:buNone/>
            </a:pPr>
            <a:r>
              <a:rPr lang="en-US" altLang="zh-CN">
                <a:sym typeface="+mn-ea"/>
              </a:rPr>
              <a:t>  </a:t>
            </a:r>
            <a:r>
              <a:rPr lang="zh-CN" altLang="en-US" sz="2200" dirty="0">
                <a:sym typeface="+mn-ea"/>
              </a:rPr>
              <a:t>在各种程序设计语言中都有子程序（或称函数、过程）调用功能。而子程序也可以调用其它的子程序，甚至可以直接或间接地调用自身（即递归）。</a:t>
            </a:r>
            <a:endParaRPr lang="zh-CN" altLang="zh-CN" sz="2700" b="0" dirty="0">
              <a:solidFill>
                <a:schemeClr val="tx1"/>
              </a:solidFill>
            </a:endParaRPr>
          </a:p>
          <a:p>
            <a:pPr fontAlgn="auto">
              <a:lnSpc>
                <a:spcPct val="150000"/>
              </a:lnSpc>
              <a:buNone/>
            </a:pPr>
            <a:endParaRPr lang="zh-CN" altLang="zh-CN" sz="2700" b="0" dirty="0">
              <a:solidFill>
                <a:schemeClr val="tx1"/>
              </a:solidFill>
              <a:cs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3.1.3 栈的应用举例—递归和汉诺塔</a:t>
            </a:r>
            <a:endParaRPr sz="3600" b="1" dirty="0">
              <a:solidFill>
                <a:schemeClr val="bg1"/>
              </a:solidFill>
              <a:latin typeface="微软雅黑" panose="020B0503020204020204" pitchFamily="34" charset="-122"/>
              <a:ea typeface="微软雅黑" panose="020B0503020204020204" pitchFamily="34" charset="-122"/>
            </a:endParaRPr>
          </a:p>
        </p:txBody>
      </p:sp>
      <p:sp>
        <p:nvSpPr>
          <p:cNvPr id="41988" name="内容占位符 2"/>
          <p:cNvSpPr txBox="1"/>
          <p:nvPr/>
        </p:nvSpPr>
        <p:spPr>
          <a:xfrm>
            <a:off x="483870" y="2765425"/>
            <a:ext cx="10666095" cy="3425825"/>
          </a:xfrm>
          <a:prstGeom prst="rect">
            <a:avLst/>
          </a:prstGeom>
          <a:noFill/>
          <a:ln w="9525">
            <a:noFill/>
          </a:ln>
        </p:spPr>
        <p:txBody>
          <a:bodyPr/>
          <a:p>
            <a:pPr indent="457200" fontAlgn="auto">
              <a:lnSpc>
                <a:spcPct val="150000"/>
              </a:lnSpc>
            </a:pPr>
            <a:r>
              <a:rPr lang="zh-CN" altLang="zh-CN" sz="2000" dirty="0">
                <a:solidFill>
                  <a:srgbClr val="000000"/>
                </a:solidFill>
                <a:latin typeface="微软雅黑" panose="020B0503020204020204" pitchFamily="34" charset="-122"/>
              </a:rPr>
              <a:t>函数的调用和返回是利用栈来完成的。系统为运行的程序设置一个工作栈，当执行调用语句时，系统先把有关当前函数的必要信息（包括返回地址、实参、局部变量等信息）组成一个活动记录，保存到栈中，然后才去执行被调函数。当被调函数执行完后，再从栈中弹出一个活动记录，根据其中的返回地址，将控制转移回调用函数，并恢复当前信息。当有多个函数嵌套调用时，按照“</a:t>
            </a:r>
            <a:r>
              <a:rPr lang="zh-CN" altLang="zh-CN" sz="2000" dirty="0">
                <a:solidFill>
                  <a:srgbClr val="FF0000"/>
                </a:solidFill>
                <a:latin typeface="微软雅黑" panose="020B0503020204020204" pitchFamily="34" charset="-122"/>
              </a:rPr>
              <a:t>后调用先返回</a:t>
            </a:r>
            <a:r>
              <a:rPr lang="zh-CN" altLang="zh-CN" sz="2000" dirty="0">
                <a:solidFill>
                  <a:srgbClr val="000000"/>
                </a:solidFill>
                <a:latin typeface="微软雅黑" panose="020B0503020204020204" pitchFamily="34" charset="-122"/>
              </a:rPr>
              <a:t>”的原则来处理。</a:t>
            </a:r>
            <a:endParaRPr lang="zh-CN" altLang="zh-CN" sz="2000" dirty="0">
              <a:solidFill>
                <a:srgbClr val="000000"/>
              </a:solidFill>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递归和汉诺塔</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43011" name="内容占位符 2"/>
          <p:cNvSpPr txBox="1"/>
          <p:nvPr/>
        </p:nvSpPr>
        <p:spPr>
          <a:xfrm>
            <a:off x="626745" y="1219200"/>
            <a:ext cx="8305800" cy="533400"/>
          </a:xfrm>
          <a:prstGeom prst="rect">
            <a:avLst/>
          </a:prstGeom>
          <a:noFill/>
          <a:ln w="9525">
            <a:noFill/>
          </a:ln>
        </p:spPr>
        <p:txBody>
          <a:bodyPr/>
          <a:p>
            <a:r>
              <a:rPr lang="zh-CN" altLang="en-US" sz="2000" b="0" dirty="0">
                <a:solidFill>
                  <a:schemeClr val="tx1"/>
                </a:solidFill>
                <a:latin typeface="微软雅黑" panose="020B0503020204020204" pitchFamily="34" charset="-122"/>
              </a:rPr>
              <a:t>以下是</a:t>
            </a:r>
            <a:r>
              <a:rPr lang="zh-CN" altLang="zh-CN" sz="2000" b="0" dirty="0">
                <a:solidFill>
                  <a:schemeClr val="tx1"/>
                </a:solidFill>
                <a:latin typeface="微软雅黑" panose="020B0503020204020204" pitchFamily="34" charset="-122"/>
              </a:rPr>
              <a:t>函数</a:t>
            </a:r>
            <a:r>
              <a:rPr lang="zh-CN" altLang="zh-CN" sz="2000" b="0" dirty="0">
                <a:solidFill>
                  <a:schemeClr val="tx1"/>
                </a:solidFill>
                <a:latin typeface="微软雅黑" panose="020B0503020204020204" pitchFamily="34" charset="-122"/>
                <a:ea typeface="微软雅黑" panose="020B0503020204020204" pitchFamily="34" charset="-122"/>
              </a:rPr>
              <a:t>调用</a:t>
            </a:r>
            <a:r>
              <a:rPr lang="zh-CN" altLang="zh-CN" sz="2000" b="0" dirty="0">
                <a:solidFill>
                  <a:schemeClr val="tx1"/>
                </a:solidFill>
                <a:latin typeface="微软雅黑" panose="020B0503020204020204" pitchFamily="34" charset="-122"/>
              </a:rPr>
              <a:t>和返回时工作栈的变化</a:t>
            </a:r>
            <a:r>
              <a:rPr lang="zh-CN" altLang="en-US" sz="2000" b="0" dirty="0">
                <a:solidFill>
                  <a:schemeClr val="tx1"/>
                </a:solidFill>
                <a:latin typeface="微软雅黑" panose="020B0503020204020204" pitchFamily="34" charset="-122"/>
              </a:rPr>
              <a:t>示意图：</a:t>
            </a:r>
            <a:endParaRPr lang="zh-CN" altLang="en-US" sz="2000" b="0" dirty="0">
              <a:solidFill>
                <a:schemeClr val="tx1"/>
              </a:solidFill>
              <a:latin typeface="微软雅黑" panose="020B0503020204020204" pitchFamily="34" charset="-122"/>
            </a:endParaRPr>
          </a:p>
        </p:txBody>
      </p:sp>
      <p:graphicFrame>
        <p:nvGraphicFramePr>
          <p:cNvPr id="43013" name="Object 1"/>
          <p:cNvGraphicFramePr>
            <a:graphicFrameLocks noChangeAspect="1"/>
          </p:cNvGraphicFramePr>
          <p:nvPr/>
        </p:nvGraphicFramePr>
        <p:xfrm>
          <a:off x="1158240" y="1752600"/>
          <a:ext cx="8229600" cy="3581400"/>
        </p:xfrm>
        <a:graphic>
          <a:graphicData uri="http://schemas.openxmlformats.org/presentationml/2006/ole">
            <mc:AlternateContent xmlns:mc="http://schemas.openxmlformats.org/markup-compatibility/2006">
              <mc:Choice xmlns:v="urn:schemas-microsoft-com:vml" Requires="v">
                <p:oleObj spid="_x0000_s3095" name="" r:id="rId2" imgW="6464300" imgH="3302000" progId="Visio.Drawing.11">
                  <p:embed/>
                </p:oleObj>
              </mc:Choice>
              <mc:Fallback>
                <p:oleObj name="" r:id="rId2" imgW="6464300" imgH="3302000" progId="Visio.Drawing.11">
                  <p:embed/>
                  <p:pic>
                    <p:nvPicPr>
                      <p:cNvPr id="0" name="图片 3094"/>
                      <p:cNvPicPr/>
                      <p:nvPr/>
                    </p:nvPicPr>
                    <p:blipFill>
                      <a:blip r:embed="rId3"/>
                      <a:stretch>
                        <a:fillRect/>
                      </a:stretch>
                    </p:blipFill>
                    <p:spPr>
                      <a:xfrm>
                        <a:off x="1158240" y="1752600"/>
                        <a:ext cx="8229600" cy="3581400"/>
                      </a:xfrm>
                      <a:prstGeom prst="rect">
                        <a:avLst/>
                      </a:prstGeom>
                      <a:noFill/>
                      <a:ln w="38100">
                        <a:noFill/>
                        <a:miter/>
                      </a:ln>
                    </p:spPr>
                  </p:pic>
                </p:oleObj>
              </mc:Fallback>
            </mc:AlternateContent>
          </a:graphicData>
        </a:graphic>
      </p:graphicFrame>
      <p:sp>
        <p:nvSpPr>
          <p:cNvPr id="2" name="文本框 1"/>
          <p:cNvSpPr txBox="1"/>
          <p:nvPr/>
        </p:nvSpPr>
        <p:spPr>
          <a:xfrm>
            <a:off x="553720" y="5438140"/>
            <a:ext cx="9779635" cy="706755"/>
          </a:xfrm>
          <a:prstGeom prst="rect">
            <a:avLst/>
          </a:prstGeom>
          <a:noFill/>
        </p:spPr>
        <p:txBody>
          <a:bodyPr wrap="square" rtlCol="0" anchor="t">
            <a:spAutoFit/>
          </a:bodyPr>
          <a:p>
            <a:pPr indent="457200" fontAlgn="auto"/>
            <a:r>
              <a:rPr lang="zh-CN" altLang="zh-CN" sz="2000" dirty="0">
                <a:latin typeface="微软雅黑" panose="020B0503020204020204" pitchFamily="34" charset="-122"/>
                <a:sym typeface="+mn-ea"/>
              </a:rPr>
              <a:t>一个递归函数的运行过程类似于多个函数的嵌套调用，只是调用函数和被调函数是同一个函数。</a:t>
            </a:r>
            <a:endParaRPr lang="zh-CN" altLang="zh-CN" sz="2000" dirty="0">
              <a:latin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递归和汉诺塔</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2" name="内容占位符 2"/>
          <p:cNvSpPr txBox="1"/>
          <p:nvPr/>
        </p:nvSpPr>
        <p:spPr bwMode="gray">
          <a:xfrm>
            <a:off x="152400" y="1295400"/>
            <a:ext cx="8763000" cy="1828800"/>
          </a:xfrm>
          <a:prstGeom prst="rect">
            <a:avLst/>
          </a:prstGeom>
          <a:noFill/>
          <a:ln w="9525">
            <a:noFill/>
            <a:miter lim="800000"/>
          </a:ln>
        </p:spPr>
        <p:txBody>
          <a:bodyPr/>
          <a:p>
            <a:pPr marL="457200" marR="0" lvl="1"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a:t>
            </a:r>
            <a:r>
              <a:rPr kumimoji="0" lang="zh-CN" altLang="en-US" sz="24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例</a:t>
            </a:r>
            <a:r>
              <a:rPr kumimoji="0" lang="en-US" altLang="zh-CN" sz="24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3.4】</a:t>
            </a:r>
            <a:r>
              <a:rPr kumimoji="0" lang="zh-CN" altLang="zh-CN" sz="24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汉诺塔问题</a:t>
            </a:r>
            <a:endParaRPr kumimoji="0" lang="zh-CN" altLang="zh-CN" sz="2400" b="0" i="0" u="none" strike="noStrike" kern="1200" cap="none" spc="0" normalizeH="0" baseline="0" noProof="0" dirty="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endParaRPr>
          </a:p>
        </p:txBody>
      </p:sp>
      <p:sp>
        <p:nvSpPr>
          <p:cNvPr id="44036" name="内容占位符 2"/>
          <p:cNvSpPr txBox="1"/>
          <p:nvPr/>
        </p:nvSpPr>
        <p:spPr>
          <a:xfrm>
            <a:off x="642620" y="1851660"/>
            <a:ext cx="10906760" cy="1844040"/>
          </a:xfrm>
          <a:prstGeom prst="rect">
            <a:avLst/>
          </a:prstGeom>
          <a:noFill/>
          <a:ln w="9525">
            <a:noFill/>
          </a:ln>
        </p:spPr>
        <p:txBody>
          <a:bodyPr/>
          <a:p>
            <a:pPr indent="457200" fontAlgn="auto">
              <a:lnSpc>
                <a:spcPct val="150000"/>
              </a:lnSpc>
            </a:pPr>
            <a:r>
              <a:rPr lang="zh-CN" altLang="zh-CN" sz="2000" b="0" dirty="0">
                <a:solidFill>
                  <a:schemeClr val="tx1"/>
                </a:solidFill>
                <a:latin typeface="微软雅黑" panose="020B0503020204020204" pitchFamily="34" charset="-122"/>
              </a:rPr>
              <a:t>传说婆罗门圣殿（</a:t>
            </a:r>
            <a:r>
              <a:rPr lang="en-US" altLang="zh-CN" sz="2000" b="0">
                <a:solidFill>
                  <a:schemeClr val="tx1"/>
                </a:solidFill>
                <a:latin typeface="微软雅黑" panose="020B0503020204020204" pitchFamily="34" charset="-122"/>
              </a:rPr>
              <a:t>Temple of Brahman</a:t>
            </a:r>
            <a:r>
              <a:rPr lang="zh-CN" altLang="zh-CN" sz="2000" b="0" dirty="0">
                <a:solidFill>
                  <a:schemeClr val="tx1"/>
                </a:solidFill>
                <a:latin typeface="微软雅黑" panose="020B0503020204020204" pitchFamily="34" charset="-122"/>
              </a:rPr>
              <a:t>）里有一个塔台，台上立有</a:t>
            </a:r>
            <a:r>
              <a:rPr lang="en-US" altLang="zh-CN" sz="2000" b="0">
                <a:solidFill>
                  <a:schemeClr val="tx1"/>
                </a:solidFill>
                <a:latin typeface="微软雅黑" panose="020B0503020204020204" pitchFamily="34" charset="-122"/>
              </a:rPr>
              <a:t>3</a:t>
            </a:r>
            <a:r>
              <a:rPr lang="zh-CN" altLang="zh-CN" sz="2000" b="0" dirty="0">
                <a:solidFill>
                  <a:schemeClr val="tx1"/>
                </a:solidFill>
                <a:latin typeface="微软雅黑" panose="020B0503020204020204" pitchFamily="34" charset="-122"/>
              </a:rPr>
              <a:t>根钻石柱子</a:t>
            </a:r>
            <a:r>
              <a:rPr lang="en-US" altLang="zh-CN" sz="2000" b="0">
                <a:solidFill>
                  <a:schemeClr val="tx1"/>
                </a:solidFill>
                <a:latin typeface="微软雅黑" panose="020B0503020204020204" pitchFamily="34" charset="-122"/>
              </a:rPr>
              <a:t>A</a:t>
            </a:r>
            <a:r>
              <a:rPr lang="zh-CN" altLang="zh-CN" sz="2000" b="0" dirty="0">
                <a:solidFill>
                  <a:schemeClr val="tx1"/>
                </a:solidFill>
                <a:latin typeface="微软雅黑" panose="020B0503020204020204" pitchFamily="34" charset="-122"/>
              </a:rPr>
              <a:t>，</a:t>
            </a:r>
            <a:r>
              <a:rPr lang="en-US" altLang="zh-CN" sz="2000" b="0">
                <a:solidFill>
                  <a:schemeClr val="tx1"/>
                </a:solidFill>
                <a:latin typeface="微软雅黑" panose="020B0503020204020204" pitchFamily="34" charset="-122"/>
              </a:rPr>
              <a:t>B</a:t>
            </a:r>
            <a:r>
              <a:rPr lang="zh-CN" altLang="zh-CN" sz="2000" b="0" dirty="0">
                <a:solidFill>
                  <a:schemeClr val="tx1"/>
                </a:solidFill>
                <a:latin typeface="微软雅黑" panose="020B0503020204020204" pitchFamily="34" charset="-122"/>
              </a:rPr>
              <a:t>和</a:t>
            </a:r>
            <a:r>
              <a:rPr lang="en-US" altLang="zh-CN" sz="2000" b="0">
                <a:solidFill>
                  <a:schemeClr val="tx1"/>
                </a:solidFill>
                <a:latin typeface="微软雅黑" panose="020B0503020204020204" pitchFamily="34" charset="-122"/>
              </a:rPr>
              <a:t>C</a:t>
            </a:r>
            <a:r>
              <a:rPr lang="zh-CN" altLang="zh-CN" sz="2000" b="0" dirty="0">
                <a:solidFill>
                  <a:schemeClr val="tx1"/>
                </a:solidFill>
                <a:latin typeface="微软雅黑" panose="020B0503020204020204" pitchFamily="34" charset="-122"/>
              </a:rPr>
              <a:t>，在</a:t>
            </a:r>
            <a:r>
              <a:rPr lang="en-US" altLang="zh-CN" sz="2000" b="0">
                <a:solidFill>
                  <a:schemeClr val="tx1"/>
                </a:solidFill>
                <a:latin typeface="微软雅黑" panose="020B0503020204020204" pitchFamily="34" charset="-122"/>
              </a:rPr>
              <a:t>A</a:t>
            </a:r>
            <a:r>
              <a:rPr lang="zh-CN" altLang="zh-CN" sz="2000" b="0" dirty="0">
                <a:solidFill>
                  <a:schemeClr val="tx1"/>
                </a:solidFill>
                <a:latin typeface="微软雅黑" panose="020B0503020204020204" pitchFamily="34" charset="-122"/>
              </a:rPr>
              <a:t>柱上插了</a:t>
            </a:r>
            <a:r>
              <a:rPr lang="en-US" altLang="zh-CN" sz="2000" b="0">
                <a:solidFill>
                  <a:schemeClr val="tx1"/>
                </a:solidFill>
                <a:latin typeface="微软雅黑" panose="020B0503020204020204" pitchFamily="34" charset="-122"/>
              </a:rPr>
              <a:t>64</a:t>
            </a:r>
            <a:r>
              <a:rPr lang="zh-CN" altLang="zh-CN" sz="2000" b="0" dirty="0">
                <a:solidFill>
                  <a:schemeClr val="tx1"/>
                </a:solidFill>
                <a:latin typeface="微软雅黑" panose="020B0503020204020204" pitchFamily="34" charset="-122"/>
              </a:rPr>
              <a:t>个金圆盘，每一个圆盘都比其下面的略小一些。教士们需要将</a:t>
            </a:r>
            <a:r>
              <a:rPr lang="en-US" altLang="zh-CN" sz="2000" b="0">
                <a:solidFill>
                  <a:schemeClr val="tx1"/>
                </a:solidFill>
                <a:latin typeface="微软雅黑" panose="020B0503020204020204" pitchFamily="34" charset="-122"/>
              </a:rPr>
              <a:t>A</a:t>
            </a:r>
            <a:r>
              <a:rPr lang="zh-CN" altLang="zh-CN" sz="2000" b="0" dirty="0">
                <a:solidFill>
                  <a:schemeClr val="tx1"/>
                </a:solidFill>
                <a:latin typeface="微软雅黑" panose="020B0503020204020204" pitchFamily="34" charset="-122"/>
              </a:rPr>
              <a:t>柱上的圆盘移到</a:t>
            </a:r>
            <a:r>
              <a:rPr lang="en-US" altLang="zh-CN" sz="2000" b="0">
                <a:solidFill>
                  <a:schemeClr val="tx1"/>
                </a:solidFill>
                <a:latin typeface="微软雅黑" panose="020B0503020204020204" pitchFamily="34" charset="-122"/>
              </a:rPr>
              <a:t>C</a:t>
            </a:r>
            <a:r>
              <a:rPr lang="zh-CN" altLang="zh-CN" sz="2000" b="0" dirty="0">
                <a:solidFill>
                  <a:schemeClr val="tx1"/>
                </a:solidFill>
                <a:latin typeface="微软雅黑" panose="020B0503020204020204" pitchFamily="34" charset="-122"/>
              </a:rPr>
              <a:t>柱上。</a:t>
            </a:r>
            <a:endParaRPr lang="zh-CN" altLang="zh-CN" sz="2000" b="0" dirty="0">
              <a:solidFill>
                <a:schemeClr val="tx1"/>
              </a:solidFill>
              <a:latin typeface="微软雅黑" panose="020B0503020204020204" pitchFamily="34" charset="-122"/>
            </a:endParaRPr>
          </a:p>
        </p:txBody>
      </p:sp>
      <p:sp>
        <p:nvSpPr>
          <p:cNvPr id="3" name="内容占位符 2"/>
          <p:cNvSpPr txBox="1"/>
          <p:nvPr/>
        </p:nvSpPr>
        <p:spPr bwMode="gray">
          <a:xfrm>
            <a:off x="642620" y="3298825"/>
            <a:ext cx="10703560" cy="2456180"/>
          </a:xfrm>
          <a:prstGeom prst="rect">
            <a:avLst/>
          </a:prstGeom>
          <a:noFill/>
          <a:ln w="9525">
            <a:noFill/>
            <a:miter lim="800000"/>
          </a:ln>
        </p:spPr>
        <p:txBody>
          <a:bodyPr/>
          <a:p>
            <a:pPr marR="0" indent="0" defTabSz="914400" fontAlgn="auto">
              <a:lnSpc>
                <a:spcPct val="150000"/>
              </a:lnSpc>
              <a:buClrTx/>
              <a:buSzTx/>
              <a:buFontTx/>
              <a:buNone/>
              <a:defRPr/>
            </a:pPr>
            <a:r>
              <a:rPr kumimoji="0" lang="en-US"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     </a:t>
            </a:r>
            <a:r>
              <a:rPr kumimoji="0" lang="zh-CN"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移动的规则是：</a:t>
            </a:r>
            <a:endParaRPr kumimoji="0" lang="zh-CN"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a:p>
            <a:pPr marR="0" indent="457200" defTabSz="914400" fontAlgn="auto">
              <a:lnSpc>
                <a:spcPct val="150000"/>
              </a:lnSpc>
              <a:buClrTx/>
              <a:buSzTx/>
              <a:buFontTx/>
              <a:buNone/>
              <a:defRPr/>
            </a:pPr>
            <a:r>
              <a:rPr kumimoji="0" lang="en-US" altLang="zh-CN" b="0" kern="1200" cap="none" spc="0" normalizeH="0" baseline="0" noProof="0" dirty="0">
                <a:solidFill>
                  <a:schemeClr val="tx1"/>
                </a:solidFill>
                <a:latin typeface="+mn-ea"/>
                <a:ea typeface="+mn-ea"/>
                <a:cs typeface="+mn-cs"/>
              </a:rPr>
              <a:t>1. </a:t>
            </a:r>
            <a:r>
              <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一次只能移动一个圆盘；</a:t>
            </a:r>
            <a:endPar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a:p>
            <a:pPr marR="0" indent="457200" defTabSz="914400" fontAlgn="auto">
              <a:lnSpc>
                <a:spcPct val="150000"/>
              </a:lnSpc>
              <a:buClrTx/>
              <a:buSzTx/>
              <a:buFontTx/>
              <a:buNone/>
              <a:defRPr/>
            </a:pPr>
            <a:r>
              <a:rPr kumimoji="0" lang="en-US" altLang="zh-CN" b="0" kern="1200" cap="none" spc="0" normalizeH="0" baseline="0" noProof="0" dirty="0">
                <a:solidFill>
                  <a:schemeClr val="tx1"/>
                </a:solidFill>
                <a:latin typeface="+mn-ea"/>
                <a:ea typeface="+mn-ea"/>
                <a:cs typeface="+mn-cs"/>
              </a:rPr>
              <a:t>2. </a:t>
            </a:r>
            <a:r>
              <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圆盘可以移到</a:t>
            </a:r>
            <a:r>
              <a:rPr kumimoji="0" lang="en-US"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A</a:t>
            </a:r>
            <a:r>
              <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a:t>
            </a:r>
            <a:r>
              <a:rPr kumimoji="0" lang="en-US"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B</a:t>
            </a:r>
            <a:r>
              <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和</a:t>
            </a:r>
            <a:r>
              <a:rPr kumimoji="0" lang="en-US"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C</a:t>
            </a:r>
            <a:r>
              <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中的任一个柱子上；</a:t>
            </a:r>
            <a:endPar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a:p>
            <a:pPr marR="0" indent="457200" defTabSz="914400" fontAlgn="auto">
              <a:lnSpc>
                <a:spcPct val="150000"/>
              </a:lnSpc>
              <a:buClrTx/>
              <a:buSzTx/>
              <a:buFontTx/>
              <a:buNone/>
              <a:defRPr/>
            </a:pPr>
            <a:r>
              <a:rPr kumimoji="0" lang="en-US" altLang="zh-CN" b="0" kern="1200" cap="none" spc="0" normalizeH="0" baseline="0" noProof="0" dirty="0">
                <a:solidFill>
                  <a:schemeClr val="tx1"/>
                </a:solidFill>
                <a:latin typeface="+mn-ea"/>
                <a:ea typeface="+mn-ea"/>
                <a:cs typeface="+mn-cs"/>
              </a:rPr>
              <a:t>3. </a:t>
            </a:r>
            <a:r>
              <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任何时候大盘都不能放到小盘的上面。</a:t>
            </a:r>
            <a:endParaRPr kumimoji="0" lang="zh-CN" altLang="zh-CN"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汉诺塔问题</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5" name="Text Box 5"/>
          <p:cNvSpPr txBox="1">
            <a:spLocks noChangeArrowheads="1"/>
          </p:cNvSpPr>
          <p:nvPr/>
        </p:nvSpPr>
        <p:spPr bwMode="auto">
          <a:xfrm>
            <a:off x="300355" y="1156335"/>
            <a:ext cx="11123930" cy="2938145"/>
          </a:xfrm>
          <a:prstGeom prst="rect">
            <a:avLst/>
          </a:prstGeom>
          <a:noFill/>
          <a:ln w="9525">
            <a:noFill/>
            <a:miter lim="800000"/>
          </a:ln>
        </p:spPr>
        <p:txBody>
          <a:bodyPr>
            <a:noAutofit/>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用计算机来完成这个任务可以很方便地用递归来求解。设</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柱上最初有</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个圆盘，求解的方法是：</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如果</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 </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，则将这个圆盘直接从</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柱移到</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柱。否则，执行以下</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3</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步：</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indent="457200" defTabSz="914400" fontAlgn="auto">
              <a:lnSpc>
                <a:spcPct val="150000"/>
              </a:lnSpc>
              <a:buClrTx/>
              <a:buSzTx/>
              <a:buFontTx/>
              <a:buNone/>
              <a:defRPr/>
            </a:pP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 </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先将</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柱的上面</a:t>
            </a:r>
            <a:r>
              <a:rPr kumimoji="0" lang="en-US" altLang="zh-CN"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- 1</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个圆盘移到</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B</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a:t>
            </a:r>
            <a:endPar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indent="457200" defTabSz="914400" fontAlgn="auto">
              <a:lnSpc>
                <a:spcPct val="150000"/>
              </a:lnSpc>
              <a:buClrTx/>
              <a:buSzTx/>
              <a:buFontTx/>
              <a:buNone/>
              <a:defRPr/>
            </a:pP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 </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将</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柱上最大的圆盘移到</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a:t>
            </a:r>
            <a:endPar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indent="457200" defTabSz="914400" fontAlgn="auto">
              <a:lnSpc>
                <a:spcPct val="150000"/>
              </a:lnSpc>
              <a:buClrTx/>
              <a:buSzTx/>
              <a:buFontTx/>
              <a:buNone/>
              <a:defRPr/>
            </a:pP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3. </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将</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B</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柱上的</a:t>
            </a:r>
            <a:r>
              <a:rPr kumimoji="0" lang="en-US" altLang="zh-CN"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- 1</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个圆盘移到</a:t>
            </a:r>
            <a:r>
              <a:rPr kumimoji="0" lang="en-US"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t>
            </a:r>
            <a:r>
              <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柱。</a:t>
            </a:r>
            <a:endParaRPr kumimoji="0" lang="zh-CN" altLang="zh-CN"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49156" name="内容占位符 2"/>
          <p:cNvSpPr txBox="1"/>
          <p:nvPr/>
        </p:nvSpPr>
        <p:spPr bwMode="gray">
          <a:xfrm>
            <a:off x="-140970" y="4253230"/>
            <a:ext cx="11760835" cy="1554480"/>
          </a:xfrm>
          <a:prstGeom prst="rect">
            <a:avLst/>
          </a:prstGeom>
          <a:noFill/>
          <a:ln w="9525">
            <a:noFill/>
            <a:miter lim="800000"/>
          </a:ln>
        </p:spPr>
        <p:txBody>
          <a:bodyPr/>
          <a:p>
            <a:pPr marL="457200" marR="0" lvl="1" indent="457200" algn="l" defTabSz="914400" rtl="0" fontAlgn="base">
              <a:lnSpc>
                <a:spcPct val="15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mn-ea"/>
                <a:ea typeface="+mn-ea"/>
                <a:cs typeface="+mn-cs"/>
              </a:rPr>
              <a:t>这样，问题就变成了将</a:t>
            </a:r>
            <a:r>
              <a:rPr kumimoji="0" lang="en-US" altLang="zh-CN" sz="2000" b="0" i="1" u="none" strike="noStrike" kern="1200" cap="none" spc="0" normalizeH="0" baseline="0" noProof="0" dirty="0">
                <a:ln>
                  <a:noFill/>
                </a:ln>
                <a:solidFill>
                  <a:schemeClr val="tx1"/>
                </a:solidFill>
                <a:effectLst/>
                <a:uLnTx/>
                <a:uFillTx/>
                <a:latin typeface="+mn-ea"/>
                <a:ea typeface="+mn-ea"/>
                <a:cs typeface="+mn-cs"/>
              </a:rPr>
              <a:t>n</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 – 1</a:t>
            </a:r>
            <a:r>
              <a:rPr kumimoji="0" lang="zh-CN" altLang="zh-CN" sz="2000" b="0" i="0" u="none" strike="noStrike" kern="1200" cap="none" spc="0" normalizeH="0" baseline="0" noProof="0" dirty="0">
                <a:ln>
                  <a:noFill/>
                </a:ln>
                <a:solidFill>
                  <a:schemeClr val="tx1"/>
                </a:solidFill>
                <a:effectLst/>
                <a:uLnTx/>
                <a:uFillTx/>
                <a:latin typeface="+mn-ea"/>
                <a:ea typeface="+mn-ea"/>
                <a:cs typeface="+mn-cs"/>
              </a:rPr>
              <a:t>个圆盘从</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B</a:t>
            </a:r>
            <a:r>
              <a:rPr kumimoji="0" lang="zh-CN" altLang="zh-CN" sz="2000" b="0" i="0" u="none" strike="noStrike" kern="1200" cap="none" spc="0" normalizeH="0" baseline="0" noProof="0" dirty="0">
                <a:ln>
                  <a:noFill/>
                </a:ln>
                <a:solidFill>
                  <a:schemeClr val="tx1"/>
                </a:solidFill>
                <a:effectLst/>
                <a:uLnTx/>
                <a:uFillTx/>
                <a:latin typeface="+mn-ea"/>
                <a:ea typeface="+mn-ea"/>
                <a:cs typeface="+mn-cs"/>
              </a:rPr>
              <a:t>柱移到</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C</a:t>
            </a:r>
            <a:r>
              <a:rPr kumimoji="0" lang="zh-CN" altLang="zh-CN" sz="2000" b="0" i="0" u="none" strike="noStrike" kern="1200" cap="none" spc="0" normalizeH="0" baseline="0" noProof="0" dirty="0">
                <a:ln>
                  <a:noFill/>
                </a:ln>
                <a:solidFill>
                  <a:schemeClr val="tx1"/>
                </a:solidFill>
                <a:effectLst/>
                <a:uLnTx/>
                <a:uFillTx/>
                <a:latin typeface="+mn-ea"/>
                <a:ea typeface="+mn-ea"/>
                <a:cs typeface="+mn-cs"/>
              </a:rPr>
              <a:t>柱了。这个问题与</a:t>
            </a:r>
            <a:r>
              <a:rPr kumimoji="0" lang="en-US" altLang="zh-CN" sz="2000" b="0" i="1" u="none" strike="noStrike" kern="1200" cap="none" spc="0" normalizeH="0" baseline="0" noProof="0" dirty="0">
                <a:ln>
                  <a:noFill/>
                </a:ln>
                <a:solidFill>
                  <a:schemeClr val="tx1"/>
                </a:solidFill>
                <a:effectLst/>
                <a:uLnTx/>
                <a:uFillTx/>
                <a:latin typeface="+mn-ea"/>
                <a:ea typeface="+mn-ea"/>
                <a:cs typeface="+mn-cs"/>
              </a:rPr>
              <a:t>n</a:t>
            </a:r>
            <a:r>
              <a:rPr kumimoji="0" lang="zh-CN" altLang="zh-CN" sz="2000" b="0" i="0" u="none" strike="noStrike" kern="1200" cap="none" spc="0" normalizeH="0" baseline="0" noProof="0" dirty="0">
                <a:ln>
                  <a:noFill/>
                </a:ln>
                <a:solidFill>
                  <a:schemeClr val="tx1"/>
                </a:solidFill>
                <a:effectLst/>
                <a:uLnTx/>
                <a:uFillTx/>
                <a:latin typeface="+mn-ea"/>
                <a:ea typeface="+mn-ea"/>
                <a:cs typeface="+mn-cs"/>
              </a:rPr>
              <a:t>个圆盘的问题具有相同的特性，只是问题规模减小了</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1</a:t>
            </a:r>
            <a:r>
              <a:rPr kumimoji="0" lang="zh-CN" altLang="zh-CN" sz="2000" b="0" i="0" u="none" strike="noStrike" kern="1200" cap="none" spc="0" normalizeH="0" baseline="0" noProof="0" dirty="0">
                <a:ln>
                  <a:noFill/>
                </a:ln>
                <a:solidFill>
                  <a:schemeClr val="tx1"/>
                </a:solidFill>
                <a:effectLst/>
                <a:uLnTx/>
                <a:uFillTx/>
                <a:latin typeface="+mn-ea"/>
                <a:ea typeface="+mn-ea"/>
                <a:cs typeface="+mn-cs"/>
              </a:rPr>
              <a:t>，因此可以用同样的方法求解。</a:t>
            </a:r>
            <a:endParaRPr kumimoji="0" lang="zh-CN" altLang="zh-CN" sz="20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393065" y="1029335"/>
            <a:ext cx="10777220" cy="5166995"/>
          </a:xfrm>
        </p:spPr>
        <p:txBody>
          <a:bodyPr vert="horz" wrap="square" lIns="91440" tIns="45720" rIns="91440" bIns="45720" anchor="t" anchorCtr="0">
            <a:normAutofit/>
          </a:bodyPr>
          <a:p>
            <a:pPr>
              <a:buNone/>
            </a:pPr>
            <a:r>
              <a:rPr lang="zh-CN" altLang="zh-CN" sz="2000" noProof="0" dirty="0">
                <a:sym typeface="+mn-ea"/>
              </a:rPr>
              <a:t>下面以</a:t>
            </a:r>
            <a:r>
              <a:rPr lang="en-US" altLang="zh-CN" sz="2000" noProof="0" dirty="0">
                <a:sym typeface="+mn-ea"/>
              </a:rPr>
              <a:t>4</a:t>
            </a:r>
            <a:r>
              <a:rPr lang="zh-CN" altLang="zh-CN" sz="2000" noProof="0" dirty="0">
                <a:sym typeface="+mn-ea"/>
              </a:rPr>
              <a:t>个圆盘为例，</a:t>
            </a:r>
            <a:r>
              <a:rPr lang="en-US" altLang="zh-CN" sz="2000" noProof="0" dirty="0" err="1">
                <a:sym typeface="+mn-ea"/>
              </a:rPr>
              <a:t>移动过程</a:t>
            </a:r>
            <a:r>
              <a:rPr lang="zh-CN" altLang="en-US" sz="2000" noProof="0" dirty="0">
                <a:sym typeface="+mn-ea"/>
              </a:rPr>
              <a:t>为：</a:t>
            </a:r>
            <a:endParaRPr lang="zh-CN" altLang="en-US" sz="2000" noProof="0" dirty="0">
              <a:cs typeface="微软雅黑" panose="020B0503020204020204" pitchFamily="34" charset="-122"/>
              <a:sym typeface="+mn-ea"/>
            </a:endParaRPr>
          </a:p>
        </p:txBody>
      </p:sp>
      <p:sp>
        <p:nvSpPr>
          <p:cNvPr id="7" name="文本框 6"/>
          <p:cNvSpPr txBox="1"/>
          <p:nvPr/>
        </p:nvSpPr>
        <p:spPr>
          <a:xfrm>
            <a:off x="393065" y="106045"/>
            <a:ext cx="8004175" cy="64516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汉诺塔问题</a:t>
            </a:r>
            <a:endParaRPr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46085" name="Object 4"/>
          <p:cNvGraphicFramePr>
            <a:graphicFrameLocks noChangeAspect="1"/>
          </p:cNvGraphicFramePr>
          <p:nvPr/>
        </p:nvGraphicFramePr>
        <p:xfrm>
          <a:off x="1918335" y="1518285"/>
          <a:ext cx="8354695" cy="4728845"/>
        </p:xfrm>
        <a:graphic>
          <a:graphicData uri="http://schemas.openxmlformats.org/presentationml/2006/ole">
            <mc:AlternateContent xmlns:mc="http://schemas.openxmlformats.org/markup-compatibility/2006">
              <mc:Choice xmlns:v="urn:schemas-microsoft-com:vml" Requires="v">
                <p:oleObj spid="_x0000_s3096" name="" r:id="rId2" imgW="7594600" imgH="5676900" progId="Visio.Drawing.11">
                  <p:embed/>
                </p:oleObj>
              </mc:Choice>
              <mc:Fallback>
                <p:oleObj name="" r:id="rId2" imgW="7594600" imgH="5676900" progId="Visio.Drawing.11">
                  <p:embed/>
                  <p:pic>
                    <p:nvPicPr>
                      <p:cNvPr id="0" name="图片 3095"/>
                      <p:cNvPicPr/>
                      <p:nvPr/>
                    </p:nvPicPr>
                    <p:blipFill>
                      <a:blip r:embed="rId3"/>
                      <a:stretch>
                        <a:fillRect/>
                      </a:stretch>
                    </p:blipFill>
                    <p:spPr>
                      <a:xfrm>
                        <a:off x="1918335" y="1518285"/>
                        <a:ext cx="8354695" cy="47288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汉诺塔问题</a:t>
            </a:r>
            <a:endParaRPr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3" name="表格 2"/>
          <p:cNvGraphicFramePr>
            <a:graphicFrameLocks noGrp="1"/>
          </p:cNvGraphicFramePr>
          <p:nvPr>
            <p:custDataLst>
              <p:tags r:id="rId2"/>
            </p:custDataLst>
          </p:nvPr>
        </p:nvGraphicFramePr>
        <p:xfrm>
          <a:off x="495935" y="1464945"/>
          <a:ext cx="10424795" cy="4878070"/>
        </p:xfrm>
        <a:graphic>
          <a:graphicData uri="http://schemas.openxmlformats.org/drawingml/2006/table">
            <a:tbl>
              <a:tblPr/>
              <a:tblGrid>
                <a:gridCol w="10424795"/>
              </a:tblGrid>
              <a:tr h="487807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将</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柱上按直径自上而下，由小到大编号为</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至</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n</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的</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n</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个圆盘按规则搬到</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c</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柱上。</a:t>
                      </a:r>
                      <a:endPar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b</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用作辅助柱</a:t>
                      </a:r>
                      <a:endPar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void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hanoi</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n, char a, char b, char c)</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lang="en-US" altLang="zh-CN" sz="1800" dirty="0" smtClean="0">
                          <a:ln>
                            <a:noFill/>
                          </a:ln>
                          <a:effectLst/>
                          <a:latin typeface="微软雅黑" panose="020B0503020204020204" pitchFamily="34" charset="-122"/>
                          <a:ea typeface="微软雅黑" panose="020B0503020204020204" pitchFamily="34" charset="-122"/>
                          <a:sym typeface="+mn-ea"/>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(1)</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 (n == 1)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lang="en-US" altLang="zh-CN" sz="1800" dirty="0" smtClean="0">
                          <a:ln>
                            <a:noFill/>
                          </a:ln>
                          <a:effectLst/>
                          <a:latin typeface="微软雅黑" panose="020B0503020204020204" pitchFamily="34" charset="-122"/>
                          <a:ea typeface="微软雅黑" panose="020B0503020204020204" pitchFamily="34" charset="-122"/>
                          <a:sym typeface="+mn-ea"/>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(2)</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move(1, a, c);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将编号为</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的圆盘从</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移到</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c                                      ---- (3)</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else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lang="en-US" altLang="zh-CN" sz="1800" dirty="0" smtClean="0">
                          <a:ln>
                            <a:noFill/>
                          </a:ln>
                          <a:effectLst/>
                          <a:latin typeface="微软雅黑" panose="020B0503020204020204" pitchFamily="34" charset="-122"/>
                          <a:ea typeface="微软雅黑" panose="020B0503020204020204" pitchFamily="34" charset="-122"/>
                          <a:sym typeface="+mn-ea"/>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(4)</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hanoi</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 - 1, a, c, b);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将</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上编号为</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至</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n-1</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的圆盘移到</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b</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c</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作辅助柱</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---(5)</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move(n, a, c);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将编号为</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n</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的圆盘从</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移到</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c                                       ---- (6)</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hanoi</a:t>
                      </a: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 - 1, b, a, c);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 </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将</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b</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上编号为</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至</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n-1</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的圆盘移到</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c</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a:t>
                      </a:r>
                      <a:r>
                        <a:rPr kumimoji="0" 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作辅助柱</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(7)</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lang="en-US" altLang="zh-CN" sz="1800" dirty="0" smtClean="0">
                          <a:ln>
                            <a:noFill/>
                          </a:ln>
                          <a:effectLst/>
                          <a:latin typeface="微软雅黑" panose="020B0503020204020204" pitchFamily="34" charset="-122"/>
                          <a:ea typeface="微软雅黑" panose="020B0503020204020204" pitchFamily="34" charset="-122"/>
                          <a:sym typeface="+mn-ea"/>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(8)</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a:t>
                      </a:r>
                      <a:r>
                        <a:rPr lang="en-US" altLang="zh-CN" sz="1800" dirty="0" smtClean="0">
                          <a:ln>
                            <a:noFill/>
                          </a:ln>
                          <a:effectLst/>
                          <a:latin typeface="微软雅黑" panose="020B0503020204020204" pitchFamily="34" charset="-122"/>
                          <a:ea typeface="微软雅黑" panose="020B0503020204020204" pitchFamily="34" charset="-122"/>
                          <a:sym typeface="+mn-ea"/>
                        </a:rPr>
                        <a:t>//</a:t>
                      </a:r>
                      <a:r>
                        <a:rPr kumimoji="0" lang="en-US"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 (9)  </a:t>
                      </a:r>
                      <a:endParaRPr kumimoji="0" lang="zh-CN" altLang="zh-CN" sz="1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L="53474" marR="534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9" name="文本框 8"/>
          <p:cNvSpPr txBox="1"/>
          <p:nvPr/>
        </p:nvSpPr>
        <p:spPr>
          <a:xfrm>
            <a:off x="0" y="858520"/>
            <a:ext cx="6096000" cy="460375"/>
          </a:xfrm>
          <a:prstGeom prst="rect">
            <a:avLst/>
          </a:prstGeom>
          <a:noFill/>
        </p:spPr>
        <p:txBody>
          <a:bodyPr wrap="square" rtlCol="0" anchor="t">
            <a:spAutoFit/>
          </a:bodyPr>
          <a:p>
            <a:pPr algn="l" fontAlgn="base">
              <a:buClrTx/>
              <a:buSzTx/>
              <a:buFontTx/>
              <a:defRPr/>
            </a:pPr>
            <a:r>
              <a:rPr lang="zh-CN" altLang="en-US" sz="2400" noProof="0" dirty="0">
                <a:solidFill>
                  <a:srgbClr val="000000"/>
                </a:solidFill>
                <a:latin typeface="微软雅黑" panose="020B0503020204020204" pitchFamily="34" charset="-122"/>
                <a:ea typeface="微软雅黑" panose="020B0503020204020204" pitchFamily="34" charset="-122"/>
                <a:cs typeface="+mn-ea"/>
                <a:sym typeface="+mn-ea"/>
              </a:rPr>
              <a:t>递归算法如下：</a:t>
            </a:r>
            <a:endParaRPr lang="zh-CN" altLang="en-US" sz="2400" noProof="0" dirty="0">
              <a:solidFill>
                <a:srgbClr val="000000"/>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汉诺塔问题</a:t>
            </a:r>
            <a:endParaRPr sz="3600" b="1"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93065" y="1107440"/>
            <a:ext cx="11158855" cy="460375"/>
          </a:xfrm>
          <a:prstGeom prst="rect">
            <a:avLst/>
          </a:prstGeom>
          <a:noFill/>
        </p:spPr>
        <p:txBody>
          <a:bodyPr wrap="square" rtlCol="0" anchor="t">
            <a:spAutoFit/>
          </a:bodyPr>
          <a:p>
            <a:pPr marR="0" defTabSz="914400">
              <a:buClrTx/>
              <a:buSzTx/>
              <a:buFontTx/>
              <a:buNone/>
              <a:defRPr/>
            </a:pPr>
            <a:r>
              <a:rPr lang="zh-CN" altLang="zh-CN" sz="2400" noProof="0" dirty="0">
                <a:latin typeface="微软雅黑" panose="020B0503020204020204" pitchFamily="34" charset="-122"/>
                <a:ea typeface="微软雅黑" panose="020B0503020204020204" pitchFamily="34" charset="-122"/>
                <a:sym typeface="+mn-ea"/>
              </a:rPr>
              <a:t>以</a:t>
            </a:r>
            <a:r>
              <a:rPr lang="en-US" altLang="zh-CN" sz="2400" noProof="0" dirty="0" err="1">
                <a:latin typeface="+mn-ea"/>
                <a:sym typeface="+mn-ea"/>
              </a:rPr>
              <a:t>hanoi</a:t>
            </a:r>
            <a:r>
              <a:rPr lang="en-US" altLang="zh-CN" sz="2400" noProof="0" dirty="0">
                <a:latin typeface="+mn-ea"/>
                <a:sym typeface="+mn-ea"/>
              </a:rPr>
              <a:t>(3, a, b, c)</a:t>
            </a:r>
            <a:r>
              <a:rPr lang="zh-CN" altLang="zh-CN" sz="2400" noProof="0" dirty="0">
                <a:latin typeface="微软雅黑" panose="020B0503020204020204" pitchFamily="34" charset="-122"/>
                <a:ea typeface="微软雅黑" panose="020B0503020204020204" pitchFamily="34" charset="-122"/>
                <a:sym typeface="+mn-ea"/>
              </a:rPr>
              <a:t>为例，递归函数</a:t>
            </a:r>
            <a:r>
              <a:rPr lang="en-US" altLang="zh-CN" sz="2400" noProof="0" dirty="0" err="1">
                <a:latin typeface="+mn-ea"/>
                <a:sym typeface="+mn-ea"/>
              </a:rPr>
              <a:t>hanoi</a:t>
            </a:r>
            <a:r>
              <a:rPr lang="zh-CN" altLang="zh-CN" sz="2400" noProof="0" dirty="0">
                <a:latin typeface="微软雅黑" panose="020B0503020204020204" pitchFamily="34" charset="-122"/>
                <a:ea typeface="微软雅黑" panose="020B0503020204020204" pitchFamily="34" charset="-122"/>
                <a:sym typeface="+mn-ea"/>
              </a:rPr>
              <a:t>执行过程中递归工作栈的变化情况</a:t>
            </a:r>
            <a:r>
              <a:rPr lang="zh-CN" altLang="en-US" sz="2400" noProof="0" dirty="0">
                <a:latin typeface="微软雅黑" panose="020B0503020204020204" pitchFamily="34" charset="-122"/>
                <a:ea typeface="微软雅黑" panose="020B0503020204020204" pitchFamily="34" charset="-122"/>
                <a:sym typeface="+mn-ea"/>
              </a:rPr>
              <a:t>为：</a:t>
            </a:r>
            <a:endParaRPr lang="zh-CN" altLang="en-US" sz="2400" noProof="0" dirty="0">
              <a:latin typeface="微软雅黑" panose="020B0503020204020204" pitchFamily="34" charset="-122"/>
              <a:ea typeface="微软雅黑" panose="020B0503020204020204" pitchFamily="34" charset="-122"/>
              <a:sym typeface="+mn-ea"/>
            </a:endParaRPr>
          </a:p>
        </p:txBody>
      </p:sp>
      <p:pic>
        <p:nvPicPr>
          <p:cNvPr id="48132" name="图片 7" descr="汉诺塔1.jpg"/>
          <p:cNvPicPr>
            <a:picLocks noChangeAspect="1"/>
          </p:cNvPicPr>
          <p:nvPr/>
        </p:nvPicPr>
        <p:blipFill>
          <a:blip r:embed="rId2"/>
          <a:stretch>
            <a:fillRect/>
          </a:stretch>
        </p:blipFill>
        <p:spPr>
          <a:xfrm>
            <a:off x="1691005" y="1740535"/>
            <a:ext cx="8809990" cy="4524375"/>
          </a:xfrm>
          <a:prstGeom prst="rect">
            <a:avLst/>
          </a:prstGeom>
          <a:noFill/>
          <a:ln w="9525">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93065" y="106045"/>
            <a:ext cx="8004175" cy="64516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汉诺塔问题</a:t>
            </a:r>
            <a:endParaRPr sz="3600" b="1" dirty="0">
              <a:solidFill>
                <a:schemeClr val="bg1"/>
              </a:solidFill>
              <a:latin typeface="微软雅黑" panose="020B0503020204020204" pitchFamily="34" charset="-122"/>
              <a:ea typeface="微软雅黑" panose="020B0503020204020204" pitchFamily="34" charset="-122"/>
            </a:endParaRPr>
          </a:p>
        </p:txBody>
      </p:sp>
      <p:pic>
        <p:nvPicPr>
          <p:cNvPr id="49155" name="图片 6" descr="汉诺塔2.jpg"/>
          <p:cNvPicPr>
            <a:picLocks noChangeAspect="1"/>
          </p:cNvPicPr>
          <p:nvPr/>
        </p:nvPicPr>
        <p:blipFill>
          <a:blip r:embed="rId2"/>
          <a:stretch>
            <a:fillRect/>
          </a:stretch>
        </p:blipFill>
        <p:spPr>
          <a:xfrm>
            <a:off x="1890395" y="1027430"/>
            <a:ext cx="8229600" cy="5133975"/>
          </a:xfrm>
          <a:prstGeom prst="rect">
            <a:avLst/>
          </a:prstGeom>
          <a:noFill/>
          <a:ln w="9525">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algn="ctr"/>
            <a:r>
              <a:rPr lang="en-US" altLang="zh-CN" b="1" dirty="0" smtClean="0">
                <a:solidFill>
                  <a:srgbClr val="005A9E"/>
                </a:solidFill>
                <a:latin typeface="微软雅黑" panose="020B0503020204020204" pitchFamily="34" charset="-122"/>
                <a:ea typeface="微软雅黑" panose="020B0503020204020204" pitchFamily="34" charset="-122"/>
                <a:cs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 </a:t>
            </a:r>
            <a:r>
              <a:rPr lang="zh-CN" altLang="en-US" b="1" dirty="0" smtClean="0">
                <a:solidFill>
                  <a:srgbClr val="005A9E"/>
                </a:solidFill>
                <a:latin typeface="微软雅黑" panose="020B0503020204020204" pitchFamily="34" charset="-122"/>
                <a:ea typeface="微软雅黑" panose="020B0503020204020204" pitchFamily="34" charset="-122"/>
              </a:rPr>
              <a:t>栈</a:t>
            </a:r>
            <a:endParaRPr lang="zh-CN" altLang="en-US" b="1" dirty="0" smtClean="0">
              <a:solidFill>
                <a:srgbClr val="005A9E"/>
              </a:solidFill>
              <a:latin typeface="微软雅黑" panose="020B0503020204020204" pitchFamily="34" charset="-122"/>
              <a:ea typeface="微软雅黑" panose="020B0503020204020204" pitchFamily="34" charset="-122"/>
            </a:endParaRPr>
          </a:p>
        </p:txBody>
      </p:sp>
      <p:sp>
        <p:nvSpPr>
          <p:cNvPr id="98" name="文本框 97"/>
          <p:cNvSpPr txBox="1"/>
          <p:nvPr>
            <p:custDataLst>
              <p:tags r:id="rId1"/>
            </p:custDataLst>
          </p:nvPr>
        </p:nvSpPr>
        <p:spPr>
          <a:xfrm>
            <a:off x="2814747" y="6475856"/>
            <a:ext cx="204216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递归和汉诺塔</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p:txBody>
      </p:sp>
      <p:sp>
        <p:nvSpPr>
          <p:cNvPr id="50179" name="内容占位符 2"/>
          <p:cNvSpPr txBox="1"/>
          <p:nvPr/>
        </p:nvSpPr>
        <p:spPr>
          <a:xfrm>
            <a:off x="240030" y="1924050"/>
            <a:ext cx="11325860" cy="1312545"/>
          </a:xfrm>
          <a:prstGeom prst="rect">
            <a:avLst/>
          </a:prstGeom>
          <a:noFill/>
          <a:ln w="9525">
            <a:noFill/>
          </a:ln>
        </p:spPr>
        <p:txBody>
          <a:bodyPr/>
          <a:p>
            <a:pPr indent="457200" fontAlgn="auto">
              <a:lnSpc>
                <a:spcPct val="150000"/>
              </a:lnSpc>
            </a:pPr>
            <a:r>
              <a:rPr lang="zh-CN" altLang="zh-CN" sz="2000" b="0" dirty="0">
                <a:solidFill>
                  <a:schemeClr val="tx1"/>
                </a:solidFill>
                <a:latin typeface="微软雅黑" panose="020B0503020204020204" pitchFamily="34" charset="-122"/>
              </a:rPr>
              <a:t>递归函数结构清晰，易于理解，系统会自动实现和管理递归工作栈，给编程带来很大的方便。</a:t>
            </a:r>
            <a:endParaRPr lang="zh-CN" altLang="zh-CN" sz="2000" b="0" dirty="0">
              <a:solidFill>
                <a:schemeClr val="tx1"/>
              </a:solidFill>
              <a:latin typeface="微软雅黑" panose="020B0503020204020204" pitchFamily="34" charset="-122"/>
            </a:endParaRPr>
          </a:p>
        </p:txBody>
      </p:sp>
      <p:sp>
        <p:nvSpPr>
          <p:cNvPr id="50180" name="内容占位符 2"/>
          <p:cNvSpPr txBox="1"/>
          <p:nvPr/>
        </p:nvSpPr>
        <p:spPr>
          <a:xfrm>
            <a:off x="240665" y="2815590"/>
            <a:ext cx="11400155" cy="2232025"/>
          </a:xfrm>
          <a:prstGeom prst="rect">
            <a:avLst/>
          </a:prstGeom>
          <a:noFill/>
          <a:ln w="9525">
            <a:noFill/>
          </a:ln>
        </p:spPr>
        <p:txBody>
          <a:bodyPr/>
          <a:p>
            <a:pPr indent="457200" fontAlgn="auto">
              <a:lnSpc>
                <a:spcPct val="150000"/>
              </a:lnSpc>
            </a:pPr>
            <a:r>
              <a:rPr lang="zh-CN" altLang="en-US" sz="2000" b="0" dirty="0">
                <a:solidFill>
                  <a:schemeClr val="tx1"/>
                </a:solidFill>
                <a:latin typeface="微软雅黑" panose="020B0503020204020204" pitchFamily="34" charset="-122"/>
              </a:rPr>
              <a:t>从以上讨论可知，</a:t>
            </a:r>
            <a:r>
              <a:rPr lang="zh-CN" altLang="zh-CN" sz="2000" b="0" dirty="0">
                <a:solidFill>
                  <a:schemeClr val="tx1"/>
                </a:solidFill>
                <a:latin typeface="微软雅黑" panose="020B0503020204020204" pitchFamily="34" charset="-122"/>
              </a:rPr>
              <a:t>递归函数的执行是通过栈来实现的。实际上，借助栈也可以将一个</a:t>
            </a:r>
            <a:r>
              <a:rPr lang="zh-CN" altLang="zh-CN" sz="2000" b="0" dirty="0">
                <a:solidFill>
                  <a:srgbClr val="FF0000"/>
                </a:solidFill>
                <a:latin typeface="微软雅黑" panose="020B0503020204020204" pitchFamily="34" charset="-122"/>
              </a:rPr>
              <a:t>递归算法（函数）</a:t>
            </a:r>
            <a:r>
              <a:rPr lang="zh-CN" altLang="zh-CN" sz="2000" b="0" dirty="0">
                <a:solidFill>
                  <a:schemeClr val="tx1"/>
                </a:solidFill>
                <a:latin typeface="微软雅黑" panose="020B0503020204020204" pitchFamily="34" charset="-122"/>
              </a:rPr>
              <a:t>改写为一个</a:t>
            </a:r>
            <a:r>
              <a:rPr lang="zh-CN" altLang="zh-CN" sz="2000" b="0" dirty="0">
                <a:solidFill>
                  <a:srgbClr val="FF0000"/>
                </a:solidFill>
                <a:latin typeface="微软雅黑" panose="020B0503020204020204" pitchFamily="34" charset="-122"/>
              </a:rPr>
              <a:t>非递归算法（函数）。</a:t>
            </a:r>
            <a:endParaRPr lang="zh-CN" altLang="zh-CN" sz="2000" b="0" dirty="0">
              <a:solidFill>
                <a:srgbClr val="FF0000"/>
              </a:solidFill>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285115" y="1061085"/>
            <a:ext cx="11292840" cy="537591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3.2 队列</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51205" name="Rectangle 6"/>
          <p:cNvSpPr/>
          <p:nvPr/>
        </p:nvSpPr>
        <p:spPr>
          <a:xfrm>
            <a:off x="30480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0" name="Rectangle 6"/>
          <p:cNvSpPr/>
          <p:nvPr/>
        </p:nvSpPr>
        <p:spPr>
          <a:xfrm>
            <a:off x="431800" y="1670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 name="文本框 10"/>
          <p:cNvSpPr txBox="1"/>
          <p:nvPr/>
        </p:nvSpPr>
        <p:spPr>
          <a:xfrm>
            <a:off x="304800" y="1170305"/>
            <a:ext cx="10614660" cy="611505"/>
          </a:xfrm>
          <a:prstGeom prst="rect">
            <a:avLst/>
          </a:prstGeom>
          <a:noFill/>
          <a:ln>
            <a:noFill/>
          </a:ln>
        </p:spPr>
        <p:txBody>
          <a:bodyPr wrap="square" rtlCol="0" anchor="t">
            <a:noAutofit/>
          </a:bodyPr>
          <a:p>
            <a:pPr marL="342900" indent="342265" algn="l" fontAlgn="base">
              <a:spcBef>
                <a:spcPts val="0"/>
              </a:spcBef>
              <a:buNone/>
            </a:pPr>
            <a:r>
              <a:rPr lang="zh-CN" altLang="zh-CN" sz="2000" b="1" dirty="0">
                <a:solidFill>
                  <a:srgbClr val="000000"/>
                </a:solidFill>
                <a:latin typeface="微软雅黑" panose="020B0503020204020204" pitchFamily="34" charset="-122"/>
                <a:ea typeface="微软雅黑" panose="020B0503020204020204" pitchFamily="34" charset="-122"/>
                <a:cs typeface="+mn-ea"/>
                <a:sym typeface="+mn-ea"/>
              </a:rPr>
              <a:t>队列（</a:t>
            </a:r>
            <a:r>
              <a:rPr lang="en-US" altLang="zh-CN" sz="2000" b="1">
                <a:solidFill>
                  <a:srgbClr val="000000"/>
                </a:solidFill>
                <a:latin typeface="微软雅黑" panose="020B0503020204020204" pitchFamily="34" charset="-122"/>
                <a:ea typeface="微软雅黑" panose="020B0503020204020204" pitchFamily="34" charset="-122"/>
                <a:cs typeface="+mn-ea"/>
                <a:sym typeface="+mn-ea"/>
              </a:rPr>
              <a:t>Queue</a:t>
            </a:r>
            <a:r>
              <a:rPr lang="zh-CN" altLang="zh-CN" sz="2000" b="1" dirty="0">
                <a:solidFill>
                  <a:srgbClr val="000000"/>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000000"/>
                </a:solidFill>
                <a:latin typeface="微软雅黑" panose="020B0503020204020204" pitchFamily="34" charset="-122"/>
                <a:ea typeface="微软雅黑" panose="020B0503020204020204" pitchFamily="34" charset="-122"/>
                <a:cs typeface="+mn-ea"/>
                <a:sym typeface="+mn-ea"/>
              </a:rPr>
              <a:t>是一种只允许在表的一端插入元素，在另一端删除元素的特殊的线性表。</a:t>
            </a:r>
            <a:endParaRPr lang="zh-CN" altLang="zh-CN" sz="2000" dirty="0" smtClean="0">
              <a:solidFill>
                <a:srgbClr val="000000"/>
              </a:solidFill>
              <a:latin typeface="微软雅黑" panose="020B0503020204020204" pitchFamily="34" charset="-122"/>
              <a:ea typeface="微软雅黑" panose="020B0503020204020204" pitchFamily="34" charset="-122"/>
              <a:cs typeface="+mn-ea"/>
              <a:sym typeface="+mn-ea"/>
            </a:endParaRPr>
          </a:p>
        </p:txBody>
      </p:sp>
      <p:graphicFrame>
        <p:nvGraphicFramePr>
          <p:cNvPr id="51208" name="Object 3"/>
          <p:cNvGraphicFramePr>
            <a:graphicFrameLocks noChangeAspect="1"/>
          </p:cNvGraphicFramePr>
          <p:nvPr/>
        </p:nvGraphicFramePr>
        <p:xfrm>
          <a:off x="1207135" y="2021840"/>
          <a:ext cx="8524240" cy="1768475"/>
        </p:xfrm>
        <a:graphic>
          <a:graphicData uri="http://schemas.openxmlformats.org/presentationml/2006/ole">
            <mc:AlternateContent xmlns:mc="http://schemas.openxmlformats.org/markup-compatibility/2006">
              <mc:Choice xmlns:v="urn:schemas-microsoft-com:vml" Requires="v">
                <p:oleObj spid="_x0000_s3082" name="" r:id="rId2" imgW="3149600" imgH="652145" progId="Visio.Drawing.11">
                  <p:embed/>
                </p:oleObj>
              </mc:Choice>
              <mc:Fallback>
                <p:oleObj name="" r:id="rId2" imgW="3149600" imgH="652145" progId="Visio.Drawing.11">
                  <p:embed/>
                  <p:pic>
                    <p:nvPicPr>
                      <p:cNvPr id="0" name="图片 3081"/>
                      <p:cNvPicPr/>
                      <p:nvPr/>
                    </p:nvPicPr>
                    <p:blipFill>
                      <a:blip r:embed="rId3"/>
                      <a:stretch>
                        <a:fillRect/>
                      </a:stretch>
                    </p:blipFill>
                    <p:spPr>
                      <a:xfrm>
                        <a:off x="1207135" y="2021840"/>
                        <a:ext cx="8524240" cy="1768475"/>
                      </a:xfrm>
                      <a:prstGeom prst="rect">
                        <a:avLst/>
                      </a:prstGeom>
                      <a:noFill/>
                      <a:ln w="38100">
                        <a:noFill/>
                        <a:miter/>
                      </a:ln>
                    </p:spPr>
                  </p:pic>
                </p:oleObj>
              </mc:Fallback>
            </mc:AlternateContent>
          </a:graphicData>
        </a:graphic>
      </p:graphicFrame>
      <p:sp>
        <p:nvSpPr>
          <p:cNvPr id="12" name="矩形 9"/>
          <p:cNvSpPr/>
          <p:nvPr/>
        </p:nvSpPr>
        <p:spPr>
          <a:xfrm>
            <a:off x="469900" y="4269105"/>
            <a:ext cx="9105900" cy="642620"/>
          </a:xfrm>
          <a:prstGeom prst="rect">
            <a:avLst/>
          </a:prstGeom>
          <a:noFill/>
          <a:ln w="9525">
            <a:noFill/>
          </a:ln>
        </p:spPr>
        <p:txBody>
          <a:bodyPr wrap="none">
            <a:noAutofit/>
          </a:bodyPr>
          <a:p>
            <a:pPr indent="457200" algn="l" fontAlgn="auto"/>
            <a:r>
              <a:rPr lang="zh-CN" altLang="zh-CN" sz="2000" b="0" dirty="0">
                <a:solidFill>
                  <a:srgbClr val="000000"/>
                </a:solidFill>
                <a:latin typeface="微软雅黑" panose="020B0503020204020204" pitchFamily="34" charset="-122"/>
              </a:rPr>
              <a:t>当</a:t>
            </a:r>
            <a:r>
              <a:rPr lang="zh-CN" altLang="en-US" sz="2000" b="0" dirty="0">
                <a:solidFill>
                  <a:srgbClr val="000000"/>
                </a:solidFill>
                <a:latin typeface="微软雅黑" panose="020B0503020204020204" pitchFamily="34" charset="-122"/>
              </a:rPr>
              <a:t>队列</a:t>
            </a:r>
            <a:r>
              <a:rPr lang="zh-CN" altLang="zh-CN" sz="2000" b="0" dirty="0">
                <a:solidFill>
                  <a:srgbClr val="000000"/>
                </a:solidFill>
                <a:latin typeface="微软雅黑" panose="020B0503020204020204" pitchFamily="34" charset="-122"/>
              </a:rPr>
              <a:t>中没有任何元素时称为空</a:t>
            </a:r>
            <a:r>
              <a:rPr lang="zh-CN" altLang="en-US" sz="2000" b="0" dirty="0">
                <a:solidFill>
                  <a:srgbClr val="000000"/>
                </a:solidFill>
                <a:latin typeface="微软雅黑" panose="020B0503020204020204" pitchFamily="34" charset="-122"/>
              </a:rPr>
              <a:t>队列</a:t>
            </a:r>
            <a:r>
              <a:rPr lang="zh-CN" altLang="zh-CN" sz="2000" b="0" dirty="0">
                <a:solidFill>
                  <a:srgbClr val="000000"/>
                </a:solidFill>
                <a:latin typeface="微软雅黑" panose="020B0503020204020204" pitchFamily="34" charset="-122"/>
              </a:rPr>
              <a:t>。</a:t>
            </a:r>
            <a:endParaRPr lang="zh-CN" altLang="zh-CN" sz="2000" b="0" dirty="0">
              <a:solidFill>
                <a:srgbClr val="000000"/>
              </a:solidFill>
              <a:latin typeface="微软雅黑" panose="020B0503020204020204" pitchFamily="34" charset="-122"/>
            </a:endParaRPr>
          </a:p>
        </p:txBody>
      </p:sp>
      <p:sp>
        <p:nvSpPr>
          <p:cNvPr id="18" name="内容占位符 2"/>
          <p:cNvSpPr txBox="1"/>
          <p:nvPr/>
        </p:nvSpPr>
        <p:spPr bwMode="gray">
          <a:xfrm>
            <a:off x="285115" y="5003165"/>
            <a:ext cx="10368280" cy="840105"/>
          </a:xfrm>
          <a:prstGeom prst="rect">
            <a:avLst/>
          </a:prstGeom>
          <a:noFill/>
          <a:ln w="9525">
            <a:noFill/>
            <a:miter lim="800000"/>
          </a:ln>
        </p:spPr>
        <p:txBody>
          <a:bodyPr/>
          <a:p>
            <a:pPr marL="342900" marR="0" indent="342265" defTabSz="914400" eaLnBrk="0" fontAlgn="auto" hangingPunct="0">
              <a:spcBef>
                <a:spcPts val="0"/>
              </a:spcBef>
              <a:buClrTx/>
              <a:buSzTx/>
              <a:buFontTx/>
              <a:buNone/>
              <a:defRPr/>
            </a:pPr>
            <a:r>
              <a:rPr kumimoji="0" lang="zh-CN" altLang="en-US"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对于队列，</a:t>
            </a:r>
            <a:r>
              <a:rPr kumimoji="0" lang="zh-CN" altLang="zh-CN"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先进</a:t>
            </a:r>
            <a:r>
              <a:rPr kumimoji="0" lang="zh-CN" altLang="en-US"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入</a:t>
            </a:r>
            <a:r>
              <a:rPr kumimoji="0" lang="zh-CN" altLang="zh-CN"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的元素将先被删除出队列，因此队列又被称为先进先出（</a:t>
            </a:r>
            <a:r>
              <a:rPr kumimoji="0" lang="en-US" altLang="zh-CN"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First In First Out</a:t>
            </a:r>
            <a:r>
              <a:rPr kumimoji="0" lang="zh-CN" altLang="zh-CN"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）的线性表，简称</a:t>
            </a:r>
            <a:r>
              <a:rPr kumimoji="0" lang="en-US" altLang="zh-CN"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FIFO</a:t>
            </a:r>
            <a:r>
              <a:rPr kumimoji="0" lang="zh-CN" altLang="zh-CN" sz="2000" b="0" kern="0" cap="none" spc="0" normalizeH="0" baseline="0" noProof="0">
                <a:solidFill>
                  <a:srgbClr val="000000"/>
                </a:solidFill>
                <a:latin typeface="微软雅黑" panose="020B0503020204020204" pitchFamily="34" charset="-122"/>
                <a:ea typeface="微软雅黑" panose="020B0503020204020204" pitchFamily="34" charset="-122"/>
                <a:cs typeface="+mn-ea"/>
              </a:rPr>
              <a:t>表。</a:t>
            </a:r>
            <a:endPar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285115" y="1061085"/>
            <a:ext cx="11292840" cy="537591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3.2 队列</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52227" name="Text Box 29"/>
          <p:cNvSpPr txBox="1"/>
          <p:nvPr>
            <p:custDataLst>
              <p:tags r:id="rId2"/>
            </p:custDataLst>
          </p:nvPr>
        </p:nvSpPr>
        <p:spPr bwMode="gray">
          <a:xfrm>
            <a:off x="1283970" y="1905000"/>
            <a:ext cx="4724400" cy="583565"/>
          </a:xfrm>
          <a:prstGeom prst="rect">
            <a:avLst/>
          </a:prstGeom>
          <a:noFill/>
          <a:ln w="9525">
            <a:noFill/>
            <a:miter lim="800000"/>
          </a:ln>
        </p:spPr>
        <p:txBody>
          <a:bodyPr>
            <a:noAutofit/>
          </a:bodyPr>
          <a:p>
            <a:pPr lvl="0" algn="l">
              <a:buClrTx/>
              <a:buSzTx/>
              <a:buFontTx/>
              <a:defRPr/>
            </a:pPr>
            <a:r>
              <a:rPr lang="zh-CN" altLang="en-US" sz="3200" b="1" kern="0" noProof="0" dirty="0">
                <a:solidFill>
                  <a:srgbClr val="005A9E"/>
                </a:solidFill>
                <a:latin typeface="微软雅黑" panose="020B0503020204020204" pitchFamily="34" charset="-122"/>
                <a:ea typeface="微软雅黑" panose="020B0503020204020204" pitchFamily="34" charset="-122"/>
                <a:sym typeface="+mn-ea"/>
              </a:rPr>
              <a:t>队列的抽象数据类型定义</a:t>
            </a:r>
            <a:endParaRPr lang="zh-CN" altLang="en-US" sz="3200" b="1" kern="0" noProof="0" dirty="0">
              <a:solidFill>
                <a:srgbClr val="005A9E"/>
              </a:solidFill>
              <a:latin typeface="微软雅黑" panose="020B0503020204020204" pitchFamily="34" charset="-122"/>
              <a:ea typeface="微软雅黑" panose="020B0503020204020204" pitchFamily="34" charset="-122"/>
              <a:sym typeface="+mn-ea"/>
            </a:endParaRPr>
          </a:p>
        </p:txBody>
      </p:sp>
      <p:sp>
        <p:nvSpPr>
          <p:cNvPr id="52229" name="Text Box 29"/>
          <p:cNvSpPr txBox="1"/>
          <p:nvPr>
            <p:custDataLst>
              <p:tags r:id="rId3"/>
            </p:custDataLst>
          </p:nvPr>
        </p:nvSpPr>
        <p:spPr>
          <a:xfrm>
            <a:off x="1283970" y="2743200"/>
            <a:ext cx="5257800" cy="583565"/>
          </a:xfrm>
          <a:prstGeom prst="rect">
            <a:avLst/>
          </a:prstGeom>
          <a:noFill/>
          <a:ln w="9525">
            <a:noFill/>
          </a:ln>
        </p:spPr>
        <p:txBody>
          <a:bodyPr>
            <a:spAutoFit/>
          </a:bodyPr>
          <a:p>
            <a:pPr>
              <a:spcBef>
                <a:spcPct val="50000"/>
              </a:spcBef>
            </a:pPr>
            <a:r>
              <a:rPr lang="zh-CN" altLang="en-US" sz="3200" b="1" kern="0" noProof="0" dirty="0">
                <a:solidFill>
                  <a:srgbClr val="005A9E"/>
                </a:solidFill>
                <a:latin typeface="微软雅黑" panose="020B0503020204020204" pitchFamily="34" charset="-122"/>
                <a:ea typeface="微软雅黑" panose="020B0503020204020204" pitchFamily="34" charset="-122"/>
              </a:rPr>
              <a:t>队列的存储结构及操作实现</a:t>
            </a:r>
            <a:endParaRPr lang="en-US" altLang="zh-CN" sz="3200">
              <a:solidFill>
                <a:schemeClr val="tx1"/>
              </a:solidFill>
              <a:latin typeface="微软雅黑" panose="020B0503020204020204" pitchFamily="34" charset="-122"/>
            </a:endParaRPr>
          </a:p>
        </p:txBody>
      </p:sp>
      <p:sp>
        <p:nvSpPr>
          <p:cNvPr id="52230" name="Text Box 29"/>
          <p:cNvSpPr txBox="1"/>
          <p:nvPr>
            <p:custDataLst>
              <p:tags r:id="rId4"/>
            </p:custDataLst>
          </p:nvPr>
        </p:nvSpPr>
        <p:spPr>
          <a:xfrm>
            <a:off x="1283970" y="3578860"/>
            <a:ext cx="4343400" cy="583565"/>
          </a:xfrm>
          <a:prstGeom prst="rect">
            <a:avLst/>
          </a:prstGeom>
          <a:noFill/>
          <a:ln w="9525">
            <a:noFill/>
          </a:ln>
        </p:spPr>
        <p:txBody>
          <a:bodyPr>
            <a:spAutoFit/>
          </a:bodyPr>
          <a:p>
            <a:pPr algn="l">
              <a:spcBef>
                <a:spcPct val="50000"/>
              </a:spcBef>
              <a:buClrTx/>
              <a:buSzTx/>
              <a:buFontTx/>
            </a:pPr>
            <a:r>
              <a:rPr lang="zh-CN" altLang="en-US" sz="3200" b="1" kern="0" noProof="0" dirty="0">
                <a:solidFill>
                  <a:srgbClr val="005A9E"/>
                </a:solidFill>
                <a:latin typeface="微软雅黑" panose="020B0503020204020204" pitchFamily="34" charset="-122"/>
                <a:ea typeface="微软雅黑" panose="020B0503020204020204" pitchFamily="34" charset="-122"/>
              </a:rPr>
              <a:t>队列的应用举例</a:t>
            </a:r>
            <a:endParaRPr lang="zh-CN" altLang="en-US" sz="3200" b="1" kern="0" noProof="0" dirty="0">
              <a:solidFill>
                <a:srgbClr val="005A9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3.2.1队列的抽象数据类型定义</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2257425" y="923925"/>
          <a:ext cx="7561580" cy="5448300"/>
        </p:xfrm>
        <a:graphic>
          <a:graphicData uri="http://schemas.openxmlformats.org/drawingml/2006/table">
            <a:tbl>
              <a:tblPr>
                <a:effectLst/>
                <a:tableStyleId>{5940675A-B579-460E-94D1-54222C63F5DA}</a:tableStyleId>
              </a:tblPr>
              <a:tblGrid>
                <a:gridCol w="7561580"/>
              </a:tblGrid>
              <a:tr h="5448300">
                <a:tc>
                  <a:txBody>
                    <a:bodyPr/>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ADT Queue </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数据对象：</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 = {</a:t>
                      </a:r>
                      <a:r>
                        <a:rPr lang="en-US" sz="1100" i="1" kern="1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100" i="1" kern="100"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100" kern="1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i="1" kern="1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100" i="1" kern="100"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100" i="1" kern="1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1,2,</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 </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数据关系：</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R1 = {&lt;</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100" i="1" kern="1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100" kern="1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100" i="1" kern="1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&gt; | </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100" i="1" kern="1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100" kern="1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100" i="1" kern="1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 </a:t>
                      </a:r>
                      <a:r>
                        <a:rPr lang="en-US" sz="1100" i="1" kern="1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2,3,</a:t>
                      </a:r>
                      <a:r>
                        <a:rPr lang="zh-CN"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1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sz="11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基本操作：</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Init(&amp;Q)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操作结果：构造一个空的队列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Destroy(&amp;Q)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操作结果：销毁队列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Clear(&amp;Q)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操作结果：将队列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清空。</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Empty(Q)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操作结果：若</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为空队列，则返回</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，否则</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Length(Q)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操作结果：返回队列的长度。</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100" kern="1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GetHead</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非空。</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操作结果：返回队头元素的值。</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100" kern="1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GetLast</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非空。</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操作结果：返回队尾元素的值。</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Append(&amp;Q, e)</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未满。</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操作结果：插入新的元素</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到队尾。</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Remove(&amp;Q)</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初始条件：队列</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已存在，且</a:t>
                      </a: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非空。</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操作结果：删除队头元素。</a:t>
                      </a:r>
                      <a:endParaRPr lang="zh-CN" sz="11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3500" marR="63500"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rPr>
              <a:t>3.</a:t>
            </a:r>
            <a:r>
              <a:rPr sz="3600" b="1" dirty="0">
                <a:solidFill>
                  <a:schemeClr val="bg1"/>
                </a:solidFill>
                <a:latin typeface="微软雅黑" panose="020B0503020204020204" pitchFamily="34" charset="-122"/>
                <a:ea typeface="微软雅黑" panose="020B0503020204020204" pitchFamily="34" charset="-122"/>
                <a:sym typeface="+mn-ea"/>
              </a:rPr>
              <a:t>2.2 队列的存储结构及操作实现</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54275" name="内容占位符 2"/>
          <p:cNvSpPr>
            <a:spLocks noGrp="1"/>
          </p:cNvSpPr>
          <p:nvPr/>
        </p:nvSpPr>
        <p:spPr>
          <a:xfrm>
            <a:off x="228600" y="1524000"/>
            <a:ext cx="10942320" cy="13716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vl6pPr marL="2514600" indent="-228600" algn="l" rtl="0" fontAlgn="base">
              <a:spcBef>
                <a:spcPct val="20000"/>
              </a:spcBef>
              <a:spcAft>
                <a:spcPct val="0"/>
              </a:spcAft>
              <a:buChar char="»"/>
              <a:defRPr sz="2400">
                <a:solidFill>
                  <a:schemeClr val="tx1"/>
                </a:solidFill>
                <a:latin typeface="+mn-lt"/>
                <a:ea typeface="+mn-ea"/>
              </a:defRPr>
            </a:lvl6pPr>
            <a:lvl7pPr marL="2971800" indent="-228600" algn="l" rtl="0" fontAlgn="base">
              <a:spcBef>
                <a:spcPct val="20000"/>
              </a:spcBef>
              <a:spcAft>
                <a:spcPct val="0"/>
              </a:spcAft>
              <a:buChar char="»"/>
              <a:defRPr sz="2400">
                <a:solidFill>
                  <a:schemeClr val="tx1"/>
                </a:solidFill>
                <a:latin typeface="+mn-lt"/>
                <a:ea typeface="+mn-ea"/>
              </a:defRPr>
            </a:lvl7pPr>
            <a:lvl8pPr marL="3429000" indent="-228600" algn="l" rtl="0" fontAlgn="base">
              <a:spcBef>
                <a:spcPct val="20000"/>
              </a:spcBef>
              <a:spcAft>
                <a:spcPct val="0"/>
              </a:spcAft>
              <a:buChar char="»"/>
              <a:defRPr sz="2400">
                <a:solidFill>
                  <a:schemeClr val="tx1"/>
                </a:solidFill>
                <a:latin typeface="+mn-lt"/>
                <a:ea typeface="+mn-ea"/>
              </a:defRPr>
            </a:lvl8pPr>
            <a:lvl9pPr marL="3886200" indent="-228600" algn="l" rtl="0" fontAlgn="base">
              <a:spcBef>
                <a:spcPct val="20000"/>
              </a:spcBef>
              <a:spcAft>
                <a:spcPct val="0"/>
              </a:spcAft>
              <a:buChar char="»"/>
              <a:defRPr sz="2400">
                <a:solidFill>
                  <a:schemeClr val="tx1"/>
                </a:solidFill>
                <a:latin typeface="+mn-lt"/>
                <a:ea typeface="+mn-ea"/>
              </a:defRPr>
            </a:lvl9pPr>
          </a:lstStyle>
          <a:p>
            <a:pPr>
              <a:buNone/>
            </a:pPr>
            <a:r>
              <a:rPr lang="en-US" altLang="zh-CN" sz="2800"/>
              <a:t>    </a:t>
            </a:r>
            <a:r>
              <a:rPr lang="zh-CN" altLang="zh-CN" dirty="0"/>
              <a:t>和栈类似，队列也是一种操作受限的特殊的线性表，同样可以采用顺序存储结构和链式存储结构来表示队列。</a:t>
            </a:r>
            <a:endParaRPr lang="zh-CN" altLang="zh-CN" dirty="0"/>
          </a:p>
        </p:txBody>
      </p:sp>
      <p:grpSp>
        <p:nvGrpSpPr>
          <p:cNvPr id="9" name="组合 8"/>
          <p:cNvGrpSpPr/>
          <p:nvPr/>
        </p:nvGrpSpPr>
        <p:grpSpPr>
          <a:xfrm>
            <a:off x="2372360" y="3142615"/>
            <a:ext cx="2209800" cy="1676400"/>
            <a:chOff x="3720" y="5160"/>
            <a:chExt cx="3480" cy="2640"/>
          </a:xfrm>
        </p:grpSpPr>
        <p:sp>
          <p:nvSpPr>
            <p:cNvPr id="10" name="内容占位符 2"/>
            <p:cNvSpPr txBox="1"/>
            <p:nvPr/>
          </p:nvSpPr>
          <p:spPr bwMode="gray">
            <a:xfrm>
              <a:off x="3720" y="5160"/>
              <a:ext cx="3480" cy="1080"/>
            </a:xfrm>
            <a:prstGeom prst="rect">
              <a:avLst/>
            </a:prstGeom>
            <a:noFill/>
            <a:ln w="9525">
              <a:noFill/>
              <a:miter lim="800000"/>
            </a:ln>
          </p:spPr>
          <p:txBody>
            <a:bodyPr/>
            <a:p>
              <a:pPr marL="342900" marR="0" indent="-342900" algn="l" defTabSz="914400" eaLnBrk="0" hangingPunct="0">
                <a:spcBef>
                  <a:spcPct val="20000"/>
                </a:spcBef>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循环队列</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endParaRPr>
            </a:p>
          </p:txBody>
        </p:sp>
        <p:sp>
          <p:nvSpPr>
            <p:cNvPr id="11" name="内容占位符 2"/>
            <p:cNvSpPr txBox="1"/>
            <p:nvPr/>
          </p:nvSpPr>
          <p:spPr bwMode="gray">
            <a:xfrm>
              <a:off x="3720" y="6720"/>
              <a:ext cx="2640" cy="1080"/>
            </a:xfrm>
            <a:prstGeom prst="rect">
              <a:avLst/>
            </a:prstGeom>
            <a:noFill/>
            <a:ln w="9525">
              <a:noFill/>
              <a:miter lim="800000"/>
            </a:ln>
          </p:spPr>
          <p:txBody>
            <a:bodyPr/>
            <a:p>
              <a:pPr marL="342900" marR="0" indent="-342900" algn="l" defTabSz="914400" eaLnBrk="0" hangingPunct="0">
                <a:spcBef>
                  <a:spcPct val="20000"/>
                </a:spcBef>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rPr>
                <a:t>链队列</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cs typeface="+mn-cs"/>
              </a:endParaRPr>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队列的顺序存储表示——循环队列</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55299" name="内容占位符 2"/>
          <p:cNvSpPr>
            <a:spLocks noGrp="1"/>
          </p:cNvSpPr>
          <p:nvPr/>
        </p:nvSpPr>
        <p:spPr>
          <a:xfrm>
            <a:off x="457200" y="1295400"/>
            <a:ext cx="10713085" cy="2209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0" indent="0">
              <a:buNone/>
            </a:pPr>
            <a:r>
              <a:rPr lang="zh-CN" altLang="en-US" dirty="0">
                <a:latin typeface="微软雅黑" panose="020B0503020204020204" pitchFamily="34" charset="-122"/>
                <a:ea typeface="微软雅黑" panose="020B0503020204020204" pitchFamily="34" charset="-122"/>
              </a:rPr>
              <a:t>队列</a:t>
            </a:r>
            <a:r>
              <a:rPr lang="en-US" altLang="zh-CN" err="1">
                <a:latin typeface="微软雅黑" panose="020B0503020204020204" pitchFamily="34" charset="-122"/>
                <a:ea typeface="微软雅黑" panose="020B0503020204020204" pitchFamily="34" charset="-122"/>
              </a:rPr>
              <a:t>的顺序存储表示</a:t>
            </a:r>
            <a:r>
              <a:rPr lang="en-US" altLang="zh-CN">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循环队列</a:t>
            </a:r>
            <a:endParaRPr lang="zh-CN" altLang="en-US" dirty="0">
              <a:latin typeface="微软雅黑" panose="020B0503020204020204" pitchFamily="34" charset="-122"/>
              <a:ea typeface="微软雅黑" panose="020B0503020204020204" pitchFamily="34" charset="-122"/>
            </a:endParaRPr>
          </a:p>
          <a:p>
            <a:pPr marL="0" indent="457200">
              <a:lnSpc>
                <a:spcPct val="150000"/>
              </a:lnSpc>
              <a:spcBef>
                <a:spcPts val="0"/>
              </a:spcBef>
              <a:buNone/>
            </a:pPr>
            <a:r>
              <a:rPr lang="zh-CN" altLang="zh-CN" sz="2000" dirty="0">
                <a:latin typeface="微软雅黑" panose="020B0503020204020204" pitchFamily="34" charset="-122"/>
                <a:ea typeface="微软雅黑" panose="020B0503020204020204" pitchFamily="34" charset="-122"/>
              </a:rPr>
              <a:t>队列的顺序存储表示同样是利用一维数组来实现。为了方便队列的插入和删除操作，需要设置两个变量</a:t>
            </a:r>
            <a:r>
              <a:rPr lang="en-US" altLang="zh-CN" sz="2000">
                <a:latin typeface="微软雅黑" panose="020B0503020204020204" pitchFamily="34" charset="-122"/>
                <a:ea typeface="微软雅黑" panose="020B0503020204020204" pitchFamily="34" charset="-122"/>
              </a:rPr>
              <a:t>front</a:t>
            </a:r>
            <a:r>
              <a:rPr lang="zh-CN" altLang="zh-CN"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rear</a:t>
            </a:r>
            <a:r>
              <a:rPr lang="zh-CN" altLang="zh-CN" sz="2000" dirty="0">
                <a:latin typeface="微软雅黑" panose="020B0503020204020204" pitchFamily="34" charset="-122"/>
                <a:ea typeface="微软雅黑" panose="020B0503020204020204" pitchFamily="34" charset="-122"/>
              </a:rPr>
              <a:t>分别用来指示队列的队头和队尾元素的位置，称为队头指针和队尾指针（或称队头指示器和队尾指示器）。</a:t>
            </a:r>
            <a:endParaRPr lang="zh-CN" altLang="zh-CN" sz="2000" dirty="0">
              <a:latin typeface="微软雅黑" panose="020B0503020204020204" pitchFamily="34" charset="-122"/>
              <a:ea typeface="微软雅黑" panose="020B0503020204020204" pitchFamily="34" charset="-122"/>
            </a:endParaRPr>
          </a:p>
          <a:p>
            <a:pPr marL="0" indent="457200">
              <a:lnSpc>
                <a:spcPct val="150000"/>
              </a:lnSpc>
              <a:spcBef>
                <a:spcPts val="0"/>
              </a:spcBef>
              <a:buNone/>
            </a:pPr>
            <a:endParaRPr lang="zh-CN" altLang="zh-CN" sz="2000" dirty="0">
              <a:latin typeface="微软雅黑" panose="020B0503020204020204" pitchFamily="34" charset="-122"/>
              <a:ea typeface="微软雅黑" panose="020B0503020204020204" pitchFamily="34" charset="-122"/>
            </a:endParaRPr>
          </a:p>
        </p:txBody>
      </p:sp>
      <p:sp>
        <p:nvSpPr>
          <p:cNvPr id="9" name="内容占位符 2"/>
          <p:cNvSpPr txBox="1"/>
          <p:nvPr/>
        </p:nvSpPr>
        <p:spPr bwMode="gray">
          <a:xfrm>
            <a:off x="1005840" y="3258185"/>
            <a:ext cx="7391400" cy="53340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约定：初始化队列时，置</a:t>
            </a:r>
            <a:r>
              <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 = rear = 0</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0" name="内容占位符 2"/>
          <p:cNvSpPr txBox="1"/>
          <p:nvPr/>
        </p:nvSpPr>
        <p:spPr bwMode="gray">
          <a:xfrm>
            <a:off x="272415" y="3791585"/>
            <a:ext cx="10897870" cy="1793875"/>
          </a:xfrm>
          <a:prstGeom prst="rect">
            <a:avLst/>
          </a:prstGeom>
          <a:noFill/>
          <a:ln w="9525">
            <a:noFill/>
            <a:miter lim="800000"/>
          </a:ln>
        </p:spPr>
        <p:txBody>
          <a:bodyPr/>
          <a:p>
            <a:pPr marL="342900" marR="0" indent="342265" defTabSz="914400" eaLnBrk="0" fontAlgn="auto" hangingPunct="0">
              <a:lnSpc>
                <a:spcPct val="150000"/>
              </a:lnSpc>
              <a:spcBef>
                <a:spcPts val="0"/>
              </a:spcBef>
              <a:buClrTx/>
              <a:buSzTx/>
              <a:buFontTx/>
              <a:buNone/>
              <a:defRPr/>
            </a:pP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每当一个元素从队尾入队时，先将元素放在</a:t>
            </a:r>
            <a:r>
              <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所指的位置，然后</a:t>
            </a:r>
            <a:r>
              <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加１；而每当一个元素从队头出队时，将</a:t>
            </a:r>
            <a:r>
              <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加１。因此，当队列非空时，</a:t>
            </a:r>
            <a:r>
              <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总是指向队尾元素的后一个位置，而</a:t>
            </a:r>
            <a:r>
              <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总是指向队头元素位置。</a:t>
            </a:r>
            <a:endPar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队列的顺序存储表示——循环队列</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11" name="组合 10"/>
          <p:cNvGrpSpPr/>
          <p:nvPr/>
        </p:nvGrpSpPr>
        <p:grpSpPr>
          <a:xfrm>
            <a:off x="533400" y="1219200"/>
            <a:ext cx="9742170" cy="2667000"/>
            <a:chOff x="840" y="1920"/>
            <a:chExt cx="12600" cy="4200"/>
          </a:xfrm>
        </p:grpSpPr>
        <p:sp>
          <p:nvSpPr>
            <p:cNvPr id="12" name="内容占位符 2"/>
            <p:cNvSpPr txBox="1"/>
            <p:nvPr/>
          </p:nvSpPr>
          <p:spPr bwMode="gray">
            <a:xfrm>
              <a:off x="840" y="1920"/>
              <a:ext cx="11640" cy="84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zh-CN"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队列</a:t>
              </a:r>
              <a:r>
                <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的入队、出队示意图：</a:t>
              </a:r>
              <a:endPar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aphicFrame>
          <p:nvGraphicFramePr>
            <p:cNvPr id="56326" name="Object 1"/>
            <p:cNvGraphicFramePr>
              <a:graphicFrameLocks noChangeAspect="1"/>
            </p:cNvGraphicFramePr>
            <p:nvPr/>
          </p:nvGraphicFramePr>
          <p:xfrm>
            <a:off x="840" y="2640"/>
            <a:ext cx="12600" cy="3480"/>
          </p:xfrm>
          <a:graphic>
            <a:graphicData uri="http://schemas.openxmlformats.org/presentationml/2006/ole">
              <mc:AlternateContent xmlns:mc="http://schemas.openxmlformats.org/markup-compatibility/2006">
                <mc:Choice xmlns:v="urn:schemas-microsoft-com:vml" Requires="v">
                  <p:oleObj spid="_x0000_s3099" name="" r:id="rId2" imgW="4453255" imgH="1337945" progId="Visio.Drawing.11">
                    <p:embed/>
                  </p:oleObj>
                </mc:Choice>
                <mc:Fallback>
                  <p:oleObj name="" r:id="rId2" imgW="4453255" imgH="1337945" progId="Visio.Drawing.11">
                    <p:embed/>
                    <p:pic>
                      <p:nvPicPr>
                        <p:cNvPr id="0" name="图片 3098"/>
                        <p:cNvPicPr/>
                        <p:nvPr/>
                      </p:nvPicPr>
                      <p:blipFill>
                        <a:blip r:embed="rId3"/>
                        <a:stretch>
                          <a:fillRect/>
                        </a:stretch>
                      </p:blipFill>
                      <p:spPr>
                        <a:xfrm>
                          <a:off x="840" y="2640"/>
                          <a:ext cx="12600" cy="3480"/>
                        </a:xfrm>
                        <a:prstGeom prst="rect">
                          <a:avLst/>
                        </a:prstGeom>
                        <a:noFill/>
                        <a:ln w="38100">
                          <a:noFill/>
                          <a:miter/>
                        </a:ln>
                      </p:spPr>
                    </p:pic>
                  </p:oleObj>
                </mc:Fallback>
              </mc:AlternateContent>
            </a:graphicData>
          </a:graphic>
        </p:graphicFrame>
      </p:grpSp>
      <p:sp>
        <p:nvSpPr>
          <p:cNvPr id="14" name="内容占位符 2"/>
          <p:cNvSpPr txBox="1"/>
          <p:nvPr/>
        </p:nvSpPr>
        <p:spPr bwMode="gray">
          <a:xfrm>
            <a:off x="381000" y="3886200"/>
            <a:ext cx="11244580" cy="2310765"/>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en-US"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从图中可以发现：</a:t>
            </a:r>
            <a:endPar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342900" marR="0" indent="-342900"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在状态</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和</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(d)</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时，队列</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均</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为空，</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它们的共同特点是</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front==rear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因此可以以此作为判断</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队列空</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的条件</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342900" marR="0" indent="-342900"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在状态</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(e)</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下，</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已经到了数组的外面，说明队尾元素已经放到数组的最后一个元素位置了，如果再有元素入队就会出现数组越界。</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但数组前端还有空余位置可以存放入队的元素。</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这种现象称为“假溢出”</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10573385" cy="207327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队列的顺序存储表示——循环队列</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spcBef>
                <a:spcPct val="20000"/>
              </a:spcBef>
              <a:buClrTx/>
              <a:buSzTx/>
              <a:buFontTx/>
              <a:defRPr/>
            </a:pPr>
            <a:r>
              <a:rPr lang="zh-CN" altLang="zh-CN" sz="2400" noProof="0" dirty="0">
                <a:solidFill>
                  <a:srgbClr val="000000"/>
                </a:solidFill>
                <a:latin typeface="微软雅黑" panose="020B0503020204020204" pitchFamily="34" charset="-122"/>
                <a:ea typeface="微软雅黑" panose="020B0503020204020204" pitchFamily="34" charset="-122"/>
                <a:cs typeface="+mn-ea"/>
                <a:sym typeface="+mn-ea"/>
              </a:rPr>
              <a:t>假设用于存储队列的一维数组大小为</a:t>
            </a:r>
            <a:r>
              <a:rPr lang="en-US" altLang="zh-CN" sz="2400" noProof="0" dirty="0">
                <a:solidFill>
                  <a:srgbClr val="000000"/>
                </a:solidFill>
                <a:latin typeface="微软雅黑" panose="020B0503020204020204" pitchFamily="34" charset="-122"/>
                <a:ea typeface="微软雅黑" panose="020B0503020204020204" pitchFamily="34" charset="-122"/>
                <a:cs typeface="+mn-ea"/>
                <a:sym typeface="+mn-ea"/>
              </a:rPr>
              <a:t>size</a:t>
            </a:r>
            <a:r>
              <a:rPr lang="zh-CN" altLang="zh-CN" sz="2400" noProof="0" dirty="0">
                <a:solidFill>
                  <a:srgbClr val="000000"/>
                </a:solidFill>
                <a:latin typeface="微软雅黑" panose="020B0503020204020204" pitchFamily="34" charset="-122"/>
                <a:ea typeface="微软雅黑" panose="020B0503020204020204" pitchFamily="34" charset="-122"/>
                <a:cs typeface="+mn-ea"/>
                <a:sym typeface="+mn-ea"/>
              </a:rPr>
              <a:t>，</a:t>
            </a:r>
            <a:r>
              <a:rPr lang="zh-CN" altLang="en-US" sz="2400" noProof="0" dirty="0">
                <a:solidFill>
                  <a:srgbClr val="000000"/>
                </a:solidFill>
                <a:latin typeface="微软雅黑" panose="020B0503020204020204" pitchFamily="34" charset="-122"/>
                <a:ea typeface="微软雅黑" panose="020B0503020204020204" pitchFamily="34" charset="-122"/>
                <a:cs typeface="+mn-ea"/>
                <a:sym typeface="+mn-ea"/>
              </a:rPr>
              <a:t>在这样的循环队列中，需要注意：</a:t>
            </a:r>
            <a:endParaRPr kumimoji="0" lang="en-US" altLang="zh-CN" sz="28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endParaRPr kumimoji="0" lang="en-US" altLang="zh-CN" sz="28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内容占位符 2"/>
          <p:cNvSpPr txBox="1"/>
          <p:nvPr/>
        </p:nvSpPr>
        <p:spPr bwMode="gray">
          <a:xfrm>
            <a:off x="393065" y="2115820"/>
            <a:ext cx="10490835" cy="2133600"/>
          </a:xfrm>
          <a:prstGeom prst="rect">
            <a:avLst/>
          </a:prstGeom>
          <a:noFill/>
          <a:ln w="9525">
            <a:noFill/>
            <a:miter lim="800000"/>
          </a:ln>
        </p:spPr>
        <p:txBody>
          <a:bodyPr/>
          <a:lstStyle/>
          <a:p>
            <a:pPr marL="342900" marR="0" indent="342265"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前面已经提到，入队时</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需后移，而出队时</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需后移。但它们都应在</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0到size-1范围内移动，若</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移到</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size</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位置时</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应回到0位置</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。分别可以用如下语句来实现：</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342900" marR="0" indent="342265"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rear = (rear + 1) % size;</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342900" marR="0" indent="342265"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front = (front + 1) % size;</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1" name="内容占位符 2"/>
          <p:cNvSpPr txBox="1"/>
          <p:nvPr/>
        </p:nvSpPr>
        <p:spPr bwMode="gray">
          <a:xfrm>
            <a:off x="393065" y="3926840"/>
            <a:ext cx="11405235" cy="2133600"/>
          </a:xfrm>
          <a:prstGeom prst="rect">
            <a:avLst/>
          </a:prstGeom>
          <a:noFill/>
          <a:ln w="9525">
            <a:noFill/>
            <a:miter lim="800000"/>
          </a:ln>
        </p:spPr>
        <p:txBody>
          <a:bodyPr/>
          <a:p>
            <a:pPr marL="342900" marR="0" indent="342265"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前面也已经提到，当</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front==rear</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时队列为空。而</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在状态</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时，数组中还有一个空位置，如果继续将一个元素入队，</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会沿顺时针方向后移一个位置，此时，</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front==rear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，数组空间全放满了。</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这就出现了二义性。</a:t>
            </a:r>
            <a:endPar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156845" y="106045"/>
            <a:ext cx="11486515" cy="3422650"/>
          </a:xfrm>
          <a:prstGeom prst="rect">
            <a:avLst/>
          </a:prstGeom>
          <a:noFill/>
        </p:spPr>
        <p:txBody>
          <a:bodyPr wrap="square" rtlCol="0">
            <a:no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队列的顺序存储表示——循环队列</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265" algn="l" eaLnBrk="0" fontAlgn="base" hangingPunct="0">
              <a:lnSpc>
                <a:spcPct val="125000"/>
              </a:lnSpc>
              <a:spcBef>
                <a:spcPts val="0"/>
              </a:spcBef>
              <a:buClrTx/>
              <a:buSzTx/>
              <a:buFontTx/>
              <a:defRPr/>
            </a:pPr>
            <a:r>
              <a:rPr lang="en-US" altLang="zh-CN" sz="2400" noProof="0" dirty="0">
                <a:solidFill>
                  <a:srgbClr val="000000"/>
                </a:solidFill>
                <a:latin typeface="微软雅黑" panose="020B0503020204020204" pitchFamily="34" charset="-122"/>
                <a:ea typeface="微软雅黑" panose="020B0503020204020204" pitchFamily="34" charset="-122"/>
                <a:cs typeface="+mn-ea"/>
                <a:sym typeface="+mn-ea"/>
              </a:rPr>
              <a:t>    </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解决假溢出的一种有效方法是将队列的数组看成头尾相接的环状空间，当队尾元素放到数组的最后一个位置时，如需入队就把新元素接着存放在数组的</a:t>
            </a:r>
            <a:r>
              <a:rPr lang="en-US" altLang="zh-CN" sz="2000" noProof="0" dirty="0">
                <a:solidFill>
                  <a:srgbClr val="000000"/>
                </a:solidFill>
                <a:latin typeface="微软雅黑" panose="020B0503020204020204" pitchFamily="34" charset="-122"/>
                <a:ea typeface="微软雅黑" panose="020B0503020204020204" pitchFamily="34" charset="-122"/>
                <a:cs typeface="+mn-ea"/>
                <a:sym typeface="+mn-ea"/>
              </a:rPr>
              <a:t>0</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下标位置，这样的队列称为循环队列。如</a:t>
            </a:r>
            <a:r>
              <a:rPr lang="zh-CN" altLang="en-US" sz="2000" noProof="0" dirty="0">
                <a:solidFill>
                  <a:srgbClr val="000000"/>
                </a:solidFill>
                <a:latin typeface="微软雅黑" panose="020B0503020204020204" pitchFamily="34" charset="-122"/>
                <a:ea typeface="微软雅黑" panose="020B0503020204020204" pitchFamily="34" charset="-122"/>
                <a:cs typeface="+mn-ea"/>
                <a:sym typeface="+mn-ea"/>
              </a:rPr>
              <a:t>下</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图所示</a:t>
            </a:r>
            <a:r>
              <a:rPr lang="zh-CN" altLang="en-US" sz="2000" noProof="0" dirty="0">
                <a:solidFill>
                  <a:srgbClr val="000000"/>
                </a:solidFill>
                <a:latin typeface="微软雅黑" panose="020B0503020204020204" pitchFamily="34" charset="-122"/>
                <a:ea typeface="微软雅黑" panose="020B0503020204020204" pitchFamily="34" charset="-122"/>
                <a:cs typeface="+mn-ea"/>
                <a:sym typeface="+mn-ea"/>
              </a:rPr>
              <a:t>：</a:t>
            </a:r>
            <a:endPar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algn="l"/>
            <a:endPar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1127125" y="2432050"/>
            <a:ext cx="9938385" cy="3856990"/>
            <a:chOff x="1680" y="4440"/>
            <a:chExt cx="11160" cy="6240"/>
          </a:xfrm>
        </p:grpSpPr>
        <p:graphicFrame>
          <p:nvGraphicFramePr>
            <p:cNvPr id="57351" name="Object 3"/>
            <p:cNvGraphicFramePr>
              <a:graphicFrameLocks noChangeAspect="1"/>
            </p:cNvGraphicFramePr>
            <p:nvPr/>
          </p:nvGraphicFramePr>
          <p:xfrm>
            <a:off x="1680" y="4440"/>
            <a:ext cx="11160" cy="3060"/>
          </p:xfrm>
          <a:graphic>
            <a:graphicData uri="http://schemas.openxmlformats.org/presentationml/2006/ole">
              <mc:AlternateContent xmlns:mc="http://schemas.openxmlformats.org/markup-compatibility/2006">
                <mc:Choice xmlns:v="urn:schemas-microsoft-com:vml" Requires="v">
                  <p:oleObj spid="_x0000_s3100" name="" r:id="rId2" imgW="4885055" imgH="1735455" progId="Visio.Drawing.11">
                    <p:embed/>
                  </p:oleObj>
                </mc:Choice>
                <mc:Fallback>
                  <p:oleObj name="" r:id="rId2" imgW="4885055" imgH="1735455" progId="Visio.Drawing.11">
                    <p:embed/>
                    <p:pic>
                      <p:nvPicPr>
                        <p:cNvPr id="0" name="图片 3099"/>
                        <p:cNvPicPr/>
                        <p:nvPr/>
                      </p:nvPicPr>
                      <p:blipFill>
                        <a:blip r:embed="rId3"/>
                        <a:stretch>
                          <a:fillRect/>
                        </a:stretch>
                      </p:blipFill>
                      <p:spPr>
                        <a:xfrm>
                          <a:off x="1680" y="4440"/>
                          <a:ext cx="11160" cy="3060"/>
                        </a:xfrm>
                        <a:prstGeom prst="rect">
                          <a:avLst/>
                        </a:prstGeom>
                        <a:noFill/>
                        <a:ln w="38100">
                          <a:noFill/>
                          <a:miter/>
                        </a:ln>
                      </p:spPr>
                    </p:pic>
                  </p:oleObj>
                </mc:Fallback>
              </mc:AlternateContent>
            </a:graphicData>
          </a:graphic>
        </p:graphicFrame>
        <p:graphicFrame>
          <p:nvGraphicFramePr>
            <p:cNvPr id="57353" name="Object 5"/>
            <p:cNvGraphicFramePr>
              <a:graphicFrameLocks noChangeAspect="1"/>
            </p:cNvGraphicFramePr>
            <p:nvPr/>
          </p:nvGraphicFramePr>
          <p:xfrm>
            <a:off x="1740" y="7590"/>
            <a:ext cx="10463" cy="3090"/>
          </p:xfrm>
          <a:graphic>
            <a:graphicData uri="http://schemas.openxmlformats.org/presentationml/2006/ole">
              <mc:AlternateContent xmlns:mc="http://schemas.openxmlformats.org/markup-compatibility/2006">
                <mc:Choice xmlns:v="urn:schemas-microsoft-com:vml" Requires="v">
                  <p:oleObj spid="_x0000_s3098" name="" r:id="rId4" imgW="6870700" imgH="2628900" progId="Visio.Drawing.11">
                    <p:embed/>
                  </p:oleObj>
                </mc:Choice>
                <mc:Fallback>
                  <p:oleObj name="" r:id="rId4" imgW="6870700" imgH="2628900" progId="Visio.Drawing.11">
                    <p:embed/>
                    <p:pic>
                      <p:nvPicPr>
                        <p:cNvPr id="0" name="图片 3097"/>
                        <p:cNvPicPr/>
                        <p:nvPr/>
                      </p:nvPicPr>
                      <p:blipFill>
                        <a:blip r:embed="rId5"/>
                        <a:stretch>
                          <a:fillRect/>
                        </a:stretch>
                      </p:blipFill>
                      <p:spPr>
                        <a:xfrm>
                          <a:off x="1740" y="7590"/>
                          <a:ext cx="10463" cy="309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193800"/>
            <a:ext cx="10791190" cy="489458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队列的顺序存储表示——循环队列</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231871" y="1618249"/>
            <a:ext cx="11406505" cy="3708238"/>
            <a:chOff x="391" y="2479"/>
            <a:chExt cx="13920" cy="4796"/>
          </a:xfrm>
        </p:grpSpPr>
        <p:sp>
          <p:nvSpPr>
            <p:cNvPr id="10" name="内容占位符 2"/>
            <p:cNvSpPr txBox="1"/>
            <p:nvPr/>
          </p:nvSpPr>
          <p:spPr bwMode="gray">
            <a:xfrm>
              <a:off x="391" y="2479"/>
              <a:ext cx="13920" cy="72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en-US"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解决</a:t>
              </a:r>
              <a:r>
                <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front==rear</a:t>
              </a:r>
              <a:r>
                <a:rPr kumimoji="0" lang="zh-CN" altLang="en-US"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时的二义性，</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对于队满可以有两种处理方法</a:t>
              </a:r>
              <a:r>
                <a:rPr kumimoji="0" lang="zh-CN" altLang="en-US"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en-US"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1" name="内容占位符 2"/>
            <p:cNvSpPr txBox="1"/>
            <p:nvPr/>
          </p:nvSpPr>
          <p:spPr bwMode="gray">
            <a:xfrm>
              <a:off x="391" y="3398"/>
              <a:ext cx="13440" cy="1680"/>
            </a:xfrm>
            <a:prstGeom prst="rect">
              <a:avLst/>
            </a:prstGeom>
            <a:noFill/>
            <a:ln w="9525">
              <a:noFill/>
              <a:miter lim="800000"/>
            </a:ln>
          </p:spPr>
          <p:txBody>
            <a:bodyPr/>
            <a:p>
              <a:pPr marL="342900" marR="0" indent="342265" defTabSz="914400" eaLnBrk="0" fontAlgn="auto" hangingPunct="0">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另设一个满否的标志位或者队列长度信息，用以区分</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 == rear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时队列是“空”还是“满”。</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2" name="内容占位符 2"/>
            <p:cNvSpPr txBox="1"/>
            <p:nvPr/>
          </p:nvSpPr>
          <p:spPr bwMode="gray">
            <a:xfrm>
              <a:off x="391" y="4635"/>
              <a:ext cx="13440" cy="2640"/>
            </a:xfrm>
            <a:prstGeom prst="rect">
              <a:avLst/>
            </a:prstGeom>
            <a:noFill/>
            <a:ln w="9525">
              <a:noFill/>
              <a:miter lim="800000"/>
            </a:ln>
          </p:spPr>
          <p:txBody>
            <a:bodyPr/>
            <a:p>
              <a:pPr marL="342900" marR="0" indent="342265" defTabSz="914400" eaLnBrk="0" fontAlgn="auto" hangingPunct="0">
                <a:lnSpc>
                  <a:spcPct val="125000"/>
                </a:lnSpc>
                <a:spcBef>
                  <a:spcPts val="0"/>
                </a:spcBef>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少用一个元素空间（即当队列中放了</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size–1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个元素时就表示已满），以“</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front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在</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rear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的顺时针下一个位置”，即</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front == (rear + 1) % size</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作为队列满的判断条件。</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3" name="内容占位符 2"/>
            <p:cNvSpPr txBox="1"/>
            <p:nvPr/>
          </p:nvSpPr>
          <p:spPr bwMode="gray">
            <a:xfrm>
              <a:off x="500" y="6256"/>
              <a:ext cx="11400" cy="72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下面的讨论将采用第二种方法。</a:t>
              </a:r>
              <a:endPar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230695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循环队列类定义</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nvGraphicFramePr>
        <p:xfrm>
          <a:off x="2171700" y="984250"/>
          <a:ext cx="7848600" cy="5212080"/>
        </p:xfrm>
        <a:graphic>
          <a:graphicData uri="http://schemas.openxmlformats.org/drawingml/2006/table">
            <a:tbl>
              <a:tblPr>
                <a:effectLst/>
                <a:tableStyleId>{5940675A-B579-460E-94D1-54222C63F5DA}</a:tableStyleId>
              </a:tblPr>
              <a:tblGrid>
                <a:gridCol w="7848600"/>
              </a:tblGrid>
              <a:tr h="521208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声明一个类模板</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class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SqQueue</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public:     </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SqQueue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m = 100);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构造函数</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SqQueue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析构函数</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void Clear();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清空队列</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bool</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Empty() const;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判队列空</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Length() const;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求长度</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&amp;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GetHead</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const;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取队头元素值</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&amp;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GetLast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const;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取队尾元素值</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void Append(const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&amp;e);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入队</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void Remove();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出队</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private: </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m_base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基地址指针</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m_front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队头指针</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m_rear</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队尾指针</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m_size</a:t>
                      </a: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向量空间大小</a:t>
                      </a:r>
                      <a:endParaRPr kumimoji="0" lang="zh-CN" sz="18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r>
              <a:rPr lang="en-US" altLang="zh-CN">
                <a:sym typeface="+mn-ea"/>
              </a:rPr>
              <a:t>1. </a:t>
            </a:r>
            <a:r>
              <a:rPr lang="zh-CN" altLang="en-US" dirty="0">
                <a:sym typeface="+mn-ea"/>
              </a:rPr>
              <a:t>队列</a:t>
            </a:r>
            <a:r>
              <a:rPr lang="zh-CN" altLang="zh-CN" dirty="0">
                <a:sym typeface="+mn-ea"/>
              </a:rPr>
              <a:t>初始化</a:t>
            </a:r>
            <a:endParaRPr lang="en-US" altLang="zh-CN"/>
          </a:p>
          <a:p>
            <a:pPr>
              <a:buNone/>
            </a:pP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696595" y="1905000"/>
          <a:ext cx="8167370" cy="2987675"/>
        </p:xfrm>
        <a:graphic>
          <a:graphicData uri="http://schemas.openxmlformats.org/drawingml/2006/table">
            <a:tbl>
              <a:tblPr/>
              <a:tblGrid>
                <a:gridCol w="8167370"/>
              </a:tblGrid>
              <a:tr h="2987675">
                <a:tc>
                  <a:txBody>
                    <a:bodyPr/>
                    <a:p>
                      <a:r>
                        <a:rPr lang="en-US" altLang="zh-CN" sz="1800" kern="1200" dirty="0" smtClean="0">
                          <a:solidFill>
                            <a:schemeClr val="tx1"/>
                          </a:solidFill>
                          <a:latin typeface="+mn-lt"/>
                          <a:ea typeface="+mn-ea"/>
                          <a:cs typeface="+mn-cs"/>
                        </a:rPr>
                        <a:t>// </a:t>
                      </a:r>
                      <a:r>
                        <a:rPr lang="zh-CN" altLang="zh-CN" sz="1800" kern="1200" dirty="0" smtClean="0">
                          <a:solidFill>
                            <a:schemeClr val="tx1"/>
                          </a:solidFill>
                          <a:latin typeface="+mn-lt"/>
                          <a:ea typeface="+mn-ea"/>
                          <a:cs typeface="+mn-cs"/>
                        </a:rPr>
                        <a:t>构造函数，分配</a:t>
                      </a:r>
                      <a:r>
                        <a:rPr lang="en-US" altLang="zh-CN" sz="1800" kern="1200" dirty="0" smtClean="0">
                          <a:solidFill>
                            <a:schemeClr val="tx1"/>
                          </a:solidFill>
                          <a:latin typeface="+mn-lt"/>
                          <a:ea typeface="+mn-ea"/>
                          <a:cs typeface="+mn-cs"/>
                        </a:rPr>
                        <a:t>m</a:t>
                      </a:r>
                      <a:r>
                        <a:rPr lang="zh-CN" altLang="zh-CN" sz="1800" kern="1200" dirty="0" smtClean="0">
                          <a:solidFill>
                            <a:schemeClr val="tx1"/>
                          </a:solidFill>
                          <a:latin typeface="+mn-lt"/>
                          <a:ea typeface="+mn-ea"/>
                          <a:cs typeface="+mn-cs"/>
                        </a:rPr>
                        <a:t>个结点的顺序空间，构造一个空的循环队列</a:t>
                      </a:r>
                      <a:endParaRPr lang="zh-CN" altLang="zh-CN" sz="1800" kern="1200" dirty="0" smtClean="0">
                        <a:solidFill>
                          <a:schemeClr val="tx1"/>
                        </a:solidFill>
                        <a:latin typeface="+mn-lt"/>
                        <a:ea typeface="+mn-ea"/>
                        <a:cs typeface="+mn-cs"/>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SqQueue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SqQueue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int</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m)</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m_front</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m_rear</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 0;</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m_base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 new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[m];</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m_size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 m;</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marL="342900" indent="-342900" algn="l" eaLnBrk="0" fontAlgn="base" hangingPunct="0">
              <a:lnSpc>
                <a:spcPct val="100000"/>
              </a:lnSpc>
              <a:spcBef>
                <a:spcPct val="20000"/>
              </a:spcBef>
              <a:buNone/>
            </a:pPr>
            <a:r>
              <a:rPr lang="en-US" altLang="zh-CN">
                <a:sym typeface="+mn-ea"/>
              </a:rPr>
              <a:t>  </a:t>
            </a:r>
            <a:r>
              <a:rPr lang="en-US" altLang="zh-CN" sz="2400">
                <a:solidFill>
                  <a:srgbClr val="000000"/>
                </a:solidFill>
                <a:cs typeface="+mn-ea"/>
                <a:sym typeface="+mn-ea"/>
              </a:rPr>
              <a:t>2. </a:t>
            </a:r>
            <a:r>
              <a:rPr lang="zh-CN" altLang="en-US" sz="2400" dirty="0">
                <a:solidFill>
                  <a:srgbClr val="000000"/>
                </a:solidFill>
                <a:cs typeface="+mn-ea"/>
                <a:sym typeface="+mn-ea"/>
              </a:rPr>
              <a:t>销毁队列</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10" name="表格 9"/>
          <p:cNvGraphicFramePr>
            <a:graphicFrameLocks noGrp="1"/>
          </p:cNvGraphicFramePr>
          <p:nvPr>
            <p:custDataLst>
              <p:tags r:id="rId2"/>
            </p:custDataLst>
          </p:nvPr>
        </p:nvGraphicFramePr>
        <p:xfrm>
          <a:off x="685800" y="1905000"/>
          <a:ext cx="7899400" cy="2410460"/>
        </p:xfrm>
        <a:graphic>
          <a:graphicData uri="http://schemas.openxmlformats.org/drawingml/2006/table">
            <a:tbl>
              <a:tblPr/>
              <a:tblGrid>
                <a:gridCol w="7899400"/>
              </a:tblGrid>
              <a:tr h="2410460">
                <a:tc>
                  <a:txBody>
                    <a:bodyPr/>
                    <a:p>
                      <a:r>
                        <a:rPr lang="en-US" altLang="zh-CN" sz="1800" kern="1200" dirty="0" smtClean="0">
                          <a:solidFill>
                            <a:schemeClr val="tx1"/>
                          </a:solidFill>
                          <a:latin typeface="+mn-lt"/>
                          <a:ea typeface="+mn-ea"/>
                          <a:cs typeface="+mn-cs"/>
                        </a:rPr>
                        <a:t>// </a:t>
                      </a:r>
                      <a:r>
                        <a:rPr lang="zh-CN" altLang="zh-CN" sz="1800" kern="1200" dirty="0" smtClean="0">
                          <a:solidFill>
                            <a:schemeClr val="tx1"/>
                          </a:solidFill>
                          <a:latin typeface="+mn-lt"/>
                          <a:ea typeface="+mn-ea"/>
                          <a:cs typeface="+mn-cs"/>
                        </a:rPr>
                        <a:t>析构函数，将队列结构销毁</a:t>
                      </a:r>
                      <a:endParaRPr lang="zh-CN" altLang="zh-CN" sz="1800" kern="1200" dirty="0" smtClean="0">
                        <a:solidFill>
                          <a:schemeClr val="tx1"/>
                        </a:solidFill>
                        <a:latin typeface="+mn-lt"/>
                        <a:ea typeface="+mn-ea"/>
                        <a:cs typeface="+mn-cs"/>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SqQueue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SqQueue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delete[]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m_base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393065" y="1304925"/>
            <a:ext cx="6096000" cy="460375"/>
          </a:xfrm>
          <a:prstGeom prst="rect">
            <a:avLst/>
          </a:prstGeom>
          <a:noFill/>
        </p:spPr>
        <p:txBody>
          <a:bodyPr wrap="square" rtlCol="0" anchor="t">
            <a:spAutoFit/>
          </a:bodyPr>
          <a:p>
            <a:pPr marL="342900" indent="-342900" algn="l" eaLnBrk="0" fontAlgn="base" hangingPunct="0">
              <a:spcBef>
                <a:spcPct val="20000"/>
              </a:spcBef>
              <a:buNone/>
            </a:pPr>
            <a:r>
              <a:rPr lang="en-US" altLang="zh-CN" sz="2400">
                <a:solidFill>
                  <a:srgbClr val="000000"/>
                </a:solidFill>
                <a:latin typeface="微软雅黑" panose="020B0503020204020204" pitchFamily="34" charset="-122"/>
                <a:ea typeface="微软雅黑" panose="020B0503020204020204" pitchFamily="34" charset="-122"/>
                <a:cs typeface="+mn-ea"/>
                <a:sym typeface="+mn-ea"/>
              </a:rPr>
              <a:t>3. </a:t>
            </a: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清空队列</a:t>
            </a:r>
            <a:endParaRPr lang="zh-CN" altLang="en-US" sz="2400" dirty="0">
              <a:solidFill>
                <a:srgbClr val="000000"/>
              </a:solidFill>
              <a:latin typeface="微软雅黑" panose="020B0503020204020204" pitchFamily="34" charset="-122"/>
              <a:ea typeface="微软雅黑" panose="020B0503020204020204" pitchFamily="34" charset="-122"/>
              <a:cs typeface="+mn-ea"/>
              <a:sym typeface="+mn-ea"/>
            </a:endParaRPr>
          </a:p>
        </p:txBody>
      </p:sp>
      <p:graphicFrame>
        <p:nvGraphicFramePr>
          <p:cNvPr id="10" name="表格 9"/>
          <p:cNvGraphicFramePr>
            <a:graphicFrameLocks noGrp="1"/>
          </p:cNvGraphicFramePr>
          <p:nvPr/>
        </p:nvGraphicFramePr>
        <p:xfrm>
          <a:off x="685800" y="1905000"/>
          <a:ext cx="7620000" cy="2514600"/>
        </p:xfrm>
        <a:graphic>
          <a:graphicData uri="http://schemas.openxmlformats.org/drawingml/2006/table">
            <a:tbl>
              <a:tblPr>
                <a:effectLst/>
                <a:tableStyleId>{5940675A-B579-460E-94D1-54222C63F5DA}</a:tableStyleId>
              </a:tblPr>
              <a:tblGrid>
                <a:gridCol w="7620000"/>
              </a:tblGrid>
              <a:tr h="2514600">
                <a:tc>
                  <a:txBody>
                    <a:bodyPr/>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 </a:t>
                      </a:r>
                      <a:r>
                        <a:rPr kumimoji="0" lang="zh-CN" sz="18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清空队列</a:t>
                      </a:r>
                      <a:endParaRPr kumimoji="0" lang="zh-CN" sz="18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void SqQueue &lt;ElemType&gt;::Clear()</a:t>
                      </a: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m_front = m_rear = 0;</a:t>
                      </a: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just"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457200" y="1304925"/>
            <a:ext cx="6096000" cy="460375"/>
          </a:xfrm>
          <a:prstGeom prst="rect">
            <a:avLst/>
          </a:prstGeom>
          <a:noFill/>
        </p:spPr>
        <p:txBody>
          <a:bodyPr wrap="square" rtlCol="0" anchor="t">
            <a:spAutoFit/>
          </a:bodyPr>
          <a:p>
            <a:pPr marL="342900" indent="-342900" algn="l" eaLnBrk="0" fontAlgn="base" hangingPunct="0">
              <a:spcBef>
                <a:spcPct val="20000"/>
              </a:spcBef>
              <a:buNone/>
            </a:pPr>
            <a:r>
              <a:rPr lang="en-US" altLang="zh-CN" sz="2400">
                <a:solidFill>
                  <a:srgbClr val="000000"/>
                </a:solidFill>
                <a:latin typeface="微软雅黑" panose="020B0503020204020204" pitchFamily="34" charset="-122"/>
                <a:ea typeface="微软雅黑" panose="020B0503020204020204" pitchFamily="34" charset="-122"/>
                <a:cs typeface="+mn-ea"/>
                <a:sym typeface="+mn-ea"/>
              </a:rPr>
              <a:t>4. </a:t>
            </a:r>
            <a:r>
              <a:rPr lang="en-US" altLang="zh-CN" sz="2400" err="1">
                <a:solidFill>
                  <a:srgbClr val="000000"/>
                </a:solidFill>
                <a:latin typeface="微软雅黑" panose="020B0503020204020204" pitchFamily="34" charset="-122"/>
                <a:ea typeface="微软雅黑" panose="020B0503020204020204" pitchFamily="34" charset="-122"/>
                <a:cs typeface="+mn-ea"/>
                <a:sym typeface="+mn-ea"/>
              </a:rPr>
              <a:t>判队列空</a:t>
            </a:r>
            <a:endParaRPr lang="en-US" altLang="zh-CN" sz="2400" err="1">
              <a:solidFill>
                <a:srgbClr val="000000"/>
              </a:solidFill>
              <a:latin typeface="微软雅黑" panose="020B0503020204020204" pitchFamily="34" charset="-122"/>
              <a:ea typeface="微软雅黑" panose="020B0503020204020204" pitchFamily="34" charset="-122"/>
              <a:cs typeface="+mn-ea"/>
              <a:sym typeface="+mn-ea"/>
            </a:endParaRPr>
          </a:p>
        </p:txBody>
      </p:sp>
      <p:graphicFrame>
        <p:nvGraphicFramePr>
          <p:cNvPr id="10" name="表格 9"/>
          <p:cNvGraphicFramePr>
            <a:graphicFrameLocks noGrp="1"/>
          </p:cNvGraphicFramePr>
          <p:nvPr>
            <p:custDataLst>
              <p:tags r:id="rId2"/>
            </p:custDataLst>
          </p:nvPr>
        </p:nvGraphicFramePr>
        <p:xfrm>
          <a:off x="1137285" y="2122170"/>
          <a:ext cx="8350250" cy="3051810"/>
        </p:xfrm>
        <a:graphic>
          <a:graphicData uri="http://schemas.openxmlformats.org/drawingml/2006/table">
            <a:tbl>
              <a:tblPr>
                <a:effectLst/>
                <a:tableStyleId>{5940675A-B579-460E-94D1-54222C63F5DA}</a:tableStyleId>
              </a:tblPr>
              <a:tblGrid>
                <a:gridCol w="8350250"/>
              </a:tblGrid>
              <a:tr h="3051810">
                <a:tc>
                  <a:txBody>
                    <a:bodyPr/>
                    <a:p>
                      <a:r>
                        <a:rPr lang="en-US" altLang="zh-CN" sz="18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1800" kern="1200" dirty="0" smtClean="0">
                          <a:solidFill>
                            <a:srgbClr val="000000"/>
                          </a:solidFill>
                          <a:latin typeface="微软雅黑" panose="020B0503020204020204" pitchFamily="34" charset="-122"/>
                          <a:ea typeface="微软雅黑" panose="020B0503020204020204" pitchFamily="34" charset="-122"/>
                          <a:cs typeface="+mn-ea"/>
                        </a:rPr>
                        <a:t>判队列是否为空，若为空，则返回</a:t>
                      </a:r>
                      <a:r>
                        <a:rPr lang="en-US" altLang="zh-CN" sz="1800" kern="1200" dirty="0" smtClean="0">
                          <a:solidFill>
                            <a:srgbClr val="000000"/>
                          </a:solidFill>
                          <a:latin typeface="微软雅黑" panose="020B0503020204020204" pitchFamily="34" charset="-122"/>
                          <a:ea typeface="微软雅黑" panose="020B0503020204020204" pitchFamily="34" charset="-122"/>
                          <a:cs typeface="+mn-ea"/>
                        </a:rPr>
                        <a:t>true</a:t>
                      </a:r>
                      <a:r>
                        <a:rPr lang="zh-CN" altLang="zh-CN" sz="1800" kern="1200" dirty="0" smtClean="0">
                          <a:solidFill>
                            <a:srgbClr val="000000"/>
                          </a:solidFill>
                          <a:latin typeface="微软雅黑" panose="020B0503020204020204" pitchFamily="34" charset="-122"/>
                          <a:ea typeface="微软雅黑" panose="020B0503020204020204" pitchFamily="34" charset="-122"/>
                          <a:cs typeface="+mn-ea"/>
                        </a:rPr>
                        <a:t>，否则返回</a:t>
                      </a:r>
                      <a:r>
                        <a:rPr lang="en-US" altLang="zh-CN" sz="1800" kern="1200" dirty="0" smtClean="0">
                          <a:solidFill>
                            <a:srgbClr val="000000"/>
                          </a:solidFill>
                          <a:latin typeface="微软雅黑" panose="020B0503020204020204" pitchFamily="34" charset="-122"/>
                          <a:ea typeface="微软雅黑" panose="020B0503020204020204" pitchFamily="34" charset="-122"/>
                          <a:cs typeface="+mn-ea"/>
                        </a:rPr>
                        <a:t>false</a:t>
                      </a:r>
                      <a:endParaRPr lang="zh-CN" altLang="zh-CN" sz="18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bool</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SqQueue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&gt;::Empty() const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return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内容占位符 2"/>
          <p:cNvSpPr>
            <a:spLocks noGrp="1"/>
          </p:cNvSpPr>
          <p:nvPr/>
        </p:nvSpPr>
        <p:spPr>
          <a:xfrm>
            <a:off x="457200" y="1371600"/>
            <a:ext cx="8229600" cy="685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buNone/>
            </a:pPr>
            <a:r>
              <a:rPr lang="en-US" altLang="zh-CN">
                <a:latin typeface="微软雅黑" panose="020B0503020204020204" pitchFamily="34" charset="-122"/>
                <a:ea typeface="微软雅黑" panose="020B0503020204020204" pitchFamily="34" charset="-122"/>
              </a:rPr>
              <a:t>6. </a:t>
            </a:r>
            <a:r>
              <a:rPr lang="en-US" altLang="zh-CN" err="1">
                <a:latin typeface="微软雅黑" panose="020B0503020204020204" pitchFamily="34" charset="-122"/>
                <a:ea typeface="微软雅黑" panose="020B0503020204020204" pitchFamily="34" charset="-122"/>
              </a:rPr>
              <a:t>取队头元素</a:t>
            </a:r>
            <a:endParaRPr lang="en-US" altLang="zh-CN">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custDataLst>
              <p:tags r:id="rId2"/>
            </p:custDataLst>
          </p:nvPr>
        </p:nvGraphicFramePr>
        <p:xfrm>
          <a:off x="685800" y="1905000"/>
          <a:ext cx="8308340" cy="3040380"/>
        </p:xfrm>
        <a:graphic>
          <a:graphicData uri="http://schemas.openxmlformats.org/drawingml/2006/table">
            <a:tbl>
              <a:tblPr/>
              <a:tblGrid>
                <a:gridCol w="8308340"/>
              </a:tblGrid>
              <a:tr h="3040380">
                <a:tc>
                  <a:txBody>
                    <a:bodyPr/>
                    <a:p>
                      <a:r>
                        <a:rPr lang="en-US" altLang="zh-CN" sz="1800" kern="1200" dirty="0" smtClean="0">
                          <a:solidFill>
                            <a:schemeClr val="tx1"/>
                          </a:solidFill>
                          <a:latin typeface="+mn-lt"/>
                          <a:ea typeface="+mn-ea"/>
                          <a:cs typeface="+mn-cs"/>
                        </a:rPr>
                        <a:t>// </a:t>
                      </a:r>
                      <a:r>
                        <a:rPr lang="zh-CN" altLang="zh-CN" sz="1800" kern="1200" dirty="0" smtClean="0">
                          <a:solidFill>
                            <a:schemeClr val="tx1"/>
                          </a:solidFill>
                          <a:latin typeface="+mn-lt"/>
                          <a:ea typeface="+mn-ea"/>
                          <a:cs typeface="+mn-cs"/>
                        </a:rPr>
                        <a:t>取队头元素的值。先决条件是队列非空</a:t>
                      </a:r>
                      <a:endParaRPr lang="zh-CN" altLang="zh-CN" sz="1800" kern="1200" dirty="0" smtClean="0">
                        <a:solidFill>
                          <a:schemeClr val="tx1"/>
                        </a:solidFill>
                        <a:latin typeface="+mn-lt"/>
                        <a:ea typeface="+mn-ea"/>
                        <a:cs typeface="+mn-cs"/>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&amp;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SqQueue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GetHead</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const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return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m_base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m_front</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317500" y="1144905"/>
            <a:ext cx="6096000" cy="460375"/>
          </a:xfrm>
          <a:prstGeom prst="rect">
            <a:avLst/>
          </a:prstGeom>
          <a:noFill/>
        </p:spPr>
        <p:txBody>
          <a:bodyPr wrap="square" rtlCol="0" anchor="t">
            <a:spAutoFit/>
          </a:bodyPr>
          <a:p>
            <a:pPr marL="342900" indent="-342900" algn="l" eaLnBrk="0" fontAlgn="base" hangingPunct="0">
              <a:spcBef>
                <a:spcPct val="20000"/>
              </a:spcBef>
              <a:buNone/>
            </a:pPr>
            <a:r>
              <a:rPr lang="en-US" altLang="zh-CN" sz="2400">
                <a:solidFill>
                  <a:srgbClr val="000000"/>
                </a:solidFill>
                <a:latin typeface="微软雅黑" panose="020B0503020204020204" pitchFamily="34" charset="-122"/>
                <a:ea typeface="微软雅黑" panose="020B0503020204020204" pitchFamily="34" charset="-122"/>
                <a:cs typeface="+mn-ea"/>
                <a:sym typeface="+mn-ea"/>
              </a:rPr>
              <a:t>7. </a:t>
            </a:r>
            <a:r>
              <a:rPr lang="en-US" altLang="zh-CN" sz="2400" err="1">
                <a:solidFill>
                  <a:srgbClr val="000000"/>
                </a:solidFill>
                <a:latin typeface="微软雅黑" panose="020B0503020204020204" pitchFamily="34" charset="-122"/>
                <a:ea typeface="微软雅黑" panose="020B0503020204020204" pitchFamily="34" charset="-122"/>
                <a:cs typeface="+mn-ea"/>
                <a:sym typeface="+mn-ea"/>
              </a:rPr>
              <a:t>取队尾元素</a:t>
            </a:r>
            <a:endParaRPr lang="en-US" altLang="zh-CN" sz="2400" err="1">
              <a:solidFill>
                <a:srgbClr val="000000"/>
              </a:solidFill>
              <a:latin typeface="微软雅黑" panose="020B0503020204020204" pitchFamily="34" charset="-122"/>
              <a:ea typeface="微软雅黑" panose="020B0503020204020204" pitchFamily="34" charset="-122"/>
              <a:cs typeface="+mn-ea"/>
              <a:sym typeface="+mn-ea"/>
            </a:endParaRPr>
          </a:p>
        </p:txBody>
      </p:sp>
      <p:graphicFrame>
        <p:nvGraphicFramePr>
          <p:cNvPr id="10" name="表格 9"/>
          <p:cNvGraphicFramePr>
            <a:graphicFrameLocks noGrp="1"/>
          </p:cNvGraphicFramePr>
          <p:nvPr>
            <p:custDataLst>
              <p:tags r:id="rId2"/>
            </p:custDataLst>
          </p:nvPr>
        </p:nvGraphicFramePr>
        <p:xfrm>
          <a:off x="685800" y="1905000"/>
          <a:ext cx="8780780" cy="3178175"/>
        </p:xfrm>
        <a:graphic>
          <a:graphicData uri="http://schemas.openxmlformats.org/drawingml/2006/table">
            <a:tbl>
              <a:tblPr/>
              <a:tblGrid>
                <a:gridCol w="8780780"/>
              </a:tblGrid>
              <a:tr h="3178175">
                <a:tc>
                  <a:txBody>
                    <a:bodyPr/>
                    <a:p>
                      <a:r>
                        <a:rPr lang="en-US" altLang="zh-CN" sz="1800" kern="1200" dirty="0" smtClean="0">
                          <a:solidFill>
                            <a:schemeClr val="tx1"/>
                          </a:solidFill>
                          <a:latin typeface="+mn-lt"/>
                          <a:ea typeface="+mn-ea"/>
                          <a:cs typeface="+mn-cs"/>
                        </a:rPr>
                        <a:t>// </a:t>
                      </a:r>
                      <a:r>
                        <a:rPr lang="zh-CN" altLang="zh-CN" sz="1800" kern="1200" dirty="0" smtClean="0">
                          <a:solidFill>
                            <a:schemeClr val="tx1"/>
                          </a:solidFill>
                          <a:latin typeface="+mn-lt"/>
                          <a:ea typeface="+mn-ea"/>
                          <a:cs typeface="+mn-cs"/>
                        </a:rPr>
                        <a:t>取队尾元素的值。先决条件是队列非空</a:t>
                      </a:r>
                      <a:endParaRPr lang="zh-CN" altLang="zh-CN" sz="1800" kern="1200" dirty="0" smtClean="0">
                        <a:solidFill>
                          <a:schemeClr val="tx1"/>
                        </a:solidFill>
                        <a:latin typeface="+mn-lt"/>
                        <a:ea typeface="+mn-ea"/>
                        <a:cs typeface="+mn-cs"/>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template &lt;class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&amp;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SqQueue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&lt;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ElemType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&gt;::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GetLast</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const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return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m_base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m_rear</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- 1 +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m_size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 % </a:t>
                      </a:r>
                      <a:r>
                        <a:rPr lang="en-US" altLang="zh-CN" sz="1800" kern="1200" dirty="0" err="1" smtClean="0">
                          <a:solidFill>
                            <a:schemeClr val="tx1"/>
                          </a:solidFill>
                          <a:latin typeface="Times New Roman" panose="02020603050405020304" pitchFamily="18" charset="0"/>
                          <a:ea typeface="+mn-ea"/>
                          <a:cs typeface="Times New Roman" panose="02020603050405020304" pitchFamily="18" charset="0"/>
                        </a:rPr>
                        <a:t>m_size</a:t>
                      </a:r>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lang="zh-CN" altLang="zh-CN" sz="1800" kern="1200" dirty="0" smtClean="0">
                        <a:solidFill>
                          <a:schemeClr val="tx1"/>
                        </a:solidFill>
                        <a:latin typeface="Times New Roman" panose="02020603050405020304" pitchFamily="18" charset="0"/>
                        <a:ea typeface="+mn-ea"/>
                        <a:cs typeface="Times New Roman" panose="02020603050405020304" pitchFamily="18" charset="0"/>
                      </a:endParaRPr>
                    </a:p>
                    <a:p>
                      <a:r>
                        <a:rPr lang="en-US" altLang="zh-CN" sz="1800" kern="1200" dirty="0" smtClean="0">
                          <a:solidFill>
                            <a:schemeClr val="tx1"/>
                          </a:solidFill>
                          <a:latin typeface="Times New Roman" panose="02020603050405020304" pitchFamily="18" charset="0"/>
                          <a:ea typeface="+mn-ea"/>
                          <a:cs typeface="Times New Roman" panose="02020603050405020304" pitchFamily="18" charset="0"/>
                        </a:rPr>
                        <a:t>}</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269240" y="1008380"/>
            <a:ext cx="6096000" cy="460375"/>
          </a:xfrm>
          <a:prstGeom prst="rect">
            <a:avLst/>
          </a:prstGeom>
          <a:noFill/>
        </p:spPr>
        <p:txBody>
          <a:bodyPr wrap="square" rtlCol="0" anchor="t">
            <a:spAutoFit/>
          </a:bodyPr>
          <a:p>
            <a:pPr marL="342900" indent="-342900" algn="l" eaLnBrk="0" fontAlgn="base" hangingPunct="0">
              <a:spcBef>
                <a:spcPct val="20000"/>
              </a:spcBef>
              <a:buNone/>
            </a:pPr>
            <a:r>
              <a:rPr lang="en-US" altLang="zh-CN" sz="2400">
                <a:solidFill>
                  <a:srgbClr val="000000"/>
                </a:solidFill>
                <a:latin typeface="微软雅黑" panose="020B0503020204020204" pitchFamily="34" charset="-122"/>
                <a:ea typeface="微软雅黑" panose="020B0503020204020204" pitchFamily="34" charset="-122"/>
                <a:cs typeface="+mn-ea"/>
                <a:sym typeface="+mn-ea"/>
              </a:rPr>
              <a:t>8. </a:t>
            </a:r>
            <a:r>
              <a:rPr lang="en-US" altLang="zh-CN" sz="2400" err="1">
                <a:solidFill>
                  <a:srgbClr val="000000"/>
                </a:solidFill>
                <a:latin typeface="微软雅黑" panose="020B0503020204020204" pitchFamily="34" charset="-122"/>
                <a:ea typeface="微软雅黑" panose="020B0503020204020204" pitchFamily="34" charset="-122"/>
                <a:cs typeface="+mn-ea"/>
                <a:sym typeface="+mn-ea"/>
              </a:rPr>
              <a:t>入队</a:t>
            </a:r>
            <a:endParaRPr lang="en-US" altLang="zh-CN" sz="2400" err="1">
              <a:solidFill>
                <a:srgbClr val="000000"/>
              </a:solidFill>
              <a:latin typeface="微软雅黑" panose="020B0503020204020204" pitchFamily="34" charset="-122"/>
              <a:ea typeface="微软雅黑" panose="020B0503020204020204" pitchFamily="34" charset="-122"/>
              <a:cs typeface="+mn-ea"/>
              <a:sym typeface="+mn-ea"/>
            </a:endParaRPr>
          </a:p>
        </p:txBody>
      </p:sp>
      <p:graphicFrame>
        <p:nvGraphicFramePr>
          <p:cNvPr id="10" name="表格 9"/>
          <p:cNvGraphicFramePr>
            <a:graphicFrameLocks noGrp="1"/>
          </p:cNvGraphicFramePr>
          <p:nvPr>
            <p:custDataLst>
              <p:tags r:id="rId2"/>
            </p:custDataLst>
          </p:nvPr>
        </p:nvGraphicFramePr>
        <p:xfrm>
          <a:off x="762000" y="1524000"/>
          <a:ext cx="8049895" cy="4858385"/>
        </p:xfrm>
        <a:graphic>
          <a:graphicData uri="http://schemas.openxmlformats.org/drawingml/2006/table">
            <a:tbl>
              <a:tblPr>
                <a:effectLst/>
                <a:tableStyleId>{5940675A-B579-460E-94D1-54222C63F5DA}</a:tableStyleId>
              </a:tblPr>
              <a:tblGrid>
                <a:gridCol w="8049895"/>
              </a:tblGrid>
              <a:tr h="4858385">
                <a:tc>
                  <a:txBody>
                    <a:bodyPr/>
                    <a:p>
                      <a:r>
                        <a:rPr lang="en-US" altLang="zh-CN" sz="16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1600" kern="1200" dirty="0" smtClean="0">
                          <a:solidFill>
                            <a:srgbClr val="000000"/>
                          </a:solidFill>
                          <a:latin typeface="微软雅黑" panose="020B0503020204020204" pitchFamily="34" charset="-122"/>
                          <a:ea typeface="微软雅黑" panose="020B0503020204020204" pitchFamily="34" charset="-122"/>
                          <a:cs typeface="+mn-ea"/>
                        </a:rPr>
                        <a:t>入队，插入</a:t>
                      </a:r>
                      <a:r>
                        <a:rPr lang="en-US" altLang="zh-CN" sz="1600" kern="1200" dirty="0" smtClean="0">
                          <a:solidFill>
                            <a:srgbClr val="000000"/>
                          </a:solidFill>
                          <a:latin typeface="微软雅黑" panose="020B0503020204020204" pitchFamily="34" charset="-122"/>
                          <a:ea typeface="微软雅黑" panose="020B0503020204020204" pitchFamily="34" charset="-122"/>
                          <a:cs typeface="+mn-ea"/>
                        </a:rPr>
                        <a:t>e</a:t>
                      </a:r>
                      <a:r>
                        <a:rPr lang="zh-CN" altLang="zh-CN" sz="1600" kern="1200" dirty="0" smtClean="0">
                          <a:solidFill>
                            <a:srgbClr val="000000"/>
                          </a:solidFill>
                          <a:latin typeface="微软雅黑" panose="020B0503020204020204" pitchFamily="34" charset="-122"/>
                          <a:ea typeface="微软雅黑" panose="020B0503020204020204" pitchFamily="34" charset="-122"/>
                          <a:cs typeface="+mn-ea"/>
                        </a:rPr>
                        <a:t>到队尾</a:t>
                      </a:r>
                      <a:endParaRPr lang="zh-CN" altLang="zh-CN" sz="16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SqQueue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&gt;::Append(const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&amp;e)</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j, k;</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if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+ 1)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m_size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队满，则扩展空间。</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new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m_size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+ 10];  </a:t>
                      </a:r>
                      <a:r>
                        <a:rPr lang="en-US"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分配新空间</a:t>
                      </a:r>
                      <a:endParaRPr lang="zh-CN"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for (j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k = 0; j &lt;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j = (j + 1)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m_size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k++) </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 </a:t>
                      </a:r>
                      <a:r>
                        <a:rPr lang="en-US"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复制元素到新空间</a:t>
                      </a:r>
                      <a:endParaRPr lang="zh-CN" altLang="zh-CN" sz="1600" kern="1200" dirty="0" smtClean="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delete[]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释放原空间</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newbase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0;                   	</a:t>
                      </a:r>
                      <a:r>
                        <a:rPr lang="en-US" altLang="zh-CN" sz="16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重置队头指针</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k;                     	</a:t>
                      </a:r>
                      <a:r>
                        <a:rPr lang="en-US" altLang="zh-CN" sz="16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重置队尾指针</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m_size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10;                  	</a:t>
                      </a:r>
                      <a:r>
                        <a:rPr lang="en-US" altLang="zh-CN" sz="16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重置向量空间大小</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m_base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e;</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+ 1) % </a:t>
                      </a:r>
                      <a:r>
                        <a:rPr lang="en-US" altLang="zh-CN"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m_size</a:t>
                      </a:r>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8350"/>
          </a:xfrm>
          <a:prstGeom prst="rect">
            <a:avLst/>
          </a:prstGeom>
          <a:noFill/>
        </p:spPr>
        <p:txBody>
          <a:bodyPr wrap="square" rtlCol="0">
            <a:spAutoFit/>
          </a:bodyPr>
          <a:lstStyle/>
          <a:p>
            <a:pPr algn="dist"/>
            <a:r>
              <a:rPr lang="zh-CN" altLang="en-US" sz="2800" b="1" dirty="0" smtClean="0">
                <a:solidFill>
                  <a:srgbClr val="005A9E"/>
                </a:solidFill>
                <a:latin typeface="Times New Roman" panose="02020603050405020304" pitchFamily="18" charset="0"/>
                <a:ea typeface="微软雅黑" panose="020B0503020204020204" pitchFamily="34" charset="-122"/>
              </a:rPr>
              <a:t>数</a:t>
            </a:r>
            <a:r>
              <a:rPr lang="zh-CN" altLang="en-US" sz="2800" b="1" dirty="0" smtClean="0">
                <a:solidFill>
                  <a:srgbClr val="005A9E"/>
                </a:solidFill>
                <a:latin typeface="微软雅黑" panose="020B0503020204020204" pitchFamily="34" charset="-122"/>
                <a:ea typeface="微软雅黑" panose="020B0503020204020204" pitchFamily="34" charset="-122"/>
              </a:rPr>
              <a:t>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循环队列的基本操作的实现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327660" y="1304925"/>
            <a:ext cx="6096000" cy="460375"/>
          </a:xfrm>
          <a:prstGeom prst="rect">
            <a:avLst/>
          </a:prstGeom>
          <a:noFill/>
        </p:spPr>
        <p:txBody>
          <a:bodyPr wrap="square" rtlCol="0" anchor="t">
            <a:spAutoFit/>
          </a:bodyPr>
          <a:p>
            <a:r>
              <a:rPr lang="en-US" altLang="zh-CN" sz="2400">
                <a:solidFill>
                  <a:srgbClr val="000000"/>
                </a:solidFill>
                <a:latin typeface="微软雅黑" panose="020B0503020204020204" pitchFamily="34" charset="-122"/>
                <a:ea typeface="微软雅黑" panose="020B0503020204020204" pitchFamily="34" charset="-122"/>
                <a:cs typeface="+mn-ea"/>
                <a:sym typeface="+mn-ea"/>
              </a:rPr>
              <a:t>9.</a:t>
            </a:r>
            <a:r>
              <a:rPr lang="zh-CN" altLang="zh-CN" sz="2400" dirty="0">
                <a:solidFill>
                  <a:srgbClr val="000000"/>
                </a:solidFill>
                <a:latin typeface="微软雅黑" panose="020B0503020204020204" pitchFamily="34" charset="-122"/>
                <a:ea typeface="微软雅黑" panose="020B0503020204020204" pitchFamily="34" charset="-122"/>
                <a:cs typeface="+mn-ea"/>
                <a:sym typeface="+mn-ea"/>
              </a:rPr>
              <a:t>出队</a:t>
            </a:r>
            <a:endParaRPr lang="zh-CN" altLang="zh-CN" sz="2400" dirty="0">
              <a:solidFill>
                <a:srgbClr val="000000"/>
              </a:solidFill>
              <a:latin typeface="微软雅黑" panose="020B0503020204020204" pitchFamily="34" charset="-122"/>
              <a:ea typeface="微软雅黑" panose="020B0503020204020204" pitchFamily="34" charset="-122"/>
              <a:cs typeface="+mn-ea"/>
              <a:sym typeface="+mn-ea"/>
            </a:endParaRPr>
          </a:p>
        </p:txBody>
      </p:sp>
      <p:graphicFrame>
        <p:nvGraphicFramePr>
          <p:cNvPr id="10" name="表格 9"/>
          <p:cNvGraphicFramePr>
            <a:graphicFrameLocks noGrp="1"/>
          </p:cNvGraphicFramePr>
          <p:nvPr>
            <p:custDataLst>
              <p:tags r:id="rId2"/>
            </p:custDataLst>
          </p:nvPr>
        </p:nvGraphicFramePr>
        <p:xfrm>
          <a:off x="553720" y="1871980"/>
          <a:ext cx="8357235" cy="2901950"/>
        </p:xfrm>
        <a:graphic>
          <a:graphicData uri="http://schemas.openxmlformats.org/drawingml/2006/table">
            <a:tbl>
              <a:tblPr>
                <a:effectLst/>
                <a:tableStyleId>{5940675A-B579-460E-94D1-54222C63F5DA}</a:tableStyleId>
              </a:tblPr>
              <a:tblGrid>
                <a:gridCol w="8357235"/>
              </a:tblGrid>
              <a:tr h="2901950">
                <a:tc>
                  <a:txBody>
                    <a:bodyPr/>
                    <a:p>
                      <a:r>
                        <a:rPr lang="en-US" altLang="zh-CN" sz="18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1800" kern="1200" dirty="0" smtClean="0">
                          <a:solidFill>
                            <a:srgbClr val="000000"/>
                          </a:solidFill>
                          <a:latin typeface="微软雅黑" panose="020B0503020204020204" pitchFamily="34" charset="-122"/>
                          <a:ea typeface="微软雅黑" panose="020B0503020204020204" pitchFamily="34" charset="-122"/>
                          <a:cs typeface="+mn-ea"/>
                        </a:rPr>
                        <a:t>出队。</a:t>
                      </a:r>
                      <a:r>
                        <a:rPr lang="zh-CN" altLang="zh-CN" sz="1800" kern="1200" dirty="0" smtClean="0">
                          <a:solidFill>
                            <a:srgbClr val="000000"/>
                          </a:solidFill>
                          <a:latin typeface="Times New Roman" panose="02020603050405020304" pitchFamily="18" charset="0"/>
                          <a:ea typeface="微软雅黑" panose="020B0503020204020204" pitchFamily="34" charset="-122"/>
                          <a:cs typeface="+mn-ea"/>
                        </a:rPr>
                        <a:t>先决条件是</a:t>
                      </a:r>
                      <a:r>
                        <a:rPr lang="zh-CN" altLang="zh-CN" sz="1800" kern="1200" dirty="0" smtClean="0">
                          <a:solidFill>
                            <a:srgbClr val="000000"/>
                          </a:solidFill>
                          <a:latin typeface="微软雅黑" panose="020B0503020204020204" pitchFamily="34" charset="-122"/>
                          <a:ea typeface="微软雅黑" panose="020B0503020204020204" pitchFamily="34" charset="-122"/>
                          <a:cs typeface="+mn-ea"/>
                        </a:rPr>
                        <a:t>队列非空</a:t>
                      </a:r>
                      <a:endParaRPr lang="zh-CN" altLang="zh-CN" sz="18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SqQueue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&gt;::Remove()</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+ 1) %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m_size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1" name="矩形 10"/>
          <p:cNvSpPr/>
          <p:nvPr/>
        </p:nvSpPr>
        <p:spPr>
          <a:xfrm>
            <a:off x="492760" y="5041900"/>
            <a:ext cx="7904480" cy="398780"/>
          </a:xfrm>
          <a:prstGeom prst="rect">
            <a:avLst/>
          </a:prstGeom>
        </p:spPr>
        <p:txBody>
          <a:bodyPr wrap="squar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chemeClr val="tx1"/>
                </a:solidFill>
                <a:effectLst/>
                <a:uLnTx/>
                <a:uFillTx/>
                <a:latin typeface="+mn-ea"/>
                <a:ea typeface="+mn-ea"/>
                <a:cs typeface="+mn-cs"/>
              </a:rPr>
              <a:t>在循环队列中，上述基本操作的时间复杂度均为</a:t>
            </a:r>
            <a:r>
              <a:rPr kumimoji="0" lang="en-US" altLang="zh-CN" sz="2000" b="0" i="1" u="none" strike="noStrike" kern="1200" cap="none" spc="0" normalizeH="0" baseline="0" noProof="0" dirty="0">
                <a:ln>
                  <a:noFill/>
                </a:ln>
                <a:solidFill>
                  <a:schemeClr val="tx1"/>
                </a:solidFill>
                <a:effectLst/>
                <a:uLnTx/>
                <a:uFillTx/>
                <a:latin typeface="+mn-ea"/>
                <a:ea typeface="+mn-ea"/>
                <a:cs typeface="+mn-cs"/>
              </a:rPr>
              <a:t>O</a:t>
            </a:r>
            <a:r>
              <a:rPr kumimoji="0" lang="en-US" altLang="zh-CN" sz="2000" b="0" i="0" u="none" strike="noStrike" kern="1200" cap="none" spc="0" normalizeH="0" baseline="0" noProof="0" dirty="0">
                <a:ln>
                  <a:noFill/>
                </a:ln>
                <a:solidFill>
                  <a:schemeClr val="tx1"/>
                </a:solidFill>
                <a:effectLst/>
                <a:uLnTx/>
                <a:uFillTx/>
                <a:latin typeface="+mn-ea"/>
                <a:ea typeface="+mn-ea"/>
                <a:cs typeface="+mn-cs"/>
              </a:rPr>
              <a:t>(1)</a:t>
            </a:r>
            <a:r>
              <a:rPr kumimoji="0" lang="zh-CN" altLang="zh-CN" sz="2000" b="0" i="0" u="none" strike="noStrike" kern="1200" cap="none" spc="0" normalizeH="0" baseline="0" noProof="0" dirty="0">
                <a:ln>
                  <a:noFill/>
                </a:ln>
                <a:solidFill>
                  <a:schemeClr val="tx1"/>
                </a:solidFill>
                <a:effectLst/>
                <a:uLnTx/>
                <a:uFillTx/>
                <a:latin typeface="+mn-ea"/>
                <a:ea typeface="+mn-ea"/>
                <a:cs typeface="+mn-cs"/>
              </a:rPr>
              <a:t>。</a:t>
            </a:r>
            <a:endParaRPr kumimoji="0" lang="zh-CN" altLang="zh-CN" sz="20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队列的链式存储表示——链队列</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344618" y="1770499"/>
            <a:ext cx="11366333" cy="2713451"/>
            <a:chOff x="578" y="2585"/>
            <a:chExt cx="13200" cy="2891"/>
          </a:xfrm>
        </p:grpSpPr>
        <p:sp>
          <p:nvSpPr>
            <p:cNvPr id="3076" name="Text Box 51"/>
            <p:cNvSpPr txBox="1">
              <a:spLocks noChangeArrowheads="1"/>
            </p:cNvSpPr>
            <p:nvPr/>
          </p:nvSpPr>
          <p:spPr bwMode="auto">
            <a:xfrm>
              <a:off x="578" y="2585"/>
              <a:ext cx="13200" cy="425"/>
            </a:xfrm>
            <a:prstGeom prst="rect">
              <a:avLst/>
            </a:prstGeom>
            <a:noFill/>
            <a:ln w="9525">
              <a:noFill/>
              <a:miter lim="800000"/>
            </a:ln>
          </p:spPr>
          <p:txBody>
            <a:bodyPr>
              <a:spAutoFit/>
            </a:bodyPr>
            <a:p>
              <a:pPr indent="457200" fontAlgn="auto"/>
              <a:r>
                <a:rPr lang="zh-CN" altLang="zh-CN" sz="2000" b="0" dirty="0">
                  <a:solidFill>
                    <a:srgbClr val="000000"/>
                  </a:solidFill>
                  <a:latin typeface="微软雅黑" panose="020B0503020204020204" pitchFamily="34" charset="-122"/>
                </a:rPr>
                <a:t>为了操作方便，可以用</a:t>
              </a:r>
              <a:r>
                <a:rPr lang="zh-CN" altLang="zh-CN" sz="2000" b="0" dirty="0">
                  <a:solidFill>
                    <a:srgbClr val="FF0000"/>
                  </a:solidFill>
                  <a:latin typeface="微软雅黑" panose="020B0503020204020204" pitchFamily="34" charset="-122"/>
                </a:rPr>
                <a:t>带头结点的单链表</a:t>
              </a:r>
              <a:r>
                <a:rPr lang="zh-CN" altLang="zh-CN" sz="2000" b="0" dirty="0">
                  <a:solidFill>
                    <a:srgbClr val="000000"/>
                  </a:solidFill>
                  <a:latin typeface="微软雅黑" panose="020B0503020204020204" pitchFamily="34" charset="-122"/>
                </a:rPr>
                <a:t>来表示队列，设置指向队头和队尾的两个指针</a:t>
              </a:r>
              <a:r>
                <a:rPr lang="en-US" altLang="zh-CN" sz="2000" b="0">
                  <a:solidFill>
                    <a:srgbClr val="000000"/>
                  </a:solidFill>
                  <a:latin typeface="微软雅黑" panose="020B0503020204020204" pitchFamily="34" charset="-122"/>
                </a:rPr>
                <a:t>front</a:t>
              </a:r>
              <a:r>
                <a:rPr lang="zh-CN" altLang="zh-CN" sz="2000" b="0" dirty="0">
                  <a:solidFill>
                    <a:srgbClr val="000000"/>
                  </a:solidFill>
                  <a:latin typeface="微软雅黑" panose="020B0503020204020204" pitchFamily="34" charset="-122"/>
                </a:rPr>
                <a:t>和</a:t>
              </a:r>
              <a:r>
                <a:rPr lang="en-US" altLang="zh-CN" sz="2000" b="0" err="1">
                  <a:solidFill>
                    <a:srgbClr val="000000"/>
                  </a:solidFill>
                  <a:latin typeface="微软雅黑" panose="020B0503020204020204" pitchFamily="34" charset="-122"/>
                </a:rPr>
                <a:t>reat</a:t>
              </a:r>
              <a:r>
                <a:rPr lang="en-US" altLang="zh-CN" sz="2000" b="0">
                  <a:solidFill>
                    <a:srgbClr val="000000"/>
                  </a:solidFill>
                  <a:latin typeface="微软雅黑" panose="020B0503020204020204" pitchFamily="34" charset="-122"/>
                </a:rPr>
                <a:t> </a:t>
              </a:r>
              <a:r>
                <a:rPr lang="zh-CN" altLang="zh-CN" sz="2000" b="0" dirty="0">
                  <a:solidFill>
                    <a:srgbClr val="000000"/>
                  </a:solidFill>
                  <a:latin typeface="微软雅黑" panose="020B0503020204020204" pitchFamily="34" charset="-122"/>
                </a:rPr>
                <a:t>。</a:t>
              </a:r>
              <a:endParaRPr lang="zh-CN" altLang="zh-CN" sz="2000" b="0" dirty="0">
                <a:solidFill>
                  <a:srgbClr val="000000"/>
                </a:solidFill>
                <a:latin typeface="微软雅黑" panose="020B0503020204020204" pitchFamily="34" charset="-122"/>
              </a:endParaRPr>
            </a:p>
          </p:txBody>
        </p:sp>
        <p:graphicFrame>
          <p:nvGraphicFramePr>
            <p:cNvPr id="69638" name="Object 3"/>
            <p:cNvGraphicFramePr>
              <a:graphicFrameLocks noChangeAspect="1"/>
            </p:cNvGraphicFramePr>
            <p:nvPr/>
          </p:nvGraphicFramePr>
          <p:xfrm>
            <a:off x="578" y="3436"/>
            <a:ext cx="12840" cy="2040"/>
          </p:xfrm>
          <a:graphic>
            <a:graphicData uri="http://schemas.openxmlformats.org/presentationml/2006/ole">
              <mc:AlternateContent xmlns:mc="http://schemas.openxmlformats.org/markup-compatibility/2006">
                <mc:Choice xmlns:v="urn:schemas-microsoft-com:vml" Requires="v">
                  <p:oleObj spid="_x0000_s3094" name="" r:id="rId2" imgW="4173855" imgH="635000" progId="Visio.Drawing.11">
                    <p:embed/>
                  </p:oleObj>
                </mc:Choice>
                <mc:Fallback>
                  <p:oleObj name="" r:id="rId2" imgW="4173855" imgH="635000" progId="Visio.Drawing.11">
                    <p:embed/>
                    <p:pic>
                      <p:nvPicPr>
                        <p:cNvPr id="0" name="图片 3093"/>
                        <p:cNvPicPr/>
                        <p:nvPr/>
                      </p:nvPicPr>
                      <p:blipFill>
                        <a:blip r:embed="rId3"/>
                        <a:stretch>
                          <a:fillRect/>
                        </a:stretch>
                      </p:blipFill>
                      <p:spPr>
                        <a:xfrm>
                          <a:off x="578" y="3436"/>
                          <a:ext cx="12840" cy="204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链队列类定义</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1905000" y="1272540"/>
          <a:ext cx="8284845" cy="4748530"/>
        </p:xfrm>
        <a:graphic>
          <a:graphicData uri="http://schemas.openxmlformats.org/drawingml/2006/table">
            <a:tbl>
              <a:tblPr>
                <a:effectLst/>
                <a:tableStyleId>{5940675A-B579-460E-94D1-54222C63F5DA}</a:tableStyleId>
              </a:tblPr>
              <a:tblGrid>
                <a:gridCol w="8284845"/>
              </a:tblGrid>
              <a:tr h="4748530">
                <a:tc>
                  <a:txBody>
                    <a:bodyPr/>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 </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class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链队列类</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public: </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Clear();</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bool</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Empty() const;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Length() const;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GetHead</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const;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GetLast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const;</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Append(const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Remove();</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private:	</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&gt;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队头指针</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&gt; *</a:t>
                      </a:r>
                      <a:r>
                        <a:rPr lang="en-US" altLang="zh-CN" sz="18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队尾指针</a:t>
                      </a:r>
                      <a:endParaRPr lang="zh-CN"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8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685800" y="1576070"/>
          <a:ext cx="8468995" cy="3040380"/>
        </p:xfrm>
        <a:graphic>
          <a:graphicData uri="http://schemas.openxmlformats.org/drawingml/2006/table">
            <a:tbl>
              <a:tblPr>
                <a:effectLst/>
                <a:tableStyleId>{5940675A-B579-460E-94D1-54222C63F5DA}</a:tableStyleId>
              </a:tblPr>
              <a:tblGrid>
                <a:gridCol w="8468995"/>
              </a:tblGrid>
              <a:tr h="3040380">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构造函数，构造一个空的链队列</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new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  // </a:t>
                      </a:r>
                      <a:r>
                        <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分配头结点</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-&gt;next = NULL;</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35" y="49530"/>
            <a:ext cx="7065645" cy="1346200"/>
          </a:xfrm>
          <a:prstGeom prst="rect">
            <a:avLst/>
          </a:prstGeom>
          <a:noFill/>
        </p:spPr>
        <p:txBody>
          <a:bodyPr wrap="square" rtlCol="0">
            <a:noAutofit/>
          </a:bodyPr>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内容占位符 2"/>
          <p:cNvSpPr>
            <a:spLocks noGrp="1"/>
          </p:cNvSpPr>
          <p:nvPr/>
        </p:nvSpPr>
        <p:spPr>
          <a:xfrm>
            <a:off x="457200" y="1295400"/>
            <a:ext cx="8229600" cy="685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buNone/>
            </a:pPr>
            <a:r>
              <a:rPr lang="en-US" altLang="zh-CN">
                <a:latin typeface="微软雅黑" panose="020B0503020204020204" pitchFamily="34" charset="-122"/>
                <a:ea typeface="微软雅黑" panose="020B0503020204020204" pitchFamily="34" charset="-122"/>
                <a:sym typeface="+mn-ea"/>
              </a:rPr>
              <a:t>2.</a:t>
            </a:r>
            <a:r>
              <a:rPr lang="zh-CN" altLang="zh-CN" dirty="0">
                <a:latin typeface="微软雅黑" panose="020B0503020204020204" pitchFamily="34" charset="-122"/>
                <a:ea typeface="微软雅黑" panose="020B0503020204020204" pitchFamily="34" charset="-122"/>
                <a:sym typeface="+mn-ea"/>
              </a:rPr>
              <a:t>销毁队列</a:t>
            </a:r>
            <a:endParaRPr lang="en-US" altLang="zh-CN">
              <a:latin typeface="微软雅黑" panose="020B0503020204020204" pitchFamily="34" charset="-122"/>
              <a:ea typeface="微软雅黑" panose="020B0503020204020204" pitchFamily="34" charset="-122"/>
            </a:endParaRPr>
          </a:p>
          <a:p>
            <a:pPr>
              <a:buNone/>
            </a:pPr>
            <a:endParaRPr lang="en-US" altLang="zh-CN">
              <a:latin typeface="微软雅黑" panose="020B0503020204020204" pitchFamily="34" charset="-122"/>
              <a:ea typeface="微软雅黑" panose="020B0503020204020204" pitchFamily="34" charset="-122"/>
            </a:endParaRPr>
          </a:p>
        </p:txBody>
      </p:sp>
      <p:graphicFrame>
        <p:nvGraphicFramePr>
          <p:cNvPr id="12" name="表格 11"/>
          <p:cNvGraphicFramePr>
            <a:graphicFrameLocks noGrp="1"/>
          </p:cNvGraphicFramePr>
          <p:nvPr>
            <p:custDataLst>
              <p:tags r:id="rId2"/>
            </p:custDataLst>
          </p:nvPr>
        </p:nvGraphicFramePr>
        <p:xfrm>
          <a:off x="685800" y="1905000"/>
          <a:ext cx="8702040" cy="3245485"/>
        </p:xfrm>
        <a:graphic>
          <a:graphicData uri="http://schemas.openxmlformats.org/drawingml/2006/table">
            <a:tbl>
              <a:tblPr>
                <a:effectLst/>
                <a:tableStyleId>{5940675A-B579-460E-94D1-54222C63F5DA}</a:tableStyleId>
              </a:tblPr>
              <a:tblGrid>
                <a:gridCol w="8702040"/>
              </a:tblGrid>
              <a:tr h="3245485">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析构函数，将队列结构销毁</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Clear(); </a:t>
                      </a:r>
                      <a:r>
                        <a:rPr lang="en-US" altLang="zh-CN" sz="20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成员函数</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Clear()</a:t>
                      </a:r>
                      <a:r>
                        <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的功能是释放链表中的所有元素结点</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delete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释放头结点</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9" name="文本框 8"/>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86027" name="Group 11"/>
          <p:cNvGraphicFramePr>
            <a:graphicFrameLocks noGrp="1"/>
          </p:cNvGraphicFramePr>
          <p:nvPr>
            <p:custDataLst>
              <p:tags r:id="rId2"/>
            </p:custDataLst>
          </p:nvPr>
        </p:nvGraphicFramePr>
        <p:xfrm>
          <a:off x="553720" y="1996440"/>
          <a:ext cx="8459470" cy="3813810"/>
        </p:xfrm>
        <a:graphic>
          <a:graphicData uri="http://schemas.openxmlformats.org/drawingml/2006/table">
            <a:tbl>
              <a:tblPr>
                <a:effectLst/>
                <a:tableStyleId>{5940675A-B579-460E-94D1-54222C63F5DA}</a:tableStyleId>
              </a:tblPr>
              <a:tblGrid>
                <a:gridCol w="8459470"/>
              </a:tblGrid>
              <a:tr h="3813810">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 </a:t>
                      </a:r>
                      <a:r>
                        <a:rPr kumimoji="0" lang="zh-CN" altLang="zh-CN"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将队列清空</a:t>
                      </a:r>
                      <a:endParaRPr kumimoji="0" lang="zh-CN" altLang="zh-CN"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void LinkQueue &lt;ElemType&gt;::Clear()</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LinkNode &lt; ElemType &gt; *p;</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while (m_front-&gt;next != NULL) {</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 = m_front-&gt;next;</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m_front-&gt;next = p-&gt;next;</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delete p;</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m_rear = m_front;</a:t>
                      </a:r>
                      <a:endParaRPr kumimoji="0" lang="zh-CN"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685800" y="1905000"/>
          <a:ext cx="9070340" cy="3342005"/>
        </p:xfrm>
        <a:graphic>
          <a:graphicData uri="http://schemas.openxmlformats.org/drawingml/2006/table">
            <a:tbl>
              <a:tblPr>
                <a:effectLst/>
                <a:tableStyleId>{5940675A-B579-460E-94D1-54222C63F5DA}</a:tableStyleId>
              </a:tblPr>
              <a:tblGrid>
                <a:gridCol w="9070340"/>
              </a:tblGrid>
              <a:tr h="3342005">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判队列是否为空，若为空，则返回</a:t>
                      </a:r>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true</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，否则返回</a:t>
                      </a:r>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false</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bool</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&gt;::Empty() const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return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685800" y="1905000"/>
          <a:ext cx="9287510" cy="4029075"/>
        </p:xfrm>
        <a:graphic>
          <a:graphicData uri="http://schemas.openxmlformats.org/drawingml/2006/table">
            <a:tbl>
              <a:tblPr>
                <a:effectLst/>
                <a:tableStyleId>{5940675A-B579-460E-94D1-54222C63F5DA}</a:tableStyleId>
              </a:tblPr>
              <a:tblGrid>
                <a:gridCol w="9287510"/>
              </a:tblGrid>
              <a:tr h="4029075">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返回队列中元素个数</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&gt;::Length() const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0;</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&gt; *p =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-&gt;next;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while (p != NULL) {</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p = p-&gt;next;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return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554355" y="1638300"/>
          <a:ext cx="9303385" cy="3597910"/>
        </p:xfrm>
        <a:graphic>
          <a:graphicData uri="http://schemas.openxmlformats.org/drawingml/2006/table">
            <a:tbl>
              <a:tblPr>
                <a:effectLst/>
                <a:tableStyleId>{5940675A-B579-460E-94D1-54222C63F5DA}</a:tableStyleId>
              </a:tblPr>
              <a:tblGrid>
                <a:gridCol w="9303385"/>
              </a:tblGrid>
              <a:tr h="3597910">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取队头元素。先决条件是队列不空</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GetHead</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const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return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m_front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-&gt;next-&gt;data;</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765175" y="1897380"/>
          <a:ext cx="9411970" cy="3063240"/>
        </p:xfrm>
        <a:graphic>
          <a:graphicData uri="http://schemas.openxmlformats.org/drawingml/2006/table">
            <a:tbl>
              <a:tblPr>
                <a:effectLst/>
                <a:tableStyleId>{5940675A-B579-460E-94D1-54222C63F5DA}</a:tableStyleId>
              </a:tblPr>
              <a:tblGrid>
                <a:gridCol w="9411970"/>
              </a:tblGrid>
              <a:tr h="3063240">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取队尾元素的值。先决条件是队列不空</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GetLast</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const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return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-&gt;data;</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solidFill>
              <a:srgbClr val="0070C0"/>
            </a:solid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9" name="表格 8"/>
          <p:cNvGraphicFramePr>
            <a:graphicFrameLocks noGrp="1"/>
          </p:cNvGraphicFramePr>
          <p:nvPr>
            <p:custDataLst>
              <p:tags r:id="rId2"/>
            </p:custDataLst>
          </p:nvPr>
        </p:nvGraphicFramePr>
        <p:xfrm>
          <a:off x="685800" y="1905000"/>
          <a:ext cx="8966835" cy="3641725"/>
        </p:xfrm>
        <a:graphic>
          <a:graphicData uri="http://schemas.openxmlformats.org/drawingml/2006/table">
            <a:tbl>
              <a:tblPr>
                <a:effectLst/>
                <a:tableStyleId>{5940675A-B579-460E-94D1-54222C63F5DA}</a:tableStyleId>
              </a:tblPr>
              <a:tblGrid>
                <a:gridCol w="8966835"/>
              </a:tblGrid>
              <a:tr h="3641725">
                <a:tc>
                  <a:txBody>
                    <a:bodyPr/>
                    <a:p>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 </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入队，插入</a:t>
                      </a:r>
                      <a:r>
                        <a:rPr lang="en-US" altLang="zh-CN" sz="2000" kern="1200" dirty="0" smtClean="0">
                          <a:solidFill>
                            <a:srgbClr val="000000"/>
                          </a:solidFill>
                          <a:latin typeface="微软雅黑" panose="020B0503020204020204" pitchFamily="34" charset="-122"/>
                          <a:ea typeface="微软雅黑" panose="020B0503020204020204" pitchFamily="34" charset="-122"/>
                          <a:cs typeface="+mn-ea"/>
                        </a:rPr>
                        <a:t>e</a:t>
                      </a:r>
                      <a:r>
                        <a:rPr lang="zh-CN" altLang="zh-CN" sz="2000" kern="1200" dirty="0" smtClean="0">
                          <a:solidFill>
                            <a:srgbClr val="000000"/>
                          </a:solidFill>
                          <a:latin typeface="微软雅黑" panose="020B0503020204020204" pitchFamily="34" charset="-122"/>
                          <a:ea typeface="微软雅黑" panose="020B0503020204020204" pitchFamily="34" charset="-122"/>
                          <a:cs typeface="+mn-ea"/>
                        </a:rPr>
                        <a:t>到队尾</a:t>
                      </a:r>
                      <a:endParaRPr lang="zh-CN" altLang="zh-CN" sz="2000" kern="1200" dirty="0" smtClean="0">
                        <a:solidFill>
                          <a:srgbClr val="000000"/>
                        </a:solidFill>
                        <a:latin typeface="微软雅黑" panose="020B0503020204020204" pitchFamily="34" charset="-122"/>
                        <a:ea typeface="微软雅黑" panose="020B0503020204020204" pitchFamily="34" charset="-122"/>
                        <a:cs typeface="+mn-ea"/>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template &lt;class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LinkQueue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&gt;::Append(const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&amp;e)</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&gt; *p;</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 = new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LinkNode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ElemType</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p-&gt;data = e;</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p-&gt;next = NULL;</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-&gt;next = p;</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m_rear</a:t>
                      </a:r>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p;</a:t>
                      </a:r>
                      <a:endParaRPr lang="zh-CN"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kern="1200"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aphicFrame>
        <p:nvGraphicFramePr>
          <p:cNvPr id="79883" name="表格 79882"/>
          <p:cNvGraphicFramePr/>
          <p:nvPr>
            <p:custDataLst>
              <p:tags r:id="rId2"/>
            </p:custDataLst>
          </p:nvPr>
        </p:nvGraphicFramePr>
        <p:xfrm>
          <a:off x="427355" y="1674495"/>
          <a:ext cx="9762490" cy="3880485"/>
        </p:xfrm>
        <a:graphic>
          <a:graphicData uri="http://schemas.openxmlformats.org/drawingml/2006/table">
            <a:tbl>
              <a:tblPr>
                <a:effectLst/>
                <a:tableStyleId>{5940675A-B579-460E-94D1-54222C63F5DA}</a:tableStyleId>
              </a:tblPr>
              <a:tblGrid>
                <a:gridCol w="9762490"/>
              </a:tblGrid>
              <a:tr h="3880485">
                <a:tc>
                  <a:txBody>
                    <a:bodyPr/>
                    <a:lstStyle>
                      <a:lvl1pPr marL="342900" lvl="0" indent="-342900" algn="l" rtl="0" eaLnBrk="0" fontAlgn="base" hangingPunct="0">
                        <a:spcBef>
                          <a:spcPct val="20000"/>
                        </a:spcBef>
                        <a:spcAft>
                          <a:spcPct val="0"/>
                        </a:spcAft>
                        <a:buClrTx/>
                        <a:buSzTx/>
                        <a:buFontTx/>
                        <a:buChar char="•"/>
                        <a:defRPr sz="2000" b="0">
                          <a:solidFill>
                            <a:srgbClr val="000000"/>
                          </a:solidFill>
                          <a:latin typeface="Times New Roman" panose="02020603050405020304" pitchFamily="18" charset="0"/>
                          <a:ea typeface="楷体_GB2312" panose="02010609030101010101" pitchFamily="49" charset="-122"/>
                          <a:cs typeface="+mn-ea"/>
                        </a:defRPr>
                      </a:lvl1pPr>
                      <a:lvl2pPr marL="742950" lvl="1" indent="-285750" algn="l" rtl="0" eaLnBrk="0" fontAlgn="base" hangingPunct="0">
                        <a:spcBef>
                          <a:spcPct val="20000"/>
                        </a:spcBef>
                        <a:spcAft>
                          <a:spcPct val="0"/>
                        </a:spcAft>
                        <a:buClrTx/>
                        <a:buSzTx/>
                        <a:buFontTx/>
                        <a:buChar char="–"/>
                        <a:defRPr sz="2000">
                          <a:solidFill>
                            <a:srgbClr val="000000"/>
                          </a:solidFill>
                          <a:latin typeface="Times New Roman" panose="02020603050405020304" pitchFamily="18" charset="0"/>
                          <a:ea typeface="楷体_GB2312" panose="02010609030101010101" pitchFamily="49" charset="-122"/>
                        </a:defRPr>
                      </a:lvl2pPr>
                      <a:lvl3pPr marL="1143000" lvl="2" indent="-228600" algn="l" rtl="0" eaLnBrk="0" fontAlgn="base" hangingPunct="0">
                        <a:spcBef>
                          <a:spcPct val="20000"/>
                        </a:spcBef>
                        <a:spcAft>
                          <a:spcPct val="0"/>
                        </a:spcAft>
                        <a:buClrTx/>
                        <a:buSzTx/>
                        <a:buFontTx/>
                        <a:buChar char="•"/>
                        <a:defRPr sz="2000">
                          <a:solidFill>
                            <a:srgbClr val="000000"/>
                          </a:solidFill>
                          <a:latin typeface="Times New Roman" panose="02020603050405020304" pitchFamily="18" charset="0"/>
                          <a:ea typeface="楷体_GB2312" panose="02010609030101010101" pitchFamily="49" charset="-122"/>
                        </a:defRPr>
                      </a:lvl3pPr>
                      <a:lvl4pPr marL="1600200" lvl="3" indent="-228600" algn="l" rtl="0" eaLnBrk="0" fontAlgn="base" hangingPunct="0">
                        <a:spcBef>
                          <a:spcPct val="20000"/>
                        </a:spcBef>
                        <a:spcAft>
                          <a:spcPct val="0"/>
                        </a:spcAft>
                        <a:buClrTx/>
                        <a:buSzTx/>
                        <a:buFontTx/>
                        <a:buChar char="–"/>
                        <a:defRPr sz="2000">
                          <a:solidFill>
                            <a:srgbClr val="000000"/>
                          </a:solidFill>
                          <a:latin typeface="Times New Roman" panose="02020603050405020304" pitchFamily="18" charset="0"/>
                          <a:ea typeface="楷体_GB2312" panose="02010609030101010101" pitchFamily="49" charset="-122"/>
                        </a:defRPr>
                      </a:lvl4pPr>
                      <a:lvl5pPr marL="2057400" lvl="4" indent="-228600" algn="l" rtl="0" eaLnBrk="0" fontAlgn="base" hangingPunct="0">
                        <a:spcBef>
                          <a:spcPct val="20000"/>
                        </a:spcBef>
                        <a:spcAft>
                          <a:spcPct val="0"/>
                        </a:spcAft>
                        <a:buClrTx/>
                        <a:buSzTx/>
                        <a:buFontTx/>
                        <a:buChar char="»"/>
                        <a:defRPr sz="2000">
                          <a:solidFill>
                            <a:srgbClr val="000000"/>
                          </a:solidFill>
                          <a:latin typeface="Times New Roman" panose="02020603050405020304" pitchFamily="18" charset="0"/>
                          <a:ea typeface="楷体_GB2312" panose="02010609030101010101" pitchFamily="49" charset="-122"/>
                        </a:defRPr>
                      </a:lvl5pPr>
                    </a:lstStyle>
                    <a:p>
                      <a:pPr marL="0" lvl="0" indent="0" eaLnBrk="1" hangingPunct="1">
                        <a:spcBef>
                          <a:spcPct val="0"/>
                        </a:spcBef>
                        <a:buNone/>
                      </a:pPr>
                      <a:r>
                        <a:rPr lang="en-US" altLang="zh-CN" sz="2000">
                          <a:solidFill>
                            <a:srgbClr val="000000"/>
                          </a:solidFill>
                          <a:latin typeface="微软雅黑" panose="020B0503020204020204" pitchFamily="34" charset="-122"/>
                          <a:ea typeface="微软雅黑" panose="020B0503020204020204" pitchFamily="34" charset="-122"/>
                        </a:rPr>
                        <a:t>// </a:t>
                      </a:r>
                      <a:r>
                        <a:rPr lang="zh-CN" altLang="zh-CN" sz="2000" dirty="0">
                          <a:solidFill>
                            <a:srgbClr val="000000"/>
                          </a:solidFill>
                          <a:latin typeface="微软雅黑" panose="020B0503020204020204" pitchFamily="34" charset="-122"/>
                          <a:ea typeface="微软雅黑" panose="020B0503020204020204" pitchFamily="34" charset="-122"/>
                        </a:rPr>
                        <a:t>出队。先决条件是队列不空</a:t>
                      </a:r>
                      <a:endParaRPr lang="zh-CN" altLang="zh-CN" sz="2000" dirty="0">
                        <a:latin typeface="微软雅黑" panose="020B0503020204020204" pitchFamily="34" charset="-122"/>
                        <a:ea typeface="微软雅黑" panose="020B0503020204020204" pitchFamily="34" charset="-122"/>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template &lt;class </a:t>
                      </a:r>
                      <a:r>
                        <a:rPr lang="en-US" altLang="zh-CN" sz="2000" err="1">
                          <a:solidFill>
                            <a:srgbClr val="000000"/>
                          </a:solidFill>
                          <a:ea typeface="微软雅黑" panose="020B0503020204020204" pitchFamily="34" charset="-122"/>
                          <a:cs typeface="Times New Roman" panose="02020603050405020304" pitchFamily="18" charset="0"/>
                        </a:rPr>
                        <a:t>ElemType</a:t>
                      </a:r>
                      <a:r>
                        <a:rPr lang="en-US" altLang="zh-CN" sz="2000">
                          <a:solidFill>
                            <a:srgbClr val="000000"/>
                          </a:solidFill>
                          <a:ea typeface="微软雅黑" panose="020B0503020204020204" pitchFamily="34" charset="-122"/>
                          <a:cs typeface="Times New Roman" panose="02020603050405020304" pitchFamily="18" charset="0"/>
                        </a:rPr>
                        <a:t>&gt;</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vo</a:t>
                      </a:r>
                      <a:r>
                        <a:rPr lang="en-US" altLang="zh-CN" sz="2000">
                          <a:solidFill>
                            <a:srgbClr val="000000"/>
                          </a:solidFill>
                          <a:ea typeface="微软雅黑" panose="020B0503020204020204" pitchFamily="34" charset="-122"/>
                          <a:cs typeface="Times New Roman" panose="02020603050405020304" pitchFamily="18" charset="0"/>
                        </a:rPr>
                        <a:t>id </a:t>
                      </a:r>
                      <a:r>
                        <a:rPr lang="en-US" altLang="zh-CN" sz="2000" err="1">
                          <a:solidFill>
                            <a:srgbClr val="000000"/>
                          </a:solidFill>
                          <a:ea typeface="微软雅黑" panose="020B0503020204020204" pitchFamily="34" charset="-122"/>
                          <a:cs typeface="Times New Roman" panose="02020603050405020304" pitchFamily="18" charset="0"/>
                        </a:rPr>
                        <a:t>LinkQueue</a:t>
                      </a:r>
                      <a:r>
                        <a:rPr lang="en-US" altLang="zh-CN" sz="2000">
                          <a:solidFill>
                            <a:srgbClr val="000000"/>
                          </a:solidFill>
                          <a:ea typeface="微软雅黑" panose="020B0503020204020204" pitchFamily="34" charset="-122"/>
                          <a:cs typeface="Times New Roman" panose="02020603050405020304" pitchFamily="18" charset="0"/>
                        </a:rPr>
                        <a:t> &lt;</a:t>
                      </a:r>
                      <a:r>
                        <a:rPr lang="en-US" altLang="zh-CN" sz="2000" err="1">
                          <a:solidFill>
                            <a:srgbClr val="000000"/>
                          </a:solidFill>
                          <a:ea typeface="微软雅黑" panose="020B0503020204020204" pitchFamily="34" charset="-122"/>
                          <a:cs typeface="Times New Roman" panose="02020603050405020304" pitchFamily="18" charset="0"/>
                        </a:rPr>
                        <a:t>ElemType</a:t>
                      </a:r>
                      <a:r>
                        <a:rPr lang="en-US" altLang="zh-CN" sz="2000">
                          <a:solidFill>
                            <a:srgbClr val="000000"/>
                          </a:solidFill>
                          <a:ea typeface="微软雅黑" panose="020B0503020204020204" pitchFamily="34" charset="-122"/>
                          <a:cs typeface="Times New Roman" panose="02020603050405020304" pitchFamily="18" charset="0"/>
                        </a:rPr>
                        <a:t>&gt;::Remove()</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    </a:t>
                      </a:r>
                      <a:r>
                        <a:rPr lang="en-US" altLang="zh-CN" sz="2000" err="1">
                          <a:solidFill>
                            <a:srgbClr val="000000"/>
                          </a:solidFill>
                          <a:ea typeface="微软雅黑" panose="020B0503020204020204" pitchFamily="34" charset="-122"/>
                          <a:cs typeface="Times New Roman" panose="02020603050405020304" pitchFamily="18" charset="0"/>
                        </a:rPr>
                        <a:t>LinkNode</a:t>
                      </a:r>
                      <a:r>
                        <a:rPr lang="en-US" altLang="zh-CN" sz="2000">
                          <a:solidFill>
                            <a:srgbClr val="000000"/>
                          </a:solidFill>
                          <a:ea typeface="微软雅黑" panose="020B0503020204020204" pitchFamily="34" charset="-122"/>
                          <a:cs typeface="Times New Roman" panose="02020603050405020304" pitchFamily="18" charset="0"/>
                        </a:rPr>
                        <a:t> &lt; </a:t>
                      </a:r>
                      <a:r>
                        <a:rPr lang="en-US" altLang="zh-CN" sz="2000" err="1">
                          <a:solidFill>
                            <a:srgbClr val="000000"/>
                          </a:solidFill>
                          <a:ea typeface="微软雅黑" panose="020B0503020204020204" pitchFamily="34" charset="-122"/>
                          <a:cs typeface="Times New Roman" panose="02020603050405020304" pitchFamily="18" charset="0"/>
                        </a:rPr>
                        <a:t>ElemType</a:t>
                      </a:r>
                      <a:r>
                        <a:rPr lang="en-US" altLang="zh-CN" sz="2000">
                          <a:solidFill>
                            <a:srgbClr val="000000"/>
                          </a:solidFill>
                          <a:ea typeface="微软雅黑" panose="020B0503020204020204" pitchFamily="34" charset="-122"/>
                          <a:cs typeface="Times New Roman" panose="02020603050405020304" pitchFamily="18" charset="0"/>
                        </a:rPr>
                        <a:t> &gt; *p = </a:t>
                      </a:r>
                      <a:r>
                        <a:rPr lang="en-US" altLang="zh-CN" sz="2000" err="1">
                          <a:solidFill>
                            <a:srgbClr val="000000"/>
                          </a:solidFill>
                          <a:ea typeface="微软雅黑" panose="020B0503020204020204" pitchFamily="34" charset="-122"/>
                          <a:cs typeface="Times New Roman" panose="02020603050405020304" pitchFamily="18" charset="0"/>
                        </a:rPr>
                        <a:t>m_front</a:t>
                      </a:r>
                      <a:r>
                        <a:rPr lang="en-US" altLang="zh-CN" sz="2000">
                          <a:solidFill>
                            <a:srgbClr val="000000"/>
                          </a:solidFill>
                          <a:ea typeface="微软雅黑" panose="020B0503020204020204" pitchFamily="34" charset="-122"/>
                          <a:cs typeface="Times New Roman" panose="02020603050405020304" pitchFamily="18" charset="0"/>
                        </a:rPr>
                        <a:t>-&gt;next;</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    </a:t>
                      </a:r>
                      <a:r>
                        <a:rPr lang="en-US" altLang="zh-CN" sz="2000" err="1">
                          <a:solidFill>
                            <a:srgbClr val="000000"/>
                          </a:solidFill>
                          <a:ea typeface="微软雅黑" panose="020B0503020204020204" pitchFamily="34" charset="-122"/>
                          <a:cs typeface="Times New Roman" panose="02020603050405020304" pitchFamily="18" charset="0"/>
                        </a:rPr>
                        <a:t>m_front</a:t>
                      </a:r>
                      <a:r>
                        <a:rPr lang="en-US" altLang="zh-CN" sz="2000">
                          <a:solidFill>
                            <a:srgbClr val="000000"/>
                          </a:solidFill>
                          <a:ea typeface="微软雅黑" panose="020B0503020204020204" pitchFamily="34" charset="-122"/>
                          <a:cs typeface="Times New Roman" panose="02020603050405020304" pitchFamily="18" charset="0"/>
                        </a:rPr>
                        <a:t>-&gt;next = p-&gt;next;</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    if (p == </a:t>
                      </a:r>
                      <a:r>
                        <a:rPr lang="en-US" altLang="zh-CN" sz="2000" err="1">
                          <a:solidFill>
                            <a:srgbClr val="000000"/>
                          </a:solidFill>
                          <a:ea typeface="微软雅黑" panose="020B0503020204020204" pitchFamily="34" charset="-122"/>
                          <a:cs typeface="Times New Roman" panose="02020603050405020304" pitchFamily="18" charset="0"/>
                        </a:rPr>
                        <a:t>m_rear</a:t>
                      </a:r>
                      <a:r>
                        <a:rPr lang="en-US" altLang="zh-CN" sz="2000">
                          <a:solidFill>
                            <a:srgbClr val="000000"/>
                          </a:solidFill>
                          <a:ea typeface="微软雅黑" panose="020B0503020204020204" pitchFamily="34" charset="-122"/>
                          <a:cs typeface="Times New Roman" panose="02020603050405020304" pitchFamily="18" charset="0"/>
                        </a:rPr>
                        <a:t>)</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          </a:t>
                      </a:r>
                      <a:r>
                        <a:rPr lang="en-US" altLang="zh-CN" sz="2000" err="1">
                          <a:solidFill>
                            <a:srgbClr val="000000"/>
                          </a:solidFill>
                          <a:ea typeface="微软雅黑" panose="020B0503020204020204" pitchFamily="34" charset="-122"/>
                          <a:cs typeface="Times New Roman" panose="02020603050405020304" pitchFamily="18" charset="0"/>
                        </a:rPr>
                        <a:t>m_rear</a:t>
                      </a:r>
                      <a:r>
                        <a:rPr lang="en-US" altLang="zh-CN" sz="2000">
                          <a:solidFill>
                            <a:srgbClr val="000000"/>
                          </a:solidFill>
                          <a:ea typeface="微软雅黑" panose="020B0503020204020204" pitchFamily="34" charset="-122"/>
                          <a:cs typeface="Times New Roman" panose="02020603050405020304" pitchFamily="18" charset="0"/>
                        </a:rPr>
                        <a:t> = </a:t>
                      </a:r>
                      <a:r>
                        <a:rPr lang="en-US" altLang="zh-CN" sz="2000" err="1">
                          <a:solidFill>
                            <a:srgbClr val="000000"/>
                          </a:solidFill>
                          <a:ea typeface="微软雅黑" panose="020B0503020204020204" pitchFamily="34" charset="-122"/>
                          <a:cs typeface="Times New Roman" panose="02020603050405020304" pitchFamily="18" charset="0"/>
                        </a:rPr>
                        <a:t>m_front</a:t>
                      </a:r>
                      <a:r>
                        <a:rPr lang="en-US" altLang="zh-CN" sz="2000">
                          <a:solidFill>
                            <a:srgbClr val="000000"/>
                          </a:solidFill>
                          <a:ea typeface="微软雅黑" panose="020B0503020204020204" pitchFamily="34" charset="-122"/>
                          <a:cs typeface="Times New Roman" panose="02020603050405020304" pitchFamily="18" charset="0"/>
                        </a:rPr>
                        <a:t>;  </a:t>
                      </a:r>
                      <a:r>
                        <a:rPr lang="en-US" altLang="zh-CN" sz="2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000000"/>
                          </a:solidFill>
                          <a:ea typeface="微软雅黑" panose="020B0503020204020204" pitchFamily="34" charset="-122"/>
                          <a:cs typeface="Times New Roman" panose="02020603050405020304" pitchFamily="18" charset="0"/>
                        </a:rPr>
                        <a:t>若出队后队列为空，需修改</a:t>
                      </a:r>
                      <a:r>
                        <a:rPr lang="en-US" altLang="zh-CN" sz="2000" err="1">
                          <a:solidFill>
                            <a:srgbClr val="000000"/>
                          </a:solidFill>
                          <a:ea typeface="微软雅黑" panose="020B0503020204020204" pitchFamily="34" charset="-122"/>
                          <a:cs typeface="Times New Roman" panose="02020603050405020304" pitchFamily="18" charset="0"/>
                        </a:rPr>
                        <a:t>m_rear</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delete p;</a:t>
                      </a:r>
                      <a:endParaRPr lang="zh-CN" altLang="zh-CN" sz="2000" dirty="0">
                        <a:ea typeface="微软雅黑" panose="020B0503020204020204" pitchFamily="34" charset="-122"/>
                        <a:cs typeface="Times New Roman" panose="02020603050405020304" pitchFamily="18" charset="0"/>
                      </a:endParaRPr>
                    </a:p>
                    <a:p>
                      <a:pPr marL="0" lvl="0" indent="0" eaLnBrk="1" hangingPunct="1">
                        <a:spcBef>
                          <a:spcPct val="0"/>
                        </a:spcBef>
                        <a:buNone/>
                      </a:pPr>
                      <a:r>
                        <a:rPr lang="en-US" altLang="zh-CN" sz="2000">
                          <a:solidFill>
                            <a:srgbClr val="000000"/>
                          </a:solidFill>
                          <a:ea typeface="微软雅黑" panose="020B0503020204020204" pitchFamily="34" charset="-122"/>
                          <a:cs typeface="Times New Roman" panose="02020603050405020304" pitchFamily="18" charset="0"/>
                        </a:rPr>
                        <a:t>}</a:t>
                      </a:r>
                      <a:endParaRPr lang="en-US" altLang="zh-CN" sz="2000" dirty="0">
                        <a:solidFill>
                          <a:srgbClr val="000000"/>
                        </a:solidFill>
                        <a:ea typeface="微软雅黑" panose="020B0503020204020204" pitchFamily="34" charset="-122"/>
                        <a:cs typeface="Times New Roman" panose="02020603050405020304" pitchFamily="18" charset="0"/>
                      </a:endParaRPr>
                    </a:p>
                  </a:txBody>
                  <a:tcPr marL="68580" marR="68580" marT="0" marB="0">
                    <a:lnL w="38100" cap="flat" cmpd="dbl">
                      <a:solidFill>
                        <a:srgbClr val="000000"/>
                      </a:solidFill>
                      <a:prstDash val="solid"/>
                      <a:headEnd type="none" w="med" len="med"/>
                      <a:tailEnd type="none" w="med" len="med"/>
                    </a:lnL>
                    <a:lnR w="38100" cap="flat" cmpd="dbl">
                      <a:solidFill>
                        <a:srgbClr val="000000"/>
                      </a:solidFill>
                      <a:prstDash val="solid"/>
                      <a:headEnd type="none" w="med" len="med"/>
                      <a:tailEnd type="none" w="med" len="med"/>
                    </a:lnR>
                    <a:lnT w="38100" cap="flat" cmpd="dbl">
                      <a:solidFill>
                        <a:srgbClr val="000000"/>
                      </a:solidFill>
                      <a:prstDash val="solid"/>
                      <a:headEnd type="none" w="med" len="med"/>
                      <a:tailEnd type="none" w="med" len="med"/>
                    </a:lnT>
                    <a:lnB w="38100" cap="flat" cmpd="dbl">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r>
            </a:tbl>
          </a:graphicData>
        </a:graphic>
      </p:graphicFrame>
      <p:sp>
        <p:nvSpPr>
          <p:cNvPr id="10" name="文本框 9"/>
          <p:cNvSpPr txBox="1"/>
          <p:nvPr/>
        </p:nvSpPr>
        <p:spPr>
          <a:xfrm>
            <a:off x="393065" y="106045"/>
            <a:ext cx="8004175" cy="1198880"/>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链队列的基本操作的实现</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链</a:t>
            </a:r>
            <a:r>
              <a:rPr sz="3600" b="1" dirty="0">
                <a:solidFill>
                  <a:schemeClr val="bg1"/>
                </a:solidFill>
                <a:latin typeface="微软雅黑" panose="020B0503020204020204" pitchFamily="34" charset="-122"/>
                <a:ea typeface="微软雅黑" panose="020B0503020204020204" pitchFamily="34" charset="-122"/>
                <a:sym typeface="+mn-ea"/>
              </a:rPr>
              <a:t>队列</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80899" name="内容占位符 2"/>
          <p:cNvSpPr>
            <a:spLocks noGrp="1"/>
          </p:cNvSpPr>
          <p:nvPr/>
        </p:nvSpPr>
        <p:spPr>
          <a:xfrm>
            <a:off x="278765" y="2047875"/>
            <a:ext cx="11014710" cy="198056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indent="457200">
              <a:lnSpc>
                <a:spcPct val="150000"/>
              </a:lnSpc>
              <a:spcBef>
                <a:spcPts val="0"/>
              </a:spcBef>
              <a:buNone/>
            </a:pPr>
            <a:r>
              <a:rPr lang="zh-CN" altLang="zh-CN" sz="2000" dirty="0">
                <a:latin typeface="微软雅黑" panose="020B0503020204020204" pitchFamily="34" charset="-122"/>
                <a:ea typeface="微软雅黑" panose="020B0503020204020204" pitchFamily="34" charset="-122"/>
              </a:rPr>
              <a:t>链队列的队空条件为</a:t>
            </a:r>
            <a:r>
              <a:rPr lang="en-US" altLang="zh-CN" sz="2000">
                <a:latin typeface="微软雅黑" panose="020B0503020204020204" pitchFamily="34" charset="-122"/>
                <a:ea typeface="微软雅黑" panose="020B0503020204020204" pitchFamily="34" charset="-122"/>
              </a:rPr>
              <a:t>front == rear</a:t>
            </a:r>
            <a:r>
              <a:rPr lang="zh-CN" altLang="zh-CN" sz="2000" dirty="0">
                <a:latin typeface="微软雅黑" panose="020B0503020204020204" pitchFamily="34" charset="-122"/>
                <a:ea typeface="微软雅黑" panose="020B0503020204020204" pitchFamily="34" charset="-122"/>
              </a:rPr>
              <a:t>，或者</a:t>
            </a:r>
            <a:r>
              <a:rPr lang="en-US" altLang="zh-CN" sz="2000">
                <a:latin typeface="微软雅黑" panose="020B0503020204020204" pitchFamily="34" charset="-122"/>
                <a:ea typeface="微软雅黑" panose="020B0503020204020204" pitchFamily="34" charset="-122"/>
              </a:rPr>
              <a:t>front-&gt;next == NULL</a:t>
            </a:r>
            <a:r>
              <a:rPr lang="zh-CN" altLang="zh-CN" sz="2000" dirty="0">
                <a:latin typeface="微软雅黑" panose="020B0503020204020204" pitchFamily="34" charset="-122"/>
                <a:ea typeface="微软雅黑" panose="020B0503020204020204" pitchFamily="34" charset="-122"/>
              </a:rPr>
              <a:t>，而队满只有在内存无可用空间时才发生，所以链队列特别适合于队列元素个数变化比较大的情况。</a:t>
            </a:r>
            <a:endParaRPr lang="zh-CN" altLang="zh-CN" sz="2000" dirty="0">
              <a:latin typeface="微软雅黑" panose="020B0503020204020204" pitchFamily="34" charset="-122"/>
              <a:ea typeface="微软雅黑" panose="020B0503020204020204" pitchFamily="34" charset="-122"/>
            </a:endParaRPr>
          </a:p>
        </p:txBody>
      </p:sp>
      <p:sp>
        <p:nvSpPr>
          <p:cNvPr id="9" name="内容占位符 2"/>
          <p:cNvSpPr txBox="1"/>
          <p:nvPr/>
        </p:nvSpPr>
        <p:spPr bwMode="gray">
          <a:xfrm>
            <a:off x="269240" y="3429000"/>
            <a:ext cx="11014075" cy="2519045"/>
          </a:xfrm>
          <a:prstGeom prst="rect">
            <a:avLst/>
          </a:prstGeom>
          <a:noFill/>
          <a:ln w="9525">
            <a:noFill/>
            <a:miter lim="800000"/>
          </a:ln>
        </p:spPr>
        <p:txBody>
          <a:bodyPr/>
          <a:p>
            <a:pPr marL="342900" marR="0" indent="457200" defTabSz="914400" eaLnBrk="0" fontAlgn="auto" hangingPunct="0">
              <a:lnSpc>
                <a:spcPct val="150000"/>
              </a:lnSpc>
              <a:spcBef>
                <a:spcPts val="0"/>
              </a:spcBef>
              <a:buClrTx/>
              <a:buSzTx/>
              <a:buFontTx/>
              <a:buNone/>
              <a:defRPr/>
            </a:pP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在链队列的操作中，队列的销毁、清空和求长度操作的时间复杂度为</a:t>
            </a:r>
            <a:r>
              <a:rPr kumimoji="0" lang="en-US" altLang="zh-CN" sz="2000" b="0" i="1" kern="0" cap="none" spc="0" normalizeH="0" baseline="0" noProof="0" dirty="0">
                <a:solidFill>
                  <a:schemeClr val="accent1"/>
                </a:solidFill>
                <a:latin typeface="微软雅黑" panose="020B0503020204020204" pitchFamily="34" charset="-122"/>
                <a:ea typeface="微软雅黑" panose="020B0503020204020204" pitchFamily="34" charset="-122"/>
                <a:cs typeface="+mn-ea"/>
              </a:rPr>
              <a:t>O</a:t>
            </a:r>
            <a:r>
              <a:rPr kumimoji="0" lang="en-US" altLang="zh-CN" sz="2000" b="0" kern="0" cap="none" spc="0" normalizeH="0" baseline="0" noProof="0" dirty="0">
                <a:solidFill>
                  <a:schemeClr val="accent1"/>
                </a:solidFill>
                <a:latin typeface="微软雅黑" panose="020B0503020204020204" pitchFamily="34" charset="-122"/>
                <a:ea typeface="微软雅黑" panose="020B0503020204020204" pitchFamily="34" charset="-122"/>
                <a:cs typeface="+mn-ea"/>
              </a:rPr>
              <a:t>(</a:t>
            </a:r>
            <a:r>
              <a:rPr kumimoji="0" lang="en-US" altLang="zh-CN" sz="2000" b="0" i="1" kern="0" cap="none" spc="0" normalizeH="0" baseline="0" noProof="0" dirty="0">
                <a:solidFill>
                  <a:schemeClr val="accent1"/>
                </a:solidFill>
                <a:latin typeface="微软雅黑" panose="020B0503020204020204" pitchFamily="34" charset="-122"/>
                <a:ea typeface="微软雅黑" panose="020B0503020204020204" pitchFamily="34" charset="-122"/>
                <a:cs typeface="+mn-ea"/>
              </a:rPr>
              <a:t>n</a:t>
            </a:r>
            <a:r>
              <a:rPr kumimoji="0" lang="en-US" altLang="zh-CN" sz="2000" b="0" kern="0" cap="none" spc="0" normalizeH="0" baseline="0" noProof="0" dirty="0">
                <a:solidFill>
                  <a:schemeClr val="accent1"/>
                </a:solidFill>
                <a:latin typeface="微软雅黑" panose="020B0503020204020204" pitchFamily="34" charset="-122"/>
                <a:ea typeface="微软雅黑" panose="020B0503020204020204" pitchFamily="34" charset="-122"/>
                <a:cs typeface="+mn-ea"/>
              </a:rPr>
              <a:t>)</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，因为需要对链表的每一个元素结点进行处理。队列的其余操作的时间复杂度为</a:t>
            </a:r>
            <a:r>
              <a:rPr kumimoji="0" lang="en-US" altLang="zh-CN" sz="2000" b="0" i="1" kern="0" cap="none" spc="0" normalizeH="0" baseline="0" noProof="0" dirty="0">
                <a:solidFill>
                  <a:schemeClr val="accent1"/>
                </a:solidFill>
                <a:latin typeface="微软雅黑" panose="020B0503020204020204" pitchFamily="34" charset="-122"/>
                <a:ea typeface="微软雅黑" panose="020B0503020204020204" pitchFamily="34" charset="-122"/>
                <a:cs typeface="+mn-ea"/>
              </a:rPr>
              <a:t>O</a:t>
            </a:r>
            <a:r>
              <a:rPr kumimoji="0" lang="en-US" altLang="zh-CN" sz="2000" b="0" kern="0" cap="none" spc="0" normalizeH="0" baseline="0" noProof="0" dirty="0">
                <a:solidFill>
                  <a:schemeClr val="accent1"/>
                </a:solidFill>
                <a:latin typeface="微软雅黑" panose="020B0503020204020204" pitchFamily="34" charset="-122"/>
                <a:ea typeface="微软雅黑" panose="020B0503020204020204" pitchFamily="34" charset="-122"/>
                <a:cs typeface="+mn-ea"/>
              </a:rPr>
              <a:t>(1)</a:t>
            </a:r>
            <a:r>
              <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3.2.3 队列应用举例</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1828800" y="2286000"/>
            <a:ext cx="4346575" cy="2167255"/>
            <a:chOff x="2880" y="3600"/>
            <a:chExt cx="4560" cy="2160"/>
          </a:xfrm>
        </p:grpSpPr>
        <p:sp>
          <p:nvSpPr>
            <p:cNvPr id="10" name="内容占位符 2"/>
            <p:cNvSpPr txBox="1"/>
            <p:nvPr/>
          </p:nvSpPr>
          <p:spPr bwMode="gray">
            <a:xfrm>
              <a:off x="2880" y="3600"/>
              <a:ext cx="3480" cy="960"/>
            </a:xfrm>
            <a:prstGeom prst="rect">
              <a:avLst/>
            </a:prstGeom>
            <a:noFill/>
            <a:ln w="9525">
              <a:noFill/>
              <a:miter lim="800000"/>
            </a:ln>
          </p:spPr>
          <p:txBody>
            <a:bodyPr/>
            <a:p>
              <a:pPr marL="342900" marR="0" indent="-342900" algn="l" defTabSz="914400" eaLnBrk="0" hangingPunct="0">
                <a:spcBef>
                  <a:spcPct val="20000"/>
                </a:spcBef>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rPr>
                <a:t>舞伴问题</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endParaRPr>
            </a:p>
          </p:txBody>
        </p:sp>
        <p:sp>
          <p:nvSpPr>
            <p:cNvPr id="11" name="内容占位符 2"/>
            <p:cNvSpPr txBox="1"/>
            <p:nvPr/>
          </p:nvSpPr>
          <p:spPr bwMode="gray">
            <a:xfrm>
              <a:off x="2880" y="4800"/>
              <a:ext cx="4560" cy="960"/>
            </a:xfrm>
            <a:prstGeom prst="rect">
              <a:avLst/>
            </a:prstGeom>
            <a:noFill/>
            <a:ln w="9525">
              <a:noFill/>
              <a:miter lim="800000"/>
            </a:ln>
          </p:spPr>
          <p:txBody>
            <a:bodyPr/>
            <a:p>
              <a:pPr marL="342900" marR="0" indent="-342900" algn="l" defTabSz="914400" eaLnBrk="0" hangingPunct="0">
                <a:spcBef>
                  <a:spcPct val="20000"/>
                </a:spcBef>
                <a:buClrTx/>
                <a:buSzTx/>
                <a:buFontTx/>
                <a:buNone/>
                <a:defRPr/>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rPr>
                <a:t>火车车厢重排</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774065"/>
          </a:xfrm>
          <a:prstGeom prst="rect">
            <a:avLst/>
          </a:prstGeom>
          <a:noFill/>
        </p:spPr>
        <p:txBody>
          <a:bodyPr wrap="square" rtlCol="0">
            <a:no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3.2.3 队列应用举例——舞伴问题</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553720" y="1000760"/>
            <a:ext cx="6096000" cy="398780"/>
          </a:xfrm>
          <a:prstGeom prst="rect">
            <a:avLst/>
          </a:prstGeom>
          <a:noFill/>
        </p:spPr>
        <p:txBody>
          <a:bodyPr wrap="square" rtlCol="0" anchor="t">
            <a:spAutoFit/>
          </a:bodyPr>
          <a:p>
            <a:pPr marL="342900" indent="-342900" algn="l" eaLnBrk="0" fontAlgn="base" hangingPunct="0">
              <a:spcBef>
                <a:spcPct val="20000"/>
              </a:spcBef>
              <a:buClrTx/>
              <a:buSzTx/>
              <a:buFontTx/>
              <a:buNone/>
              <a:defRPr/>
            </a:pPr>
            <a:r>
              <a:rPr lang="en-US" altLang="zh-CN" sz="2000" kern="0" noProof="0" dirty="0"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sym typeface="+mn-ea"/>
              </a:rPr>
              <a:t>【</a:t>
            </a:r>
            <a:r>
              <a:rPr lang="zh-CN" altLang="en-US" sz="2000" kern="0" noProof="0" dirty="0"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sym typeface="+mn-ea"/>
              </a:rPr>
              <a:t>例</a:t>
            </a:r>
            <a:r>
              <a:rPr lang="en-US" altLang="zh-CN" sz="2000" kern="0" noProof="0" dirty="0"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sym typeface="+mn-ea"/>
              </a:rPr>
              <a:t>3.1】</a:t>
            </a:r>
            <a:r>
              <a:rPr lang="en-US" altLang="zh-CN" sz="2000" kern="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sym typeface="+mn-ea"/>
              </a:rPr>
              <a:t> </a:t>
            </a:r>
            <a:r>
              <a:rPr lang="en-US" altLang="zh-CN" sz="2000" kern="0" noProof="0" dirty="0" err="1"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sym typeface="+mn-ea"/>
              </a:rPr>
              <a:t>舞伴问题</a:t>
            </a:r>
            <a:endParaRPr lang="en-US" altLang="zh-CN" sz="2000" kern="0" noProof="0" dirty="0" err="1"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0" name="内容占位符 2"/>
          <p:cNvSpPr txBox="1"/>
          <p:nvPr/>
        </p:nvSpPr>
        <p:spPr bwMode="gray">
          <a:xfrm>
            <a:off x="393065" y="1520190"/>
            <a:ext cx="11091545" cy="1600200"/>
          </a:xfrm>
          <a:prstGeom prst="rect">
            <a:avLst/>
          </a:prstGeom>
          <a:noFill/>
          <a:ln w="9525">
            <a:noFill/>
            <a:miter lim="800000"/>
          </a:ln>
        </p:spPr>
        <p:txBody>
          <a:bodyPr/>
          <a:p>
            <a:pPr marL="342900" marR="0" indent="457200" defTabSz="914400" eaLnBrk="0" fontAlgn="auto" hangingPunct="0">
              <a:lnSpc>
                <a:spcPct val="125000"/>
              </a:lnSpc>
              <a:spcBef>
                <a:spcPts val="0"/>
              </a:spcBef>
              <a:buClrTx/>
              <a:buSzTx/>
              <a:buFontTx/>
              <a:buNone/>
              <a:defRPr/>
            </a:pPr>
            <a:r>
              <a:rPr kumimoji="0" lang="zh-CN"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在周末舞会上，男士们和女士们进入舞厅时，各自排成一队。跳舞开始时，依次从男队和女队</a:t>
            </a:r>
            <a:r>
              <a:rPr kumimoji="0" lang="en-US"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    </a:t>
            </a:r>
            <a:r>
              <a:rPr kumimoji="0" lang="zh-CN"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rPr>
              <a:t>的队头上各出一人配成舞伴。若两队人数不相同，则较长的那一队中未配对者等待下一轮舞曲。模拟此舞伴配对问题。</a:t>
            </a:r>
            <a:endParaRPr kumimoji="0" lang="zh-CN" altLang="zh-CN" sz="2000" b="0" kern="1200" cap="none" spc="0" normalizeH="0" baseline="0" noProof="0" dirty="0">
              <a:solidFill>
                <a:schemeClr val="tx1"/>
              </a:solidFill>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786130" y="2860675"/>
            <a:ext cx="8995410" cy="475615"/>
          </a:xfrm>
          <a:prstGeom prst="rect">
            <a:avLst/>
          </a:prstGeom>
          <a:noFill/>
        </p:spPr>
        <p:txBody>
          <a:bodyPr wrap="square" rtlCol="0" anchor="t">
            <a:spAutoFit/>
          </a:bodyPr>
          <a:p>
            <a:pPr indent="0" fontAlgn="auto">
              <a:lnSpc>
                <a:spcPct val="125000"/>
              </a:lnSpc>
            </a:pPr>
            <a:r>
              <a:rPr lang="zh-CN" altLang="zh-CN" sz="2000" noProof="0" dirty="0">
                <a:solidFill>
                  <a:srgbClr val="000066">
                    <a:lumMod val="60000"/>
                    <a:lumOff val="40000"/>
                  </a:srgbClr>
                </a:solidFill>
                <a:latin typeface="微软雅黑" panose="020B0503020204020204" pitchFamily="34" charset="-122"/>
                <a:ea typeface="微软雅黑" panose="020B0503020204020204" pitchFamily="34" charset="-122"/>
                <a:cs typeface="+mn-ea"/>
                <a:sym typeface="+mn-ea"/>
              </a:rPr>
              <a:t>该问题具有典型的先进先出特性，可用队列作为算法的数据结构</a:t>
            </a:r>
            <a:endParaRPr lang="zh-CN" altLang="zh-CN" sz="2000" noProof="0" dirty="0">
              <a:solidFill>
                <a:srgbClr val="000066">
                  <a:lumMod val="60000"/>
                  <a:lumOff val="40000"/>
                </a:srgbClr>
              </a:solidFill>
              <a:latin typeface="微软雅黑" panose="020B0503020204020204" pitchFamily="34" charset="-122"/>
              <a:ea typeface="微软雅黑" panose="020B0503020204020204" pitchFamily="34" charset="-122"/>
              <a:cs typeface="+mn-ea"/>
              <a:sym typeface="+mn-ea"/>
            </a:endParaRPr>
          </a:p>
        </p:txBody>
      </p:sp>
      <p:sp>
        <p:nvSpPr>
          <p:cNvPr id="12" name="内容占位符 2"/>
          <p:cNvSpPr txBox="1"/>
          <p:nvPr/>
        </p:nvSpPr>
        <p:spPr bwMode="gray">
          <a:xfrm>
            <a:off x="393065" y="3436620"/>
            <a:ext cx="10865485" cy="2743200"/>
          </a:xfrm>
          <a:prstGeom prst="rect">
            <a:avLst/>
          </a:prstGeom>
          <a:noFill/>
          <a:ln w="9525">
            <a:noFill/>
            <a:miter lim="800000"/>
          </a:ln>
        </p:spPr>
        <p:txBody>
          <a:bodyPr/>
          <a:p>
            <a:pPr marL="342900" marR="0" indent="457200" defTabSz="914400" eaLnBrk="0" fontAlgn="auto" hangingPunct="0">
              <a:lnSpc>
                <a:spcPct val="125000"/>
              </a:lnSpc>
              <a:spcBef>
                <a:spcPts val="0"/>
              </a:spcBef>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假设进入舞厅的人员信息存放在一个数组中作为输入，然后依次扫描该数组的各个元素，并根据性别来决定是进入男队还是女队，构成两个队列。接着，依次将两队当前的队头元素出队来配成舞伴，直至某队列变空为止。此时，若某队列仍有等待配对者，算法输出此队列中等待者的人数及排在队头的等待者的名字，他（或她）将是下一轮舞曲开始时第一个可获得舞伴的人。</a:t>
            </a:r>
            <a:r>
              <a:rPr kumimoji="0" lang="zh-CN" altLang="en-US" sz="2000" b="0" kern="1200" cap="none" spc="0" normalizeH="0" baseline="0" noProof="0" dirty="0">
                <a:solidFill>
                  <a:srgbClr val="E76969">
                    <a:lumMod val="75000"/>
                  </a:srgbClr>
                </a:solidFill>
                <a:latin typeface="微软雅黑" panose="020B0503020204020204" pitchFamily="34" charset="-122"/>
                <a:ea typeface="微软雅黑" panose="020B0503020204020204" pitchFamily="34" charset="-122"/>
                <a:cs typeface="+mn-ea"/>
              </a:rPr>
              <a:t>程序见</a:t>
            </a:r>
            <a:r>
              <a:rPr kumimoji="0" lang="en-US" altLang="zh-CN" sz="2000" b="0" kern="1200" cap="none" spc="0" normalizeH="0" baseline="0" noProof="0" dirty="0">
                <a:solidFill>
                  <a:srgbClr val="E76969">
                    <a:lumMod val="75000"/>
                  </a:srgbClr>
                </a:solidFill>
                <a:latin typeface="微软雅黑" panose="020B0503020204020204" pitchFamily="34" charset="-122"/>
                <a:ea typeface="微软雅黑" panose="020B0503020204020204" pitchFamily="34" charset="-122"/>
                <a:cs typeface="+mn-ea"/>
              </a:rPr>
              <a:t>P.78</a:t>
            </a:r>
            <a:endParaRPr kumimoji="0" lang="en-US" altLang="zh-CN" sz="2000" b="0" kern="1200" cap="none" spc="0" normalizeH="0" baseline="0" noProof="0" dirty="0">
              <a:solidFill>
                <a:srgbClr val="E76969">
                  <a:lumMod val="75000"/>
                </a:srgbClr>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198880"/>
          </a:xfrm>
          <a:prstGeom prst="rect">
            <a:avLst/>
          </a:prstGeom>
          <a:noFill/>
        </p:spPr>
        <p:txBody>
          <a:bodyPr wrap="square" rtlCol="0">
            <a:spAutoFit/>
          </a:bodyPr>
          <a:p>
            <a:pPr algn="l">
              <a:buClrTx/>
              <a:buSzTx/>
              <a:buFontTx/>
            </a:pPr>
            <a:r>
              <a:rPr lang="en-US" sz="3600" b="1" dirty="0">
                <a:solidFill>
                  <a:schemeClr val="bg1"/>
                </a:solidFill>
                <a:latin typeface="微软雅黑" panose="020B0503020204020204" pitchFamily="34" charset="-122"/>
                <a:ea typeface="微软雅黑" panose="020B0503020204020204" pitchFamily="34" charset="-122"/>
                <a:sym typeface="+mn-ea"/>
              </a:rPr>
              <a:t>3.</a:t>
            </a:r>
            <a:r>
              <a:rPr sz="3600" b="1" dirty="0">
                <a:solidFill>
                  <a:schemeClr val="bg1"/>
                </a:solidFill>
                <a:latin typeface="微软雅黑" panose="020B0503020204020204" pitchFamily="34" charset="-122"/>
                <a:ea typeface="微软雅黑" panose="020B0503020204020204" pitchFamily="34" charset="-122"/>
                <a:sym typeface="+mn-ea"/>
              </a:rPr>
              <a:t>2.3 队列应用举例—火车车厢重排</a:t>
            </a: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21507" name="内容占位符 2"/>
          <p:cNvSpPr>
            <a:spLocks noGrp="1"/>
          </p:cNvSpPr>
          <p:nvPr/>
        </p:nvSpPr>
        <p:spPr>
          <a:xfrm>
            <a:off x="553720" y="1659890"/>
            <a:ext cx="8229600" cy="5334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b="0" i="0" u="none" strike="noStrike" kern="0" cap="none" spc="0" normalizeH="0" baseline="0" noProof="0" dirty="0"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a:t>
            </a:r>
            <a:r>
              <a:rPr kumimoji="0" lang="zh-CN" altLang="en-US" b="0" i="0" u="none" strike="noStrike" kern="0" cap="none" spc="0" normalizeH="0" baseline="0" noProof="0" dirty="0"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例</a:t>
            </a:r>
            <a:r>
              <a:rPr kumimoji="0" lang="en-US" altLang="zh-CN" b="0" i="0" u="none" strike="noStrike" kern="0" cap="none" spc="0" normalizeH="0" baseline="0" noProof="0" dirty="0"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3.6】</a:t>
            </a:r>
            <a:r>
              <a:rPr kumimoji="0" lang="en-US" altLang="zh-CN"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b="0" i="0" u="none" strike="noStrike" kern="0" cap="none" spc="0" normalizeH="0" baseline="0" noProof="0" dirty="0" err="1"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rPr>
              <a:t>火车车厢重排</a:t>
            </a:r>
            <a:endParaRPr kumimoji="0" lang="en-US" altLang="zh-CN" b="0" i="0" u="none" strike="noStrike" kern="0" cap="none" spc="0" normalizeH="0" baseline="0" noProof="0" dirty="0" err="1" smtClean="0">
              <a:ln>
                <a:noFill/>
              </a:ln>
              <a:solidFill>
                <a:srgbClr val="000066">
                  <a:lumMod val="60000"/>
                  <a:lumOff val="40000"/>
                </a:srgbClr>
              </a:solidFill>
              <a:effectLst/>
              <a:uLnTx/>
              <a:uFillTx/>
              <a:latin typeface="微软雅黑" panose="020B0503020204020204" pitchFamily="34" charset="-122"/>
              <a:ea typeface="微软雅黑" panose="020B0503020204020204" pitchFamily="34" charset="-122"/>
              <a:cs typeface="+mn-ea"/>
            </a:endParaRPr>
          </a:p>
        </p:txBody>
      </p:sp>
      <p:sp>
        <p:nvSpPr>
          <p:cNvPr id="9" name="内容占位符 2"/>
          <p:cNvSpPr txBox="1"/>
          <p:nvPr/>
        </p:nvSpPr>
        <p:spPr bwMode="gray">
          <a:xfrm>
            <a:off x="393065" y="2369820"/>
            <a:ext cx="10605135" cy="1600200"/>
          </a:xfrm>
          <a:prstGeom prst="rect">
            <a:avLst/>
          </a:prstGeom>
          <a:noFill/>
          <a:ln w="9525">
            <a:noFill/>
            <a:miter lim="800000"/>
          </a:ln>
        </p:spPr>
        <p:txBody>
          <a:bodyPr/>
          <a:p>
            <a:pPr marL="342900" marR="0" indent="342265" defTabSz="914400" eaLnBrk="0" fontAlgn="auto" hangingPunct="0">
              <a:lnSpc>
                <a:spcPct val="150000"/>
              </a:lnSpc>
              <a:spcBef>
                <a:spcPts val="0"/>
              </a:spcBef>
              <a:buClrTx/>
              <a:buSzTx/>
              <a:buFontTx/>
              <a:buNone/>
              <a:defRPr/>
            </a:pPr>
            <a:r>
              <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一列货运列车共有</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节车厢，每节车厢将停放在不同的车站。假定</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个车站的编号（由远到近）依次为</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 ~ </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，即货运列车按照第</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站至第</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站的次序经过这些车站。为了便于从列车上卸掉相应的车厢，车厢的编号应与车站的编号相同，使各车厢从前至后按编号</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到</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的次序排列，这样，在每个车站只需卸掉最后一节车厢即可。所以，给定任意次序的车厢，需要重新对它们进行排列。</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0" name="内容占位符 2"/>
          <p:cNvSpPr txBox="1"/>
          <p:nvPr/>
        </p:nvSpPr>
        <p:spPr bwMode="gray">
          <a:xfrm>
            <a:off x="553720" y="5034915"/>
            <a:ext cx="10401300" cy="76200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en-US" altLang="zh-CN" sz="2400" b="0" kern="1200" cap="none" spc="0" normalizeH="0" baseline="0" noProof="0" dirty="0">
                <a:solidFill>
                  <a:srgbClr val="000066">
                    <a:lumMod val="60000"/>
                    <a:lumOff val="40000"/>
                  </a:srgbClr>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66">
                    <a:lumMod val="60000"/>
                    <a:lumOff val="40000"/>
                  </a:srgbClr>
                </a:solidFill>
                <a:latin typeface="微软雅黑" panose="020B0503020204020204" pitchFamily="34" charset="-122"/>
                <a:ea typeface="微软雅黑" panose="020B0503020204020204" pitchFamily="34" charset="-122"/>
                <a:cs typeface="+mn-ea"/>
              </a:rPr>
              <a:t>该问题具有典型的先进先出特性，可用队列作为算法的数据结构。</a:t>
            </a:r>
            <a:endParaRPr kumimoji="0" lang="zh-CN" altLang="zh-CN" sz="2000" b="0" kern="1200" cap="none" spc="0" normalizeH="0" baseline="0" noProof="0" dirty="0">
              <a:solidFill>
                <a:srgbClr val="000066">
                  <a:lumMod val="60000"/>
                  <a:lumOff val="40000"/>
                </a:srgbClr>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230695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火车车厢重排</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lang="zh-CN" altLang="en-US" sz="3600" i="1" dirty="0"/>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10" name="组合 9"/>
          <p:cNvGrpSpPr/>
          <p:nvPr/>
        </p:nvGrpSpPr>
        <p:grpSpPr>
          <a:xfrm>
            <a:off x="553683" y="1421533"/>
            <a:ext cx="10696575" cy="4695372"/>
            <a:chOff x="764" y="2774"/>
            <a:chExt cx="13560" cy="7126"/>
          </a:xfrm>
        </p:grpSpPr>
        <p:sp>
          <p:nvSpPr>
            <p:cNvPr id="11" name="内容占位符 2"/>
            <p:cNvSpPr txBox="1"/>
            <p:nvPr/>
          </p:nvSpPr>
          <p:spPr bwMode="gray">
            <a:xfrm>
              <a:off x="764" y="2774"/>
              <a:ext cx="13560" cy="4680"/>
            </a:xfrm>
            <a:prstGeom prst="rect">
              <a:avLst/>
            </a:prstGeom>
            <a:noFill/>
            <a:ln w="9525">
              <a:noFill/>
              <a:miter lim="800000"/>
            </a:ln>
          </p:spPr>
          <p:txBody>
            <a:bodyPr/>
            <a:p>
              <a:pPr marL="342900" marR="0" indent="457200" defTabSz="914400" eaLnBrk="0" fontAlgn="auto" hangingPunct="0">
                <a:lnSpc>
                  <a:spcPct val="150000"/>
                </a:lnSpc>
                <a:spcBef>
                  <a:spcPts val="0"/>
                </a:spcBef>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可以通过转轨站完成车厢的重排工作，在转轨站中有一个入轨、一个出轨和</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k</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个缓冲轨，缓冲轨位于入轨和出轨之间。开始时，</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节车厢从入轨进入转轨站，它们的序号依次为</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0</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转轨结束时各车厢按照编号</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至</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的次序离开转轨站进入出轨。假定缓冲轨按先进先出的方式运作，可将它们视为队列，并且禁止将车厢从缓冲轨移至入轨，也禁止从出轨移至缓冲轨。</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下</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图给出了一个转轨站，其中有</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3</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个缓冲轨</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H</a:t>
              </a:r>
              <a:r>
                <a:rPr kumimoji="0" lang="en-US" altLang="zh-CN" sz="2000" b="0" kern="1200" cap="none" spc="0" normalizeH="0" baseline="-2500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H</a:t>
              </a:r>
              <a:r>
                <a:rPr kumimoji="0" lang="en-US" altLang="zh-CN" sz="2000" b="0" kern="1200" cap="none" spc="0" normalizeH="0" baseline="-25000" noProof="0" dirty="0">
                  <a:solidFill>
                    <a:srgbClr val="000000"/>
                  </a:solidFill>
                  <a:latin typeface="微软雅黑" panose="020B0503020204020204" pitchFamily="34" charset="-122"/>
                  <a:ea typeface="微软雅黑" panose="020B0503020204020204" pitchFamily="34" charset="-122"/>
                  <a:cs typeface="+mn-ea"/>
                </a:rPr>
                <a:t>2</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和</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H</a:t>
              </a:r>
              <a:r>
                <a:rPr kumimoji="0" lang="en-US" altLang="zh-CN" sz="2000" b="0" kern="1200" cap="none" spc="0" normalizeH="0" baseline="-25000" noProof="0" dirty="0">
                  <a:solidFill>
                    <a:srgbClr val="000000"/>
                  </a:solidFill>
                  <a:latin typeface="微软雅黑" panose="020B0503020204020204" pitchFamily="34" charset="-122"/>
                  <a:ea typeface="微软雅黑" panose="020B0503020204020204" pitchFamily="34" charset="-122"/>
                  <a:cs typeface="+mn-ea"/>
                </a:rPr>
                <a:t>3</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aphicFrame>
          <p:nvGraphicFramePr>
            <p:cNvPr id="84997" name="Object 1"/>
            <p:cNvGraphicFramePr>
              <a:graphicFrameLocks noChangeAspect="1"/>
            </p:cNvGraphicFramePr>
            <p:nvPr/>
          </p:nvGraphicFramePr>
          <p:xfrm>
            <a:off x="1373" y="6892"/>
            <a:ext cx="12240" cy="3008"/>
          </p:xfrm>
          <a:graphic>
            <a:graphicData uri="http://schemas.openxmlformats.org/presentationml/2006/ole">
              <mc:AlternateContent xmlns:mc="http://schemas.openxmlformats.org/markup-compatibility/2006">
                <mc:Choice xmlns:v="urn:schemas-microsoft-com:vml" Requires="v">
                  <p:oleObj spid="_x0000_s3079" name="" r:id="rId2" imgW="5854700" imgH="1447800" progId="Visio.Drawing.11">
                    <p:embed/>
                  </p:oleObj>
                </mc:Choice>
                <mc:Fallback>
                  <p:oleObj name="" r:id="rId2" imgW="5854700" imgH="1447800" progId="Visio.Drawing.11">
                    <p:embed/>
                    <p:pic>
                      <p:nvPicPr>
                        <p:cNvPr id="0" name="图片 3078"/>
                        <p:cNvPicPr/>
                        <p:nvPr/>
                      </p:nvPicPr>
                      <p:blipFill>
                        <a:blip r:embed="rId3"/>
                        <a:stretch>
                          <a:fillRect/>
                        </a:stretch>
                      </p:blipFill>
                      <p:spPr>
                        <a:xfrm>
                          <a:off x="1373" y="6892"/>
                          <a:ext cx="12240" cy="300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322580" y="2469515"/>
            <a:ext cx="10458450" cy="2040890"/>
          </a:xfrm>
        </p:spPr>
        <p:txBody>
          <a:bodyPr vert="horz" wrap="square" lIns="91440" tIns="45720" rIns="91440" bIns="45720" anchor="t" anchorCtr="0">
            <a:normAutofit/>
          </a:bodyPr>
          <a:p>
            <a:pPr marL="342900" indent="457200" algn="l" eaLnBrk="0" fontAlgn="base" hangingPunct="0">
              <a:lnSpc>
                <a:spcPct val="150000"/>
              </a:lnSpc>
              <a:spcBef>
                <a:spcPts val="0"/>
              </a:spcBef>
              <a:buClrTx/>
              <a:buSzTx/>
              <a:buFontTx/>
              <a:buNone/>
              <a:defRPr/>
            </a:pPr>
            <a:r>
              <a:rPr lang="en-US" altLang="zh-CN" sz="2400" noProof="0" dirty="0">
                <a:solidFill>
                  <a:srgbClr val="000000"/>
                </a:solidFill>
                <a:cs typeface="+mn-ea"/>
                <a:sym typeface="+mn-ea"/>
              </a:rPr>
              <a:t> </a:t>
            </a:r>
            <a:r>
              <a:rPr lang="zh-CN" altLang="zh-CN" sz="2000" noProof="0" dirty="0">
                <a:solidFill>
                  <a:srgbClr val="000000"/>
                </a:solidFill>
                <a:cs typeface="+mn-ea"/>
                <a:sym typeface="+mn-ea"/>
              </a:rPr>
              <a:t>在把车厢</a:t>
            </a:r>
            <a:r>
              <a:rPr lang="en-US" altLang="zh-CN" sz="2000" i="1" noProof="0" dirty="0" err="1">
                <a:solidFill>
                  <a:srgbClr val="000000"/>
                </a:solidFill>
                <a:cs typeface="+mn-ea"/>
                <a:sym typeface="+mn-ea"/>
              </a:rPr>
              <a:t>i</a:t>
            </a:r>
            <a:r>
              <a:rPr lang="zh-CN" altLang="zh-CN" sz="2000" noProof="0" dirty="0">
                <a:solidFill>
                  <a:srgbClr val="000000"/>
                </a:solidFill>
                <a:cs typeface="+mn-ea"/>
                <a:sym typeface="+mn-ea"/>
              </a:rPr>
              <a:t>移至缓冲轨时，车厢</a:t>
            </a:r>
            <a:r>
              <a:rPr lang="en-US" altLang="zh-CN" sz="2000" i="1" noProof="0" dirty="0" err="1">
                <a:solidFill>
                  <a:srgbClr val="000000"/>
                </a:solidFill>
                <a:cs typeface="+mn-ea"/>
                <a:sym typeface="+mn-ea"/>
              </a:rPr>
              <a:t>i</a:t>
            </a:r>
            <a:r>
              <a:rPr lang="zh-CN" altLang="zh-CN" sz="2000" noProof="0" dirty="0">
                <a:solidFill>
                  <a:srgbClr val="000000"/>
                </a:solidFill>
                <a:cs typeface="+mn-ea"/>
                <a:sym typeface="+mn-ea"/>
              </a:rPr>
              <a:t>应移动到这样的缓冲轨中：该缓冲轨中队尾车厢的编号小于</a:t>
            </a:r>
            <a:r>
              <a:rPr lang="en-US" altLang="zh-CN" sz="2000" i="1" noProof="0" dirty="0" err="1">
                <a:solidFill>
                  <a:srgbClr val="000000"/>
                </a:solidFill>
                <a:cs typeface="+mn-ea"/>
                <a:sym typeface="+mn-ea"/>
              </a:rPr>
              <a:t>i</a:t>
            </a:r>
            <a:r>
              <a:rPr lang="zh-CN" altLang="zh-CN" sz="2000" noProof="0" dirty="0">
                <a:solidFill>
                  <a:srgbClr val="000000"/>
                </a:solidFill>
                <a:cs typeface="+mn-ea"/>
                <a:sym typeface="+mn-ea"/>
              </a:rPr>
              <a:t>（如果有多个缓冲轨满足这一条件，则选择队尾车厢编号最大的缓冲轨）；若没有这样的缓冲轨，则选择一个空的缓冲轨。</a:t>
            </a:r>
            <a:endParaRPr kumimoji="0" lang="en-US" altLang="zh-CN" sz="2400" b="0" kern="0" cap="none" spc="0" normalizeH="0" baseline="0" noProof="0" dirty="0">
              <a:solidFill>
                <a:srgbClr val="000000"/>
              </a:solidFill>
              <a:cs typeface="+mn-ea"/>
            </a:endParaRPr>
          </a:p>
          <a:p>
            <a:pPr indent="457200">
              <a:lnSpc>
                <a:spcPct val="150000"/>
              </a:lnSpc>
              <a:buNone/>
            </a:pPr>
            <a:endParaRPr lang="zh-CN" altLang="en-US">
              <a:cs typeface="微软雅黑" panose="020B0503020204020204" pitchFamily="34" charset="-122"/>
            </a:endParaRPr>
          </a:p>
        </p:txBody>
      </p:sp>
      <p:sp>
        <p:nvSpPr>
          <p:cNvPr id="7" name="文本框 6"/>
          <p:cNvSpPr txBox="1"/>
          <p:nvPr/>
        </p:nvSpPr>
        <p:spPr>
          <a:xfrm>
            <a:off x="765175" y="1856740"/>
            <a:ext cx="10420350" cy="889635"/>
          </a:xfrm>
          <a:prstGeom prst="rect">
            <a:avLst/>
          </a:prstGeom>
          <a:noFill/>
        </p:spPr>
        <p:txBody>
          <a:bodyPr wrap="square" rtlCol="0">
            <a:noAutofit/>
          </a:bodyPr>
          <a:p>
            <a:pPr indent="457200" algn="l" fontAlgn="auto">
              <a:lnSpc>
                <a:spcPct val="150000"/>
              </a:lnSpc>
              <a:buClrTx/>
              <a:buSzTx/>
              <a:buFontTx/>
            </a:pPr>
            <a:r>
              <a:rPr lang="zh-CN" altLang="en-US" sz="2000" noProof="0" dirty="0">
                <a:solidFill>
                  <a:srgbClr val="000000"/>
                </a:solidFill>
                <a:latin typeface="微软雅黑" panose="020B0503020204020204" pitchFamily="34" charset="-122"/>
                <a:ea typeface="微软雅黑" panose="020B0503020204020204" pitchFamily="34" charset="-122"/>
                <a:cs typeface="+mn-ea"/>
                <a:sym typeface="+mn-ea"/>
              </a:rPr>
              <a:t>设</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有</a:t>
            </a:r>
            <a:r>
              <a:rPr lang="en-US" altLang="zh-CN" sz="2000" i="1" noProof="0" dirty="0">
                <a:solidFill>
                  <a:srgbClr val="000000"/>
                </a:solidFill>
                <a:latin typeface="微软雅黑" panose="020B0503020204020204" pitchFamily="34" charset="-122"/>
                <a:ea typeface="微软雅黑" panose="020B0503020204020204" pitchFamily="34" charset="-122"/>
                <a:cs typeface="+mn-ea"/>
                <a:sym typeface="+mn-ea"/>
              </a:rPr>
              <a:t>k</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个缓冲轨</a:t>
            </a:r>
            <a:r>
              <a:rPr lang="en-US" altLang="zh-CN" sz="2000" i="1" noProof="0" dirty="0">
                <a:solidFill>
                  <a:srgbClr val="000000"/>
                </a:solidFill>
                <a:latin typeface="微软雅黑" panose="020B0503020204020204" pitchFamily="34" charset="-122"/>
                <a:ea typeface="微软雅黑" panose="020B0503020204020204" pitchFamily="34" charset="-122"/>
                <a:cs typeface="+mn-ea"/>
                <a:sym typeface="+mn-ea"/>
              </a:rPr>
              <a:t>H</a:t>
            </a:r>
            <a:r>
              <a:rPr lang="en-US" altLang="zh-CN" sz="2000" i="1" baseline="-25000" noProof="0" dirty="0">
                <a:solidFill>
                  <a:srgbClr val="000000"/>
                </a:solidFill>
                <a:latin typeface="微软雅黑" panose="020B0503020204020204" pitchFamily="34" charset="-122"/>
                <a:ea typeface="微软雅黑" panose="020B0503020204020204" pitchFamily="34" charset="-122"/>
                <a:cs typeface="+mn-ea"/>
                <a:sym typeface="+mn-ea"/>
              </a:rPr>
              <a:t>1</a:t>
            </a:r>
            <a:r>
              <a:rPr lang="zh-CN" altLang="en-US" sz="2000" noProof="0" dirty="0">
                <a:solidFill>
                  <a:srgbClr val="000000"/>
                </a:solidFill>
                <a:latin typeface="微软雅黑" panose="020B0503020204020204" pitchFamily="34" charset="-122"/>
                <a:ea typeface="微软雅黑" panose="020B0503020204020204" pitchFamily="34" charset="-122"/>
                <a:cs typeface="+mn-ea"/>
                <a:sym typeface="+mn-ea"/>
              </a:rPr>
              <a:t>～</a:t>
            </a:r>
            <a:r>
              <a:rPr lang="en-US" altLang="zh-CN" sz="2000" i="1" noProof="0" dirty="0" err="1">
                <a:solidFill>
                  <a:srgbClr val="000000"/>
                </a:solidFill>
                <a:latin typeface="微软雅黑" panose="020B0503020204020204" pitchFamily="34" charset="-122"/>
                <a:ea typeface="微软雅黑" panose="020B0503020204020204" pitchFamily="34" charset="-122"/>
                <a:cs typeface="+mn-ea"/>
                <a:sym typeface="+mn-ea"/>
              </a:rPr>
              <a:t>H</a:t>
            </a:r>
            <a:r>
              <a:rPr lang="en-US" altLang="zh-CN" sz="2000" i="1" baseline="-25000" noProof="0" dirty="0" err="1">
                <a:solidFill>
                  <a:srgbClr val="000000"/>
                </a:solidFill>
                <a:latin typeface="微软雅黑" panose="020B0503020204020204" pitchFamily="34" charset="-122"/>
                <a:ea typeface="微软雅黑" panose="020B0503020204020204" pitchFamily="34" charset="-122"/>
                <a:cs typeface="+mn-ea"/>
                <a:sym typeface="+mn-ea"/>
              </a:rPr>
              <a:t>k</a:t>
            </a:r>
            <a:r>
              <a:rPr lang="en-US" altLang="zh-CN" sz="2000" i="1" baseline="-25000" noProof="0" dirty="0">
                <a:solidFill>
                  <a:srgbClr val="000000"/>
                </a:solidFill>
                <a:latin typeface="微软雅黑" panose="020B0503020204020204" pitchFamily="34" charset="-122"/>
                <a:ea typeface="微软雅黑" panose="020B0503020204020204" pitchFamily="34" charset="-122"/>
                <a:cs typeface="+mn-ea"/>
                <a:sym typeface="+mn-ea"/>
              </a:rPr>
              <a:t> </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a:t>
            </a:r>
            <a:r>
              <a:rPr lang="zh-CN" altLang="en-US" sz="2000" noProof="0" dirty="0">
                <a:solidFill>
                  <a:srgbClr val="000000"/>
                </a:solidFill>
                <a:latin typeface="微软雅黑" panose="020B0503020204020204" pitchFamily="34" charset="-122"/>
                <a:ea typeface="微软雅黑" panose="020B0503020204020204" pitchFamily="34" charset="-122"/>
                <a:cs typeface="+mn-ea"/>
                <a:sym typeface="+mn-ea"/>
              </a:rPr>
              <a:t>其中</a:t>
            </a:r>
            <a:r>
              <a:rPr lang="en-US" altLang="zh-CN" sz="2000" i="1" noProof="0" dirty="0" err="1">
                <a:solidFill>
                  <a:srgbClr val="000000"/>
                </a:solidFill>
                <a:latin typeface="微软雅黑" panose="020B0503020204020204" pitchFamily="34" charset="-122"/>
                <a:ea typeface="微软雅黑" panose="020B0503020204020204" pitchFamily="34" charset="-122"/>
                <a:cs typeface="+mn-ea"/>
                <a:sym typeface="+mn-ea"/>
              </a:rPr>
              <a:t>H</a:t>
            </a:r>
            <a:r>
              <a:rPr lang="en-US" altLang="zh-CN" sz="2000" i="1" baseline="-25000" noProof="0" dirty="0" err="1">
                <a:solidFill>
                  <a:srgbClr val="000000"/>
                </a:solidFill>
                <a:latin typeface="微软雅黑" panose="020B0503020204020204" pitchFamily="34" charset="-122"/>
                <a:ea typeface="微软雅黑" panose="020B0503020204020204" pitchFamily="34" charset="-122"/>
                <a:cs typeface="+mn-ea"/>
                <a:sym typeface="+mn-ea"/>
              </a:rPr>
              <a:t>k</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为可直接将车厢从入轨移动到出轨的通道。</a:t>
            </a:r>
            <a:endPar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endPar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230695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火车车厢重排</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lang="zh-CN" altLang="en-US" sz="3600" i="1" dirty="0"/>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98425" y="1059180"/>
            <a:ext cx="10358755" cy="5258435"/>
            <a:chOff x="167" y="1680"/>
            <a:chExt cx="13633" cy="7985"/>
          </a:xfrm>
        </p:grpSpPr>
        <p:sp>
          <p:nvSpPr>
            <p:cNvPr id="10" name="内容占位符 2"/>
            <p:cNvSpPr txBox="1"/>
            <p:nvPr/>
          </p:nvSpPr>
          <p:spPr bwMode="gray">
            <a:xfrm>
              <a:off x="167" y="1680"/>
              <a:ext cx="13633" cy="1800"/>
            </a:xfrm>
            <a:prstGeom prst="rect">
              <a:avLst/>
            </a:prstGeom>
            <a:noFill/>
            <a:ln w="9525">
              <a:noFill/>
              <a:miter lim="800000"/>
            </a:ln>
          </p:spPr>
          <p:txBody>
            <a:bodyPr/>
            <a:p>
              <a:pPr marL="342900" marR="0" indent="457200" defTabSz="914400" eaLnBrk="0" fontAlgn="auto" hangingPunct="0">
                <a:lnSpc>
                  <a:spcPct val="150000"/>
                </a:lnSpc>
                <a:spcBef>
                  <a:spcPts val="0"/>
                </a:spcBef>
                <a:buClrTx/>
                <a:buSzTx/>
                <a:buFontTx/>
                <a:buNone/>
                <a:defRPr/>
              </a:pP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假定重排</a:t>
              </a:r>
              <a:r>
                <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9</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节车厢，其初始次序为</a:t>
              </a:r>
              <a:r>
                <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3,6,9,2,4,7,1,8,5</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，同时令</a:t>
              </a:r>
              <a:r>
                <a:rPr kumimoji="0" lang="en-US" altLang="zh-CN" sz="24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k</a:t>
              </a:r>
              <a:r>
                <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 3</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，车厢重排过程如</a:t>
              </a:r>
              <a:r>
                <a:rPr kumimoji="0" lang="zh-CN" altLang="en-US"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下</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图所示。</a:t>
              </a:r>
              <a:endParaRPr kumimoji="0" lang="en-US" altLang="zh-CN"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aphicFrame>
          <p:nvGraphicFramePr>
            <p:cNvPr id="87046" name="Object 3"/>
            <p:cNvGraphicFramePr>
              <a:graphicFrameLocks noChangeAspect="1"/>
            </p:cNvGraphicFramePr>
            <p:nvPr/>
          </p:nvGraphicFramePr>
          <p:xfrm>
            <a:off x="1080" y="3480"/>
            <a:ext cx="12000" cy="3000"/>
          </p:xfrm>
          <a:graphic>
            <a:graphicData uri="http://schemas.openxmlformats.org/presentationml/2006/ole">
              <mc:AlternateContent xmlns:mc="http://schemas.openxmlformats.org/markup-compatibility/2006">
                <mc:Choice xmlns:v="urn:schemas-microsoft-com:vml" Requires="v">
                  <p:oleObj spid="_x0000_s3077" name="" r:id="rId2" imgW="6680200" imgH="1955800" progId="Visio.Drawing.11">
                    <p:embed/>
                  </p:oleObj>
                </mc:Choice>
                <mc:Fallback>
                  <p:oleObj name="" r:id="rId2" imgW="6680200" imgH="1955800" progId="Visio.Drawing.11">
                    <p:embed/>
                    <p:pic>
                      <p:nvPicPr>
                        <p:cNvPr id="0" name="图片 3076"/>
                        <p:cNvPicPr/>
                        <p:nvPr/>
                      </p:nvPicPr>
                      <p:blipFill>
                        <a:blip r:embed="rId3"/>
                        <a:stretch>
                          <a:fillRect/>
                        </a:stretch>
                      </p:blipFill>
                      <p:spPr>
                        <a:xfrm>
                          <a:off x="1080" y="3480"/>
                          <a:ext cx="12000" cy="3000"/>
                        </a:xfrm>
                        <a:prstGeom prst="rect">
                          <a:avLst/>
                        </a:prstGeom>
                        <a:noFill/>
                        <a:ln w="38100">
                          <a:noFill/>
                          <a:miter/>
                        </a:ln>
                      </p:spPr>
                    </p:pic>
                  </p:oleObj>
                </mc:Fallback>
              </mc:AlternateContent>
            </a:graphicData>
          </a:graphic>
        </p:graphicFrame>
        <p:graphicFrame>
          <p:nvGraphicFramePr>
            <p:cNvPr id="87048" name="Object 5"/>
            <p:cNvGraphicFramePr>
              <a:graphicFrameLocks noChangeAspect="1"/>
            </p:cNvGraphicFramePr>
            <p:nvPr/>
          </p:nvGraphicFramePr>
          <p:xfrm>
            <a:off x="840" y="6720"/>
            <a:ext cx="12600" cy="2945"/>
          </p:xfrm>
          <a:graphic>
            <a:graphicData uri="http://schemas.openxmlformats.org/presentationml/2006/ole">
              <mc:AlternateContent xmlns:mc="http://schemas.openxmlformats.org/markup-compatibility/2006">
                <mc:Choice xmlns:v="urn:schemas-microsoft-com:vml" Requires="v">
                  <p:oleObj spid="_x0000_s3078" name="" r:id="rId4" imgW="6680200" imgH="1955800" progId="Visio.Drawing.11">
                    <p:embed/>
                  </p:oleObj>
                </mc:Choice>
                <mc:Fallback>
                  <p:oleObj name="" r:id="rId4" imgW="6680200" imgH="1955800" progId="Visio.Drawing.11">
                    <p:embed/>
                    <p:pic>
                      <p:nvPicPr>
                        <p:cNvPr id="0" name="图片 3077"/>
                        <p:cNvPicPr/>
                        <p:nvPr/>
                      </p:nvPicPr>
                      <p:blipFill>
                        <a:blip r:embed="rId5"/>
                        <a:stretch>
                          <a:fillRect/>
                        </a:stretch>
                      </p:blipFill>
                      <p:spPr>
                        <a:xfrm>
                          <a:off x="840" y="6720"/>
                          <a:ext cx="12600" cy="294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230695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火车车厢重排</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lang="zh-CN" altLang="en-US" sz="3600" i="1" dirty="0"/>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nvSpPr>
        <p:spPr>
          <a:xfrm>
            <a:off x="554355" y="1526540"/>
            <a:ext cx="11384280" cy="3815715"/>
          </a:xfrm>
          <a:prstGeom prst="rect">
            <a:avLst/>
          </a:prstGeom>
          <a:noFill/>
        </p:spPr>
        <p:txBody>
          <a:bodyPr wrap="square" rtlCol="0" anchor="t">
            <a:noAutofit/>
          </a:bodyPr>
          <a:p>
            <a:pPr marL="342900" indent="457200" algn="l" eaLnBrk="0" fontAlgn="base" hangingPunct="0">
              <a:lnSpc>
                <a:spcPct val="150000"/>
              </a:lnSpc>
              <a:spcBef>
                <a:spcPts val="0"/>
              </a:spcBef>
              <a:buClrTx/>
              <a:buSzTx/>
              <a:buFontTx/>
              <a:defRPr/>
            </a:pP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假定重排</a:t>
            </a:r>
            <a:r>
              <a:rPr lang="en-US" altLang="zh-CN" sz="2000" i="1" noProof="0" dirty="0">
                <a:solidFill>
                  <a:srgbClr val="000000"/>
                </a:solidFill>
                <a:latin typeface="微软雅黑" panose="020B0503020204020204" pitchFamily="34" charset="-122"/>
                <a:ea typeface="微软雅黑" panose="020B0503020204020204" pitchFamily="34" charset="-122"/>
                <a:cs typeface="+mn-ea"/>
                <a:sym typeface="+mn-ea"/>
              </a:rPr>
              <a:t>n</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节车厢，可使用</a:t>
            </a:r>
            <a:r>
              <a:rPr lang="en-US" altLang="zh-CN" sz="2000" i="1" noProof="0" dirty="0">
                <a:solidFill>
                  <a:srgbClr val="000000"/>
                </a:solidFill>
                <a:latin typeface="微软雅黑" panose="020B0503020204020204" pitchFamily="34" charset="-122"/>
                <a:ea typeface="微软雅黑" panose="020B0503020204020204" pitchFamily="34" charset="-122"/>
                <a:cs typeface="+mn-ea"/>
                <a:sym typeface="+mn-ea"/>
              </a:rPr>
              <a:t>k</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个缓冲轨，将每个缓冲轨看成是一个队列，用</a:t>
            </a:r>
            <a:r>
              <a:rPr lang="en-US" altLang="zh-CN" sz="2000" noProof="0" dirty="0" err="1">
                <a:solidFill>
                  <a:srgbClr val="000000"/>
                </a:solidFill>
                <a:latin typeface="微软雅黑" panose="020B0503020204020204" pitchFamily="34" charset="-122"/>
                <a:ea typeface="微软雅黑" panose="020B0503020204020204" pitchFamily="34" charset="-122"/>
                <a:cs typeface="+mn-ea"/>
                <a:sym typeface="+mn-ea"/>
              </a:rPr>
              <a:t>nowout</a:t>
            </a:r>
            <a:r>
              <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rPr>
              <a:t>表示下一个输出至出轨的车厢编号。火车车厢重排的算法描述如下：</a:t>
            </a:r>
            <a:endParaRPr lang="zh-CN" altLang="zh-CN" sz="2000" noProof="0" dirty="0">
              <a:solidFill>
                <a:srgbClr val="000000"/>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230695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火车车厢重排</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lang="zh-CN" altLang="en-US" sz="3600" i="1" dirty="0"/>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内容占位符 2"/>
          <p:cNvSpPr txBox="1"/>
          <p:nvPr/>
        </p:nvSpPr>
        <p:spPr bwMode="gray">
          <a:xfrm>
            <a:off x="990600" y="858520"/>
            <a:ext cx="7924800" cy="5715000"/>
          </a:xfrm>
          <a:prstGeom prst="rect">
            <a:avLst/>
          </a:prstGeom>
          <a:noFill/>
          <a:ln w="9525">
            <a:noFill/>
            <a:miter lim="800000"/>
          </a:ln>
        </p:spPr>
        <p:txBody>
          <a:bodyPr/>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分别对</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k</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个队列初始化；</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nowout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 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入轨车厢序号</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 0</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3.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当nowout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&lt;=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n时</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b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b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如果入轨中第</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节车厢编号</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car[</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nowout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，则</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输出该车厢；</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nowout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否则，</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如果缓冲轨队列中有队头元素 </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nowout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，则</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输出该车厢；</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nowout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否则，将</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car[</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移至缓冲轨：</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求小于</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car[</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的最大队尾元素所在队列的编号</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j</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如果</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j</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存在，则</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把</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car[</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移至缓冲轨</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j</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否则，</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如果至少有一个空缓冲轨，则</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把</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car[</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移至一个空缓冲轨；</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否则，车厢无法重排，算法结束。</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4. </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算法结束</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8" name="文本框 97"/>
          <p:cNvSpPr txBox="1"/>
          <p:nvPr>
            <p:custDataLst>
              <p:tags r:id="rId1"/>
            </p:custDataLst>
          </p:nvPr>
        </p:nvSpPr>
        <p:spPr>
          <a:xfrm>
            <a:off x="2814747" y="6475856"/>
            <a:ext cx="2042160" cy="368300"/>
          </a:xfrm>
          <a:prstGeom prst="rect">
            <a:avLst/>
          </a:prstGeom>
          <a:noFill/>
          <a:ln>
            <a:noFill/>
          </a:ln>
        </p:spPr>
        <p:txBody>
          <a:bodyPr wrap="square" rtlCol="0">
            <a:spAutoFit/>
          </a:bodyPr>
          <a:lstStyle/>
          <a:p>
            <a:pPr algn="ctr">
              <a:buClrTx/>
              <a:buSzTx/>
              <a:buFontTx/>
            </a:pPr>
            <a:r>
              <a:rPr lang="en-US" altLang="zh-CN" b="1" dirty="0" smtClean="0">
                <a:solidFill>
                  <a:srgbClr val="0070C0"/>
                </a:solidFill>
                <a:latin typeface="微软雅黑" panose="020B0503020204020204" pitchFamily="34" charset="-122"/>
                <a:ea typeface="微软雅黑" panose="020B0503020204020204" pitchFamily="34" charset="-122"/>
              </a:rPr>
              <a:t>I</a:t>
            </a:r>
            <a:r>
              <a:rPr lang="en-US" altLang="zh-CN" b="1" dirty="0" smtClean="0">
                <a:solidFill>
                  <a:srgbClr val="005A9E"/>
                </a:solidFill>
                <a:latin typeface="微软雅黑" panose="020B0503020204020204" pitchFamily="34" charset="-122"/>
                <a:ea typeface="微软雅黑" panose="020B0503020204020204" pitchFamily="34" charset="-122"/>
              </a:rPr>
              <a:t>I. 队列</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2676525"/>
          </a:xfrm>
          <a:prstGeom prst="rect">
            <a:avLst/>
          </a:prstGeom>
          <a:noFill/>
        </p:spPr>
        <p:txBody>
          <a:bodyPr wrap="square" rtlCol="0">
            <a:spAutoFit/>
          </a:bodyPr>
          <a:p>
            <a:pPr algn="l">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火车车厢重排</a:t>
            </a:r>
            <a:endParaRPr sz="3600" b="1" dirty="0">
              <a:solidFill>
                <a:schemeClr val="bg1"/>
              </a:solidFill>
              <a:latin typeface="微软雅黑" panose="020B0503020204020204" pitchFamily="34" charset="-122"/>
              <a:ea typeface="微软雅黑" panose="020B0503020204020204" pitchFamily="34" charset="-122"/>
            </a:endParaRPr>
          </a:p>
          <a:p>
            <a:pPr algn="l">
              <a:buClrTx/>
              <a:buSzTx/>
              <a:buFontTx/>
            </a:pPr>
            <a:endParaRPr lang="zh-CN" altLang="en-US" sz="3600" i="1" dirty="0"/>
          </a:p>
          <a:p>
            <a:pPr algn="l" fontAlgn="base">
              <a:buClrTx/>
              <a:buSzTx/>
              <a:buFontTx/>
              <a:defRPr/>
            </a:pPr>
            <a:r>
              <a:rPr lang="zh-CN" altLang="en-US" sz="2400" noProof="0" dirty="0">
                <a:solidFill>
                  <a:srgbClr val="000000"/>
                </a:solidFill>
                <a:latin typeface="微软雅黑" panose="020B0503020204020204" pitchFamily="34" charset="-122"/>
                <a:ea typeface="微软雅黑" panose="020B0503020204020204" pitchFamily="34" charset="-122"/>
                <a:cs typeface="+mn-ea"/>
                <a:sym typeface="+mn-ea"/>
              </a:rPr>
              <a:t>程序见</a:t>
            </a:r>
            <a:r>
              <a:rPr lang="en-US" altLang="zh-CN" sz="2400" noProof="0" dirty="0">
                <a:solidFill>
                  <a:srgbClr val="000000"/>
                </a:solidFill>
                <a:latin typeface="微软雅黑" panose="020B0503020204020204" pitchFamily="34" charset="-122"/>
                <a:ea typeface="微软雅黑" panose="020B0503020204020204" pitchFamily="34" charset="-122"/>
                <a:cs typeface="+mn-ea"/>
                <a:sym typeface="+mn-ea"/>
              </a:rPr>
              <a:t>P.80</a:t>
            </a:r>
            <a:endPar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algn="l">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037374"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753235"/>
          </a:xfrm>
          <a:prstGeom prst="rect">
            <a:avLst/>
          </a:prstGeom>
          <a:noFill/>
        </p:spPr>
        <p:txBody>
          <a:bodyPr wrap="square" rtlCol="0">
            <a:sp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 串</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1139" name="内容占位符 2"/>
          <p:cNvSpPr>
            <a:spLocks noGrp="1"/>
          </p:cNvSpPr>
          <p:nvPr/>
        </p:nvSpPr>
        <p:spPr>
          <a:xfrm>
            <a:off x="533400" y="1447800"/>
            <a:ext cx="10447020" cy="11855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eaLnBrk="1" hangingPunct="1">
              <a:buNone/>
            </a:pPr>
            <a:r>
              <a:rPr lang="zh-CN" altLang="zh-CN" b="1" dirty="0">
                <a:latin typeface="微软雅黑" panose="020B0503020204020204" pitchFamily="34" charset="-122"/>
                <a:ea typeface="微软雅黑" panose="020B0503020204020204" pitchFamily="34" charset="-122"/>
              </a:rPr>
              <a:t>串</a:t>
            </a:r>
            <a:r>
              <a:rPr lang="zh-CN" altLang="zh-CN" dirty="0">
                <a:latin typeface="微软雅黑" panose="020B0503020204020204" pitchFamily="34" charset="-122"/>
                <a:ea typeface="微软雅黑" panose="020B0503020204020204" pitchFamily="34" charset="-122"/>
              </a:rPr>
              <a:t>即为字符串，它是一种特殊的线性表，其每个数据元素由一个字符组成。</a:t>
            </a:r>
            <a:endParaRPr lang="zh-CN" altLang="zh-CN"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033780" y="2844800"/>
            <a:ext cx="7784465" cy="1612342"/>
            <a:chOff x="1920" y="4600"/>
            <a:chExt cx="8280" cy="1306"/>
          </a:xfrm>
        </p:grpSpPr>
        <p:sp>
          <p:nvSpPr>
            <p:cNvPr id="91142" name="Text Box 29"/>
            <p:cNvSpPr txBox="1"/>
            <p:nvPr/>
          </p:nvSpPr>
          <p:spPr>
            <a:xfrm>
              <a:off x="1920" y="4600"/>
              <a:ext cx="7440" cy="473"/>
            </a:xfrm>
            <a:prstGeom prst="rect">
              <a:avLst/>
            </a:prstGeom>
            <a:noFill/>
            <a:ln w="9525">
              <a:noFill/>
            </a:ln>
          </p:spPr>
          <p:txBody>
            <a:bodyPr>
              <a:spAutoFit/>
            </a:bodyPr>
            <a:p>
              <a:pPr>
                <a:spcBef>
                  <a:spcPct val="50000"/>
                </a:spcBef>
              </a:pPr>
              <a:r>
                <a:rPr lang="zh-CN" altLang="en-US" sz="3200" b="1" kern="0" noProof="0" dirty="0">
                  <a:solidFill>
                    <a:srgbClr val="005A9E"/>
                  </a:solidFill>
                  <a:latin typeface="微软雅黑" panose="020B0503020204020204" pitchFamily="34" charset="-122"/>
                  <a:ea typeface="微软雅黑" panose="020B0503020204020204" pitchFamily="34" charset="-122"/>
                </a:rPr>
                <a:t>串的基本概念和基本操作</a:t>
              </a:r>
              <a:endParaRPr lang="en-US" altLang="zh-CN" sz="3200">
                <a:solidFill>
                  <a:srgbClr val="000000"/>
                </a:solidFill>
                <a:latin typeface="微软雅黑" panose="020B0503020204020204" pitchFamily="34" charset="-122"/>
              </a:endParaRPr>
            </a:p>
          </p:txBody>
        </p:sp>
        <p:sp>
          <p:nvSpPr>
            <p:cNvPr id="91144" name="Text Box 29"/>
            <p:cNvSpPr txBox="1"/>
            <p:nvPr/>
          </p:nvSpPr>
          <p:spPr>
            <a:xfrm>
              <a:off x="1920" y="5433"/>
              <a:ext cx="8280" cy="473"/>
            </a:xfrm>
            <a:prstGeom prst="rect">
              <a:avLst/>
            </a:prstGeom>
            <a:noFill/>
            <a:ln w="9525">
              <a:noFill/>
            </a:ln>
          </p:spPr>
          <p:txBody>
            <a:bodyPr>
              <a:spAutoFit/>
            </a:bodyPr>
            <a:p>
              <a:pPr lvl="0" algn="l">
                <a:spcBef>
                  <a:spcPct val="50000"/>
                </a:spcBef>
                <a:buClrTx/>
                <a:buSzTx/>
                <a:buFontTx/>
              </a:pPr>
              <a:r>
                <a:rPr lang="zh-CN" altLang="en-US" sz="3200" b="1" kern="0" noProof="0" dirty="0">
                  <a:solidFill>
                    <a:srgbClr val="005A9E"/>
                  </a:solidFill>
                  <a:latin typeface="微软雅黑" panose="020B0503020204020204" pitchFamily="34" charset="-122"/>
                  <a:ea typeface="微软雅黑" panose="020B0503020204020204" pitchFamily="34" charset="-122"/>
                  <a:sym typeface="+mn-ea"/>
                </a:rPr>
                <a:t>串的存储结构</a:t>
              </a:r>
              <a:endParaRPr lang="zh-CN" altLang="en-US" sz="3200" b="1" kern="0" noProof="0" dirty="0">
                <a:solidFill>
                  <a:srgbClr val="005A9E"/>
                </a:solidFill>
                <a:latin typeface="微软雅黑" panose="020B0503020204020204" pitchFamily="34" charset="-122"/>
                <a:ea typeface="微软雅黑" panose="020B0503020204020204" pitchFamily="34" charset="-122"/>
                <a:sym typeface="+mn-ea"/>
              </a:endParaRPr>
            </a:p>
          </p:txBody>
        </p:sp>
      </p:gr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3.3.1 串的基本概念和基本操作</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028" name="内容占位符 2"/>
          <p:cNvSpPr>
            <a:spLocks noGrp="1"/>
          </p:cNvSpPr>
          <p:nvPr/>
        </p:nvSpPr>
        <p:spPr>
          <a:xfrm>
            <a:off x="533400" y="1295400"/>
            <a:ext cx="10393045" cy="2872105"/>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zh-CN" sz="2400" b="1" i="0" u="none" strike="noStrike" kern="0" cap="none" spc="0" normalizeH="0" baseline="0" noProof="0" dirty="0" smtClean="0">
                <a:ln>
                  <a:noFill/>
                </a:ln>
                <a:solidFill>
                  <a:srgbClr val="E76969">
                    <a:lumMod val="50000"/>
                  </a:srgbClr>
                </a:solidFill>
                <a:effectLst/>
                <a:uLnTx/>
                <a:uFillTx/>
                <a:latin typeface="微软雅黑" panose="020B0503020204020204" pitchFamily="34" charset="-122"/>
                <a:ea typeface="微软雅黑" panose="020B0503020204020204" pitchFamily="34" charset="-122"/>
                <a:cs typeface="+mn-ea"/>
              </a:rPr>
              <a:t>串</a:t>
            </a:r>
            <a:r>
              <a:rPr kumimoji="0" lang="zh-CN" altLang="zh-CN"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是由零个或多个字符组成的有限序列。一般记为：</a:t>
            </a:r>
            <a:endParaRPr kumimoji="0" lang="zh-CN" altLang="zh-CN"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ct val="20000"/>
              </a:spcBef>
              <a:spcAft>
                <a:spcPct val="0"/>
              </a:spcAft>
              <a:buClrTx/>
              <a:buSzTx/>
              <a:buFontTx/>
              <a:buNone/>
              <a:defRPr/>
            </a:pPr>
            <a:r>
              <a:rPr kumimoji="0" lang="en-US" altLang="zh-CN"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S </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0"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1 </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0"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2</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 </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1"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n</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其中，</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S</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是串名；</a:t>
            </a:r>
            <a:endPar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引号括起来的字符序列是串值；</a:t>
            </a:r>
            <a:endPar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sz="2000" b="0" i="1"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1" u="none" strike="noStrike" kern="0" cap="none" spc="0" normalizeH="0" baseline="-25000" noProof="0" dirty="0" err="1" smtClean="0">
                <a:ln>
                  <a:noFill/>
                </a:ln>
                <a:solidFill>
                  <a:srgbClr val="000000"/>
                </a:solidFill>
                <a:effectLst/>
                <a:uLnTx/>
                <a:uFillTx/>
                <a:latin typeface="微软雅黑" panose="020B0503020204020204" pitchFamily="34" charset="-122"/>
                <a:ea typeface="微软雅黑" panose="020B0503020204020204" pitchFamily="34" charset="-122"/>
                <a:cs typeface="+mn-ea"/>
              </a:rPr>
              <a:t>i</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r>
              <a:rPr kumimoji="0" lang="en-US" altLang="zh-CN" sz="20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1</a:t>
            </a:r>
            <a:r>
              <a:rPr kumimoji="0" lang="zh-CN" altLang="zh-CN" sz="20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 </a:t>
            </a:r>
            <a:r>
              <a:rPr kumimoji="0" lang="en-US" altLang="zh-CN" sz="2000" b="1" i="1" u="none" strike="noStrike" kern="0" cap="none" spc="0" normalizeH="0" baseline="0" noProof="0" dirty="0" err="1" smtClean="0">
                <a:ln>
                  <a:noFill/>
                </a:ln>
                <a:solidFill>
                  <a:srgbClr val="FF0000"/>
                </a:solidFill>
                <a:effectLst/>
                <a:uLnTx/>
                <a:uFillTx/>
                <a:latin typeface="微软雅黑" panose="020B0503020204020204" pitchFamily="34" charset="-122"/>
                <a:ea typeface="微软雅黑" panose="020B0503020204020204" pitchFamily="34" charset="-122"/>
                <a:cs typeface="+mn-ea"/>
              </a:rPr>
              <a:t>i</a:t>
            </a:r>
            <a:r>
              <a:rPr kumimoji="0" lang="zh-CN" altLang="zh-CN" sz="2000" b="1"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a:t>
            </a:r>
            <a:r>
              <a:rPr kumimoji="0" lang="en-US" altLang="zh-CN" sz="2000" b="1" i="1"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n</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）是串中的字符，字符</a:t>
            </a:r>
            <a:r>
              <a:rPr kumimoji="0" lang="en-US" altLang="zh-CN" sz="2000" b="0" i="1"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1" u="none" strike="noStrike" kern="0" cap="none" spc="0" normalizeH="0" baseline="-25000" noProof="0" dirty="0" err="1" smtClean="0">
                <a:ln>
                  <a:noFill/>
                </a:ln>
                <a:solidFill>
                  <a:srgbClr val="000000"/>
                </a:solidFill>
                <a:effectLst/>
                <a:uLnTx/>
                <a:uFillTx/>
                <a:latin typeface="微软雅黑" panose="020B0503020204020204" pitchFamily="34" charset="-122"/>
                <a:ea typeface="微软雅黑" panose="020B0503020204020204" pitchFamily="34" charset="-122"/>
                <a:cs typeface="+mn-ea"/>
              </a:rPr>
              <a:t>i</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在串中的位置为</a:t>
            </a:r>
            <a:r>
              <a:rPr kumimoji="0" lang="en-US" altLang="zh-CN" sz="2000" b="0" i="1" u="none" strike="noStrike" kern="0" cap="none" spc="0" normalizeH="0" baseline="0" noProof="0" dirty="0" err="1" smtClean="0">
                <a:ln>
                  <a:noFill/>
                </a:ln>
                <a:solidFill>
                  <a:srgbClr val="000000"/>
                </a:solidFill>
                <a:effectLst/>
                <a:uLnTx/>
                <a:uFillTx/>
                <a:latin typeface="微软雅黑" panose="020B0503020204020204" pitchFamily="34" charset="-122"/>
                <a:ea typeface="微软雅黑" panose="020B0503020204020204" pitchFamily="34" charset="-122"/>
                <a:cs typeface="+mn-ea"/>
              </a:rPr>
              <a:t>i</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n</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是串中的字符个数，称为串的长度。</a:t>
            </a:r>
            <a:endPar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92166" name="内容占位符 2"/>
          <p:cNvSpPr txBox="1"/>
          <p:nvPr/>
        </p:nvSpPr>
        <p:spPr>
          <a:xfrm>
            <a:off x="533400" y="4334510"/>
            <a:ext cx="8458200" cy="609600"/>
          </a:xfrm>
          <a:prstGeom prst="rect">
            <a:avLst/>
          </a:prstGeom>
          <a:noFill/>
          <a:ln w="9525">
            <a:noFill/>
          </a:ln>
        </p:spPr>
        <p:txBody>
          <a:bodyPr/>
          <a:p>
            <a:r>
              <a:rPr lang="zh-CN" altLang="zh-CN" sz="2400" b="0" dirty="0">
                <a:solidFill>
                  <a:srgbClr val="000000"/>
                </a:solidFill>
                <a:latin typeface="微软雅黑" panose="020B0503020204020204" pitchFamily="34" charset="-122"/>
              </a:rPr>
              <a:t>长度为零的串称为</a:t>
            </a:r>
            <a:r>
              <a:rPr lang="zh-CN" altLang="zh-CN" sz="2400" dirty="0">
                <a:solidFill>
                  <a:srgbClr val="911717"/>
                </a:solidFill>
                <a:latin typeface="微软雅黑" panose="020B0503020204020204" pitchFamily="34" charset="-122"/>
              </a:rPr>
              <a:t>空串</a:t>
            </a:r>
            <a:r>
              <a:rPr lang="zh-CN" altLang="zh-CN" sz="2400" b="0" dirty="0">
                <a:solidFill>
                  <a:srgbClr val="000000"/>
                </a:solidFill>
                <a:latin typeface="微软雅黑" panose="020B0503020204020204" pitchFamily="34" charset="-122"/>
              </a:rPr>
              <a:t>，它不包含任何字符。记为</a:t>
            </a:r>
            <a:r>
              <a:rPr lang="en-US" altLang="zh-CN" sz="2400" b="0">
                <a:solidFill>
                  <a:srgbClr val="000000"/>
                </a:solidFill>
                <a:latin typeface="微软雅黑" panose="020B0503020204020204" pitchFamily="34" charset="-122"/>
              </a:rPr>
              <a:t>S =“”</a:t>
            </a:r>
            <a:r>
              <a:rPr lang="zh-CN" altLang="zh-CN" sz="2400" b="0" dirty="0">
                <a:solidFill>
                  <a:srgbClr val="000000"/>
                </a:solidFill>
                <a:latin typeface="微软雅黑" panose="020B0503020204020204" pitchFamily="34" charset="-122"/>
              </a:rPr>
              <a:t>。</a:t>
            </a:r>
            <a:endParaRPr lang="zh-CN" altLang="zh-CN" sz="2400" b="0" dirty="0">
              <a:solidFill>
                <a:srgbClr val="000000"/>
              </a:solidFill>
              <a:latin typeface="微软雅黑" panose="020B0503020204020204" pitchFamily="34" charset="-122"/>
            </a:endParaRPr>
          </a:p>
        </p:txBody>
      </p:sp>
      <p:sp>
        <p:nvSpPr>
          <p:cNvPr id="11" name="内容占位符 2"/>
          <p:cNvSpPr txBox="1"/>
          <p:nvPr/>
        </p:nvSpPr>
        <p:spPr bwMode="gray">
          <a:xfrm>
            <a:off x="533400" y="4944110"/>
            <a:ext cx="10843895" cy="1143000"/>
          </a:xfrm>
          <a:prstGeom prst="rect">
            <a:avLst/>
          </a:prstGeom>
          <a:noFill/>
          <a:ln w="9525">
            <a:noFill/>
            <a:miter lim="800000"/>
          </a:ln>
        </p:spPr>
        <p:txBody>
          <a:bodyPr/>
          <a:p>
            <a:pPr marR="0" defTabSz="914400">
              <a:buClrTx/>
              <a:buSzTx/>
              <a:buFontTx/>
              <a:buNone/>
              <a:defRPr/>
            </a:pP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由一个或多个空格字符组成的串称为</a:t>
            </a:r>
            <a:r>
              <a:rPr kumimoji="0" lang="zh-CN" altLang="zh-CN" sz="240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空格串</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，其长度是串中空格字符的个数。</a:t>
            </a:r>
            <a:endPar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3.3.1 串的基本概念和基本操作</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334658" y="1338730"/>
            <a:ext cx="11271523" cy="3597599"/>
            <a:chOff x="862" y="3172"/>
            <a:chExt cx="13321" cy="4083"/>
          </a:xfrm>
        </p:grpSpPr>
        <p:sp>
          <p:nvSpPr>
            <p:cNvPr id="12" name="内容占位符 2"/>
            <p:cNvSpPr txBox="1"/>
            <p:nvPr/>
          </p:nvSpPr>
          <p:spPr bwMode="gray">
            <a:xfrm>
              <a:off x="911" y="5335"/>
              <a:ext cx="13138" cy="192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串可以比较大小，串的比较是按照对应字符的</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ASCII</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码进行的。称两个串是</a:t>
              </a:r>
              <a:r>
                <a:rPr kumimoji="0" lang="zh-CN" altLang="zh-CN" sz="200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相等</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的，当且仅当这两个串的长度相等且各对应位置上的字符都相同。</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3" name="内容占位符 2"/>
            <p:cNvSpPr txBox="1"/>
            <p:nvPr/>
          </p:nvSpPr>
          <p:spPr bwMode="gray">
            <a:xfrm>
              <a:off x="863" y="3172"/>
              <a:ext cx="13320" cy="156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串中任意个连续的字符组成的子序列称为该串的</a:t>
              </a:r>
              <a:r>
                <a:rPr kumimoji="0" lang="zh-CN" altLang="zh-CN" sz="200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子串</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，包含子串的串相应地称为</a:t>
              </a:r>
              <a:r>
                <a:rPr kumimoji="0" lang="zh-CN" altLang="zh-CN" sz="200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主串</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indent="457200" defTabSz="914400" fontAlgn="auto">
                <a:lnSpc>
                  <a:spcPct val="150000"/>
                </a:lnSpc>
                <a:buClrTx/>
                <a:buSzTx/>
                <a:buFontTx/>
                <a:buNone/>
                <a:defRPr/>
              </a:pP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8" name="内容占位符 2"/>
            <p:cNvSpPr txBox="1"/>
            <p:nvPr/>
          </p:nvSpPr>
          <p:spPr bwMode="gray">
            <a:xfrm>
              <a:off x="862" y="4106"/>
              <a:ext cx="13321" cy="108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子串在主串中第一次出现时，子串的第一个字符在主串中的位置即为该</a:t>
              </a:r>
              <a:r>
                <a:rPr kumimoji="0" lang="zh-CN" altLang="zh-CN" sz="2000" kern="1200" cap="none" spc="0" normalizeH="0" baseline="0" noProof="0" dirty="0">
                  <a:solidFill>
                    <a:srgbClr val="E76969">
                      <a:lumMod val="50000"/>
                    </a:srgbClr>
                  </a:solidFill>
                  <a:latin typeface="微软雅黑" panose="020B0503020204020204" pitchFamily="34" charset="-122"/>
                  <a:ea typeface="微软雅黑" panose="020B0503020204020204" pitchFamily="34" charset="-122"/>
                  <a:cs typeface="+mn-ea"/>
                </a:rPr>
                <a:t>子串在主串中的位置</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特别地，空串是任意串的子串，任意串是其自身的子串。</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串的抽象数据类型定义</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11" name="表格 10"/>
          <p:cNvGraphicFramePr>
            <a:graphicFrameLocks noGrp="1"/>
          </p:cNvGraphicFramePr>
          <p:nvPr>
            <p:custDataLst>
              <p:tags r:id="rId3"/>
            </p:custDataLst>
          </p:nvPr>
        </p:nvGraphicFramePr>
        <p:xfrm>
          <a:off x="1577340" y="979170"/>
          <a:ext cx="9185275" cy="5461000"/>
        </p:xfrm>
        <a:graphic>
          <a:graphicData uri="http://schemas.openxmlformats.org/drawingml/2006/table">
            <a:tbl>
              <a:tblPr>
                <a:effectLst/>
                <a:tableStyleId>{5940675A-B579-460E-94D1-54222C63F5DA}</a:tableStyleId>
              </a:tblPr>
              <a:tblGrid>
                <a:gridCol w="9185275"/>
              </a:tblGrid>
              <a:tr h="5461000">
                <a:tc>
                  <a:txBody>
                    <a:bodyPr/>
                    <a:p>
                      <a:pPr indent="1270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ADT String</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数据对象：</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sz="16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600" i="1" baseline="-25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600" i="1" baseline="-25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CharacterSet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6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数据关系：</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R1 = {&lt;</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600" i="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600" i="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 | </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600" i="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sz="1600" i="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 </a:t>
                      </a:r>
                      <a:r>
                        <a:rPr lang="en-US" sz="16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=2,3,</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基本操作：</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Assign(&amp;T, chars)</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altLang="zh-CN" sz="1600" baseline="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6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chars </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是字符串常量。</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127000" algn="just">
                        <a:spcAft>
                          <a:spcPts val="0"/>
                        </a:spcAft>
                        <a:tabLst>
                          <a:tab pos="3581400" algn="l"/>
                        </a:tabLst>
                      </a:pPr>
                      <a:r>
                        <a:rPr lang="en-US" altLang="zh-CN" sz="1600" kern="1200" baseline="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kern="1200" baseline="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操作结果：生成一个值为</a:t>
                      </a:r>
                      <a:r>
                        <a:rPr lang="en-US" altLang="zh-CN" sz="1600" kern="1200" baseline="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chars</a:t>
                      </a:r>
                      <a:r>
                        <a:rPr lang="zh-CN" altLang="zh-CN" sz="1600" kern="1200" baseline="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的串</a:t>
                      </a:r>
                      <a:r>
                        <a:rPr lang="en-US" altLang="zh-CN" sz="1600" kern="1200" baseline="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Copy(&amp;T, S)</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 </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操作结果：由串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复制得串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Destroy(&amp;S)</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操作结果：销毁串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Empty(S)</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操作结果：若</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为空串，则返回</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true</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，否则返回</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Compare(S,T)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操作结果：若</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，则返回值</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；若</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 == T</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，则返回值</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0</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；若</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，则返回值</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endParaRPr lang="zh-CN" sz="16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串的抽象数据类型定义</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11" name="表格 10"/>
          <p:cNvGraphicFramePr>
            <a:graphicFrameLocks noGrp="1"/>
          </p:cNvGraphicFramePr>
          <p:nvPr>
            <p:custDataLst>
              <p:tags r:id="rId3"/>
            </p:custDataLst>
          </p:nvPr>
        </p:nvGraphicFramePr>
        <p:xfrm>
          <a:off x="1416685" y="906780"/>
          <a:ext cx="9158605" cy="5481955"/>
        </p:xfrm>
        <a:graphic>
          <a:graphicData uri="http://schemas.openxmlformats.org/drawingml/2006/table">
            <a:tbl>
              <a:tblPr>
                <a:effectLst/>
                <a:tableStyleId>{5940675A-B579-460E-94D1-54222C63F5DA}</a:tableStyleId>
              </a:tblPr>
              <a:tblGrid>
                <a:gridCol w="9158605"/>
              </a:tblGrid>
              <a:tr h="5481955">
                <a:tc>
                  <a:txBody>
                    <a:bodyPr/>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Length(S)</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初始条件：串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存在。</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操作结果：返回</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的字符个数，即串的长度。</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Concat</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(&amp;T, S1, S2)</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初始条件：串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S1</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和</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S2</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存在。</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操作结果：用</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返回由</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S1</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和</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S2</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联接而成的新串。</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SubString</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(&amp;Sub, S, </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pos</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len</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初始条件：串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存在，</a:t>
                      </a:r>
                      <a:r>
                        <a:rPr kumimoji="0" lang="en-US" alt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1≤pos≤StrLength(S)</a:t>
                      </a:r>
                      <a:r>
                        <a:rPr kumimoji="0" 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，且</a:t>
                      </a:r>
                      <a:r>
                        <a:rPr kumimoji="0" lang="en-US" alt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0≤len≤StrLength(S)–pos+1</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操作结果：用</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Sub</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返回串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的第</a:t>
                      </a:r>
                      <a:r>
                        <a:rPr kumimoji="0" lang="zh-CN" altLang="en-US"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pos</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个字符起长度为</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len</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的子串。</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Index(S, T, </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pos</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初始条件：串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和</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存在，</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是非空串，</a:t>
                      </a:r>
                      <a:r>
                        <a:rPr kumimoji="0" lang="en-US" alt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1≤pos≤StrLength(S)</a:t>
                      </a:r>
                      <a:r>
                        <a:rPr kumimoji="0" 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a:t>
                      </a:r>
                      <a:endParaRPr kumimoji="0" 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操作结果：若主串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中存在和串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值相同的子串，则返回</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在主串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中第</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pos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个字符之后第一</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次出现的位置；否则返回</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0</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Replace(&amp;S, T, V)</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初始条件：串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和</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V</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均已存在，且</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是非空串。</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操作结果：用</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V</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替换主串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中出现的所有与</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相等的不重叠的子串。</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Insert(&amp;S, </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pos</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 T)</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初始条件：串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和</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存在，</a:t>
                      </a:r>
                      <a:r>
                        <a:rPr kumimoji="0" lang="en-US" altLang="zh-CN" sz="1600" b="1" i="0" u="none" strike="noStrike" cap="none" normalizeH="0" baseline="0" dirty="0" smtClean="0">
                          <a:ln>
                            <a:noFill/>
                          </a:ln>
                          <a:solidFill>
                            <a:srgbClr val="FF0000"/>
                          </a:solidFill>
                          <a:effectLst/>
                          <a:latin typeface="微软雅黑" panose="020B0503020204020204" pitchFamily="34" charset="-122"/>
                          <a:ea typeface="微软雅黑" panose="020B0503020204020204" pitchFamily="34" charset="-122"/>
                        </a:rPr>
                        <a:t>1≤pos≤StrLength(S)+1</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endPar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457200" algn="just" defTabSz="914400" rtl="0" eaLnBrk="1" fontAlgn="base" latinLnBrk="0" hangingPunct="1">
                        <a:lnSpc>
                          <a:spcPct val="100000"/>
                        </a:lnSpc>
                        <a:spcBef>
                          <a:spcPct val="0"/>
                        </a:spcBef>
                        <a:spcAft>
                          <a:spcPct val="0"/>
                        </a:spcAft>
                        <a:buClrTx/>
                        <a:buSzTx/>
                        <a:buFontTx/>
                        <a:buNone/>
                        <a:tabLst>
                          <a:tab pos="3581400" algn="l"/>
                        </a:tabLst>
                      </a:pP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操作结果：在串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的第</a:t>
                      </a:r>
                      <a:r>
                        <a:rPr kumimoji="0" lang="en-US" altLang="zh-CN" sz="1600" b="0" i="0" u="none" strike="noStrike" cap="none" normalizeH="0" baseline="0" dirty="0" err="1" smtClean="0">
                          <a:ln>
                            <a:noFill/>
                          </a:ln>
                          <a:solidFill>
                            <a:srgbClr val="000000"/>
                          </a:solidFill>
                          <a:effectLst/>
                          <a:latin typeface="微软雅黑" panose="020B0503020204020204" pitchFamily="34" charset="-122"/>
                          <a:ea typeface="微软雅黑" panose="020B0503020204020204" pitchFamily="34" charset="-122"/>
                        </a:rPr>
                        <a:t>pos</a:t>
                      </a:r>
                      <a:r>
                        <a:rPr kumimoji="0" 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个字符之前插入串</a:t>
                      </a:r>
                      <a:r>
                        <a:rPr kumimoji="0" lang="en-US"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T</a:t>
                      </a:r>
                      <a:endParaRPr kumimoji="0" lang="zh-CN" altLang="zh-CN" sz="16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串的抽象数据类型定义</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11" name="表格 10"/>
          <p:cNvGraphicFramePr>
            <a:graphicFrameLocks noGrp="1"/>
          </p:cNvGraphicFramePr>
          <p:nvPr>
            <p:custDataLst>
              <p:tags r:id="rId3"/>
            </p:custDataLst>
          </p:nvPr>
        </p:nvGraphicFramePr>
        <p:xfrm>
          <a:off x="1367155" y="1233805"/>
          <a:ext cx="9022080" cy="4894580"/>
        </p:xfrm>
        <a:graphic>
          <a:graphicData uri="http://schemas.openxmlformats.org/drawingml/2006/table">
            <a:tbl>
              <a:tblPr>
                <a:effectLst/>
                <a:tableStyleId>{5940675A-B579-460E-94D1-54222C63F5DA}</a:tableStyleId>
              </a:tblPr>
              <a:tblGrid>
                <a:gridCol w="9022080"/>
              </a:tblGrid>
              <a:tr h="4894580">
                <a:tc>
                  <a:txBody>
                    <a:bodyPr/>
                    <a:p>
                      <a:pPr indent="457200" algn="just">
                        <a:spcAft>
                          <a:spcPts val="0"/>
                        </a:spcAft>
                        <a:tabLst>
                          <a:tab pos="3581400" algn="l"/>
                        </a:tabLst>
                      </a:pPr>
                      <a:endParaRPr lang="en-US" sz="1600" dirty="0" smtClean="0">
                        <a:latin typeface="微软雅黑" panose="020B0503020204020204" pitchFamily="34" charset="-122"/>
                        <a:ea typeface="微软雅黑" panose="020B0503020204020204" pitchFamily="34" charset="-122"/>
                      </a:endParaRPr>
                    </a:p>
                    <a:p>
                      <a:pPr indent="457200" algn="just">
                        <a:spcAft>
                          <a:spcPts val="0"/>
                        </a:spcAft>
                        <a:tabLst>
                          <a:tab pos="3581400" algn="l"/>
                        </a:tabLst>
                      </a:pPr>
                      <a:r>
                        <a:rPr lang="en-US" sz="16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Delete</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(&amp;S, pos, </a:t>
                      </a:r>
                      <a:r>
                        <a:rPr lang="en-US" sz="16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len</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1≤pos≤StrLength(S)-len+1</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操作结果：从串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中删除第</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pos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个字符起长度为</a:t>
                      </a:r>
                      <a:r>
                        <a:rPr lang="en-US" sz="16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len</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的子串。</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spcAft>
                          <a:spcPts val="0"/>
                        </a:spcAft>
                        <a:tabLst>
                          <a:tab pos="3581400" algn="l"/>
                        </a:tabLst>
                      </a:pP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Clear(&amp;S)</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初始条件：串</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685800" algn="just">
                        <a:spcAft>
                          <a:spcPts val="0"/>
                        </a:spcAft>
                        <a:tabLst>
                          <a:tab pos="3581400" algn="l"/>
                        </a:tabLst>
                      </a:pP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操作结果：将</a:t>
                      </a:r>
                      <a:r>
                        <a:rPr 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清为空串。</a:t>
                      </a:r>
                      <a:endParaRPr 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spcAft>
                          <a:spcPts val="0"/>
                        </a:spcAft>
                      </a:pPr>
                      <a:r>
                        <a:rPr lang="en-US" sz="16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sz="1600" kern="100" dirty="0">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spcAft>
                          <a:spcPts val="0"/>
                        </a:spcAft>
                      </a:pPr>
                      <a:endParaRPr lang="zh-CN" sz="16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3.3.1 串的基本概念和基本操作</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86043" y="926465"/>
            <a:ext cx="1251585" cy="523240"/>
          </a:xfrm>
          <a:prstGeom prst="rect">
            <a:avLst/>
          </a:prstGeom>
          <a:noFill/>
          <a:ln w="3175">
            <a:noFill/>
          </a:ln>
        </p:spPr>
        <p:txBody>
          <a:bodyPr wrap="none" lIns="90000" tIns="46800" rIns="90000" bIns="46800" anchor="ctr" anchorCtr="0">
            <a:spAutoFit/>
          </a:bodyPr>
          <a:p>
            <a:pPr algn="ctr"/>
            <a:r>
              <a:rPr lang="zh-CN" altLang="zh-CN" sz="2800" b="1" noProof="0" dirty="0">
                <a:ln>
                  <a:noFill/>
                </a:ln>
                <a:solidFill>
                  <a:srgbClr val="5CB1FE">
                    <a:lumMod val="50000"/>
                  </a:srgbClr>
                </a:solidFill>
                <a:effectLst/>
                <a:uLnTx/>
                <a:uFillTx/>
                <a:latin typeface="微软雅黑" panose="020B0503020204020204" pitchFamily="34" charset="-122"/>
                <a:ea typeface="微软雅黑" panose="020B0503020204020204" pitchFamily="34" charset="-122"/>
                <a:cs typeface="+mn-ea"/>
                <a:sym typeface="+mn-ea"/>
              </a:rPr>
              <a:t>例如：</a:t>
            </a:r>
            <a:endParaRPr lang="zh-CN" altLang="en-US" dirty="0">
              <a:latin typeface="微软雅黑" panose="020B0503020204020204" pitchFamily="34" charset="-122"/>
            </a:endParaRPr>
          </a:p>
        </p:txBody>
      </p:sp>
      <p:grpSp>
        <p:nvGrpSpPr>
          <p:cNvPr id="11" name="组合 10"/>
          <p:cNvGrpSpPr/>
          <p:nvPr/>
        </p:nvGrpSpPr>
        <p:grpSpPr>
          <a:xfrm>
            <a:off x="457200" y="1449070"/>
            <a:ext cx="9328785" cy="3921587"/>
            <a:chOff x="720" y="2880"/>
            <a:chExt cx="13320" cy="5616"/>
          </a:xfrm>
        </p:grpSpPr>
        <p:sp>
          <p:nvSpPr>
            <p:cNvPr id="97285" name="内容占位符 2"/>
            <p:cNvSpPr txBox="1"/>
            <p:nvPr/>
          </p:nvSpPr>
          <p:spPr>
            <a:xfrm>
              <a:off x="720" y="2880"/>
              <a:ext cx="13320" cy="1440"/>
            </a:xfrm>
            <a:prstGeom prst="rect">
              <a:avLst/>
            </a:prstGeom>
            <a:noFill/>
            <a:ln w="9525">
              <a:noFill/>
            </a:ln>
          </p:spPr>
          <p:txBody>
            <a:bodyPr/>
            <a:p>
              <a:pPr indent="457200" fontAlgn="auto">
                <a:lnSpc>
                  <a:spcPct val="150000"/>
                </a:lnSpc>
              </a:pPr>
              <a:r>
                <a:rPr lang="en-US" altLang="zh-CN" sz="2000" b="0">
                  <a:solidFill>
                    <a:srgbClr val="000000"/>
                  </a:solidFill>
                  <a:latin typeface="微软雅黑" panose="020B0503020204020204" pitchFamily="34" charset="-122"/>
                </a:rPr>
                <a:t>1. 若</a:t>
              </a:r>
              <a:r>
                <a:rPr lang="en-US" altLang="zh-CN" sz="2000" b="0">
                  <a:solidFill>
                    <a:srgbClr val="000000"/>
                  </a:solidFill>
                  <a:latin typeface="Times New Roman" panose="02020603050405020304" pitchFamily="18" charset="0"/>
                  <a:cs typeface="Times New Roman" panose="02020603050405020304" pitchFamily="18" charset="0"/>
                </a:rPr>
                <a:t>s1="This is a string."，s2="is"，</a:t>
              </a:r>
              <a:endParaRPr lang="en-US" altLang="zh-CN" sz="2000" b="0">
                <a:solidFill>
                  <a:srgbClr val="000000"/>
                </a:solidFill>
                <a:latin typeface="Times New Roman" panose="02020603050405020304" pitchFamily="18" charset="0"/>
                <a:cs typeface="Times New Roman" panose="02020603050405020304" pitchFamily="18" charset="0"/>
              </a:endParaRPr>
            </a:p>
            <a:p>
              <a:pPr indent="457200" fontAlgn="auto">
                <a:lnSpc>
                  <a:spcPct val="150000"/>
                </a:lnSpc>
              </a:pPr>
              <a:r>
                <a:rPr lang="en-US" altLang="zh-CN" sz="20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则</a:t>
              </a:r>
              <a:r>
                <a:rPr lang="en-US" altLang="zh-CN" sz="2000" b="0">
                  <a:solidFill>
                    <a:srgbClr val="000000"/>
                  </a:solidFill>
                  <a:latin typeface="Times New Roman" panose="02020603050405020304" pitchFamily="18" charset="0"/>
                  <a:cs typeface="Times New Roman" panose="02020603050405020304" pitchFamily="18" charset="0"/>
                </a:rPr>
                <a:t>Length(s1)=17，index(s1,s2,1)=3，index(s1,s2,4)=6。</a:t>
              </a:r>
              <a:endParaRPr lang="en-US" altLang="zh-CN" sz="2000" b="0" dirty="0">
                <a:solidFill>
                  <a:srgbClr val="000000"/>
                </a:solidFill>
                <a:latin typeface="Times New Roman" panose="02020603050405020304" pitchFamily="18" charset="0"/>
                <a:cs typeface="Times New Roman" panose="02020603050405020304" pitchFamily="18" charset="0"/>
              </a:endParaRPr>
            </a:p>
          </p:txBody>
        </p:sp>
        <p:sp>
          <p:nvSpPr>
            <p:cNvPr id="19" name="内容占位符 2"/>
            <p:cNvSpPr txBox="1"/>
            <p:nvPr/>
          </p:nvSpPr>
          <p:spPr bwMode="gray">
            <a:xfrm>
              <a:off x="720" y="4440"/>
              <a:ext cx="13320" cy="1320"/>
            </a:xfrm>
            <a:prstGeom prst="rect">
              <a:avLst/>
            </a:prstGeom>
            <a:noFill/>
            <a:ln w="9525">
              <a:noFill/>
              <a:miter lim="800000"/>
            </a:ln>
          </p:spPr>
          <p:txBody>
            <a:bodyPr/>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若s1="class"，s2="room"，</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indent="457200" defTabSz="914400" fontAlgn="auto">
                <a:lnSpc>
                  <a:spcPct val="150000"/>
                </a:lnSpc>
                <a:buClrTx/>
                <a:buSzTx/>
                <a:buFontTx/>
                <a:buNone/>
                <a:defRPr/>
              </a:pP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则Concat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(t,s1,s2)</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的结果为</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t="classroom“</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20" name="内容占位符 2"/>
            <p:cNvSpPr txBox="1"/>
            <p:nvPr/>
          </p:nvSpPr>
          <p:spPr bwMode="gray">
            <a:xfrm>
              <a:off x="720" y="6000"/>
              <a:ext cx="13320" cy="1440"/>
            </a:xfrm>
            <a:prstGeom prst="rect">
              <a:avLst/>
            </a:prstGeom>
            <a:noFill/>
            <a:ln w="9525">
              <a:noFill/>
              <a:miter lim="800000"/>
            </a:ln>
          </p:spPr>
          <p:txBody>
            <a:bodyPr/>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3. </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若</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1="this"，s2="there"，</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则Compare</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(s1,s2)&gt;0，即s1&gt;s2。</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内容占位符 2"/>
            <p:cNvSpPr txBox="1"/>
            <p:nvPr/>
          </p:nvSpPr>
          <p:spPr bwMode="gray">
            <a:xfrm>
              <a:off x="720" y="7056"/>
              <a:ext cx="13320" cy="1440"/>
            </a:xfrm>
            <a:prstGeom prst="rect">
              <a:avLst/>
            </a:prstGeom>
            <a:noFill/>
            <a:ln w="9525">
              <a:noFill/>
              <a:miter lim="800000"/>
            </a:ln>
          </p:spPr>
          <p:txBody>
            <a:bodyPr/>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4.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SubString</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s,"There</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is a book on the desk.",10,6)</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的结果为</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s="a book“。</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269240"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3.3.1 串的基本概念和基本操作</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326571" y="929005"/>
            <a:ext cx="11210109" cy="4524302"/>
            <a:chOff x="553" y="2160"/>
            <a:chExt cx="13487" cy="6480"/>
          </a:xfrm>
        </p:grpSpPr>
        <p:sp>
          <p:nvSpPr>
            <p:cNvPr id="13" name="内容占位符 2"/>
            <p:cNvSpPr txBox="1"/>
            <p:nvPr/>
          </p:nvSpPr>
          <p:spPr bwMode="gray">
            <a:xfrm>
              <a:off x="720" y="4320"/>
              <a:ext cx="13320" cy="2040"/>
            </a:xfrm>
            <a:prstGeom prst="rect">
              <a:avLst/>
            </a:prstGeom>
            <a:noFill/>
            <a:ln w="9525">
              <a:noFill/>
              <a:miter lim="800000"/>
            </a:ln>
          </p:spPr>
          <p:txBody>
            <a:bodyPr/>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6. </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若</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 = "There are three books on the desk."</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Delete(s1,11,6)</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的结果为</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s1="There are books on the desk."</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内容占位符 2"/>
            <p:cNvSpPr txBox="1"/>
            <p:nvPr/>
          </p:nvSpPr>
          <p:spPr bwMode="gray">
            <a:xfrm>
              <a:off x="720" y="2160"/>
              <a:ext cx="13320" cy="1920"/>
            </a:xfrm>
            <a:prstGeom prst="rect">
              <a:avLst/>
            </a:prstGeom>
            <a:noFill/>
            <a:ln w="9525">
              <a:noFill/>
              <a:miter lim="800000"/>
            </a:ln>
          </p:spPr>
          <p:txBody>
            <a:bodyPr/>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5. </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若</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s1="There is a book on the desk."</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s2="note"</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Insert(s1,12,s2)</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的结果为</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indent="457200" defTabSz="914400" fontAlgn="auto">
                <a:lnSpc>
                  <a:spcPct val="150000"/>
                </a:lnSpc>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s1="There is a notebook on the desk.“。</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内容占位符 2"/>
            <p:cNvSpPr txBox="1"/>
            <p:nvPr/>
          </p:nvSpPr>
          <p:spPr bwMode="gray">
            <a:xfrm>
              <a:off x="553" y="6600"/>
              <a:ext cx="13320" cy="204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比较串的基本操作与线性表的基本操作，可以发现，串的基本操作通常以串的整体作为操作对象，而线性表的基本操作大多以单个元素作为操作对象，这是串操作的特点。</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3.3.1 串的基本概念和基本操作</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1" name="内容占位符 2"/>
          <p:cNvSpPr>
            <a:spLocks noGrp="1"/>
          </p:cNvSpPr>
          <p:nvPr/>
        </p:nvSpPr>
        <p:spPr>
          <a:xfrm>
            <a:off x="457200" y="962025"/>
            <a:ext cx="10628630" cy="4685665"/>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marR="0" lvl="0" indent="-342900" algn="l" defTabSz="914400" rtl="0">
              <a:lnSpc>
                <a:spcPct val="150000"/>
              </a:lnSpc>
              <a:spcBef>
                <a:spcPts val="0"/>
              </a:spcBef>
              <a:spcAft>
                <a:spcPct val="0"/>
              </a:spcAft>
              <a:buClrTx/>
              <a:buSzTx/>
              <a:buFontTx/>
              <a:buChar char="•"/>
              <a:defRPr/>
            </a:pPr>
            <a:r>
              <a:rPr kumimoji="0" lang="zh-CN" altLang="en-US"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在上述抽象数据类型定义的</a:t>
            </a:r>
            <a:r>
              <a:rPr kumimoji="0" lang="en-US" altLang="zh-CN"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13</a:t>
            </a:r>
            <a:r>
              <a:rPr kumimoji="0" lang="zh-CN" altLang="en-US"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种操作中，</a:t>
            </a:r>
            <a:endParaRPr kumimoji="0" lang="zh-CN" altLang="en-US"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0" marR="0" lvl="0" indent="457200" algn="l" defTabSz="914400" rtl="0">
              <a:lnSpc>
                <a:spcPct val="150000"/>
              </a:lnSpc>
              <a:spcBef>
                <a:spcPts val="0"/>
              </a:spcBef>
              <a:spcAft>
                <a:spcPct val="0"/>
              </a:spcAft>
              <a:buClrTx/>
              <a:buSzTx/>
              <a:buFontTx/>
              <a:buNone/>
              <a:defRPr/>
            </a:pP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871B09"/>
                </a:solidFill>
                <a:effectLst/>
                <a:uLnTx/>
                <a:uFillTx/>
                <a:latin typeface="微软雅黑" panose="020B0503020204020204" pitchFamily="34" charset="-122"/>
                <a:ea typeface="微软雅黑" panose="020B0503020204020204" pitchFamily="34" charset="-122"/>
                <a:cs typeface="+mn-ea"/>
              </a:rPr>
              <a:t>  串</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赋值</a:t>
            </a:r>
            <a:r>
              <a:rPr kumimoji="0" lang="en-US" altLang="zh-CN" sz="2000" b="0" i="0" u="none" strike="noStrike" kern="0" cap="none" spc="0" normalizeH="0" baseline="0" noProof="0" dirty="0" err="1">
                <a:ln>
                  <a:noFill/>
                </a:ln>
                <a:solidFill>
                  <a:srgbClr val="871B09"/>
                </a:solidFill>
                <a:effectLst/>
                <a:uLnTx/>
                <a:uFillTx/>
                <a:latin typeface="微软雅黑" panose="020B0503020204020204" pitchFamily="34" charset="-122"/>
                <a:ea typeface="微软雅黑" panose="020B0503020204020204" pitchFamily="34" charset="-122"/>
                <a:cs typeface="+mn-ea"/>
              </a:rPr>
              <a:t>StrAssign</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、串复制</a:t>
            </a:r>
            <a:r>
              <a:rPr kumimoji="0" lang="en-US" altLang="zh-CN" sz="2000" b="0" i="0" u="none" strike="noStrike" kern="0" cap="none" spc="0" normalizeH="0" baseline="0" noProof="0" dirty="0" err="1">
                <a:ln>
                  <a:noFill/>
                </a:ln>
                <a:solidFill>
                  <a:srgbClr val="871B09"/>
                </a:solidFill>
                <a:effectLst/>
                <a:uLnTx/>
                <a:uFillTx/>
                <a:latin typeface="微软雅黑" panose="020B0503020204020204" pitchFamily="34" charset="-122"/>
                <a:ea typeface="微软雅黑" panose="020B0503020204020204" pitchFamily="34" charset="-122"/>
                <a:cs typeface="+mn-ea"/>
              </a:rPr>
              <a:t>Strcopy</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a:t>
            </a:r>
            <a:endPar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endParaRPr>
          </a:p>
          <a:p>
            <a:pPr marL="0" marR="0" lvl="0" indent="457200" algn="l" defTabSz="914400" rtl="0">
              <a:lnSpc>
                <a:spcPct val="150000"/>
              </a:lnSpc>
              <a:spcBef>
                <a:spcPts val="0"/>
              </a:spcBef>
              <a:spcAft>
                <a:spcPct val="0"/>
              </a:spcAft>
              <a:buClrTx/>
              <a:buSzTx/>
              <a:buFontTx/>
              <a:buNone/>
              <a:defRPr/>
            </a:pP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871B09"/>
                </a:solidFill>
                <a:effectLst/>
                <a:uLnTx/>
                <a:uFillTx/>
                <a:latin typeface="微软雅黑" panose="020B0503020204020204" pitchFamily="34" charset="-122"/>
                <a:ea typeface="微软雅黑" panose="020B0503020204020204" pitchFamily="34" charset="-122"/>
                <a:cs typeface="+mn-ea"/>
              </a:rPr>
              <a:t>  串</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比较</a:t>
            </a:r>
            <a:r>
              <a:rPr kumimoji="0" lang="en-US" altLang="zh-CN" sz="2000" b="0" i="0" u="none" strike="noStrike" kern="0" cap="none" spc="0" normalizeH="0" baseline="0" noProof="0" dirty="0" err="1">
                <a:ln>
                  <a:noFill/>
                </a:ln>
                <a:solidFill>
                  <a:srgbClr val="871B09"/>
                </a:solidFill>
                <a:effectLst/>
                <a:uLnTx/>
                <a:uFillTx/>
                <a:latin typeface="微软雅黑" panose="020B0503020204020204" pitchFamily="34" charset="-122"/>
                <a:ea typeface="微软雅黑" panose="020B0503020204020204" pitchFamily="34" charset="-122"/>
                <a:cs typeface="+mn-ea"/>
              </a:rPr>
              <a:t>StrCompare</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、求串长</a:t>
            </a:r>
            <a:r>
              <a:rPr kumimoji="0" lang="en-US" altLang="zh-CN" sz="2000" b="0" i="0" u="none" strike="noStrike" kern="0" cap="none" spc="0" normalizeH="0" baseline="0" noProof="0" dirty="0" err="1">
                <a:ln>
                  <a:noFill/>
                </a:ln>
                <a:solidFill>
                  <a:srgbClr val="871B09"/>
                </a:solidFill>
                <a:effectLst/>
                <a:uLnTx/>
                <a:uFillTx/>
                <a:latin typeface="微软雅黑" panose="020B0503020204020204" pitchFamily="34" charset="-122"/>
                <a:ea typeface="微软雅黑" panose="020B0503020204020204" pitchFamily="34" charset="-122"/>
                <a:cs typeface="+mn-ea"/>
              </a:rPr>
              <a:t>StrLength</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a:t>
            </a:r>
            <a:endPar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endParaRPr>
          </a:p>
          <a:p>
            <a:pPr marL="0" marR="0" lvl="0" indent="457200" algn="l" defTabSz="914400" rtl="0">
              <a:lnSpc>
                <a:spcPct val="150000"/>
              </a:lnSpc>
              <a:spcBef>
                <a:spcPts val="0"/>
              </a:spcBef>
              <a:spcAft>
                <a:spcPct val="0"/>
              </a:spcAft>
              <a:buClrTx/>
              <a:buSzTx/>
              <a:buFontTx/>
              <a:buNone/>
              <a:defRPr/>
            </a:pP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871B09"/>
                </a:solidFill>
                <a:effectLst/>
                <a:uLnTx/>
                <a:uFillTx/>
                <a:latin typeface="微软雅黑" panose="020B0503020204020204" pitchFamily="34" charset="-122"/>
                <a:ea typeface="微软雅黑" panose="020B0503020204020204" pitchFamily="34" charset="-122"/>
                <a:cs typeface="+mn-ea"/>
              </a:rPr>
              <a:t>  串联</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接</a:t>
            </a:r>
            <a:r>
              <a:rPr kumimoji="0" lang="en-US" altLang="zh-CN" sz="2000" b="0" i="0" u="none" strike="noStrike" kern="0" cap="none" spc="0" normalizeH="0" baseline="0" noProof="0" dirty="0" err="1">
                <a:ln>
                  <a:noFill/>
                </a:ln>
                <a:solidFill>
                  <a:srgbClr val="871B09"/>
                </a:solidFill>
                <a:effectLst/>
                <a:uLnTx/>
                <a:uFillTx/>
                <a:latin typeface="微软雅黑" panose="020B0503020204020204" pitchFamily="34" charset="-122"/>
                <a:ea typeface="微软雅黑" panose="020B0503020204020204" pitchFamily="34" charset="-122"/>
                <a:cs typeface="+mn-ea"/>
              </a:rPr>
              <a:t>Concat</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以及求子串</a:t>
            </a:r>
            <a:r>
              <a:rPr kumimoji="0" lang="en-US" altLang="zh-CN" sz="2000" b="0" i="0" u="none" strike="noStrike" kern="0" cap="none" spc="0" normalizeH="0" baseline="0" noProof="0" dirty="0" err="1">
                <a:ln>
                  <a:noFill/>
                </a:ln>
                <a:solidFill>
                  <a:srgbClr val="871B09"/>
                </a:solidFill>
                <a:effectLst/>
                <a:uLnTx/>
                <a:uFillTx/>
                <a:latin typeface="微软雅黑" panose="020B0503020204020204" pitchFamily="34" charset="-122"/>
                <a:ea typeface="微软雅黑" panose="020B0503020204020204" pitchFamily="34" charset="-122"/>
                <a:cs typeface="+mn-ea"/>
              </a:rPr>
              <a:t>SubString</a:t>
            </a:r>
            <a:endParaRPr kumimoji="0" lang="en-US" altLang="zh-CN"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endParaRPr>
          </a:p>
          <a:p>
            <a:pPr marL="0" marR="0" lvl="0" indent="457200" algn="l" defTabSz="914400" rtl="0">
              <a:lnSpc>
                <a:spcPct val="150000"/>
              </a:lnSpc>
              <a:spcBef>
                <a:spcPts val="0"/>
              </a:spcBef>
              <a:spcAft>
                <a:spcPct val="0"/>
              </a:spcAft>
              <a:buClrTx/>
              <a:buSzTx/>
              <a:buFontTx/>
              <a:buNone/>
              <a:defRPr/>
            </a:pPr>
            <a:r>
              <a:rPr kumimoji="0" lang="en-US" altLang="zh-CN"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  </a:t>
            </a:r>
            <a:r>
              <a:rPr kumimoji="0" lang="en-US" altLang="zh-CN" sz="2000" b="0" i="0" u="none" strike="noStrike" kern="0" cap="none" spc="0" normalizeH="0" baseline="0" noProof="0" dirty="0" smtClean="0">
                <a:ln>
                  <a:noFill/>
                </a:ln>
                <a:solidFill>
                  <a:srgbClr val="871B09"/>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871B09"/>
                </a:solidFill>
                <a:effectLst/>
                <a:uLnTx/>
                <a:uFillTx/>
                <a:latin typeface="微软雅黑" panose="020B0503020204020204" pitchFamily="34" charset="-122"/>
                <a:ea typeface="微软雅黑" panose="020B0503020204020204" pitchFamily="34" charset="-122"/>
                <a:cs typeface="+mn-ea"/>
              </a:rPr>
              <a:t>等</a:t>
            </a:r>
            <a:r>
              <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rPr>
              <a:t>六种操作构成串类型的最小操作子集。</a:t>
            </a:r>
            <a:endParaRPr kumimoji="0" lang="zh-CN" altLang="en-US" sz="2000" b="0" i="0" u="none" strike="noStrike" kern="0" cap="none" spc="0" normalizeH="0" baseline="0" noProof="0" dirty="0">
              <a:ln>
                <a:noFill/>
              </a:ln>
              <a:solidFill>
                <a:srgbClr val="871B09"/>
              </a:solidFill>
              <a:effectLst/>
              <a:uLnTx/>
              <a:uFillTx/>
              <a:latin typeface="微软雅黑" panose="020B0503020204020204" pitchFamily="34" charset="-122"/>
              <a:ea typeface="微软雅黑" panose="020B0503020204020204" pitchFamily="34" charset="-122"/>
              <a:cs typeface="+mn-ea"/>
            </a:endParaRPr>
          </a:p>
          <a:p>
            <a:pPr marL="342900" marR="0" lvl="0" indent="-342900" algn="l" defTabSz="914400" rtl="0">
              <a:lnSpc>
                <a:spcPct val="150000"/>
              </a:lnSpc>
              <a:spcBef>
                <a:spcPts val="0"/>
              </a:spcBef>
              <a:spcAft>
                <a:spcPct val="0"/>
              </a:spcAft>
              <a:buClrTx/>
              <a:buSzTx/>
              <a:buFontTx/>
              <a:buChar char="•"/>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即：这些操作不可能利用其他串操作来实现，反之，其他串操作（除串清除</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ea"/>
              </a:rPr>
              <a:t>ClearString</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和串销毁</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ea"/>
              </a:rPr>
              <a:t>DestroyString</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外）可在这个最小操作子 集上实现。</a:t>
            </a:r>
            <a:endPar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266700" algn="just" defTabSz="914400" rtl="0">
              <a:lnSpc>
                <a:spcPct val="150000"/>
              </a:lnSpc>
              <a:spcBef>
                <a:spcPts val="0"/>
              </a:spcBef>
              <a:spcAft>
                <a:spcPts val="0"/>
              </a:spcAft>
              <a:buClrTx/>
              <a:buSzTx/>
              <a:buFontTx/>
              <a:buChar char="•"/>
              <a:defRPr/>
            </a:pPr>
            <a:endParaRPr kumimoji="0" lang="zh-CN" altLang="zh-CN" sz="1400" b="0" i="0" u="none" strike="noStrike" kern="1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342900" algn="l" defTabSz="914400" rtl="0">
              <a:lnSpc>
                <a:spcPct val="150000"/>
              </a:lnSpc>
              <a:spcBef>
                <a:spcPts val="0"/>
              </a:spcBef>
              <a:spcAft>
                <a:spcPct val="0"/>
              </a:spcAft>
              <a:buClrTx/>
              <a:buSzTx/>
              <a:buFontTx/>
              <a:buChar char="•"/>
              <a:defRPr/>
            </a:pPr>
            <a:endParaRPr kumimoji="0" lang="zh-CN" altLang="zh-CN" sz="1400" b="0" i="0" u="none" strike="noStrike" kern="10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3.3.1 串的基本概念和基本操作</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2" name="内容占位符 2"/>
          <p:cNvSpPr txBox="1"/>
          <p:nvPr/>
        </p:nvSpPr>
        <p:spPr bwMode="gray">
          <a:xfrm>
            <a:off x="457200" y="857885"/>
            <a:ext cx="9488170" cy="5303520"/>
          </a:xfrm>
          <a:prstGeom prst="rect">
            <a:avLst/>
          </a:prstGeom>
          <a:noFill/>
          <a:ln w="9525">
            <a:noFill/>
            <a:miter lim="800000"/>
          </a:ln>
        </p:spPr>
        <p:txBody>
          <a:bodyPr/>
          <a:p>
            <a:pPr marR="0" defTabSz="914400">
              <a:buClrTx/>
              <a:buSzTx/>
              <a:buFontTx/>
              <a:buNone/>
              <a:defRPr/>
            </a:pP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int Index (String S, String T, int </a:t>
            </a:r>
            <a:r>
              <a:rPr kumimoji="0" lang="en-US" altLang="zh-CN" sz="2200" b="0" kern="1200" cap="none" spc="0" normalizeH="0" baseline="0" noProof="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pos</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T</a:t>
            </a:r>
            <a:r>
              <a:rPr kumimoji="0" lang="zh-CN" altLang="en-US"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为非空串。若主串</a:t>
            </a:r>
            <a:r>
              <a:rPr kumimoji="0" lang="en-US" altLang="zh-CN"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kumimoji="0" lang="zh-CN" altLang="en-US"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中第</a:t>
            </a:r>
            <a:r>
              <a:rPr kumimoji="0" lang="en-US" altLang="zh-CN" sz="22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pos</a:t>
            </a:r>
            <a:r>
              <a:rPr kumimoji="0" lang="zh-CN" altLang="en-US"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个字符之后存在与 </a:t>
            </a:r>
            <a:r>
              <a:rPr kumimoji="0" lang="en-US" altLang="zh-CN"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kumimoji="0" lang="zh-CN" altLang="en-US"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相等的子串，则返回第一个这样的子串在</a:t>
            </a:r>
            <a:r>
              <a:rPr kumimoji="0" lang="en-US" altLang="zh-CN"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kumimoji="0" lang="zh-CN" altLang="en-US"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中的位置，否则返回</a:t>
            </a:r>
            <a:r>
              <a:rPr kumimoji="0" lang="en-US" altLang="zh-CN"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endParaRPr kumimoji="0" lang="en-US" altLang="zh-CN" sz="22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FFFFFF"/>
                </a:solidFill>
                <a:latin typeface="微软雅黑" panose="020B0503020204020204" pitchFamily="34" charset="-122"/>
                <a:ea typeface="微软雅黑" panose="020B0503020204020204" pitchFamily="34" charset="-122"/>
                <a:cs typeface="+mn-ea"/>
              </a:rPr>
              <a:t>  </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if (</a:t>
            </a:r>
            <a:r>
              <a:rPr kumimoji="0" lang="en-US" altLang="zh-CN" sz="2200" b="0" kern="1200" cap="none" spc="0" normalizeH="0" baseline="0" noProof="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pos</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&gt; 0) {</a:t>
            </a:r>
            <a:endPar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n = </a:t>
            </a:r>
            <a:r>
              <a:rPr kumimoji="0" lang="en-US" altLang="zh-CN" sz="2200" b="0" kern="1200" cap="none" spc="0" normalizeH="0" baseline="0" noProof="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StrLength</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  m = </a:t>
            </a:r>
            <a:r>
              <a:rPr kumimoji="0" lang="en-US" altLang="zh-CN" sz="2200" b="0" kern="1200" cap="none" spc="0" normalizeH="0" baseline="0" noProof="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StrLength</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(T);  i = </a:t>
            </a:r>
            <a:r>
              <a:rPr kumimoji="0" lang="en-US" altLang="zh-CN" sz="2200" b="0" kern="1200" cap="none" spc="0" normalizeH="0" baseline="0" noProof="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pos</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while ( i &lt;= n-m+1) {</a:t>
            </a:r>
            <a:endPar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200" b="0" kern="1200" cap="none" spc="0" normalizeH="0" baseline="0" noProof="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SubString</a:t>
            </a:r>
            <a:r>
              <a:rPr kumimoji="0" lang="en-US" altLang="zh-CN" sz="2200" b="0" kern="1200" cap="none" spc="0" normalizeH="0" baseline="0" noProof="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(sub, S, i, m);</a:t>
            </a:r>
            <a:endParaRPr kumimoji="0" lang="en-US" altLang="zh-CN" sz="2200" b="0" kern="1200" cap="none" spc="0" normalizeH="0" baseline="0" noProof="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200" b="0" kern="1200" cap="none" spc="0" normalizeH="0" baseline="0" noProof="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if (</a:t>
            </a:r>
            <a:r>
              <a:rPr kumimoji="0" lang="en-US" altLang="zh-CN" sz="2200" b="0" kern="1200" cap="none" spc="0" normalizeH="0" baseline="0" noProof="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StrCompare</a:t>
            </a:r>
            <a:r>
              <a:rPr kumimoji="0" lang="en-US" altLang="zh-CN" sz="2200" b="0" kern="1200" cap="none" spc="0" normalizeH="0" baseline="0" noProof="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200" b="0" kern="1200" cap="none" spc="0" normalizeH="0" baseline="0" noProof="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sub,T</a:t>
            </a:r>
            <a:r>
              <a:rPr kumimoji="0" lang="en-US" altLang="zh-CN" sz="2200" b="0" kern="1200" cap="none" spc="0" normalizeH="0" baseline="0" noProof="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 0)   ++i ;</a:t>
            </a:r>
            <a:endParaRPr kumimoji="0" lang="en-US" altLang="zh-CN" sz="2200" b="0" kern="1200" cap="none" spc="0" normalizeH="0" baseline="0" noProof="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else return i ;</a:t>
            </a:r>
            <a:endParaRPr kumimoji="0" lang="en-US" altLang="zh-CN" sz="2200" b="0" kern="1200" cap="none" spc="0" normalizeH="0" baseline="0" noProof="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while</a:t>
            </a:r>
            <a:endPar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 if</a:t>
            </a:r>
            <a:endPar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return 0;          // S</a:t>
            </a:r>
            <a:r>
              <a:rPr kumimoji="0" lang="zh-CN" altLang="en-US"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中不存在与</a:t>
            </a: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T</a:t>
            </a:r>
            <a:r>
              <a:rPr kumimoji="0" lang="zh-CN" altLang="en-US"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相等的子串</a:t>
            </a:r>
            <a:endParaRPr kumimoji="0" lang="zh-CN" altLang="en-US"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lnSpc>
                <a:spcPct val="110000"/>
              </a:lnSpc>
              <a:buClrTx/>
              <a:buSzTx/>
              <a:buFontTx/>
              <a:buNone/>
              <a:defRPr/>
            </a:pPr>
            <a:r>
              <a:rPr kumimoji="0" lang="en-US" altLang="zh-CN" sz="2200" b="0" kern="1200" cap="none" spc="0" normalizeH="0" baseline="0" noProof="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Index</a:t>
            </a:r>
            <a:endParaRPr kumimoji="0" lang="en-US" altLang="zh-CN" sz="2200" b="0" kern="1200" cap="none" spc="0" normalizeH="0" baseline="0" noProof="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3.3.2 串的存储结构</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8" name="内容占位符 2"/>
          <p:cNvSpPr txBox="1"/>
          <p:nvPr/>
        </p:nvSpPr>
        <p:spPr bwMode="gray">
          <a:xfrm>
            <a:off x="457200" y="1524000"/>
            <a:ext cx="8458200" cy="1219200"/>
          </a:xfrm>
          <a:prstGeom prst="rect">
            <a:avLst/>
          </a:prstGeom>
          <a:noFill/>
          <a:ln w="9525">
            <a:noFill/>
            <a:miter lim="800000"/>
          </a:ln>
        </p:spPr>
        <p:txBody>
          <a:bodyPr/>
          <a:p>
            <a:pPr marR="0" defTabSz="914400">
              <a:buClrTx/>
              <a:buSzTx/>
              <a:buFontTx/>
              <a:buNone/>
              <a:defRPr/>
            </a:pPr>
            <a:endPar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nvGrpSpPr>
          <p:cNvPr id="11" name="组合 10"/>
          <p:cNvGrpSpPr/>
          <p:nvPr/>
        </p:nvGrpSpPr>
        <p:grpSpPr>
          <a:xfrm>
            <a:off x="457200" y="1129030"/>
            <a:ext cx="11362055" cy="4493582"/>
            <a:chOff x="720" y="2400"/>
            <a:chExt cx="13320" cy="5894"/>
          </a:xfrm>
        </p:grpSpPr>
        <p:sp>
          <p:nvSpPr>
            <p:cNvPr id="12" name="内容占位符 2"/>
            <p:cNvSpPr txBox="1"/>
            <p:nvPr/>
          </p:nvSpPr>
          <p:spPr bwMode="gray">
            <a:xfrm>
              <a:off x="720" y="2400"/>
              <a:ext cx="13320" cy="192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串是线性表的一种特例，串的存储方法与线性表的一般存储方法类似，但由于串中数据元素全部为字符，故又有其自身的特殊性。</a:t>
              </a:r>
              <a:endPar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nvGrpSpPr>
            <p:cNvPr id="13" name="组合 12"/>
            <p:cNvGrpSpPr/>
            <p:nvPr/>
          </p:nvGrpSpPr>
          <p:grpSpPr>
            <a:xfrm>
              <a:off x="3720" y="4680"/>
              <a:ext cx="4320" cy="3614"/>
              <a:chOff x="3720" y="4680"/>
              <a:chExt cx="4320" cy="3614"/>
            </a:xfrm>
          </p:grpSpPr>
          <p:sp>
            <p:nvSpPr>
              <p:cNvPr id="14" name="内容占位符 2"/>
              <p:cNvSpPr txBox="1"/>
              <p:nvPr/>
            </p:nvSpPr>
            <p:spPr bwMode="gray">
              <a:xfrm>
                <a:off x="3720" y="4680"/>
                <a:ext cx="4320" cy="1080"/>
              </a:xfrm>
              <a:prstGeom prst="rect">
                <a:avLst/>
              </a:prstGeom>
              <a:noFill/>
              <a:ln w="9525">
                <a:noFill/>
                <a:miter lim="800000"/>
              </a:ln>
            </p:spPr>
            <p:txBody>
              <a:bodyPr/>
              <a:p>
                <a:pPr marR="0" algn="l" defTabSz="914400">
                  <a:spcBef>
                    <a:spcPct val="50000"/>
                  </a:spcBef>
                  <a:buClrTx/>
                  <a:buSzTx/>
                  <a:buFontTx/>
                  <a:buNone/>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rPr>
                  <a:t>定长顺序存储</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endParaRPr>
              </a:p>
            </p:txBody>
          </p:sp>
          <p:sp>
            <p:nvSpPr>
              <p:cNvPr id="15" name="内容占位符 2"/>
              <p:cNvSpPr txBox="1"/>
              <p:nvPr/>
            </p:nvSpPr>
            <p:spPr bwMode="gray">
              <a:xfrm>
                <a:off x="3720" y="5947"/>
                <a:ext cx="2640" cy="1080"/>
              </a:xfrm>
              <a:prstGeom prst="rect">
                <a:avLst/>
              </a:prstGeom>
              <a:noFill/>
              <a:ln w="9525">
                <a:noFill/>
                <a:miter lim="800000"/>
              </a:ln>
            </p:spPr>
            <p:txBody>
              <a:bodyPr/>
              <a:p>
                <a:pPr marR="0" algn="l" defTabSz="914400">
                  <a:spcBef>
                    <a:spcPct val="50000"/>
                  </a:spcBef>
                  <a:buClrTx/>
                  <a:buSzTx/>
                  <a:buFontTx/>
                  <a:buNone/>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rPr>
                  <a:t>堆存储</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endParaRPr>
              </a:p>
            </p:txBody>
          </p:sp>
          <p:sp>
            <p:nvSpPr>
              <p:cNvPr id="16" name="内容占位符 2"/>
              <p:cNvSpPr txBox="1"/>
              <p:nvPr/>
            </p:nvSpPr>
            <p:spPr bwMode="gray">
              <a:xfrm>
                <a:off x="3720" y="7214"/>
                <a:ext cx="3840" cy="1080"/>
              </a:xfrm>
              <a:prstGeom prst="rect">
                <a:avLst/>
              </a:prstGeom>
              <a:noFill/>
              <a:ln w="9525">
                <a:noFill/>
                <a:miter lim="800000"/>
              </a:ln>
            </p:spPr>
            <p:txBody>
              <a:bodyPr/>
              <a:p>
                <a:pPr marR="0" algn="l" defTabSz="914400">
                  <a:spcBef>
                    <a:spcPct val="50000"/>
                  </a:spcBef>
                  <a:buClrTx/>
                  <a:buSzTx/>
                  <a:buFontTx/>
                  <a:buNone/>
                </a:pPr>
                <a:r>
                  <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rPr>
                  <a:t>块链存储</a:t>
                </a:r>
                <a:endParaRPr kumimoji="0" lang="zh-CN" altLang="en-US" sz="3200" b="1" kern="0" cap="none" spc="0" normalizeH="0" baseline="0" noProof="0" dirty="0">
                  <a:solidFill>
                    <a:srgbClr val="005A9E"/>
                  </a:solidFill>
                  <a:latin typeface="微软雅黑" panose="020B0503020204020204" pitchFamily="34" charset="-122"/>
                  <a:ea typeface="微软雅黑" panose="020B0503020204020204" pitchFamily="34" charset="-122"/>
                </a:endParaRPr>
              </a:p>
            </p:txBody>
          </p:sp>
        </p:grpSp>
      </p:gr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algn="l" eaLnBrk="0" fontAlgn="base" hangingPunct="0">
              <a:buClrTx/>
              <a:buSzTx/>
              <a:buFontTx/>
              <a:defRPr/>
            </a:pPr>
            <a:r>
              <a:rPr sz="3600" b="1" dirty="0">
                <a:solidFill>
                  <a:schemeClr val="bg1"/>
                </a:solidFill>
                <a:latin typeface="微软雅黑" panose="020B0503020204020204" pitchFamily="34" charset="-122"/>
                <a:ea typeface="微软雅黑" panose="020B0503020204020204" pitchFamily="34" charset="-122"/>
                <a:sym typeface="+mn-ea"/>
              </a:rPr>
              <a:t>串的定长顺序存储表示—顺序串</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8" name="内容占位符 2"/>
          <p:cNvSpPr txBox="1"/>
          <p:nvPr/>
        </p:nvSpPr>
        <p:spPr bwMode="gray">
          <a:xfrm>
            <a:off x="392430" y="1295400"/>
            <a:ext cx="11318240" cy="1718945"/>
          </a:xfrm>
          <a:prstGeom prst="rect">
            <a:avLst/>
          </a:prstGeom>
          <a:noFill/>
          <a:ln w="9525">
            <a:noFill/>
            <a:miter lim="800000"/>
          </a:ln>
        </p:spPr>
        <p:txBody>
          <a:bodyPr/>
          <a:p>
            <a:pPr marR="0" indent="457200" defTabSz="914400" fontAlgn="auto">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串的定长顺序存储结构简称为顺序串，是指将串中的字符顺序地存放到一组地址连续的定长的存储单元中。由于一个字符只占一个字节，而</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语言可以按字节寻址，因此串中相邻的字符顺序存放在相邻的字节中，这样既节约空间，又方便处理。</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2" name="内容占位符 2"/>
          <p:cNvSpPr txBox="1"/>
          <p:nvPr/>
        </p:nvSpPr>
        <p:spPr bwMode="gray">
          <a:xfrm>
            <a:off x="392430" y="2668270"/>
            <a:ext cx="11317605" cy="1058545"/>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假设定长顺序串的</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长度为</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maxsize</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当串的实际长度超过该长度时，超过部分则被截断舍去。</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而</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当串的实际长度没有超过该长度时</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大致有两种做法</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3" name="内容占位符 2"/>
          <p:cNvSpPr txBox="1"/>
          <p:nvPr/>
        </p:nvSpPr>
        <p:spPr bwMode="gray">
          <a:xfrm>
            <a:off x="392430" y="3712845"/>
            <a:ext cx="11481435" cy="1182370"/>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方法</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一</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用一个特定的、不会出现在串中的字符作为串的结束符，放在串值的尾部，以示串的结束。如在</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语言中用字符</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‘\0’</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作为串的结束符。</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‘\0’</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不属于串值，</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但需占一个字符，</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所以，实际串值长度不能超过</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maxsize-1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6" name="内容占位符 2"/>
          <p:cNvSpPr txBox="1"/>
          <p:nvPr/>
        </p:nvSpPr>
        <p:spPr bwMode="gray">
          <a:xfrm>
            <a:off x="393065" y="5266055"/>
            <a:ext cx="11608435" cy="1395095"/>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方法二：</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用一个整数</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len</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来表示串的长度，下标</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len-1</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为最后一个字符的存储位置</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393065" y="1612900"/>
            <a:ext cx="10777220" cy="448056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串的定长顺序存储表示—顺序串</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693420" y="1450340"/>
            <a:ext cx="11016615" cy="3450590"/>
            <a:chOff x="967" y="3279"/>
            <a:chExt cx="13555" cy="2751"/>
          </a:xfrm>
        </p:grpSpPr>
        <p:sp>
          <p:nvSpPr>
            <p:cNvPr id="18" name="内容占位符 2"/>
            <p:cNvSpPr txBox="1"/>
            <p:nvPr/>
          </p:nvSpPr>
          <p:spPr bwMode="gray">
            <a:xfrm>
              <a:off x="1016" y="3279"/>
              <a:ext cx="13320" cy="840"/>
            </a:xfrm>
            <a:prstGeom prst="rect">
              <a:avLst/>
            </a:prstGeom>
            <a:noFill/>
            <a:ln w="9525">
              <a:noFill/>
              <a:miter lim="800000"/>
            </a:ln>
          </p:spPr>
          <p:txBody>
            <a:bodyPr/>
            <a:p>
              <a:pPr marR="0" defTabSz="914400">
                <a:buClrTx/>
                <a:buSzTx/>
                <a:buFontTx/>
                <a:buNone/>
                <a:defRPr/>
              </a:pP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例如，</a:t>
              </a:r>
              <a:r>
                <a:rPr kumimoji="0" lang="zh-CN" altLang="en-US"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设</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串</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S="This is a string"</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内容占位符 2"/>
            <p:cNvSpPr txBox="1"/>
            <p:nvPr/>
          </p:nvSpPr>
          <p:spPr bwMode="gray">
            <a:xfrm>
              <a:off x="1202" y="4151"/>
              <a:ext cx="13320" cy="1440"/>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方法一</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#define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maxsize</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256</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char S[</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maxsize</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3432" name="Object 1"/>
            <p:cNvGraphicFramePr>
              <a:graphicFrameLocks noChangeAspect="1"/>
            </p:cNvGraphicFramePr>
            <p:nvPr/>
          </p:nvGraphicFramePr>
          <p:xfrm>
            <a:off x="967" y="4955"/>
            <a:ext cx="12612" cy="1075"/>
          </p:xfrm>
          <a:graphic>
            <a:graphicData uri="http://schemas.openxmlformats.org/presentationml/2006/ole">
              <mc:AlternateContent xmlns:mc="http://schemas.openxmlformats.org/markup-compatibility/2006">
                <mc:Choice xmlns:v="urn:schemas-microsoft-com:vml" Requires="v">
                  <p:oleObj spid="_x0000_s3081" name="" r:id="rId3" imgW="7607300" imgH="660400" progId="Visio.Drawing.11">
                    <p:embed/>
                  </p:oleObj>
                </mc:Choice>
                <mc:Fallback>
                  <p:oleObj name="" r:id="rId3" imgW="7607300" imgH="660400" progId="Visio.Drawing.11">
                    <p:embed/>
                    <p:pic>
                      <p:nvPicPr>
                        <p:cNvPr id="0" name="图片 3080"/>
                        <p:cNvPicPr/>
                        <p:nvPr/>
                      </p:nvPicPr>
                      <p:blipFill>
                        <a:blip r:embed="rId4"/>
                        <a:stretch>
                          <a:fillRect/>
                        </a:stretch>
                      </p:blipFill>
                      <p:spPr>
                        <a:xfrm>
                          <a:off x="967" y="4955"/>
                          <a:ext cx="12612" cy="107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串的定长顺序存储表示—顺序串</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297180" y="973455"/>
            <a:ext cx="9647555" cy="4878614"/>
            <a:chOff x="468" y="2040"/>
            <a:chExt cx="13572" cy="7200"/>
          </a:xfrm>
        </p:grpSpPr>
        <p:sp>
          <p:nvSpPr>
            <p:cNvPr id="18" name="内容占位符 2"/>
            <p:cNvSpPr txBox="1"/>
            <p:nvPr/>
          </p:nvSpPr>
          <p:spPr bwMode="gray">
            <a:xfrm>
              <a:off x="720" y="2040"/>
              <a:ext cx="13320" cy="840"/>
            </a:xfrm>
            <a:prstGeom prst="rect">
              <a:avLst/>
            </a:prstGeom>
            <a:noFill/>
            <a:ln w="9525">
              <a:noFill/>
              <a:miter lim="800000"/>
            </a:ln>
          </p:spPr>
          <p:txBody>
            <a:bodyPr/>
            <a:p>
              <a:pPr marR="0" defTabSz="914400">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例如，</a:t>
              </a:r>
              <a:r>
                <a:rPr kumimoji="0" lang="zh-CN" altLang="en-US"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设</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串</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S="This is a string"</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内容占位符 2"/>
            <p:cNvSpPr txBox="1"/>
            <p:nvPr/>
          </p:nvSpPr>
          <p:spPr bwMode="gray">
            <a:xfrm>
              <a:off x="720" y="3240"/>
              <a:ext cx="13320" cy="4320"/>
            </a:xfrm>
            <a:prstGeom prst="rect">
              <a:avLst/>
            </a:prstGeom>
            <a:noFill/>
            <a:ln w="9525">
              <a:noFill/>
              <a:miter lim="800000"/>
            </a:ln>
          </p:spPr>
          <p:txBody>
            <a:bodyPr/>
            <a:p>
              <a:pPr marR="0" defTabSz="914400">
                <a:buClrTx/>
                <a:buSzTx/>
                <a:buFontTx/>
                <a:buNone/>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方法二：  </a:t>
              </a:r>
              <a:r>
                <a:rPr kumimoji="0" lang="zh-CN" altLang="en-US"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#define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maxsize</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256</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struct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sqstring</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定义顺序串类型</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char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str</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maxsize</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len</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sqstring</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S; </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4457" name="Object 4"/>
            <p:cNvGraphicFramePr>
              <a:graphicFrameLocks noChangeAspect="1"/>
            </p:cNvGraphicFramePr>
            <p:nvPr/>
          </p:nvGraphicFramePr>
          <p:xfrm>
            <a:off x="468" y="7560"/>
            <a:ext cx="13332" cy="1680"/>
          </p:xfrm>
          <a:graphic>
            <a:graphicData uri="http://schemas.openxmlformats.org/presentationml/2006/ole">
              <mc:AlternateContent xmlns:mc="http://schemas.openxmlformats.org/markup-compatibility/2006">
                <mc:Choice xmlns:v="urn:schemas-microsoft-com:vml" Requires="v">
                  <p:oleObj spid="_x0000_s3080" name="" r:id="rId3" imgW="7874000" imgH="1003300" progId="Visio.Drawing.11">
                    <p:embed/>
                  </p:oleObj>
                </mc:Choice>
                <mc:Fallback>
                  <p:oleObj name="" r:id="rId3" imgW="7874000" imgH="1003300" progId="Visio.Drawing.11">
                    <p:embed/>
                    <p:pic>
                      <p:nvPicPr>
                        <p:cNvPr id="0" name="图片 3079"/>
                        <p:cNvPicPr/>
                        <p:nvPr/>
                      </p:nvPicPr>
                      <p:blipFill>
                        <a:blip r:embed="rId4"/>
                        <a:stretch>
                          <a:fillRect/>
                        </a:stretch>
                      </p:blipFill>
                      <p:spPr>
                        <a:xfrm>
                          <a:off x="468" y="7560"/>
                          <a:ext cx="13332" cy="168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indent="-342900" algn="l" eaLnBrk="0" fontAlgn="base" hangingPunct="0">
              <a:buClrTx/>
              <a:buSzTx/>
              <a:buFontTx/>
            </a:pPr>
            <a:r>
              <a:rPr lang="zh-CN" altLang="en-US" sz="3600" dirty="0">
                <a:solidFill>
                  <a:srgbClr val="FF0000"/>
                </a:solidFill>
                <a:sym typeface="+mn-ea"/>
              </a:rPr>
              <a:t>思考：</a:t>
            </a:r>
            <a:r>
              <a:rPr sz="3600" b="1" dirty="0">
                <a:solidFill>
                  <a:schemeClr val="bg1"/>
                </a:solidFill>
                <a:latin typeface="微软雅黑" panose="020B0503020204020204" pitchFamily="34" charset="-122"/>
                <a:ea typeface="微软雅黑" panose="020B0503020204020204" pitchFamily="34" charset="-122"/>
                <a:sym typeface="+mn-ea"/>
              </a:rPr>
              <a:t>串的模式匹配算法</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 name="内容占位符 2"/>
          <p:cNvSpPr>
            <a:spLocks noGrp="1"/>
          </p:cNvSpPr>
          <p:nvPr/>
        </p:nvSpPr>
        <p:spPr>
          <a:xfrm>
            <a:off x="285115" y="857885"/>
            <a:ext cx="8401685" cy="5314315"/>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000" b="0" i="0" u="none" strike="noStrike" kern="0" cap="none" spc="0" normalizeH="0" baseline="0" noProof="0" dirty="0" err="1">
                <a:ln>
                  <a:noFill/>
                </a:ln>
                <a:solidFill>
                  <a:srgbClr val="000066"/>
                </a:solidFill>
                <a:effectLst/>
                <a:uLnTx/>
                <a:uFillTx/>
                <a:ea typeface="微软雅黑" panose="020B0503020204020204" pitchFamily="34" charset="-122"/>
                <a:cs typeface="Times New Roman" panose="02020603050405020304" pitchFamily="18" charset="0"/>
              </a:rPr>
              <a:t>int</a:t>
            </a:r>
            <a:r>
              <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Index (String S, String T, </a:t>
            </a:r>
            <a:r>
              <a:rPr kumimoji="0" lang="en-US" altLang="zh-CN" sz="2000" b="0" i="0" u="none" strike="noStrike" kern="0" cap="none" spc="0" normalizeH="0" baseline="0" noProof="0" dirty="0" err="1">
                <a:ln>
                  <a:noFill/>
                </a:ln>
                <a:solidFill>
                  <a:srgbClr val="000066"/>
                </a:solidFill>
                <a:effectLst/>
                <a:uLnTx/>
                <a:uFillTx/>
                <a:ea typeface="微软雅黑" panose="020B0503020204020204" pitchFamily="34" charset="-122"/>
                <a:cs typeface="Times New Roman" panose="02020603050405020304" pitchFamily="18" charset="0"/>
              </a:rPr>
              <a:t>int</a:t>
            </a:r>
            <a:r>
              <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err="1">
                <a:ln>
                  <a:noFill/>
                </a:ln>
                <a:solidFill>
                  <a:srgbClr val="000066"/>
                </a:solidFill>
                <a:effectLst/>
                <a:uLnTx/>
                <a:uFillTx/>
                <a:ea typeface="微软雅黑" panose="020B0503020204020204" pitchFamily="34" charset="-122"/>
                <a:cs typeface="Times New Roman" panose="02020603050405020304" pitchFamily="18" charset="0"/>
              </a:rPr>
              <a:t>pos</a:t>
            </a:r>
            <a:r>
              <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endPar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 T</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为非空串。若主串</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中第</a:t>
            </a:r>
            <a:r>
              <a:rPr kumimoji="0" lang="en-US" altLang="zh-CN" sz="2000" b="0" i="0"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ea"/>
              </a:rPr>
              <a:t>pos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个字符之后存在与 </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T</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相等的子串，则返回第一个这样的子串在</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S</a:t>
            </a: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中的位置，否则返回</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0</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int</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i=</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pos</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int</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j=1;</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while(i&lt;</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S.len</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&amp;&amp;j&lt;</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T.len</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if(S[i]==T[j]) {i++;  j++;}</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else{i=i-j+2; j=1;}</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if(j&gt;</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T.len</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return i-</a:t>
            </a:r>
            <a:r>
              <a:rPr kumimoji="0" lang="en-US" altLang="zh-CN" sz="2000" b="0" i="0" u="none" strike="noStrike" kern="0" cap="none" spc="0" normalizeH="0" baseline="0" noProof="0" dirty="0" err="1" smtClean="0">
                <a:ln>
                  <a:noFill/>
                </a:ln>
                <a:solidFill>
                  <a:srgbClr val="000000"/>
                </a:solidFill>
                <a:effectLst/>
                <a:uLnTx/>
                <a:uFillTx/>
                <a:ea typeface="微软雅黑" panose="020B0503020204020204" pitchFamily="34" charset="-122"/>
                <a:cs typeface="Times New Roman" panose="02020603050405020304" pitchFamily="18" charset="0"/>
              </a:rPr>
              <a:t>T.len</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else return 0;</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rPr>
              <a:t>  }</a:t>
            </a:r>
            <a:endParaRPr kumimoji="0" lang="en-US" altLang="zh-CN" sz="2000" b="0" i="0" u="none" strike="noStrike" kern="0" cap="none" spc="0" normalizeH="0" baseline="0" noProof="0" dirty="0" smtClean="0">
              <a:ln>
                <a:noFill/>
              </a:ln>
              <a:solidFill>
                <a:srgbClr val="000000"/>
              </a:solidFill>
              <a:effectLst/>
              <a:uLnTx/>
              <a:uFillTx/>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1">
                                            <p:txEl>
                                              <p:charRg st="105" end="130"/>
                                            </p:txEl>
                                          </p:spTgt>
                                        </p:tgtEl>
                                        <p:attrNameLst>
                                          <p:attrName>style.visibility</p:attrName>
                                        </p:attrNameLst>
                                      </p:cBhvr>
                                      <p:to>
                                        <p:strVal val="visible"/>
                                      </p:to>
                                    </p:set>
                                    <p:anim calcmode="lin" valueType="num">
                                      <p:cBhvr additive="base">
                                        <p:cTn id="7" dur="500" fill="hold"/>
                                        <p:tgtEl>
                                          <p:spTgt spid="11">
                                            <p:txEl>
                                              <p:charRg st="105" end="13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charRg st="105" end="130"/>
                                            </p:txEl>
                                          </p:spTgt>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1">
                                            <p:txEl>
                                              <p:charRg st="130" end="160"/>
                                            </p:txEl>
                                          </p:spTgt>
                                        </p:tgtEl>
                                        <p:attrNameLst>
                                          <p:attrName>style.visibility</p:attrName>
                                        </p:attrNameLst>
                                      </p:cBhvr>
                                      <p:to>
                                        <p:strVal val="visible"/>
                                      </p:to>
                                    </p:set>
                                    <p:anim calcmode="lin" valueType="num">
                                      <p:cBhvr additive="base">
                                        <p:cTn id="11" dur="500" fill="hold"/>
                                        <p:tgtEl>
                                          <p:spTgt spid="11">
                                            <p:txEl>
                                              <p:charRg st="130" end="16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charRg st="130" end="160"/>
                                            </p:txEl>
                                          </p:spTgt>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11">
                                            <p:txEl>
                                              <p:charRg st="160" end="198"/>
                                            </p:txEl>
                                          </p:spTgt>
                                        </p:tgtEl>
                                        <p:attrNameLst>
                                          <p:attrName>style.visibility</p:attrName>
                                        </p:attrNameLst>
                                      </p:cBhvr>
                                      <p:to>
                                        <p:strVal val="visible"/>
                                      </p:to>
                                    </p:set>
                                    <p:anim calcmode="lin" valueType="num">
                                      <p:cBhvr additive="base">
                                        <p:cTn id="15" dur="500" fill="hold"/>
                                        <p:tgtEl>
                                          <p:spTgt spid="11">
                                            <p:txEl>
                                              <p:charRg st="160" end="19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
                                            <p:txEl>
                                              <p:charRg st="160" end="198"/>
                                            </p:txEl>
                                          </p:spTgt>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11">
                                            <p:txEl>
                                              <p:charRg st="198" end="228"/>
                                            </p:txEl>
                                          </p:spTgt>
                                        </p:tgtEl>
                                        <p:attrNameLst>
                                          <p:attrName>style.visibility</p:attrName>
                                        </p:attrNameLst>
                                      </p:cBhvr>
                                      <p:to>
                                        <p:strVal val="visible"/>
                                      </p:to>
                                    </p:set>
                                    <p:anim calcmode="lin" valueType="num">
                                      <p:cBhvr additive="base">
                                        <p:cTn id="19" dur="500" fill="hold"/>
                                        <p:tgtEl>
                                          <p:spTgt spid="11">
                                            <p:txEl>
                                              <p:charRg st="198" end="22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charRg st="198" end="228"/>
                                            </p:txEl>
                                          </p:spTgt>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11">
                                            <p:txEl>
                                              <p:charRg st="228" end="241"/>
                                            </p:txEl>
                                          </p:spTgt>
                                        </p:tgtEl>
                                        <p:attrNameLst>
                                          <p:attrName>style.visibility</p:attrName>
                                        </p:attrNameLst>
                                      </p:cBhvr>
                                      <p:to>
                                        <p:strVal val="visible"/>
                                      </p:to>
                                    </p:set>
                                    <p:anim calcmode="lin" valueType="num">
                                      <p:cBhvr additive="base">
                                        <p:cTn id="23" dur="500" fill="hold"/>
                                        <p:tgtEl>
                                          <p:spTgt spid="11">
                                            <p:txEl>
                                              <p:charRg st="228" end="24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
                                            <p:txEl>
                                              <p:charRg st="228" end="241"/>
                                            </p:txEl>
                                          </p:spTgt>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11">
                                            <p:txEl>
                                              <p:charRg st="241" end="278"/>
                                            </p:txEl>
                                          </p:spTgt>
                                        </p:tgtEl>
                                        <p:attrNameLst>
                                          <p:attrName>style.visibility</p:attrName>
                                        </p:attrNameLst>
                                      </p:cBhvr>
                                      <p:to>
                                        <p:strVal val="visible"/>
                                      </p:to>
                                    </p:set>
                                    <p:anim calcmode="lin" valueType="num">
                                      <p:cBhvr additive="base">
                                        <p:cTn id="27" dur="500" fill="hold"/>
                                        <p:tgtEl>
                                          <p:spTgt spid="11">
                                            <p:txEl>
                                              <p:charRg st="241" end="27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
                                            <p:txEl>
                                              <p:charRg st="241" end="278"/>
                                            </p:txEl>
                                          </p:spTgt>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11">
                                            <p:txEl>
                                              <p:charRg st="278" end="301"/>
                                            </p:txEl>
                                          </p:spTgt>
                                        </p:tgtEl>
                                        <p:attrNameLst>
                                          <p:attrName>style.visibility</p:attrName>
                                        </p:attrNameLst>
                                      </p:cBhvr>
                                      <p:to>
                                        <p:strVal val="visible"/>
                                      </p:to>
                                    </p:set>
                                    <p:anim calcmode="lin" valueType="num">
                                      <p:cBhvr additive="base">
                                        <p:cTn id="31" dur="500" fill="hold"/>
                                        <p:tgtEl>
                                          <p:spTgt spid="11">
                                            <p:txEl>
                                              <p:charRg st="278" end="30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charRg st="278" end="301"/>
                                            </p:txEl>
                                          </p:spTgt>
                                        </p:tgtEl>
                                        <p:attrNameLst>
                                          <p:attrName>ppt_y</p:attrName>
                                        </p:attrNameLst>
                                      </p:cBhvr>
                                      <p:tavLst>
                                        <p:tav tm="0">
                                          <p:val>
                                            <p:strVal val="0-#ppt_h/2"/>
                                          </p:val>
                                        </p:tav>
                                        <p:tav tm="100000">
                                          <p:val>
                                            <p:strVal val="#ppt_y"/>
                                          </p:val>
                                        </p:tav>
                                      </p:tavLst>
                                    </p:anim>
                                  </p:childTnLst>
                                </p:cTn>
                              </p:par>
                              <p:par>
                                <p:cTn id="33" presetID="2" presetClass="entr" presetSubtype="1" fill="hold" nodeType="withEffect">
                                  <p:stCondLst>
                                    <p:cond delay="0"/>
                                  </p:stCondLst>
                                  <p:childTnLst>
                                    <p:set>
                                      <p:cBhvr>
                                        <p:cTn id="34" dur="1" fill="hold">
                                          <p:stCondLst>
                                            <p:cond delay="0"/>
                                          </p:stCondLst>
                                        </p:cTn>
                                        <p:tgtEl>
                                          <p:spTgt spid="11">
                                            <p:txEl>
                                              <p:charRg st="301" end="305"/>
                                            </p:txEl>
                                          </p:spTgt>
                                        </p:tgtEl>
                                        <p:attrNameLst>
                                          <p:attrName>style.visibility</p:attrName>
                                        </p:attrNameLst>
                                      </p:cBhvr>
                                      <p:to>
                                        <p:strVal val="visible"/>
                                      </p:to>
                                    </p:set>
                                    <p:anim calcmode="lin" valueType="num">
                                      <p:cBhvr additive="base">
                                        <p:cTn id="35" dur="500" fill="hold"/>
                                        <p:tgtEl>
                                          <p:spTgt spid="11">
                                            <p:txEl>
                                              <p:charRg st="301" end="30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charRg st="301" end="305"/>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串的堆存储表示</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8" name="内容占位符 2"/>
          <p:cNvSpPr txBox="1"/>
          <p:nvPr/>
        </p:nvSpPr>
        <p:spPr bwMode="gray">
          <a:xfrm>
            <a:off x="309880" y="1128395"/>
            <a:ext cx="11571605" cy="173990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在实际应用中，串的长度会相差很大，存储串值时总是预分配固定大小的空间不尽合理。</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串的堆存储</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方法仍以一组地址连续的存储单元存放串值字符序列，但它们的存储空间是在程序执行过程中动态分配的，根据实际串长分配所需的存储空间。</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06503" name="内容占位符 2"/>
          <p:cNvSpPr txBox="1"/>
          <p:nvPr/>
        </p:nvSpPr>
        <p:spPr>
          <a:xfrm>
            <a:off x="177800" y="2595880"/>
            <a:ext cx="11760835" cy="2226945"/>
          </a:xfrm>
          <a:prstGeom prst="rect">
            <a:avLst/>
          </a:prstGeom>
          <a:noFill/>
          <a:ln w="9525">
            <a:noFill/>
          </a:ln>
        </p:spPr>
        <p:txBody>
          <a:bodyPr/>
          <a:p>
            <a:pPr indent="457200" fontAlgn="auto">
              <a:lnSpc>
                <a:spcPct val="150000"/>
              </a:lnSpc>
            </a:pPr>
            <a:r>
              <a:rPr lang="zh-CN" altLang="zh-CN" sz="2000" b="0" dirty="0">
                <a:solidFill>
                  <a:srgbClr val="000000"/>
                </a:solidFill>
                <a:latin typeface="微软雅黑" panose="020B0503020204020204" pitchFamily="34" charset="-122"/>
              </a:rPr>
              <a:t>其基本思想是：</a:t>
            </a:r>
            <a:r>
              <a:rPr lang="zh-CN" altLang="zh-CN" sz="2000" b="0" dirty="0">
                <a:solidFill>
                  <a:srgbClr val="FF0066"/>
                </a:solidFill>
                <a:latin typeface="微软雅黑" panose="020B0503020204020204" pitchFamily="34" charset="-122"/>
              </a:rPr>
              <a:t>在内存中开辟一块地址连续的、能存储足够多串的存储空间，作为应用程序中所有串的可利用存储空间，称为</a:t>
            </a:r>
            <a:r>
              <a:rPr lang="zh-CN" altLang="zh-CN" sz="2000" dirty="0">
                <a:solidFill>
                  <a:srgbClr val="FF0066"/>
                </a:solidFill>
                <a:latin typeface="微软雅黑" panose="020B0503020204020204" pitchFamily="34" charset="-122"/>
              </a:rPr>
              <a:t>堆空间</a:t>
            </a:r>
            <a:r>
              <a:rPr lang="zh-CN" altLang="zh-CN" sz="2000" b="0" dirty="0">
                <a:solidFill>
                  <a:srgbClr val="FF0066"/>
                </a:solidFill>
                <a:latin typeface="微软雅黑" panose="020B0503020204020204" pitchFamily="34" charset="-122"/>
              </a:rPr>
              <a:t>。</a:t>
            </a:r>
            <a:r>
              <a:rPr lang="zh-CN" altLang="zh-CN" sz="2000" b="0" dirty="0">
                <a:solidFill>
                  <a:srgbClr val="000000"/>
                </a:solidFill>
                <a:latin typeface="微软雅黑" panose="020B0503020204020204" pitchFamily="34" charset="-122"/>
              </a:rPr>
              <a:t>根据每个串的长度，在堆空间里动态地为每个串分配相应大小的存储区域，串值依次存储在该区域中。若在操作过程中原空间不够了，可根据串的实际长度重新分配，并释放原空间。</a:t>
            </a:r>
            <a:endParaRPr lang="zh-CN" altLang="zh-CN" sz="2000" b="0" dirty="0">
              <a:solidFill>
                <a:srgbClr val="000000"/>
              </a:solidFill>
              <a:latin typeface="微软雅黑" panose="020B0503020204020204" pitchFamily="34" charset="-122"/>
            </a:endParaRPr>
          </a:p>
        </p:txBody>
      </p:sp>
      <p:sp>
        <p:nvSpPr>
          <p:cNvPr id="13" name="内容占位符 2"/>
          <p:cNvSpPr txBox="1"/>
          <p:nvPr/>
        </p:nvSpPr>
        <p:spPr bwMode="gray">
          <a:xfrm>
            <a:off x="227965" y="4432300"/>
            <a:ext cx="11710670" cy="1426845"/>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该方法是用串变量的名字作为关键字组织串名－串值内存分配对照表，也称为</a:t>
            </a:r>
            <a:r>
              <a:rPr kumimoji="0" lang="zh-CN" altLang="zh-CN"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索引表</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，表中存储的是串名和串值存储位置之间的对应关系</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串的堆存储表示</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475615" y="1007110"/>
            <a:ext cx="10106025" cy="5014283"/>
            <a:chOff x="600" y="2040"/>
            <a:chExt cx="13320" cy="8364"/>
          </a:xfrm>
        </p:grpSpPr>
        <p:sp>
          <p:nvSpPr>
            <p:cNvPr id="12" name="内容占位符 2"/>
            <p:cNvSpPr txBox="1"/>
            <p:nvPr/>
          </p:nvSpPr>
          <p:spPr bwMode="gray">
            <a:xfrm>
              <a:off x="600" y="2040"/>
              <a:ext cx="13320" cy="960"/>
            </a:xfrm>
            <a:prstGeom prst="rect">
              <a:avLst/>
            </a:prstGeom>
            <a:noFill/>
            <a:ln w="9525">
              <a:noFill/>
              <a:miter lim="800000"/>
            </a:ln>
          </p:spPr>
          <p:txBody>
            <a:bodyPr/>
            <a:p>
              <a:pPr marR="0" defTabSz="914400">
                <a:buClrTx/>
                <a:buSzTx/>
                <a:buFontTx/>
                <a:buNone/>
                <a:defRPr/>
              </a:pP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索引表有多种表示形式，常见有如下两种：</a:t>
              </a:r>
              <a:endPar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3" name="内容占位符 2"/>
            <p:cNvSpPr txBox="1"/>
            <p:nvPr/>
          </p:nvSpPr>
          <p:spPr bwMode="gray">
            <a:xfrm>
              <a:off x="600" y="2760"/>
              <a:ext cx="13320" cy="960"/>
            </a:xfrm>
            <a:prstGeom prst="rect">
              <a:avLst/>
            </a:prstGeom>
            <a:noFill/>
            <a:ln w="9525">
              <a:noFill/>
              <a:miter lim="800000"/>
            </a:ln>
          </p:spPr>
          <p:txBody>
            <a:bodyPr/>
            <a:p>
              <a:pPr marR="0" defTabSz="914400">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假设</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s1="data"</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s2="structure"</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内容占位符 2"/>
            <p:cNvSpPr txBox="1"/>
            <p:nvPr/>
          </p:nvSpPr>
          <p:spPr bwMode="gray">
            <a:xfrm>
              <a:off x="600" y="3480"/>
              <a:ext cx="13320" cy="840"/>
            </a:xfrm>
            <a:prstGeom prst="rect">
              <a:avLst/>
            </a:prstGeom>
            <a:noFill/>
            <a:ln w="9525">
              <a:noFill/>
              <a:miter lim="800000"/>
            </a:ln>
          </p:spPr>
          <p:txBody>
            <a:bodyPr/>
            <a:p>
              <a:pPr marL="457200" marR="0" indent="-457200" defTabSz="914400">
                <a:buClrTx/>
                <a:buSzTx/>
                <a:buFontTx/>
                <a:buAutoNum type="arabicPeriod"/>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带串长度的索引表</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457200" marR="0" indent="-457200" defTabSz="914400">
                <a:buClrTx/>
                <a:buSzTx/>
                <a:buFontTx/>
                <a:buNone/>
                <a:defRPr/>
              </a:pP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07530" name="内容占位符 2"/>
            <p:cNvSpPr txBox="1"/>
            <p:nvPr/>
          </p:nvSpPr>
          <p:spPr>
            <a:xfrm>
              <a:off x="600" y="4200"/>
              <a:ext cx="13320" cy="4200"/>
            </a:xfrm>
            <a:prstGeom prst="rect">
              <a:avLst/>
            </a:prstGeom>
            <a:noFill/>
            <a:ln w="9525">
              <a:noFill/>
            </a:ln>
          </p:spPr>
          <p:txBody>
            <a:bodyPr/>
            <a:p>
              <a:pPr marL="457200" indent="-457200"/>
              <a:r>
                <a:rPr lang="zh-CN" altLang="zh-CN" sz="2000" b="0" dirty="0">
                  <a:solidFill>
                    <a:srgbClr val="000000"/>
                  </a:solidFill>
                  <a:latin typeface="微软雅黑" panose="020B0503020204020204" pitchFamily="34" charset="-122"/>
                </a:rPr>
                <a:t>索引项的结点类型为：</a:t>
              </a:r>
              <a:endParaRPr lang="en-US" altLang="zh-CN" sz="2000" b="0">
                <a:solidFill>
                  <a:srgbClr val="000000"/>
                </a:solidFill>
                <a:latin typeface="微软雅黑" panose="020B0503020204020204" pitchFamily="34" charset="-122"/>
              </a:endParaRPr>
            </a:p>
            <a:p>
              <a:pPr marL="457200" indent="-457200"/>
              <a:r>
                <a:rPr lang="en-US" altLang="zh-CN" sz="2000" b="0">
                  <a:solidFill>
                    <a:srgbClr val="000000"/>
                  </a:solidFill>
                  <a:latin typeface="微软雅黑" panose="020B0503020204020204" pitchFamily="34" charset="-122"/>
                </a:rPr>
                <a:t>      </a:t>
              </a:r>
              <a:r>
                <a:rPr lang="en-US" altLang="zh-CN" sz="2000" b="0" err="1">
                  <a:solidFill>
                    <a:srgbClr val="000000"/>
                  </a:solidFill>
                  <a:latin typeface="Times New Roman" panose="02020603050405020304" pitchFamily="18" charset="0"/>
                  <a:cs typeface="Times New Roman" panose="02020603050405020304" pitchFamily="18" charset="0"/>
                </a:rPr>
                <a:t>struct</a:t>
              </a:r>
              <a:r>
                <a:rPr lang="en-US" altLang="zh-CN" sz="2000" b="0">
                  <a:solidFill>
                    <a:srgbClr val="000000"/>
                  </a:solidFill>
                  <a:latin typeface="Times New Roman" panose="02020603050405020304" pitchFamily="18" charset="0"/>
                  <a:cs typeface="Times New Roman" panose="02020603050405020304" pitchFamily="18" charset="0"/>
                </a:rPr>
                <a:t> </a:t>
              </a:r>
              <a:r>
                <a:rPr lang="en-US" altLang="zh-CN" sz="2000" b="0" err="1">
                  <a:solidFill>
                    <a:srgbClr val="000000"/>
                  </a:solidFill>
                  <a:latin typeface="Times New Roman" panose="02020603050405020304" pitchFamily="18" charset="0"/>
                  <a:cs typeface="Times New Roman" panose="02020603050405020304" pitchFamily="18" charset="0"/>
                </a:rPr>
                <a:t>StringLNode</a:t>
              </a:r>
              <a:endParaRPr lang="zh-CN" altLang="zh-CN" sz="2000" b="0" dirty="0">
                <a:solidFill>
                  <a:srgbClr val="000000"/>
                </a:solidFill>
                <a:latin typeface="Times New Roman" panose="02020603050405020304" pitchFamily="18" charset="0"/>
                <a:cs typeface="Times New Roman" panose="02020603050405020304" pitchFamily="18" charset="0"/>
              </a:endParaRPr>
            </a:p>
            <a:p>
              <a:pPr marL="457200" indent="-457200"/>
              <a:r>
                <a:rPr lang="en-US" altLang="zh-CN" sz="2000" b="0">
                  <a:solidFill>
                    <a:srgbClr val="000000"/>
                  </a:solidFill>
                  <a:latin typeface="Times New Roman" panose="02020603050405020304" pitchFamily="18" charset="0"/>
                  <a:cs typeface="Times New Roman" panose="02020603050405020304" pitchFamily="18" charset="0"/>
                </a:rPr>
                <a:t>      {</a:t>
              </a:r>
              <a:endParaRPr lang="zh-CN" altLang="zh-CN" sz="2000" b="0" dirty="0">
                <a:solidFill>
                  <a:srgbClr val="000000"/>
                </a:solidFill>
                <a:latin typeface="Times New Roman" panose="02020603050405020304" pitchFamily="18" charset="0"/>
                <a:cs typeface="Times New Roman" panose="02020603050405020304" pitchFamily="18" charset="0"/>
              </a:endParaRPr>
            </a:p>
            <a:p>
              <a:pPr marL="457200" indent="-457200"/>
              <a:r>
                <a:rPr lang="en-US" altLang="zh-CN" sz="2000" b="0">
                  <a:solidFill>
                    <a:srgbClr val="000000"/>
                  </a:solidFill>
                  <a:latin typeface="Times New Roman" panose="02020603050405020304" pitchFamily="18" charset="0"/>
                  <a:cs typeface="Times New Roman" panose="02020603050405020304" pitchFamily="18" charset="0"/>
                </a:rPr>
                <a:t>          char </a:t>
              </a:r>
              <a:r>
                <a:rPr lang="en-US" altLang="zh-CN" sz="2000" b="0" err="1">
                  <a:solidFill>
                    <a:srgbClr val="000000"/>
                  </a:solidFill>
                  <a:latin typeface="Times New Roman" panose="02020603050405020304" pitchFamily="18" charset="0"/>
                  <a:cs typeface="Times New Roman" panose="02020603050405020304" pitchFamily="18" charset="0"/>
                </a:rPr>
                <a:t>name[MAXNAME</a:t>
              </a:r>
              <a:r>
                <a:rPr lang="en-US" altLang="zh-CN" sz="2000" b="0">
                  <a:solidFill>
                    <a:srgbClr val="000000"/>
                  </a:solidFill>
                  <a:latin typeface="Times New Roman" panose="02020603050405020304" pitchFamily="18" charset="0"/>
                  <a:cs typeface="Times New Roman" panose="02020603050405020304" pitchFamily="18" charset="0"/>
                </a:rPr>
                <a:t>];	// </a:t>
              </a:r>
              <a:r>
                <a:rPr lang="zh-CN" altLang="zh-CN" sz="2000" b="0" dirty="0">
                  <a:solidFill>
                    <a:srgbClr val="000000"/>
                  </a:solidFill>
                  <a:latin typeface="Times New Roman" panose="02020603050405020304" pitchFamily="18" charset="0"/>
                  <a:cs typeface="Times New Roman" panose="02020603050405020304" pitchFamily="18" charset="0"/>
                </a:rPr>
                <a:t>串名</a:t>
              </a:r>
              <a:r>
                <a:rPr lang="en-US" altLang="zh-CN" sz="2000" b="0">
                  <a:solidFill>
                    <a:srgbClr val="000000"/>
                  </a:solidFill>
                  <a:latin typeface="Times New Roman" panose="02020603050405020304" pitchFamily="18" charset="0"/>
                  <a:cs typeface="Times New Roman" panose="02020603050405020304" pitchFamily="18" charset="0"/>
                </a:rPr>
                <a:t> </a:t>
              </a:r>
              <a:endParaRPr lang="zh-CN" altLang="zh-CN" sz="2000" b="0" dirty="0">
                <a:solidFill>
                  <a:srgbClr val="000000"/>
                </a:solidFill>
                <a:latin typeface="Times New Roman" panose="02020603050405020304" pitchFamily="18" charset="0"/>
                <a:cs typeface="Times New Roman" panose="02020603050405020304" pitchFamily="18" charset="0"/>
              </a:endParaRPr>
            </a:p>
            <a:p>
              <a:pPr marL="457200" indent="-457200"/>
              <a:r>
                <a:rPr lang="en-US" altLang="zh-CN" sz="2000" b="0">
                  <a:solidFill>
                    <a:srgbClr val="000000"/>
                  </a:solidFill>
                  <a:latin typeface="Times New Roman" panose="02020603050405020304" pitchFamily="18" charset="0"/>
                  <a:cs typeface="Times New Roman" panose="02020603050405020304" pitchFamily="18" charset="0"/>
                </a:rPr>
                <a:t>          </a:t>
              </a:r>
              <a:r>
                <a:rPr lang="en-US" altLang="zh-CN" sz="2000" b="0" err="1">
                  <a:solidFill>
                    <a:srgbClr val="000000"/>
                  </a:solidFill>
                  <a:latin typeface="Times New Roman" panose="02020603050405020304" pitchFamily="18" charset="0"/>
                  <a:cs typeface="Times New Roman" panose="02020603050405020304" pitchFamily="18" charset="0"/>
                </a:rPr>
                <a:t>int</a:t>
              </a:r>
              <a:r>
                <a:rPr lang="en-US" altLang="zh-CN" sz="2000" b="0">
                  <a:solidFill>
                    <a:srgbClr val="000000"/>
                  </a:solidFill>
                  <a:latin typeface="Times New Roman" panose="02020603050405020304" pitchFamily="18" charset="0"/>
                  <a:cs typeface="Times New Roman" panose="02020603050405020304" pitchFamily="18" charset="0"/>
                </a:rPr>
                <a:t> length;	      // </a:t>
              </a:r>
              <a:r>
                <a:rPr lang="zh-CN" altLang="zh-CN" sz="2000" b="0" dirty="0">
                  <a:solidFill>
                    <a:srgbClr val="000000"/>
                  </a:solidFill>
                  <a:latin typeface="Times New Roman" panose="02020603050405020304" pitchFamily="18" charset="0"/>
                  <a:cs typeface="Times New Roman" panose="02020603050405020304" pitchFamily="18" charset="0"/>
                </a:rPr>
                <a:t>串长</a:t>
              </a:r>
              <a:endParaRPr lang="zh-CN" altLang="zh-CN" sz="2000" b="0" dirty="0">
                <a:solidFill>
                  <a:srgbClr val="000000"/>
                </a:solidFill>
                <a:latin typeface="Times New Roman" panose="02020603050405020304" pitchFamily="18" charset="0"/>
                <a:cs typeface="Times New Roman" panose="02020603050405020304" pitchFamily="18" charset="0"/>
              </a:endParaRPr>
            </a:p>
            <a:p>
              <a:pPr marL="457200" indent="-457200"/>
              <a:r>
                <a:rPr lang="en-US" altLang="zh-CN" sz="2000" b="0">
                  <a:solidFill>
                    <a:srgbClr val="000000"/>
                  </a:solidFill>
                  <a:latin typeface="Times New Roman" panose="02020603050405020304" pitchFamily="18" charset="0"/>
                  <a:cs typeface="Times New Roman" panose="02020603050405020304" pitchFamily="18" charset="0"/>
                </a:rPr>
                <a:t>          char *start;   	// </a:t>
              </a:r>
              <a:r>
                <a:rPr lang="zh-CN" altLang="zh-CN" sz="2000" b="0" dirty="0">
                  <a:solidFill>
                    <a:srgbClr val="000000"/>
                  </a:solidFill>
                  <a:latin typeface="Times New Roman" panose="02020603050405020304" pitchFamily="18" charset="0"/>
                  <a:cs typeface="Times New Roman" panose="02020603050405020304" pitchFamily="18" charset="0"/>
                </a:rPr>
                <a:t>起始地址</a:t>
              </a:r>
              <a:endParaRPr lang="zh-CN" altLang="zh-CN" sz="2000" b="0" dirty="0">
                <a:solidFill>
                  <a:srgbClr val="000000"/>
                </a:solidFill>
                <a:latin typeface="Times New Roman" panose="02020603050405020304" pitchFamily="18" charset="0"/>
                <a:cs typeface="Times New Roman" panose="02020603050405020304" pitchFamily="18" charset="0"/>
              </a:endParaRPr>
            </a:p>
            <a:p>
              <a:pPr marL="457200" indent="-457200"/>
              <a:r>
                <a:rPr lang="en-US" altLang="zh-CN" sz="2000" b="0">
                  <a:solidFill>
                    <a:srgbClr val="000000"/>
                  </a:solidFill>
                  <a:latin typeface="Times New Roman" panose="02020603050405020304" pitchFamily="18" charset="0"/>
                  <a:cs typeface="Times New Roman" panose="02020603050405020304" pitchFamily="18" charset="0"/>
                </a:rPr>
                <a:t>      };</a:t>
              </a:r>
              <a:endParaRPr lang="en-US" altLang="zh-CN" sz="2000" b="0" dirty="0">
                <a:solidFill>
                  <a:srgbClr val="000000"/>
                </a:solidFill>
                <a:latin typeface="Times New Roman" panose="02020603050405020304" pitchFamily="18" charset="0"/>
                <a:cs typeface="Times New Roman" panose="02020603050405020304" pitchFamily="18" charset="0"/>
              </a:endParaRPr>
            </a:p>
          </p:txBody>
        </p:sp>
        <p:graphicFrame>
          <p:nvGraphicFramePr>
            <p:cNvPr id="107532" name="Object 1"/>
            <p:cNvGraphicFramePr>
              <a:graphicFrameLocks noChangeAspect="1"/>
            </p:cNvGraphicFramePr>
            <p:nvPr/>
          </p:nvGraphicFramePr>
          <p:xfrm>
            <a:off x="2955" y="7611"/>
            <a:ext cx="10365" cy="2793"/>
          </p:xfrm>
          <a:graphic>
            <a:graphicData uri="http://schemas.openxmlformats.org/presentationml/2006/ole">
              <mc:AlternateContent xmlns:mc="http://schemas.openxmlformats.org/markup-compatibility/2006">
                <mc:Choice xmlns:v="urn:schemas-microsoft-com:vml" Requires="v">
                  <p:oleObj spid="_x0000_s3083" name="" r:id="rId3" imgW="5448300" imgH="1473200" progId="Visio.Drawing.11">
                    <p:embed/>
                  </p:oleObj>
                </mc:Choice>
                <mc:Fallback>
                  <p:oleObj name="" r:id="rId3" imgW="5448300" imgH="1473200" progId="Visio.Drawing.11">
                    <p:embed/>
                    <p:pic>
                      <p:nvPicPr>
                        <p:cNvPr id="0" name="图片 3082"/>
                        <p:cNvPicPr/>
                        <p:nvPr/>
                      </p:nvPicPr>
                      <p:blipFill>
                        <a:blip r:embed="rId4"/>
                        <a:stretch>
                          <a:fillRect/>
                        </a:stretch>
                      </p:blipFill>
                      <p:spPr>
                        <a:xfrm>
                          <a:off x="2955" y="7611"/>
                          <a:ext cx="10365" cy="2793"/>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串的堆存储表示</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381000" y="1122045"/>
            <a:ext cx="10789920" cy="4703480"/>
            <a:chOff x="600" y="2040"/>
            <a:chExt cx="13320" cy="7106"/>
          </a:xfrm>
        </p:grpSpPr>
        <p:sp>
          <p:nvSpPr>
            <p:cNvPr id="18" name="内容占位符 2"/>
            <p:cNvSpPr txBox="1"/>
            <p:nvPr/>
          </p:nvSpPr>
          <p:spPr bwMode="gray">
            <a:xfrm>
              <a:off x="600" y="2040"/>
              <a:ext cx="13320" cy="840"/>
            </a:xfrm>
            <a:prstGeom prst="rect">
              <a:avLst/>
            </a:prstGeom>
            <a:noFill/>
            <a:ln w="9525">
              <a:noFill/>
              <a:miter lim="800000"/>
            </a:ln>
          </p:spPr>
          <p:txBody>
            <a:bodyPr/>
            <a:p>
              <a:pPr marR="0" defTabSz="914400">
                <a:buClrTx/>
                <a:buSzTx/>
                <a:buFontTx/>
                <a:buNone/>
                <a:defRPr/>
              </a:pPr>
              <a:r>
                <a:rPr kumimoji="0" lang="en-US"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2. </a:t>
              </a:r>
              <a:r>
                <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带尾指针的索引表</a:t>
              </a:r>
              <a:endParaRPr kumimoji="0" lang="zh-CN" altLang="zh-CN" sz="24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2" name="内容占位符 2"/>
            <p:cNvSpPr txBox="1"/>
            <p:nvPr/>
          </p:nvSpPr>
          <p:spPr bwMode="gray">
            <a:xfrm>
              <a:off x="600" y="2760"/>
              <a:ext cx="13320" cy="3720"/>
            </a:xfrm>
            <a:prstGeom prst="rect">
              <a:avLst/>
            </a:prstGeom>
            <a:noFill/>
            <a:ln w="9525">
              <a:noFill/>
              <a:miter lim="800000"/>
            </a:ln>
          </p:spPr>
          <p:txBody>
            <a:bodyPr/>
            <a:p>
              <a:pPr marR="0" defTabSz="914400">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索引项的结点类型为：</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struct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StringENode</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char  name[MAXNAME]; // </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串名</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char *</a:t>
              </a:r>
              <a:r>
                <a:rPr kumimoji="0" lang="en-US" altLang="zh-CN" sz="2000" b="0" kern="1200" cap="none" spc="0" normalizeH="0" baseline="0" noProof="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strat</a:t>
              </a: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*end;   // </a:t>
              </a:r>
              <a:r>
                <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起始地址，末尾地址</a:t>
              </a:r>
              <a:endParaRPr kumimoji="0" lang="zh-CN"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R="0" defTabSz="914400">
                <a:buClrTx/>
                <a:buSzTx/>
                <a:buFontTx/>
                <a:buNone/>
                <a:defRPr/>
              </a:pPr>
              <a:r>
                <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2000" b="0" kern="1200" cap="none" spc="0" normalizeH="0" baseline="0" noProof="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8554" name="Object 1"/>
            <p:cNvGraphicFramePr>
              <a:graphicFrameLocks noChangeAspect="1"/>
            </p:cNvGraphicFramePr>
            <p:nvPr/>
          </p:nvGraphicFramePr>
          <p:xfrm>
            <a:off x="1464" y="6203"/>
            <a:ext cx="10680" cy="2943"/>
          </p:xfrm>
          <a:graphic>
            <a:graphicData uri="http://schemas.openxmlformats.org/presentationml/2006/ole">
              <mc:AlternateContent xmlns:mc="http://schemas.openxmlformats.org/markup-compatibility/2006">
                <mc:Choice xmlns:v="urn:schemas-microsoft-com:vml" Requires="v">
                  <p:oleObj spid="_x0000_s3082" name="" r:id="rId3" imgW="3935730" imgH="1093470" progId="Visio.Drawing.11">
                    <p:embed/>
                  </p:oleObj>
                </mc:Choice>
                <mc:Fallback>
                  <p:oleObj name="" r:id="rId3" imgW="3935730" imgH="1093470" progId="Visio.Drawing.11">
                    <p:embed/>
                    <p:pic>
                      <p:nvPicPr>
                        <p:cNvPr id="0" name="图片 3081"/>
                        <p:cNvPicPr/>
                        <p:nvPr/>
                      </p:nvPicPr>
                      <p:blipFill>
                        <a:blip r:embed="rId4"/>
                        <a:stretch>
                          <a:fillRect/>
                        </a:stretch>
                      </p:blipFill>
                      <p:spPr>
                        <a:xfrm>
                          <a:off x="1464" y="6203"/>
                          <a:ext cx="10680" cy="2943"/>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1001375" cy="492633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串的堆存储表示</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198309" y="1324968"/>
            <a:ext cx="11512012" cy="4698523"/>
            <a:chOff x="675" y="3210"/>
            <a:chExt cx="16376" cy="6277"/>
          </a:xfrm>
        </p:grpSpPr>
        <p:sp>
          <p:nvSpPr>
            <p:cNvPr id="18" name="内容占位符 2"/>
            <p:cNvSpPr txBox="1"/>
            <p:nvPr/>
          </p:nvSpPr>
          <p:spPr bwMode="gray">
            <a:xfrm>
              <a:off x="675" y="3210"/>
              <a:ext cx="16156" cy="2941"/>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串的</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块链存储方式是一种</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链式存储结构</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与一般的单链表类似，结点由字符域和指针域构成。其类型定义与单链表的定义类似，只需将</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data</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域的类型由元素类型</a:t>
              </a:r>
              <a:r>
                <a:rPr kumimoji="0" lang="en-US" altLang="zh-CN" sz="2000" b="0"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ElemType</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改为字符类型</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char</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即可，称为链串。</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2" name="内容占位符 2"/>
            <p:cNvSpPr txBox="1"/>
            <p:nvPr/>
          </p:nvSpPr>
          <p:spPr bwMode="gray">
            <a:xfrm>
              <a:off x="781" y="5135"/>
              <a:ext cx="13320" cy="96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例如，</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S="data structure"</a:t>
              </a: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，如图所示。</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aphicFrame>
          <p:nvGraphicFramePr>
            <p:cNvPr id="109579" name="Object 3"/>
            <p:cNvGraphicFramePr>
              <a:graphicFrameLocks noChangeAspect="1"/>
            </p:cNvGraphicFramePr>
            <p:nvPr/>
          </p:nvGraphicFramePr>
          <p:xfrm>
            <a:off x="1181" y="6095"/>
            <a:ext cx="12335" cy="960"/>
          </p:xfrm>
          <a:graphic>
            <a:graphicData uri="http://schemas.openxmlformats.org/presentationml/2006/ole">
              <mc:AlternateContent xmlns:mc="http://schemas.openxmlformats.org/markup-compatibility/2006">
                <mc:Choice xmlns:v="urn:schemas-microsoft-com:vml" Requires="v">
                  <p:oleObj spid="_x0000_s3084" name="" r:id="rId3" imgW="6553200" imgH="520700" progId="Visio.Drawing.11">
                    <p:embed/>
                  </p:oleObj>
                </mc:Choice>
                <mc:Fallback>
                  <p:oleObj name="" r:id="rId3" imgW="6553200" imgH="520700" progId="Visio.Drawing.11">
                    <p:embed/>
                    <p:pic>
                      <p:nvPicPr>
                        <p:cNvPr id="0" name="图片 3083"/>
                        <p:cNvPicPr/>
                        <p:nvPr/>
                      </p:nvPicPr>
                      <p:blipFill>
                        <a:blip r:embed="rId4"/>
                        <a:stretch>
                          <a:fillRect/>
                        </a:stretch>
                      </p:blipFill>
                      <p:spPr>
                        <a:xfrm>
                          <a:off x="1181" y="6095"/>
                          <a:ext cx="12335" cy="960"/>
                        </a:xfrm>
                        <a:prstGeom prst="rect">
                          <a:avLst/>
                        </a:prstGeom>
                        <a:noFill/>
                        <a:ln w="38100">
                          <a:noFill/>
                          <a:miter/>
                        </a:ln>
                      </p:spPr>
                    </p:pic>
                  </p:oleObj>
                </mc:Fallback>
              </mc:AlternateContent>
            </a:graphicData>
          </a:graphic>
        </p:graphicFrame>
        <p:sp>
          <p:nvSpPr>
            <p:cNvPr id="16" name="内容占位符 2"/>
            <p:cNvSpPr txBox="1"/>
            <p:nvPr/>
          </p:nvSpPr>
          <p:spPr bwMode="gray">
            <a:xfrm>
              <a:off x="780" y="7207"/>
              <a:ext cx="16271" cy="2280"/>
            </a:xfrm>
            <a:prstGeom prst="rect">
              <a:avLst/>
            </a:prstGeom>
            <a:noFill/>
            <a:ln w="9525">
              <a:noFill/>
              <a:miter lim="800000"/>
            </a:ln>
          </p:spPr>
          <p:txBody>
            <a:bodyPr/>
            <a:p>
              <a:pPr marR="0" indent="457200" defTabSz="914400" fontAlgn="auto">
                <a:lnSpc>
                  <a:spcPct val="150000"/>
                </a:lnSpc>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这种存储结构便于进行插入和删除操作，但每个结点仅存放一个字符，存储空间利用率较低。</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en-US" altLang="zh-CN" b="1" dirty="0" smtClean="0">
                <a:solidFill>
                  <a:srgbClr val="0070C0"/>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en-US" altLang="zh-CN" b="1" dirty="0" smtClean="0">
                <a:solidFill>
                  <a:srgbClr val="005A9E"/>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258445" y="106045"/>
            <a:ext cx="8004175" cy="1022350"/>
          </a:xfrm>
          <a:prstGeom prst="rect">
            <a:avLst/>
          </a:prstGeom>
          <a:noFill/>
        </p:spPr>
        <p:txBody>
          <a:bodyPr wrap="square" rtlCol="0">
            <a:noAutofit/>
          </a:bodyPr>
          <a:p>
            <a:pPr marL="0" lvl="1" indent="-342900" algn="l" eaLnBrk="0" fontAlgn="base" hangingPunct="0">
              <a:buClrTx/>
              <a:buSzTx/>
              <a:buFontTx/>
            </a:pPr>
            <a:r>
              <a:rPr sz="3600" b="1" dirty="0">
                <a:solidFill>
                  <a:schemeClr val="bg1"/>
                </a:solidFill>
                <a:latin typeface="微软雅黑" panose="020B0503020204020204" pitchFamily="34" charset="-122"/>
                <a:ea typeface="微软雅黑" panose="020B0503020204020204" pitchFamily="34" charset="-122"/>
                <a:sym typeface="+mn-ea"/>
              </a:rPr>
              <a:t>串的堆存储表示</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542449" y="655994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9" name="文本框 8"/>
          <p:cNvSpPr txBox="1"/>
          <p:nvPr>
            <p:custDataLst>
              <p:tags r:id="rId1"/>
            </p:custDataLst>
          </p:nvPr>
        </p:nvSpPr>
        <p:spPr>
          <a:xfrm>
            <a:off x="4856907" y="6475856"/>
            <a:ext cx="2042160" cy="368300"/>
          </a:xfrm>
          <a:prstGeom prst="rect">
            <a:avLst/>
          </a:prstGeom>
          <a:noFill/>
          <a:ln>
            <a:noFill/>
          </a:ln>
        </p:spPr>
        <p:txBody>
          <a:bodyPr wrap="square" rtlCol="0">
            <a:spAutoFit/>
          </a:bodyPr>
          <a:p>
            <a:pPr algn="ctr">
              <a:buClrTx/>
              <a:buSzTx/>
              <a:buFontTx/>
            </a:pP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3" name="组合 12"/>
          <p:cNvGrpSpPr/>
          <p:nvPr/>
        </p:nvGrpSpPr>
        <p:grpSpPr>
          <a:xfrm>
            <a:off x="330835" y="1367155"/>
            <a:ext cx="11380470" cy="4104473"/>
            <a:chOff x="438" y="2280"/>
            <a:chExt cx="13200" cy="6298"/>
          </a:xfrm>
        </p:grpSpPr>
        <p:sp>
          <p:nvSpPr>
            <p:cNvPr id="19" name="内容占位符 2"/>
            <p:cNvSpPr txBox="1"/>
            <p:nvPr/>
          </p:nvSpPr>
          <p:spPr bwMode="gray">
            <a:xfrm>
              <a:off x="600" y="2280"/>
              <a:ext cx="4920" cy="960"/>
            </a:xfrm>
            <a:prstGeom prst="rect">
              <a:avLst/>
            </a:prstGeom>
            <a:noFill/>
            <a:ln w="9525">
              <a:noFill/>
              <a:miter lim="800000"/>
            </a:ln>
          </p:spPr>
          <p:txBody>
            <a:bodyPr/>
            <a:p>
              <a:pPr marR="0" defTabSz="914400">
                <a:buClrTx/>
                <a:buSzTx/>
                <a:buFontTx/>
                <a:buNone/>
                <a:defRPr/>
              </a:pPr>
              <a:r>
                <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定义串的存储密度为：</a:t>
              </a:r>
              <a:endParaRPr kumimoji="0" lang="zh-CN"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pic>
          <p:nvPicPr>
            <p:cNvPr id="110602" name="图片 19"/>
            <p:cNvPicPr>
              <a:picLocks noChangeAspect="1"/>
            </p:cNvPicPr>
            <p:nvPr/>
          </p:nvPicPr>
          <p:blipFill>
            <a:blip r:embed="rId3"/>
            <a:stretch>
              <a:fillRect/>
            </a:stretch>
          </p:blipFill>
          <p:spPr>
            <a:xfrm>
              <a:off x="4148" y="2293"/>
              <a:ext cx="5139" cy="897"/>
            </a:xfrm>
            <a:prstGeom prst="rect">
              <a:avLst/>
            </a:prstGeom>
            <a:noFill/>
            <a:ln w="9525">
              <a:noFill/>
            </a:ln>
          </p:spPr>
        </p:pic>
        <p:sp>
          <p:nvSpPr>
            <p:cNvPr id="110603" name="内容占位符 2"/>
            <p:cNvSpPr txBox="1"/>
            <p:nvPr/>
          </p:nvSpPr>
          <p:spPr>
            <a:xfrm>
              <a:off x="438" y="3480"/>
              <a:ext cx="13200" cy="1920"/>
            </a:xfrm>
            <a:prstGeom prst="rect">
              <a:avLst/>
            </a:prstGeom>
            <a:noFill/>
            <a:ln w="9525">
              <a:noFill/>
            </a:ln>
          </p:spPr>
          <p:txBody>
            <a:bodyPr/>
            <a:p>
              <a:pPr indent="457200" fontAlgn="auto"/>
              <a:r>
                <a:rPr lang="zh-CN" altLang="zh-CN" sz="2000" b="0" dirty="0">
                  <a:solidFill>
                    <a:srgbClr val="000000"/>
                  </a:solidFill>
                  <a:latin typeface="微软雅黑" panose="020B0503020204020204" pitchFamily="34" charset="-122"/>
                </a:rPr>
                <a:t>假如指针占</a:t>
              </a:r>
              <a:r>
                <a:rPr lang="en-US" altLang="zh-CN" sz="2000" b="0">
                  <a:solidFill>
                    <a:srgbClr val="000000"/>
                  </a:solidFill>
                  <a:latin typeface="微软雅黑" panose="020B0503020204020204" pitchFamily="34" charset="-122"/>
                </a:rPr>
                <a:t>4</a:t>
              </a:r>
              <a:r>
                <a:rPr lang="zh-CN" altLang="zh-CN" sz="2000" b="0" dirty="0">
                  <a:solidFill>
                    <a:srgbClr val="000000"/>
                  </a:solidFill>
                  <a:latin typeface="微软雅黑" panose="020B0503020204020204" pitchFamily="34" charset="-122"/>
                </a:rPr>
                <a:t>个字节，则</a:t>
              </a:r>
              <a:r>
                <a:rPr lang="zh-CN" altLang="en-US" sz="2000" b="0" dirty="0">
                  <a:solidFill>
                    <a:srgbClr val="000000"/>
                  </a:solidFill>
                  <a:latin typeface="微软雅黑" panose="020B0503020204020204" pitchFamily="34" charset="-122"/>
                </a:rPr>
                <a:t>上</a:t>
              </a:r>
              <a:r>
                <a:rPr lang="zh-CN" altLang="zh-CN" sz="2000" b="0" dirty="0">
                  <a:solidFill>
                    <a:srgbClr val="000000"/>
                  </a:solidFill>
                  <a:latin typeface="微软雅黑" panose="020B0503020204020204" pitchFamily="34" charset="-122"/>
                </a:rPr>
                <a:t>图所示的链串的存储密度只有</a:t>
              </a:r>
              <a:r>
                <a:rPr lang="en-US" altLang="zh-CN" sz="2000" b="0">
                  <a:solidFill>
                    <a:srgbClr val="000000"/>
                  </a:solidFill>
                  <a:latin typeface="微软雅黑" panose="020B0503020204020204" pitchFamily="34" charset="-122"/>
                </a:rPr>
                <a:t>20%</a:t>
              </a:r>
              <a:r>
                <a:rPr lang="zh-CN" altLang="zh-CN" sz="2000" b="0" dirty="0">
                  <a:solidFill>
                    <a:srgbClr val="000000"/>
                  </a:solidFill>
                  <a:latin typeface="微软雅黑" panose="020B0503020204020204" pitchFamily="34" charset="-122"/>
                </a:rPr>
                <a:t>。为了提高存储密度，可以让每个结点存放多个字符，称为块链存储结构。</a:t>
              </a:r>
              <a:endParaRPr lang="zh-CN" altLang="zh-CN" sz="2000" b="0" dirty="0">
                <a:solidFill>
                  <a:srgbClr val="000000"/>
                </a:solidFill>
                <a:latin typeface="微软雅黑" panose="020B0503020204020204" pitchFamily="34" charset="-122"/>
              </a:endParaRPr>
            </a:p>
          </p:txBody>
        </p:sp>
        <p:sp>
          <p:nvSpPr>
            <p:cNvPr id="22" name="矩形 21"/>
            <p:cNvSpPr/>
            <p:nvPr/>
          </p:nvSpPr>
          <p:spPr>
            <a:xfrm>
              <a:off x="438" y="4853"/>
              <a:ext cx="12840" cy="1557"/>
            </a:xfrm>
            <a:prstGeom prst="rect">
              <a:avLst/>
            </a:prstGeom>
          </p:spPr>
          <p:txBody>
            <a:bodyPr>
              <a:spAutoFit/>
            </a:bodyPr>
            <a:p>
              <a:pPr marR="0" lvl="0" indent="457200" algn="l" defTabSz="914400" rtl="0" fontAlgn="base">
                <a:lnSpc>
                  <a:spcPct val="10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通常将结点数据域存放的字符个数称为结点的大小</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。下</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图是结点大小为</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4</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的块链，它的存储密度达到</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50</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此时</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串的长度不一定正好是结点大小的整数倍，要用特殊字符来填充最后一个结点，以表示串的结束。</a:t>
              </a: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3" name="矩形 22"/>
            <p:cNvSpPr/>
            <p:nvPr/>
          </p:nvSpPr>
          <p:spPr>
            <a:xfrm>
              <a:off x="517" y="7966"/>
              <a:ext cx="12840" cy="612"/>
            </a:xfrm>
            <a:prstGeom prst="rect">
              <a:avLst/>
            </a:prstGeom>
          </p:spPr>
          <p:txBody>
            <a:bodyPr>
              <a:spAutoFit/>
            </a:bodyPr>
            <a:p>
              <a:pPr marR="0" lvl="0" indent="457200" algn="l" defTabSz="914400" rtl="0" fontAlgn="base">
                <a:lnSpc>
                  <a:spcPct val="100000"/>
                </a:lnSpc>
                <a:spcBef>
                  <a:spcPct val="0"/>
                </a:spcBef>
                <a:spcAft>
                  <a:spcPct val="0"/>
                </a:spcAft>
                <a:buClrTx/>
                <a:buSzTx/>
                <a:buFontTx/>
                <a:buNone/>
                <a:defRPr/>
              </a:pP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虽然增大结点的大小可使存储密度加大，提高了存储空间的利用率，但是给操作带来不便。</a:t>
              </a: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graphicFrame>
          <p:nvGraphicFramePr>
            <p:cNvPr id="110607" name="Object 3"/>
            <p:cNvGraphicFramePr>
              <a:graphicFrameLocks noChangeAspect="1"/>
            </p:cNvGraphicFramePr>
            <p:nvPr/>
          </p:nvGraphicFramePr>
          <p:xfrm>
            <a:off x="438" y="6845"/>
            <a:ext cx="12360" cy="710"/>
          </p:xfrm>
          <a:graphic>
            <a:graphicData uri="http://schemas.openxmlformats.org/presentationml/2006/ole">
              <mc:AlternateContent xmlns:mc="http://schemas.openxmlformats.org/markup-compatibility/2006">
                <mc:Choice xmlns:v="urn:schemas-microsoft-com:vml" Requires="v">
                  <p:oleObj spid="_x0000_s3092" name="" r:id="rId4" imgW="6210300" imgH="368300" progId="Visio.Drawing.11">
                    <p:embed/>
                  </p:oleObj>
                </mc:Choice>
                <mc:Fallback>
                  <p:oleObj name="" r:id="rId4" imgW="6210300" imgH="368300" progId="Visio.Drawing.11">
                    <p:embed/>
                    <p:pic>
                      <p:nvPicPr>
                        <p:cNvPr id="0" name="图片 3091"/>
                        <p:cNvPicPr/>
                        <p:nvPr/>
                      </p:nvPicPr>
                      <p:blipFill>
                        <a:blip r:embed="rId5"/>
                        <a:stretch>
                          <a:fillRect/>
                        </a:stretch>
                      </p:blipFill>
                      <p:spPr>
                        <a:xfrm>
                          <a:off x="438" y="6845"/>
                          <a:ext cx="12360" cy="71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049020"/>
            <a:ext cx="11385550" cy="514731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en-US" altLang="zh-CN" sz="3600" b="1" dirty="0">
                <a:solidFill>
                  <a:schemeClr val="bg1"/>
                </a:solidFill>
                <a:latin typeface="微软雅黑" panose="020B0503020204020204" pitchFamily="34" charset="-122"/>
                <a:ea typeface="微软雅黑" panose="020B0503020204020204" pitchFamily="34" charset="-122"/>
                <a:sym typeface="+mn-ea"/>
              </a:rPr>
              <a:t>3.4</a:t>
            </a:r>
            <a:r>
              <a:rPr lang="zh-CN" sz="3600" b="1" dirty="0">
                <a:solidFill>
                  <a:schemeClr val="bg1"/>
                </a:solidFill>
                <a:latin typeface="微软雅黑" panose="020B0503020204020204" pitchFamily="34" charset="-122"/>
                <a:ea typeface="微软雅黑" panose="020B0503020204020204" pitchFamily="34" charset="-122"/>
                <a:sym typeface="+mn-ea"/>
              </a:rPr>
              <a:t>数组</a:t>
            </a: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0" algn="l" eaLnBrk="0" fontAlgn="base" hangingPunct="0">
              <a:buClrTx/>
              <a:buSzTx/>
              <a:buFontTx/>
            </a:pP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数组也</a:t>
            </a:r>
            <a:r>
              <a:rPr lang="zh-CN" altLang="zh-CN" sz="2400" dirty="0">
                <a:solidFill>
                  <a:srgbClr val="000000"/>
                </a:solidFill>
                <a:latin typeface="微软雅黑" panose="020B0503020204020204" pitchFamily="34" charset="-122"/>
                <a:ea typeface="微软雅黑" panose="020B0503020204020204" pitchFamily="34" charset="-122"/>
                <a:cs typeface="+mn-ea"/>
                <a:sym typeface="+mn-ea"/>
              </a:rPr>
              <a:t>是一种特殊的线性表，</a:t>
            </a: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表中</a:t>
            </a:r>
            <a:r>
              <a:rPr lang="zh-CN" altLang="zh-CN" sz="2400" dirty="0">
                <a:solidFill>
                  <a:srgbClr val="000000"/>
                </a:solidFill>
                <a:latin typeface="微软雅黑" panose="020B0503020204020204" pitchFamily="34" charset="-122"/>
                <a:ea typeface="微软雅黑" panose="020B0503020204020204" pitchFamily="34" charset="-122"/>
                <a:cs typeface="+mn-ea"/>
                <a:sym typeface="+mn-ea"/>
              </a:rPr>
              <a:t>每个数据元素</a:t>
            </a: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本身也是一个数据结构</a:t>
            </a:r>
            <a:r>
              <a:rPr lang="zh-CN" altLang="zh-CN" sz="2400" dirty="0">
                <a:solidFill>
                  <a:srgbClr val="000000"/>
                </a:solidFill>
                <a:latin typeface="微软雅黑" panose="020B0503020204020204" pitchFamily="34" charset="-122"/>
                <a:ea typeface="微软雅黑" panose="020B0503020204020204" pitchFamily="34" charset="-122"/>
                <a:cs typeface="+mn-ea"/>
                <a:sym typeface="+mn-ea"/>
              </a:rPr>
              <a:t>。</a:t>
            </a:r>
            <a:endParaRPr lang="zh-CN" altLang="en-US" sz="2400" dirty="0"/>
          </a:p>
          <a:p>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31877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1" name="组合 10"/>
          <p:cNvGrpSpPr/>
          <p:nvPr/>
        </p:nvGrpSpPr>
        <p:grpSpPr>
          <a:xfrm>
            <a:off x="1564640" y="2261870"/>
            <a:ext cx="5883103" cy="2916366"/>
            <a:chOff x="1560" y="4600"/>
            <a:chExt cx="8280" cy="3544"/>
          </a:xfrm>
        </p:grpSpPr>
        <p:sp>
          <p:nvSpPr>
            <p:cNvPr id="111622" name="Text Box 29"/>
            <p:cNvSpPr txBox="1"/>
            <p:nvPr/>
          </p:nvSpPr>
          <p:spPr>
            <a:xfrm>
              <a:off x="1560" y="4600"/>
              <a:ext cx="8040" cy="634"/>
            </a:xfrm>
            <a:prstGeom prst="rect">
              <a:avLst/>
            </a:prstGeom>
            <a:noFill/>
            <a:ln w="9525">
              <a:noFill/>
            </a:ln>
          </p:spPr>
          <p:txBody>
            <a:bodyPr>
              <a:spAutoFit/>
            </a:bodyPr>
            <a:p>
              <a:pPr algn="l">
                <a:spcBef>
                  <a:spcPct val="50000"/>
                </a:spcBef>
                <a:buClrTx/>
                <a:buSzTx/>
                <a:buFontTx/>
              </a:pPr>
              <a:r>
                <a:rPr lang="zh-CN" altLang="en-US" sz="2800" b="1" kern="0" noProof="0" dirty="0">
                  <a:solidFill>
                    <a:srgbClr val="005A9E"/>
                  </a:solidFill>
                  <a:latin typeface="微软雅黑" panose="020B0503020204020204" pitchFamily="34" charset="-122"/>
                  <a:ea typeface="微软雅黑" panose="020B0503020204020204" pitchFamily="34" charset="-122"/>
                </a:rPr>
                <a:t>数组的定义和基本操作</a:t>
              </a:r>
              <a:endParaRPr lang="zh-CN" altLang="en-US" sz="2800" b="1" kern="0" noProof="0" dirty="0">
                <a:solidFill>
                  <a:srgbClr val="005A9E"/>
                </a:solidFill>
                <a:latin typeface="微软雅黑" panose="020B0503020204020204" pitchFamily="34" charset="-122"/>
                <a:ea typeface="微软雅黑" panose="020B0503020204020204" pitchFamily="34" charset="-122"/>
              </a:endParaRPr>
            </a:p>
          </p:txBody>
        </p:sp>
        <p:sp>
          <p:nvSpPr>
            <p:cNvPr id="111624" name="Text Box 29"/>
            <p:cNvSpPr txBox="1"/>
            <p:nvPr/>
          </p:nvSpPr>
          <p:spPr>
            <a:xfrm>
              <a:off x="1560" y="5570"/>
              <a:ext cx="8280" cy="634"/>
            </a:xfrm>
            <a:prstGeom prst="rect">
              <a:avLst/>
            </a:prstGeom>
            <a:noFill/>
            <a:ln w="9525">
              <a:noFill/>
            </a:ln>
          </p:spPr>
          <p:txBody>
            <a:bodyPr>
              <a:spAutoFit/>
            </a:bodyPr>
            <a:p>
              <a:pPr>
                <a:spcBef>
                  <a:spcPct val="50000"/>
                </a:spcBef>
              </a:pPr>
              <a:r>
                <a:rPr lang="zh-CN" altLang="en-US" sz="2800" b="1" kern="0" noProof="0" dirty="0">
                  <a:solidFill>
                    <a:srgbClr val="005A9E"/>
                  </a:solidFill>
                  <a:latin typeface="微软雅黑" panose="020B0503020204020204" pitchFamily="34" charset="-122"/>
                  <a:ea typeface="微软雅黑" panose="020B0503020204020204" pitchFamily="34" charset="-122"/>
                </a:rPr>
                <a:t>数组的存储表示</a:t>
              </a:r>
              <a:endParaRPr lang="zh-CN" altLang="en-US" sz="2800" b="1" kern="0" noProof="0" dirty="0">
                <a:solidFill>
                  <a:srgbClr val="005A9E"/>
                </a:solidFill>
                <a:latin typeface="微软雅黑" panose="020B0503020204020204" pitchFamily="34" charset="-122"/>
                <a:ea typeface="微软雅黑" panose="020B0503020204020204" pitchFamily="34" charset="-122"/>
              </a:endParaRPr>
            </a:p>
          </p:txBody>
        </p:sp>
        <p:sp>
          <p:nvSpPr>
            <p:cNvPr id="111627" name="Text Box 29"/>
            <p:cNvSpPr txBox="1"/>
            <p:nvPr/>
          </p:nvSpPr>
          <p:spPr>
            <a:xfrm>
              <a:off x="1560" y="6540"/>
              <a:ext cx="8280" cy="634"/>
            </a:xfrm>
            <a:prstGeom prst="rect">
              <a:avLst/>
            </a:prstGeom>
            <a:noFill/>
            <a:ln w="9525">
              <a:noFill/>
            </a:ln>
          </p:spPr>
          <p:txBody>
            <a:bodyPr>
              <a:spAutoFit/>
            </a:bodyPr>
            <a:p>
              <a:pPr>
                <a:spcBef>
                  <a:spcPct val="50000"/>
                </a:spcBef>
              </a:pPr>
              <a:r>
                <a:rPr lang="zh-CN" altLang="en-US" sz="2800" b="1" kern="0" noProof="0" dirty="0">
                  <a:solidFill>
                    <a:srgbClr val="005A9E"/>
                  </a:solidFill>
                  <a:latin typeface="微软雅黑" panose="020B0503020204020204" pitchFamily="34" charset="-122"/>
                  <a:ea typeface="微软雅黑" panose="020B0503020204020204" pitchFamily="34" charset="-122"/>
                </a:rPr>
                <a:t>特殊矩阵的压缩存储</a:t>
              </a:r>
              <a:endParaRPr lang="zh-CN" altLang="en-US" sz="2800" b="1" kern="0" noProof="0" dirty="0">
                <a:solidFill>
                  <a:srgbClr val="005A9E"/>
                </a:solidFill>
                <a:latin typeface="微软雅黑" panose="020B0503020204020204" pitchFamily="34" charset="-122"/>
                <a:ea typeface="微软雅黑" panose="020B0503020204020204" pitchFamily="34" charset="-122"/>
              </a:endParaRPr>
            </a:p>
          </p:txBody>
        </p:sp>
        <p:sp>
          <p:nvSpPr>
            <p:cNvPr id="111629" name="Text Box 29"/>
            <p:cNvSpPr txBox="1"/>
            <p:nvPr/>
          </p:nvSpPr>
          <p:spPr>
            <a:xfrm>
              <a:off x="1560" y="7510"/>
              <a:ext cx="8280" cy="634"/>
            </a:xfrm>
            <a:prstGeom prst="rect">
              <a:avLst/>
            </a:prstGeom>
            <a:noFill/>
            <a:ln w="9525">
              <a:noFill/>
            </a:ln>
          </p:spPr>
          <p:txBody>
            <a:bodyPr>
              <a:spAutoFit/>
            </a:bodyPr>
            <a:p>
              <a:pPr algn="l">
                <a:spcBef>
                  <a:spcPct val="50000"/>
                </a:spcBef>
                <a:buClrTx/>
                <a:buSzTx/>
                <a:buFontTx/>
              </a:pPr>
              <a:r>
                <a:rPr lang="zh-CN" altLang="en-US" sz="2800" b="1" kern="0" noProof="0" dirty="0">
                  <a:solidFill>
                    <a:srgbClr val="005A9E"/>
                  </a:solidFill>
                  <a:latin typeface="微软雅黑" panose="020B0503020204020204" pitchFamily="34" charset="-122"/>
                  <a:ea typeface="微软雅黑" panose="020B0503020204020204" pitchFamily="34" charset="-122"/>
                </a:rPr>
                <a:t>稀疏矩阵的压缩存储</a:t>
              </a:r>
              <a:endParaRPr lang="zh-CN" altLang="en-US" sz="2800" b="1" kern="0" noProof="0" dirty="0">
                <a:solidFill>
                  <a:srgbClr val="005A9E"/>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193675"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rPr>
              <a:t>3.</a:t>
            </a:r>
            <a:r>
              <a:rPr lang="zh-CN" sz="3600" b="1" dirty="0">
                <a:solidFill>
                  <a:schemeClr val="bg1"/>
                </a:solidFill>
                <a:latin typeface="微软雅黑" panose="020B0503020204020204" pitchFamily="34" charset="-122"/>
                <a:ea typeface="微软雅黑" panose="020B0503020204020204" pitchFamily="34" charset="-122"/>
                <a:sym typeface="+mn-ea"/>
              </a:rPr>
              <a:t>4.1 数组的定义和基本操作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028" name="内容占位符 2"/>
          <p:cNvSpPr>
            <a:spLocks noGrp="1"/>
          </p:cNvSpPr>
          <p:nvPr/>
        </p:nvSpPr>
        <p:spPr>
          <a:xfrm>
            <a:off x="302260" y="1490980"/>
            <a:ext cx="10832465" cy="436753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marR="0" lvl="0" indent="457200" algn="l" defTabSz="914400" rtl="0">
              <a:lnSpc>
                <a:spcPct val="150000"/>
              </a:lnSpc>
              <a:spcBef>
                <a:spcPts val="0"/>
              </a:spcBef>
              <a:spcAft>
                <a:spcPct val="0"/>
              </a:spcAft>
              <a:buClrTx/>
              <a:buSzTx/>
              <a:buFontTx/>
              <a:buNone/>
              <a:defRPr/>
            </a:pPr>
            <a:r>
              <a:rPr kumimoji="0" lang="zh-CN" altLang="en-US" sz="2000" b="1" i="0" u="none" strike="noStrike" kern="1200" cap="none" spc="0" normalizeH="0" baseline="0" noProof="0" dirty="0" smtClean="0">
                <a:ln>
                  <a:noFill/>
                </a:ln>
                <a:solidFill>
                  <a:srgbClr val="E76969">
                    <a:lumMod val="50000"/>
                  </a:srgbClr>
                </a:solidFill>
                <a:effectLst/>
                <a:uLnTx/>
                <a:uFillTx/>
                <a:latin typeface="微软雅黑" panose="020B0503020204020204" pitchFamily="34" charset="-122"/>
                <a:ea typeface="微软雅黑" panose="020B0503020204020204" pitchFamily="34" charset="-122"/>
                <a:cs typeface="+mn-ea"/>
              </a:rPr>
              <a:t>数组</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是</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n</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 </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n ≥</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1</a:t>
            </a:r>
            <a:r>
              <a:rPr kumimoji="0" lang="zh-CN"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个相同类型数据元素</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0"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0 </a:t>
            </a:r>
            <a:r>
              <a:rPr kumimoji="0" lang="zh-CN" altLang="en-US" sz="2000" b="0" i="0"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0"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1</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r>
              <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 </a:t>
            </a:r>
            <a:r>
              <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t>
            </a:r>
            <a:r>
              <a:rPr kumimoji="0" lang="en-US" altLang="zh-CN" sz="2000" b="0" i="1"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2000" b="0" i="1"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n-</a:t>
            </a:r>
            <a:r>
              <a:rPr kumimoji="0" lang="en-US" altLang="zh-CN" sz="2000" b="0" i="0" u="none" strike="noStrike" kern="0" cap="none" spc="0" normalizeH="0" baseline="-2500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1</a:t>
            </a:r>
            <a:r>
              <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组成的有限序列，数据元素可以是原子，也可以是数组。</a:t>
            </a:r>
            <a:endPar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endPar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r>
              <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若数据元素是原子，则称为一维数组。</a:t>
            </a:r>
            <a:endParaRPr kumimoji="0" lang="en-US" altLang="zh-CN"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endParaRPr kumimoji="0" lang="en-US" altLang="zh-CN"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342900" marR="0" lvl="0" indent="457200" algn="l" defTabSz="914400" rtl="0">
              <a:lnSpc>
                <a:spcPct val="150000"/>
              </a:lnSpc>
              <a:spcBef>
                <a:spcPts val="0"/>
              </a:spcBef>
              <a:spcAft>
                <a:spcPct val="0"/>
              </a:spcAft>
              <a:buClrTx/>
              <a:buSzTx/>
              <a:buFontTx/>
              <a:buNone/>
              <a:defRPr/>
            </a:pPr>
            <a:r>
              <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数组中的数据元素还可以是数组，若数据元素是一维数组，就形成了二维数组。</a:t>
            </a:r>
            <a:endParaRPr kumimoji="0" lang="zh-CN" altLang="en-US" sz="20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二维数组示例</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pic>
        <p:nvPicPr>
          <p:cNvPr id="113670" name="Picture 7"/>
          <p:cNvPicPr>
            <a:picLocks noGrp="1" noChangeAspect="1"/>
          </p:cNvPicPr>
          <p:nvPr/>
        </p:nvPicPr>
        <p:blipFill>
          <a:blip r:embed="rId2"/>
          <a:srcRect/>
          <a:stretch>
            <a:fillRect/>
          </a:stretch>
        </p:blipFill>
        <p:spPr>
          <a:xfrm>
            <a:off x="2876233" y="1400175"/>
            <a:ext cx="4989512" cy="2028825"/>
          </a:xfrm>
          <a:prstGeom prst="rect">
            <a:avLst/>
          </a:prstGeom>
          <a:noFill/>
          <a:ln w="9525">
            <a:noFill/>
          </a:ln>
        </p:spPr>
      </p:pic>
      <p:sp>
        <p:nvSpPr>
          <p:cNvPr id="113672" name="Text Box 9"/>
          <p:cNvSpPr txBox="1"/>
          <p:nvPr/>
        </p:nvSpPr>
        <p:spPr>
          <a:xfrm>
            <a:off x="4399915" y="3671570"/>
            <a:ext cx="3048000" cy="366713"/>
          </a:xfrm>
          <a:prstGeom prst="rect">
            <a:avLst/>
          </a:prstGeom>
          <a:solidFill>
            <a:srgbClr val="CCECFF"/>
          </a:solidFill>
          <a:ln w="9525">
            <a:noFill/>
          </a:ln>
        </p:spPr>
        <p:txBody>
          <a:bodyPr>
            <a:spAutoFit/>
          </a:bodyPr>
          <a:p>
            <a:pPr>
              <a:spcBef>
                <a:spcPct val="50000"/>
              </a:spcBef>
            </a:pPr>
            <a:r>
              <a:rPr lang="zh-CN" altLang="en-US" dirty="0">
                <a:solidFill>
                  <a:srgbClr val="000000"/>
                </a:solidFill>
                <a:latin typeface="微软雅黑" panose="020B0503020204020204" pitchFamily="34" charset="-122"/>
              </a:rPr>
              <a:t>二维数组的矩阵形式表示</a:t>
            </a:r>
            <a:endParaRPr lang="zh-CN" altLang="en-US" dirty="0">
              <a:solidFill>
                <a:srgbClr val="000000"/>
              </a:solidFill>
              <a:latin typeface="微软雅黑" panose="020B0503020204020204" pitchFamily="34" charset="-122"/>
            </a:endParaRPr>
          </a:p>
        </p:txBody>
      </p:sp>
      <p:sp>
        <p:nvSpPr>
          <p:cNvPr id="9" name="TextBox 7"/>
          <p:cNvSpPr txBox="1"/>
          <p:nvPr/>
        </p:nvSpPr>
        <p:spPr>
          <a:xfrm>
            <a:off x="765175" y="4191000"/>
            <a:ext cx="10611485" cy="1843405"/>
          </a:xfrm>
          <a:prstGeom prst="rect">
            <a:avLst/>
          </a:prstGeom>
          <a:noFill/>
        </p:spPr>
        <p:txBody>
          <a:bodyPr>
            <a:noAutofit/>
          </a:bodyPr>
          <a:p>
            <a:pPr marL="457200" marR="0" indent="-457200" defTabSz="914400">
              <a:spcBef>
                <a:spcPct val="50000"/>
              </a:spcBef>
              <a:buClrTx/>
              <a:buSzTx/>
              <a:buFont typeface="Arial" panose="020B0604020202020204" pitchFamily="34" charset="0"/>
              <a:buChar char="•"/>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可以将二维数组</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看成是由</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m</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个行向量[</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X</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0</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,X</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1</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…,X</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m-1</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T</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组成，其中，</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X</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0</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1</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in</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-1</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0≤</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i</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m</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457200" marR="0" indent="-457200" defTabSz="914400">
              <a:spcBef>
                <a:spcPct val="50000"/>
              </a:spcBef>
              <a:buClrTx/>
              <a:buSzTx/>
              <a:buFont typeface="Arial" panose="020B0604020202020204" pitchFamily="34" charset="0"/>
              <a:buChar char="•"/>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可以将二维数组</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看成是由</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个列向量[</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Y</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0</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Y</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1</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…,Y</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n-1</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组成，其中，</a:t>
            </a:r>
            <a:r>
              <a:rPr kumimoji="0" lang="en-US" altLang="zh-CN" sz="2000" b="0" i="1"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Y</a:t>
            </a:r>
            <a:r>
              <a:rPr kumimoji="0" lang="en-US" altLang="zh-CN" sz="2000" b="0" kern="1200" cap="none" spc="0" normalizeH="0" baseline="-30000" noProof="0" dirty="0" err="1">
                <a:solidFill>
                  <a:srgbClr val="000000"/>
                </a:solidFill>
                <a:latin typeface="微软雅黑" panose="020B0503020204020204" pitchFamily="34" charset="-122"/>
                <a:ea typeface="微软雅黑" panose="020B0503020204020204" pitchFamily="34" charset="-122"/>
                <a:cs typeface="+mn-ea"/>
              </a:rPr>
              <a:t>j</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0</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j</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1</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j</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m-</a:t>
            </a:r>
            <a:r>
              <a:rPr kumimoji="0" lang="en-US" altLang="zh-CN" sz="2000" b="0"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1</a:t>
            </a:r>
            <a:r>
              <a:rPr kumimoji="0" lang="en-US" altLang="zh-CN" sz="2000" b="0" i="1" kern="1200" cap="none" spc="0" normalizeH="0" baseline="-30000" noProof="0" dirty="0">
                <a:solidFill>
                  <a:srgbClr val="000000"/>
                </a:solidFill>
                <a:latin typeface="微软雅黑" panose="020B0503020204020204" pitchFamily="34" charset="-122"/>
                <a:ea typeface="微软雅黑" panose="020B0503020204020204" pitchFamily="34" charset="-122"/>
                <a:cs typeface="+mn-ea"/>
              </a:rPr>
              <a:t>j</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0≤</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j</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 </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R="0" defTabSz="914400">
              <a:buClrTx/>
              <a:buSzTx/>
              <a:buFontTx/>
              <a:buNone/>
              <a:defRPr/>
            </a:pPr>
            <a:endParaRPr kumimoji="0" lang="zh-CN" altLang="en-US" kern="1200" cap="none" spc="0" normalizeH="0" baseline="0" noProof="0" dirty="0">
              <a:solidFill>
                <a:srgbClr val="FFFFFF"/>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数组的抽象数据类型定义</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113677" name="Group 13"/>
          <p:cNvGraphicFramePr>
            <a:graphicFrameLocks noGrp="1"/>
          </p:cNvGraphicFramePr>
          <p:nvPr>
            <p:custDataLst>
              <p:tags r:id="rId2"/>
            </p:custDataLst>
          </p:nvPr>
        </p:nvGraphicFramePr>
        <p:xfrm>
          <a:off x="1570355" y="855345"/>
          <a:ext cx="9181465" cy="5608320"/>
        </p:xfrm>
        <a:graphic>
          <a:graphicData uri="http://schemas.openxmlformats.org/drawingml/2006/table">
            <a:tbl>
              <a:tblPr>
                <a:effectLst/>
                <a:tableStyleId>{5940675A-B579-460E-94D1-54222C63F5DA}</a:tableStyleId>
              </a:tblPr>
              <a:tblGrid>
                <a:gridCol w="9181465"/>
              </a:tblGrid>
              <a:tr h="5608320">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ADT Array</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数据对象：</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1"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0,1,….,</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b</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 2, …,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 a</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0" u="none" strike="noStrike" cap="none" normalizeH="0" baseline="-34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j2…</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jn</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&gt;0</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称为数组的维数，</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是数组第</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维的长度，</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1"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是数组元素的第</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维下标，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0" u="none" strike="noStrike" cap="none" normalizeH="0" baseline="-34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j2…</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ElemSet</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数据关系：</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en-US" altLang="zh-CN" sz="1600" b="0" i="1"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en-US" altLang="zh-CN" sz="1600" b="0" i="1"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{&lt;  a</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0" u="none" strike="noStrike" cap="none" normalizeH="0" baseline="-34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ji</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jn</a:t>
                      </a:r>
                      <a:r>
                        <a:rPr kumimoji="0" lang="zh-CN" altLang="en-US"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0" u="none" strike="noStrike" cap="none" normalizeH="0" baseline="-34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…ji+1…</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jn</a:t>
                      </a:r>
                      <a:r>
                        <a:rPr kumimoji="0" lang="zh-CN" altLang="en-US"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&gt; | 0≤</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 1 ≤ </a:t>
                      </a:r>
                      <a:r>
                        <a:rPr kumimoji="0" lang="en-US" altLang="zh-CN" sz="1600" b="0" i="1"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k</a:t>
                      </a:r>
                      <a:r>
                        <a:rPr kumimoji="0" lang="en-US" altLang="zh-CN" sz="16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1"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且</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k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0≤</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a:t>
                      </a:r>
                      <a:r>
                        <a:rPr kumimoji="0" lang="en-US" altLang="zh-CN" sz="1600" b="0" i="1"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0" u="none" strike="noStrike" cap="none" normalizeH="0" baseline="-34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ji</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jn</a:t>
                      </a:r>
                      <a:r>
                        <a:rPr kumimoji="0" lang="zh-CN" altLang="en-US"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1600" b="0" i="0" u="none" strike="noStrike" cap="none" normalizeH="0" baseline="-34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en-US" altLang="zh-CN"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…ji+1…</a:t>
                      </a:r>
                      <a:r>
                        <a:rPr kumimoji="0" lang="en-US" altLang="zh-CN" sz="1600" b="0" i="0" u="none" strike="noStrike" cap="none" normalizeH="0" baseline="-2500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jn</a:t>
                      </a:r>
                      <a:r>
                        <a:rPr kumimoji="0" lang="zh-CN" altLang="en-US" sz="1600" b="0" i="0" u="none" strike="noStrike" cap="none" normalizeH="0" baseline="-2500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 2, …, </a:t>
                      </a:r>
                      <a:r>
                        <a:rPr kumimoji="0" lang="en-US" altLang="zh-CN" sz="1600" b="0" i="1"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基本操作：</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Init</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(&amp;A, n, bound1, …, </a:t>
                      </a:r>
                      <a:r>
                        <a:rPr kumimoji="0" lang="en-US" altLang="zh-CN" sz="1600" b="0" i="0" u="none" strike="noStrike" cap="none" normalizeH="0" baseline="0" dirty="0" err="1"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boundn</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操作结果：若维数</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和各维长度合法，则构造相应的数组</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Destroy(&amp;A)</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初始条件：数组</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已存在。</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操作结果：销毁数组</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1" i="0" u="none" strike="noStrike" cap="none" normalizeH="0" baseline="0" dirty="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Value(A, &amp;e, index1, …, </a:t>
                      </a:r>
                      <a:r>
                        <a:rPr kumimoji="0" lang="en-US" altLang="zh-CN" sz="1600" b="1" i="0" u="none" strike="noStrike" cap="none" normalizeH="0" baseline="0" dirty="0" err="1"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indexn</a:t>
                      </a:r>
                      <a:r>
                        <a:rPr kumimoji="0" lang="en-US" altLang="zh-CN" sz="1600" b="1" i="0" u="none" strike="noStrike" cap="none" normalizeH="0" baseline="0" dirty="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1" i="0" u="none" strike="noStrike" cap="none" normalizeH="0" baseline="0" dirty="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初始条件</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是</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维数组，</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index1..indexn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为</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个下标值。</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操作结果：若各下标不越界，则将</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中指定下标的元素值赋给</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600" b="1" i="0" u="none" strike="noStrike" cap="none" normalizeH="0" baseline="0" dirty="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Assign(&amp;A, e, index1, …, </a:t>
                      </a:r>
                      <a:r>
                        <a:rPr kumimoji="0" lang="en-US" altLang="zh-CN" sz="1600" b="1" i="0" u="none" strike="noStrike" cap="none" normalizeH="0" baseline="0" dirty="0" err="1"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indexn</a:t>
                      </a:r>
                      <a:r>
                        <a:rPr kumimoji="0" lang="en-US" altLang="zh-CN" sz="1600" b="1" i="0" u="none" strike="noStrike" cap="none" normalizeH="0" baseline="0" dirty="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1" i="0" u="none" strike="noStrike" cap="none" normalizeH="0" baseline="0" dirty="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初始条件：</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是</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维数组， </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index1..indexn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为</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个下标值。</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操作结果：若各下标不越界，则将</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的值赋给</a:t>
                      </a: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中指定下标的元素。</a:t>
                      </a:r>
                      <a:endParaRPr kumimoji="0" lang="zh-CN" altLang="en-US"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zh-CN" sz="1600" b="0" i="0" u="none" strike="noStrike" cap="none" normalizeH="0" baseline="0" dirty="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203200" y="11366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3.4.2 数组的存储表示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6739" name="内容占位符 2"/>
          <p:cNvSpPr>
            <a:spLocks noGrp="1"/>
          </p:cNvSpPr>
          <p:nvPr/>
        </p:nvSpPr>
        <p:spPr>
          <a:xfrm>
            <a:off x="533400" y="1295400"/>
            <a:ext cx="8458200" cy="304800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rPr>
              <a:t>行优先顺序存储</a:t>
            </a:r>
            <a:endParaRPr kumimoji="0" lang="en-US" altLang="zh-CN" sz="24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zh-CN" altLang="en-US" sz="24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a:t>
            </a:r>
            <a:r>
              <a:rPr kumimoji="0" lang="en-US" altLang="zh-CN" sz="24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m</a:t>
            </a:r>
            <a:r>
              <a:rPr kumimoji="0" lang="zh-CN" altLang="en-US" sz="24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行</a:t>
            </a:r>
            <a:r>
              <a:rPr kumimoji="0" lang="en-US" altLang="zh-CN" sz="24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n</a:t>
            </a:r>
            <a:r>
              <a:rPr kumimoji="0" lang="zh-CN" altLang="en-US" sz="24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rPr>
              <a:t>列的二维数组）</a:t>
            </a:r>
            <a:endParaRPr kumimoji="0" lang="en-US" altLang="zh-CN" sz="2400" b="0" i="0" u="none" strike="noStrike" kern="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endParaRPr>
          </a:p>
        </p:txBody>
      </p:sp>
      <p:sp>
        <p:nvSpPr>
          <p:cNvPr id="9" name="Text Box 42"/>
          <p:cNvSpPr txBox="1">
            <a:spLocks noChangeArrowheads="1"/>
          </p:cNvSpPr>
          <p:nvPr/>
        </p:nvSpPr>
        <p:spPr bwMode="auto">
          <a:xfrm>
            <a:off x="457200" y="3048000"/>
            <a:ext cx="5729288" cy="1014730"/>
          </a:xfrm>
          <a:prstGeom prst="rect">
            <a:avLst/>
          </a:prstGeom>
          <a:noFill/>
          <a:ln w="9525">
            <a:noFill/>
            <a:miter lim="800000"/>
          </a:ln>
          <a:effectLst/>
        </p:spPr>
        <p:txBody>
          <a:bodyPr>
            <a:spAutoFit/>
          </a:bodyPr>
          <a:p>
            <a:pPr marR="0" defTabSz="914400">
              <a:spcBef>
                <a:spcPct val="50000"/>
              </a:spcBef>
              <a:buClr>
                <a:srgbClr val="A8D02A"/>
              </a:buClr>
              <a:buSzPct val="130000"/>
              <a:buFont typeface="微软雅黑" panose="020B0503020204020204" pitchFamily="34" charset="-122"/>
              <a:buNone/>
              <a:defRPr/>
            </a:pPr>
            <a:r>
              <a:rPr kumimoji="0" lang="zh-CN" altLang="en-US"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rPr>
              <a:t>  </a:t>
            </a:r>
            <a:r>
              <a:rPr kumimoji="0" lang="en-US" altLang="zh-CN" sz="2400" i="1" kern="1200" cap="none" spc="0" normalizeH="0" baseline="0" noProof="0" dirty="0" err="1">
                <a:solidFill>
                  <a:srgbClr val="B5D5FE">
                    <a:lumMod val="50000"/>
                  </a:srgbClr>
                </a:solidFill>
                <a:latin typeface="微软雅黑" panose="020B0503020204020204" pitchFamily="34" charset="-122"/>
                <a:ea typeface="微软雅黑" panose="020B0503020204020204" pitchFamily="34" charset="-122"/>
                <a:cs typeface="+mn-ea"/>
              </a:rPr>
              <a:t>a</a:t>
            </a:r>
            <a:r>
              <a:rPr kumimoji="0" lang="en-US" altLang="zh-CN" sz="2400" i="1" kern="1200" cap="none" spc="0" normalizeH="0" baseline="-25000" noProof="0" dirty="0" err="1">
                <a:solidFill>
                  <a:srgbClr val="B5D5FE">
                    <a:lumMod val="50000"/>
                  </a:srgbClr>
                </a:solidFill>
                <a:latin typeface="微软雅黑" panose="020B0503020204020204" pitchFamily="34" charset="-122"/>
                <a:ea typeface="微软雅黑" panose="020B0503020204020204" pitchFamily="34" charset="-122"/>
                <a:cs typeface="+mn-ea"/>
              </a:rPr>
              <a:t>ij</a:t>
            </a:r>
            <a:r>
              <a:rPr kumimoji="0" lang="zh-CN" altLang="en-US" sz="2400" b="0"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rPr>
              <a:t>的存储地址为：</a:t>
            </a:r>
            <a:endParaRPr kumimoji="0" lang="zh-CN" altLang="en-US" sz="2400"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endParaRPr>
          </a:p>
          <a:p>
            <a:pPr marR="0" defTabSz="914400">
              <a:spcBef>
                <a:spcPct val="50000"/>
              </a:spcBef>
              <a:buClr>
                <a:srgbClr val="A8D02A"/>
              </a:buClr>
              <a:buSzPct val="130000"/>
              <a:buFont typeface="微软雅黑" panose="020B0503020204020204" pitchFamily="34" charset="-122"/>
              <a:buNone/>
              <a:defRPr/>
            </a:pPr>
            <a:r>
              <a:rPr kumimoji="0" lang="en-US" altLang="zh-CN" sz="2400" i="1"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rPr>
              <a:t>     </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Loc</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400" i="1" kern="1200" cap="none" spc="0" normalizeH="0" baseline="-2500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ij</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Loc</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400" kern="1200" cap="none" spc="0" normalizeH="0" baseline="-2500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00</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n</a:t>
            </a:r>
            <a:r>
              <a:rPr kumimoji="0" lang="en-US" altLang="zh-CN" sz="2400"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b="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L</a:t>
            </a:r>
            <a:endPar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1" name="Group 44"/>
          <p:cNvGrpSpPr/>
          <p:nvPr/>
        </p:nvGrpSpPr>
        <p:grpSpPr>
          <a:xfrm>
            <a:off x="5029200" y="990600"/>
            <a:ext cx="4713605" cy="5309870"/>
            <a:chOff x="3168" y="768"/>
            <a:chExt cx="2881" cy="3504"/>
          </a:xfrm>
        </p:grpSpPr>
        <p:grpSp>
          <p:nvGrpSpPr>
            <p:cNvPr id="116744" name="Group 8"/>
            <p:cNvGrpSpPr/>
            <p:nvPr/>
          </p:nvGrpSpPr>
          <p:grpSpPr>
            <a:xfrm>
              <a:off x="3168" y="768"/>
              <a:ext cx="2881" cy="3504"/>
              <a:chOff x="0" y="432"/>
              <a:chExt cx="2832" cy="3730"/>
            </a:xfrm>
          </p:grpSpPr>
          <p:grpSp>
            <p:nvGrpSpPr>
              <p:cNvPr id="116746" name="Group 9"/>
              <p:cNvGrpSpPr/>
              <p:nvPr/>
            </p:nvGrpSpPr>
            <p:grpSpPr>
              <a:xfrm>
                <a:off x="912" y="576"/>
                <a:ext cx="1920" cy="3586"/>
                <a:chOff x="864" y="576"/>
                <a:chExt cx="1920" cy="3586"/>
              </a:xfrm>
            </p:grpSpPr>
            <p:sp>
              <p:nvSpPr>
                <p:cNvPr id="12" name="Rectangle 10"/>
                <p:cNvSpPr>
                  <a:spLocks noChangeArrowheads="1"/>
                </p:cNvSpPr>
                <p:nvPr/>
              </p:nvSpPr>
              <p:spPr bwMode="auto">
                <a:xfrm>
                  <a:off x="864" y="3836"/>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a:ln>
                        <a:noFill/>
                      </a:ln>
                      <a:solidFill>
                        <a:srgbClr val="000000"/>
                      </a:solidFill>
                      <a:effectLst/>
                      <a:uLnTx/>
                      <a:uFillTx/>
                      <a:latin typeface="微软雅黑" panose="020B0503020204020204" pitchFamily="34" charset="-122"/>
                      <a:ea typeface="微软雅黑" panose="020B0503020204020204" pitchFamily="34" charset="-122"/>
                      <a:cs typeface="+mn-ea"/>
                    </a:rPr>
                    <a:t>m-1,,n-1</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3" name="Rectangle 11"/>
                <p:cNvSpPr>
                  <a:spLocks noChangeArrowheads="1"/>
                </p:cNvSpPr>
                <p:nvPr/>
              </p:nvSpPr>
              <p:spPr bwMode="auto">
                <a:xfrm>
                  <a:off x="864" y="3509"/>
                  <a:ext cx="912" cy="327"/>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4" name="Rectangle 12"/>
                <p:cNvSpPr>
                  <a:spLocks noChangeArrowheads="1"/>
                </p:cNvSpPr>
                <p:nvPr/>
              </p:nvSpPr>
              <p:spPr bwMode="auto">
                <a:xfrm>
                  <a:off x="864" y="3184"/>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a:ln>
                        <a:noFill/>
                      </a:ln>
                      <a:solidFill>
                        <a:srgbClr val="000000"/>
                      </a:solidFill>
                      <a:effectLst/>
                      <a:uLnTx/>
                      <a:uFillTx/>
                      <a:latin typeface="微软雅黑" panose="020B0503020204020204" pitchFamily="34" charset="-122"/>
                      <a:ea typeface="微软雅黑" panose="020B0503020204020204" pitchFamily="34" charset="-122"/>
                      <a:cs typeface="+mn-ea"/>
                    </a:rPr>
                    <a:t>m-1,0</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5" name="Rectangle 13"/>
                <p:cNvSpPr>
                  <a:spLocks noChangeArrowheads="1"/>
                </p:cNvSpPr>
                <p:nvPr/>
              </p:nvSpPr>
              <p:spPr bwMode="auto">
                <a:xfrm>
                  <a:off x="864" y="2858"/>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6" name="Rectangle 14"/>
                <p:cNvSpPr>
                  <a:spLocks noChangeArrowheads="1"/>
                </p:cNvSpPr>
                <p:nvPr/>
              </p:nvSpPr>
              <p:spPr bwMode="auto">
                <a:xfrm>
                  <a:off x="864" y="2532"/>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i,n-1</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7" name="Rectangle 15"/>
                <p:cNvSpPr>
                  <a:spLocks noChangeArrowheads="1"/>
                </p:cNvSpPr>
                <p:nvPr/>
              </p:nvSpPr>
              <p:spPr bwMode="auto">
                <a:xfrm>
                  <a:off x="864" y="2203"/>
                  <a:ext cx="912" cy="329"/>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8" name="Rectangle 16"/>
                <p:cNvSpPr>
                  <a:spLocks noChangeArrowheads="1"/>
                </p:cNvSpPr>
                <p:nvPr/>
              </p:nvSpPr>
              <p:spPr bwMode="auto">
                <a:xfrm>
                  <a:off x="864" y="1880"/>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i,0</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9" name="Rectangle 17"/>
                <p:cNvSpPr>
                  <a:spLocks noChangeArrowheads="1"/>
                </p:cNvSpPr>
                <p:nvPr/>
              </p:nvSpPr>
              <p:spPr bwMode="auto">
                <a:xfrm>
                  <a:off x="864" y="1554"/>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0" name="Rectangle 18"/>
                <p:cNvSpPr>
                  <a:spLocks noChangeArrowheads="1"/>
                </p:cNvSpPr>
                <p:nvPr/>
              </p:nvSpPr>
              <p:spPr bwMode="auto">
                <a:xfrm>
                  <a:off x="864" y="1228"/>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0,</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n-</a:t>
                  </a:r>
                  <a:r>
                    <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1</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1" name="Rectangle 19"/>
                <p:cNvSpPr>
                  <a:spLocks noChangeArrowheads="1"/>
                </p:cNvSpPr>
                <p:nvPr/>
              </p:nvSpPr>
              <p:spPr bwMode="auto">
                <a:xfrm>
                  <a:off x="864" y="898"/>
                  <a:ext cx="912" cy="330"/>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2" name="Rectangle 20"/>
                <p:cNvSpPr>
                  <a:spLocks noChangeArrowheads="1"/>
                </p:cNvSpPr>
                <p:nvPr/>
              </p:nvSpPr>
              <p:spPr bwMode="auto">
                <a:xfrm>
                  <a:off x="864" y="576"/>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00</a:t>
                  </a:r>
                  <a:endPar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16759" name="Line 21"/>
                <p:cNvSpPr/>
                <p:nvPr/>
              </p:nvSpPr>
              <p:spPr>
                <a:xfrm>
                  <a:off x="864" y="576"/>
                  <a:ext cx="912" cy="0"/>
                </a:xfrm>
                <a:prstGeom prst="line">
                  <a:avLst/>
                </a:prstGeom>
                <a:ln w="28575" cap="sq" cmpd="sng">
                  <a:solidFill>
                    <a:srgbClr val="000000"/>
                  </a:solidFill>
                  <a:prstDash val="solid"/>
                  <a:headEnd type="none" w="med" len="med"/>
                  <a:tailEnd type="none" w="med" len="med"/>
                </a:ln>
              </p:spPr>
            </p:sp>
            <p:sp>
              <p:nvSpPr>
                <p:cNvPr id="116760" name="Line 22"/>
                <p:cNvSpPr/>
                <p:nvPr/>
              </p:nvSpPr>
              <p:spPr>
                <a:xfrm>
                  <a:off x="864" y="902"/>
                  <a:ext cx="912" cy="0"/>
                </a:xfrm>
                <a:prstGeom prst="line">
                  <a:avLst/>
                </a:prstGeom>
                <a:ln w="12700" cap="flat" cmpd="sng">
                  <a:solidFill>
                    <a:srgbClr val="000000"/>
                  </a:solidFill>
                  <a:prstDash val="solid"/>
                  <a:headEnd type="none" w="med" len="med"/>
                  <a:tailEnd type="none" w="med" len="med"/>
                </a:ln>
              </p:spPr>
            </p:sp>
            <p:sp>
              <p:nvSpPr>
                <p:cNvPr id="116761" name="Line 23"/>
                <p:cNvSpPr/>
                <p:nvPr/>
              </p:nvSpPr>
              <p:spPr>
                <a:xfrm>
                  <a:off x="864" y="1228"/>
                  <a:ext cx="912" cy="0"/>
                </a:xfrm>
                <a:prstGeom prst="line">
                  <a:avLst/>
                </a:prstGeom>
                <a:ln w="12700" cap="flat" cmpd="sng">
                  <a:solidFill>
                    <a:srgbClr val="000000"/>
                  </a:solidFill>
                  <a:prstDash val="solid"/>
                  <a:headEnd type="none" w="med" len="med"/>
                  <a:tailEnd type="none" w="med" len="med"/>
                </a:ln>
              </p:spPr>
            </p:sp>
            <p:sp>
              <p:nvSpPr>
                <p:cNvPr id="116762" name="Line 24"/>
                <p:cNvSpPr/>
                <p:nvPr/>
              </p:nvSpPr>
              <p:spPr>
                <a:xfrm>
                  <a:off x="864" y="1554"/>
                  <a:ext cx="912" cy="0"/>
                </a:xfrm>
                <a:prstGeom prst="line">
                  <a:avLst/>
                </a:prstGeom>
                <a:ln w="12700" cap="flat" cmpd="sng">
                  <a:solidFill>
                    <a:srgbClr val="000000"/>
                  </a:solidFill>
                  <a:prstDash val="solid"/>
                  <a:headEnd type="none" w="med" len="med"/>
                  <a:tailEnd type="none" w="med" len="med"/>
                </a:ln>
              </p:spPr>
            </p:sp>
            <p:sp>
              <p:nvSpPr>
                <p:cNvPr id="116763" name="Line 25"/>
                <p:cNvSpPr/>
                <p:nvPr/>
              </p:nvSpPr>
              <p:spPr>
                <a:xfrm>
                  <a:off x="864" y="1880"/>
                  <a:ext cx="912" cy="0"/>
                </a:xfrm>
                <a:prstGeom prst="line">
                  <a:avLst/>
                </a:prstGeom>
                <a:ln w="12700" cap="flat" cmpd="sng">
                  <a:solidFill>
                    <a:srgbClr val="000000"/>
                  </a:solidFill>
                  <a:prstDash val="solid"/>
                  <a:headEnd type="none" w="med" len="med"/>
                  <a:tailEnd type="none" w="med" len="med"/>
                </a:ln>
              </p:spPr>
            </p:sp>
            <p:sp>
              <p:nvSpPr>
                <p:cNvPr id="116764" name="Line 26"/>
                <p:cNvSpPr/>
                <p:nvPr/>
              </p:nvSpPr>
              <p:spPr>
                <a:xfrm>
                  <a:off x="864" y="2206"/>
                  <a:ext cx="912" cy="0"/>
                </a:xfrm>
                <a:prstGeom prst="line">
                  <a:avLst/>
                </a:prstGeom>
                <a:ln w="12700" cap="flat" cmpd="sng">
                  <a:solidFill>
                    <a:srgbClr val="000000"/>
                  </a:solidFill>
                  <a:prstDash val="solid"/>
                  <a:headEnd type="none" w="med" len="med"/>
                  <a:tailEnd type="none" w="med" len="med"/>
                </a:ln>
              </p:spPr>
            </p:sp>
            <p:sp>
              <p:nvSpPr>
                <p:cNvPr id="116765" name="Line 27"/>
                <p:cNvSpPr/>
                <p:nvPr/>
              </p:nvSpPr>
              <p:spPr>
                <a:xfrm>
                  <a:off x="864" y="2532"/>
                  <a:ext cx="912" cy="0"/>
                </a:xfrm>
                <a:prstGeom prst="line">
                  <a:avLst/>
                </a:prstGeom>
                <a:ln w="12700" cap="flat" cmpd="sng">
                  <a:solidFill>
                    <a:srgbClr val="000000"/>
                  </a:solidFill>
                  <a:prstDash val="solid"/>
                  <a:headEnd type="none" w="med" len="med"/>
                  <a:tailEnd type="none" w="med" len="med"/>
                </a:ln>
              </p:spPr>
            </p:sp>
            <p:sp>
              <p:nvSpPr>
                <p:cNvPr id="116766" name="Line 28"/>
                <p:cNvSpPr/>
                <p:nvPr/>
              </p:nvSpPr>
              <p:spPr>
                <a:xfrm>
                  <a:off x="864" y="2858"/>
                  <a:ext cx="912" cy="0"/>
                </a:xfrm>
                <a:prstGeom prst="line">
                  <a:avLst/>
                </a:prstGeom>
                <a:ln w="12700" cap="flat" cmpd="sng">
                  <a:solidFill>
                    <a:srgbClr val="000000"/>
                  </a:solidFill>
                  <a:prstDash val="solid"/>
                  <a:headEnd type="none" w="med" len="med"/>
                  <a:tailEnd type="none" w="med" len="med"/>
                </a:ln>
              </p:spPr>
            </p:sp>
            <p:sp>
              <p:nvSpPr>
                <p:cNvPr id="116767" name="Line 29"/>
                <p:cNvSpPr/>
                <p:nvPr/>
              </p:nvSpPr>
              <p:spPr>
                <a:xfrm>
                  <a:off x="864" y="3184"/>
                  <a:ext cx="912" cy="0"/>
                </a:xfrm>
                <a:prstGeom prst="line">
                  <a:avLst/>
                </a:prstGeom>
                <a:ln w="12700" cap="flat" cmpd="sng">
                  <a:solidFill>
                    <a:srgbClr val="000000"/>
                  </a:solidFill>
                  <a:prstDash val="solid"/>
                  <a:headEnd type="none" w="med" len="med"/>
                  <a:tailEnd type="none" w="med" len="med"/>
                </a:ln>
              </p:spPr>
            </p:sp>
            <p:sp>
              <p:nvSpPr>
                <p:cNvPr id="116768" name="Line 30"/>
                <p:cNvSpPr/>
                <p:nvPr/>
              </p:nvSpPr>
              <p:spPr>
                <a:xfrm>
                  <a:off x="864" y="3510"/>
                  <a:ext cx="912" cy="0"/>
                </a:xfrm>
                <a:prstGeom prst="line">
                  <a:avLst/>
                </a:prstGeom>
                <a:ln w="12700" cap="flat" cmpd="sng">
                  <a:solidFill>
                    <a:srgbClr val="000000"/>
                  </a:solidFill>
                  <a:prstDash val="solid"/>
                  <a:headEnd type="none" w="med" len="med"/>
                  <a:tailEnd type="none" w="med" len="med"/>
                </a:ln>
              </p:spPr>
            </p:sp>
            <p:sp>
              <p:nvSpPr>
                <p:cNvPr id="116769" name="Line 31"/>
                <p:cNvSpPr/>
                <p:nvPr/>
              </p:nvSpPr>
              <p:spPr>
                <a:xfrm>
                  <a:off x="864" y="3836"/>
                  <a:ext cx="912" cy="0"/>
                </a:xfrm>
                <a:prstGeom prst="line">
                  <a:avLst/>
                </a:prstGeom>
                <a:ln w="12700" cap="flat" cmpd="sng">
                  <a:solidFill>
                    <a:srgbClr val="000000"/>
                  </a:solidFill>
                  <a:prstDash val="solid"/>
                  <a:headEnd type="none" w="med" len="med"/>
                  <a:tailEnd type="none" w="med" len="med"/>
                </a:ln>
              </p:spPr>
            </p:sp>
            <p:sp>
              <p:nvSpPr>
                <p:cNvPr id="116770" name="Line 32"/>
                <p:cNvSpPr/>
                <p:nvPr/>
              </p:nvSpPr>
              <p:spPr>
                <a:xfrm>
                  <a:off x="864" y="4162"/>
                  <a:ext cx="912" cy="0"/>
                </a:xfrm>
                <a:prstGeom prst="line">
                  <a:avLst/>
                </a:prstGeom>
                <a:ln w="28575" cap="sq" cmpd="sng">
                  <a:solidFill>
                    <a:srgbClr val="000000"/>
                  </a:solidFill>
                  <a:prstDash val="solid"/>
                  <a:headEnd type="none" w="med" len="med"/>
                  <a:tailEnd type="none" w="med" len="med"/>
                </a:ln>
              </p:spPr>
            </p:sp>
            <p:sp>
              <p:nvSpPr>
                <p:cNvPr id="116771" name="Line 33"/>
                <p:cNvSpPr/>
                <p:nvPr/>
              </p:nvSpPr>
              <p:spPr>
                <a:xfrm>
                  <a:off x="864" y="576"/>
                  <a:ext cx="0" cy="3586"/>
                </a:xfrm>
                <a:prstGeom prst="line">
                  <a:avLst/>
                </a:prstGeom>
                <a:ln w="28575" cap="sq" cmpd="sng">
                  <a:solidFill>
                    <a:srgbClr val="000000"/>
                  </a:solidFill>
                  <a:prstDash val="solid"/>
                  <a:headEnd type="none" w="med" len="med"/>
                  <a:tailEnd type="none" w="med" len="med"/>
                </a:ln>
              </p:spPr>
            </p:sp>
            <p:sp>
              <p:nvSpPr>
                <p:cNvPr id="116772" name="Line 34"/>
                <p:cNvSpPr/>
                <p:nvPr/>
              </p:nvSpPr>
              <p:spPr>
                <a:xfrm>
                  <a:off x="1776" y="576"/>
                  <a:ext cx="0" cy="3586"/>
                </a:xfrm>
                <a:prstGeom prst="line">
                  <a:avLst/>
                </a:prstGeom>
                <a:ln w="28575" cap="sq" cmpd="sng">
                  <a:solidFill>
                    <a:srgbClr val="000000"/>
                  </a:solidFill>
                  <a:prstDash val="solid"/>
                  <a:headEnd type="none" w="med" len="med"/>
                  <a:tailEnd type="none" w="med" len="med"/>
                </a:ln>
              </p:spPr>
            </p:sp>
            <p:sp>
              <p:nvSpPr>
                <p:cNvPr id="116773" name="AutoShape 35"/>
                <p:cNvSpPr/>
                <p:nvPr/>
              </p:nvSpPr>
              <p:spPr>
                <a:xfrm>
                  <a:off x="1824" y="624"/>
                  <a:ext cx="144" cy="912"/>
                </a:xfrm>
                <a:prstGeom prst="rightBrace">
                  <a:avLst>
                    <a:gd name="adj1" fmla="val 52777"/>
                    <a:gd name="adj2" fmla="val 50000"/>
                  </a:avLst>
                </a:prstGeom>
                <a:noFill/>
                <a:ln w="5715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116774" name="AutoShape 36"/>
                <p:cNvSpPr/>
                <p:nvPr/>
              </p:nvSpPr>
              <p:spPr>
                <a:xfrm>
                  <a:off x="1824" y="1920"/>
                  <a:ext cx="144" cy="912"/>
                </a:xfrm>
                <a:prstGeom prst="rightBrace">
                  <a:avLst>
                    <a:gd name="adj1" fmla="val 52777"/>
                    <a:gd name="adj2" fmla="val 50000"/>
                  </a:avLst>
                </a:prstGeom>
                <a:noFill/>
                <a:ln w="5715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116775" name="AutoShape 37"/>
                <p:cNvSpPr/>
                <p:nvPr/>
              </p:nvSpPr>
              <p:spPr>
                <a:xfrm>
                  <a:off x="1776" y="3216"/>
                  <a:ext cx="144" cy="912"/>
                </a:xfrm>
                <a:prstGeom prst="rightBrace">
                  <a:avLst>
                    <a:gd name="adj1" fmla="val 52777"/>
                    <a:gd name="adj2" fmla="val 50000"/>
                  </a:avLst>
                </a:prstGeom>
                <a:noFill/>
                <a:ln w="5715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40" name="Text Box 38"/>
                <p:cNvSpPr txBox="1">
                  <a:spLocks noChangeArrowheads="1"/>
                </p:cNvSpPr>
                <p:nvPr/>
              </p:nvSpPr>
              <p:spPr bwMode="auto">
                <a:xfrm>
                  <a:off x="1920" y="959"/>
                  <a:ext cx="864" cy="280"/>
                </a:xfrm>
                <a:prstGeom prst="rect">
                  <a:avLst/>
                </a:prstGeom>
                <a:noFill/>
                <a:ln w="9525">
                  <a:noFill/>
                  <a:miter lim="800000"/>
                </a:ln>
                <a:effectLst/>
              </p:spPr>
              <p:txBody>
                <a:bodyPr>
                  <a:spAutoFit/>
                </a:bodyPr>
                <a:p>
                  <a:pPr marR="0" defTabSz="914400">
                    <a:spcBef>
                      <a:spcPct val="50000"/>
                    </a:spcBef>
                    <a:buClrTx/>
                    <a:buSzTx/>
                    <a:buFontTx/>
                    <a:buNone/>
                    <a:defRPr/>
                  </a:pPr>
                  <a:r>
                    <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第0行</a:t>
                  </a:r>
                  <a:endPar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41" name="Text Box 39"/>
                <p:cNvSpPr txBox="1">
                  <a:spLocks noChangeArrowheads="1"/>
                </p:cNvSpPr>
                <p:nvPr/>
              </p:nvSpPr>
              <p:spPr bwMode="auto">
                <a:xfrm>
                  <a:off x="1920" y="2253"/>
                  <a:ext cx="864" cy="280"/>
                </a:xfrm>
                <a:prstGeom prst="rect">
                  <a:avLst/>
                </a:prstGeom>
                <a:noFill/>
                <a:ln w="9525">
                  <a:noFill/>
                  <a:miter lim="800000"/>
                </a:ln>
                <a:effectLst/>
              </p:spPr>
              <p:txBody>
                <a:bodyPr>
                  <a:spAutoFit/>
                </a:bodyPr>
                <a:p>
                  <a:pPr marR="0" defTabSz="914400">
                    <a:spcBef>
                      <a:spcPct val="50000"/>
                    </a:spcBef>
                    <a:buClrTx/>
                    <a:buSzTx/>
                    <a:buFontTx/>
                    <a:buNone/>
                    <a:defRPr/>
                  </a:pPr>
                  <a:r>
                    <a:rPr kumimoji="0" lang="zh-CN" altLang="en-US" sz="2000" kern="1200" cap="none" spc="0" normalizeH="0" baseline="0" noProof="0">
                      <a:solidFill>
                        <a:srgbClr val="000000"/>
                      </a:solidFill>
                      <a:latin typeface="微软雅黑" panose="020B0503020204020204" pitchFamily="34" charset="-122"/>
                      <a:ea typeface="微软雅黑" panose="020B0503020204020204" pitchFamily="34" charset="-122"/>
                      <a:cs typeface="+mn-ea"/>
                    </a:rPr>
                    <a:t>第</a:t>
                  </a:r>
                  <a:r>
                    <a:rPr kumimoji="0" lang="en-US" altLang="zh-CN" sz="2000" i="1" kern="1200" cap="none" spc="0" normalizeH="0" baseline="0" noProof="0">
                      <a:solidFill>
                        <a:srgbClr val="000000"/>
                      </a:solidFill>
                      <a:latin typeface="微软雅黑" panose="020B0503020204020204" pitchFamily="34" charset="-122"/>
                      <a:ea typeface="微软雅黑" panose="020B0503020204020204" pitchFamily="34" charset="-122"/>
                      <a:cs typeface="+mn-ea"/>
                    </a:rPr>
                    <a:t>i</a:t>
                  </a:r>
                  <a:r>
                    <a:rPr kumimoji="0" lang="zh-CN" altLang="en-US" sz="2000" kern="1200" cap="none" spc="0" normalizeH="0" baseline="0" noProof="0">
                      <a:solidFill>
                        <a:srgbClr val="000000"/>
                      </a:solidFill>
                      <a:latin typeface="微软雅黑" panose="020B0503020204020204" pitchFamily="34" charset="-122"/>
                      <a:ea typeface="微软雅黑" panose="020B0503020204020204" pitchFamily="34" charset="-122"/>
                      <a:cs typeface="+mn-ea"/>
                    </a:rPr>
                    <a:t>行</a:t>
                  </a:r>
                  <a:endParaRPr kumimoji="0" lang="zh-CN" altLang="en-US" sz="2000" kern="1200" cap="none" spc="0" normalizeH="0" baseline="0" noProof="0">
                    <a:solidFill>
                      <a:srgbClr val="000000"/>
                    </a:solidFill>
                    <a:latin typeface="微软雅黑" panose="020B0503020204020204" pitchFamily="34" charset="-122"/>
                    <a:ea typeface="微软雅黑" panose="020B0503020204020204" pitchFamily="34" charset="-122"/>
                    <a:cs typeface="+mn-ea"/>
                  </a:endParaRPr>
                </a:p>
              </p:txBody>
            </p:sp>
            <p:sp>
              <p:nvSpPr>
                <p:cNvPr id="42" name="Text Box 40"/>
                <p:cNvSpPr txBox="1">
                  <a:spLocks noChangeArrowheads="1"/>
                </p:cNvSpPr>
                <p:nvPr/>
              </p:nvSpPr>
              <p:spPr bwMode="auto">
                <a:xfrm>
                  <a:off x="1872" y="3553"/>
                  <a:ext cx="864" cy="280"/>
                </a:xfrm>
                <a:prstGeom prst="rect">
                  <a:avLst/>
                </a:prstGeom>
                <a:noFill/>
                <a:ln w="9525">
                  <a:noFill/>
                  <a:miter lim="800000"/>
                </a:ln>
                <a:effectLst/>
              </p:spPr>
              <p:txBody>
                <a:bodyPr>
                  <a:spAutoFit/>
                </a:bodyPr>
                <a:p>
                  <a:pPr marR="0" defTabSz="914400">
                    <a:spcBef>
                      <a:spcPct val="50000"/>
                    </a:spcBef>
                    <a:buClrTx/>
                    <a:buSzTx/>
                    <a:buFontTx/>
                    <a:buNone/>
                    <a:defRPr/>
                  </a:pPr>
                  <a:r>
                    <a:rPr kumimoji="0" lang="zh-CN" altLang="en-US" sz="2000" kern="1200" cap="none" spc="0" normalizeH="0" baseline="0" noProof="0">
                      <a:solidFill>
                        <a:srgbClr val="000000"/>
                      </a:solidFill>
                      <a:latin typeface="微软雅黑" panose="020B0503020204020204" pitchFamily="34" charset="-122"/>
                      <a:ea typeface="微软雅黑" panose="020B0503020204020204" pitchFamily="34" charset="-122"/>
                      <a:cs typeface="+mn-ea"/>
                    </a:rPr>
                    <a:t>第</a:t>
                  </a:r>
                  <a:r>
                    <a:rPr kumimoji="0" lang="en-US" altLang="zh-CN" sz="2000" i="1" kern="1200" cap="none" spc="0" normalizeH="0" baseline="0" noProof="0">
                      <a:solidFill>
                        <a:srgbClr val="000000"/>
                      </a:solidFill>
                      <a:latin typeface="微软雅黑" panose="020B0503020204020204" pitchFamily="34" charset="-122"/>
                      <a:ea typeface="微软雅黑" panose="020B0503020204020204" pitchFamily="34" charset="-122"/>
                      <a:cs typeface="+mn-ea"/>
                    </a:rPr>
                    <a:t>m-1</a:t>
                  </a:r>
                  <a:r>
                    <a:rPr kumimoji="0" lang="zh-CN" altLang="en-US" sz="2000" kern="1200" cap="none" spc="0" normalizeH="0" baseline="0" noProof="0">
                      <a:solidFill>
                        <a:srgbClr val="000000"/>
                      </a:solidFill>
                      <a:latin typeface="微软雅黑" panose="020B0503020204020204" pitchFamily="34" charset="-122"/>
                      <a:ea typeface="微软雅黑" panose="020B0503020204020204" pitchFamily="34" charset="-122"/>
                      <a:cs typeface="+mn-ea"/>
                    </a:rPr>
                    <a:t>行</a:t>
                  </a:r>
                  <a:endParaRPr kumimoji="0" lang="zh-CN" altLang="en-US" sz="2000" kern="1200" cap="none" spc="0" normalizeH="0" baseline="0" noProof="0">
                    <a:solidFill>
                      <a:srgbClr val="000000"/>
                    </a:solidFill>
                    <a:latin typeface="微软雅黑" panose="020B0503020204020204" pitchFamily="34" charset="-122"/>
                    <a:ea typeface="微软雅黑" panose="020B0503020204020204" pitchFamily="34" charset="-122"/>
                    <a:cs typeface="+mn-ea"/>
                  </a:endParaRPr>
                </a:p>
              </p:txBody>
            </p:sp>
          </p:grpSp>
          <p:sp>
            <p:nvSpPr>
              <p:cNvPr id="23" name="Text Box 41"/>
              <p:cNvSpPr txBox="1">
                <a:spLocks noChangeArrowheads="1"/>
              </p:cNvSpPr>
              <p:nvPr/>
            </p:nvSpPr>
            <p:spPr bwMode="auto">
              <a:xfrm>
                <a:off x="0" y="432"/>
                <a:ext cx="817" cy="453"/>
              </a:xfrm>
              <a:prstGeom prst="rect">
                <a:avLst/>
              </a:prstGeom>
              <a:noFill/>
              <a:ln w="9525">
                <a:noFill/>
                <a:miter lim="800000"/>
              </a:ln>
              <a:effectLst/>
            </p:spPr>
            <p:txBody>
              <a:bodyPr>
                <a:spAutoFit/>
              </a:bodyPr>
              <a:p>
                <a:pPr marR="0" defTabSz="914400">
                  <a:spcBef>
                    <a:spcPct val="50000"/>
                  </a:spcBef>
                  <a:buClrTx/>
                  <a:buSzTx/>
                  <a:buFontTx/>
                  <a:buNone/>
                  <a:defRPr/>
                </a:pPr>
                <a:r>
                  <a:rPr kumimoji="0" lang="en-US" altLang="zh-CN" sz="1600" i="1" kern="1200" cap="none" spc="0" normalizeH="0" baseline="0" noProof="0" dirty="0">
                    <a:solidFill>
                      <a:srgbClr val="FFFFFF"/>
                    </a:solidFill>
                    <a:latin typeface="微软雅黑" panose="020B0503020204020204" pitchFamily="34" charset="-122"/>
                    <a:ea typeface="微软雅黑" panose="020B0503020204020204" pitchFamily="34" charset="-122"/>
                    <a:cs typeface="+mn-ea"/>
                  </a:rPr>
                  <a:t>                  </a:t>
                </a:r>
                <a:r>
                  <a:rPr kumimoji="0" lang="en-US" altLang="zh-CN"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rPr>
                  <a:t>LOC(</a:t>
                </a:r>
                <a:r>
                  <a:rPr kumimoji="0" lang="en-US" altLang="zh-CN" sz="2000"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rPr>
                  <a:t>a</a:t>
                </a:r>
                <a:r>
                  <a:rPr kumimoji="0" lang="en-US" altLang="zh-CN" sz="2000" i="1" kern="1200" cap="none" spc="0" normalizeH="0" baseline="-25000" noProof="0" dirty="0">
                    <a:solidFill>
                      <a:srgbClr val="FF0000"/>
                    </a:solidFill>
                    <a:latin typeface="微软雅黑" panose="020B0503020204020204" pitchFamily="34" charset="-122"/>
                    <a:ea typeface="微软雅黑" panose="020B0503020204020204" pitchFamily="34" charset="-122"/>
                    <a:cs typeface="+mn-ea"/>
                  </a:rPr>
                  <a:t>00</a:t>
                </a:r>
                <a:r>
                  <a:rPr kumimoji="0" lang="en-US" altLang="zh-CN" sz="2000"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rPr>
                  <a:t>)</a:t>
                </a:r>
                <a:endParaRPr kumimoji="0" lang="en-US" altLang="zh-CN" sz="2000"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endParaRPr>
              </a:p>
            </p:txBody>
          </p:sp>
        </p:grpSp>
        <p:sp>
          <p:nvSpPr>
            <p:cNvPr id="116745" name="Line 43"/>
            <p:cNvSpPr/>
            <p:nvPr/>
          </p:nvSpPr>
          <p:spPr>
            <a:xfrm>
              <a:off x="3792" y="1056"/>
              <a:ext cx="288" cy="0"/>
            </a:xfrm>
            <a:prstGeom prst="line">
              <a:avLst/>
            </a:prstGeom>
            <a:ln w="9525" cap="flat" cmpd="sng">
              <a:solidFill>
                <a:srgbClr val="FF0000"/>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subTnLst>
                                    <p:animClr clrSpc="rgb" dir="cw">
                                      <p:cBhvr override="childStyle">
                                        <p:cTn dur="1" fill="hold" display="0" masterRel="nextClick" afterEffect="1"/>
                                        <p:tgtEl>
                                          <p:spTgt spid="9"/>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540" y="6476365"/>
            <a:ext cx="1765300" cy="377825"/>
          </a:xfrm>
          <a:prstGeom prst="rect">
            <a:avLst/>
          </a:prstGeom>
          <a:noFill/>
          <a:ln>
            <a:noFill/>
          </a:ln>
        </p:spPr>
        <p:txBody>
          <a:bodyPr wrap="square" rtlCol="0">
            <a:no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1263650" y="1776095"/>
            <a:ext cx="9721850" cy="278447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3.4.2 数组的存储表示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342900" lvl="0"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5715" name="内容占位符 2"/>
          <p:cNvSpPr>
            <a:spLocks noGrp="1"/>
          </p:cNvSpPr>
          <p:nvPr/>
        </p:nvSpPr>
        <p:spPr>
          <a:xfrm>
            <a:off x="340995" y="1315085"/>
            <a:ext cx="10994390" cy="422783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lvl="1" indent="457200">
              <a:lnSpc>
                <a:spcPct val="150000"/>
              </a:lnSpc>
              <a:spcBef>
                <a:spcPts val="0"/>
              </a:spcBef>
              <a:buFontTx/>
              <a:buNone/>
            </a:pPr>
            <a:r>
              <a:rPr lang="zh-CN" altLang="en-US" sz="2000" dirty="0">
                <a:latin typeface="微软雅黑" panose="020B0503020204020204" pitchFamily="34" charset="-122"/>
                <a:ea typeface="微软雅黑" panose="020B0503020204020204" pitchFamily="34" charset="-122"/>
              </a:rPr>
              <a:t>由于对数组一般不做插入和删除操作，也就是说，数组一旦建立，结构中的元素个数和元素间的关系就不再发生变化。因此，数组中数据元素个数是固定的，数据元素不能增减，只能对数组元素进行</a:t>
            </a:r>
            <a:r>
              <a:rPr lang="zh-CN" altLang="en-US" sz="2000" b="1" dirty="0">
                <a:solidFill>
                  <a:srgbClr val="FF0000"/>
                </a:solidFill>
                <a:latin typeface="微软雅黑" panose="020B0503020204020204" pitchFamily="34" charset="-122"/>
                <a:ea typeface="微软雅黑" panose="020B0503020204020204" pitchFamily="34" charset="-122"/>
              </a:rPr>
              <a:t>取值和赋值操作</a:t>
            </a:r>
            <a:r>
              <a:rPr lang="zh-CN" altLang="en-US" sz="2000" dirty="0">
                <a:latin typeface="微软雅黑" panose="020B0503020204020204" pitchFamily="34" charset="-122"/>
                <a:ea typeface="微软雅黑" panose="020B0503020204020204" pitchFamily="34" charset="-122"/>
              </a:rPr>
              <a:t>。因此，一般都是采用</a:t>
            </a:r>
            <a:r>
              <a:rPr lang="zh-CN" altLang="en-US" sz="2000" b="1" dirty="0">
                <a:solidFill>
                  <a:srgbClr val="FF0000"/>
                </a:solidFill>
                <a:latin typeface="微软雅黑" panose="020B0503020204020204" pitchFamily="34" charset="-122"/>
                <a:ea typeface="微软雅黑" panose="020B0503020204020204" pitchFamily="34" charset="-122"/>
              </a:rPr>
              <a:t>顺序存储</a:t>
            </a:r>
            <a:r>
              <a:rPr lang="zh-CN" altLang="en-US" sz="2000" dirty="0">
                <a:latin typeface="微软雅黑" panose="020B0503020204020204" pitchFamily="34" charset="-122"/>
                <a:ea typeface="微软雅黑" panose="020B0503020204020204" pitchFamily="34" charset="-122"/>
              </a:rPr>
              <a:t>的方法来表示数组。可分为</a:t>
            </a:r>
            <a:endParaRPr lang="zh-CN" altLang="en-US" sz="2000" dirty="0">
              <a:latin typeface="微软雅黑" panose="020B0503020204020204" pitchFamily="34" charset="-122"/>
              <a:ea typeface="微软雅黑" panose="020B0503020204020204" pitchFamily="34" charset="-122"/>
            </a:endParaRPr>
          </a:p>
          <a:p>
            <a:pPr marL="342900" lvl="1" indent="457200">
              <a:lnSpc>
                <a:spcPct val="150000"/>
              </a:lnSpc>
              <a:spcBef>
                <a:spcPts val="0"/>
              </a:spcBef>
              <a:buFontTx/>
              <a:buNone/>
            </a:pPr>
            <a:r>
              <a:rPr lang="zh-CN" altLang="en-US" sz="2000" dirty="0">
                <a:latin typeface="微软雅黑" panose="020B0503020204020204" pitchFamily="34" charset="-122"/>
                <a:ea typeface="微软雅黑" panose="020B0503020204020204" pitchFamily="34" charset="-122"/>
              </a:rPr>
              <a:t>行优先顺序存储</a:t>
            </a:r>
            <a:endParaRPr lang="zh-CN" altLang="en-US" sz="2000" dirty="0">
              <a:latin typeface="微软雅黑" panose="020B0503020204020204" pitchFamily="34" charset="-122"/>
              <a:ea typeface="微软雅黑" panose="020B0503020204020204" pitchFamily="34" charset="-122"/>
            </a:endParaRPr>
          </a:p>
          <a:p>
            <a:pPr marL="342900" lvl="1" indent="0">
              <a:lnSpc>
                <a:spcPct val="150000"/>
              </a:lnSpc>
              <a:spcBef>
                <a:spcPts val="0"/>
              </a:spcBef>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列优先顺序存储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393065" y="1478280"/>
            <a:ext cx="6096000" cy="460375"/>
          </a:xfrm>
          <a:prstGeom prst="rect">
            <a:avLst/>
          </a:prstGeom>
          <a:noFill/>
          <a:ln>
            <a:solidFill>
              <a:srgbClr val="0070C0"/>
            </a:solidFill>
          </a:ln>
        </p:spPr>
        <p:txBody>
          <a:bodyPr wrap="square" rtlCol="0" anchor="t">
            <a:spAutoFit/>
          </a:bodyPr>
          <a:p>
            <a:pPr marL="342900" indent="-342900" algn="l" eaLnBrk="0" fontAlgn="base" hangingPunct="0">
              <a:spcBef>
                <a:spcPct val="20000"/>
              </a:spcBef>
              <a:buClrTx/>
              <a:buSzTx/>
              <a:buFontTx/>
              <a:buChar char="•"/>
              <a:defRPr/>
            </a:pPr>
            <a:r>
              <a:rPr lang="zh-CN" altLang="en-US" sz="2400" kern="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sym typeface="+mn-ea"/>
              </a:rPr>
              <a:t>列优先顺序存储</a:t>
            </a:r>
            <a:endParaRPr lang="zh-CN" altLang="en-US" sz="2400" kern="0" noProof="0" dirty="0" smtClean="0">
              <a:ln>
                <a:noFill/>
              </a:ln>
              <a:solidFill>
                <a:srgbClr val="000000"/>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1" name="文本框 10"/>
          <p:cNvSpPr txBox="1"/>
          <p:nvPr/>
        </p:nvSpPr>
        <p:spPr>
          <a:xfrm>
            <a:off x="393065" y="1957705"/>
            <a:ext cx="6096000" cy="460375"/>
          </a:xfrm>
          <a:prstGeom prst="rect">
            <a:avLst/>
          </a:prstGeom>
          <a:noFill/>
          <a:ln>
            <a:solidFill>
              <a:srgbClr val="0070C0"/>
            </a:solidFill>
          </a:ln>
        </p:spPr>
        <p:txBody>
          <a:bodyPr wrap="square" rtlCol="0" anchor="t">
            <a:spAutoFit/>
          </a:bodyPr>
          <a:p>
            <a:pPr algn="l" eaLnBrk="0" fontAlgn="base" hangingPunct="0">
              <a:spcBef>
                <a:spcPct val="20000"/>
              </a:spcBef>
              <a:buClrTx/>
              <a:buSzTx/>
              <a:buFontTx/>
              <a:buNone/>
              <a:defRPr/>
            </a:pPr>
            <a:r>
              <a:rPr lang="zh-CN" altLang="en-US" sz="2400" kern="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sym typeface="+mn-ea"/>
              </a:rPr>
              <a:t>（</a:t>
            </a:r>
            <a:r>
              <a:rPr lang="en-US" altLang="zh-CN" sz="2400" kern="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sym typeface="+mn-ea"/>
              </a:rPr>
              <a:t>m</a:t>
            </a:r>
            <a:r>
              <a:rPr lang="zh-CN" altLang="en-US" sz="2400" kern="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sym typeface="+mn-ea"/>
              </a:rPr>
              <a:t>行</a:t>
            </a:r>
            <a:r>
              <a:rPr lang="en-US" altLang="zh-CN" sz="2400" kern="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sym typeface="+mn-ea"/>
              </a:rPr>
              <a:t>n</a:t>
            </a:r>
            <a:r>
              <a:rPr lang="zh-CN" altLang="en-US" sz="2400" kern="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sym typeface="+mn-ea"/>
              </a:rPr>
              <a:t>列的二维数组）</a:t>
            </a:r>
            <a:endParaRPr lang="zh-CN" altLang="en-US" sz="2400" kern="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2" name="Text Box 42"/>
          <p:cNvSpPr txBox="1">
            <a:spLocks noChangeArrowheads="1"/>
          </p:cNvSpPr>
          <p:nvPr/>
        </p:nvSpPr>
        <p:spPr bwMode="auto">
          <a:xfrm>
            <a:off x="457200" y="3200400"/>
            <a:ext cx="5729288" cy="1014730"/>
          </a:xfrm>
          <a:prstGeom prst="rect">
            <a:avLst/>
          </a:prstGeom>
          <a:noFill/>
          <a:ln w="9525">
            <a:noFill/>
            <a:miter lim="800000"/>
          </a:ln>
          <a:effectLst/>
        </p:spPr>
        <p:txBody>
          <a:bodyPr>
            <a:spAutoFit/>
          </a:bodyPr>
          <a:p>
            <a:pPr marR="0" defTabSz="914400">
              <a:spcBef>
                <a:spcPct val="50000"/>
              </a:spcBef>
              <a:buClr>
                <a:srgbClr val="A8D02A"/>
              </a:buClr>
              <a:buSzPct val="130000"/>
              <a:buFont typeface="微软雅黑" panose="020B0503020204020204" pitchFamily="34" charset="-122"/>
              <a:buNone/>
              <a:defRPr/>
            </a:pPr>
            <a:r>
              <a:rPr kumimoji="0" lang="zh-CN" altLang="en-US"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zh-CN" sz="2400" i="1" kern="1200" cap="none" spc="0" normalizeH="0" baseline="0" noProof="0" dirty="0" err="1">
                <a:solidFill>
                  <a:srgbClr val="B5D5FE">
                    <a:lumMod val="50000"/>
                  </a:srgbClr>
                </a:solidFill>
                <a:latin typeface="微软雅黑" panose="020B0503020204020204" pitchFamily="34" charset="-122"/>
                <a:ea typeface="微软雅黑" panose="020B0503020204020204" pitchFamily="34" charset="-122"/>
                <a:cs typeface="+mn-ea"/>
              </a:rPr>
              <a:t>a</a:t>
            </a:r>
            <a:r>
              <a:rPr kumimoji="0" lang="en-US" altLang="zh-CN" sz="2400" i="1" kern="1200" cap="none" spc="0" normalizeH="0" baseline="-25000" noProof="0" dirty="0" err="1">
                <a:solidFill>
                  <a:srgbClr val="B5D5FE">
                    <a:lumMod val="50000"/>
                  </a:srgbClr>
                </a:solidFill>
                <a:latin typeface="微软雅黑" panose="020B0503020204020204" pitchFamily="34" charset="-122"/>
                <a:ea typeface="微软雅黑" panose="020B0503020204020204" pitchFamily="34" charset="-122"/>
                <a:cs typeface="+mn-ea"/>
              </a:rPr>
              <a:t>ij</a:t>
            </a:r>
            <a:r>
              <a:rPr kumimoji="0" lang="zh-CN" altLang="en-US" sz="2400" b="0"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rPr>
              <a:t>的存储地址为：</a:t>
            </a:r>
            <a:endParaRPr kumimoji="0" lang="zh-CN" altLang="en-US" sz="2400"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endParaRPr>
          </a:p>
          <a:p>
            <a:pPr marR="0" defTabSz="914400">
              <a:spcBef>
                <a:spcPct val="50000"/>
              </a:spcBef>
              <a:buClr>
                <a:srgbClr val="A8D02A"/>
              </a:buClr>
              <a:buSzPct val="130000"/>
              <a:buFont typeface="微软雅黑" panose="020B0503020204020204" pitchFamily="34" charset="-122"/>
              <a:buNone/>
              <a:defRPr/>
            </a:pPr>
            <a:r>
              <a:rPr kumimoji="0" lang="en-US" altLang="zh-CN" sz="2400" kern="1200" cap="none" spc="0" normalizeH="0" baseline="0" noProof="0" dirty="0">
                <a:solidFill>
                  <a:srgbClr val="B5D5FE">
                    <a:lumMod val="50000"/>
                  </a:srgbClr>
                </a:solidFill>
                <a:latin typeface="微软雅黑" panose="020B0503020204020204" pitchFamily="34" charset="-122"/>
                <a:ea typeface="微软雅黑" panose="020B0503020204020204" pitchFamily="34" charset="-122"/>
                <a:cs typeface="+mn-ea"/>
              </a:rPr>
              <a:t> </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Loc</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400" i="1" kern="1200" cap="none" spc="0" normalizeH="0" baseline="-2500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ij</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Loc</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a:t>
            </a:r>
            <a:r>
              <a:rPr kumimoji="0" lang="en-US" altLang="zh-CN" sz="2400" i="1" kern="1200" cap="none" spc="0" normalizeH="0" baseline="-2500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00</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j</a:t>
            </a:r>
            <a:r>
              <a:rPr kumimoji="0" lang="en-US" altLang="zh-CN" sz="2400"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m</a:t>
            </a:r>
            <a:r>
              <a:rPr kumimoji="0" lang="en-US" altLang="zh-CN" sz="2400"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i="1" kern="1200" cap="none" spc="0" normalizeH="0" baseline="0" noProof="0" dirty="0" err="1">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i</a:t>
            </a:r>
            <a:r>
              <a:rPr kumimoji="0" lang="en-US" altLang="zh-CN" sz="2400"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rPr>
              <a:t>L</a:t>
            </a:r>
            <a:endParaRPr kumimoji="0" lang="en-US" altLang="zh-CN" sz="2400" i="1" kern="1200" cap="none" spc="0" normalizeH="0" baseline="0" noProof="0" dirty="0">
              <a:solidFill>
                <a:srgbClr val="B5D5FE">
                  <a:lumMod val="50000"/>
                </a:srgb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3" name="Group 44"/>
          <p:cNvGrpSpPr/>
          <p:nvPr/>
        </p:nvGrpSpPr>
        <p:grpSpPr>
          <a:xfrm>
            <a:off x="6186805" y="818515"/>
            <a:ext cx="4573588" cy="5562600"/>
            <a:chOff x="3168" y="768"/>
            <a:chExt cx="2881" cy="3504"/>
          </a:xfrm>
        </p:grpSpPr>
        <p:grpSp>
          <p:nvGrpSpPr>
            <p:cNvPr id="117769" name="Group 8"/>
            <p:cNvGrpSpPr/>
            <p:nvPr/>
          </p:nvGrpSpPr>
          <p:grpSpPr>
            <a:xfrm>
              <a:off x="3168" y="768"/>
              <a:ext cx="2881" cy="3504"/>
              <a:chOff x="0" y="432"/>
              <a:chExt cx="2832" cy="3730"/>
            </a:xfrm>
          </p:grpSpPr>
          <p:grpSp>
            <p:nvGrpSpPr>
              <p:cNvPr id="117771" name="Group 9"/>
              <p:cNvGrpSpPr/>
              <p:nvPr/>
            </p:nvGrpSpPr>
            <p:grpSpPr>
              <a:xfrm>
                <a:off x="912" y="576"/>
                <a:ext cx="1920" cy="3586"/>
                <a:chOff x="864" y="576"/>
                <a:chExt cx="1920" cy="3586"/>
              </a:xfrm>
            </p:grpSpPr>
            <p:sp>
              <p:nvSpPr>
                <p:cNvPr id="14" name="Rectangle 10"/>
                <p:cNvSpPr>
                  <a:spLocks noChangeArrowheads="1"/>
                </p:cNvSpPr>
                <p:nvPr/>
              </p:nvSpPr>
              <p:spPr bwMode="auto">
                <a:xfrm>
                  <a:off x="864" y="3836"/>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a:ln>
                        <a:noFill/>
                      </a:ln>
                      <a:solidFill>
                        <a:srgbClr val="000000"/>
                      </a:solidFill>
                      <a:effectLst/>
                      <a:uLnTx/>
                      <a:uFillTx/>
                      <a:latin typeface="微软雅黑" panose="020B0503020204020204" pitchFamily="34" charset="-122"/>
                      <a:ea typeface="微软雅黑" panose="020B0503020204020204" pitchFamily="34" charset="-122"/>
                      <a:cs typeface="+mn-ea"/>
                    </a:rPr>
                    <a:t>m-1,,n-1</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5" name="Rectangle 11"/>
                <p:cNvSpPr>
                  <a:spLocks noChangeArrowheads="1"/>
                </p:cNvSpPr>
                <p:nvPr/>
              </p:nvSpPr>
              <p:spPr bwMode="auto">
                <a:xfrm>
                  <a:off x="864" y="3509"/>
                  <a:ext cx="912" cy="327"/>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6" name="Rectangle 12"/>
                <p:cNvSpPr>
                  <a:spLocks noChangeArrowheads="1"/>
                </p:cNvSpPr>
                <p:nvPr/>
              </p:nvSpPr>
              <p:spPr bwMode="auto">
                <a:xfrm>
                  <a:off x="864" y="3184"/>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0, n-1</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7" name="Rectangle 13"/>
                <p:cNvSpPr>
                  <a:spLocks noChangeArrowheads="1"/>
                </p:cNvSpPr>
                <p:nvPr/>
              </p:nvSpPr>
              <p:spPr bwMode="auto">
                <a:xfrm>
                  <a:off x="864" y="2858"/>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8" name="Rectangle 14"/>
                <p:cNvSpPr>
                  <a:spLocks noChangeArrowheads="1"/>
                </p:cNvSpPr>
                <p:nvPr/>
              </p:nvSpPr>
              <p:spPr bwMode="auto">
                <a:xfrm>
                  <a:off x="864" y="2532"/>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m-1,j</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9" name="Rectangle 15"/>
                <p:cNvSpPr>
                  <a:spLocks noChangeArrowheads="1"/>
                </p:cNvSpPr>
                <p:nvPr/>
              </p:nvSpPr>
              <p:spPr bwMode="auto">
                <a:xfrm>
                  <a:off x="864" y="2203"/>
                  <a:ext cx="912" cy="329"/>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0" name="Rectangle 16"/>
                <p:cNvSpPr>
                  <a:spLocks noChangeArrowheads="1"/>
                </p:cNvSpPr>
                <p:nvPr/>
              </p:nvSpPr>
              <p:spPr bwMode="auto">
                <a:xfrm>
                  <a:off x="864" y="1880"/>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0j</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1" name="Rectangle 17"/>
                <p:cNvSpPr>
                  <a:spLocks noChangeArrowheads="1"/>
                </p:cNvSpPr>
                <p:nvPr/>
              </p:nvSpPr>
              <p:spPr bwMode="auto">
                <a:xfrm>
                  <a:off x="864" y="1554"/>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2" name="Rectangle 18"/>
                <p:cNvSpPr>
                  <a:spLocks noChangeArrowheads="1"/>
                </p:cNvSpPr>
                <p:nvPr/>
              </p:nvSpPr>
              <p:spPr bwMode="auto">
                <a:xfrm>
                  <a:off x="864" y="1228"/>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1"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m-</a:t>
                  </a:r>
                  <a:r>
                    <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1,0</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3" name="Rectangle 19"/>
                <p:cNvSpPr>
                  <a:spLocks noChangeArrowheads="1"/>
                </p:cNvSpPr>
                <p:nvPr/>
              </p:nvSpPr>
              <p:spPr bwMode="auto">
                <a:xfrm>
                  <a:off x="864" y="898"/>
                  <a:ext cx="912" cy="330"/>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zh-CN" altLang="en-US" sz="1800" b="1" i="1"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4" name="Rectangle 20"/>
                <p:cNvSpPr>
                  <a:spLocks noChangeArrowheads="1"/>
                </p:cNvSpPr>
                <p:nvPr/>
              </p:nvSpPr>
              <p:spPr bwMode="auto">
                <a:xfrm>
                  <a:off x="864" y="576"/>
                  <a:ext cx="912" cy="326"/>
                </a:xfrm>
                <a:prstGeom prst="rect">
                  <a:avLst/>
                </a:prstGeom>
                <a:noFill/>
                <a:ln w="9525">
                  <a:noFill/>
                  <a:miter lim="800000"/>
                </a:ln>
                <a:effectLst/>
              </p:spPr>
              <p: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defRPr/>
                  </a:pPr>
                  <a:r>
                    <a:rPr kumimoji="0" lang="en-US" altLang="zh-CN" sz="18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a:t>
                  </a:r>
                  <a:r>
                    <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00</a:t>
                  </a:r>
                  <a:endParaRPr kumimoji="0" lang="en-US" altLang="zh-CN" sz="1800" b="1" i="0" u="none" strike="noStrike" kern="120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117784" name="Line 21"/>
                <p:cNvSpPr/>
                <p:nvPr/>
              </p:nvSpPr>
              <p:spPr>
                <a:xfrm>
                  <a:off x="864" y="576"/>
                  <a:ext cx="912" cy="0"/>
                </a:xfrm>
                <a:prstGeom prst="line">
                  <a:avLst/>
                </a:prstGeom>
                <a:ln w="28575" cap="sq" cmpd="sng">
                  <a:solidFill>
                    <a:srgbClr val="000000"/>
                  </a:solidFill>
                  <a:prstDash val="solid"/>
                  <a:headEnd type="none" w="med" len="med"/>
                  <a:tailEnd type="none" w="med" len="med"/>
                </a:ln>
              </p:spPr>
            </p:sp>
            <p:sp>
              <p:nvSpPr>
                <p:cNvPr id="117785" name="Line 22"/>
                <p:cNvSpPr/>
                <p:nvPr/>
              </p:nvSpPr>
              <p:spPr>
                <a:xfrm>
                  <a:off x="864" y="902"/>
                  <a:ext cx="912" cy="0"/>
                </a:xfrm>
                <a:prstGeom prst="line">
                  <a:avLst/>
                </a:prstGeom>
                <a:ln w="12700" cap="flat" cmpd="sng">
                  <a:solidFill>
                    <a:srgbClr val="000000"/>
                  </a:solidFill>
                  <a:prstDash val="solid"/>
                  <a:headEnd type="none" w="med" len="med"/>
                  <a:tailEnd type="none" w="med" len="med"/>
                </a:ln>
              </p:spPr>
            </p:sp>
            <p:sp>
              <p:nvSpPr>
                <p:cNvPr id="117786" name="Line 23"/>
                <p:cNvSpPr/>
                <p:nvPr/>
              </p:nvSpPr>
              <p:spPr>
                <a:xfrm>
                  <a:off x="864" y="1228"/>
                  <a:ext cx="912" cy="0"/>
                </a:xfrm>
                <a:prstGeom prst="line">
                  <a:avLst/>
                </a:prstGeom>
                <a:ln w="12700" cap="flat" cmpd="sng">
                  <a:solidFill>
                    <a:srgbClr val="000000"/>
                  </a:solidFill>
                  <a:prstDash val="solid"/>
                  <a:headEnd type="none" w="med" len="med"/>
                  <a:tailEnd type="none" w="med" len="med"/>
                </a:ln>
              </p:spPr>
            </p:sp>
            <p:sp>
              <p:nvSpPr>
                <p:cNvPr id="117787" name="Line 24"/>
                <p:cNvSpPr/>
                <p:nvPr/>
              </p:nvSpPr>
              <p:spPr>
                <a:xfrm>
                  <a:off x="864" y="1554"/>
                  <a:ext cx="912" cy="0"/>
                </a:xfrm>
                <a:prstGeom prst="line">
                  <a:avLst/>
                </a:prstGeom>
                <a:ln w="12700" cap="flat" cmpd="sng">
                  <a:solidFill>
                    <a:srgbClr val="000000"/>
                  </a:solidFill>
                  <a:prstDash val="solid"/>
                  <a:headEnd type="none" w="med" len="med"/>
                  <a:tailEnd type="none" w="med" len="med"/>
                </a:ln>
              </p:spPr>
            </p:sp>
            <p:sp>
              <p:nvSpPr>
                <p:cNvPr id="117788" name="Line 25"/>
                <p:cNvSpPr/>
                <p:nvPr/>
              </p:nvSpPr>
              <p:spPr>
                <a:xfrm>
                  <a:off x="864" y="1880"/>
                  <a:ext cx="912" cy="0"/>
                </a:xfrm>
                <a:prstGeom prst="line">
                  <a:avLst/>
                </a:prstGeom>
                <a:ln w="12700" cap="flat" cmpd="sng">
                  <a:solidFill>
                    <a:srgbClr val="000000"/>
                  </a:solidFill>
                  <a:prstDash val="solid"/>
                  <a:headEnd type="none" w="med" len="med"/>
                  <a:tailEnd type="none" w="med" len="med"/>
                </a:ln>
              </p:spPr>
            </p:sp>
            <p:sp>
              <p:nvSpPr>
                <p:cNvPr id="117789" name="Line 26"/>
                <p:cNvSpPr/>
                <p:nvPr/>
              </p:nvSpPr>
              <p:spPr>
                <a:xfrm>
                  <a:off x="864" y="2206"/>
                  <a:ext cx="912" cy="0"/>
                </a:xfrm>
                <a:prstGeom prst="line">
                  <a:avLst/>
                </a:prstGeom>
                <a:ln w="12700" cap="flat" cmpd="sng">
                  <a:solidFill>
                    <a:srgbClr val="000000"/>
                  </a:solidFill>
                  <a:prstDash val="solid"/>
                  <a:headEnd type="none" w="med" len="med"/>
                  <a:tailEnd type="none" w="med" len="med"/>
                </a:ln>
              </p:spPr>
            </p:sp>
            <p:sp>
              <p:nvSpPr>
                <p:cNvPr id="117790" name="Line 27"/>
                <p:cNvSpPr/>
                <p:nvPr/>
              </p:nvSpPr>
              <p:spPr>
                <a:xfrm>
                  <a:off x="864" y="2532"/>
                  <a:ext cx="912" cy="0"/>
                </a:xfrm>
                <a:prstGeom prst="line">
                  <a:avLst/>
                </a:prstGeom>
                <a:ln w="12700" cap="flat" cmpd="sng">
                  <a:solidFill>
                    <a:srgbClr val="000000"/>
                  </a:solidFill>
                  <a:prstDash val="solid"/>
                  <a:headEnd type="none" w="med" len="med"/>
                  <a:tailEnd type="none" w="med" len="med"/>
                </a:ln>
              </p:spPr>
            </p:sp>
            <p:sp>
              <p:nvSpPr>
                <p:cNvPr id="117791" name="Line 28"/>
                <p:cNvSpPr/>
                <p:nvPr/>
              </p:nvSpPr>
              <p:spPr>
                <a:xfrm>
                  <a:off x="864" y="2858"/>
                  <a:ext cx="912" cy="0"/>
                </a:xfrm>
                <a:prstGeom prst="line">
                  <a:avLst/>
                </a:prstGeom>
                <a:ln w="12700" cap="flat" cmpd="sng">
                  <a:solidFill>
                    <a:srgbClr val="000000"/>
                  </a:solidFill>
                  <a:prstDash val="solid"/>
                  <a:headEnd type="none" w="med" len="med"/>
                  <a:tailEnd type="none" w="med" len="med"/>
                </a:ln>
              </p:spPr>
            </p:sp>
            <p:sp>
              <p:nvSpPr>
                <p:cNvPr id="117792" name="Line 29"/>
                <p:cNvSpPr/>
                <p:nvPr/>
              </p:nvSpPr>
              <p:spPr>
                <a:xfrm>
                  <a:off x="864" y="3184"/>
                  <a:ext cx="912" cy="0"/>
                </a:xfrm>
                <a:prstGeom prst="line">
                  <a:avLst/>
                </a:prstGeom>
                <a:ln w="12700" cap="flat" cmpd="sng">
                  <a:solidFill>
                    <a:srgbClr val="000000"/>
                  </a:solidFill>
                  <a:prstDash val="solid"/>
                  <a:headEnd type="none" w="med" len="med"/>
                  <a:tailEnd type="none" w="med" len="med"/>
                </a:ln>
              </p:spPr>
            </p:sp>
            <p:sp>
              <p:nvSpPr>
                <p:cNvPr id="117793" name="Line 30"/>
                <p:cNvSpPr/>
                <p:nvPr/>
              </p:nvSpPr>
              <p:spPr>
                <a:xfrm>
                  <a:off x="864" y="3510"/>
                  <a:ext cx="912" cy="0"/>
                </a:xfrm>
                <a:prstGeom prst="line">
                  <a:avLst/>
                </a:prstGeom>
                <a:ln w="12700" cap="flat" cmpd="sng">
                  <a:solidFill>
                    <a:srgbClr val="000000"/>
                  </a:solidFill>
                  <a:prstDash val="solid"/>
                  <a:headEnd type="none" w="med" len="med"/>
                  <a:tailEnd type="none" w="med" len="med"/>
                </a:ln>
              </p:spPr>
            </p:sp>
            <p:sp>
              <p:nvSpPr>
                <p:cNvPr id="117794" name="Line 31"/>
                <p:cNvSpPr/>
                <p:nvPr/>
              </p:nvSpPr>
              <p:spPr>
                <a:xfrm>
                  <a:off x="864" y="3836"/>
                  <a:ext cx="912" cy="0"/>
                </a:xfrm>
                <a:prstGeom prst="line">
                  <a:avLst/>
                </a:prstGeom>
                <a:ln w="12700" cap="flat" cmpd="sng">
                  <a:solidFill>
                    <a:srgbClr val="000000"/>
                  </a:solidFill>
                  <a:prstDash val="solid"/>
                  <a:headEnd type="none" w="med" len="med"/>
                  <a:tailEnd type="none" w="med" len="med"/>
                </a:ln>
              </p:spPr>
            </p:sp>
            <p:sp>
              <p:nvSpPr>
                <p:cNvPr id="117795" name="Line 32"/>
                <p:cNvSpPr/>
                <p:nvPr/>
              </p:nvSpPr>
              <p:spPr>
                <a:xfrm>
                  <a:off x="864" y="4162"/>
                  <a:ext cx="912" cy="0"/>
                </a:xfrm>
                <a:prstGeom prst="line">
                  <a:avLst/>
                </a:prstGeom>
                <a:ln w="28575" cap="sq" cmpd="sng">
                  <a:solidFill>
                    <a:srgbClr val="000000"/>
                  </a:solidFill>
                  <a:prstDash val="solid"/>
                  <a:headEnd type="none" w="med" len="med"/>
                  <a:tailEnd type="none" w="med" len="med"/>
                </a:ln>
              </p:spPr>
            </p:sp>
            <p:sp>
              <p:nvSpPr>
                <p:cNvPr id="117796" name="Line 33"/>
                <p:cNvSpPr/>
                <p:nvPr/>
              </p:nvSpPr>
              <p:spPr>
                <a:xfrm>
                  <a:off x="864" y="576"/>
                  <a:ext cx="0" cy="3586"/>
                </a:xfrm>
                <a:prstGeom prst="line">
                  <a:avLst/>
                </a:prstGeom>
                <a:ln w="28575" cap="sq" cmpd="sng">
                  <a:solidFill>
                    <a:srgbClr val="000000"/>
                  </a:solidFill>
                  <a:prstDash val="solid"/>
                  <a:headEnd type="none" w="med" len="med"/>
                  <a:tailEnd type="none" w="med" len="med"/>
                </a:ln>
              </p:spPr>
            </p:sp>
            <p:sp>
              <p:nvSpPr>
                <p:cNvPr id="117797" name="Line 34"/>
                <p:cNvSpPr/>
                <p:nvPr/>
              </p:nvSpPr>
              <p:spPr>
                <a:xfrm>
                  <a:off x="1776" y="576"/>
                  <a:ext cx="0" cy="3586"/>
                </a:xfrm>
                <a:prstGeom prst="line">
                  <a:avLst/>
                </a:prstGeom>
                <a:ln w="28575" cap="sq" cmpd="sng">
                  <a:solidFill>
                    <a:srgbClr val="000000"/>
                  </a:solidFill>
                  <a:prstDash val="solid"/>
                  <a:headEnd type="none" w="med" len="med"/>
                  <a:tailEnd type="none" w="med" len="med"/>
                </a:ln>
              </p:spPr>
            </p:sp>
            <p:sp>
              <p:nvSpPr>
                <p:cNvPr id="117798" name="AutoShape 35"/>
                <p:cNvSpPr/>
                <p:nvPr/>
              </p:nvSpPr>
              <p:spPr>
                <a:xfrm>
                  <a:off x="1824" y="624"/>
                  <a:ext cx="144" cy="912"/>
                </a:xfrm>
                <a:prstGeom prst="rightBrace">
                  <a:avLst>
                    <a:gd name="adj1" fmla="val 52777"/>
                    <a:gd name="adj2" fmla="val 50000"/>
                  </a:avLst>
                </a:prstGeom>
                <a:noFill/>
                <a:ln w="5715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117799" name="AutoShape 36"/>
                <p:cNvSpPr/>
                <p:nvPr/>
              </p:nvSpPr>
              <p:spPr>
                <a:xfrm>
                  <a:off x="1824" y="1920"/>
                  <a:ext cx="144" cy="912"/>
                </a:xfrm>
                <a:prstGeom prst="rightBrace">
                  <a:avLst>
                    <a:gd name="adj1" fmla="val 52777"/>
                    <a:gd name="adj2" fmla="val 50000"/>
                  </a:avLst>
                </a:prstGeom>
                <a:noFill/>
                <a:ln w="5715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117800" name="AutoShape 37"/>
                <p:cNvSpPr/>
                <p:nvPr/>
              </p:nvSpPr>
              <p:spPr>
                <a:xfrm>
                  <a:off x="1776" y="3216"/>
                  <a:ext cx="144" cy="912"/>
                </a:xfrm>
                <a:prstGeom prst="rightBrace">
                  <a:avLst>
                    <a:gd name="adj1" fmla="val 52777"/>
                    <a:gd name="adj2" fmla="val 50000"/>
                  </a:avLst>
                </a:prstGeom>
                <a:noFill/>
                <a:ln w="5715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40" name="Text Box 38"/>
                <p:cNvSpPr txBox="1">
                  <a:spLocks noChangeArrowheads="1"/>
                </p:cNvSpPr>
                <p:nvPr/>
              </p:nvSpPr>
              <p:spPr bwMode="auto">
                <a:xfrm>
                  <a:off x="1920" y="959"/>
                  <a:ext cx="864" cy="266"/>
                </a:xfrm>
                <a:prstGeom prst="rect">
                  <a:avLst/>
                </a:prstGeom>
                <a:noFill/>
                <a:ln w="9525">
                  <a:noFill/>
                  <a:miter lim="800000"/>
                </a:ln>
                <a:effectLst/>
              </p:spPr>
              <p:txBody>
                <a:bodyPr>
                  <a:spAutoFit/>
                </a:bodyPr>
                <a:p>
                  <a:pPr marR="0" defTabSz="914400">
                    <a:spcBef>
                      <a:spcPct val="50000"/>
                    </a:spcBef>
                    <a:buClrTx/>
                    <a:buSzTx/>
                    <a:buFontTx/>
                    <a:buNone/>
                    <a:defRPr/>
                  </a:pPr>
                  <a:r>
                    <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第0列</a:t>
                  </a:r>
                  <a:endPar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41" name="Text Box 39"/>
                <p:cNvSpPr txBox="1">
                  <a:spLocks noChangeArrowheads="1"/>
                </p:cNvSpPr>
                <p:nvPr/>
              </p:nvSpPr>
              <p:spPr bwMode="auto">
                <a:xfrm>
                  <a:off x="1920" y="2253"/>
                  <a:ext cx="864" cy="264"/>
                </a:xfrm>
                <a:prstGeom prst="rect">
                  <a:avLst/>
                </a:prstGeom>
                <a:noFill/>
                <a:ln w="9525">
                  <a:noFill/>
                  <a:miter lim="800000"/>
                </a:ln>
                <a:effectLst/>
              </p:spPr>
              <p:txBody>
                <a:bodyPr>
                  <a:spAutoFit/>
                </a:bodyPr>
                <a:p>
                  <a:pPr marR="0" defTabSz="914400">
                    <a:spcBef>
                      <a:spcPct val="50000"/>
                    </a:spcBef>
                    <a:buClrTx/>
                    <a:buSzTx/>
                    <a:buFontTx/>
                    <a:buNone/>
                    <a:defRPr/>
                  </a:pPr>
                  <a:r>
                    <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第</a:t>
                  </a:r>
                  <a:r>
                    <a:rPr kumimoji="0" lang="en-US" altLang="zh-CN" sz="200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j</a:t>
                  </a:r>
                  <a:r>
                    <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列</a:t>
                  </a:r>
                  <a:endPar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42" name="Text Box 40"/>
                <p:cNvSpPr txBox="1">
                  <a:spLocks noChangeArrowheads="1"/>
                </p:cNvSpPr>
                <p:nvPr/>
              </p:nvSpPr>
              <p:spPr bwMode="auto">
                <a:xfrm>
                  <a:off x="1872" y="3553"/>
                  <a:ext cx="864" cy="266"/>
                </a:xfrm>
                <a:prstGeom prst="rect">
                  <a:avLst/>
                </a:prstGeom>
                <a:noFill/>
                <a:ln w="9525">
                  <a:noFill/>
                  <a:miter lim="800000"/>
                </a:ln>
                <a:effectLst/>
              </p:spPr>
              <p:txBody>
                <a:bodyPr>
                  <a:spAutoFit/>
                </a:bodyPr>
                <a:p>
                  <a:pPr marR="0" defTabSz="914400">
                    <a:spcBef>
                      <a:spcPct val="50000"/>
                    </a:spcBef>
                    <a:buClrTx/>
                    <a:buSzTx/>
                    <a:buFontTx/>
                    <a:buNone/>
                    <a:defRPr/>
                  </a:pPr>
                  <a:r>
                    <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第</a:t>
                  </a:r>
                  <a:r>
                    <a:rPr kumimoji="0" lang="en-US" altLang="zh-CN" sz="200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n</a:t>
                  </a:r>
                  <a:r>
                    <a:rPr kumimoji="0" lang="en-US" altLang="zh-CN"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-1</a:t>
                  </a:r>
                  <a:r>
                    <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列</a:t>
                  </a:r>
                  <a:endParaRPr kumimoji="0" lang="zh-CN" altLang="en-US" sz="200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sp>
            <p:nvSpPr>
              <p:cNvPr id="25" name="Text Box 41"/>
              <p:cNvSpPr txBox="1">
                <a:spLocks noChangeArrowheads="1"/>
              </p:cNvSpPr>
              <p:nvPr/>
            </p:nvSpPr>
            <p:spPr bwMode="auto">
              <a:xfrm>
                <a:off x="0" y="432"/>
                <a:ext cx="817" cy="430"/>
              </a:xfrm>
              <a:prstGeom prst="rect">
                <a:avLst/>
              </a:prstGeom>
              <a:noFill/>
              <a:ln w="9525">
                <a:noFill/>
                <a:miter lim="800000"/>
              </a:ln>
              <a:effectLst/>
            </p:spPr>
            <p:txBody>
              <a:bodyPr>
                <a:spAutoFit/>
              </a:bodyPr>
              <a:p>
                <a:pPr marR="0" defTabSz="914400">
                  <a:spcBef>
                    <a:spcPct val="50000"/>
                  </a:spcBef>
                  <a:buClrTx/>
                  <a:buSzTx/>
                  <a:buFontTx/>
                  <a:buNone/>
                  <a:defRPr/>
                </a:pPr>
                <a:r>
                  <a:rPr kumimoji="0" lang="en-US" altLang="zh-CN" sz="1600" i="1" kern="1200" cap="none" spc="0" normalizeH="0" baseline="0" noProof="0" dirty="0">
                    <a:solidFill>
                      <a:srgbClr val="FFFFFF"/>
                    </a:solidFill>
                    <a:latin typeface="微软雅黑" panose="020B0503020204020204" pitchFamily="34" charset="-122"/>
                    <a:ea typeface="微软雅黑" panose="020B0503020204020204" pitchFamily="34" charset="-122"/>
                    <a:cs typeface="+mn-ea"/>
                  </a:rPr>
                  <a:t>                  </a:t>
                </a:r>
                <a:r>
                  <a:rPr kumimoji="0" lang="en-US" altLang="zh-CN"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rPr>
                  <a:t>LOC(</a:t>
                </a:r>
                <a:r>
                  <a:rPr kumimoji="0" lang="en-US" altLang="zh-CN" sz="2000"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rPr>
                  <a:t>a</a:t>
                </a:r>
                <a:r>
                  <a:rPr kumimoji="0" lang="en-US" altLang="zh-CN" sz="2000" i="1" kern="1200" cap="none" spc="0" normalizeH="0" baseline="-25000" noProof="0" dirty="0">
                    <a:solidFill>
                      <a:srgbClr val="FF0000"/>
                    </a:solidFill>
                    <a:latin typeface="微软雅黑" panose="020B0503020204020204" pitchFamily="34" charset="-122"/>
                    <a:ea typeface="微软雅黑" panose="020B0503020204020204" pitchFamily="34" charset="-122"/>
                    <a:cs typeface="+mn-ea"/>
                  </a:rPr>
                  <a:t>00</a:t>
                </a:r>
                <a:r>
                  <a:rPr kumimoji="0" lang="en-US" altLang="zh-CN" sz="2000"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rPr>
                  <a:t>)</a:t>
                </a:r>
                <a:endParaRPr kumimoji="0" lang="en-US" altLang="zh-CN" sz="2000" i="1" kern="1200" cap="none" spc="0" normalizeH="0" baseline="0" noProof="0" dirty="0">
                  <a:solidFill>
                    <a:srgbClr val="FF0000"/>
                  </a:solidFill>
                  <a:latin typeface="微软雅黑" panose="020B0503020204020204" pitchFamily="34" charset="-122"/>
                  <a:ea typeface="微软雅黑" panose="020B0503020204020204" pitchFamily="34" charset="-122"/>
                  <a:cs typeface="+mn-ea"/>
                </a:endParaRPr>
              </a:p>
            </p:txBody>
          </p:sp>
        </p:grpSp>
        <p:sp>
          <p:nvSpPr>
            <p:cNvPr id="117770" name="Line 43"/>
            <p:cNvSpPr/>
            <p:nvPr/>
          </p:nvSpPr>
          <p:spPr>
            <a:xfrm>
              <a:off x="3792" y="1056"/>
              <a:ext cx="288" cy="0"/>
            </a:xfrm>
            <a:prstGeom prst="line">
              <a:avLst/>
            </a:prstGeom>
            <a:ln w="9525" cap="flat" cmpd="sng">
              <a:solidFill>
                <a:srgbClr val="FF0000"/>
              </a:solidFill>
              <a:prstDash val="solid"/>
              <a:headEnd type="none" w="med" len="med"/>
              <a:tailEnd type="triangle" w="med" len="med"/>
            </a:ln>
          </p:spPr>
        </p:sp>
      </p:grpSp>
      <p:sp>
        <p:nvSpPr>
          <p:cNvPr id="26" name="文本框 25"/>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3.4.2 数组的存储表示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342900" lvl="0"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subTnLst>
                                    <p:animClr clrSpc="rgb" dir="cw">
                                      <p:cBhvr override="childStyle">
                                        <p:cTn dur="1" fill="hold" display="0" masterRel="nextClick" afterEffect="1"/>
                                        <p:tgtEl>
                                          <p:spTgt spid="12"/>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rPr>
              <a:t>3.</a:t>
            </a:r>
            <a:r>
              <a:rPr lang="zh-CN" sz="3600" b="1" dirty="0">
                <a:solidFill>
                  <a:schemeClr val="bg1"/>
                </a:solidFill>
                <a:latin typeface="微软雅黑" panose="020B0503020204020204" pitchFamily="34" charset="-122"/>
                <a:ea typeface="微软雅黑" panose="020B0503020204020204" pitchFamily="34" charset="-122"/>
                <a:sym typeface="+mn-ea"/>
              </a:rPr>
              <a:t>4.3 特殊矩阵的压缩存储</a:t>
            </a: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8787" name="内容占位符 2"/>
          <p:cNvSpPr>
            <a:spLocks noGrp="1"/>
          </p:cNvSpPr>
          <p:nvPr/>
        </p:nvSpPr>
        <p:spPr>
          <a:xfrm>
            <a:off x="533400" y="1295400"/>
            <a:ext cx="9857105" cy="31603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r>
              <a:rPr lang="zh-CN" altLang="en-US" sz="2000" dirty="0">
                <a:latin typeface="微软雅黑" panose="020B0503020204020204" pitchFamily="34" charset="-122"/>
                <a:ea typeface="微软雅黑" panose="020B0503020204020204" pitchFamily="34" charset="-122"/>
              </a:rPr>
              <a:t>对称矩阵</a:t>
            </a:r>
            <a:endParaRPr lang="en-US" altLang="zh-CN" sz="200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定义：</a:t>
            </a:r>
            <a:r>
              <a:rPr lang="zh-CN" altLang="x-none" sz="2000" dirty="0">
                <a:latin typeface="微软雅黑" panose="020B0503020204020204" pitchFamily="34" charset="-122"/>
                <a:ea typeface="微软雅黑" panose="020B0503020204020204" pitchFamily="34" charset="-122"/>
              </a:rPr>
              <a:t>一个</a:t>
            </a:r>
            <a:r>
              <a:rPr lang="en-US" altLang="zh-CN" sz="2000" i="1">
                <a:latin typeface="微软雅黑" panose="020B0503020204020204" pitchFamily="34" charset="-122"/>
                <a:ea typeface="微软雅黑" panose="020B0503020204020204" pitchFamily="34" charset="-122"/>
              </a:rPr>
              <a:t>n</a:t>
            </a:r>
            <a:r>
              <a:rPr lang="zh-CN" altLang="x-none" sz="2000" dirty="0">
                <a:latin typeface="微软雅黑" panose="020B0503020204020204" pitchFamily="34" charset="-122"/>
                <a:ea typeface="微软雅黑" panose="020B0503020204020204" pitchFamily="34" charset="-122"/>
              </a:rPr>
              <a:t>阶方阵</a:t>
            </a:r>
            <a:r>
              <a:rPr lang="en-US" altLang="zh-CN" sz="2000" i="1" err="1">
                <a:latin typeface="微软雅黑" panose="020B0503020204020204" pitchFamily="34" charset="-122"/>
                <a:ea typeface="微软雅黑" panose="020B0503020204020204" pitchFamily="34" charset="-122"/>
              </a:rPr>
              <a:t>A</a:t>
            </a:r>
            <a:r>
              <a:rPr lang="en-US" altLang="zh-CN" sz="2000" i="1" baseline="-25000" err="1">
                <a:latin typeface="微软雅黑" panose="020B0503020204020204" pitchFamily="34" charset="-122"/>
                <a:ea typeface="微软雅黑" panose="020B0503020204020204" pitchFamily="34" charset="-122"/>
              </a:rPr>
              <a:t>n</a:t>
            </a:r>
            <a:r>
              <a:rPr lang="en-US" altLang="zh-CN" sz="2000" baseline="-25000" err="1">
                <a:latin typeface="微软雅黑" panose="020B0503020204020204" pitchFamily="34" charset="-122"/>
                <a:ea typeface="微软雅黑" panose="020B0503020204020204" pitchFamily="34" charset="-122"/>
              </a:rPr>
              <a:t>×</a:t>
            </a:r>
            <a:r>
              <a:rPr lang="en-US" altLang="zh-CN" sz="2000" i="1" baseline="-25000" err="1">
                <a:latin typeface="微软雅黑" panose="020B0503020204020204" pitchFamily="34" charset="-122"/>
                <a:ea typeface="微软雅黑" panose="020B0503020204020204" pitchFamily="34" charset="-122"/>
              </a:rPr>
              <a:t>n</a:t>
            </a:r>
            <a:r>
              <a:rPr lang="zh-CN" altLang="x-none" sz="2000" dirty="0">
                <a:latin typeface="微软雅黑" panose="020B0503020204020204" pitchFamily="34" charset="-122"/>
                <a:ea typeface="微软雅黑" panose="020B0503020204020204" pitchFamily="34" charset="-122"/>
              </a:rPr>
              <a:t>为对称矩阵</a:t>
            </a:r>
            <a:r>
              <a:rPr lang="zh-CN" altLang="en-US" sz="2000" dirty="0">
                <a:latin typeface="微软雅黑" panose="020B0503020204020204" pitchFamily="34" charset="-122"/>
                <a:ea typeface="微软雅黑" panose="020B0503020204020204" pitchFamily="34" charset="-122"/>
              </a:rPr>
              <a:t>，其</a:t>
            </a:r>
            <a:r>
              <a:rPr lang="zh-CN" altLang="x-none" sz="2000" dirty="0">
                <a:latin typeface="微软雅黑" panose="020B0503020204020204" pitchFamily="34" charset="-122"/>
                <a:ea typeface="微软雅黑" panose="020B0503020204020204" pitchFamily="34" charset="-122"/>
              </a:rPr>
              <a:t>应满足性质</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buNone/>
            </a:pPr>
            <a:r>
              <a:rPr lang="zh-CN" altLang="en-US" i="1" dirty="0">
                <a:latin typeface="微软雅黑" panose="020B0503020204020204" pitchFamily="34" charset="-122"/>
                <a:ea typeface="微软雅黑" panose="020B0503020204020204" pitchFamily="34" charset="-122"/>
              </a:rPr>
              <a:t>                            </a:t>
            </a:r>
            <a:r>
              <a:rPr lang="en-US" altLang="zh-CN" sz="2000" i="1" err="1">
                <a:latin typeface="微软雅黑" panose="020B0503020204020204" pitchFamily="34" charset="-122"/>
                <a:ea typeface="微软雅黑" panose="020B0503020204020204" pitchFamily="34" charset="-122"/>
              </a:rPr>
              <a:t>a</a:t>
            </a:r>
            <a:r>
              <a:rPr lang="en-US" altLang="zh-CN" sz="2000" i="1" baseline="-25000" err="1">
                <a:latin typeface="微软雅黑" panose="020B0503020204020204" pitchFamily="34" charset="-122"/>
                <a:ea typeface="微软雅黑" panose="020B0503020204020204" pitchFamily="34" charset="-122"/>
              </a:rPr>
              <a:t>ij</a:t>
            </a:r>
            <a:r>
              <a:rPr lang="en-US" altLang="zh-CN" sz="2000" i="1" baseline="-25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 </a:t>
            </a:r>
            <a:r>
              <a:rPr lang="en-US" altLang="zh-CN" sz="2000" i="1" err="1">
                <a:latin typeface="微软雅黑" panose="020B0503020204020204" pitchFamily="34" charset="-122"/>
                <a:ea typeface="微软雅黑" panose="020B0503020204020204" pitchFamily="34" charset="-122"/>
              </a:rPr>
              <a:t>a</a:t>
            </a:r>
            <a:r>
              <a:rPr lang="en-US" altLang="zh-CN" sz="2000" i="1" baseline="-25000" err="1">
                <a:latin typeface="微软雅黑" panose="020B0503020204020204" pitchFamily="34" charset="-122"/>
                <a:ea typeface="微软雅黑" panose="020B0503020204020204" pitchFamily="34" charset="-122"/>
              </a:rPr>
              <a:t>ji</a:t>
            </a:r>
            <a:r>
              <a:rPr lang="en-US" altLang="zh-CN" sz="2000" i="1">
                <a:latin typeface="微软雅黑" panose="020B0503020204020204" pitchFamily="34" charset="-122"/>
                <a:ea typeface="微软雅黑" panose="020B0503020204020204" pitchFamily="34" charset="-122"/>
              </a:rPr>
              <a:t> </a:t>
            </a:r>
            <a:r>
              <a:rPr lang="zh-CN" altLang="x-none" sz="2000" dirty="0">
                <a:latin typeface="微软雅黑" panose="020B0503020204020204" pitchFamily="34" charset="-122"/>
                <a:ea typeface="微软雅黑" panose="020B0503020204020204" pitchFamily="34" charset="-122"/>
              </a:rPr>
              <a:t>（</a:t>
            </a:r>
            <a:r>
              <a:rPr lang="en-US" altLang="zh-CN" sz="2000" b="1">
                <a:solidFill>
                  <a:srgbClr val="FF0000"/>
                </a:solidFill>
                <a:latin typeface="微软雅黑" panose="020B0503020204020204" pitchFamily="34" charset="-122"/>
                <a:ea typeface="微软雅黑" panose="020B0503020204020204" pitchFamily="34" charset="-122"/>
              </a:rPr>
              <a:t>1</a:t>
            </a:r>
            <a:r>
              <a:rPr lang="zh-CN" altLang="zh-CN" sz="2000" b="1" dirty="0">
                <a:solidFill>
                  <a:srgbClr val="FF0000"/>
                </a:solidFill>
                <a:latin typeface="微软雅黑" panose="020B0503020204020204" pitchFamily="34" charset="-122"/>
                <a:ea typeface="微软雅黑" panose="020B0503020204020204" pitchFamily="34" charset="-122"/>
              </a:rPr>
              <a:t>≤</a:t>
            </a:r>
            <a:r>
              <a:rPr lang="en-US" altLang="zh-CN" sz="2000" b="1" i="1">
                <a:latin typeface="微软雅黑" panose="020B0503020204020204" pitchFamily="34" charset="-122"/>
                <a:ea typeface="微软雅黑" panose="020B0503020204020204" pitchFamily="34" charset="-122"/>
              </a:rPr>
              <a:t>i</a:t>
            </a:r>
            <a:r>
              <a:rPr lang="en-US" altLang="zh-CN" sz="2000" b="1">
                <a:latin typeface="微软雅黑" panose="020B0503020204020204" pitchFamily="34" charset="-122"/>
                <a:ea typeface="微软雅黑" panose="020B0503020204020204" pitchFamily="34" charset="-122"/>
              </a:rPr>
              <a:t>, </a:t>
            </a:r>
            <a:r>
              <a:rPr lang="en-US" altLang="zh-CN" sz="2000" b="1" i="1">
                <a:latin typeface="微软雅黑" panose="020B0503020204020204" pitchFamily="34" charset="-122"/>
                <a:ea typeface="微软雅黑" panose="020B0503020204020204" pitchFamily="34" charset="-122"/>
              </a:rPr>
              <a:t>j</a:t>
            </a:r>
            <a:r>
              <a:rPr lang="zh-CN" altLang="zh-CN" sz="2000" b="1" dirty="0">
                <a:solidFill>
                  <a:srgbClr val="FF0000"/>
                </a:solidFill>
                <a:latin typeface="微软雅黑" panose="020B0503020204020204" pitchFamily="34" charset="-122"/>
                <a:ea typeface="微软雅黑" panose="020B0503020204020204" pitchFamily="34" charset="-122"/>
              </a:rPr>
              <a:t>≤</a:t>
            </a:r>
            <a:r>
              <a:rPr lang="en-US" altLang="zh-CN" sz="2000" b="1" i="1">
                <a:solidFill>
                  <a:srgbClr val="FF0000"/>
                </a:solidFill>
                <a:latin typeface="微软雅黑" panose="020B0503020204020204" pitchFamily="34" charset="-122"/>
                <a:ea typeface="微软雅黑" panose="020B0503020204020204" pitchFamily="34" charset="-122"/>
              </a:rPr>
              <a:t>n</a:t>
            </a:r>
            <a:r>
              <a:rPr lang="zh-CN" altLang="x-none" sz="2000" dirty="0">
                <a:latin typeface="微软雅黑" panose="020B0503020204020204" pitchFamily="34" charset="-122"/>
                <a:ea typeface="微软雅黑" panose="020B0503020204020204" pitchFamily="34" charset="-122"/>
              </a:rPr>
              <a:t>）</a:t>
            </a:r>
            <a:endParaRPr lang="zh-CN" altLang="x-none" sz="2000" dirty="0">
              <a:latin typeface="微软雅黑" panose="020B0503020204020204" pitchFamily="34" charset="-122"/>
              <a:ea typeface="微软雅黑" panose="020B0503020204020204" pitchFamily="34" charset="-122"/>
            </a:endParaRPr>
          </a:p>
          <a:p>
            <a:pPr>
              <a:buNone/>
            </a:pPr>
            <a:endParaRPr lang="zh-CN" altLang="x-none" sz="2000" dirty="0">
              <a:latin typeface="微软雅黑" panose="020B0503020204020204" pitchFamily="34" charset="-122"/>
              <a:ea typeface="微软雅黑" panose="020B0503020204020204" pitchFamily="34" charset="-122"/>
            </a:endParaRPr>
          </a:p>
        </p:txBody>
      </p:sp>
      <p:graphicFrame>
        <p:nvGraphicFramePr>
          <p:cNvPr id="118792" name="Object 2"/>
          <p:cNvGraphicFramePr>
            <a:graphicFrameLocks noChangeAspect="1"/>
          </p:cNvGraphicFramePr>
          <p:nvPr/>
        </p:nvGraphicFramePr>
        <p:xfrm>
          <a:off x="2551113" y="2998788"/>
          <a:ext cx="2908300" cy="1698625"/>
        </p:xfrm>
        <a:graphic>
          <a:graphicData uri="http://schemas.openxmlformats.org/presentationml/2006/ole">
            <mc:AlternateContent xmlns:mc="http://schemas.openxmlformats.org/markup-compatibility/2006">
              <mc:Choice xmlns:v="urn:schemas-microsoft-com:vml" Requires="v">
                <p:oleObj spid="_x0000_s3086" name="" r:id="rId2" imgW="1320165" imgH="939165" progId="Equation.3">
                  <p:embed/>
                </p:oleObj>
              </mc:Choice>
              <mc:Fallback>
                <p:oleObj name="" r:id="rId2" imgW="1320165" imgH="939165" progId="Equation.3">
                  <p:embed/>
                  <p:pic>
                    <p:nvPicPr>
                      <p:cNvPr id="0" name="图片 3085"/>
                      <p:cNvPicPr/>
                      <p:nvPr/>
                    </p:nvPicPr>
                    <p:blipFill>
                      <a:blip r:embed="rId3"/>
                      <a:stretch>
                        <a:fillRect/>
                      </a:stretch>
                    </p:blipFill>
                    <p:spPr>
                      <a:xfrm>
                        <a:off x="2551113" y="2998788"/>
                        <a:ext cx="2908300" cy="1698625"/>
                      </a:xfrm>
                      <a:prstGeom prst="rect">
                        <a:avLst/>
                      </a:prstGeom>
                      <a:noFill/>
                      <a:ln w="38100">
                        <a:noFill/>
                        <a:miter/>
                      </a:ln>
                    </p:spPr>
                  </p:pic>
                </p:oleObj>
              </mc:Fallback>
            </mc:AlternateContent>
          </a:graphicData>
        </a:graphic>
      </p:graphicFrame>
      <p:sp>
        <p:nvSpPr>
          <p:cNvPr id="118795" name="TextBox 48"/>
          <p:cNvSpPr txBox="1"/>
          <p:nvPr/>
        </p:nvSpPr>
        <p:spPr>
          <a:xfrm>
            <a:off x="553085" y="5029200"/>
            <a:ext cx="11066145" cy="1186180"/>
          </a:xfrm>
          <a:prstGeom prst="rect">
            <a:avLst/>
          </a:prstGeom>
          <a:noFill/>
          <a:ln w="9525">
            <a:noFill/>
          </a:ln>
        </p:spPr>
        <p:txBody>
          <a:bodyPr>
            <a:noAutofit/>
          </a:bodyPr>
          <a:p>
            <a:r>
              <a:rPr lang="zh-CN" altLang="en-US" sz="2400" b="0" dirty="0">
                <a:solidFill>
                  <a:srgbClr val="000000"/>
                </a:solidFill>
                <a:latin typeface="微软雅黑" panose="020B0503020204020204" pitchFamily="34" charset="-122"/>
              </a:rPr>
              <a:t>    </a:t>
            </a:r>
            <a:r>
              <a:rPr lang="zh-CN" altLang="en-US" sz="2000" b="0" dirty="0">
                <a:solidFill>
                  <a:srgbClr val="000000"/>
                </a:solidFill>
                <a:latin typeface="微软雅黑" panose="020B0503020204020204" pitchFamily="34" charset="-122"/>
              </a:rPr>
              <a:t>对称矩阵中的元素关于主对角线对称，则可以为每一对对称元分配一个存储空间，即存储上三角或者下三角，均可实现压缩存储。需占用</a:t>
            </a:r>
            <a:r>
              <a:rPr lang="en-US" altLang="zh-CN" sz="2000">
                <a:solidFill>
                  <a:srgbClr val="FF0000"/>
                </a:solidFill>
                <a:latin typeface="微软雅黑" panose="020B0503020204020204" pitchFamily="34" charset="-122"/>
              </a:rPr>
              <a:t>n(n+1)/2</a:t>
            </a:r>
            <a:r>
              <a:rPr lang="zh-CN" altLang="en-US" sz="2000" b="0" dirty="0">
                <a:solidFill>
                  <a:srgbClr val="000000"/>
                </a:solidFill>
                <a:latin typeface="微软雅黑" panose="020B0503020204020204" pitchFamily="34" charset="-122"/>
              </a:rPr>
              <a:t>个存储单元。</a:t>
            </a:r>
            <a:endParaRPr lang="zh-CN" altLang="en-US" sz="2000" b="0" dirty="0">
              <a:solidFill>
                <a:srgbClr val="000000"/>
              </a:solidFill>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存放下三角</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9813" name="Rectangle 6"/>
          <p:cNvSpPr/>
          <p:nvPr/>
        </p:nvSpPr>
        <p:spPr>
          <a:xfrm>
            <a:off x="127000" y="1670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2" name="Rectangle 6"/>
          <p:cNvSpPr/>
          <p:nvPr/>
        </p:nvSpPr>
        <p:spPr>
          <a:xfrm>
            <a:off x="254000" y="1797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3" name="Rectangle 6"/>
          <p:cNvSpPr/>
          <p:nvPr/>
        </p:nvSpPr>
        <p:spPr>
          <a:xfrm>
            <a:off x="381000" y="1924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5" name="Rectangle 6"/>
          <p:cNvSpPr/>
          <p:nvPr/>
        </p:nvSpPr>
        <p:spPr>
          <a:xfrm>
            <a:off x="635000" y="2178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16" name="组合 15"/>
          <p:cNvGrpSpPr/>
          <p:nvPr/>
        </p:nvGrpSpPr>
        <p:grpSpPr>
          <a:xfrm>
            <a:off x="609600" y="1600200"/>
            <a:ext cx="10123945" cy="4659706"/>
            <a:chOff x="960" y="2520"/>
            <a:chExt cx="13065" cy="5905"/>
          </a:xfrm>
        </p:grpSpPr>
        <p:graphicFrame>
          <p:nvGraphicFramePr>
            <p:cNvPr id="20482" name="Object 2"/>
            <p:cNvGraphicFramePr>
              <a:graphicFrameLocks noChangeAspect="1"/>
            </p:cNvGraphicFramePr>
            <p:nvPr/>
          </p:nvGraphicFramePr>
          <p:xfrm>
            <a:off x="1615" y="2520"/>
            <a:ext cx="4580" cy="2675"/>
          </p:xfrm>
          <a:graphic>
            <a:graphicData uri="http://schemas.openxmlformats.org/presentationml/2006/ole">
              <mc:AlternateContent xmlns:mc="http://schemas.openxmlformats.org/markup-compatibility/2006">
                <mc:Choice xmlns:v="urn:schemas-microsoft-com:vml" Requires="v">
                  <p:oleObj spid="_x0000_s3088" name="" r:id="rId2" imgW="1320165" imgH="939165" progId="Equation.3">
                    <p:embed/>
                  </p:oleObj>
                </mc:Choice>
                <mc:Fallback>
                  <p:oleObj name="" r:id="rId2" imgW="1320165" imgH="939165" progId="Equation.3">
                    <p:embed/>
                    <p:pic>
                      <p:nvPicPr>
                        <p:cNvPr id="0" name="图片 3087"/>
                        <p:cNvPicPr/>
                        <p:nvPr/>
                      </p:nvPicPr>
                      <p:blipFill>
                        <a:blip r:embed="rId3"/>
                        <a:stretch>
                          <a:fillRect/>
                        </a:stretch>
                      </p:blipFill>
                      <p:spPr>
                        <a:xfrm>
                          <a:off x="1615" y="2520"/>
                          <a:ext cx="4580" cy="2675"/>
                        </a:xfrm>
                        <a:prstGeom prst="rect">
                          <a:avLst/>
                        </a:prstGeom>
                        <a:noFill/>
                        <a:ln w="38100">
                          <a:noFill/>
                          <a:miter/>
                        </a:ln>
                      </p:spPr>
                    </p:pic>
                  </p:oleObj>
                </mc:Fallback>
              </mc:AlternateContent>
            </a:graphicData>
          </a:graphic>
        </p:graphicFrame>
        <p:cxnSp>
          <p:nvCxnSpPr>
            <p:cNvPr id="20491" name="直接连接符 47"/>
            <p:cNvCxnSpPr/>
            <p:nvPr/>
          </p:nvCxnSpPr>
          <p:spPr>
            <a:xfrm>
              <a:off x="1560" y="2598"/>
              <a:ext cx="4560" cy="2640"/>
            </a:xfrm>
            <a:prstGeom prst="line">
              <a:avLst/>
            </a:prstGeom>
            <a:ln w="3175" cap="flat" cmpd="sng">
              <a:solidFill>
                <a:srgbClr val="FFC000"/>
              </a:solidFill>
              <a:prstDash val="solid"/>
              <a:headEnd type="none" w="med" len="med"/>
              <a:tailEnd type="none" w="med" len="med"/>
            </a:ln>
          </p:spPr>
        </p:cxnSp>
        <p:pic>
          <p:nvPicPr>
            <p:cNvPr id="20492" name="Picture 3"/>
            <p:cNvPicPr>
              <a:picLocks noChangeAspect="1"/>
            </p:cNvPicPr>
            <p:nvPr/>
          </p:nvPicPr>
          <p:blipFill>
            <a:blip r:embed="rId4"/>
            <a:stretch>
              <a:fillRect/>
            </a:stretch>
          </p:blipFill>
          <p:spPr>
            <a:xfrm>
              <a:off x="960" y="5880"/>
              <a:ext cx="13065" cy="1560"/>
            </a:xfrm>
            <a:prstGeom prst="rect">
              <a:avLst/>
            </a:prstGeom>
            <a:noFill/>
            <a:ln w="9525">
              <a:noFill/>
            </a:ln>
          </p:spPr>
        </p:pic>
        <p:sp>
          <p:nvSpPr>
            <p:cNvPr id="17" name="TextBox 12"/>
            <p:cNvSpPr txBox="1"/>
            <p:nvPr/>
          </p:nvSpPr>
          <p:spPr>
            <a:xfrm>
              <a:off x="1560" y="7920"/>
              <a:ext cx="12240" cy="505"/>
            </a:xfrm>
            <a:prstGeom prst="rect">
              <a:avLst/>
            </a:prstGeom>
            <a:noFill/>
            <a:ln w="9525">
              <a:noFill/>
            </a:ln>
          </p:spPr>
          <p:txBody>
            <a:bodyPr>
              <a:spAutoFit/>
            </a:bodyPr>
            <a:p>
              <a:r>
                <a:rPr lang="zh-CN" altLang="en-US" sz="2000" b="0" dirty="0">
                  <a:solidFill>
                    <a:srgbClr val="000000"/>
                  </a:solidFill>
                  <a:latin typeface="微软雅黑" panose="020B0503020204020204" pitchFamily="34" charset="-122"/>
                </a:rPr>
                <a:t>矩阵元素</a:t>
              </a:r>
              <a:r>
                <a:rPr lang="en-US" altLang="zh-CN" sz="2000" b="0" i="1" err="1">
                  <a:solidFill>
                    <a:srgbClr val="000000"/>
                  </a:solidFill>
                  <a:latin typeface="微软雅黑" panose="020B0503020204020204" pitchFamily="34" charset="-122"/>
                </a:rPr>
                <a:t>a</a:t>
              </a:r>
              <a:r>
                <a:rPr lang="en-US" altLang="zh-CN" sz="2000" b="0" i="1" baseline="-25000" err="1">
                  <a:solidFill>
                    <a:srgbClr val="000000"/>
                  </a:solidFill>
                  <a:latin typeface="微软雅黑" panose="020B0503020204020204" pitchFamily="34" charset="-122"/>
                </a:rPr>
                <a:t>ij</a:t>
              </a:r>
              <a:r>
                <a:rPr lang="zh-CN" altLang="en-US" sz="2000" b="0" dirty="0">
                  <a:solidFill>
                    <a:srgbClr val="000000"/>
                  </a:solidFill>
                  <a:latin typeface="微软雅黑" panose="020B0503020204020204" pitchFamily="34" charset="-122"/>
                </a:rPr>
                <a:t>存放在</a:t>
              </a:r>
              <a:r>
                <a:rPr lang="en-US" altLang="zh-CN" sz="2000" b="0" err="1">
                  <a:solidFill>
                    <a:srgbClr val="000000"/>
                  </a:solidFill>
                  <a:latin typeface="微软雅黑" panose="020B0503020204020204" pitchFamily="34" charset="-122"/>
                </a:rPr>
                <a:t>s[</a:t>
              </a:r>
              <a:r>
                <a:rPr lang="en-US" altLang="zh-CN" sz="2000" b="0" i="1" err="1">
                  <a:solidFill>
                    <a:srgbClr val="000000"/>
                  </a:solidFill>
                  <a:latin typeface="微软雅黑" panose="020B0503020204020204" pitchFamily="34" charset="-122"/>
                </a:rPr>
                <a:t>k</a:t>
              </a:r>
              <a:r>
                <a:rPr lang="en-US" altLang="zh-CN" sz="2000" b="0">
                  <a:solidFill>
                    <a:srgbClr val="000000"/>
                  </a:solidFill>
                  <a:latin typeface="微软雅黑" panose="020B0503020204020204" pitchFamily="34" charset="-122"/>
                </a:rPr>
                <a:t>]</a:t>
              </a:r>
              <a:r>
                <a:rPr lang="zh-CN" altLang="en-US" sz="2000" b="0" dirty="0">
                  <a:solidFill>
                    <a:srgbClr val="000000"/>
                  </a:solidFill>
                  <a:latin typeface="微软雅黑" panose="020B0503020204020204" pitchFamily="34" charset="-122"/>
                </a:rPr>
                <a:t>中，</a:t>
              </a:r>
              <a:r>
                <a:rPr lang="en-US" altLang="zh-CN" sz="2000" b="0" err="1">
                  <a:solidFill>
                    <a:srgbClr val="000000"/>
                  </a:solidFill>
                  <a:latin typeface="微软雅黑" panose="020B0503020204020204" pitchFamily="34" charset="-122"/>
                </a:rPr>
                <a:t>s[</a:t>
              </a:r>
              <a:r>
                <a:rPr lang="en-US" altLang="zh-CN" sz="2000" b="0" i="1" err="1">
                  <a:solidFill>
                    <a:srgbClr val="000000"/>
                  </a:solidFill>
                  <a:latin typeface="微软雅黑" panose="020B0503020204020204" pitchFamily="34" charset="-122"/>
                </a:rPr>
                <a:t>k</a:t>
              </a:r>
              <a:r>
                <a:rPr lang="en-US" altLang="zh-CN" sz="2000" b="0">
                  <a:solidFill>
                    <a:srgbClr val="000000"/>
                  </a:solidFill>
                  <a:latin typeface="微软雅黑" panose="020B0503020204020204" pitchFamily="34" charset="-122"/>
                </a:rPr>
                <a:t>]</a:t>
              </a:r>
              <a:r>
                <a:rPr lang="zh-CN" altLang="en-US" sz="2000" b="0" dirty="0">
                  <a:solidFill>
                    <a:srgbClr val="000000"/>
                  </a:solidFill>
                  <a:latin typeface="微软雅黑" panose="020B0503020204020204" pitchFamily="34" charset="-122"/>
                </a:rPr>
                <a:t>和</a:t>
              </a:r>
              <a:r>
                <a:rPr lang="en-US" altLang="zh-CN" sz="2000" b="0" i="1" err="1">
                  <a:solidFill>
                    <a:srgbClr val="000000"/>
                  </a:solidFill>
                  <a:latin typeface="微软雅黑" panose="020B0503020204020204" pitchFamily="34" charset="-122"/>
                </a:rPr>
                <a:t>a</a:t>
              </a:r>
              <a:r>
                <a:rPr lang="en-US" altLang="zh-CN" sz="2000" b="0" i="1" baseline="-25000" err="1">
                  <a:solidFill>
                    <a:srgbClr val="000000"/>
                  </a:solidFill>
                  <a:latin typeface="微软雅黑" panose="020B0503020204020204" pitchFamily="34" charset="-122"/>
                </a:rPr>
                <a:t>ij</a:t>
              </a:r>
              <a:r>
                <a:rPr lang="zh-CN" altLang="en-US" sz="2000" b="0" dirty="0">
                  <a:solidFill>
                    <a:srgbClr val="000000"/>
                  </a:solidFill>
                  <a:latin typeface="微软雅黑" panose="020B0503020204020204" pitchFamily="34" charset="-122"/>
                </a:rPr>
                <a:t>之间存在着一一对应的关系</a:t>
              </a:r>
              <a:endParaRPr lang="zh-CN" altLang="en-US" sz="2000" b="0" dirty="0">
                <a:solidFill>
                  <a:srgbClr val="000000"/>
                </a:solidFill>
                <a:latin typeface="微软雅黑" panose="020B0503020204020204" pitchFamily="34" charset="-122"/>
              </a:endParaRPr>
            </a:p>
          </p:txBody>
        </p:sp>
        <p:graphicFrame>
          <p:nvGraphicFramePr>
            <p:cNvPr id="20483" name="Object 4"/>
            <p:cNvGraphicFramePr>
              <a:graphicFrameLocks noChangeAspect="1"/>
            </p:cNvGraphicFramePr>
            <p:nvPr/>
          </p:nvGraphicFramePr>
          <p:xfrm>
            <a:off x="7320" y="2729"/>
            <a:ext cx="5370" cy="2760"/>
          </p:xfrm>
          <a:graphic>
            <a:graphicData uri="http://schemas.openxmlformats.org/presentationml/2006/ole">
              <mc:AlternateContent xmlns:mc="http://schemas.openxmlformats.org/markup-compatibility/2006">
                <mc:Choice xmlns:v="urn:schemas-microsoft-com:vml" Requires="v">
                  <p:oleObj spid="_x0000_s3087" name="" r:id="rId5" imgW="1828800" imgH="939800" progId="Equation.3">
                    <p:embed/>
                  </p:oleObj>
                </mc:Choice>
                <mc:Fallback>
                  <p:oleObj name="" r:id="rId5" imgW="1828800" imgH="939800" progId="Equation.3">
                    <p:embed/>
                    <p:pic>
                      <p:nvPicPr>
                        <p:cNvPr id="0" name="图片 3086"/>
                        <p:cNvPicPr/>
                        <p:nvPr/>
                      </p:nvPicPr>
                      <p:blipFill>
                        <a:blip r:embed="rId6"/>
                        <a:stretch>
                          <a:fillRect/>
                        </a:stretch>
                      </p:blipFill>
                      <p:spPr>
                        <a:xfrm>
                          <a:off x="7320" y="2729"/>
                          <a:ext cx="5370" cy="276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481330" y="1902460"/>
            <a:ext cx="10692765" cy="417258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lnSpc>
                <a:spcPct val="100000"/>
              </a:lnSpc>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3.4.3 特殊矩阵的压缩存储</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20835" name="内容占位符 2"/>
          <p:cNvSpPr>
            <a:spLocks noGrp="1"/>
          </p:cNvSpPr>
          <p:nvPr/>
        </p:nvSpPr>
        <p:spPr>
          <a:xfrm>
            <a:off x="572770" y="1340485"/>
            <a:ext cx="10433685" cy="43986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r>
              <a:rPr lang="zh-CN" altLang="en-US" dirty="0">
                <a:latin typeface="微软雅黑" panose="020B0503020204020204" pitchFamily="34" charset="-122"/>
                <a:ea typeface="微软雅黑" panose="020B0503020204020204" pitchFamily="34" charset="-122"/>
              </a:rPr>
              <a:t>三角矩阵</a:t>
            </a:r>
            <a:endParaRPr lang="en-US" altLang="zh-CN">
              <a:latin typeface="微软雅黑" panose="020B0503020204020204" pitchFamily="34" charset="-122"/>
              <a:ea typeface="微软雅黑" panose="020B0503020204020204" pitchFamily="34" charset="-122"/>
            </a:endParaRPr>
          </a:p>
          <a:p>
            <a:pPr indent="0">
              <a:lnSpc>
                <a:spcPct val="150000"/>
              </a:lnSpc>
              <a:spcBef>
                <a:spcPts val="0"/>
              </a:spcBef>
              <a:buNone/>
            </a:pPr>
            <a:r>
              <a:rPr lang="zh-CN" altLang="en-US" sz="2000" dirty="0">
                <a:latin typeface="微软雅黑" panose="020B0503020204020204" pitchFamily="34" charset="-122"/>
                <a:ea typeface="微软雅黑" panose="020B0503020204020204" pitchFamily="34" charset="-122"/>
              </a:rPr>
              <a:t>     定义</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：三角矩阵是一个</a:t>
            </a:r>
            <a:r>
              <a:rPr lang="en-US" altLang="zh-CN" sz="2000" i="1">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阶方阵，以主对角线为界分为上三角矩阵和下三角矩阵。</a:t>
            </a:r>
            <a:endParaRPr lang="zh-CN" altLang="en-US" sz="2000" dirty="0">
              <a:latin typeface="微软雅黑" panose="020B0503020204020204" pitchFamily="34" charset="-122"/>
              <a:ea typeface="微软雅黑" panose="020B0503020204020204" pitchFamily="34" charset="-122"/>
            </a:endParaRPr>
          </a:p>
          <a:p>
            <a:pPr indent="0">
              <a:lnSpc>
                <a:spcPct val="150000"/>
              </a:lnSpc>
              <a:spcBef>
                <a:spcPts val="0"/>
              </a:spcBef>
              <a:buNone/>
            </a:pPr>
            <a:r>
              <a:rPr lang="zh-CN" altLang="en-US" sz="2000" dirty="0">
                <a:latin typeface="微软雅黑" panose="020B0503020204020204" pitchFamily="34" charset="-122"/>
                <a:ea typeface="微软雅黑" panose="020B0503020204020204" pitchFamily="34" charset="-122"/>
              </a:rPr>
              <a:t>     上三角矩阵是指它的主对角线以下（不含主对角线）的元素均为常数</a:t>
            </a:r>
            <a:r>
              <a:rPr lang="en-US" altLang="zh-CN" sz="2000" i="1">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，下三角矩阵正好相反。</a:t>
            </a:r>
            <a:endParaRPr lang="zh-CN" altLang="en-US" sz="2000" dirty="0">
              <a:latin typeface="微软雅黑" panose="020B0503020204020204" pitchFamily="34" charset="-122"/>
              <a:ea typeface="微软雅黑" panose="020B0503020204020204" pitchFamily="34" charset="-122"/>
            </a:endParaRPr>
          </a:p>
          <a:p>
            <a:pPr>
              <a:buNone/>
            </a:pP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上三角矩阵</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pic>
        <p:nvPicPr>
          <p:cNvPr id="276507" name="Picture 27"/>
          <p:cNvPicPr>
            <a:picLocks noGrp="1" noChangeAspect="1"/>
          </p:cNvPicPr>
          <p:nvPr/>
        </p:nvPicPr>
        <p:blipFill>
          <a:blip r:embed="rId2"/>
          <a:srcRect/>
          <a:stretch>
            <a:fillRect/>
          </a:stretch>
        </p:blipFill>
        <p:spPr>
          <a:xfrm>
            <a:off x="990600" y="1600200"/>
            <a:ext cx="2590800" cy="1927225"/>
          </a:xfrm>
          <a:prstGeom prst="rect">
            <a:avLst/>
          </a:prstGeom>
          <a:noFill/>
          <a:ln w="9525">
            <a:noFill/>
          </a:ln>
        </p:spPr>
      </p:pic>
      <p:grpSp>
        <p:nvGrpSpPr>
          <p:cNvPr id="9" name="组合 19"/>
          <p:cNvGrpSpPr/>
          <p:nvPr/>
        </p:nvGrpSpPr>
        <p:grpSpPr>
          <a:xfrm>
            <a:off x="3886200" y="1857375"/>
            <a:ext cx="5715000" cy="1495425"/>
            <a:chOff x="3886200" y="1858146"/>
            <a:chExt cx="5715000" cy="1494655"/>
          </a:xfrm>
        </p:grpSpPr>
        <p:grpSp>
          <p:nvGrpSpPr>
            <p:cNvPr id="121909" name="Group 20"/>
            <p:cNvGrpSpPr/>
            <p:nvPr/>
          </p:nvGrpSpPr>
          <p:grpSpPr>
            <a:xfrm>
              <a:off x="3886200" y="1858146"/>
              <a:ext cx="5715000" cy="1494655"/>
              <a:chOff x="2304" y="1935"/>
              <a:chExt cx="3840" cy="764"/>
            </a:xfrm>
          </p:grpSpPr>
          <p:sp>
            <p:nvSpPr>
              <p:cNvPr id="121911" name="Text Box 21"/>
              <p:cNvSpPr txBox="1"/>
              <p:nvPr/>
            </p:nvSpPr>
            <p:spPr>
              <a:xfrm>
                <a:off x="5136" y="1944"/>
                <a:ext cx="1008" cy="203"/>
              </a:xfrm>
              <a:prstGeom prst="rect">
                <a:avLst/>
              </a:prstGeom>
              <a:noFill/>
              <a:ln w="9525">
                <a:noFill/>
              </a:ln>
            </p:spPr>
            <p:txBody>
              <a:bodyPr>
                <a:spAutoFit/>
              </a:bodyPr>
              <a:p>
                <a:pPr>
                  <a:spcBef>
                    <a:spcPct val="50000"/>
                  </a:spcBef>
                </a:pPr>
                <a:r>
                  <a:rPr lang="zh-CN" altLang="en-US" sz="2000" b="0" dirty="0">
                    <a:solidFill>
                      <a:schemeClr val="tx1"/>
                    </a:solidFill>
                    <a:latin typeface="微软雅黑" panose="020B0503020204020204" pitchFamily="34" charset="-122"/>
                    <a:ea typeface="微软雅黑" panose="020B0503020204020204" pitchFamily="34" charset="-122"/>
                  </a:rPr>
                  <a:t>（</a:t>
                </a:r>
                <a:r>
                  <a:rPr lang="en-US" altLang="zh-CN" sz="2000" b="0" i="1" err="1">
                    <a:solidFill>
                      <a:schemeClr val="tx1"/>
                    </a:solidFill>
                    <a:latin typeface="微软雅黑" panose="020B0503020204020204" pitchFamily="34" charset="-122"/>
                    <a:ea typeface="微软雅黑" panose="020B0503020204020204" pitchFamily="34" charset="-122"/>
                  </a:rPr>
                  <a:t>i≤j</a:t>
                </a:r>
                <a:r>
                  <a:rPr lang="zh-CN" altLang="en-US" sz="2000" b="0" dirty="0">
                    <a:solidFill>
                      <a:schemeClr val="tx1"/>
                    </a:solidFill>
                    <a:latin typeface="微软雅黑" panose="020B0503020204020204" pitchFamily="34" charset="-122"/>
                    <a:ea typeface="微软雅黑" panose="020B0503020204020204" pitchFamily="34" charset="-122"/>
                  </a:rPr>
                  <a:t>）</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sp>
            <p:nvSpPr>
              <p:cNvPr id="121912" name="Text Box 22"/>
              <p:cNvSpPr txBox="1"/>
              <p:nvPr/>
            </p:nvSpPr>
            <p:spPr>
              <a:xfrm>
                <a:off x="2304" y="2184"/>
                <a:ext cx="336" cy="233"/>
              </a:xfrm>
              <a:prstGeom prst="rect">
                <a:avLst/>
              </a:prstGeom>
              <a:noFill/>
              <a:ln w="9525">
                <a:noFill/>
              </a:ln>
            </p:spPr>
            <p:txBody>
              <a:bodyPr>
                <a:spAutoFit/>
              </a:bodyPr>
              <a:p>
                <a:pPr>
                  <a:spcBef>
                    <a:spcPct val="50000"/>
                  </a:spcBef>
                </a:pPr>
                <a:r>
                  <a:rPr lang="en-US" altLang="zh-CN" sz="2400" b="0" i="1">
                    <a:solidFill>
                      <a:schemeClr val="tx1"/>
                    </a:solidFill>
                    <a:latin typeface="微软雅黑" panose="020B0503020204020204" pitchFamily="34" charset="-122"/>
                    <a:ea typeface="微软雅黑" panose="020B0503020204020204" pitchFamily="34" charset="-122"/>
                  </a:rPr>
                  <a:t>k</a:t>
                </a:r>
                <a:r>
                  <a:rPr lang="en-US" altLang="zh-CN" sz="2400" b="0">
                    <a:solidFill>
                      <a:schemeClr val="tx1"/>
                    </a:solidFill>
                    <a:latin typeface="微软雅黑" panose="020B0503020204020204" pitchFamily="34" charset="-122"/>
                    <a:ea typeface="微软雅黑" panose="020B0503020204020204" pitchFamily="34" charset="-122"/>
                  </a:rPr>
                  <a:t>=</a:t>
                </a:r>
                <a:endParaRPr lang="en-US" altLang="zh-CN" sz="2400" b="0">
                  <a:solidFill>
                    <a:schemeClr val="tx1"/>
                  </a:solidFill>
                  <a:latin typeface="微软雅黑" panose="020B0503020204020204" pitchFamily="34" charset="-122"/>
                  <a:ea typeface="微软雅黑" panose="020B0503020204020204" pitchFamily="34" charset="-122"/>
                </a:endParaRPr>
              </a:p>
            </p:txBody>
          </p:sp>
          <p:sp>
            <p:nvSpPr>
              <p:cNvPr id="121913" name="AutoShape 23"/>
              <p:cNvSpPr/>
              <p:nvPr/>
            </p:nvSpPr>
            <p:spPr>
              <a:xfrm>
                <a:off x="2553" y="2025"/>
                <a:ext cx="162" cy="622"/>
              </a:xfrm>
              <a:prstGeom prst="leftBrace">
                <a:avLst>
                  <a:gd name="adj1" fmla="val 31995"/>
                  <a:gd name="adj2" fmla="val 50000"/>
                </a:avLst>
              </a:prstGeom>
              <a:noFill/>
              <a:ln w="28575" cap="flat" cmpd="sng">
                <a:solidFill>
                  <a:schemeClr val="tx2"/>
                </a:solidFill>
                <a:prstDash val="solid"/>
                <a:headEnd type="none" w="med" len="med"/>
                <a:tailEnd type="none" w="med" len="med"/>
              </a:ln>
            </p:spPr>
            <p:txBody>
              <a:bodyPr wrap="none" anchor="ctr" anchorCtr="0"/>
              <a:p>
                <a:pPr algn="ctr"/>
                <a:endParaRPr lang="zh-CN" altLang="en-US" dirty="0">
                  <a:solidFill>
                    <a:schemeClr val="tx1"/>
                  </a:solidFill>
                  <a:latin typeface="微软雅黑" panose="020B0503020204020204" pitchFamily="34" charset="-122"/>
                </a:endParaRPr>
              </a:p>
            </p:txBody>
          </p:sp>
          <p:graphicFrame>
            <p:nvGraphicFramePr>
              <p:cNvPr id="121914" name="Object 24"/>
              <p:cNvGraphicFramePr>
                <a:graphicFrameLocks noChangeAspect="1"/>
              </p:cNvGraphicFramePr>
              <p:nvPr/>
            </p:nvGraphicFramePr>
            <p:xfrm>
              <a:off x="2850" y="1935"/>
              <a:ext cx="2116" cy="345"/>
            </p:xfrm>
            <a:graphic>
              <a:graphicData uri="http://schemas.openxmlformats.org/presentationml/2006/ole">
                <mc:AlternateContent xmlns:mc="http://schemas.openxmlformats.org/markup-compatibility/2006">
                  <mc:Choice xmlns:v="urn:schemas-microsoft-com:vml" Requires="v">
                    <p:oleObj spid="_x0000_s3091" name="" r:id="rId3" imgW="1447165" imgH="393700" progId="Equation.3">
                      <p:embed/>
                    </p:oleObj>
                  </mc:Choice>
                  <mc:Fallback>
                    <p:oleObj name="" r:id="rId3" imgW="1447165" imgH="393700" progId="Equation.3">
                      <p:embed/>
                      <p:pic>
                        <p:nvPicPr>
                          <p:cNvPr id="0" name="图片 3090"/>
                          <p:cNvPicPr/>
                          <p:nvPr/>
                        </p:nvPicPr>
                        <p:blipFill>
                          <a:blip r:embed="rId4"/>
                          <a:stretch>
                            <a:fillRect/>
                          </a:stretch>
                        </p:blipFill>
                        <p:spPr>
                          <a:xfrm>
                            <a:off x="2850" y="1935"/>
                            <a:ext cx="2116" cy="345"/>
                          </a:xfrm>
                          <a:prstGeom prst="rect">
                            <a:avLst/>
                          </a:prstGeom>
                          <a:noFill/>
                          <a:ln w="38100">
                            <a:noFill/>
                            <a:miter/>
                          </a:ln>
                        </p:spPr>
                      </p:pic>
                    </p:oleObj>
                  </mc:Fallback>
                </mc:AlternateContent>
              </a:graphicData>
            </a:graphic>
          </p:graphicFrame>
          <p:sp>
            <p:nvSpPr>
              <p:cNvPr id="121915" name="Text Box 25"/>
              <p:cNvSpPr txBox="1"/>
              <p:nvPr/>
            </p:nvSpPr>
            <p:spPr>
              <a:xfrm>
                <a:off x="2811" y="2496"/>
                <a:ext cx="2949" cy="203"/>
              </a:xfrm>
              <a:prstGeom prst="rect">
                <a:avLst/>
              </a:prstGeom>
              <a:noFill/>
              <a:ln w="9525">
                <a:noFill/>
              </a:ln>
            </p:spPr>
            <p:txBody>
              <a:bodyPr>
                <a:spAutoFit/>
              </a:bodyPr>
              <a:p>
                <a:pPr>
                  <a:spcBef>
                    <a:spcPct val="50000"/>
                  </a:spcBef>
                </a:pPr>
                <a:r>
                  <a:rPr lang="zh-CN" altLang="en-US" sz="2000" i="1" dirty="0">
                    <a:solidFill>
                      <a:schemeClr val="tx1"/>
                    </a:solidFill>
                    <a:latin typeface="微软雅黑" panose="020B0503020204020204" pitchFamily="34" charset="-122"/>
                    <a:ea typeface="微软雅黑" panose="020B0503020204020204" pitchFamily="34" charset="-122"/>
                  </a:rPr>
                  <a:t>		           </a:t>
                </a:r>
                <a:r>
                  <a:rPr lang="zh-CN" altLang="en-US" sz="2000" b="0" dirty="0">
                    <a:solidFill>
                      <a:schemeClr val="tx1"/>
                    </a:solidFill>
                    <a:latin typeface="微软雅黑" panose="020B0503020204020204" pitchFamily="34" charset="-122"/>
                    <a:ea typeface="微软雅黑" panose="020B0503020204020204" pitchFamily="34" charset="-122"/>
                  </a:rPr>
                  <a:t>（</a:t>
                </a:r>
                <a:r>
                  <a:rPr lang="zh-CN" altLang="en-US" sz="2000" i="1" dirty="0">
                    <a:solidFill>
                      <a:schemeClr val="tx1"/>
                    </a:solidFill>
                    <a:latin typeface="微软雅黑" panose="020B0503020204020204" pitchFamily="34" charset="-122"/>
                    <a:ea typeface="微软雅黑" panose="020B0503020204020204" pitchFamily="34" charset="-122"/>
                  </a:rPr>
                  <a:t> </a:t>
                </a:r>
                <a:r>
                  <a:rPr lang="en-US" altLang="zh-CN" sz="2000" b="0" i="1" err="1">
                    <a:solidFill>
                      <a:schemeClr val="tx1"/>
                    </a:solidFill>
                    <a:latin typeface="微软雅黑" panose="020B0503020204020204" pitchFamily="34" charset="-122"/>
                    <a:ea typeface="微软雅黑" panose="020B0503020204020204" pitchFamily="34" charset="-122"/>
                  </a:rPr>
                  <a:t>i＞j</a:t>
                </a:r>
                <a:r>
                  <a:rPr lang="zh-CN" altLang="en-US" sz="2000" b="0" dirty="0">
                    <a:solidFill>
                      <a:schemeClr val="tx1"/>
                    </a:solidFill>
                    <a:latin typeface="微软雅黑" panose="020B0503020204020204" pitchFamily="34" charset="-122"/>
                    <a:ea typeface="微软雅黑" panose="020B0503020204020204" pitchFamily="34" charset="-122"/>
                  </a:rPr>
                  <a:t>）</a:t>
                </a:r>
                <a:endParaRPr lang="zh-CN" altLang="en-US" sz="2000" b="0" dirty="0">
                  <a:solidFill>
                    <a:schemeClr val="tx1"/>
                  </a:solidFill>
                  <a:latin typeface="微软雅黑" panose="020B0503020204020204" pitchFamily="34" charset="-122"/>
                  <a:ea typeface="微软雅黑" panose="020B0503020204020204" pitchFamily="34" charset="-122"/>
                </a:endParaRPr>
              </a:p>
            </p:txBody>
          </p:sp>
        </p:grpSp>
        <p:graphicFrame>
          <p:nvGraphicFramePr>
            <p:cNvPr id="121910" name="Object 26"/>
            <p:cNvGraphicFramePr>
              <a:graphicFrameLocks noChangeAspect="1"/>
            </p:cNvGraphicFramePr>
            <p:nvPr/>
          </p:nvGraphicFramePr>
          <p:xfrm>
            <a:off x="5181600" y="2743200"/>
            <a:ext cx="792163" cy="598488"/>
          </p:xfrm>
          <a:graphic>
            <a:graphicData uri="http://schemas.openxmlformats.org/presentationml/2006/ole">
              <mc:AlternateContent xmlns:mc="http://schemas.openxmlformats.org/markup-compatibility/2006">
                <mc:Choice xmlns:v="urn:schemas-microsoft-com:vml" Requires="v">
                  <p:oleObj spid="_x0000_s3089" name="" r:id="rId5" imgW="520700" imgH="393700" progId="Equation.3">
                    <p:embed/>
                  </p:oleObj>
                </mc:Choice>
                <mc:Fallback>
                  <p:oleObj name="" r:id="rId5" imgW="520700" imgH="393700" progId="Equation.3">
                    <p:embed/>
                    <p:pic>
                      <p:nvPicPr>
                        <p:cNvPr id="0" name="图片 3088"/>
                        <p:cNvPicPr/>
                        <p:nvPr/>
                      </p:nvPicPr>
                      <p:blipFill>
                        <a:blip r:embed="rId6"/>
                        <a:stretch>
                          <a:fillRect/>
                        </a:stretch>
                      </p:blipFill>
                      <p:spPr>
                        <a:xfrm>
                          <a:off x="5181600" y="2743200"/>
                          <a:ext cx="792163" cy="598488"/>
                        </a:xfrm>
                        <a:prstGeom prst="rect">
                          <a:avLst/>
                        </a:prstGeom>
                        <a:noFill/>
                        <a:ln w="38100">
                          <a:noFill/>
                          <a:miter/>
                        </a:ln>
                      </p:spPr>
                    </p:pic>
                  </p:oleObj>
                </mc:Fallback>
              </mc:AlternateContent>
            </a:graphicData>
          </a:graphic>
        </p:graphicFrame>
      </p:grpSp>
      <p:graphicFrame>
        <p:nvGraphicFramePr>
          <p:cNvPr id="22" name="Group 361"/>
          <p:cNvGraphicFramePr>
            <a:graphicFrameLocks noGrp="1"/>
          </p:cNvGraphicFramePr>
          <p:nvPr>
            <p:custDataLst>
              <p:tags r:id="rId7"/>
            </p:custDataLst>
          </p:nvPr>
        </p:nvGraphicFramePr>
        <p:xfrm>
          <a:off x="457200" y="3708400"/>
          <a:ext cx="10987405" cy="1322070"/>
        </p:xfrm>
        <a:graphic>
          <a:graphicData uri="http://schemas.openxmlformats.org/drawingml/2006/table">
            <a:tbl>
              <a:tblPr>
                <a:effectLst/>
                <a:tableStyleId>{5940675A-B579-460E-94D1-54222C63F5DA}</a:tableStyleId>
              </a:tblPr>
              <a:tblGrid>
                <a:gridCol w="599440"/>
                <a:gridCol w="774065"/>
                <a:gridCol w="589280"/>
                <a:gridCol w="1041400"/>
                <a:gridCol w="920115"/>
                <a:gridCol w="685800"/>
                <a:gridCol w="491490"/>
                <a:gridCol w="588645"/>
                <a:gridCol w="882650"/>
                <a:gridCol w="588645"/>
                <a:gridCol w="490220"/>
                <a:gridCol w="1766570"/>
                <a:gridCol w="1569085"/>
              </a:tblGrid>
              <a:tr h="527685">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18000" smtClean="0">
                          <a:ln>
                            <a:noFill/>
                          </a:ln>
                          <a:solidFill>
                            <a:srgbClr val="000000"/>
                          </a:solidFill>
                          <a:effectLst/>
                          <a:latin typeface="微软雅黑" panose="020B0503020204020204" pitchFamily="34" charset="-122"/>
                          <a:ea typeface="微软雅黑" panose="020B0503020204020204" pitchFamily="34" charset="-122"/>
                        </a:rPr>
                        <a:t>11</a:t>
                      </a:r>
                      <a:endParaRPr kumimoji="1" lang="en-US" altLang="zh-CN" sz="1800" b="1" i="1" u="none" strike="noStrike" cap="none" normalizeH="0" baseline="-18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20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rPr>
                        <a:t>12</a:t>
                      </a:r>
                      <a:endParaRPr kumimoji="1" lang="en-US" altLang="zh-CN" sz="20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t>
                      </a:r>
                      <a:endPar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rPr>
                        <a:t>1n</a:t>
                      </a:r>
                      <a:endPar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rPr>
                        <a:t>22</a:t>
                      </a:r>
                      <a:endParaRPr kumimoji="1" lang="zh-CN" altLang="en-US"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rPr>
                        <a:t>23</a:t>
                      </a:r>
                      <a:endPar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rPr>
                        <a:t>ii</a:t>
                      </a:r>
                      <a:endParaRPr kumimoji="1" lang="zh-CN" altLang="en-US"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rPr>
                        <a:t>in</a:t>
                      </a:r>
                      <a:endParaRPr kumimoji="1" lang="zh-CN" altLang="en-US"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a:noFill/>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a:t>
                      </a:r>
                      <a:r>
                        <a:rPr kumimoji="1" lang="en-US" altLang="zh-CN" sz="11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nn</a:t>
                      </a:r>
                      <a:r>
                        <a:rPr kumimoji="1" lang="zh-CN" altLang="en-US" sz="18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 </a:t>
                      </a:r>
                      <a:endParaRPr kumimoji="1" lang="en-US" altLang="zh-CN" sz="1800" b="1" i="1" u="none" strike="noStrike" cap="none" normalizeH="0" baseline="-2000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FF0000"/>
                          </a:solidFill>
                          <a:effectLst/>
                          <a:latin typeface="微软雅黑" panose="020B0503020204020204" pitchFamily="34" charset="-122"/>
                          <a:ea typeface="微软雅黑" panose="020B0503020204020204" pitchFamily="34" charset="-122"/>
                        </a:rPr>
                        <a:t>c</a:t>
                      </a:r>
                      <a:endParaRPr kumimoji="1" lang="en-US" altLang="zh-CN" sz="1800" b="1" i="1" u="none" strike="noStrike" cap="none" normalizeH="0" baseline="-18000" smtClean="0">
                        <a:ln>
                          <a:noFill/>
                        </a:ln>
                        <a:solidFill>
                          <a:srgbClr val="FF0000"/>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794385">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0</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a:t>
                      </a:r>
                      <a:endParaRPr kumimoji="1" lang="en-US" altLang="zh-CN" sz="2000" b="1" i="1"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n(n+</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2-1</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n(n+</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r>
            </a:tbl>
          </a:graphicData>
        </a:graphic>
      </p:graphicFrame>
      <p:sp>
        <p:nvSpPr>
          <p:cNvPr id="13" name="TextBox 12"/>
          <p:cNvSpPr txBox="1"/>
          <p:nvPr/>
        </p:nvSpPr>
        <p:spPr>
          <a:xfrm>
            <a:off x="765175" y="5008880"/>
            <a:ext cx="10255885" cy="1111885"/>
          </a:xfrm>
          <a:prstGeom prst="rect">
            <a:avLst/>
          </a:prstGeom>
          <a:noFill/>
          <a:ln w="9525">
            <a:noFill/>
          </a:ln>
        </p:spPr>
        <p:txBody>
          <a:bodyPr>
            <a:noAutofit/>
          </a:bodyPr>
          <a:p>
            <a:r>
              <a:rPr lang="zh-CN" altLang="en-US" sz="2000" b="0" dirty="0">
                <a:solidFill>
                  <a:srgbClr val="000000"/>
                </a:solidFill>
                <a:latin typeface="微软雅黑" panose="020B0503020204020204" pitchFamily="34" charset="-122"/>
              </a:rPr>
              <a:t>矩阵元素</a:t>
            </a:r>
            <a:r>
              <a:rPr lang="en-US" altLang="zh-CN" sz="2000" b="0" i="1" err="1">
                <a:solidFill>
                  <a:srgbClr val="000000"/>
                </a:solidFill>
                <a:latin typeface="微软雅黑" panose="020B0503020204020204" pitchFamily="34" charset="-122"/>
              </a:rPr>
              <a:t>a</a:t>
            </a:r>
            <a:r>
              <a:rPr lang="en-US" altLang="zh-CN" sz="2000" b="0" i="1" baseline="-25000" err="1">
                <a:solidFill>
                  <a:srgbClr val="000000"/>
                </a:solidFill>
                <a:latin typeface="微软雅黑" panose="020B0503020204020204" pitchFamily="34" charset="-122"/>
              </a:rPr>
              <a:t>ij</a:t>
            </a:r>
            <a:r>
              <a:rPr lang="zh-CN" altLang="en-US" sz="2000" b="0" dirty="0">
                <a:solidFill>
                  <a:srgbClr val="000000"/>
                </a:solidFill>
                <a:latin typeface="微软雅黑" panose="020B0503020204020204" pitchFamily="34" charset="-122"/>
              </a:rPr>
              <a:t>存放在</a:t>
            </a:r>
            <a:r>
              <a:rPr lang="en-US" altLang="zh-CN" sz="2000" b="0" err="1">
                <a:solidFill>
                  <a:srgbClr val="000000"/>
                </a:solidFill>
                <a:latin typeface="微软雅黑" panose="020B0503020204020204" pitchFamily="34" charset="-122"/>
              </a:rPr>
              <a:t>s[</a:t>
            </a:r>
            <a:r>
              <a:rPr lang="en-US" altLang="zh-CN" sz="2000" b="0" i="1" err="1">
                <a:solidFill>
                  <a:srgbClr val="000000"/>
                </a:solidFill>
                <a:latin typeface="微软雅黑" panose="020B0503020204020204" pitchFamily="34" charset="-122"/>
              </a:rPr>
              <a:t>k</a:t>
            </a:r>
            <a:r>
              <a:rPr lang="en-US" altLang="zh-CN" sz="2000" b="0">
                <a:solidFill>
                  <a:srgbClr val="000000"/>
                </a:solidFill>
                <a:latin typeface="微软雅黑" panose="020B0503020204020204" pitchFamily="34" charset="-122"/>
              </a:rPr>
              <a:t>]</a:t>
            </a:r>
            <a:r>
              <a:rPr lang="zh-CN" altLang="en-US" sz="2000" b="0" dirty="0">
                <a:solidFill>
                  <a:srgbClr val="000000"/>
                </a:solidFill>
                <a:latin typeface="微软雅黑" panose="020B0503020204020204" pitchFamily="34" charset="-122"/>
              </a:rPr>
              <a:t>中，</a:t>
            </a:r>
            <a:r>
              <a:rPr lang="en-US" altLang="zh-CN" sz="2000" b="0" err="1">
                <a:solidFill>
                  <a:srgbClr val="000000"/>
                </a:solidFill>
                <a:latin typeface="微软雅黑" panose="020B0503020204020204" pitchFamily="34" charset="-122"/>
              </a:rPr>
              <a:t>s[</a:t>
            </a:r>
            <a:r>
              <a:rPr lang="en-US" altLang="zh-CN" sz="2000" b="0" i="1" err="1">
                <a:solidFill>
                  <a:srgbClr val="000000"/>
                </a:solidFill>
                <a:latin typeface="微软雅黑" panose="020B0503020204020204" pitchFamily="34" charset="-122"/>
              </a:rPr>
              <a:t>k</a:t>
            </a:r>
            <a:r>
              <a:rPr lang="en-US" altLang="zh-CN" sz="2000" b="0">
                <a:solidFill>
                  <a:srgbClr val="000000"/>
                </a:solidFill>
                <a:latin typeface="微软雅黑" panose="020B0503020204020204" pitchFamily="34" charset="-122"/>
              </a:rPr>
              <a:t>]</a:t>
            </a:r>
            <a:r>
              <a:rPr lang="zh-CN" altLang="en-US" sz="2000" b="0" dirty="0">
                <a:solidFill>
                  <a:srgbClr val="000000"/>
                </a:solidFill>
                <a:latin typeface="微软雅黑" panose="020B0503020204020204" pitchFamily="34" charset="-122"/>
              </a:rPr>
              <a:t>和</a:t>
            </a:r>
            <a:r>
              <a:rPr lang="en-US" altLang="zh-CN" sz="2000" b="0" i="1" err="1">
                <a:solidFill>
                  <a:srgbClr val="000000"/>
                </a:solidFill>
                <a:latin typeface="微软雅黑" panose="020B0503020204020204" pitchFamily="34" charset="-122"/>
              </a:rPr>
              <a:t>a</a:t>
            </a:r>
            <a:r>
              <a:rPr lang="en-US" altLang="zh-CN" sz="2000" b="0" i="1" baseline="-25000" err="1">
                <a:solidFill>
                  <a:srgbClr val="000000"/>
                </a:solidFill>
                <a:latin typeface="微软雅黑" panose="020B0503020204020204" pitchFamily="34" charset="-122"/>
              </a:rPr>
              <a:t>ij</a:t>
            </a:r>
            <a:r>
              <a:rPr lang="zh-CN" altLang="en-US" sz="2000" b="0" dirty="0">
                <a:solidFill>
                  <a:srgbClr val="000000"/>
                </a:solidFill>
                <a:latin typeface="微软雅黑" panose="020B0503020204020204" pitchFamily="34" charset="-122"/>
              </a:rPr>
              <a:t>之间存在着一一对应的关系</a:t>
            </a:r>
            <a:endParaRPr lang="zh-CN" altLang="en-US" sz="2000" b="0" dirty="0">
              <a:solidFill>
                <a:srgbClr val="000000"/>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dissolv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下三角矩阵</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278542" name="Object 14"/>
          <p:cNvGraphicFramePr>
            <a:graphicFrameLocks noChangeAspect="1"/>
          </p:cNvGraphicFramePr>
          <p:nvPr/>
        </p:nvGraphicFramePr>
        <p:xfrm>
          <a:off x="1143000" y="1676400"/>
          <a:ext cx="2590800" cy="1798638"/>
        </p:xfrm>
        <a:graphic>
          <a:graphicData uri="http://schemas.openxmlformats.org/presentationml/2006/ole">
            <mc:AlternateContent xmlns:mc="http://schemas.openxmlformats.org/markup-compatibility/2006">
              <mc:Choice xmlns:v="urn:schemas-microsoft-com:vml" Requires="v">
                <p:oleObj spid="_x0000_s3090" name="" r:id="rId2" imgW="1155700" imgH="800100" progId="Equation.3">
                  <p:embed/>
                </p:oleObj>
              </mc:Choice>
              <mc:Fallback>
                <p:oleObj name="" r:id="rId2" imgW="1155700" imgH="800100" progId="Equation.3">
                  <p:embed/>
                  <p:pic>
                    <p:nvPicPr>
                      <p:cNvPr id="0" name="图片 3089"/>
                      <p:cNvPicPr/>
                      <p:nvPr/>
                    </p:nvPicPr>
                    <p:blipFill>
                      <a:blip r:embed="rId3"/>
                      <a:stretch>
                        <a:fillRect/>
                      </a:stretch>
                    </p:blipFill>
                    <p:spPr>
                      <a:xfrm>
                        <a:off x="1143000" y="1676400"/>
                        <a:ext cx="2590800" cy="1798638"/>
                      </a:xfrm>
                      <a:prstGeom prst="rect">
                        <a:avLst/>
                      </a:prstGeom>
                      <a:noFill/>
                      <a:ln w="38100">
                        <a:noFill/>
                        <a:miter/>
                      </a:ln>
                    </p:spPr>
                  </p:pic>
                </p:oleObj>
              </mc:Fallback>
            </mc:AlternateContent>
          </a:graphicData>
        </a:graphic>
      </p:graphicFrame>
      <p:grpSp>
        <p:nvGrpSpPr>
          <p:cNvPr id="9" name="组合 24"/>
          <p:cNvGrpSpPr/>
          <p:nvPr/>
        </p:nvGrpSpPr>
        <p:grpSpPr>
          <a:xfrm>
            <a:off x="5036820" y="1885950"/>
            <a:ext cx="4999038" cy="1466850"/>
            <a:chOff x="3886201" y="1885540"/>
            <a:chExt cx="4999140" cy="1467268"/>
          </a:xfrm>
        </p:grpSpPr>
        <p:grpSp>
          <p:nvGrpSpPr>
            <p:cNvPr id="122935" name="Group 20"/>
            <p:cNvGrpSpPr/>
            <p:nvPr/>
          </p:nvGrpSpPr>
          <p:grpSpPr>
            <a:xfrm>
              <a:off x="3886201" y="1885540"/>
              <a:ext cx="4999140" cy="1467268"/>
              <a:chOff x="2304" y="1949"/>
              <a:chExt cx="3359" cy="750"/>
            </a:xfrm>
          </p:grpSpPr>
          <p:sp>
            <p:nvSpPr>
              <p:cNvPr id="122937" name="Text Box 21"/>
              <p:cNvSpPr txBox="1"/>
              <p:nvPr/>
            </p:nvSpPr>
            <p:spPr>
              <a:xfrm>
                <a:off x="4403" y="1990"/>
                <a:ext cx="1008" cy="203"/>
              </a:xfrm>
              <a:prstGeom prst="rect">
                <a:avLst/>
              </a:prstGeom>
              <a:noFill/>
              <a:ln w="9525">
                <a:noFill/>
              </a:ln>
            </p:spPr>
            <p:txBody>
              <a:bodyPr>
                <a:spAutoFit/>
              </a:bodyPr>
              <a:p>
                <a:pPr>
                  <a:spcBef>
                    <a:spcPct val="50000"/>
                  </a:spcBef>
                </a:pPr>
                <a:r>
                  <a:rPr lang="zh-CN" altLang="en-US" sz="2000" b="0" dirty="0">
                    <a:solidFill>
                      <a:srgbClr val="000000"/>
                    </a:solidFill>
                    <a:latin typeface="微软雅黑" panose="020B0503020204020204" pitchFamily="34" charset="-122"/>
                    <a:ea typeface="微软雅黑" panose="020B0503020204020204" pitchFamily="34" charset="-122"/>
                  </a:rPr>
                  <a:t>（</a:t>
                </a:r>
                <a:r>
                  <a:rPr lang="en-US" altLang="zh-CN" sz="2000" b="0" i="1">
                    <a:solidFill>
                      <a:srgbClr val="000000"/>
                    </a:solidFill>
                    <a:latin typeface="微软雅黑" panose="020B0503020204020204" pitchFamily="34" charset="-122"/>
                    <a:ea typeface="微软雅黑" panose="020B0503020204020204" pitchFamily="34" charset="-122"/>
                  </a:rPr>
                  <a:t>i ≥ j</a:t>
                </a:r>
                <a:r>
                  <a:rPr lang="zh-CN" altLang="en-US" sz="2000" b="0" dirty="0">
                    <a:solidFill>
                      <a:srgbClr val="000000"/>
                    </a:solidFill>
                    <a:latin typeface="微软雅黑" panose="020B0503020204020204" pitchFamily="34" charset="-122"/>
                    <a:ea typeface="微软雅黑" panose="020B0503020204020204" pitchFamily="34" charset="-122"/>
                  </a:rPr>
                  <a:t>）</a:t>
                </a:r>
                <a:endParaRPr lang="zh-CN" altLang="en-US" sz="2000" b="0" dirty="0">
                  <a:solidFill>
                    <a:srgbClr val="000000"/>
                  </a:solidFill>
                  <a:latin typeface="微软雅黑" panose="020B0503020204020204" pitchFamily="34" charset="-122"/>
                  <a:ea typeface="微软雅黑" panose="020B0503020204020204" pitchFamily="34" charset="-122"/>
                </a:endParaRPr>
              </a:p>
            </p:txBody>
          </p:sp>
          <p:sp>
            <p:nvSpPr>
              <p:cNvPr id="122938" name="Text Box 22"/>
              <p:cNvSpPr txBox="1"/>
              <p:nvPr/>
            </p:nvSpPr>
            <p:spPr>
              <a:xfrm>
                <a:off x="2304" y="2184"/>
                <a:ext cx="336" cy="233"/>
              </a:xfrm>
              <a:prstGeom prst="rect">
                <a:avLst/>
              </a:prstGeom>
              <a:noFill/>
              <a:ln w="9525">
                <a:noFill/>
              </a:ln>
            </p:spPr>
            <p:txBody>
              <a:bodyPr>
                <a:spAutoFit/>
              </a:bodyPr>
              <a:p>
                <a:pPr>
                  <a:spcBef>
                    <a:spcPct val="50000"/>
                  </a:spcBef>
                </a:pPr>
                <a:r>
                  <a:rPr lang="en-US" altLang="zh-CN" sz="2400" b="0" i="1">
                    <a:solidFill>
                      <a:srgbClr val="000000"/>
                    </a:solidFill>
                    <a:latin typeface="微软雅黑" panose="020B0503020204020204" pitchFamily="34" charset="-122"/>
                    <a:ea typeface="微软雅黑" panose="020B0503020204020204" pitchFamily="34" charset="-122"/>
                  </a:rPr>
                  <a:t>k</a:t>
                </a:r>
                <a:r>
                  <a:rPr lang="en-US" altLang="zh-CN" sz="2400" b="0">
                    <a:solidFill>
                      <a:srgbClr val="000000"/>
                    </a:solidFill>
                    <a:latin typeface="微软雅黑" panose="020B0503020204020204" pitchFamily="34" charset="-122"/>
                    <a:ea typeface="微软雅黑" panose="020B0503020204020204" pitchFamily="34" charset="-122"/>
                  </a:rPr>
                  <a:t>=</a:t>
                </a:r>
                <a:endParaRPr lang="en-US" altLang="zh-CN" sz="2400" b="0">
                  <a:solidFill>
                    <a:srgbClr val="000000"/>
                  </a:solidFill>
                  <a:latin typeface="微软雅黑" panose="020B0503020204020204" pitchFamily="34" charset="-122"/>
                  <a:ea typeface="微软雅黑" panose="020B0503020204020204" pitchFamily="34" charset="-122"/>
                </a:endParaRPr>
              </a:p>
            </p:txBody>
          </p:sp>
          <p:sp>
            <p:nvSpPr>
              <p:cNvPr id="122939" name="AutoShape 23"/>
              <p:cNvSpPr/>
              <p:nvPr/>
            </p:nvSpPr>
            <p:spPr>
              <a:xfrm>
                <a:off x="2553" y="2025"/>
                <a:ext cx="162" cy="622"/>
              </a:xfrm>
              <a:prstGeom prst="leftBrace">
                <a:avLst>
                  <a:gd name="adj1" fmla="val 31995"/>
                  <a:gd name="adj2" fmla="val 50000"/>
                </a:avLst>
              </a:prstGeom>
              <a:noFill/>
              <a:ln w="28575" cap="flat" cmpd="sng">
                <a:solidFill>
                  <a:srgbClr val="000066"/>
                </a:solidFill>
                <a:prstDash val="solid"/>
                <a:headEnd type="none" w="med" len="med"/>
                <a:tailEnd type="none" w="med" len="med"/>
              </a:ln>
            </p:spPr>
            <p:txBody>
              <a:bodyPr wrap="none" anchor="ctr" anchorCtr="0"/>
              <a:p>
                <a:pPr algn="ctr"/>
                <a:endParaRPr lang="zh-CN" altLang="en-US" dirty="0">
                  <a:solidFill>
                    <a:srgbClr val="000000"/>
                  </a:solidFill>
                  <a:latin typeface="微软雅黑" panose="020B0503020204020204" pitchFamily="34" charset="-122"/>
                </a:endParaRPr>
              </a:p>
            </p:txBody>
          </p:sp>
          <p:graphicFrame>
            <p:nvGraphicFramePr>
              <p:cNvPr id="122940" name="Object 17"/>
              <p:cNvGraphicFramePr>
                <a:graphicFrameLocks noChangeAspect="1"/>
              </p:cNvGraphicFramePr>
              <p:nvPr/>
            </p:nvGraphicFramePr>
            <p:xfrm>
              <a:off x="3021" y="1949"/>
              <a:ext cx="1229" cy="331"/>
            </p:xfrm>
            <a:graphic>
              <a:graphicData uri="http://schemas.openxmlformats.org/presentationml/2006/ole">
                <mc:AlternateContent xmlns:mc="http://schemas.openxmlformats.org/markup-compatibility/2006">
                  <mc:Choice xmlns:v="urn:schemas-microsoft-com:vml" Requires="v">
                    <p:oleObj spid="_x0000_s3092" name="" r:id="rId4" imgW="875665" imgH="393700" progId="Equation.3">
                      <p:embed/>
                    </p:oleObj>
                  </mc:Choice>
                  <mc:Fallback>
                    <p:oleObj name="" r:id="rId4" imgW="875665" imgH="393700" progId="Equation.3">
                      <p:embed/>
                      <p:pic>
                        <p:nvPicPr>
                          <p:cNvPr id="0" name="图片 3091"/>
                          <p:cNvPicPr/>
                          <p:nvPr/>
                        </p:nvPicPr>
                        <p:blipFill>
                          <a:blip r:embed="rId5"/>
                          <a:stretch>
                            <a:fillRect/>
                          </a:stretch>
                        </p:blipFill>
                        <p:spPr>
                          <a:xfrm>
                            <a:off x="3021" y="1949"/>
                            <a:ext cx="1229" cy="331"/>
                          </a:xfrm>
                          <a:prstGeom prst="rect">
                            <a:avLst/>
                          </a:prstGeom>
                          <a:noFill/>
                          <a:ln w="38100">
                            <a:noFill/>
                            <a:miter/>
                          </a:ln>
                        </p:spPr>
                      </p:pic>
                    </p:oleObj>
                  </mc:Fallback>
                </mc:AlternateContent>
              </a:graphicData>
            </a:graphic>
          </p:graphicFrame>
          <p:sp>
            <p:nvSpPr>
              <p:cNvPr id="122941" name="Text Box 25"/>
              <p:cNvSpPr txBox="1"/>
              <p:nvPr/>
            </p:nvSpPr>
            <p:spPr>
              <a:xfrm>
                <a:off x="2714" y="2496"/>
                <a:ext cx="2949" cy="203"/>
              </a:xfrm>
              <a:prstGeom prst="rect">
                <a:avLst/>
              </a:prstGeom>
              <a:noFill/>
              <a:ln w="9525">
                <a:noFill/>
              </a:ln>
            </p:spPr>
            <p:txBody>
              <a:bodyPr>
                <a:spAutoFit/>
              </a:bodyPr>
              <a:p>
                <a:pPr>
                  <a:spcBef>
                    <a:spcPct val="50000"/>
                  </a:spcBef>
                </a:pPr>
                <a:r>
                  <a:rPr lang="zh-CN" altLang="en-US" sz="2000" i="1" dirty="0">
                    <a:solidFill>
                      <a:srgbClr val="000000"/>
                    </a:solidFill>
                    <a:latin typeface="微软雅黑" panose="020B0503020204020204" pitchFamily="34" charset="-122"/>
                    <a:ea typeface="微软雅黑" panose="020B0503020204020204" pitchFamily="34" charset="-122"/>
                  </a:rPr>
                  <a:t>		           </a:t>
                </a:r>
                <a:r>
                  <a:rPr lang="zh-CN" altLang="en-US" sz="2000" b="0" dirty="0">
                    <a:solidFill>
                      <a:srgbClr val="000000"/>
                    </a:solidFill>
                    <a:latin typeface="微软雅黑" panose="020B0503020204020204" pitchFamily="34" charset="-122"/>
                    <a:ea typeface="微软雅黑" panose="020B0503020204020204" pitchFamily="34" charset="-122"/>
                  </a:rPr>
                  <a:t>（</a:t>
                </a:r>
                <a:r>
                  <a:rPr lang="zh-CN" altLang="en-US" sz="2000" i="1" dirty="0">
                    <a:solidFill>
                      <a:srgbClr val="000000"/>
                    </a:solidFill>
                    <a:latin typeface="微软雅黑" panose="020B0503020204020204" pitchFamily="34" charset="-122"/>
                    <a:ea typeface="微软雅黑" panose="020B0503020204020204" pitchFamily="34" charset="-122"/>
                  </a:rPr>
                  <a:t> </a:t>
                </a:r>
                <a:r>
                  <a:rPr lang="en-US" altLang="zh-CN" sz="2000" b="0" i="1">
                    <a:solidFill>
                      <a:srgbClr val="000000"/>
                    </a:solidFill>
                    <a:latin typeface="微软雅黑" panose="020B0503020204020204" pitchFamily="34" charset="-122"/>
                    <a:ea typeface="微软雅黑" panose="020B0503020204020204" pitchFamily="34" charset="-122"/>
                  </a:rPr>
                  <a:t>i </a:t>
                </a:r>
                <a:r>
                  <a:rPr lang="zh-CN" altLang="en-US" sz="2000" b="0" i="1" dirty="0">
                    <a:solidFill>
                      <a:srgbClr val="000000"/>
                    </a:solidFill>
                    <a:latin typeface="微软雅黑" panose="020B0503020204020204" pitchFamily="34" charset="-122"/>
                    <a:ea typeface="微软雅黑" panose="020B0503020204020204" pitchFamily="34" charset="-122"/>
                  </a:rPr>
                  <a:t>＜ </a:t>
                </a:r>
                <a:r>
                  <a:rPr lang="en-US" altLang="zh-CN" sz="2000" b="0" i="1">
                    <a:solidFill>
                      <a:srgbClr val="000000"/>
                    </a:solidFill>
                    <a:latin typeface="微软雅黑" panose="020B0503020204020204" pitchFamily="34" charset="-122"/>
                    <a:ea typeface="微软雅黑" panose="020B0503020204020204" pitchFamily="34" charset="-122"/>
                  </a:rPr>
                  <a:t>j</a:t>
                </a:r>
                <a:r>
                  <a:rPr lang="zh-CN" altLang="en-US" sz="2000" b="0" dirty="0">
                    <a:solidFill>
                      <a:srgbClr val="000000"/>
                    </a:solidFill>
                    <a:latin typeface="微软雅黑" panose="020B0503020204020204" pitchFamily="34" charset="-122"/>
                    <a:ea typeface="微软雅黑" panose="020B0503020204020204" pitchFamily="34" charset="-122"/>
                  </a:rPr>
                  <a:t>）</a:t>
                </a:r>
                <a:endParaRPr lang="zh-CN" altLang="en-US" sz="2000" b="0" dirty="0">
                  <a:solidFill>
                    <a:srgbClr val="000000"/>
                  </a:solidFill>
                  <a:latin typeface="微软雅黑" panose="020B0503020204020204" pitchFamily="34" charset="-122"/>
                  <a:ea typeface="微软雅黑" panose="020B0503020204020204" pitchFamily="34" charset="-122"/>
                </a:endParaRPr>
              </a:p>
            </p:txBody>
          </p:sp>
        </p:grpSp>
        <p:graphicFrame>
          <p:nvGraphicFramePr>
            <p:cNvPr id="122936" name="Object 18"/>
            <p:cNvGraphicFramePr>
              <a:graphicFrameLocks noChangeAspect="1"/>
            </p:cNvGraphicFramePr>
            <p:nvPr/>
          </p:nvGraphicFramePr>
          <p:xfrm>
            <a:off x="5172075" y="2743200"/>
            <a:ext cx="811213" cy="598488"/>
          </p:xfrm>
          <a:graphic>
            <a:graphicData uri="http://schemas.openxmlformats.org/presentationml/2006/ole">
              <mc:AlternateContent xmlns:mc="http://schemas.openxmlformats.org/markup-compatibility/2006">
                <mc:Choice xmlns:v="urn:schemas-microsoft-com:vml" Requires="v">
                  <p:oleObj spid="_x0000_s3093" name="" r:id="rId6" imgW="533400" imgH="393700" progId="Equation.3">
                    <p:embed/>
                  </p:oleObj>
                </mc:Choice>
                <mc:Fallback>
                  <p:oleObj name="" r:id="rId6" imgW="533400" imgH="393700" progId="Equation.3">
                    <p:embed/>
                    <p:pic>
                      <p:nvPicPr>
                        <p:cNvPr id="0" name="图片 3092"/>
                        <p:cNvPicPr/>
                        <p:nvPr/>
                      </p:nvPicPr>
                      <p:blipFill>
                        <a:blip r:embed="rId7"/>
                        <a:stretch>
                          <a:fillRect/>
                        </a:stretch>
                      </p:blipFill>
                      <p:spPr>
                        <a:xfrm>
                          <a:off x="5172075" y="2743200"/>
                          <a:ext cx="811213" cy="598488"/>
                        </a:xfrm>
                        <a:prstGeom prst="rect">
                          <a:avLst/>
                        </a:prstGeom>
                        <a:noFill/>
                        <a:ln w="38100">
                          <a:noFill/>
                          <a:miter/>
                        </a:ln>
                      </p:spPr>
                    </p:pic>
                  </p:oleObj>
                </mc:Fallback>
              </mc:AlternateContent>
            </a:graphicData>
          </a:graphic>
        </p:graphicFrame>
      </p:grpSp>
      <p:graphicFrame>
        <p:nvGraphicFramePr>
          <p:cNvPr id="16" name="Group 361"/>
          <p:cNvGraphicFramePr>
            <a:graphicFrameLocks noGrp="1"/>
          </p:cNvGraphicFramePr>
          <p:nvPr>
            <p:custDataLst>
              <p:tags r:id="rId8"/>
            </p:custDataLst>
          </p:nvPr>
        </p:nvGraphicFramePr>
        <p:xfrm>
          <a:off x="457200" y="3837940"/>
          <a:ext cx="9824085" cy="993140"/>
        </p:xfrm>
        <a:graphic>
          <a:graphicData uri="http://schemas.openxmlformats.org/drawingml/2006/table">
            <a:tbl>
              <a:tblPr>
                <a:effectLst/>
                <a:tableStyleId>{5940675A-B579-460E-94D1-54222C63F5DA}</a:tableStyleId>
              </a:tblPr>
              <a:tblGrid>
                <a:gridCol w="535940"/>
                <a:gridCol w="692150"/>
                <a:gridCol w="526415"/>
                <a:gridCol w="931545"/>
                <a:gridCol w="822325"/>
                <a:gridCol w="614045"/>
                <a:gridCol w="438785"/>
                <a:gridCol w="526415"/>
                <a:gridCol w="789305"/>
                <a:gridCol w="614045"/>
                <a:gridCol w="350520"/>
                <a:gridCol w="1579245"/>
                <a:gridCol w="1403350"/>
              </a:tblGrid>
              <a:tr h="50546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18000" smtClean="0">
                          <a:ln>
                            <a:noFill/>
                          </a:ln>
                          <a:solidFill>
                            <a:srgbClr val="000000"/>
                          </a:solidFill>
                          <a:effectLst/>
                          <a:latin typeface="微软雅黑" panose="020B0503020204020204" pitchFamily="34" charset="-122"/>
                          <a:ea typeface="微软雅黑" panose="020B0503020204020204" pitchFamily="34" charset="-122"/>
                        </a:rPr>
                        <a:t>11</a:t>
                      </a:r>
                      <a:endParaRPr kumimoji="1" lang="en-US" altLang="zh-CN" sz="1800" b="1" i="1" u="none" strike="noStrike" cap="none" normalizeH="0" baseline="-18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2857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20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rPr>
                        <a:t>21</a:t>
                      </a:r>
                      <a:endParaRPr kumimoji="1" lang="en-US" altLang="zh-CN" sz="20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rPr>
                        <a:t>22</a:t>
                      </a:r>
                      <a:endPar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rPr>
                        <a:t>31</a:t>
                      </a:r>
                      <a:endPar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rPr>
                        <a:t>i1</a:t>
                      </a:r>
                      <a:endPar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rPr>
                        <a:t>ii</a:t>
                      </a:r>
                      <a:endParaRPr kumimoji="1" lang="zh-CN" altLang="en-US"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rPr>
                        <a:t>n1</a:t>
                      </a:r>
                      <a:endParaRPr kumimoji="1" lang="zh-CN" altLang="en-US"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a:noFill/>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endParaRPr kumimoji="1" lang="zh-CN" altLang="en-US"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w="12700"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a:t>
                      </a:r>
                      <a:r>
                        <a:rPr kumimoji="1" lang="en-US" altLang="zh-CN" sz="11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nn</a:t>
                      </a:r>
                      <a:r>
                        <a:rPr kumimoji="1" lang="zh-CN" altLang="en-US" sz="18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 </a:t>
                      </a:r>
                      <a:endParaRPr kumimoji="1" lang="en-US" altLang="zh-CN" sz="1800" b="1" i="1" u="none" strike="noStrike" cap="none" normalizeH="0" baseline="-2000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w="12700" cap="flat" cmpd="sng" algn="ctr">
                      <a:solidFill>
                        <a:srgbClr val="000000"/>
                      </a:solidFill>
                      <a:prstDash val="solid"/>
                      <a:miter lim="800000"/>
                      <a:headEnd type="none" w="med" len="med"/>
                      <a:tailEnd type="none" w="med" len="med"/>
                    </a:lnL>
                    <a:lnR w="19050" cap="flat" cmpd="sng" algn="ctr">
                      <a:solidFill>
                        <a:srgbClr val="000000"/>
                      </a:solidFill>
                      <a:prstDash val="solid"/>
                      <a:round/>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1800" b="1" i="1" u="none" strike="noStrike" cap="none" normalizeH="0" baseline="0" smtClean="0">
                          <a:ln>
                            <a:noFill/>
                          </a:ln>
                          <a:solidFill>
                            <a:srgbClr val="FF0000"/>
                          </a:solidFill>
                          <a:effectLst/>
                          <a:latin typeface="微软雅黑" panose="020B0503020204020204" pitchFamily="34" charset="-122"/>
                          <a:ea typeface="微软雅黑" panose="020B0503020204020204" pitchFamily="34" charset="-122"/>
                        </a:rPr>
                        <a:t>c</a:t>
                      </a:r>
                      <a:endParaRPr kumimoji="1" lang="en-US" altLang="zh-CN" sz="1800" b="1" i="1" u="none" strike="noStrike" cap="none" normalizeH="0" baseline="-18000" smtClean="0">
                        <a:ln>
                          <a:noFill/>
                        </a:ln>
                        <a:solidFill>
                          <a:srgbClr val="FF0000"/>
                        </a:solidFill>
                        <a:effectLst/>
                        <a:latin typeface="微软雅黑" panose="020B0503020204020204" pitchFamily="34" charset="-122"/>
                        <a:ea typeface="微软雅黑" panose="020B0503020204020204" pitchFamily="34" charset="-122"/>
                      </a:endParaRPr>
                    </a:p>
                  </a:txBody>
                  <a:tcPr marT="45697" marB="45697" anchor="ctr" horzOverflow="overflow">
                    <a:lnL w="19050" cap="flat" cmpd="sng" algn="ctr">
                      <a:solidFill>
                        <a:srgbClr val="000000"/>
                      </a:solidFill>
                      <a:prstDash val="solid"/>
                      <a:round/>
                      <a:headEnd type="none" w="med" len="med"/>
                      <a:tailEnd type="none" w="med" len="med"/>
                    </a:lnL>
                    <a:lnR w="28575" cap="flat" cmpd="sng" algn="ctr">
                      <a:solidFill>
                        <a:srgbClr val="000000"/>
                      </a:solidFill>
                      <a:prstDash val="solid"/>
                      <a:miter lim="800000"/>
                      <a:headEnd type="none" w="med" len="med"/>
                      <a:tailEnd type="none" w="med" len="med"/>
                    </a:lnR>
                    <a:lnT w="28575" cap="flat" cmpd="sng" algn="ctr">
                      <a:solidFill>
                        <a:srgbClr val="000000"/>
                      </a:solidFill>
                      <a:prstDash val="solid"/>
                      <a:miter lim="800000"/>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0</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rPr>
                        <a:t>2</a:t>
                      </a:r>
                      <a:endParaRPr kumimoji="1" lang="en-US" altLang="zh-CN" sz="2000" b="1" i="0" u="none" strike="noStrike" cap="none" normalizeH="0" baseline="0" smtClean="0">
                        <a:ln>
                          <a:noFill/>
                        </a:ln>
                        <a:solidFill>
                          <a:srgbClr val="000066"/>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3</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n(n+</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2-1</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n(n+</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a:t>
                      </a: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97" marB="45697" anchor="ctr"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noFill/>
                  </a:tcPr>
                </a:tc>
              </a:tr>
            </a:tbl>
          </a:graphicData>
        </a:graphic>
      </p:graphicFrame>
      <p:sp>
        <p:nvSpPr>
          <p:cNvPr id="13" name="TextBox 12"/>
          <p:cNvSpPr txBox="1"/>
          <p:nvPr/>
        </p:nvSpPr>
        <p:spPr>
          <a:xfrm>
            <a:off x="990600" y="5029200"/>
            <a:ext cx="8492490" cy="869950"/>
          </a:xfrm>
          <a:prstGeom prst="rect">
            <a:avLst/>
          </a:prstGeom>
          <a:noFill/>
          <a:ln w="9525">
            <a:noFill/>
          </a:ln>
        </p:spPr>
        <p:txBody>
          <a:bodyPr>
            <a:noAutofit/>
          </a:bodyPr>
          <a:p>
            <a:r>
              <a:rPr lang="zh-CN" altLang="en-US" sz="2000" b="0" dirty="0">
                <a:solidFill>
                  <a:srgbClr val="000000"/>
                </a:solidFill>
                <a:latin typeface="微软雅黑" panose="020B0503020204020204" pitchFamily="34" charset="-122"/>
              </a:rPr>
              <a:t>矩阵元素</a:t>
            </a:r>
            <a:r>
              <a:rPr lang="en-US" altLang="zh-CN" sz="2000" b="0" i="1" err="1">
                <a:solidFill>
                  <a:srgbClr val="000000"/>
                </a:solidFill>
                <a:latin typeface="微软雅黑" panose="020B0503020204020204" pitchFamily="34" charset="-122"/>
              </a:rPr>
              <a:t>a</a:t>
            </a:r>
            <a:r>
              <a:rPr lang="en-US" altLang="zh-CN" sz="2000" b="0" i="1" baseline="-25000" err="1">
                <a:solidFill>
                  <a:srgbClr val="000000"/>
                </a:solidFill>
                <a:latin typeface="微软雅黑" panose="020B0503020204020204" pitchFamily="34" charset="-122"/>
              </a:rPr>
              <a:t>ij</a:t>
            </a:r>
            <a:r>
              <a:rPr lang="zh-CN" altLang="en-US" sz="2000" b="0" dirty="0">
                <a:solidFill>
                  <a:srgbClr val="000000"/>
                </a:solidFill>
                <a:latin typeface="微软雅黑" panose="020B0503020204020204" pitchFamily="34" charset="-122"/>
              </a:rPr>
              <a:t>存放在</a:t>
            </a:r>
            <a:r>
              <a:rPr lang="en-US" altLang="zh-CN" sz="2000" b="0" err="1">
                <a:solidFill>
                  <a:srgbClr val="000000"/>
                </a:solidFill>
                <a:latin typeface="微软雅黑" panose="020B0503020204020204" pitchFamily="34" charset="-122"/>
              </a:rPr>
              <a:t>s[</a:t>
            </a:r>
            <a:r>
              <a:rPr lang="en-US" altLang="zh-CN" sz="2000" b="0" i="1" err="1">
                <a:solidFill>
                  <a:srgbClr val="000000"/>
                </a:solidFill>
                <a:latin typeface="微软雅黑" panose="020B0503020204020204" pitchFamily="34" charset="-122"/>
              </a:rPr>
              <a:t>k</a:t>
            </a:r>
            <a:r>
              <a:rPr lang="en-US" altLang="zh-CN" sz="2000" b="0">
                <a:solidFill>
                  <a:srgbClr val="000000"/>
                </a:solidFill>
                <a:latin typeface="微软雅黑" panose="020B0503020204020204" pitchFamily="34" charset="-122"/>
              </a:rPr>
              <a:t>]</a:t>
            </a:r>
            <a:r>
              <a:rPr lang="zh-CN" altLang="en-US" sz="2000" b="0" dirty="0">
                <a:solidFill>
                  <a:srgbClr val="000000"/>
                </a:solidFill>
                <a:latin typeface="微软雅黑" panose="020B0503020204020204" pitchFamily="34" charset="-122"/>
              </a:rPr>
              <a:t>中，</a:t>
            </a:r>
            <a:r>
              <a:rPr lang="en-US" altLang="zh-CN" sz="2000" b="0" err="1">
                <a:solidFill>
                  <a:srgbClr val="000000"/>
                </a:solidFill>
                <a:latin typeface="微软雅黑" panose="020B0503020204020204" pitchFamily="34" charset="-122"/>
              </a:rPr>
              <a:t>s[</a:t>
            </a:r>
            <a:r>
              <a:rPr lang="en-US" altLang="zh-CN" sz="2000" b="0" i="1" err="1">
                <a:solidFill>
                  <a:srgbClr val="000000"/>
                </a:solidFill>
                <a:latin typeface="微软雅黑" panose="020B0503020204020204" pitchFamily="34" charset="-122"/>
              </a:rPr>
              <a:t>k</a:t>
            </a:r>
            <a:r>
              <a:rPr lang="en-US" altLang="zh-CN" sz="2000" b="0">
                <a:solidFill>
                  <a:srgbClr val="000000"/>
                </a:solidFill>
                <a:latin typeface="微软雅黑" panose="020B0503020204020204" pitchFamily="34" charset="-122"/>
              </a:rPr>
              <a:t>]</a:t>
            </a:r>
            <a:r>
              <a:rPr lang="zh-CN" altLang="en-US" sz="2000" b="0" dirty="0">
                <a:solidFill>
                  <a:srgbClr val="000000"/>
                </a:solidFill>
                <a:latin typeface="微软雅黑" panose="020B0503020204020204" pitchFamily="34" charset="-122"/>
              </a:rPr>
              <a:t>和</a:t>
            </a:r>
            <a:r>
              <a:rPr lang="en-US" altLang="zh-CN" sz="2000" b="0" i="1" err="1">
                <a:solidFill>
                  <a:srgbClr val="000000"/>
                </a:solidFill>
                <a:latin typeface="微软雅黑" panose="020B0503020204020204" pitchFamily="34" charset="-122"/>
              </a:rPr>
              <a:t>a</a:t>
            </a:r>
            <a:r>
              <a:rPr lang="en-US" altLang="zh-CN" sz="2000" b="0" i="1" baseline="-25000" err="1">
                <a:solidFill>
                  <a:srgbClr val="000000"/>
                </a:solidFill>
                <a:latin typeface="微软雅黑" panose="020B0503020204020204" pitchFamily="34" charset="-122"/>
              </a:rPr>
              <a:t>ij</a:t>
            </a:r>
            <a:r>
              <a:rPr lang="zh-CN" altLang="en-US" sz="2000" b="0" dirty="0">
                <a:solidFill>
                  <a:srgbClr val="000000"/>
                </a:solidFill>
                <a:latin typeface="微软雅黑" panose="020B0503020204020204" pitchFamily="34" charset="-122"/>
              </a:rPr>
              <a:t>之间存在着一一对应的关系</a:t>
            </a:r>
            <a:endParaRPr lang="zh-CN" altLang="en-US" sz="2000" b="0" dirty="0">
              <a:solidFill>
                <a:srgbClr val="000000"/>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85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对角矩阵</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见教材。</a:t>
            </a: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3.4.4 稀疏矩阵的压缩存储</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24931" name="内容占位符 2"/>
          <p:cNvSpPr>
            <a:spLocks noGrp="1"/>
          </p:cNvSpPr>
          <p:nvPr/>
        </p:nvSpPr>
        <p:spPr>
          <a:xfrm>
            <a:off x="533400" y="1295400"/>
            <a:ext cx="10490200" cy="19030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marL="342900" lvl="1" indent="-342900">
              <a:buFontTx/>
              <a:buChar char="•"/>
            </a:pPr>
            <a:r>
              <a:rPr lang="zh-CN" altLang="en-US" dirty="0">
                <a:latin typeface="微软雅黑" panose="020B0503020204020204" pitchFamily="34" charset="-122"/>
                <a:ea typeface="微软雅黑" panose="020B0503020204020204" pitchFamily="34" charset="-122"/>
              </a:rPr>
              <a:t>定义：</a:t>
            </a:r>
            <a:endParaRPr lang="zh-CN" altLang="en-US" dirty="0">
              <a:latin typeface="微软雅黑" panose="020B0503020204020204" pitchFamily="34" charset="-122"/>
              <a:ea typeface="微软雅黑" panose="020B0503020204020204" pitchFamily="34" charset="-122"/>
            </a:endParaRPr>
          </a:p>
          <a:p>
            <a:pPr marL="0" lvl="1" indent="457200">
              <a:lnSpc>
                <a:spcPct val="150000"/>
              </a:lnSpc>
              <a:spcBef>
                <a:spcPts val="0"/>
              </a:spcBef>
              <a:buFontTx/>
              <a:buNone/>
            </a:pPr>
            <a:r>
              <a:rPr lang="zh-CN" altLang="en-US" sz="2000" dirty="0">
                <a:latin typeface="微软雅黑" panose="020B0503020204020204" pitchFamily="34" charset="-122"/>
                <a:ea typeface="微软雅黑" panose="020B0503020204020204" pitchFamily="34" charset="-122"/>
              </a:rPr>
              <a:t>当矩阵中非零元素个数 </a:t>
            </a:r>
            <a:r>
              <a:rPr lang="en-US" altLang="zh-CN" sz="2000" i="1">
                <a:latin typeface="微软雅黑" panose="020B0503020204020204" pitchFamily="34" charset="-122"/>
                <a:ea typeface="微软雅黑" panose="020B0503020204020204" pitchFamily="34" charset="-122"/>
              </a:rPr>
              <a:t>t </a:t>
            </a:r>
            <a:r>
              <a:rPr lang="zh-CN" altLang="en-US" sz="2000" dirty="0">
                <a:latin typeface="微软雅黑" panose="020B0503020204020204" pitchFamily="34" charset="-122"/>
                <a:ea typeface="微软雅黑" panose="020B0503020204020204" pitchFamily="34" charset="-122"/>
              </a:rPr>
              <a:t>远远小于矩阵元素的总数时，称该矩阵为稀疏矩阵。一般来说：</a:t>
            </a:r>
            <a:r>
              <a:rPr lang="zh-CN" altLang="en-US" sz="2000" dirty="0">
                <a:solidFill>
                  <a:srgbClr val="FF0000"/>
                </a:solidFill>
                <a:latin typeface="微软雅黑" panose="020B0503020204020204" pitchFamily="34" charset="-122"/>
                <a:ea typeface="微软雅黑" panose="020B0503020204020204" pitchFamily="34" charset="-122"/>
              </a:rPr>
              <a:t>稀疏因子</a:t>
            </a:r>
            <a:r>
              <a:rPr lang="en-US" altLang="zh-CN" sz="2000" i="1">
                <a:latin typeface="微软雅黑" panose="020B0503020204020204" pitchFamily="34" charset="-122"/>
                <a:ea typeface="微软雅黑" panose="020B0503020204020204" pitchFamily="34" charset="-122"/>
              </a:rPr>
              <a:t>δ</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t</a:t>
            </a:r>
            <a:r>
              <a:rPr lang="en-US" altLang="zh-CN" sz="2000">
                <a:latin typeface="微软雅黑" panose="020B0503020204020204" pitchFamily="34" charset="-122"/>
                <a:ea typeface="微软雅黑" panose="020B0503020204020204" pitchFamily="34" charset="-122"/>
              </a:rPr>
              <a:t>／(</a:t>
            </a:r>
            <a:r>
              <a:rPr lang="en-US" altLang="zh-CN" sz="2000" i="1">
                <a:latin typeface="微软雅黑" panose="020B0503020204020204" pitchFamily="34" charset="-122"/>
                <a:ea typeface="微软雅黑" panose="020B0503020204020204" pitchFamily="34" charset="-122"/>
              </a:rPr>
              <a:t>m×n</a:t>
            </a:r>
            <a:r>
              <a:rPr lang="en-US" altLang="zh-CN" sz="2000">
                <a:latin typeface="微软雅黑" panose="020B0503020204020204" pitchFamily="34" charset="-122"/>
                <a:ea typeface="微软雅黑" panose="020B0503020204020204" pitchFamily="34" charset="-122"/>
              </a:rPr>
              <a:t>)≤0.05</a:t>
            </a:r>
            <a:r>
              <a:rPr lang="zh-CN" altLang="en-US" sz="2000" dirty="0">
                <a:latin typeface="微软雅黑" panose="020B0503020204020204" pitchFamily="34" charset="-122"/>
                <a:ea typeface="微软雅黑" panose="020B0503020204020204" pitchFamily="34" charset="-122"/>
              </a:rPr>
              <a:t>的矩阵称为稀疏矩阵。</a:t>
            </a:r>
            <a:endParaRPr lang="zh-CN" altLang="en-US" sz="2000" dirty="0">
              <a:latin typeface="微软雅黑" panose="020B0503020204020204" pitchFamily="34" charset="-122"/>
              <a:ea typeface="微软雅黑" panose="020B0503020204020204" pitchFamily="34" charset="-122"/>
            </a:endParaRPr>
          </a:p>
        </p:txBody>
      </p:sp>
      <p:pic>
        <p:nvPicPr>
          <p:cNvPr id="124935" name="Picture 9"/>
          <p:cNvPicPr>
            <a:picLocks noChangeAspect="1"/>
          </p:cNvPicPr>
          <p:nvPr/>
        </p:nvPicPr>
        <p:blipFill>
          <a:blip r:embed="rId2"/>
          <a:stretch>
            <a:fillRect/>
          </a:stretch>
        </p:blipFill>
        <p:spPr>
          <a:xfrm>
            <a:off x="1310640" y="2667635"/>
            <a:ext cx="8168640" cy="2905125"/>
          </a:xfrm>
          <a:prstGeom prst="rect">
            <a:avLst/>
          </a:prstGeom>
          <a:noFill/>
          <a:ln w="9525">
            <a:noFill/>
          </a:ln>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3.4.4 稀疏矩阵的压缩存储</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25955" name="内容占位符 2"/>
          <p:cNvSpPr>
            <a:spLocks noGrp="1"/>
          </p:cNvSpPr>
          <p:nvPr/>
        </p:nvSpPr>
        <p:spPr>
          <a:xfrm>
            <a:off x="533400" y="1295400"/>
            <a:ext cx="10006330" cy="42519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pPr>
            <a:r>
              <a:rPr lang="zh-CN" altLang="en-US" dirty="0">
                <a:latin typeface="微软雅黑" panose="020B0503020204020204" pitchFamily="34" charset="-122"/>
                <a:ea typeface="微软雅黑" panose="020B0503020204020204" pitchFamily="34" charset="-122"/>
              </a:rPr>
              <a:t>稀疏矩阵的压缩存储</a:t>
            </a:r>
            <a:endParaRPr lang="zh-CN" altLang="en-US"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000" dirty="0">
                <a:latin typeface="微软雅黑" panose="020B0503020204020204" pitchFamily="34" charset="-122"/>
                <a:ea typeface="微软雅黑" panose="020B0503020204020204" pitchFamily="34" charset="-122"/>
              </a:rPr>
              <a:t>基本思想</a:t>
            </a:r>
            <a:endParaRPr lang="zh-CN" altLang="en-US" sz="2000" dirty="0">
              <a:latin typeface="微软雅黑" panose="020B0503020204020204" pitchFamily="34" charset="-122"/>
              <a:ea typeface="微软雅黑" panose="020B0503020204020204" pitchFamily="34" charset="-122"/>
            </a:endParaRPr>
          </a:p>
          <a:p>
            <a:pPr lvl="2">
              <a:lnSpc>
                <a:spcPct val="150000"/>
              </a:lnSpc>
              <a:spcBef>
                <a:spcPts val="0"/>
              </a:spcBef>
              <a:buNone/>
            </a:pPr>
            <a:r>
              <a:rPr lang="zh-CN" altLang="en-US" sz="20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按照压缩存储的概念，只存储</a:t>
            </a:r>
            <a:r>
              <a:rPr lang="zh-CN" altLang="en-US" sz="1800" b="1" dirty="0">
                <a:solidFill>
                  <a:srgbClr val="FF0000"/>
                </a:solidFill>
                <a:latin typeface="微软雅黑" panose="020B0503020204020204" pitchFamily="34" charset="-122"/>
                <a:ea typeface="微软雅黑" panose="020B0503020204020204" pitchFamily="34" charset="-122"/>
              </a:rPr>
              <a:t>非零元素</a:t>
            </a:r>
            <a:r>
              <a:rPr lang="zh-CN" altLang="en-US" sz="1800" dirty="0">
                <a:latin typeface="微软雅黑" panose="020B0503020204020204" pitchFamily="34" charset="-122"/>
                <a:ea typeface="微软雅黑" panose="020B0503020204020204" pitchFamily="34" charset="-122"/>
              </a:rPr>
              <a:t>。但由于非零元素的分布无规律，在存储非零元素值的同时，还必须存储能确定非零元素</a:t>
            </a:r>
            <a:r>
              <a:rPr lang="zh-CN" altLang="en-US" sz="1800" b="1" dirty="0">
                <a:solidFill>
                  <a:srgbClr val="FF0000"/>
                </a:solidFill>
                <a:latin typeface="微软雅黑" panose="020B0503020204020204" pitchFamily="34" charset="-122"/>
                <a:ea typeface="微软雅黑" panose="020B0503020204020204" pitchFamily="34" charset="-122"/>
              </a:rPr>
              <a:t>位置</a:t>
            </a:r>
            <a:r>
              <a:rPr lang="zh-CN" altLang="en-US" sz="1800" dirty="0">
                <a:latin typeface="微软雅黑" panose="020B0503020204020204" pitchFamily="34" charset="-122"/>
                <a:ea typeface="微软雅黑" panose="020B0503020204020204" pitchFamily="34" charset="-122"/>
              </a:rPr>
              <a:t>的信息。 </a:t>
            </a:r>
            <a:endParaRPr lang="zh-CN" altLang="en-US" sz="2000"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000" dirty="0">
                <a:latin typeface="微软雅黑" panose="020B0503020204020204" pitchFamily="34" charset="-122"/>
                <a:ea typeface="微软雅黑" panose="020B0503020204020204" pitchFamily="34" charset="-122"/>
              </a:rPr>
              <a:t>几种压缩存储方案</a:t>
            </a:r>
            <a:endParaRPr lang="zh-CN" altLang="en-US" sz="2000" dirty="0">
              <a:latin typeface="微软雅黑" panose="020B0503020204020204" pitchFamily="34" charset="-122"/>
              <a:ea typeface="微软雅黑" panose="020B0503020204020204" pitchFamily="34" charset="-122"/>
            </a:endParaRPr>
          </a:p>
          <a:p>
            <a:pPr lvl="2">
              <a:lnSpc>
                <a:spcPct val="150000"/>
              </a:lnSpc>
              <a:spcBef>
                <a:spcPts val="0"/>
              </a:spcBef>
            </a:pPr>
            <a:r>
              <a:rPr lang="zh-CN" altLang="en-US" sz="1800" dirty="0">
                <a:latin typeface="微软雅黑" panose="020B0503020204020204" pitchFamily="34" charset="-122"/>
                <a:ea typeface="微软雅黑" panose="020B0503020204020204" pitchFamily="34" charset="-122"/>
              </a:rPr>
              <a:t>三元组顺序表</a:t>
            </a:r>
            <a:endParaRPr lang="zh-CN" altLang="en-US" sz="1800" dirty="0">
              <a:latin typeface="微软雅黑" panose="020B0503020204020204" pitchFamily="34" charset="-122"/>
              <a:ea typeface="微软雅黑" panose="020B0503020204020204" pitchFamily="34" charset="-122"/>
            </a:endParaRPr>
          </a:p>
          <a:p>
            <a:pPr lvl="2">
              <a:lnSpc>
                <a:spcPct val="150000"/>
              </a:lnSpc>
              <a:spcBef>
                <a:spcPts val="0"/>
              </a:spcBef>
            </a:pPr>
            <a:r>
              <a:rPr lang="zh-CN" altLang="en-US" sz="1800" dirty="0">
                <a:latin typeface="微软雅黑" panose="020B0503020204020204" pitchFamily="34" charset="-122"/>
                <a:ea typeface="微软雅黑" panose="020B0503020204020204" pitchFamily="34" charset="-122"/>
              </a:rPr>
              <a:t>十字链表</a:t>
            </a:r>
            <a:endParaRPr lang="zh-CN" altLang="en-US" sz="1800" dirty="0">
              <a:latin typeface="微软雅黑" panose="020B0503020204020204" pitchFamily="34" charset="-122"/>
              <a:ea typeface="微软雅黑" panose="020B0503020204020204" pitchFamily="34" charset="-122"/>
            </a:endParaRPr>
          </a:p>
          <a:p>
            <a:pPr lvl="2"/>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三元组表存储表示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508000" y="1561465"/>
            <a:ext cx="10232390" cy="384175"/>
          </a:xfrm>
          <a:prstGeom prst="rect">
            <a:avLst/>
          </a:prstGeom>
          <a:noFill/>
          <a:ln w="3175">
            <a:noFill/>
          </a:ln>
        </p:spPr>
        <p:txBody>
          <a:bodyPr wrap="square" lIns="90000" tIns="46800" rIns="90000" bIns="46800" anchor="ctr" anchorCtr="0">
            <a:noAutofit/>
          </a:bodyPr>
          <a:p>
            <a:pPr marL="342900" indent="-342900" algn="l" eaLnBrk="0" fontAlgn="base" hangingPunct="0">
              <a:spcBef>
                <a:spcPct val="20000"/>
              </a:spcBef>
              <a:buChar char="•"/>
            </a:pP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定义：</a:t>
            </a:r>
            <a:endParaRPr lang="zh-CN" altLang="en-US" sz="2400" dirty="0">
              <a:solidFill>
                <a:srgbClr val="000000"/>
              </a:solidFill>
              <a:latin typeface="微软雅黑" panose="020B0503020204020204" pitchFamily="34" charset="-122"/>
              <a:ea typeface="微软雅黑" panose="020B0503020204020204" pitchFamily="34" charset="-122"/>
              <a:cs typeface="+mn-ea"/>
              <a:sym typeface="+mn-ea"/>
            </a:endParaRPr>
          </a:p>
          <a:p>
            <a:pPr indent="457200" algn="l" eaLnBrk="0" fontAlgn="base" hangingPunct="0">
              <a:lnSpc>
                <a:spcPct val="150000"/>
              </a:lnSpc>
              <a:spcBef>
                <a:spcPts val="0"/>
              </a:spcBef>
              <a:buNone/>
            </a:pPr>
            <a:r>
              <a:rPr lang="zh-CN" altLang="en-US" sz="2000" dirty="0">
                <a:solidFill>
                  <a:srgbClr val="000000"/>
                </a:solidFill>
                <a:latin typeface="微软雅黑" panose="020B0503020204020204" pitchFamily="34" charset="-122"/>
                <a:ea typeface="微软雅黑" panose="020B0503020204020204" pitchFamily="34" charset="-122"/>
                <a:cs typeface="+mn-ea"/>
                <a:sym typeface="+mn-ea"/>
              </a:rPr>
              <a:t>三元组表是稀疏矩阵的一种顺序存储结构，它将稀疏矩阵中非零元素的三元组按行优先（或列优先）的顺序存储在一个一维数组中 。</a:t>
            </a:r>
            <a:endParaRPr lang="zh-CN" altLang="en-US" sz="2000" dirty="0">
              <a:solidFill>
                <a:srgbClr val="000000"/>
              </a:solidFill>
              <a:latin typeface="微软雅黑" panose="020B0503020204020204" pitchFamily="34" charset="-122"/>
              <a:ea typeface="微软雅黑" panose="020B0503020204020204" pitchFamily="34" charset="-122"/>
              <a:cs typeface="+mn-ea"/>
              <a:sym typeface="+mn-ea"/>
            </a:endParaRPr>
          </a:p>
          <a:p>
            <a:pPr indent="457200" algn="l" eaLnBrk="0" fontAlgn="base" hangingPunct="0">
              <a:lnSpc>
                <a:spcPct val="150000"/>
              </a:lnSpc>
              <a:spcBef>
                <a:spcPts val="0"/>
              </a:spcBef>
              <a:buNone/>
            </a:pPr>
            <a:r>
              <a:rPr lang="zh-CN" altLang="en-US" sz="2000" dirty="0">
                <a:solidFill>
                  <a:srgbClr val="000000"/>
                </a:solidFill>
                <a:latin typeface="微软雅黑" panose="020B0503020204020204" pitchFamily="34" charset="-122"/>
                <a:ea typeface="微软雅黑" panose="020B0503020204020204" pitchFamily="34" charset="-122"/>
                <a:cs typeface="+mn-ea"/>
                <a:sym typeface="+mn-ea"/>
              </a:rPr>
              <a:t>三元组：非零元的行号</a:t>
            </a:r>
            <a:r>
              <a:rPr lang="en-US" altLang="zh-CN" sz="2000" i="1">
                <a:solidFill>
                  <a:srgbClr val="000000"/>
                </a:solidFill>
                <a:latin typeface="微软雅黑" panose="020B0503020204020204" pitchFamily="34" charset="-122"/>
                <a:ea typeface="微软雅黑" panose="020B0503020204020204" pitchFamily="34" charset="-122"/>
                <a:cs typeface="+mn-ea"/>
                <a:sym typeface="+mn-ea"/>
              </a:rPr>
              <a:t>row</a:t>
            </a:r>
            <a:r>
              <a:rPr lang="en-US" altLang="zh-CN" sz="2000">
                <a:solidFill>
                  <a:srgbClr val="000000"/>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000000"/>
                </a:solidFill>
                <a:latin typeface="微软雅黑" panose="020B0503020204020204" pitchFamily="34" charset="-122"/>
                <a:ea typeface="微软雅黑" panose="020B0503020204020204" pitchFamily="34" charset="-122"/>
                <a:cs typeface="+mn-ea"/>
                <a:sym typeface="+mn-ea"/>
              </a:rPr>
              <a:t>列号</a:t>
            </a:r>
            <a:r>
              <a:rPr lang="en-US" altLang="zh-CN" sz="2000" i="1" err="1">
                <a:solidFill>
                  <a:srgbClr val="000000"/>
                </a:solidFill>
                <a:latin typeface="微软雅黑" panose="020B0503020204020204" pitchFamily="34" charset="-122"/>
                <a:ea typeface="微软雅黑" panose="020B0503020204020204" pitchFamily="34" charset="-122"/>
                <a:cs typeface="+mn-ea"/>
                <a:sym typeface="+mn-ea"/>
              </a:rPr>
              <a:t>col</a:t>
            </a:r>
            <a:r>
              <a:rPr lang="zh-CN" altLang="en-US" sz="2000" dirty="0">
                <a:solidFill>
                  <a:srgbClr val="000000"/>
                </a:solidFill>
                <a:latin typeface="微软雅黑" panose="020B0503020204020204" pitchFamily="34" charset="-122"/>
                <a:ea typeface="微软雅黑" panose="020B0503020204020204" pitchFamily="34" charset="-122"/>
                <a:cs typeface="+mn-ea"/>
                <a:sym typeface="+mn-ea"/>
              </a:rPr>
              <a:t>、值</a:t>
            </a:r>
            <a:r>
              <a:rPr lang="en-US" altLang="zh-CN" sz="2000" i="1" err="1">
                <a:solidFill>
                  <a:srgbClr val="000000"/>
                </a:solidFill>
                <a:latin typeface="微软雅黑" panose="020B0503020204020204" pitchFamily="34" charset="-122"/>
                <a:ea typeface="微软雅黑" panose="020B0503020204020204" pitchFamily="34" charset="-122"/>
                <a:cs typeface="+mn-ea"/>
                <a:sym typeface="+mn-ea"/>
              </a:rPr>
              <a:t>val</a:t>
            </a:r>
            <a:r>
              <a:rPr lang="zh-CN" altLang="en-US" sz="2000" dirty="0">
                <a:solidFill>
                  <a:srgbClr val="000000"/>
                </a:solidFill>
                <a:latin typeface="微软雅黑" panose="020B0503020204020204" pitchFamily="34" charset="-122"/>
                <a:ea typeface="微软雅黑" panose="020B0503020204020204" pitchFamily="34" charset="-122"/>
                <a:cs typeface="+mn-ea"/>
                <a:sym typeface="+mn-ea"/>
              </a:rPr>
              <a:t>构成一个三元组（</a:t>
            </a:r>
            <a:r>
              <a:rPr lang="en-US" altLang="zh-CN" sz="2000" i="1" err="1">
                <a:solidFill>
                  <a:srgbClr val="000000"/>
                </a:solidFill>
                <a:latin typeface="微软雅黑" panose="020B0503020204020204" pitchFamily="34" charset="-122"/>
                <a:ea typeface="微软雅黑" panose="020B0503020204020204" pitchFamily="34" charset="-122"/>
                <a:cs typeface="+mn-ea"/>
                <a:sym typeface="+mn-ea"/>
              </a:rPr>
              <a:t>row</a:t>
            </a:r>
            <a:r>
              <a:rPr lang="en-US" altLang="zh-CN" sz="2000" err="1">
                <a:solidFill>
                  <a:srgbClr val="000000"/>
                </a:solidFill>
                <a:latin typeface="微软雅黑" panose="020B0503020204020204" pitchFamily="34" charset="-122"/>
                <a:ea typeface="微软雅黑" panose="020B0503020204020204" pitchFamily="34" charset="-122"/>
                <a:cs typeface="+mn-ea"/>
                <a:sym typeface="+mn-ea"/>
              </a:rPr>
              <a:t>,</a:t>
            </a:r>
            <a:r>
              <a:rPr lang="en-US" altLang="zh-CN" sz="2000" i="1" err="1">
                <a:solidFill>
                  <a:srgbClr val="000000"/>
                </a:solidFill>
                <a:latin typeface="微软雅黑" panose="020B0503020204020204" pitchFamily="34" charset="-122"/>
                <a:ea typeface="微软雅黑" panose="020B0503020204020204" pitchFamily="34" charset="-122"/>
                <a:cs typeface="+mn-ea"/>
                <a:sym typeface="+mn-ea"/>
              </a:rPr>
              <a:t>col</a:t>
            </a:r>
            <a:r>
              <a:rPr lang="en-US" altLang="zh-CN" sz="2000" err="1">
                <a:solidFill>
                  <a:srgbClr val="000000"/>
                </a:solidFill>
                <a:latin typeface="微软雅黑" panose="020B0503020204020204" pitchFamily="34" charset="-122"/>
                <a:ea typeface="微软雅黑" panose="020B0503020204020204" pitchFamily="34" charset="-122"/>
                <a:cs typeface="+mn-ea"/>
                <a:sym typeface="+mn-ea"/>
              </a:rPr>
              <a:t>,</a:t>
            </a:r>
            <a:r>
              <a:rPr lang="en-US" altLang="zh-CN" sz="2000" i="1" err="1">
                <a:solidFill>
                  <a:srgbClr val="000000"/>
                </a:solidFill>
                <a:latin typeface="微软雅黑" panose="020B0503020204020204" pitchFamily="34" charset="-122"/>
                <a:ea typeface="微软雅黑" panose="020B0503020204020204" pitchFamily="34" charset="-122"/>
                <a:cs typeface="+mn-ea"/>
                <a:sym typeface="+mn-ea"/>
              </a:rPr>
              <a:t>val</a:t>
            </a:r>
            <a:r>
              <a:rPr lang="en-US" altLang="zh-CN" sz="2000">
                <a:solidFill>
                  <a:srgbClr val="000000"/>
                </a:solidFill>
                <a:latin typeface="微软雅黑" panose="020B0503020204020204" pitchFamily="34" charset="-122"/>
                <a:ea typeface="微软雅黑" panose="020B0503020204020204" pitchFamily="34" charset="-122"/>
                <a:cs typeface="+mn-ea"/>
                <a:sym typeface="+mn-ea"/>
              </a:rPr>
              <a:t>）。</a:t>
            </a:r>
            <a:endParaRPr lang="en-US" altLang="zh-CN" sz="2000" dirty="0">
              <a:solidFill>
                <a:srgbClr val="000000"/>
              </a:solidFill>
              <a:latin typeface="微软雅黑" panose="020B0503020204020204" pitchFamily="34" charset="-122"/>
              <a:ea typeface="微软雅黑" panose="020B0503020204020204" pitchFamily="34" charset="-122"/>
              <a:cs typeface="+mn-ea"/>
              <a:sym typeface="+mn-ea"/>
            </a:endParaRPr>
          </a:p>
        </p:txBody>
      </p:sp>
      <p:sp>
        <p:nvSpPr>
          <p:cNvPr id="126983" name="Rectangle 4"/>
          <p:cNvSpPr/>
          <p:nvPr/>
        </p:nvSpPr>
        <p:spPr>
          <a:xfrm>
            <a:off x="-636270" y="1236980"/>
            <a:ext cx="9144000" cy="0"/>
          </a:xfrm>
          <a:prstGeom prst="rect">
            <a:avLst/>
          </a:prstGeom>
          <a:noFill/>
          <a:ln w="9525">
            <a:noFill/>
          </a:ln>
        </p:spPr>
        <p:txBody>
          <a:bodyPr wrap="none" anchor="ctr" anchorCtr="0">
            <a:spAutoFit/>
          </a:bodyPr>
          <a:p>
            <a:endParaRPr lang="zh-CN" altLang="en-US" dirty="0">
              <a:latin typeface="微软雅黑" panose="020B0503020204020204" pitchFamily="34" charset="-122"/>
            </a:endParaRPr>
          </a:p>
        </p:txBody>
      </p:sp>
      <p:grpSp>
        <p:nvGrpSpPr>
          <p:cNvPr id="13" name="组合 12"/>
          <p:cNvGrpSpPr/>
          <p:nvPr/>
        </p:nvGrpSpPr>
        <p:grpSpPr>
          <a:xfrm>
            <a:off x="3554730" y="2794635"/>
            <a:ext cx="4953000" cy="3102610"/>
            <a:chOff x="3600" y="5673"/>
            <a:chExt cx="7800" cy="4886"/>
          </a:xfrm>
        </p:grpSpPr>
        <p:sp>
          <p:nvSpPr>
            <p:cNvPr id="14" name="AutoShape 13"/>
            <p:cNvSpPr/>
            <p:nvPr/>
          </p:nvSpPr>
          <p:spPr>
            <a:xfrm>
              <a:off x="6360" y="7200"/>
              <a:ext cx="1560" cy="600"/>
            </a:xfrm>
            <a:prstGeom prst="leftRightArrow">
              <a:avLst>
                <a:gd name="adj1" fmla="val 50000"/>
                <a:gd name="adj2" fmla="val 52000"/>
              </a:avLst>
            </a:prstGeom>
            <a:solidFill>
              <a:srgbClr val="5CB1FE"/>
            </a:solidFill>
            <a:ln w="9525" cap="flat" cmpd="sng">
              <a:solidFill>
                <a:srgbClr val="000000"/>
              </a:solidFill>
              <a:prstDash val="solid"/>
              <a:miter/>
              <a:headEnd type="none" w="med" len="med"/>
              <a:tailEnd type="none" w="med" len="med"/>
            </a:ln>
          </p:spPr>
          <p:txBody>
            <a:bodyPr wrap="none" anchor="ctr" anchorCtr="0"/>
            <a:p>
              <a:endParaRPr lang="zh-CN" altLang="en-US" dirty="0">
                <a:latin typeface="微软雅黑" panose="020B0503020204020204" pitchFamily="34" charset="-122"/>
              </a:endParaRPr>
            </a:p>
          </p:txBody>
        </p:sp>
        <p:grpSp>
          <p:nvGrpSpPr>
            <p:cNvPr id="15" name="组合 14"/>
            <p:cNvGrpSpPr/>
            <p:nvPr/>
          </p:nvGrpSpPr>
          <p:grpSpPr>
            <a:xfrm>
              <a:off x="3600" y="5673"/>
              <a:ext cx="7800" cy="4887"/>
              <a:chOff x="3600" y="5673"/>
              <a:chExt cx="7800" cy="4887"/>
            </a:xfrm>
          </p:grpSpPr>
          <p:pic>
            <p:nvPicPr>
              <p:cNvPr id="16" name="Picture 12"/>
              <p:cNvPicPr>
                <a:picLocks noChangeAspect="1"/>
              </p:cNvPicPr>
              <p:nvPr/>
            </p:nvPicPr>
            <p:blipFill>
              <a:blip r:embed="rId2"/>
              <a:stretch>
                <a:fillRect/>
              </a:stretch>
            </p:blipFill>
            <p:spPr>
              <a:xfrm>
                <a:off x="6960" y="5673"/>
                <a:ext cx="4440" cy="3835"/>
              </a:xfrm>
              <a:prstGeom prst="rect">
                <a:avLst/>
              </a:prstGeom>
              <a:noFill/>
              <a:ln w="9525">
                <a:noFill/>
              </a:ln>
            </p:spPr>
          </p:pic>
          <p:sp>
            <p:nvSpPr>
              <p:cNvPr id="17" name="内容占位符 2"/>
              <p:cNvSpPr/>
              <p:nvPr/>
            </p:nvSpPr>
            <p:spPr>
              <a:xfrm>
                <a:off x="3600" y="9600"/>
                <a:ext cx="6960" cy="960"/>
              </a:xfrm>
              <a:prstGeom prst="rect">
                <a:avLst/>
              </a:prstGeom>
              <a:noFill/>
              <a:ln w="9525">
                <a:noFill/>
              </a:ln>
            </p:spPr>
            <p:txBody>
              <a:bodyPr/>
              <a:p>
                <a:pPr marL="342900" indent="-342900" eaLnBrk="0" hangingPunct="0">
                  <a:spcBef>
                    <a:spcPct val="20000"/>
                  </a:spcBef>
                </a:pPr>
                <a:r>
                  <a:rPr lang="zh-CN" altLang="en-US" sz="2000" b="0" dirty="0">
                    <a:solidFill>
                      <a:srgbClr val="000000"/>
                    </a:solidFill>
                    <a:latin typeface="微软雅黑" panose="020B0503020204020204" pitchFamily="34" charset="-122"/>
                  </a:rPr>
                  <a:t>矩阵</a:t>
                </a:r>
                <a:r>
                  <a:rPr lang="en-US" altLang="zh-CN" sz="2000" b="0" i="1">
                    <a:solidFill>
                      <a:srgbClr val="000000"/>
                    </a:solidFill>
                    <a:latin typeface="微软雅黑" panose="020B0503020204020204" pitchFamily="34" charset="-122"/>
                  </a:rPr>
                  <a:t>A</a:t>
                </a:r>
                <a:r>
                  <a:rPr lang="zh-CN" altLang="en-US" sz="2000" b="0" dirty="0">
                    <a:solidFill>
                      <a:srgbClr val="000000"/>
                    </a:solidFill>
                    <a:latin typeface="微软雅黑" panose="020B0503020204020204" pitchFamily="34" charset="-122"/>
                  </a:rPr>
                  <a:t>的</a:t>
                </a:r>
                <a:r>
                  <a:rPr lang="zh-CN" altLang="en-US" sz="2000" dirty="0">
                    <a:solidFill>
                      <a:srgbClr val="FF0000"/>
                    </a:solidFill>
                    <a:latin typeface="微软雅黑" panose="020B0503020204020204" pitchFamily="34" charset="-122"/>
                  </a:rPr>
                  <a:t>行优先</a:t>
                </a:r>
                <a:r>
                  <a:rPr lang="zh-CN" altLang="en-US" sz="2000" b="0" dirty="0">
                    <a:solidFill>
                      <a:srgbClr val="000000"/>
                    </a:solidFill>
                    <a:latin typeface="微软雅黑" panose="020B0503020204020204" pitchFamily="34" charset="-122"/>
                  </a:rPr>
                  <a:t>三元组表</a:t>
                </a:r>
                <a:endParaRPr lang="zh-CN" altLang="en-US" sz="2000" b="0" dirty="0">
                  <a:solidFill>
                    <a:srgbClr val="000000"/>
                  </a:solidFill>
                  <a:latin typeface="微软雅黑" panose="020B0503020204020204" pitchFamily="34" charset="-122"/>
                </a:endParaRPr>
              </a:p>
            </p:txBody>
          </p:sp>
        </p:grpSp>
      </p:grpSp>
      <p:pic>
        <p:nvPicPr>
          <p:cNvPr id="18" name="Picture 10"/>
          <p:cNvPicPr>
            <a:picLocks noChangeAspect="1"/>
          </p:cNvPicPr>
          <p:nvPr/>
        </p:nvPicPr>
        <p:blipFill>
          <a:blip r:embed="rId3"/>
          <a:stretch>
            <a:fillRect/>
          </a:stretch>
        </p:blipFill>
        <p:spPr>
          <a:xfrm>
            <a:off x="2106930" y="2689225"/>
            <a:ext cx="3200400" cy="2635250"/>
          </a:xfrm>
          <a:prstGeom prst="rect">
            <a:avLst/>
          </a:prstGeom>
          <a:noFill/>
          <a:ln w="9525">
            <a:noFill/>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三元组表类定义</a:t>
            </a:r>
            <a:endParaRPr lang="zh-CN" altLang="en-US" sz="3600" i="1" dirty="0"/>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125966" name="Group 14"/>
          <p:cNvGraphicFramePr>
            <a:graphicFrameLocks noGrp="1"/>
          </p:cNvGraphicFramePr>
          <p:nvPr/>
        </p:nvGraphicFramePr>
        <p:xfrm>
          <a:off x="1784985" y="941070"/>
          <a:ext cx="8153400" cy="5426075"/>
        </p:xfrm>
        <a:graphic>
          <a:graphicData uri="http://schemas.openxmlformats.org/drawingml/2006/table">
            <a:tbl>
              <a:tblPr>
                <a:effectLst/>
                <a:tableStyleId>{5940675A-B579-460E-94D1-54222C63F5DA}</a:tableStyleId>
              </a:tblPr>
              <a:tblGrid>
                <a:gridCol w="8153400"/>
              </a:tblGrid>
              <a:tr h="5426075">
                <a:tc>
                  <a:txBody>
                    <a:bodyPr/>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template &lt;class ElemType&gt;</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三元组</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struct Trituple</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int row, col;       //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非零元素的行号、列号</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ElemType val;       //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非零元素的值</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稀疏矩阵类声明</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class SparseMatrix</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public: </a:t>
                      </a:r>
                      <a:endPar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SparseMatrix(int maxt = 100);	                         //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构造函数</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~SparseMatrix();	                         //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析构函数</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bool TransposeTo(SparseMatrix &amp;);	         // </a:t>
                      </a: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转置</a:t>
                      </a:r>
                      <a:endPar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6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三元组表类定义</a:t>
            </a:r>
            <a:endParaRPr lang="zh-CN" altLang="en-US" sz="3600" i="1" dirty="0"/>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288780" name="Group 12"/>
          <p:cNvGraphicFramePr>
            <a:graphicFrameLocks noGrp="1"/>
          </p:cNvGraphicFramePr>
          <p:nvPr/>
        </p:nvGraphicFramePr>
        <p:xfrm>
          <a:off x="1931035" y="1081405"/>
          <a:ext cx="8153400" cy="5181600"/>
        </p:xfrm>
        <a:graphic>
          <a:graphicData uri="http://schemas.openxmlformats.org/drawingml/2006/table">
            <a:tbl>
              <a:tblPr/>
              <a:tblGrid>
                <a:gridCol w="8153400"/>
              </a:tblGrid>
              <a:tr h="5181600">
                <a:tc>
                  <a:txBody>
                    <a:bodyPr/>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   </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bool TransposeTo_Faster(SparseMatrix &amp;);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快速转置</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void AddTo(const SparseMatrix &amp;);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加运算</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bool Input();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输入稀疏矩阵</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void Output();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输出稀疏矩阵</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private:</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Trituple *data;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存储非零元素三元组的数组</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int rows, cols, terms;</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矩阵的行数、列数、非零元素个数</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 maxterms;	// </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数组</a:t>
                      </a: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data</a:t>
                      </a:r>
                      <a:r>
                        <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的大小</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l" defTabSz="914400" rtl="0" eaLnBrk="0" fontAlgn="base" latinLnBrk="0" hangingPunct="0">
                        <a:lnSpc>
                          <a:spcPct val="100000"/>
                        </a:lnSpc>
                        <a:spcBef>
                          <a:spcPct val="20000"/>
                        </a:spcBef>
                        <a:spcAft>
                          <a:spcPct val="0"/>
                        </a:spcAft>
                        <a:buClrTx/>
                        <a:buSzTx/>
                        <a:buFontTx/>
                        <a:buNone/>
                        <a:tabLst>
                          <a:tab pos="3581400" algn="l"/>
                        </a:tabLst>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20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30051" name="内容占位符 2"/>
          <p:cNvSpPr>
            <a:spLocks noGrp="1"/>
          </p:cNvSpPr>
          <p:nvPr/>
        </p:nvSpPr>
        <p:spPr>
          <a:xfrm>
            <a:off x="381000" y="1295400"/>
            <a:ext cx="8610600" cy="42672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buNone/>
            </a:pPr>
            <a:r>
              <a:rPr lang="zh-CN" altLang="en-US" sz="2000" dirty="0">
                <a:latin typeface="微软雅黑" panose="020B0503020204020204" pitchFamily="34" charset="-122"/>
                <a:ea typeface="微软雅黑" panose="020B0503020204020204" pitchFamily="34" charset="-122"/>
              </a:rPr>
              <a:t>稀疏矩阵的转置操作，如：</a:t>
            </a:r>
            <a:endParaRPr lang="zh-CN" altLang="en-US" sz="2000" dirty="0">
              <a:latin typeface="微软雅黑" panose="020B0503020204020204" pitchFamily="34" charset="-122"/>
              <a:ea typeface="微软雅黑" panose="020B0503020204020204" pitchFamily="34" charset="-122"/>
            </a:endParaRPr>
          </a:p>
        </p:txBody>
      </p:sp>
      <p:pic>
        <p:nvPicPr>
          <p:cNvPr id="130054" name="Picture 9"/>
          <p:cNvPicPr>
            <a:picLocks noChangeAspect="1"/>
          </p:cNvPicPr>
          <p:nvPr/>
        </p:nvPicPr>
        <p:blipFill>
          <a:blip r:embed="rId2"/>
          <a:stretch>
            <a:fillRect/>
          </a:stretch>
        </p:blipFill>
        <p:spPr>
          <a:xfrm>
            <a:off x="2362200" y="2068830"/>
            <a:ext cx="6629400" cy="2357438"/>
          </a:xfrm>
          <a:prstGeom prst="rect">
            <a:avLst/>
          </a:prstGeom>
          <a:noFill/>
          <a:ln w="9525">
            <a:noFill/>
          </a:ln>
        </p:spPr>
      </p:pic>
      <p:sp>
        <p:nvSpPr>
          <p:cNvPr id="9" name="TextBox 6"/>
          <p:cNvSpPr txBox="1"/>
          <p:nvPr/>
        </p:nvSpPr>
        <p:spPr>
          <a:xfrm>
            <a:off x="2851785" y="4952365"/>
            <a:ext cx="6019800" cy="398780"/>
          </a:xfrm>
          <a:prstGeom prst="rect">
            <a:avLst/>
          </a:prstGeom>
          <a:noFill/>
        </p:spPr>
        <p:txBody>
          <a:bodyPr>
            <a:spAutoFit/>
          </a:bodyPr>
          <a:p>
            <a:pPr marR="0" defTabSz="914400">
              <a:buClrTx/>
              <a:buSzTx/>
              <a:buFontTx/>
              <a:buNone/>
              <a:defRPr/>
            </a:pP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的转置矩阵为</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B, B</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的转置矩阵为</a:t>
            </a:r>
            <a:r>
              <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endParaRPr kumimoji="0" lang="en-US" altLang="zh-CN" sz="2000" b="0" i="1"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2" name="Rectangle 96"/>
          <p:cNvSpPr txBox="1">
            <a:spLocks noChangeArrowheads="1"/>
          </p:cNvSpPr>
          <p:nvPr/>
        </p:nvSpPr>
        <p:spPr bwMode="gray">
          <a:xfrm>
            <a:off x="393065" y="1243965"/>
            <a:ext cx="8534400" cy="5410200"/>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en-US" altLang="zh-CN"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和</a:t>
            </a:r>
            <a:r>
              <a:rPr kumimoji="0" lang="en-US" altLang="zh-CN"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B</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对应的三元组如下：</a:t>
            </a:r>
            <a:endPar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aphicFrame>
        <p:nvGraphicFramePr>
          <p:cNvPr id="13" name="Group 4"/>
          <p:cNvGraphicFramePr>
            <a:graphicFrameLocks noGrp="1"/>
          </p:cNvGraphicFramePr>
          <p:nvPr>
            <p:custDataLst>
              <p:tags r:id="rId2"/>
            </p:custDataLst>
          </p:nvPr>
        </p:nvGraphicFramePr>
        <p:xfrm>
          <a:off x="3712210" y="1249680"/>
          <a:ext cx="1702435" cy="4785360"/>
        </p:xfrm>
        <a:graphic>
          <a:graphicData uri="http://schemas.openxmlformats.org/drawingml/2006/table">
            <a:tbl>
              <a:tblPr>
                <a:effectLst/>
                <a:tableStyleId>{5940675A-B579-460E-94D1-54222C63F5DA}</a:tableStyleId>
              </a:tblPr>
              <a:tblGrid>
                <a:gridCol w="567055"/>
                <a:gridCol w="504825"/>
                <a:gridCol w="630555"/>
              </a:tblGrid>
              <a:tr h="88392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rPr>
                        <a:t>row</a:t>
                      </a:r>
                      <a:endPar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w="381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rPr>
                        <a:t>col</a:t>
                      </a:r>
                      <a:endPar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w="381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rPr>
                        <a:t>val</a:t>
                      </a:r>
                      <a:endPar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w="38100" cap="flat" cmpd="sng" algn="ctr">
                      <a:solidFill>
                        <a:srgbClr val="000000"/>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w="381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w="381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w="38100" cap="flat" cmpd="sng" algn="ctr">
                      <a:solidFill>
                        <a:srgbClr val="000000"/>
                      </a:solidFill>
                      <a:prstDash val="solid"/>
                      <a:round/>
                      <a:headEnd type="none" w="med" len="med"/>
                      <a:tailEnd type="none" w="med" len="med"/>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7</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4</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3</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3</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7</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9</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6</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6</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-4</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bl>
          </a:graphicData>
        </a:graphic>
      </p:graphicFrame>
      <p:graphicFrame>
        <p:nvGraphicFramePr>
          <p:cNvPr id="16" name="Group 94"/>
          <p:cNvGraphicFramePr>
            <a:graphicFrameLocks noGrp="1"/>
          </p:cNvGraphicFramePr>
          <p:nvPr>
            <p:custDataLst>
              <p:tags r:id="rId3"/>
            </p:custDataLst>
          </p:nvPr>
        </p:nvGraphicFramePr>
        <p:xfrm>
          <a:off x="7287260" y="1289685"/>
          <a:ext cx="2217420" cy="4665345"/>
        </p:xfrm>
        <a:graphic>
          <a:graphicData uri="http://schemas.openxmlformats.org/drawingml/2006/table">
            <a:tbl>
              <a:tblPr>
                <a:effectLst/>
                <a:tableStyleId>{5940675A-B579-460E-94D1-54222C63F5DA}</a:tableStyleId>
              </a:tblPr>
              <a:tblGrid>
                <a:gridCol w="739140"/>
                <a:gridCol w="675005"/>
                <a:gridCol w="803275"/>
              </a:tblGrid>
              <a:tr h="763905">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rPr>
                        <a:t>row</a:t>
                      </a:r>
                      <a:endPar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w="381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rPr>
                        <a:t>col</a:t>
                      </a:r>
                      <a:endPar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w="381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rPr>
                        <a:t>val</a:t>
                      </a:r>
                      <a:endParaRPr kumimoji="1" lang="en-US" altLang="zh-CN" sz="2000" b="1" i="1" u="none" strike="noStrike" cap="none" normalizeH="0" baseline="0" smtClean="0">
                        <a:ln>
                          <a:noFill/>
                        </a:ln>
                        <a:solidFill>
                          <a:srgbClr val="00206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w="38100" cap="flat" cmpd="sng" algn="ctr">
                      <a:solidFill>
                        <a:srgbClr val="000000"/>
                      </a:solidFill>
                      <a:prstDash val="solid"/>
                      <a:round/>
                      <a:headEnd type="none" w="med" len="med"/>
                      <a:tailEnd type="none" w="med" len="med"/>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w="381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3</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w="38100" cap="flat" cmpd="sng" algn="ctr">
                      <a:solidFill>
                        <a:srgbClr val="000000"/>
                      </a:solidFill>
                      <a:prstDash val="solid"/>
                      <a:round/>
                      <a:headEnd type="none" w="med" len="med"/>
                      <a:tailEnd type="none" w="med" len="med"/>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w="38100" cap="flat" cmpd="sng" algn="ctr">
                      <a:solidFill>
                        <a:srgbClr val="000000"/>
                      </a:solidFill>
                      <a:prstDash val="solid"/>
                      <a:round/>
                      <a:headEnd type="none" w="med" len="med"/>
                      <a:tailEnd type="none" w="med" len="med"/>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6</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4</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3</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7</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6</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-4</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r h="48768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7</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rPr>
                        <a:t>9</a:t>
                      </a:r>
                      <a:endParaRPr kumimoji="1" lang="zh-CN" altLang="en-US" sz="2000" b="1" i="1" u="none" strike="noStrike" cap="none" normalizeH="0" baseline="0" smtClean="0">
                        <a:ln>
                          <a:noFill/>
                        </a:ln>
                        <a:solidFill>
                          <a:srgbClr val="C00000"/>
                        </a:solidFill>
                        <a:effectLst/>
                        <a:latin typeface="微软雅黑" panose="020B0503020204020204" pitchFamily="34" charset="-122"/>
                        <a:ea typeface="微软雅黑" panose="020B0503020204020204" pitchFamily="34" charset="-122"/>
                      </a:endParaRPr>
                    </a:p>
                  </a:txBody>
                  <a:tcPr marT="45727" marB="45727" horzOverflow="overflow">
                    <a:lnL>
                      <a:noFill/>
                    </a:lnL>
                    <a:lnR>
                      <a:noFill/>
                    </a:lnR>
                    <a:lnT>
                      <a:noFill/>
                    </a:lnT>
                    <a:lnB>
                      <a:noFill/>
                    </a:lnB>
                    <a:lnTlToBr>
                      <a:noFill/>
                    </a:lnTlToBr>
                    <a:lnBlToTr>
                      <a:noFill/>
                    </a:lnBlToTr>
                    <a:noFill/>
                  </a:tcPr>
                </a:tc>
              </a:tr>
            </a:tbl>
          </a:graphicData>
        </a:graphic>
      </p:graphicFrame>
      <p:sp>
        <p:nvSpPr>
          <p:cNvPr id="17" name="Text Box 90"/>
          <p:cNvSpPr txBox="1"/>
          <p:nvPr/>
        </p:nvSpPr>
        <p:spPr>
          <a:xfrm>
            <a:off x="6502718" y="3062288"/>
            <a:ext cx="1371600" cy="366712"/>
          </a:xfrm>
          <a:prstGeom prst="rect">
            <a:avLst/>
          </a:prstGeom>
          <a:noFill/>
          <a:ln w="9525">
            <a:noFill/>
          </a:ln>
        </p:spPr>
        <p:txBody>
          <a:bodyPr>
            <a:spAutoFit/>
          </a:bodyPr>
          <a:p>
            <a:pPr>
              <a:spcBef>
                <a:spcPct val="50000"/>
              </a:spcBef>
            </a:pPr>
            <a:r>
              <a:rPr lang="en-US" altLang="zh-CN" i="1" err="1">
                <a:solidFill>
                  <a:schemeClr val="tx1"/>
                </a:solidFill>
                <a:latin typeface="微软雅黑" panose="020B0503020204020204" pitchFamily="34" charset="-122"/>
              </a:rPr>
              <a:t>B.data</a:t>
            </a:r>
            <a:endParaRPr lang="en-US" altLang="zh-CN" i="1">
              <a:solidFill>
                <a:schemeClr val="tx1"/>
              </a:solidFill>
              <a:latin typeface="微软雅黑" panose="020B0503020204020204" pitchFamily="34" charset="-122"/>
            </a:endParaRPr>
          </a:p>
        </p:txBody>
      </p:sp>
      <p:sp>
        <p:nvSpPr>
          <p:cNvPr id="14" name="Text Box 46"/>
          <p:cNvSpPr txBox="1"/>
          <p:nvPr/>
        </p:nvSpPr>
        <p:spPr>
          <a:xfrm>
            <a:off x="1228090" y="3160395"/>
            <a:ext cx="1371600" cy="396875"/>
          </a:xfrm>
          <a:prstGeom prst="rect">
            <a:avLst/>
          </a:prstGeom>
          <a:noFill/>
          <a:ln w="9525">
            <a:noFill/>
          </a:ln>
        </p:spPr>
        <p:txBody>
          <a:bodyPr>
            <a:spAutoFit/>
          </a:bodyPr>
          <a:p>
            <a:pPr>
              <a:spcBef>
                <a:spcPct val="50000"/>
              </a:spcBef>
            </a:pPr>
            <a:r>
              <a:rPr lang="en-US" altLang="zh-CN" sz="2000" i="1" err="1">
                <a:solidFill>
                  <a:srgbClr val="000000"/>
                </a:solidFill>
                <a:latin typeface="微软雅黑" panose="020B0503020204020204" pitchFamily="34" charset="-122"/>
              </a:rPr>
              <a:t>A.data</a:t>
            </a:r>
            <a:endParaRPr lang="en-US" altLang="zh-CN" sz="2000" i="1">
              <a:solidFill>
                <a:srgbClr val="000000"/>
              </a:solidFill>
              <a:latin typeface="微软雅黑" panose="020B0503020204020204" pitchFamily="34" charset="-122"/>
            </a:endParaRPr>
          </a:p>
        </p:txBody>
      </p:sp>
      <p:sp>
        <p:nvSpPr>
          <p:cNvPr id="9" name="文本框 8"/>
          <p:cNvSpPr txBox="1"/>
          <p:nvPr/>
        </p:nvSpPr>
        <p:spPr>
          <a:xfrm>
            <a:off x="6096000" y="5955030"/>
            <a:ext cx="4977130" cy="398780"/>
          </a:xfrm>
          <a:prstGeom prst="rect">
            <a:avLst/>
          </a:prstGeom>
          <a:noFill/>
          <a:ln>
            <a:noFill/>
          </a:ln>
        </p:spPr>
        <p:txBody>
          <a:bodyPr wrap="square" rtlCol="0" anchor="t">
            <a:spAutoFit/>
          </a:bodyPr>
          <a:p>
            <a:pPr>
              <a:spcBef>
                <a:spcPct val="50000"/>
              </a:spcBef>
            </a:pPr>
            <a:r>
              <a:rPr lang="en-US" altLang="zh-CN" sz="2000" i="1">
                <a:latin typeface="微软雅黑" panose="020B0503020204020204" pitchFamily="34" charset="-122"/>
                <a:sym typeface="+mn-ea"/>
              </a:rPr>
              <a:t>B.rows＝7，B.cols＝6， B.terms＝8</a:t>
            </a:r>
            <a:endParaRPr lang="en-US" altLang="zh-CN" sz="2000" i="1"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15" name="Text Box 47"/>
          <p:cNvSpPr txBox="1"/>
          <p:nvPr/>
        </p:nvSpPr>
        <p:spPr>
          <a:xfrm>
            <a:off x="1228090" y="5956300"/>
            <a:ext cx="4455795" cy="534670"/>
          </a:xfrm>
          <a:prstGeom prst="rect">
            <a:avLst/>
          </a:prstGeom>
          <a:noFill/>
          <a:ln w="9525">
            <a:noFill/>
          </a:ln>
        </p:spPr>
        <p:txBody>
          <a:bodyPr wrap="square">
            <a:noAutofit/>
          </a:bodyPr>
          <a:p>
            <a:pPr>
              <a:spcBef>
                <a:spcPct val="50000"/>
              </a:spcBef>
            </a:pPr>
            <a:r>
              <a:rPr lang="en-US" altLang="zh-CN" sz="2000" i="1">
                <a:solidFill>
                  <a:srgbClr val="000000"/>
                </a:solidFill>
                <a:latin typeface="微软雅黑" panose="020B0503020204020204" pitchFamily="34" charset="-122"/>
              </a:rPr>
              <a:t>A.rows＝6，A.cols＝7， A.terms＝8</a:t>
            </a:r>
            <a:endParaRPr lang="en-US" altLang="zh-CN" sz="2000" i="1">
              <a:solidFill>
                <a:srgbClr val="000000"/>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out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4" grpId="0"/>
      <p:bldP spid="1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32099" name="内容占位符 2"/>
          <p:cNvSpPr>
            <a:spLocks noGrp="1"/>
          </p:cNvSpPr>
          <p:nvPr/>
        </p:nvSpPr>
        <p:spPr>
          <a:xfrm>
            <a:off x="553720" y="1235075"/>
            <a:ext cx="10952480" cy="389509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buNone/>
            </a:pPr>
            <a:r>
              <a:rPr lang="zh-CN" altLang="en-US" dirty="0">
                <a:latin typeface="微软雅黑" panose="020B0503020204020204" pitchFamily="34" charset="-122"/>
                <a:ea typeface="微软雅黑" panose="020B0503020204020204" pitchFamily="34" charset="-122"/>
              </a:rPr>
              <a:t>问题：如何根据</a:t>
            </a:r>
            <a:r>
              <a:rPr lang="en-US" altLang="zh-CN" i="1">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的三元组表，求得转置矩阵</a:t>
            </a:r>
            <a:r>
              <a:rPr lang="en-US" altLang="zh-CN" i="1">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的三元组表？</a:t>
            </a:r>
            <a:endParaRPr lang="en-US" altLang="zh-CN">
              <a:latin typeface="微软雅黑" panose="020B0503020204020204" pitchFamily="34" charset="-122"/>
              <a:ea typeface="微软雅黑" panose="020B0503020204020204" pitchFamily="34" charset="-122"/>
            </a:endParaRPr>
          </a:p>
          <a:p>
            <a:pPr>
              <a:lnSpc>
                <a:spcPct val="150000"/>
              </a:lnSpc>
              <a:spcBef>
                <a:spcPts val="0"/>
              </a:spcBef>
              <a:buNone/>
            </a:pPr>
            <a:r>
              <a:rPr lang="zh-CN" altLang="en-US" dirty="0">
                <a:latin typeface="微软雅黑" panose="020B0503020204020204" pitchFamily="34" charset="-122"/>
                <a:ea typeface="微软雅黑" panose="020B0503020204020204" pitchFamily="34" charset="-122"/>
              </a:rPr>
              <a:t>分析：</a:t>
            </a:r>
            <a:endParaRPr lang="en-US" altLang="zh-CN">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转置矩阵的</a:t>
            </a:r>
            <a:r>
              <a:rPr lang="zh-CN" altLang="en-US" sz="2000" b="1" dirty="0">
                <a:solidFill>
                  <a:srgbClr val="FF0000"/>
                </a:solidFill>
                <a:latin typeface="微软雅黑" panose="020B0503020204020204" pitchFamily="34" charset="-122"/>
                <a:ea typeface="微软雅黑" panose="020B0503020204020204" pitchFamily="34" charset="-122"/>
              </a:rPr>
              <a:t>行列维数</a:t>
            </a:r>
            <a:r>
              <a:rPr lang="zh-CN" altLang="en-US" sz="2000" dirty="0">
                <a:latin typeface="微软雅黑" panose="020B0503020204020204" pitchFamily="34" charset="-122"/>
                <a:ea typeface="微软雅黑" panose="020B0503020204020204" pitchFamily="34" charset="-122"/>
              </a:rPr>
              <a:t>分别是原先矩阵的</a:t>
            </a:r>
            <a:r>
              <a:rPr lang="zh-CN" altLang="en-US" sz="2000" b="1" dirty="0">
                <a:solidFill>
                  <a:srgbClr val="FF0000"/>
                </a:solidFill>
                <a:latin typeface="微软雅黑" panose="020B0503020204020204" pitchFamily="34" charset="-122"/>
                <a:ea typeface="微软雅黑" panose="020B0503020204020204" pitchFamily="34" charset="-122"/>
              </a:rPr>
              <a:t>列行维数</a:t>
            </a:r>
            <a:r>
              <a:rPr lang="zh-CN" altLang="en-US" sz="2000" dirty="0">
                <a:latin typeface="微软雅黑" panose="020B0503020204020204" pitchFamily="34" charset="-122"/>
                <a:ea typeface="微软雅黑" panose="020B0503020204020204" pitchFamily="34" charset="-122"/>
              </a:rPr>
              <a:t>，并且非零元个数不变。</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将</a:t>
            </a:r>
            <a:r>
              <a:rPr lang="en-US" altLang="zh-CN" sz="2000" i="1" err="1">
                <a:latin typeface="微软雅黑" panose="020B0503020204020204" pitchFamily="34" charset="-122"/>
                <a:ea typeface="微软雅黑" panose="020B0503020204020204" pitchFamily="34" charset="-122"/>
              </a:rPr>
              <a:t>A.data</a:t>
            </a:r>
            <a:r>
              <a:rPr lang="zh-CN" altLang="en-US" sz="2000" dirty="0">
                <a:latin typeface="微软雅黑" panose="020B0503020204020204" pitchFamily="34" charset="-122"/>
                <a:ea typeface="微软雅黑" panose="020B0503020204020204" pitchFamily="34" charset="-122"/>
              </a:rPr>
              <a:t>中每个非零元的行、列互换，放在</a:t>
            </a:r>
            <a:r>
              <a:rPr lang="en-US" altLang="zh-CN" sz="2000" i="1" err="1">
                <a:latin typeface="微软雅黑" panose="020B0503020204020204" pitchFamily="34" charset="-122"/>
                <a:ea typeface="微软雅黑" panose="020B0503020204020204" pitchFamily="34" charset="-122"/>
              </a:rPr>
              <a:t>B.data</a:t>
            </a:r>
            <a:r>
              <a:rPr lang="zh-CN" altLang="en-US" sz="2000" dirty="0">
                <a:latin typeface="微软雅黑" panose="020B0503020204020204" pitchFamily="34" charset="-122"/>
                <a:ea typeface="微软雅黑" panose="020B0503020204020204" pitchFamily="34" charset="-122"/>
              </a:rPr>
              <a:t>中。</a:t>
            </a:r>
            <a:endParaRPr lang="en-US" altLang="zh-CN" sz="2000">
              <a:solidFill>
                <a:srgbClr val="FF0000"/>
              </a:solidFill>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b="1" dirty="0">
                <a:solidFill>
                  <a:srgbClr val="FF0000"/>
                </a:solidFill>
                <a:latin typeface="微软雅黑" panose="020B0503020204020204" pitchFamily="34" charset="-122"/>
                <a:ea typeface="微软雅黑" panose="020B0503020204020204" pitchFamily="34" charset="-122"/>
              </a:rPr>
              <a:t>关键是重新排列非零元的顺序，使得</a:t>
            </a:r>
            <a:r>
              <a:rPr lang="en-US" altLang="zh-CN" sz="2000" b="1" i="1" err="1">
                <a:solidFill>
                  <a:srgbClr val="FF0000"/>
                </a:solidFill>
                <a:latin typeface="微软雅黑" panose="020B0503020204020204" pitchFamily="34" charset="-122"/>
                <a:ea typeface="微软雅黑" panose="020B0503020204020204" pitchFamily="34" charset="-122"/>
              </a:rPr>
              <a:t>B.data</a:t>
            </a:r>
            <a:r>
              <a:rPr lang="zh-CN" altLang="en-US" sz="2000" b="1" dirty="0">
                <a:solidFill>
                  <a:srgbClr val="FF0000"/>
                </a:solidFill>
                <a:latin typeface="微软雅黑" panose="020B0503020204020204" pitchFamily="34" charset="-122"/>
                <a:ea typeface="微软雅黑" panose="020B0503020204020204" pitchFamily="34" charset="-122"/>
              </a:rPr>
              <a:t>是按照行优先顺序存储。</a:t>
            </a:r>
            <a:endParaRPr lang="en-US" altLang="zh-CN" sz="2000" b="1">
              <a:latin typeface="微软雅黑" panose="020B0503020204020204" pitchFamily="34" charset="-122"/>
              <a:ea typeface="微软雅黑" panose="020B0503020204020204" pitchFamily="34" charset="-122"/>
            </a:endParaRPr>
          </a:p>
          <a:p>
            <a:pPr>
              <a:lnSpc>
                <a:spcPct val="150000"/>
              </a:lnSpc>
              <a:spcBef>
                <a:spcPts val="0"/>
              </a:spcBef>
              <a:buNone/>
            </a:pPr>
            <a:r>
              <a:rPr lang="zh-CN" altLang="en-US" dirty="0">
                <a:latin typeface="微软雅黑" panose="020B0503020204020204" pitchFamily="34" charset="-122"/>
                <a:ea typeface="微软雅黑" panose="020B0503020204020204" pitchFamily="34" charset="-122"/>
              </a:rPr>
              <a:t>解决办法：</a:t>
            </a:r>
            <a:endParaRPr lang="en-US" altLang="zh-CN">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按照</a:t>
            </a:r>
            <a:r>
              <a:rPr lang="en-US" altLang="zh-CN" sz="2000" i="1">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的列序进行转置。</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快速转置</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buNone/>
            </a:pPr>
            <a:r>
              <a:rPr lang="en-US" altLang="zh-CN" sz="2000">
                <a:latin typeface="微软雅黑" panose="020B0503020204020204" pitchFamily="34" charset="-122"/>
                <a:ea typeface="微软雅黑" panose="020B0503020204020204" pitchFamily="34" charset="-122"/>
              </a:rPr>
              <a:t>   </a:t>
            </a: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33123" name="内容占位符 2"/>
          <p:cNvSpPr>
            <a:spLocks noGrp="1"/>
          </p:cNvSpPr>
          <p:nvPr/>
        </p:nvSpPr>
        <p:spPr>
          <a:xfrm>
            <a:off x="553720" y="1711325"/>
            <a:ext cx="11177270" cy="39071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pPr>
            <a:r>
              <a:rPr lang="zh-CN" altLang="en-US" dirty="0">
                <a:latin typeface="微软雅黑" panose="020B0503020204020204" pitchFamily="34" charset="-122"/>
                <a:ea typeface="微软雅黑" panose="020B0503020204020204" pitchFamily="34" charset="-122"/>
              </a:rPr>
              <a:t>按照</a:t>
            </a:r>
            <a:r>
              <a:rPr lang="en-US" altLang="zh-CN" i="1">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的列序进行转置。</a:t>
            </a:r>
            <a:endParaRPr lang="zh-CN" altLang="en-US" dirty="0">
              <a:latin typeface="微软雅黑" panose="020B0503020204020204" pitchFamily="34" charset="-122"/>
              <a:ea typeface="微软雅黑" panose="020B0503020204020204" pitchFamily="34" charset="-122"/>
            </a:endParaRPr>
          </a:p>
          <a:p>
            <a:pPr marL="0" indent="457200">
              <a:lnSpc>
                <a:spcPct val="150000"/>
              </a:lnSpc>
              <a:spcBef>
                <a:spcPts val="0"/>
              </a:spcBef>
              <a:buNone/>
            </a:pPr>
            <a:r>
              <a:rPr lang="zh-CN" altLang="en-US" sz="2000" dirty="0">
                <a:latin typeface="微软雅黑" panose="020B0503020204020204" pitchFamily="34" charset="-122"/>
                <a:ea typeface="微软雅黑" panose="020B0503020204020204" pitchFamily="34" charset="-122"/>
              </a:rPr>
              <a:t>由于</a:t>
            </a:r>
            <a:r>
              <a:rPr lang="en-US" altLang="zh-CN" sz="2000" i="1">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的列即为</a:t>
            </a:r>
            <a:r>
              <a:rPr lang="en-US" altLang="zh-CN" sz="2000" i="1">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的行，在</a:t>
            </a:r>
            <a:r>
              <a:rPr lang="en-US" altLang="zh-CN" sz="2000" i="1" err="1">
                <a:latin typeface="微软雅黑" panose="020B0503020204020204" pitchFamily="34" charset="-122"/>
                <a:ea typeface="微软雅黑" panose="020B0503020204020204" pitchFamily="34" charset="-122"/>
              </a:rPr>
              <a:t>A.data</a:t>
            </a:r>
            <a:r>
              <a:rPr lang="zh-CN" altLang="en-US" sz="2000" dirty="0">
                <a:latin typeface="微软雅黑" panose="020B0503020204020204" pitchFamily="34" charset="-122"/>
                <a:ea typeface="微软雅黑" panose="020B0503020204020204" pitchFamily="34" charset="-122"/>
              </a:rPr>
              <a:t>中，按列扫描，则得到的</a:t>
            </a:r>
            <a:r>
              <a:rPr lang="en-US" altLang="zh-CN" sz="2000" i="1" err="1">
                <a:latin typeface="微软雅黑" panose="020B0503020204020204" pitchFamily="34" charset="-122"/>
                <a:ea typeface="微软雅黑" panose="020B0503020204020204" pitchFamily="34" charset="-122"/>
              </a:rPr>
              <a:t>B.data</a:t>
            </a:r>
            <a:r>
              <a:rPr lang="zh-CN" altLang="en-US" sz="2000" dirty="0">
                <a:latin typeface="微软雅黑" panose="020B0503020204020204" pitchFamily="34" charset="-122"/>
                <a:ea typeface="微软雅黑" panose="020B0503020204020204" pitchFamily="34" charset="-122"/>
              </a:rPr>
              <a:t>必按行优先存放。</a:t>
            </a:r>
            <a:endParaRPr lang="zh-CN" altLang="en-US" sz="2000" dirty="0">
              <a:latin typeface="微软雅黑" panose="020B0503020204020204" pitchFamily="34" charset="-122"/>
              <a:ea typeface="微软雅黑" panose="020B0503020204020204" pitchFamily="34" charset="-122"/>
            </a:endParaRPr>
          </a:p>
          <a:p>
            <a:pPr marL="0" indent="457200">
              <a:lnSpc>
                <a:spcPct val="150000"/>
              </a:lnSpc>
              <a:spcBef>
                <a:spcPts val="0"/>
              </a:spcBef>
              <a:buNone/>
            </a:pPr>
            <a:r>
              <a:rPr lang="zh-CN" altLang="en-US" sz="2000" dirty="0">
                <a:solidFill>
                  <a:srgbClr val="FF0000"/>
                </a:solidFill>
                <a:latin typeface="微软雅黑" panose="020B0503020204020204" pitchFamily="34" charset="-122"/>
                <a:ea typeface="微软雅黑" panose="020B0503020204020204" pitchFamily="34" charset="-122"/>
              </a:rPr>
              <a:t>需要注意的是：为了找到</a:t>
            </a:r>
            <a:r>
              <a:rPr lang="en-US" altLang="zh-CN" sz="2000" i="1">
                <a:solidFill>
                  <a:srgbClr val="FF0000"/>
                </a:solidFill>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的每一列中所有的非零的元素，每次都必须从头到尾扫描</a:t>
            </a:r>
            <a:r>
              <a:rPr lang="en-US" altLang="zh-CN" sz="2000" i="1">
                <a:solidFill>
                  <a:srgbClr val="FF0000"/>
                </a:solidFill>
                <a:latin typeface="微软雅黑" panose="020B0503020204020204" pitchFamily="34" charset="-122"/>
                <a:ea typeface="微软雅黑" panose="020B0503020204020204" pitchFamily="34" charset="-122"/>
              </a:rPr>
              <a:t>A</a:t>
            </a:r>
            <a:r>
              <a:rPr lang="zh-CN" altLang="en-US" sz="2000" dirty="0">
                <a:solidFill>
                  <a:srgbClr val="FF0000"/>
                </a:solidFill>
                <a:latin typeface="微软雅黑" panose="020B0503020204020204" pitchFamily="34" charset="-122"/>
                <a:ea typeface="微软雅黑" panose="020B0503020204020204" pitchFamily="34" charset="-122"/>
              </a:rPr>
              <a:t>的三元组表。</a:t>
            </a:r>
            <a:endParaRPr lang="zh-CN" altLang="en-US" sz="2000" dirty="0">
              <a:solidFill>
                <a:srgbClr val="FF0000"/>
              </a:solidFill>
              <a:latin typeface="微软雅黑" panose="020B0503020204020204" pitchFamily="34" charset="-122"/>
              <a:ea typeface="微软雅黑" panose="020B0503020204020204" pitchFamily="34" charset="-122"/>
            </a:endParaRPr>
          </a:p>
          <a:p>
            <a:pPr indent="457200">
              <a:lnSpc>
                <a:spcPct val="150000"/>
              </a:lnSpc>
              <a:spcBef>
                <a:spcPts val="0"/>
              </a:spcBef>
            </a:pP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buNone/>
            </a:pPr>
            <a:endParaRPr lang="en-US" altLang="zh-CN" sz="2000">
              <a:latin typeface="微软雅黑" panose="020B0503020204020204" pitchFamily="34" charset="-122"/>
              <a:ea typeface="微软雅黑" panose="020B0503020204020204" pitchFamily="34" charset="-122"/>
            </a:endParaRPr>
          </a:p>
          <a:p>
            <a:pPr>
              <a:buNone/>
            </a:pPr>
            <a:r>
              <a:rPr lang="en-US" altLang="zh-CN">
                <a:latin typeface="微软雅黑" panose="020B0503020204020204" pitchFamily="34" charset="-122"/>
                <a:ea typeface="微软雅黑" panose="020B0503020204020204" pitchFamily="34" charset="-122"/>
              </a:rPr>
              <a:t>   </a:t>
            </a:r>
            <a:endParaRPr lang="en-US" altLang="zh-CN">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aphicFrame>
        <p:nvGraphicFramePr>
          <p:cNvPr id="132110" name="Group 14"/>
          <p:cNvGraphicFramePr>
            <a:graphicFrameLocks noGrp="1"/>
          </p:cNvGraphicFramePr>
          <p:nvPr>
            <p:custDataLst>
              <p:tags r:id="rId2"/>
            </p:custDataLst>
          </p:nvPr>
        </p:nvGraphicFramePr>
        <p:xfrm>
          <a:off x="1224280" y="730250"/>
          <a:ext cx="9743440" cy="5760720"/>
        </p:xfrm>
        <a:graphic>
          <a:graphicData uri="http://schemas.openxmlformats.org/drawingml/2006/table">
            <a:tbl>
              <a:tblPr/>
              <a:tblGrid>
                <a:gridCol w="9743440"/>
              </a:tblGrid>
              <a:tr h="5760720">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 </a:t>
                      </a:r>
                      <a:r>
                        <a:rPr kumimoji="0" lang="zh-CN" altLang="en-US"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转置，将*</a:t>
                      </a: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this</a:t>
                      </a:r>
                      <a:r>
                        <a:rPr kumimoji="0" lang="zh-CN" altLang="en-US"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的转置矩阵送入</a:t>
                      </a:r>
                      <a:r>
                        <a:rPr kumimoji="0" lang="en-US" altLang="zh-CN"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B</a:t>
                      </a:r>
                      <a:endParaRPr kumimoji="0" lang="zh-CN" altLang="en-US" sz="1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bool SparseMatrix::TransposeTo(SparseMatrix &amp;B)</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if(terms &gt; B.maxterms)</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return false;</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B.rows = cols;</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B.cols = rows;</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B.terms = terms;</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 (terms &gt; 0) {</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int p = 0;</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for (int j = 1; j &lt;= cols; j++)          // </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依次对每一列</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for (int k = 0; k &lt; terms; k++)   // </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到</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data[]</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中找出该列的元素放到</a:t>
                      </a: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B.data[]</a:t>
                      </a:r>
                      <a:r>
                        <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中</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if (data[k].col == j) {</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B.data[p].row = j;</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B.data[p].col = data[k].row;</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B.data[p].val = data[k].val;</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p++;</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return true;</a:t>
                      </a:r>
                      <a:endParaRPr kumimoji="0" lang="zh-CN" altLang="en-US"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600" b="0" i="0" u="none" strike="noStrike" cap="none" normalizeH="0" baseline="0" smtClean="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35171" name="内容占位符 2"/>
          <p:cNvSpPr>
            <a:spLocks noGrp="1"/>
          </p:cNvSpPr>
          <p:nvPr/>
        </p:nvSpPr>
        <p:spPr>
          <a:xfrm>
            <a:off x="659765" y="1394460"/>
            <a:ext cx="10405110" cy="31832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pPr>
            <a:r>
              <a:rPr lang="zh-CN" altLang="en-US" dirty="0">
                <a:latin typeface="微软雅黑" panose="020B0503020204020204" pitchFamily="34" charset="-122"/>
                <a:ea typeface="微软雅黑" panose="020B0503020204020204" pitchFamily="34" charset="-122"/>
              </a:rPr>
              <a:t>快速转置。</a:t>
            </a:r>
            <a:endParaRPr lang="en-US" altLang="zh-CN">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000" dirty="0">
                <a:latin typeface="微软雅黑" panose="020B0503020204020204" pitchFamily="34" charset="-122"/>
                <a:ea typeface="微软雅黑" panose="020B0503020204020204" pitchFamily="34" charset="-122"/>
              </a:rPr>
              <a:t>按</a:t>
            </a:r>
            <a:r>
              <a:rPr lang="en-US" altLang="zh-CN" sz="2000" i="1" err="1">
                <a:latin typeface="微软雅黑" panose="020B0503020204020204" pitchFamily="34" charset="-122"/>
                <a:ea typeface="微软雅黑" panose="020B0503020204020204" pitchFamily="34" charset="-122"/>
              </a:rPr>
              <a:t>A.data</a:t>
            </a:r>
            <a:r>
              <a:rPr lang="zh-CN" altLang="en-US" sz="2000" dirty="0">
                <a:latin typeface="微软雅黑" panose="020B0503020204020204" pitchFamily="34" charset="-122"/>
                <a:ea typeface="微软雅黑" panose="020B0503020204020204" pitchFamily="34" charset="-122"/>
              </a:rPr>
              <a:t>中三元组的次序进行转置，并将转置后的三元组放入</a:t>
            </a:r>
            <a:r>
              <a:rPr lang="en-US" altLang="zh-CN" sz="2000" i="1">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中恰当的位置。</a:t>
            </a:r>
            <a:endParaRPr lang="en-US" altLang="zh-CN" sz="2000">
              <a:latin typeface="微软雅黑" panose="020B0503020204020204" pitchFamily="34" charset="-122"/>
              <a:ea typeface="微软雅黑" panose="020B0503020204020204" pitchFamily="34" charset="-122"/>
            </a:endParaRPr>
          </a:p>
          <a:p>
            <a:pPr lvl="1">
              <a:lnSpc>
                <a:spcPct val="150000"/>
              </a:lnSpc>
              <a:spcBef>
                <a:spcPts val="0"/>
              </a:spcBef>
              <a:buFont typeface="微软雅黑" panose="020B0503020204020204" pitchFamily="34" charset="-122"/>
              <a:buChar char="–"/>
            </a:pPr>
            <a:r>
              <a:rPr lang="zh-CN" altLang="en-US" sz="2000" dirty="0">
                <a:latin typeface="微软雅黑" panose="020B0503020204020204" pitchFamily="34" charset="-122"/>
                <a:ea typeface="微软雅黑" panose="020B0503020204020204" pitchFamily="34" charset="-122"/>
              </a:rPr>
              <a:t>引入两个辅助向量：</a:t>
            </a:r>
            <a:endParaRPr lang="zh-CN" altLang="en-US" sz="2000" dirty="0">
              <a:latin typeface="微软雅黑" panose="020B0503020204020204" pitchFamily="34" charset="-122"/>
              <a:ea typeface="微软雅黑" panose="020B0503020204020204" pitchFamily="34" charset="-122"/>
            </a:endParaRPr>
          </a:p>
          <a:p>
            <a:pPr lvl="2">
              <a:lnSpc>
                <a:spcPct val="150000"/>
              </a:lnSpc>
              <a:spcBef>
                <a:spcPts val="0"/>
              </a:spcBef>
              <a:buNone/>
            </a:pPr>
            <a:r>
              <a:rPr lang="en-US" altLang="zh-CN" sz="2000" i="1">
                <a:latin typeface="微软雅黑" panose="020B0503020204020204" pitchFamily="34" charset="-122"/>
                <a:ea typeface="微软雅黑" panose="020B0503020204020204" pitchFamily="34" charset="-122"/>
              </a:rPr>
              <a:t>&lt;</a:t>
            </a:r>
            <a:r>
              <a:rPr lang="en-US" altLang="zh-CN" sz="2000">
                <a:latin typeface="微软雅黑" panose="020B0503020204020204" pitchFamily="34" charset="-122"/>
                <a:ea typeface="微软雅黑" panose="020B0503020204020204" pitchFamily="34" charset="-122"/>
              </a:rPr>
              <a:t>1</a:t>
            </a:r>
            <a:r>
              <a:rPr lang="en-US" altLang="zh-CN" sz="2000" i="1">
                <a:latin typeface="微软雅黑" panose="020B0503020204020204" pitchFamily="34" charset="-122"/>
                <a:ea typeface="微软雅黑" panose="020B0503020204020204" pitchFamily="34" charset="-122"/>
              </a:rPr>
              <a:t>&gt;num[col-</a:t>
            </a:r>
            <a:r>
              <a:rPr lang="en-US" altLang="zh-CN" sz="2000">
                <a:latin typeface="微软雅黑" panose="020B0503020204020204" pitchFamily="34" charset="-122"/>
                <a:ea typeface="微软雅黑" panose="020B0503020204020204" pitchFamily="34" charset="-122"/>
              </a:rPr>
              <a:t>1</a:t>
            </a:r>
            <a:r>
              <a:rPr lang="en-US" altLang="zh-CN" sz="2000" i="1">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表示矩阵</a:t>
            </a:r>
            <a:r>
              <a:rPr lang="en-US" altLang="zh-CN" sz="2000" i="1">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中第</a:t>
            </a:r>
            <a:r>
              <a:rPr lang="en-US" altLang="zh-CN" sz="2000" i="1" err="1">
                <a:latin typeface="微软雅黑" panose="020B0503020204020204" pitchFamily="34" charset="-122"/>
                <a:ea typeface="微软雅黑" panose="020B0503020204020204" pitchFamily="34" charset="-122"/>
              </a:rPr>
              <a:t>col</a:t>
            </a:r>
            <a:r>
              <a:rPr lang="zh-CN" altLang="en-US" sz="2000" dirty="0">
                <a:latin typeface="微软雅黑" panose="020B0503020204020204" pitchFamily="34" charset="-122"/>
                <a:ea typeface="微软雅黑" panose="020B0503020204020204" pitchFamily="34" charset="-122"/>
              </a:rPr>
              <a:t>列中非零元的个数；</a:t>
            </a:r>
            <a:endParaRPr lang="zh-CN" altLang="en-US" sz="2000" dirty="0">
              <a:latin typeface="微软雅黑" panose="020B0503020204020204" pitchFamily="34" charset="-122"/>
              <a:ea typeface="微软雅黑" panose="020B0503020204020204" pitchFamily="34" charset="-122"/>
            </a:endParaRPr>
          </a:p>
          <a:p>
            <a:pPr lvl="2">
              <a:lnSpc>
                <a:spcPct val="150000"/>
              </a:lnSpc>
              <a:spcBef>
                <a:spcPts val="0"/>
              </a:spcBef>
              <a:buNone/>
            </a:pPr>
            <a:r>
              <a:rPr lang="en-US" altLang="zh-CN" sz="2000" i="1">
                <a:latin typeface="微软雅黑" panose="020B0503020204020204" pitchFamily="34" charset="-122"/>
                <a:ea typeface="微软雅黑" panose="020B0503020204020204" pitchFamily="34" charset="-122"/>
              </a:rPr>
              <a:t>&lt;</a:t>
            </a:r>
            <a:r>
              <a:rPr lang="en-US" altLang="zh-CN" sz="2000">
                <a:latin typeface="微软雅黑" panose="020B0503020204020204" pitchFamily="34" charset="-122"/>
                <a:ea typeface="微软雅黑" panose="020B0503020204020204" pitchFamily="34" charset="-122"/>
              </a:rPr>
              <a:t>2</a:t>
            </a:r>
            <a:r>
              <a:rPr lang="en-US" altLang="zh-CN" sz="2000" i="1">
                <a:latin typeface="微软雅黑" panose="020B0503020204020204" pitchFamily="34" charset="-122"/>
                <a:ea typeface="微软雅黑" panose="020B0503020204020204" pitchFamily="34" charset="-122"/>
              </a:rPr>
              <a:t>&gt;cpot[col-</a:t>
            </a:r>
            <a:r>
              <a:rPr lang="en-US" altLang="zh-CN" sz="2000">
                <a:latin typeface="微软雅黑" panose="020B0503020204020204" pitchFamily="34" charset="-122"/>
                <a:ea typeface="微软雅黑" panose="020B0503020204020204" pitchFamily="34" charset="-122"/>
              </a:rPr>
              <a:t>1</a:t>
            </a:r>
            <a:r>
              <a:rPr lang="en-US" altLang="zh-CN" sz="2000" i="1">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表示矩阵</a:t>
            </a:r>
            <a:r>
              <a:rPr lang="en-US" altLang="zh-CN" sz="2000" i="1">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中第</a:t>
            </a:r>
            <a:r>
              <a:rPr lang="en-US" altLang="zh-CN" sz="2000" i="1" err="1">
                <a:latin typeface="微软雅黑" panose="020B0503020204020204" pitchFamily="34" charset="-122"/>
                <a:ea typeface="微软雅黑" panose="020B0503020204020204" pitchFamily="34" charset="-122"/>
              </a:rPr>
              <a:t>col</a:t>
            </a:r>
            <a:r>
              <a:rPr lang="zh-CN" altLang="en-US" sz="2000" dirty="0">
                <a:latin typeface="微软雅黑" panose="020B0503020204020204" pitchFamily="34" charset="-122"/>
                <a:ea typeface="微软雅黑" panose="020B0503020204020204" pitchFamily="34" charset="-122"/>
              </a:rPr>
              <a:t>列的第一非零元在</a:t>
            </a:r>
            <a:r>
              <a:rPr lang="en-US" altLang="zh-CN" sz="2000" i="1" err="1">
                <a:latin typeface="微软雅黑" panose="020B0503020204020204" pitchFamily="34" charset="-122"/>
                <a:ea typeface="微软雅黑" panose="020B0503020204020204" pitchFamily="34" charset="-122"/>
              </a:rPr>
              <a:t>B.data</a:t>
            </a:r>
            <a:r>
              <a:rPr lang="zh-CN" altLang="en-US" sz="2000" dirty="0">
                <a:latin typeface="微软雅黑" panose="020B0503020204020204" pitchFamily="34" charset="-122"/>
                <a:ea typeface="微软雅黑" panose="020B0503020204020204" pitchFamily="34" charset="-122"/>
              </a:rPr>
              <a:t>中的位置。</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buNone/>
            </a:pPr>
            <a:endParaRPr lang="en-US" altLang="zh-CN" sz="2000">
              <a:latin typeface="微软雅黑" panose="020B0503020204020204" pitchFamily="34" charset="-122"/>
              <a:ea typeface="微软雅黑" panose="020B0503020204020204" pitchFamily="34" charset="-122"/>
            </a:endParaRPr>
          </a:p>
          <a:p>
            <a:pPr>
              <a:buNone/>
            </a:pPr>
            <a:r>
              <a:rPr lang="en-US" altLang="zh-CN">
                <a:latin typeface="微软雅黑" panose="020B0503020204020204" pitchFamily="34" charset="-122"/>
                <a:ea typeface="微软雅黑" panose="020B0503020204020204" pitchFamily="34" charset="-122"/>
              </a:rPr>
              <a:t>   </a:t>
            </a:r>
            <a:endParaRPr lang="en-US" altLang="zh-CN">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转置操作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Rectangle 156"/>
          <p:cNvSpPr txBox="1">
            <a:spLocks noChangeArrowheads="1"/>
          </p:cNvSpPr>
          <p:nvPr/>
        </p:nvSpPr>
        <p:spPr>
          <a:xfrm>
            <a:off x="609600" y="942975"/>
            <a:ext cx="8534400" cy="5410200"/>
          </a:xfrm>
          <a:prstGeom prst="rect">
            <a:avLst/>
          </a:prstGeom>
        </p:spPr>
        <p:txBody>
          <a:bodyPr/>
          <a:p>
            <a:pPr marL="342900" marR="0" indent="-342900" defTabSz="914400" eaLnBrk="0" hangingPunct="0">
              <a:spcBef>
                <a:spcPct val="20000"/>
              </a:spcBef>
              <a:buClrTx/>
              <a:buSzTx/>
              <a:buFontTx/>
              <a:buChar char="•"/>
              <a:defRPr/>
            </a:pPr>
            <a:r>
              <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例如：</a:t>
            </a:r>
            <a:endPar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aphicFrame>
        <p:nvGraphicFramePr>
          <p:cNvPr id="12" name="Object 2"/>
          <p:cNvGraphicFramePr>
            <a:graphicFrameLocks noChangeAspect="1"/>
          </p:cNvGraphicFramePr>
          <p:nvPr/>
        </p:nvGraphicFramePr>
        <p:xfrm>
          <a:off x="3886200" y="2757170"/>
          <a:ext cx="1384300" cy="1346200"/>
        </p:xfrm>
        <a:graphic>
          <a:graphicData uri="http://schemas.openxmlformats.org/presentationml/2006/ole">
            <mc:AlternateContent xmlns:mc="http://schemas.openxmlformats.org/markup-compatibility/2006">
              <mc:Choice xmlns:v="urn:schemas-microsoft-com:vml" Requires="v">
                <p:oleObj spid="_x0000_s13" name="" r:id="rId2" imgW="1384300" imgH="1346200" progId="Equation.3">
                  <p:embed/>
                </p:oleObj>
              </mc:Choice>
              <mc:Fallback>
                <p:oleObj name="" r:id="rId2" imgW="1384300" imgH="1346200" progId="Equation.3">
                  <p:embed/>
                  <p:pic>
                    <p:nvPicPr>
                      <p:cNvPr id="0" name="图片 3101"/>
                      <p:cNvPicPr/>
                      <p:nvPr/>
                    </p:nvPicPr>
                    <p:blipFill>
                      <a:blip r:embed="rId3"/>
                      <a:stretch>
                        <a:fillRect/>
                      </a:stretch>
                    </p:blipFill>
                    <p:spPr>
                      <a:xfrm>
                        <a:off x="3886200" y="2757170"/>
                        <a:ext cx="1384300" cy="1346200"/>
                      </a:xfrm>
                      <a:prstGeom prst="rect">
                        <a:avLst/>
                      </a:prstGeom>
                      <a:noFill/>
                      <a:ln w="38100">
                        <a:noFill/>
                        <a:miter/>
                      </a:ln>
                    </p:spPr>
                  </p:pic>
                </p:oleObj>
              </mc:Fallback>
            </mc:AlternateContent>
          </a:graphicData>
        </a:graphic>
      </p:graphicFrame>
      <p:pic>
        <p:nvPicPr>
          <p:cNvPr id="136243" name="Picture 10"/>
          <p:cNvPicPr>
            <a:picLocks noChangeAspect="1"/>
          </p:cNvPicPr>
          <p:nvPr/>
        </p:nvPicPr>
        <p:blipFill>
          <a:blip r:embed="rId4"/>
          <a:stretch>
            <a:fillRect/>
          </a:stretch>
        </p:blipFill>
        <p:spPr>
          <a:xfrm>
            <a:off x="609600" y="1367790"/>
            <a:ext cx="3702050" cy="3048000"/>
          </a:xfrm>
          <a:prstGeom prst="rect">
            <a:avLst/>
          </a:prstGeom>
          <a:noFill/>
          <a:ln w="9525">
            <a:noFill/>
          </a:ln>
        </p:spPr>
      </p:pic>
      <p:graphicFrame>
        <p:nvGraphicFramePr>
          <p:cNvPr id="16" name="Group 160"/>
          <p:cNvGraphicFramePr>
            <a:graphicFrameLocks noGrp="1"/>
          </p:cNvGraphicFramePr>
          <p:nvPr/>
        </p:nvGraphicFramePr>
        <p:xfrm>
          <a:off x="4956175" y="1847850"/>
          <a:ext cx="4495800" cy="1859116"/>
        </p:xfrm>
        <a:graphic>
          <a:graphicData uri="http://schemas.openxmlformats.org/drawingml/2006/table">
            <a:tbl>
              <a:tblPr>
                <a:effectLst/>
                <a:tableStyleId>{5940675A-B579-460E-94D1-54222C63F5DA}</a:tableStyleId>
              </a:tblPr>
              <a:tblGrid>
                <a:gridCol w="1123950"/>
                <a:gridCol w="600075"/>
                <a:gridCol w="523875"/>
                <a:gridCol w="449263"/>
                <a:gridCol w="484187"/>
                <a:gridCol w="415925"/>
                <a:gridCol w="457200"/>
                <a:gridCol w="441325"/>
              </a:tblGrid>
              <a:tr h="487598">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col</a:t>
                      </a:r>
                      <a:endPar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0</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3</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4</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6</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83920">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num[col]</a:t>
                      </a:r>
                      <a:endPar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0</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0</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1</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7598">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cpot[col]</a:t>
                      </a:r>
                      <a:endParaRPr kumimoji="1" lang="en-US" altLang="zh-CN" sz="2000" b="1" i="1"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0</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2</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4</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4</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5</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7</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ctr" defTabSz="914400" rtl="0" eaLnBrk="1" fontAlgn="base" latinLnBrk="0" hangingPunct="1">
                        <a:lnSpc>
                          <a:spcPct val="130000"/>
                        </a:lnSpc>
                        <a:spcBef>
                          <a:spcPct val="20000"/>
                        </a:spcBef>
                        <a:spcAft>
                          <a:spcPct val="0"/>
                        </a:spcAft>
                        <a:buClr>
                          <a:srgbClr val="A8D02A"/>
                        </a:buClr>
                        <a:buSzPct val="80000"/>
                        <a:buFont typeface="微软雅黑" panose="020B0503020204020204" pitchFamily="34" charset="-122"/>
                        <a:buNone/>
                      </a:pPr>
                      <a:r>
                        <a:rPr kumimoji="1" lang="en-US" altLang="zh-CN"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7</a:t>
                      </a:r>
                      <a:endParaRPr kumimoji="1" lang="zh-CN" altLang="en-US" sz="2000" b="1"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marT="45681" marB="4568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grpSp>
        <p:nvGrpSpPr>
          <p:cNvPr id="17" name="组合 16"/>
          <p:cNvGrpSpPr/>
          <p:nvPr/>
        </p:nvGrpSpPr>
        <p:grpSpPr>
          <a:xfrm>
            <a:off x="941705" y="4407535"/>
            <a:ext cx="8077200" cy="1600200"/>
            <a:chOff x="840" y="7560"/>
            <a:chExt cx="12720" cy="2520"/>
          </a:xfrm>
        </p:grpSpPr>
        <p:grpSp>
          <p:nvGrpSpPr>
            <p:cNvPr id="19" name="Group 42"/>
            <p:cNvGrpSpPr/>
            <p:nvPr/>
          </p:nvGrpSpPr>
          <p:grpSpPr>
            <a:xfrm>
              <a:off x="840" y="8375"/>
              <a:ext cx="12720" cy="1705"/>
              <a:chOff x="336" y="3360"/>
              <a:chExt cx="5232" cy="682"/>
            </a:xfrm>
          </p:grpSpPr>
          <p:sp>
            <p:nvSpPr>
              <p:cNvPr id="136245" name="AutoShape 43"/>
              <p:cNvSpPr/>
              <p:nvPr/>
            </p:nvSpPr>
            <p:spPr>
              <a:xfrm>
                <a:off x="336" y="3504"/>
                <a:ext cx="192" cy="480"/>
              </a:xfrm>
              <a:prstGeom prst="leftBrace">
                <a:avLst>
                  <a:gd name="adj1" fmla="val 20833"/>
                  <a:gd name="adj2" fmla="val 50000"/>
                </a:avLst>
              </a:prstGeom>
              <a:noFill/>
              <a:ln w="38100" cap="flat" cmpd="sng">
                <a:solidFill>
                  <a:srgbClr val="000066"/>
                </a:solidFill>
                <a:prstDash val="solid"/>
                <a:headEnd type="none" w="med" len="med"/>
                <a:tailEnd type="none" w="med" len="med"/>
              </a:ln>
            </p:spPr>
            <p:txBody>
              <a:bodyPr wrap="none" anchor="ctr" anchorCtr="0"/>
              <a:p>
                <a:endParaRPr lang="zh-CN" altLang="en-US" dirty="0">
                  <a:latin typeface="微软雅黑" panose="020B0503020204020204" pitchFamily="34" charset="-122"/>
                </a:endParaRPr>
              </a:p>
            </p:txBody>
          </p:sp>
          <p:sp>
            <p:nvSpPr>
              <p:cNvPr id="20" name="Text Box 44"/>
              <p:cNvSpPr txBox="1">
                <a:spLocks noChangeArrowheads="1"/>
              </p:cNvSpPr>
              <p:nvPr/>
            </p:nvSpPr>
            <p:spPr bwMode="auto">
              <a:xfrm>
                <a:off x="528" y="3360"/>
                <a:ext cx="2650" cy="250"/>
              </a:xfrm>
              <a:prstGeom prst="rect">
                <a:avLst/>
              </a:prstGeom>
              <a:noFill/>
              <a:ln w="9525">
                <a:noFill/>
                <a:miter lim="800000"/>
              </a:ln>
              <a:effectLst/>
            </p:spPr>
            <p:txBody>
              <a:bodyPr>
                <a:spAutoFit/>
              </a:bodyPr>
              <a:p>
                <a:pPr marR="0" defTabSz="914400">
                  <a:spcBef>
                    <a:spcPct val="50000"/>
                  </a:spcBef>
                  <a:buClrTx/>
                  <a:buSzTx/>
                  <a:buFontTx/>
                  <a:buNone/>
                  <a:defRPr/>
                </a:pPr>
                <a:r>
                  <a:rPr kumimoji="0" lang="en-US" altLang="zh-CN" sz="2000" b="0" i="1" kern="1200" cap="none" spc="0" normalizeH="0" baseline="0" noProof="0" dirty="0" err="1">
                    <a:solidFill>
                      <a:srgbClr val="000000"/>
                    </a:solidFill>
                    <a:latin typeface="微软雅黑" panose="020B0503020204020204" pitchFamily="34" charset="-122"/>
                    <a:ea typeface="微软雅黑" panose="020B0503020204020204" pitchFamily="34" charset="-122"/>
                    <a:cs typeface="+mn-ea"/>
                  </a:rPr>
                  <a:t>cpot</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[0]＝0</a:t>
                </a:r>
                <a:endPar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
            <p:nvSpPr>
              <p:cNvPr id="136247" name="Text Box 45"/>
              <p:cNvSpPr txBox="1"/>
              <p:nvPr/>
            </p:nvSpPr>
            <p:spPr>
              <a:xfrm>
                <a:off x="480" y="3792"/>
                <a:ext cx="5088" cy="250"/>
              </a:xfrm>
              <a:prstGeom prst="rect">
                <a:avLst/>
              </a:prstGeom>
              <a:noFill/>
              <a:ln w="9525">
                <a:noFill/>
              </a:ln>
            </p:spPr>
            <p:txBody>
              <a:bodyPr>
                <a:spAutoFit/>
              </a:bodyPr>
              <a:p>
                <a:pPr>
                  <a:spcBef>
                    <a:spcPct val="50000"/>
                  </a:spcBef>
                </a:pPr>
                <a:r>
                  <a:rPr lang="en-US" altLang="zh-CN" sz="2000" b="0" i="1">
                    <a:solidFill>
                      <a:srgbClr val="000000"/>
                    </a:solidFill>
                    <a:latin typeface="微软雅黑" panose="020B0503020204020204" pitchFamily="34" charset="-122"/>
                  </a:rPr>
                  <a:t>cpot</a:t>
                </a:r>
                <a:r>
                  <a:rPr lang="en-US" altLang="zh-CN" sz="2000" b="0">
                    <a:solidFill>
                      <a:srgbClr val="000000"/>
                    </a:solidFill>
                    <a:latin typeface="微软雅黑" panose="020B0503020204020204" pitchFamily="34" charset="-122"/>
                  </a:rPr>
                  <a:t>[</a:t>
                </a:r>
                <a:r>
                  <a:rPr lang="en-US" altLang="zh-CN" sz="2000" b="0" i="1">
                    <a:solidFill>
                      <a:srgbClr val="000000"/>
                    </a:solidFill>
                    <a:latin typeface="微软雅黑" panose="020B0503020204020204" pitchFamily="34" charset="-122"/>
                  </a:rPr>
                  <a:t>col</a:t>
                </a:r>
                <a:r>
                  <a:rPr lang="en-US" altLang="zh-CN" sz="2000" b="0">
                    <a:solidFill>
                      <a:srgbClr val="000000"/>
                    </a:solidFill>
                    <a:latin typeface="微软雅黑" panose="020B0503020204020204" pitchFamily="34" charset="-122"/>
                  </a:rPr>
                  <a:t>]</a:t>
                </a:r>
                <a:r>
                  <a:rPr lang="en-US" altLang="zh-CN" sz="2000" b="0" i="1">
                    <a:solidFill>
                      <a:srgbClr val="000000"/>
                    </a:solidFill>
                    <a:latin typeface="微软雅黑" panose="020B0503020204020204" pitchFamily="34" charset="-122"/>
                  </a:rPr>
                  <a:t>＝cpot</a:t>
                </a:r>
                <a:r>
                  <a:rPr lang="en-US" altLang="zh-CN" sz="2000" b="0">
                    <a:solidFill>
                      <a:srgbClr val="000000"/>
                    </a:solidFill>
                    <a:latin typeface="微软雅黑" panose="020B0503020204020204" pitchFamily="34" charset="-122"/>
                  </a:rPr>
                  <a:t>[</a:t>
                </a:r>
                <a:r>
                  <a:rPr lang="en-US" altLang="zh-CN" sz="2000" b="0" i="1">
                    <a:solidFill>
                      <a:srgbClr val="000000"/>
                    </a:solidFill>
                    <a:latin typeface="微软雅黑" panose="020B0503020204020204" pitchFamily="34" charset="-122"/>
                  </a:rPr>
                  <a:t>col－</a:t>
                </a:r>
                <a:r>
                  <a:rPr lang="en-US" altLang="zh-CN" sz="2000" b="0">
                    <a:solidFill>
                      <a:srgbClr val="000000"/>
                    </a:solidFill>
                    <a:latin typeface="微软雅黑" panose="020B0503020204020204" pitchFamily="34" charset="-122"/>
                  </a:rPr>
                  <a:t>1]</a:t>
                </a:r>
                <a:r>
                  <a:rPr lang="en-US" altLang="zh-CN" sz="2000" b="0" i="1">
                    <a:solidFill>
                      <a:srgbClr val="000000"/>
                    </a:solidFill>
                    <a:latin typeface="微软雅黑" panose="020B0503020204020204" pitchFamily="34" charset="-122"/>
                  </a:rPr>
                  <a:t>＋num</a:t>
                </a:r>
                <a:r>
                  <a:rPr lang="en-US" altLang="zh-CN" sz="2000" b="0">
                    <a:solidFill>
                      <a:srgbClr val="000000"/>
                    </a:solidFill>
                    <a:latin typeface="微软雅黑" panose="020B0503020204020204" pitchFamily="34" charset="-122"/>
                  </a:rPr>
                  <a:t>[</a:t>
                </a:r>
                <a:r>
                  <a:rPr lang="en-US" altLang="zh-CN" sz="2000" b="0" i="1">
                    <a:solidFill>
                      <a:srgbClr val="000000"/>
                    </a:solidFill>
                    <a:latin typeface="微软雅黑" panose="020B0503020204020204" pitchFamily="34" charset="-122"/>
                  </a:rPr>
                  <a:t>col－</a:t>
                </a:r>
                <a:r>
                  <a:rPr lang="en-US" altLang="zh-CN" sz="2000" b="0">
                    <a:solidFill>
                      <a:srgbClr val="000000"/>
                    </a:solidFill>
                    <a:latin typeface="微软雅黑" panose="020B0503020204020204" pitchFamily="34" charset="-122"/>
                  </a:rPr>
                  <a:t>1]  </a:t>
                </a:r>
                <a:r>
                  <a:rPr lang="en-US" altLang="zh-CN" sz="2000" b="0" i="1">
                    <a:solidFill>
                      <a:srgbClr val="000000"/>
                    </a:solidFill>
                    <a:latin typeface="微软雅黑" panose="020B0503020204020204" pitchFamily="34" charset="-122"/>
                  </a:rPr>
                  <a:t>  </a:t>
                </a:r>
                <a:r>
                  <a:rPr lang="en-US" altLang="zh-CN" sz="2000" b="0">
                    <a:solidFill>
                      <a:srgbClr val="000000"/>
                    </a:solidFill>
                    <a:latin typeface="微软雅黑" panose="020B0503020204020204" pitchFamily="34" charset="-122"/>
                  </a:rPr>
                  <a:t>1</a:t>
                </a:r>
                <a:r>
                  <a:rPr lang="en-US" altLang="zh-CN" sz="2000" b="0" i="1">
                    <a:solidFill>
                      <a:srgbClr val="000000"/>
                    </a:solidFill>
                    <a:latin typeface="微软雅黑" panose="020B0503020204020204" pitchFamily="34" charset="-122"/>
                  </a:rPr>
                  <a:t>≤col≤ cols</a:t>
                </a:r>
                <a:r>
                  <a:rPr lang="en-US" altLang="zh-CN" sz="2000" b="0">
                    <a:solidFill>
                      <a:srgbClr val="000000"/>
                    </a:solidFill>
                    <a:latin typeface="微软雅黑" panose="020B0503020204020204" pitchFamily="34" charset="-122"/>
                  </a:rPr>
                  <a:t>-1</a:t>
                </a:r>
                <a:endParaRPr lang="en-US" altLang="zh-CN" sz="2000" b="0">
                  <a:solidFill>
                    <a:srgbClr val="000000"/>
                  </a:solidFill>
                  <a:latin typeface="微软雅黑" panose="020B0503020204020204" pitchFamily="34" charset="-122"/>
                </a:endParaRPr>
              </a:p>
            </p:txBody>
          </p:sp>
        </p:grpSp>
        <p:sp>
          <p:nvSpPr>
            <p:cNvPr id="21" name="Rectangle 148"/>
            <p:cNvSpPr>
              <a:spLocks noChangeArrowheads="1"/>
            </p:cNvSpPr>
            <p:nvPr/>
          </p:nvSpPr>
          <p:spPr bwMode="auto">
            <a:xfrm>
              <a:off x="840" y="7560"/>
              <a:ext cx="4215" cy="628"/>
            </a:xfrm>
            <a:prstGeom prst="rect">
              <a:avLst/>
            </a:prstGeom>
            <a:noFill/>
            <a:ln w="9525">
              <a:noFill/>
              <a:miter lim="800000"/>
            </a:ln>
            <a:effectLst/>
          </p:spPr>
          <p:txBody>
            <a:bodyPr wrap="none">
              <a:spAutoFit/>
            </a:bodyPr>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用下式来求数组</a:t>
              </a:r>
              <a:r>
                <a:rPr kumimoji="0" lang="en-US" altLang="zh-CN" sz="2000" b="0" i="1" u="none" strike="noStrike" kern="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ea"/>
                </a:rPr>
                <a:t>cpot</a:t>
              </a:r>
              <a:r>
                <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rPr>
                <a:t>[]</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endParaRPr>
            </a:p>
          </p:txBody>
        </p:sp>
        <p:sp>
          <p:nvSpPr>
            <p:cNvPr id="22" name="TextBox 21"/>
            <p:cNvSpPr txBox="1"/>
            <p:nvPr/>
          </p:nvSpPr>
          <p:spPr>
            <a:xfrm>
              <a:off x="7440" y="7800"/>
              <a:ext cx="5280" cy="628"/>
            </a:xfrm>
            <a:prstGeom prst="rect">
              <a:avLst/>
            </a:prstGeom>
            <a:noFill/>
          </p:spPr>
          <p:txBody>
            <a:bodyPr>
              <a:spAutoFit/>
            </a:bodyPr>
            <a:p>
              <a:pPr marR="0" defTabSz="914400">
                <a:buClrTx/>
                <a:buSzTx/>
                <a:buFontTx/>
                <a:buNone/>
                <a:defRPr/>
              </a:pP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详细算法请见课本</a:t>
              </a:r>
              <a:r>
                <a:rPr kumimoji="0" lang="en-US" altLang="zh-CN"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P95</a:t>
              </a:r>
              <a:r>
                <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en-US" sz="2000" b="0" kern="120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1285220" cy="4801870"/>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十字链表存储表示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grpSp>
        <p:nvGrpSpPr>
          <p:cNvPr id="9" name="组合 8"/>
          <p:cNvGrpSpPr/>
          <p:nvPr/>
        </p:nvGrpSpPr>
        <p:grpSpPr>
          <a:xfrm>
            <a:off x="381000" y="1143000"/>
            <a:ext cx="11380925" cy="5001260"/>
            <a:chOff x="600" y="1800"/>
            <a:chExt cx="14731" cy="8520"/>
          </a:xfrm>
        </p:grpSpPr>
        <p:sp>
          <p:nvSpPr>
            <p:cNvPr id="137224" name="Rectangle 9"/>
            <p:cNvSpPr/>
            <p:nvPr/>
          </p:nvSpPr>
          <p:spPr>
            <a:xfrm>
              <a:off x="600" y="1800"/>
              <a:ext cx="13440" cy="8520"/>
            </a:xfrm>
            <a:prstGeom prst="rect">
              <a:avLst/>
            </a:prstGeom>
            <a:noFill/>
            <a:ln w="9525">
              <a:noFill/>
            </a:ln>
          </p:spPr>
          <p:txBody>
            <a:bodyPr/>
            <a:p>
              <a:pPr marL="342900" indent="-342900" eaLnBrk="0" hangingPunct="0">
                <a:spcBef>
                  <a:spcPct val="20000"/>
                </a:spcBef>
                <a:buChar char="•"/>
              </a:pPr>
              <a:r>
                <a:rPr lang="zh-CN" altLang="en-US" sz="2400" b="0" dirty="0">
                  <a:solidFill>
                    <a:srgbClr val="000000"/>
                  </a:solidFill>
                  <a:latin typeface="微软雅黑" panose="020B0503020204020204" pitchFamily="34" charset="-122"/>
                </a:rPr>
                <a:t>定义</a:t>
              </a:r>
              <a:r>
                <a:rPr lang="zh-CN" altLang="en-US" sz="2000" b="0" dirty="0">
                  <a:solidFill>
                    <a:srgbClr val="000000"/>
                  </a:solidFill>
                  <a:latin typeface="微软雅黑" panose="020B0503020204020204" pitchFamily="34" charset="-122"/>
                </a:rPr>
                <a:t>：</a:t>
              </a:r>
              <a:endParaRPr lang="zh-CN" altLang="en-US" sz="2000" b="0" dirty="0">
                <a:solidFill>
                  <a:srgbClr val="000000"/>
                </a:solidFill>
                <a:latin typeface="微软雅黑" panose="020B0503020204020204" pitchFamily="34" charset="-122"/>
              </a:endParaRPr>
            </a:p>
            <a:p>
              <a:pPr marL="342900" indent="-342900" eaLnBrk="0" hangingPunct="0">
                <a:spcBef>
                  <a:spcPct val="20000"/>
                </a:spcBef>
              </a:pPr>
              <a:r>
                <a:rPr lang="zh-CN" altLang="en-US" sz="2400" b="0" dirty="0">
                  <a:solidFill>
                    <a:srgbClr val="000000"/>
                  </a:solidFill>
                  <a:latin typeface="微软雅黑" panose="020B0503020204020204" pitchFamily="34" charset="-122"/>
                </a:rPr>
                <a:t>     </a:t>
              </a:r>
              <a:endParaRPr lang="zh-CN" altLang="en-US" sz="2400" b="0" dirty="0">
                <a:solidFill>
                  <a:srgbClr val="000000"/>
                </a:solidFill>
                <a:latin typeface="微软雅黑" panose="020B0503020204020204" pitchFamily="34" charset="-122"/>
              </a:endParaRPr>
            </a:p>
          </p:txBody>
        </p:sp>
        <p:sp>
          <p:nvSpPr>
            <p:cNvPr id="137225" name="矩形 12"/>
            <p:cNvSpPr/>
            <p:nvPr/>
          </p:nvSpPr>
          <p:spPr>
            <a:xfrm>
              <a:off x="1096" y="2749"/>
              <a:ext cx="14061" cy="1096"/>
            </a:xfrm>
            <a:prstGeom prst="rect">
              <a:avLst/>
            </a:prstGeom>
            <a:noFill/>
            <a:ln w="9525">
              <a:noFill/>
            </a:ln>
          </p:spPr>
          <p:txBody>
            <a:bodyPr>
              <a:noAutofit/>
            </a:bodyPr>
            <a:p>
              <a:pPr indent="457200" fontAlgn="auto">
                <a:lnSpc>
                  <a:spcPct val="150000"/>
                </a:lnSpc>
              </a:pPr>
              <a:r>
                <a:rPr lang="zh-CN" altLang="en-US" sz="2000" b="0" dirty="0">
                  <a:solidFill>
                    <a:srgbClr val="000000"/>
                  </a:solidFill>
                  <a:latin typeface="微软雅黑" panose="020B0503020204020204" pitchFamily="34" charset="-122"/>
                </a:rPr>
                <a:t>当非零元素的位置或个数经常发生变化时，三元组表就不适合作稀疏矩阵的存储结构了，用链表作存储结构更为恰当。十字链表是稀疏矩阵的链式存储方法。</a:t>
              </a:r>
              <a:endParaRPr lang="zh-CN" altLang="en-US" sz="2000" b="0" dirty="0">
                <a:solidFill>
                  <a:srgbClr val="000000"/>
                </a:solidFill>
                <a:latin typeface="微软雅黑" panose="020B0503020204020204" pitchFamily="34" charset="-122"/>
              </a:endParaRPr>
            </a:p>
          </p:txBody>
        </p:sp>
        <p:sp>
          <p:nvSpPr>
            <p:cNvPr id="137226" name="TextBox 15"/>
            <p:cNvSpPr txBox="1"/>
            <p:nvPr/>
          </p:nvSpPr>
          <p:spPr>
            <a:xfrm>
              <a:off x="1228" y="7175"/>
              <a:ext cx="14103" cy="1784"/>
            </a:xfrm>
            <a:prstGeom prst="rect">
              <a:avLst/>
            </a:prstGeom>
            <a:noFill/>
            <a:ln w="9525">
              <a:noFill/>
            </a:ln>
          </p:spPr>
          <p:txBody>
            <a:bodyPr wrap="square">
              <a:noAutofit/>
            </a:bodyPr>
            <a:p>
              <a:pPr indent="457200" fontAlgn="auto">
                <a:lnSpc>
                  <a:spcPct val="150000"/>
                </a:lnSpc>
              </a:pPr>
              <a:r>
                <a:rPr lang="zh-CN" altLang="en-US" sz="2000" b="0" dirty="0">
                  <a:solidFill>
                    <a:srgbClr val="000000"/>
                  </a:solidFill>
                  <a:latin typeface="微软雅黑" panose="020B0503020204020204" pitchFamily="34" charset="-122"/>
                </a:rPr>
                <a:t>行指针域（</a:t>
              </a:r>
              <a:r>
                <a:rPr lang="en-US" altLang="zh-CN" sz="2000" b="0" err="1">
                  <a:solidFill>
                    <a:srgbClr val="000000"/>
                  </a:solidFill>
                  <a:latin typeface="微软雅黑" panose="020B0503020204020204" pitchFamily="34" charset="-122"/>
                </a:rPr>
                <a:t>rptr</a:t>
              </a:r>
              <a:r>
                <a:rPr lang="zh-CN" altLang="en-US" sz="2000" b="0" dirty="0">
                  <a:solidFill>
                    <a:srgbClr val="000000"/>
                  </a:solidFill>
                  <a:latin typeface="微软雅黑" panose="020B0503020204020204" pitchFamily="34" charset="-122"/>
                </a:rPr>
                <a:t>） 和列指针域（</a:t>
              </a:r>
              <a:r>
                <a:rPr lang="en-US" altLang="zh-CN" sz="2000" b="0" err="1">
                  <a:solidFill>
                    <a:srgbClr val="000000"/>
                  </a:solidFill>
                  <a:latin typeface="微软雅黑" panose="020B0503020204020204" pitchFamily="34" charset="-122"/>
                </a:rPr>
                <a:t>cptr</a:t>
              </a:r>
              <a:r>
                <a:rPr lang="zh-CN" altLang="en-US" sz="2000" b="0" dirty="0">
                  <a:solidFill>
                    <a:srgbClr val="000000"/>
                  </a:solidFill>
                  <a:latin typeface="微软雅黑" panose="020B0503020204020204" pitchFamily="34" charset="-122"/>
                </a:rPr>
                <a:t>），前者用来指向本行中下一个非零元素；而后者用来指向本列中下一个非零元素。</a:t>
              </a:r>
              <a:r>
                <a:rPr lang="en-US" altLang="zh-CN" sz="2000" b="0" err="1">
                  <a:solidFill>
                    <a:srgbClr val="000000"/>
                  </a:solidFill>
                  <a:latin typeface="微软雅黑" panose="020B0503020204020204" pitchFamily="34" charset="-122"/>
                </a:rPr>
                <a:t>rptr</a:t>
              </a:r>
              <a:r>
                <a:rPr lang="zh-CN" altLang="en-US" sz="2000" b="0" dirty="0">
                  <a:solidFill>
                    <a:srgbClr val="000000"/>
                  </a:solidFill>
                  <a:latin typeface="微软雅黑" panose="020B0503020204020204" pitchFamily="34" charset="-122"/>
                </a:rPr>
                <a:t>将同一行上的非零元素链接在一起，</a:t>
              </a:r>
              <a:r>
                <a:rPr lang="en-US" altLang="zh-CN" sz="2000" b="0" err="1">
                  <a:solidFill>
                    <a:srgbClr val="000000"/>
                  </a:solidFill>
                  <a:latin typeface="微软雅黑" panose="020B0503020204020204" pitchFamily="34" charset="-122"/>
                </a:rPr>
                <a:t>cprt</a:t>
              </a:r>
              <a:r>
                <a:rPr lang="zh-CN" altLang="en-US" sz="2000" b="0" dirty="0">
                  <a:solidFill>
                    <a:srgbClr val="000000"/>
                  </a:solidFill>
                  <a:latin typeface="微软雅黑" panose="020B0503020204020204" pitchFamily="34" charset="-122"/>
                </a:rPr>
                <a:t>将同一列上的非零元素链接在一起。</a:t>
              </a:r>
              <a:endParaRPr lang="zh-CN" altLang="en-US" sz="2000" b="0" dirty="0">
                <a:solidFill>
                  <a:srgbClr val="000000"/>
                </a:solidFill>
                <a:latin typeface="微软雅黑" panose="020B0503020204020204" pitchFamily="34" charset="-122"/>
              </a:endParaRPr>
            </a:p>
          </p:txBody>
        </p:sp>
        <p:sp>
          <p:nvSpPr>
            <p:cNvPr id="137227" name="TextBox 16"/>
            <p:cNvSpPr txBox="1"/>
            <p:nvPr/>
          </p:nvSpPr>
          <p:spPr>
            <a:xfrm>
              <a:off x="2878" y="5527"/>
              <a:ext cx="1922" cy="679"/>
            </a:xfrm>
            <a:prstGeom prst="rect">
              <a:avLst/>
            </a:prstGeom>
            <a:noFill/>
            <a:ln w="9525">
              <a:noFill/>
            </a:ln>
          </p:spPr>
          <p:txBody>
            <a:bodyPr wrap="square">
              <a:spAutoFit/>
            </a:bodyPr>
            <a:p>
              <a:r>
                <a:rPr lang="zh-CN" altLang="en-US" sz="2000" b="0" dirty="0">
                  <a:solidFill>
                    <a:srgbClr val="000000"/>
                  </a:solidFill>
                  <a:latin typeface="微软雅黑" panose="020B0503020204020204" pitchFamily="34" charset="-122"/>
                </a:rPr>
                <a:t>结点结构：</a:t>
              </a:r>
              <a:endParaRPr lang="zh-CN" altLang="en-US" sz="2000" b="0" dirty="0">
                <a:solidFill>
                  <a:srgbClr val="000000"/>
                </a:solidFill>
                <a:latin typeface="微软雅黑" panose="020B0503020204020204" pitchFamily="34" charset="-122"/>
              </a:endParaRPr>
            </a:p>
          </p:txBody>
        </p:sp>
        <p:grpSp>
          <p:nvGrpSpPr>
            <p:cNvPr id="137228" name="Group 19"/>
            <p:cNvGrpSpPr/>
            <p:nvPr/>
          </p:nvGrpSpPr>
          <p:grpSpPr>
            <a:xfrm>
              <a:off x="4800" y="5280"/>
              <a:ext cx="3240" cy="1200"/>
              <a:chOff x="4032" y="2064"/>
              <a:chExt cx="1008" cy="480"/>
            </a:xfrm>
          </p:grpSpPr>
          <p:sp>
            <p:nvSpPr>
              <p:cNvPr id="137229" name="Rectangle 14"/>
              <p:cNvSpPr/>
              <p:nvPr/>
            </p:nvSpPr>
            <p:spPr>
              <a:xfrm>
                <a:off x="4032" y="2064"/>
                <a:ext cx="336" cy="24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wrap="none" anchor="ctr" anchorCtr="0"/>
              <a:p>
                <a:pPr algn="ctr"/>
                <a:r>
                  <a:rPr lang="en-US" altLang="zh-CN">
                    <a:solidFill>
                      <a:srgbClr val="000000"/>
                    </a:solidFill>
                    <a:latin typeface="微软雅黑" panose="020B0503020204020204" pitchFamily="34" charset="-122"/>
                  </a:rPr>
                  <a:t>row</a:t>
                </a:r>
                <a:endParaRPr lang="en-US" altLang="zh-CN">
                  <a:solidFill>
                    <a:srgbClr val="000000"/>
                  </a:solidFill>
                  <a:latin typeface="微软雅黑" panose="020B0503020204020204" pitchFamily="34" charset="-122"/>
                </a:endParaRPr>
              </a:p>
            </p:txBody>
          </p:sp>
          <p:sp>
            <p:nvSpPr>
              <p:cNvPr id="137230" name="Rectangle 15"/>
              <p:cNvSpPr/>
              <p:nvPr/>
            </p:nvSpPr>
            <p:spPr>
              <a:xfrm>
                <a:off x="4368" y="2064"/>
                <a:ext cx="336" cy="24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wrap="none" anchor="ctr" anchorCtr="0"/>
              <a:p>
                <a:pPr algn="ctr"/>
                <a:r>
                  <a:rPr lang="en-US" altLang="zh-CN" err="1">
                    <a:solidFill>
                      <a:srgbClr val="000000"/>
                    </a:solidFill>
                    <a:latin typeface="微软雅黑" panose="020B0503020204020204" pitchFamily="34" charset="-122"/>
                  </a:rPr>
                  <a:t>col</a:t>
                </a:r>
                <a:endParaRPr lang="en-US" altLang="zh-CN">
                  <a:solidFill>
                    <a:srgbClr val="000000"/>
                  </a:solidFill>
                  <a:latin typeface="微软雅黑" panose="020B0503020204020204" pitchFamily="34" charset="-122"/>
                </a:endParaRPr>
              </a:p>
            </p:txBody>
          </p:sp>
          <p:sp>
            <p:nvSpPr>
              <p:cNvPr id="137231" name="Rectangle 16"/>
              <p:cNvSpPr/>
              <p:nvPr/>
            </p:nvSpPr>
            <p:spPr>
              <a:xfrm>
                <a:off x="4704" y="2064"/>
                <a:ext cx="336" cy="24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wrap="none" anchor="ctr" anchorCtr="0"/>
              <a:p>
                <a:pPr algn="ctr"/>
                <a:r>
                  <a:rPr lang="en-US" altLang="zh-CN" err="1">
                    <a:solidFill>
                      <a:srgbClr val="000000"/>
                    </a:solidFill>
                    <a:latin typeface="微软雅黑" panose="020B0503020204020204" pitchFamily="34" charset="-122"/>
                  </a:rPr>
                  <a:t>val</a:t>
                </a:r>
                <a:endParaRPr lang="en-US" altLang="zh-CN">
                  <a:solidFill>
                    <a:srgbClr val="000000"/>
                  </a:solidFill>
                  <a:latin typeface="微软雅黑" panose="020B0503020204020204" pitchFamily="34" charset="-122"/>
                </a:endParaRPr>
              </a:p>
            </p:txBody>
          </p:sp>
          <p:sp>
            <p:nvSpPr>
              <p:cNvPr id="137232" name="Rectangle 17"/>
              <p:cNvSpPr/>
              <p:nvPr/>
            </p:nvSpPr>
            <p:spPr>
              <a:xfrm>
                <a:off x="4032" y="2304"/>
                <a:ext cx="528" cy="24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wrap="none" anchor="ctr" anchorCtr="0"/>
              <a:p>
                <a:pPr algn="ctr"/>
                <a:r>
                  <a:rPr lang="en-US" altLang="zh-CN" err="1">
                    <a:solidFill>
                      <a:srgbClr val="000000"/>
                    </a:solidFill>
                    <a:latin typeface="微软雅黑" panose="020B0503020204020204" pitchFamily="34" charset="-122"/>
                  </a:rPr>
                  <a:t>cptr</a:t>
                </a:r>
                <a:endParaRPr lang="en-US" altLang="zh-CN">
                  <a:solidFill>
                    <a:srgbClr val="000000"/>
                  </a:solidFill>
                  <a:latin typeface="微软雅黑" panose="020B0503020204020204" pitchFamily="34" charset="-122"/>
                </a:endParaRPr>
              </a:p>
            </p:txBody>
          </p:sp>
          <p:sp>
            <p:nvSpPr>
              <p:cNvPr id="137233" name="Rectangle 18"/>
              <p:cNvSpPr/>
              <p:nvPr/>
            </p:nvSpPr>
            <p:spPr>
              <a:xfrm>
                <a:off x="4560" y="2304"/>
                <a:ext cx="480" cy="24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wrap="none" anchor="ctr" anchorCtr="0"/>
              <a:p>
                <a:pPr algn="ctr"/>
                <a:r>
                  <a:rPr lang="en-US" altLang="zh-CN" err="1">
                    <a:solidFill>
                      <a:srgbClr val="000000"/>
                    </a:solidFill>
                    <a:latin typeface="微软雅黑" panose="020B0503020204020204" pitchFamily="34" charset="-122"/>
                  </a:rPr>
                  <a:t>rptr</a:t>
                </a:r>
                <a:endParaRPr lang="en-US" altLang="zh-CN">
                  <a:solidFill>
                    <a:srgbClr val="000000"/>
                  </a:solidFill>
                  <a:latin typeface="微软雅黑" panose="020B0503020204020204" pitchFamily="34" charset="-122"/>
                </a:endParaRPr>
              </a:p>
            </p:txBody>
          </p:sp>
        </p:grpSp>
      </p:gr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十字链表存储表示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38242" name="Rectangle 3"/>
          <p:cNvSpPr>
            <a:spLocks noGrp="1"/>
          </p:cNvSpPr>
          <p:nvPr/>
        </p:nvSpPr>
        <p:spPr>
          <a:xfrm>
            <a:off x="553720" y="1175385"/>
            <a:ext cx="8229600" cy="5257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90000"/>
              </a:lnSpc>
            </a:pPr>
            <a:r>
              <a:rPr lang="zh-CN" altLang="en-US" dirty="0">
                <a:latin typeface="微软雅黑" panose="020B0503020204020204" pitchFamily="34" charset="-122"/>
                <a:ea typeface="微软雅黑" panose="020B0503020204020204" pitchFamily="34" charset="-122"/>
              </a:rPr>
              <a:t>十字链表类型定义如下： </a:t>
            </a:r>
            <a:endParaRPr lang="zh-CN" altLang="en-US" dirty="0">
              <a:latin typeface="微软雅黑" panose="020B0503020204020204" pitchFamily="34" charset="-122"/>
              <a:ea typeface="微软雅黑" panose="020B0503020204020204" pitchFamily="34" charset="-122"/>
            </a:endParaRPr>
          </a:p>
          <a:p>
            <a:pPr>
              <a:lnSpc>
                <a:spcPct val="90000"/>
              </a:lnSpc>
              <a:buNone/>
            </a:pPr>
            <a:r>
              <a:rPr lang="zh-CN" altLang="en-US" sz="2000" dirty="0">
                <a:latin typeface="微软雅黑" panose="020B0503020204020204" pitchFamily="34" charset="-122"/>
                <a:ea typeface="微软雅黑" panose="020B0503020204020204" pitchFamily="34" charset="-122"/>
              </a:rPr>
              <a:t> </a:t>
            </a:r>
            <a:r>
              <a:rPr lang="en-US" altLang="zh-CN" sz="2000" err="1">
                <a:ea typeface="微软雅黑" panose="020B0503020204020204" pitchFamily="34" charset="-122"/>
                <a:cs typeface="Times New Roman" panose="02020603050405020304" pitchFamily="18" charset="0"/>
              </a:rPr>
              <a:t>typedef</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struct</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SMNode</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int</a:t>
            </a:r>
            <a:r>
              <a:rPr lang="en-US" altLang="zh-CN" sz="2000">
                <a:ea typeface="微软雅黑" panose="020B0503020204020204" pitchFamily="34" charset="-122"/>
                <a:cs typeface="Times New Roman" panose="02020603050405020304" pitchFamily="18" charset="0"/>
              </a:rPr>
              <a:t> i, j;</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Elemtype</a:t>
            </a:r>
            <a:r>
              <a:rPr lang="en-US" altLang="zh-CN" sz="2000">
                <a:ea typeface="微软雅黑" panose="020B0503020204020204" pitchFamily="34" charset="-122"/>
                <a:cs typeface="Times New Roman" panose="02020603050405020304" pitchFamily="18" charset="0"/>
              </a:rPr>
              <a:t> e;</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struct</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SMNode</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cptr</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rptr</a:t>
            </a:r>
            <a:r>
              <a:rPr lang="en-US" altLang="zh-CN" sz="2000">
                <a:ea typeface="微软雅黑" panose="020B0503020204020204" pitchFamily="34" charset="-122"/>
                <a:cs typeface="Times New Roman" panose="02020603050405020304" pitchFamily="18" charset="0"/>
              </a:rPr>
              <a:t>;</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 </a:t>
            </a:r>
            <a:r>
              <a:rPr lang="en-US" altLang="zh-CN" sz="2000" err="1">
                <a:ea typeface="微软雅黑" panose="020B0503020204020204" pitchFamily="34" charset="-122"/>
                <a:cs typeface="Times New Roman" panose="02020603050405020304" pitchFamily="18" charset="0"/>
              </a:rPr>
              <a:t>SMNode</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SMLink</a:t>
            </a:r>
            <a:r>
              <a:rPr lang="en-US" altLang="zh-CN" sz="2000">
                <a:ea typeface="微软雅黑" panose="020B0503020204020204" pitchFamily="34" charset="-122"/>
                <a:cs typeface="Times New Roman" panose="02020603050405020304" pitchFamily="18" charset="0"/>
              </a:rPr>
              <a:t>;</a:t>
            </a:r>
            <a:endParaRPr lang="en-US" altLang="zh-CN" sz="2000">
              <a:ea typeface="微软雅黑" panose="020B0503020204020204" pitchFamily="34" charset="-122"/>
              <a:cs typeface="Times New Roman" panose="02020603050405020304" pitchFamily="18" charset="0"/>
            </a:endParaRPr>
          </a:p>
          <a:p>
            <a:pPr>
              <a:lnSpc>
                <a:spcPct val="90000"/>
              </a:lnSpc>
              <a:spcBef>
                <a:spcPct val="40000"/>
              </a:spcBef>
              <a:buNone/>
            </a:pPr>
            <a:r>
              <a:rPr lang="en-US" altLang="zh-CN" sz="2000" err="1">
                <a:ea typeface="微软雅黑" panose="020B0503020204020204" pitchFamily="34" charset="-122"/>
                <a:cs typeface="Times New Roman" panose="02020603050405020304" pitchFamily="18" charset="0"/>
              </a:rPr>
              <a:t>typedef</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struct</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SMLink</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rhead</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chead</a:t>
            </a:r>
            <a:r>
              <a:rPr lang="en-US" altLang="zh-CN" sz="2000">
                <a:ea typeface="微软雅黑" panose="020B0503020204020204" pitchFamily="34" charset="-122"/>
                <a:cs typeface="Times New Roman" panose="02020603050405020304" pitchFamily="18" charset="0"/>
              </a:rPr>
              <a:t>; //</a:t>
            </a:r>
            <a:r>
              <a:rPr lang="zh-CN" altLang="en-US" sz="2000" dirty="0">
                <a:ea typeface="微软雅黑" panose="020B0503020204020204" pitchFamily="34" charset="-122"/>
                <a:cs typeface="Times New Roman" panose="02020603050405020304" pitchFamily="18" charset="0"/>
              </a:rPr>
              <a:t>行、列链表头指针向量 </a:t>
            </a:r>
            <a:endParaRPr lang="zh-CN" altLang="en-US" sz="2000" dirty="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int</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mu</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nu</a:t>
            </a: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tu</a:t>
            </a:r>
            <a:r>
              <a:rPr lang="en-US" altLang="zh-CN" sz="2000">
                <a:ea typeface="微软雅黑" panose="020B0503020204020204" pitchFamily="34" charset="-122"/>
                <a:cs typeface="Times New Roman" panose="02020603050405020304" pitchFamily="18" charset="0"/>
              </a:rPr>
              <a:t>; //</a:t>
            </a:r>
            <a:r>
              <a:rPr lang="zh-CN" altLang="en-US" sz="2000" dirty="0">
                <a:ea typeface="微软雅黑" panose="020B0503020204020204" pitchFamily="34" charset="-122"/>
                <a:cs typeface="Times New Roman" panose="02020603050405020304" pitchFamily="18" charset="0"/>
              </a:rPr>
              <a:t>稀疏矩阵的行数、列数、非零元素个数 </a:t>
            </a:r>
            <a:endParaRPr lang="en-US" altLang="zh-CN" sz="2000">
              <a:ea typeface="微软雅黑" panose="020B0503020204020204" pitchFamily="34" charset="-122"/>
              <a:cs typeface="Times New Roman" panose="02020603050405020304" pitchFamily="18" charset="0"/>
            </a:endParaRPr>
          </a:p>
          <a:p>
            <a:pPr>
              <a:lnSpc>
                <a:spcPct val="90000"/>
              </a:lnSpc>
              <a:buNone/>
            </a:pPr>
            <a:r>
              <a:rPr lang="en-US" altLang="zh-CN" sz="2000">
                <a:ea typeface="微软雅黑" panose="020B0503020204020204" pitchFamily="34" charset="-122"/>
                <a:cs typeface="Times New Roman" panose="02020603050405020304" pitchFamily="18" charset="0"/>
              </a:rPr>
              <a:t>} </a:t>
            </a:r>
            <a:r>
              <a:rPr lang="en-US" altLang="zh-CN" sz="2000" err="1">
                <a:ea typeface="微软雅黑" panose="020B0503020204020204" pitchFamily="34" charset="-122"/>
                <a:cs typeface="Times New Roman" panose="02020603050405020304" pitchFamily="18" charset="0"/>
              </a:rPr>
              <a:t>CrossList</a:t>
            </a:r>
            <a:r>
              <a:rPr lang="en-US" altLang="zh-CN" sz="2000">
                <a:ea typeface="微软雅黑" panose="020B0503020204020204" pitchFamily="34" charset="-122"/>
                <a:cs typeface="Times New Roman" panose="02020603050405020304" pitchFamily="18" charset="0"/>
              </a:rPr>
              <a:t>;</a:t>
            </a:r>
            <a:endParaRPr lang="en-US" altLang="zh-CN" sz="200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622332" y="6486016"/>
            <a:ext cx="1765300" cy="368300"/>
          </a:xfrm>
          <a:prstGeom prst="rect">
            <a:avLst/>
          </a:prstGeom>
          <a:noFill/>
          <a:ln>
            <a:noFill/>
          </a:ln>
        </p:spPr>
        <p:txBody>
          <a:bodyPr wrap="square" rtlCol="0">
            <a:spAutoFit/>
          </a:bodyPr>
          <a:lstStyle/>
          <a:p>
            <a:pPr lvl="0"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sym typeface="+mn-ea"/>
              </a:rPr>
              <a:t>IV. 数组</a:t>
            </a:r>
            <a:endParaRPr lang="en-US" altLang="zh-CN" b="1" dirty="0" smtClean="0">
              <a:solidFill>
                <a:srgbClr val="005A9E"/>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广义表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示例：矩阵B的十字链表表示</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717630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065530" y="959485"/>
            <a:ext cx="9330055" cy="5389880"/>
            <a:chOff x="600" y="1680"/>
            <a:chExt cx="13440" cy="8640"/>
          </a:xfrm>
        </p:grpSpPr>
        <p:sp>
          <p:nvSpPr>
            <p:cNvPr id="139272" name="Rectangle 9"/>
            <p:cNvSpPr/>
            <p:nvPr/>
          </p:nvSpPr>
          <p:spPr>
            <a:xfrm>
              <a:off x="600" y="1800"/>
              <a:ext cx="13440" cy="8520"/>
            </a:xfrm>
            <a:prstGeom prst="rect">
              <a:avLst/>
            </a:prstGeom>
            <a:noFill/>
            <a:ln w="9525">
              <a:noFill/>
            </a:ln>
          </p:spPr>
          <p:txBody>
            <a:bodyPr/>
            <a:p>
              <a:pPr marL="342900" indent="-342900" eaLnBrk="0" hangingPunct="0">
                <a:spcBef>
                  <a:spcPct val="20000"/>
                </a:spcBef>
              </a:pPr>
              <a:r>
                <a:rPr lang="zh-CN" altLang="en-US" sz="2400" b="0" dirty="0">
                  <a:solidFill>
                    <a:srgbClr val="000000"/>
                  </a:solidFill>
                  <a:latin typeface="微软雅黑" panose="020B0503020204020204" pitchFamily="34" charset="-122"/>
                </a:rPr>
                <a:t>     </a:t>
              </a:r>
              <a:endParaRPr lang="zh-CN" altLang="en-US" sz="2400" b="0" dirty="0">
                <a:solidFill>
                  <a:srgbClr val="000000"/>
                </a:solidFill>
                <a:latin typeface="微软雅黑" panose="020B0503020204020204" pitchFamily="34" charset="-122"/>
              </a:endParaRPr>
            </a:p>
          </p:txBody>
        </p:sp>
        <p:grpSp>
          <p:nvGrpSpPr>
            <p:cNvPr id="12" name="组合 11"/>
            <p:cNvGrpSpPr/>
            <p:nvPr/>
          </p:nvGrpSpPr>
          <p:grpSpPr>
            <a:xfrm>
              <a:off x="1200" y="1680"/>
              <a:ext cx="12120" cy="8070"/>
              <a:chOff x="1200" y="1680"/>
              <a:chExt cx="12120" cy="8070"/>
            </a:xfrm>
          </p:grpSpPr>
          <p:pic>
            <p:nvPicPr>
              <p:cNvPr id="13" name="Picture 3"/>
              <p:cNvPicPr>
                <a:picLocks noChangeAspect="1"/>
              </p:cNvPicPr>
              <p:nvPr/>
            </p:nvPicPr>
            <p:blipFill>
              <a:blip r:embed="rId2"/>
              <a:stretch>
                <a:fillRect/>
              </a:stretch>
            </p:blipFill>
            <p:spPr>
              <a:xfrm>
                <a:off x="1200" y="2640"/>
                <a:ext cx="1080" cy="7110"/>
              </a:xfrm>
              <a:prstGeom prst="rect">
                <a:avLst/>
              </a:prstGeom>
              <a:noFill/>
              <a:ln w="9525">
                <a:noFill/>
              </a:ln>
            </p:spPr>
          </p:pic>
          <p:pic>
            <p:nvPicPr>
              <p:cNvPr id="14" name="Picture 4"/>
              <p:cNvPicPr>
                <a:picLocks noChangeAspect="1"/>
              </p:cNvPicPr>
              <p:nvPr/>
            </p:nvPicPr>
            <p:blipFill>
              <a:blip r:embed="rId3"/>
              <a:stretch>
                <a:fillRect/>
              </a:stretch>
            </p:blipFill>
            <p:spPr>
              <a:xfrm>
                <a:off x="2280" y="1680"/>
                <a:ext cx="11040" cy="1153"/>
              </a:xfrm>
              <a:prstGeom prst="rect">
                <a:avLst/>
              </a:prstGeom>
              <a:noFill/>
              <a:ln w="9525">
                <a:noFill/>
              </a:ln>
            </p:spPr>
          </p:pic>
          <p:pic>
            <p:nvPicPr>
              <p:cNvPr id="15" name="Picture 5"/>
              <p:cNvPicPr>
                <a:picLocks noChangeAspect="1" noChangeArrowheads="1"/>
              </p:cNvPicPr>
              <p:nvPr/>
            </p:nvPicPr>
            <p:blipFill>
              <a:blip r:embed="rId4"/>
              <a:srcRect/>
              <a:stretch>
                <a:fillRect/>
              </a:stretch>
            </p:blipFill>
            <p:spPr bwMode="auto">
              <a:xfrm>
                <a:off x="2880" y="3240"/>
                <a:ext cx="10440" cy="6205"/>
              </a:xfrm>
              <a:prstGeom prst="rect">
                <a:avLst/>
              </a:prstGeom>
              <a:noFill/>
              <a:ln w="9525">
                <a:noFill/>
                <a:miter lim="800000"/>
                <a:headEnd/>
                <a:tailEnd/>
              </a:ln>
              <a:effectLst>
                <a:outerShdw blurRad="50800" dist="50800" dir="5400000" algn="ctr" rotWithShape="0">
                  <a:srgbClr val="000000">
                    <a:alpha val="0"/>
                  </a:srgbClr>
                </a:outerShdw>
              </a:effectLst>
            </p:spPr>
          </p:pic>
          <p:cxnSp>
            <p:nvCxnSpPr>
              <p:cNvPr id="16" name="直接箭头连接符 15"/>
              <p:cNvCxnSpPr/>
              <p:nvPr/>
            </p:nvCxnSpPr>
            <p:spPr>
              <a:xfrm>
                <a:off x="1800" y="3720"/>
                <a:ext cx="4680" cy="3"/>
              </a:xfrm>
              <a:prstGeom prst="straightConnector1">
                <a:avLst/>
              </a:prstGeom>
              <a:ln w="3175" cap="flat" cmpd="sng">
                <a:solidFill>
                  <a:srgbClr val="000066"/>
                </a:solidFill>
                <a:prstDash val="solid"/>
                <a:headEnd type="none" w="med" len="med"/>
                <a:tailEnd type="arrow" w="med" len="med"/>
              </a:ln>
            </p:spPr>
          </p:cxnSp>
          <p:cxnSp>
            <p:nvCxnSpPr>
              <p:cNvPr id="17" name="直接箭头连接符 16"/>
              <p:cNvCxnSpPr/>
              <p:nvPr/>
            </p:nvCxnSpPr>
            <p:spPr>
              <a:xfrm>
                <a:off x="1800" y="4678"/>
                <a:ext cx="1080" cy="2"/>
              </a:xfrm>
              <a:prstGeom prst="straightConnector1">
                <a:avLst/>
              </a:prstGeom>
              <a:ln w="3175" cap="flat" cmpd="sng">
                <a:solidFill>
                  <a:srgbClr val="000066"/>
                </a:solidFill>
                <a:prstDash val="solid"/>
                <a:headEnd type="none" w="med" len="med"/>
                <a:tailEnd type="arrow" w="med" len="med"/>
              </a:ln>
            </p:spPr>
          </p:cxnSp>
          <p:cxnSp>
            <p:nvCxnSpPr>
              <p:cNvPr id="18" name="直接箭头连接符 17"/>
              <p:cNvCxnSpPr/>
              <p:nvPr/>
            </p:nvCxnSpPr>
            <p:spPr>
              <a:xfrm>
                <a:off x="4200" y="4680"/>
                <a:ext cx="5760" cy="3"/>
              </a:xfrm>
              <a:prstGeom prst="straightConnector1">
                <a:avLst/>
              </a:prstGeom>
              <a:ln w="3175" cap="flat" cmpd="sng">
                <a:solidFill>
                  <a:srgbClr val="000066"/>
                </a:solidFill>
                <a:prstDash val="solid"/>
                <a:headEnd type="none" w="med" len="med"/>
                <a:tailEnd type="arrow" w="med" len="med"/>
              </a:ln>
            </p:spPr>
          </p:cxnSp>
          <p:cxnSp>
            <p:nvCxnSpPr>
              <p:cNvPr id="20" name="直接箭头连接符 19"/>
              <p:cNvCxnSpPr/>
              <p:nvPr/>
            </p:nvCxnSpPr>
            <p:spPr>
              <a:xfrm>
                <a:off x="1800" y="6518"/>
                <a:ext cx="2880" cy="2"/>
              </a:xfrm>
              <a:prstGeom prst="straightConnector1">
                <a:avLst/>
              </a:prstGeom>
              <a:ln w="3175" cap="flat" cmpd="sng">
                <a:solidFill>
                  <a:srgbClr val="000066"/>
                </a:solidFill>
                <a:prstDash val="solid"/>
                <a:headEnd type="none" w="med" len="med"/>
                <a:tailEnd type="arrow" w="med" len="med"/>
              </a:ln>
            </p:spPr>
          </p:cxnSp>
          <p:cxnSp>
            <p:nvCxnSpPr>
              <p:cNvPr id="21" name="直接箭头连接符 20"/>
              <p:cNvCxnSpPr/>
              <p:nvPr/>
            </p:nvCxnSpPr>
            <p:spPr>
              <a:xfrm>
                <a:off x="1800" y="7440"/>
                <a:ext cx="1080" cy="3"/>
              </a:xfrm>
              <a:prstGeom prst="straightConnector1">
                <a:avLst/>
              </a:prstGeom>
              <a:ln w="3175" cap="flat" cmpd="sng">
                <a:solidFill>
                  <a:srgbClr val="000066"/>
                </a:solidFill>
                <a:prstDash val="solid"/>
                <a:headEnd type="none" w="med" len="med"/>
                <a:tailEnd type="arrow" w="med" len="med"/>
              </a:ln>
            </p:spPr>
          </p:cxnSp>
          <p:cxnSp>
            <p:nvCxnSpPr>
              <p:cNvPr id="22" name="直接箭头连接符 21"/>
              <p:cNvCxnSpPr/>
              <p:nvPr/>
            </p:nvCxnSpPr>
            <p:spPr>
              <a:xfrm>
                <a:off x="4200" y="7440"/>
                <a:ext cx="7560" cy="3"/>
              </a:xfrm>
              <a:prstGeom prst="straightConnector1">
                <a:avLst/>
              </a:prstGeom>
              <a:ln w="3175" cap="flat" cmpd="sng">
                <a:solidFill>
                  <a:srgbClr val="000066"/>
                </a:solidFill>
                <a:prstDash val="solid"/>
                <a:headEnd type="none" w="med" len="med"/>
                <a:tailEnd type="arrow" w="med" len="med"/>
              </a:ln>
            </p:spPr>
          </p:cxnSp>
          <p:cxnSp>
            <p:nvCxnSpPr>
              <p:cNvPr id="23" name="直接箭头连接符 22"/>
              <p:cNvCxnSpPr/>
              <p:nvPr/>
            </p:nvCxnSpPr>
            <p:spPr>
              <a:xfrm>
                <a:off x="1800" y="9240"/>
                <a:ext cx="8160" cy="3"/>
              </a:xfrm>
              <a:prstGeom prst="straightConnector1">
                <a:avLst/>
              </a:prstGeom>
              <a:ln w="3175" cap="flat" cmpd="sng">
                <a:solidFill>
                  <a:srgbClr val="000066"/>
                </a:solidFill>
                <a:prstDash val="solid"/>
                <a:headEnd type="none" w="med" len="med"/>
                <a:tailEnd type="arrow" w="med" len="med"/>
              </a:ln>
            </p:spPr>
          </p:cxnSp>
        </p:grpSp>
        <p:cxnSp>
          <p:nvCxnSpPr>
            <p:cNvPr id="38" name="直接箭头连接符 37"/>
            <p:cNvCxnSpPr/>
            <p:nvPr/>
          </p:nvCxnSpPr>
          <p:spPr>
            <a:xfrm rot="5400000">
              <a:off x="2820" y="3420"/>
              <a:ext cx="1560" cy="5"/>
            </a:xfrm>
            <a:prstGeom prst="straightConnector1">
              <a:avLst/>
            </a:prstGeom>
            <a:ln w="3175" cap="flat" cmpd="sng">
              <a:solidFill>
                <a:srgbClr val="FF0000"/>
              </a:solidFill>
              <a:prstDash val="solid"/>
              <a:headEnd type="none" w="med" len="med"/>
              <a:tailEnd type="arrow" w="med" len="med"/>
            </a:ln>
          </p:spPr>
        </p:cxnSp>
        <p:cxnSp>
          <p:nvCxnSpPr>
            <p:cNvPr id="40" name="直接箭头连接符 39"/>
            <p:cNvCxnSpPr/>
            <p:nvPr/>
          </p:nvCxnSpPr>
          <p:spPr>
            <a:xfrm rot="5400000">
              <a:off x="2220" y="5820"/>
              <a:ext cx="2280" cy="5"/>
            </a:xfrm>
            <a:prstGeom prst="straightConnector1">
              <a:avLst/>
            </a:prstGeom>
            <a:ln w="3175" cap="flat" cmpd="sng">
              <a:solidFill>
                <a:srgbClr val="FF0000"/>
              </a:solidFill>
              <a:prstDash val="solid"/>
              <a:headEnd type="none" w="med" len="med"/>
              <a:tailEnd type="arrow" w="med" len="med"/>
            </a:ln>
          </p:spPr>
        </p:cxnSp>
        <p:cxnSp>
          <p:nvCxnSpPr>
            <p:cNvPr id="42" name="直接箭头连接符 41"/>
            <p:cNvCxnSpPr/>
            <p:nvPr/>
          </p:nvCxnSpPr>
          <p:spPr>
            <a:xfrm rot="5400000">
              <a:off x="3420" y="4260"/>
              <a:ext cx="3480" cy="5"/>
            </a:xfrm>
            <a:prstGeom prst="straightConnector1">
              <a:avLst/>
            </a:prstGeom>
            <a:ln w="3175" cap="flat" cmpd="sng">
              <a:solidFill>
                <a:srgbClr val="FF0000"/>
              </a:solidFill>
              <a:prstDash val="solid"/>
              <a:headEnd type="none" w="med" len="med"/>
              <a:tailEnd type="arrow" w="med" len="med"/>
            </a:ln>
          </p:spPr>
        </p:cxnSp>
        <p:cxnSp>
          <p:nvCxnSpPr>
            <p:cNvPr id="44" name="直接箭头连接符 43"/>
            <p:cNvCxnSpPr/>
            <p:nvPr/>
          </p:nvCxnSpPr>
          <p:spPr>
            <a:xfrm rot="5400000">
              <a:off x="6600" y="2880"/>
              <a:ext cx="720" cy="5"/>
            </a:xfrm>
            <a:prstGeom prst="straightConnector1">
              <a:avLst/>
            </a:prstGeom>
            <a:ln w="3175" cap="flat" cmpd="sng">
              <a:solidFill>
                <a:srgbClr val="FF0000"/>
              </a:solidFill>
              <a:prstDash val="solid"/>
              <a:headEnd type="none" w="med" len="med"/>
              <a:tailEnd type="arrow" w="med" len="med"/>
            </a:ln>
          </p:spPr>
        </p:cxnSp>
        <p:cxnSp>
          <p:nvCxnSpPr>
            <p:cNvPr id="46" name="直接箭头连接符 45"/>
            <p:cNvCxnSpPr/>
            <p:nvPr/>
          </p:nvCxnSpPr>
          <p:spPr>
            <a:xfrm rot="5400000">
              <a:off x="9963" y="3360"/>
              <a:ext cx="1437" cy="3"/>
            </a:xfrm>
            <a:prstGeom prst="straightConnector1">
              <a:avLst/>
            </a:prstGeom>
            <a:ln w="3175" cap="flat" cmpd="sng">
              <a:solidFill>
                <a:srgbClr val="FF0000"/>
              </a:solidFill>
              <a:prstDash val="solid"/>
              <a:headEnd type="none" w="med" len="med"/>
              <a:tailEnd type="arrow" w="med" len="med"/>
            </a:ln>
          </p:spPr>
        </p:cxnSp>
        <p:cxnSp>
          <p:nvCxnSpPr>
            <p:cNvPr id="50" name="直接箭头连接符 49"/>
            <p:cNvCxnSpPr/>
            <p:nvPr/>
          </p:nvCxnSpPr>
          <p:spPr>
            <a:xfrm rot="5400000">
              <a:off x="8280" y="6720"/>
              <a:ext cx="4080" cy="5"/>
            </a:xfrm>
            <a:prstGeom prst="straightConnector1">
              <a:avLst/>
            </a:prstGeom>
            <a:ln w="3175" cap="flat" cmpd="sng">
              <a:solidFill>
                <a:srgbClr val="FF0000"/>
              </a:solidFill>
              <a:prstDash val="solid"/>
              <a:headEnd type="none" w="med" len="med"/>
              <a:tailEnd type="arrow" w="med" len="med"/>
            </a:ln>
          </p:spPr>
        </p:cxnSp>
        <p:cxnSp>
          <p:nvCxnSpPr>
            <p:cNvPr id="52" name="直接箭头连接符 51"/>
            <p:cNvCxnSpPr/>
            <p:nvPr/>
          </p:nvCxnSpPr>
          <p:spPr>
            <a:xfrm rot="5400000">
              <a:off x="12003" y="2880"/>
              <a:ext cx="717" cy="3"/>
            </a:xfrm>
            <a:prstGeom prst="straightConnector1">
              <a:avLst/>
            </a:prstGeom>
            <a:ln w="3175" cap="flat" cmpd="sng">
              <a:solidFill>
                <a:srgbClr val="FF0000"/>
              </a:solidFill>
              <a:prstDash val="solid"/>
              <a:headEnd type="none" w="med" len="med"/>
              <a:tailEnd type="arrow" w="med" len="med"/>
            </a:ln>
          </p:spPr>
        </p:cxnSp>
        <p:cxnSp>
          <p:nvCxnSpPr>
            <p:cNvPr id="55" name="直接箭头连接符 54"/>
            <p:cNvCxnSpPr/>
            <p:nvPr/>
          </p:nvCxnSpPr>
          <p:spPr>
            <a:xfrm rot="5400000">
              <a:off x="10623" y="5340"/>
              <a:ext cx="2997" cy="3"/>
            </a:xfrm>
            <a:prstGeom prst="straightConnector1">
              <a:avLst/>
            </a:prstGeom>
            <a:ln w="3175" cap="flat" cmpd="sng">
              <a:solidFill>
                <a:srgbClr val="FF0000"/>
              </a:solidFill>
              <a:prstDash val="solid"/>
              <a:headEnd type="none" w="med" len="med"/>
              <a:tailEnd type="arrow" w="med" len="med"/>
            </a:ln>
          </p:spPr>
        </p:cxnSp>
      </p:gr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370" y="6490970"/>
            <a:ext cx="2078990" cy="347345"/>
          </a:xfrm>
          <a:prstGeom prst="rect">
            <a:avLst/>
          </a:prstGeom>
          <a:noFill/>
        </p:spPr>
        <p:txBody>
          <a:bodyPr wrap="square" rtlCol="0">
            <a:no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3.5 广义表</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40294" name="Text Box 29"/>
          <p:cNvSpPr txBox="1"/>
          <p:nvPr/>
        </p:nvSpPr>
        <p:spPr>
          <a:xfrm>
            <a:off x="762000" y="2845435"/>
            <a:ext cx="5638800" cy="583565"/>
          </a:xfrm>
          <a:prstGeom prst="rect">
            <a:avLst/>
          </a:prstGeom>
          <a:noFill/>
          <a:ln w="9525">
            <a:noFill/>
          </a:ln>
        </p:spPr>
        <p:txBody>
          <a:bodyPr>
            <a:spAutoFit/>
          </a:bodyPr>
          <a:p>
            <a:pPr algn="l">
              <a:spcBef>
                <a:spcPct val="50000"/>
              </a:spcBef>
              <a:buClrTx/>
              <a:buSzTx/>
              <a:buFontTx/>
            </a:pPr>
            <a:r>
              <a:rPr lang="zh-CN" altLang="en-US" sz="3200" b="1" kern="0" noProof="0" dirty="0">
                <a:solidFill>
                  <a:srgbClr val="005A9E"/>
                </a:solidFill>
                <a:latin typeface="微软雅黑" panose="020B0503020204020204" pitchFamily="34" charset="-122"/>
                <a:ea typeface="微软雅黑" panose="020B0503020204020204" pitchFamily="34" charset="-122"/>
              </a:rPr>
              <a:t>广义表的基本概念和基本操作</a:t>
            </a:r>
            <a:endParaRPr lang="zh-CN" altLang="en-US" sz="3200" b="1" kern="0" noProof="0" dirty="0">
              <a:solidFill>
                <a:srgbClr val="005A9E"/>
              </a:solidFill>
              <a:latin typeface="微软雅黑" panose="020B0503020204020204" pitchFamily="34" charset="-122"/>
              <a:ea typeface="微软雅黑" panose="020B0503020204020204" pitchFamily="34" charset="-122"/>
            </a:endParaRPr>
          </a:p>
        </p:txBody>
      </p:sp>
      <p:sp>
        <p:nvSpPr>
          <p:cNvPr id="140296" name="Text Box 29"/>
          <p:cNvSpPr txBox="1"/>
          <p:nvPr/>
        </p:nvSpPr>
        <p:spPr>
          <a:xfrm>
            <a:off x="848360" y="3990340"/>
            <a:ext cx="5257800" cy="583565"/>
          </a:xfrm>
          <a:prstGeom prst="rect">
            <a:avLst/>
          </a:prstGeom>
          <a:noFill/>
          <a:ln w="9525">
            <a:noFill/>
          </a:ln>
        </p:spPr>
        <p:txBody>
          <a:bodyPr>
            <a:spAutoFit/>
          </a:bodyPr>
          <a:p>
            <a:pPr algn="l">
              <a:spcBef>
                <a:spcPct val="50000"/>
              </a:spcBef>
              <a:buClrTx/>
              <a:buSzTx/>
              <a:buFontTx/>
            </a:pPr>
            <a:r>
              <a:rPr lang="zh-CN" altLang="en-US" sz="3200" b="1" kern="0" noProof="0" dirty="0">
                <a:solidFill>
                  <a:srgbClr val="005A9E"/>
                </a:solidFill>
                <a:latin typeface="微软雅黑" panose="020B0503020204020204" pitchFamily="34" charset="-122"/>
                <a:ea typeface="微软雅黑" panose="020B0503020204020204" pitchFamily="34" charset="-122"/>
              </a:rPr>
              <a:t>广义表的存储结构</a:t>
            </a:r>
            <a:endParaRPr lang="zh-CN" altLang="en-US" sz="3200" b="1" kern="0" noProof="0" dirty="0">
              <a:solidFill>
                <a:srgbClr val="005A9E"/>
              </a:solidFill>
              <a:latin typeface="微软雅黑" panose="020B0503020204020204" pitchFamily="34" charset="-122"/>
              <a:ea typeface="微软雅黑" panose="020B0503020204020204" pitchFamily="34" charset="-122"/>
            </a:endParaRPr>
          </a:p>
        </p:txBody>
      </p:sp>
      <p:sp>
        <p:nvSpPr>
          <p:cNvPr id="15" name="内容占位符 2"/>
          <p:cNvSpPr>
            <a:spLocks noGrp="1"/>
          </p:cNvSpPr>
          <p:nvPr/>
        </p:nvSpPr>
        <p:spPr>
          <a:xfrm>
            <a:off x="533400" y="1447800"/>
            <a:ext cx="11177905" cy="16414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eaLnBrk="1" hangingPunct="1">
              <a:buNone/>
            </a:pPr>
            <a:r>
              <a:rPr lang="zh-CN" altLang="en-US" dirty="0">
                <a:latin typeface="微软雅黑" panose="020B0503020204020204" pitchFamily="34" charset="-122"/>
                <a:ea typeface="微软雅黑" panose="020B0503020204020204" pitchFamily="34" charset="-122"/>
              </a:rPr>
              <a:t>广义表是对线性表的进一步推广，允许每个数据元素不同构，这点跟前面的线性结构均不同。</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a:ln>
            <a:noFill/>
          </a:ln>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3.5.1 广义表的基本概念和基本操作</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41315" name="内容占位符 2"/>
          <p:cNvSpPr>
            <a:spLocks noGrp="1"/>
          </p:cNvSpPr>
          <p:nvPr/>
        </p:nvSpPr>
        <p:spPr>
          <a:xfrm>
            <a:off x="443865" y="1161415"/>
            <a:ext cx="11111865" cy="507746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buNone/>
            </a:pPr>
            <a:r>
              <a:rPr lang="zh-CN" altLang="x-none" sz="2000" dirty="0">
                <a:latin typeface="微软雅黑" panose="020B0503020204020204" pitchFamily="34" charset="-122"/>
                <a:ea typeface="微软雅黑" panose="020B0503020204020204" pitchFamily="34" charset="-122"/>
              </a:rPr>
              <a:t>广义表（又称列表，简称为表）是</a:t>
            </a:r>
            <a:r>
              <a:rPr lang="en-US" altLang="zh-CN" sz="2000" i="1">
                <a:latin typeface="微软雅黑" panose="020B0503020204020204" pitchFamily="34" charset="-122"/>
                <a:ea typeface="微软雅黑" panose="020B0503020204020204" pitchFamily="34" charset="-122"/>
              </a:rPr>
              <a:t>n</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n</a:t>
            </a:r>
            <a:r>
              <a:rPr lang="zh-CN" altLang="zh-CN"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0)</a:t>
            </a:r>
            <a:r>
              <a:rPr lang="zh-CN" altLang="x-none" sz="2000" dirty="0">
                <a:latin typeface="微软雅黑" panose="020B0503020204020204" pitchFamily="34" charset="-122"/>
                <a:ea typeface="微软雅黑" panose="020B0503020204020204" pitchFamily="34" charset="-122"/>
              </a:rPr>
              <a:t>个数据元素的有限序列。通常记作：</a:t>
            </a:r>
            <a:r>
              <a:rPr lang="zh-CN" altLang="en-US" sz="2000" dirty="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GL= (</a:t>
            </a:r>
            <a:r>
              <a:rPr lang="en-US" altLang="zh-CN" sz="2000" i="1">
                <a:latin typeface="微软雅黑" panose="020B0503020204020204" pitchFamily="34" charset="-122"/>
                <a:ea typeface="微软雅黑" panose="020B0503020204020204" pitchFamily="34" charset="-122"/>
              </a:rPr>
              <a:t>e</a:t>
            </a:r>
            <a:r>
              <a:rPr lang="en-US" altLang="zh-CN" sz="2000" baseline="-25000">
                <a:latin typeface="微软雅黑" panose="020B0503020204020204" pitchFamily="34" charset="-122"/>
                <a:ea typeface="微软雅黑" panose="020B0503020204020204" pitchFamily="34" charset="-122"/>
              </a:rPr>
              <a:t>1</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e</a:t>
            </a:r>
            <a:r>
              <a:rPr lang="en-US" altLang="zh-CN" sz="2000" baseline="-25000">
                <a:latin typeface="微软雅黑" panose="020B0503020204020204" pitchFamily="34" charset="-122"/>
                <a:ea typeface="微软雅黑" panose="020B0503020204020204" pitchFamily="34" charset="-122"/>
              </a:rPr>
              <a:t>2</a:t>
            </a:r>
            <a:r>
              <a:rPr lang="en-US" altLang="zh-CN" sz="2000">
                <a:latin typeface="微软雅黑" panose="020B0503020204020204" pitchFamily="34" charset="-122"/>
                <a:ea typeface="微软雅黑" panose="020B0503020204020204" pitchFamily="34" charset="-122"/>
              </a:rPr>
              <a:t>, …, </a:t>
            </a:r>
            <a:r>
              <a:rPr lang="en-US" altLang="zh-CN" sz="2000" i="1">
                <a:latin typeface="微软雅黑" panose="020B0503020204020204" pitchFamily="34" charset="-122"/>
                <a:ea typeface="微软雅黑" panose="020B0503020204020204" pitchFamily="34" charset="-122"/>
              </a:rPr>
              <a:t>e</a:t>
            </a:r>
            <a:r>
              <a:rPr lang="en-US" altLang="zh-CN" sz="2000" i="1" baseline="-25000">
                <a:latin typeface="微软雅黑" panose="020B0503020204020204" pitchFamily="34" charset="-122"/>
                <a:ea typeface="微软雅黑" panose="020B0503020204020204" pitchFamily="34" charset="-122"/>
              </a:rPr>
              <a:t>n</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zh-CN" altLang="x-none" sz="2000" dirty="0">
              <a:latin typeface="微软雅黑" panose="020B0503020204020204" pitchFamily="34" charset="-122"/>
              <a:ea typeface="微软雅黑" panose="020B0503020204020204" pitchFamily="34" charset="-122"/>
            </a:endParaRPr>
          </a:p>
          <a:p>
            <a:pPr>
              <a:buNone/>
            </a:pPr>
            <a:r>
              <a:rPr lang="zh-CN" altLang="x-none" sz="2000" dirty="0">
                <a:latin typeface="微软雅黑" panose="020B0503020204020204" pitchFamily="34" charset="-122"/>
                <a:ea typeface="微软雅黑" panose="020B0503020204020204" pitchFamily="34" charset="-122"/>
              </a:rPr>
              <a:t>其中</a:t>
            </a:r>
            <a:endParaRPr lang="en-US" altLang="zh-CN" sz="2000">
              <a:latin typeface="微软雅黑" panose="020B0503020204020204" pitchFamily="34" charset="-122"/>
              <a:ea typeface="微软雅黑" panose="020B0503020204020204" pitchFamily="34" charset="-122"/>
            </a:endParaRPr>
          </a:p>
          <a:p>
            <a:pPr lvl="1">
              <a:buFont typeface="Arial" panose="020B0604020202020204" pitchFamily="34" charset="0"/>
              <a:buChar char="•"/>
            </a:pPr>
            <a:r>
              <a:rPr lang="en-US" altLang="zh-CN" sz="2000">
                <a:latin typeface="微软雅黑" panose="020B0503020204020204" pitchFamily="34" charset="-122"/>
                <a:ea typeface="微软雅黑" panose="020B0503020204020204" pitchFamily="34" charset="-122"/>
              </a:rPr>
              <a:t>GL</a:t>
            </a:r>
            <a:r>
              <a:rPr lang="zh-CN" altLang="x-none" sz="2000" dirty="0">
                <a:latin typeface="微软雅黑" panose="020B0503020204020204" pitchFamily="34" charset="-122"/>
                <a:ea typeface="微软雅黑" panose="020B0503020204020204" pitchFamily="34" charset="-122"/>
              </a:rPr>
              <a:t>是广义表的名字</a:t>
            </a:r>
            <a:r>
              <a:rPr lang="zh-CN" altLang="en-US"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为</a:t>
            </a:r>
            <a:r>
              <a:rPr lang="zh-CN" altLang="en-US" sz="2000" b="1" dirty="0">
                <a:solidFill>
                  <a:srgbClr val="FF0000"/>
                </a:solidFill>
                <a:latin typeface="微软雅黑" panose="020B0503020204020204" pitchFamily="34" charset="-122"/>
                <a:ea typeface="微软雅黑" panose="020B0503020204020204" pitchFamily="34" charset="-122"/>
              </a:rPr>
              <a:t>表的长度</a:t>
            </a:r>
            <a:r>
              <a:rPr lang="zh-CN" altLang="x-none" sz="2000" dirty="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lvl="1">
              <a:lnSpc>
                <a:spcPct val="120000"/>
              </a:lnSpc>
              <a:buFont typeface="微软雅黑" panose="020B0503020204020204" pitchFamily="34" charset="-122"/>
              <a:buChar char="•"/>
            </a:pPr>
            <a:r>
              <a:rPr lang="en-US" altLang="zh-CN" sz="2000" i="1" err="1">
                <a:latin typeface="微软雅黑" panose="020B0503020204020204" pitchFamily="34" charset="-122"/>
                <a:ea typeface="微软雅黑" panose="020B0503020204020204" pitchFamily="34" charset="-122"/>
              </a:rPr>
              <a:t>e</a:t>
            </a:r>
            <a:r>
              <a:rPr lang="en-US" altLang="zh-CN" sz="2000" i="1" baseline="-25000" err="1">
                <a:latin typeface="微软雅黑" panose="020B0503020204020204" pitchFamily="34" charset="-122"/>
                <a:ea typeface="微软雅黑" panose="020B0503020204020204" pitchFamily="34" charset="-122"/>
              </a:rPr>
              <a:t>i</a:t>
            </a:r>
            <a:r>
              <a:rPr lang="en-US" altLang="zh-CN" sz="2000" i="1">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(1≤</a:t>
            </a:r>
            <a:r>
              <a:rPr lang="en-US" altLang="zh-CN" sz="2000" i="1">
                <a:latin typeface="微软雅黑" panose="020B0503020204020204" pitchFamily="34" charset="-122"/>
                <a:ea typeface="微软雅黑" panose="020B0503020204020204" pitchFamily="34" charset="-122"/>
              </a:rPr>
              <a:t> i </a:t>
            </a:r>
            <a:r>
              <a:rPr lang="en-US" altLang="zh-CN" sz="2000">
                <a:latin typeface="微软雅黑" panose="020B0503020204020204" pitchFamily="34" charset="-122"/>
                <a:ea typeface="微软雅黑" panose="020B0503020204020204" pitchFamily="34" charset="-122"/>
              </a:rPr>
              <a:t>≤</a:t>
            </a:r>
            <a:r>
              <a:rPr lang="en-US" altLang="zh-CN" sz="2000" i="1">
                <a:latin typeface="微软雅黑" panose="020B0503020204020204" pitchFamily="34" charset="-122"/>
                <a:ea typeface="微软雅黑" panose="020B0503020204020204" pitchFamily="34" charset="-122"/>
              </a:rPr>
              <a:t>n</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可以为</a:t>
            </a:r>
            <a:r>
              <a:rPr lang="zh-CN" altLang="en-US" sz="2000" b="1" dirty="0">
                <a:solidFill>
                  <a:srgbClr val="FF0000"/>
                </a:solidFill>
                <a:latin typeface="微软雅黑" panose="020B0503020204020204" pitchFamily="34" charset="-122"/>
                <a:ea typeface="微软雅黑" panose="020B0503020204020204" pitchFamily="34" charset="-122"/>
              </a:rPr>
              <a:t>原子项</a:t>
            </a:r>
            <a:r>
              <a:rPr lang="en-US" altLang="zh-CN" sz="2000" b="1">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小写字母表示</a:t>
            </a:r>
            <a:r>
              <a:rPr lang="en-US" altLang="zh-CN" sz="2000" b="1">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，也可以为</a:t>
            </a:r>
            <a:r>
              <a:rPr lang="zh-CN" altLang="en-US" sz="2000" b="1" dirty="0">
                <a:solidFill>
                  <a:srgbClr val="FF0000"/>
                </a:solidFill>
                <a:latin typeface="微软雅黑" panose="020B0503020204020204" pitchFamily="34" charset="-122"/>
                <a:ea typeface="微软雅黑" panose="020B0503020204020204" pitchFamily="34" charset="-122"/>
              </a:rPr>
              <a:t>广义表</a:t>
            </a:r>
            <a:r>
              <a:rPr lang="en-US" altLang="zh-CN" sz="2000" b="1">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大写字母表示</a:t>
            </a:r>
            <a:r>
              <a:rPr lang="en-US" altLang="zh-CN" sz="2000" b="1">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，分别称为广义表</a:t>
            </a:r>
            <a:r>
              <a:rPr lang="en-US" altLang="zh-CN" sz="2000">
                <a:latin typeface="微软雅黑" panose="020B0503020204020204" pitchFamily="34" charset="-122"/>
                <a:ea typeface="微软雅黑" panose="020B0503020204020204" pitchFamily="34" charset="-122"/>
              </a:rPr>
              <a:t>GL</a:t>
            </a:r>
            <a:r>
              <a:rPr lang="zh-CN" altLang="en-US" sz="2000" dirty="0">
                <a:latin typeface="微软雅黑" panose="020B0503020204020204" pitchFamily="34" charset="-122"/>
                <a:ea typeface="微软雅黑" panose="020B0503020204020204" pitchFamily="34" charset="-122"/>
              </a:rPr>
              <a:t>的原子（</a:t>
            </a:r>
            <a:r>
              <a:rPr lang="en-US" altLang="zh-CN" sz="2000" i="1">
                <a:latin typeface="微软雅黑" panose="020B0503020204020204" pitchFamily="34" charset="-122"/>
                <a:ea typeface="微软雅黑" panose="020B0503020204020204" pitchFamily="34" charset="-122"/>
              </a:rPr>
              <a:t>atom</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和子表。</a:t>
            </a:r>
            <a:endParaRPr lang="zh-CN" altLang="en-US" sz="2000" dirty="0">
              <a:latin typeface="微软雅黑" panose="020B0503020204020204" pitchFamily="34" charset="-122"/>
              <a:ea typeface="微软雅黑" panose="020B0503020204020204" pitchFamily="34" charset="-122"/>
            </a:endParaRPr>
          </a:p>
          <a:p>
            <a:pPr lvl="1">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对任一非空广义表有： </a:t>
            </a:r>
            <a:endParaRPr lang="zh-CN" altLang="en-US" sz="2000" dirty="0">
              <a:latin typeface="微软雅黑" panose="020B0503020204020204" pitchFamily="34" charset="-122"/>
              <a:ea typeface="微软雅黑" panose="020B0503020204020204" pitchFamily="34" charset="-122"/>
            </a:endParaRPr>
          </a:p>
          <a:p>
            <a:pPr lvl="3">
              <a:lnSpc>
                <a:spcPct val="120000"/>
              </a:lnSpc>
            </a:pPr>
            <a:r>
              <a:rPr lang="zh-CN" altLang="en-US" sz="2000" dirty="0">
                <a:latin typeface="微软雅黑" panose="020B0503020204020204" pitchFamily="34" charset="-122"/>
                <a:ea typeface="微软雅黑" panose="020B0503020204020204" pitchFamily="34" charset="-122"/>
              </a:rPr>
              <a:t>表头</a:t>
            </a:r>
            <a:r>
              <a:rPr lang="en-US" altLang="zh-CN" sz="2000" i="1">
                <a:latin typeface="微软雅黑" panose="020B0503020204020204" pitchFamily="34" charset="-122"/>
                <a:ea typeface="微软雅黑" panose="020B0503020204020204" pitchFamily="34" charset="-122"/>
              </a:rPr>
              <a:t>head:</a:t>
            </a:r>
            <a:r>
              <a:rPr lang="en-US" altLang="zh-CN" sz="2000">
                <a:latin typeface="微软雅黑" panose="020B0503020204020204" pitchFamily="34" charset="-122"/>
                <a:ea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rPr>
              <a:t>第一个元素</a:t>
            </a:r>
            <a:r>
              <a:rPr lang="zh-CN" altLang="en-US" sz="2000" dirty="0">
                <a:latin typeface="微软雅黑" panose="020B0503020204020204" pitchFamily="34" charset="-122"/>
                <a:ea typeface="微软雅黑" panose="020B0503020204020204" pitchFamily="34" charset="-122"/>
              </a:rPr>
              <a:t>，</a:t>
            </a:r>
            <a:r>
              <a:rPr lang="en-US" altLang="zh-CN" sz="2000" i="1">
                <a:latin typeface="微软雅黑" panose="020B0503020204020204" pitchFamily="34" charset="-122"/>
                <a:ea typeface="微软雅黑" panose="020B0503020204020204" pitchFamily="34" charset="-122"/>
              </a:rPr>
              <a:t>e</a:t>
            </a:r>
            <a:r>
              <a:rPr lang="en-US" altLang="zh-CN" sz="2000" i="1" baseline="-25000">
                <a:latin typeface="微软雅黑" panose="020B0503020204020204" pitchFamily="34" charset="-122"/>
                <a:ea typeface="微软雅黑" panose="020B0503020204020204" pitchFamily="34" charset="-122"/>
              </a:rPr>
              <a:t>1</a:t>
            </a:r>
            <a:endParaRPr lang="en-US" altLang="zh-CN" sz="2000" i="1" baseline="-25000">
              <a:latin typeface="微软雅黑" panose="020B0503020204020204" pitchFamily="34" charset="-122"/>
              <a:ea typeface="微软雅黑" panose="020B0503020204020204" pitchFamily="34" charset="-122"/>
            </a:endParaRPr>
          </a:p>
          <a:p>
            <a:pPr lvl="3">
              <a:lnSpc>
                <a:spcPct val="120000"/>
              </a:lnSpc>
            </a:pPr>
            <a:r>
              <a:rPr lang="zh-CN" altLang="en-US" sz="2000" dirty="0">
                <a:latin typeface="微软雅黑" panose="020B0503020204020204" pitchFamily="34" charset="-122"/>
                <a:ea typeface="微软雅黑" panose="020B0503020204020204" pitchFamily="34" charset="-122"/>
              </a:rPr>
              <a:t>表尾</a:t>
            </a:r>
            <a:r>
              <a:rPr lang="en-US" altLang="zh-CN" sz="2000" i="1">
                <a:latin typeface="微软雅黑" panose="020B0503020204020204" pitchFamily="34" charset="-122"/>
                <a:ea typeface="微软雅黑" panose="020B0503020204020204" pitchFamily="34" charset="-122"/>
              </a:rPr>
              <a:t>tail    :</a:t>
            </a:r>
            <a:r>
              <a:rPr lang="zh-CN" altLang="en-US" sz="2000" b="1" dirty="0">
                <a:solidFill>
                  <a:srgbClr val="FF0000"/>
                </a:solidFill>
                <a:latin typeface="微软雅黑" panose="020B0503020204020204" pitchFamily="34" charset="-122"/>
                <a:ea typeface="微软雅黑" panose="020B0503020204020204" pitchFamily="34" charset="-122"/>
              </a:rPr>
              <a:t>其余元素组成的表</a:t>
            </a:r>
            <a:r>
              <a:rPr lang="zh-CN" altLang="en-US" sz="2000" i="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e</a:t>
            </a:r>
            <a:r>
              <a:rPr lang="en-US" altLang="zh-CN" sz="2000" i="1" baseline="-25000">
                <a:latin typeface="微软雅黑" panose="020B0503020204020204" pitchFamily="34" charset="-122"/>
                <a:ea typeface="微软雅黑" panose="020B0503020204020204" pitchFamily="34" charset="-122"/>
              </a:rPr>
              <a:t>2</a:t>
            </a:r>
            <a:r>
              <a:rPr lang="en-US" altLang="zh-CN" sz="2000" i="1">
                <a:latin typeface="微软雅黑" panose="020B0503020204020204" pitchFamily="34" charset="-122"/>
                <a:ea typeface="微软雅黑" panose="020B0503020204020204" pitchFamily="34" charset="-122"/>
              </a:rPr>
              <a:t>, …,e</a:t>
            </a:r>
            <a:r>
              <a:rPr lang="en-US" altLang="zh-CN" sz="2000" i="1" baseline="-25000">
                <a:latin typeface="微软雅黑" panose="020B0503020204020204" pitchFamily="34" charset="-122"/>
                <a:ea typeface="微软雅黑" panose="020B0503020204020204" pitchFamily="34" charset="-122"/>
              </a:rPr>
              <a:t>n</a:t>
            </a:r>
            <a:r>
              <a:rPr lang="en-US" altLang="zh-CN" sz="200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1">
              <a:lnSpc>
                <a:spcPct val="120000"/>
              </a:lnSpc>
              <a:buFont typeface="Arial" panose="020B0604020202020204" pitchFamily="34" charset="0"/>
              <a:buChar char="•"/>
            </a:pPr>
            <a:r>
              <a:rPr lang="zh-CN" altLang="en-US" sz="2000" b="1" dirty="0">
                <a:solidFill>
                  <a:srgbClr val="FF0000"/>
                </a:solidFill>
                <a:latin typeface="微软雅黑" panose="020B0503020204020204" pitchFamily="34" charset="-122"/>
                <a:ea typeface="微软雅黑" panose="020B0503020204020204" pitchFamily="34" charset="-122"/>
              </a:rPr>
              <a:t>表的深度：</a:t>
            </a:r>
            <a:r>
              <a:rPr lang="zh-CN" altLang="en-US" sz="2000" dirty="0">
                <a:latin typeface="微软雅黑" panose="020B0503020204020204" pitchFamily="34" charset="-122"/>
                <a:ea typeface="微软雅黑" panose="020B0503020204020204" pitchFamily="34" charset="-122"/>
              </a:rPr>
              <a:t>指该广义表展开后所含括号的层数。</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广义表示例</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custDataLst>
              <p:tags r:id="rId2"/>
            </p:custDataLst>
          </p:nvPr>
        </p:nvGraphicFramePr>
        <p:xfrm>
          <a:off x="1386840" y="1287780"/>
          <a:ext cx="9244330" cy="3181985"/>
        </p:xfrm>
        <a:graphic>
          <a:graphicData uri="http://schemas.openxmlformats.org/drawingml/2006/table">
            <a:tbl>
              <a:tblPr firstRow="1" bandRow="1">
                <a:effectLst/>
                <a:tableStyleId>{5940675A-B579-460E-94D1-54222C63F5DA}</a:tableStyleId>
              </a:tblPr>
              <a:tblGrid>
                <a:gridCol w="2290445"/>
                <a:gridCol w="1407795"/>
                <a:gridCol w="1210310"/>
                <a:gridCol w="2781300"/>
                <a:gridCol w="1554480"/>
              </a:tblGrid>
              <a:tr h="411480">
                <a:tc>
                  <a:txBody>
                    <a:bodyPr/>
                    <a:p>
                      <a:r>
                        <a:rPr lang="zh-CN" altLang="en-US" sz="1800" b="1" dirty="0" smtClean="0">
                          <a:solidFill>
                            <a:srgbClr val="FEE9DE"/>
                          </a:solidFill>
                          <a:latin typeface="微软雅黑" panose="020B0503020204020204" pitchFamily="34" charset="-122"/>
                          <a:ea typeface="微软雅黑" panose="020B0503020204020204" pitchFamily="34" charset="-122"/>
                        </a:rPr>
                        <a:t>广义表</a:t>
                      </a:r>
                      <a:endParaRPr lang="zh-CN" altLang="en-US" sz="1800" b="1" dirty="0">
                        <a:solidFill>
                          <a:srgbClr val="FEE9DE"/>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38100" cmpd="sng">
                      <a:solidFill>
                        <a:srgbClr val="FEE9DE"/>
                      </a:solidFill>
                    </a:lnB>
                    <a:solidFill>
                      <a:srgbClr val="5CB1FE"/>
                    </a:solidFill>
                  </a:tcPr>
                </a:tc>
                <a:tc>
                  <a:txBody>
                    <a:bodyPr/>
                    <a:p>
                      <a:r>
                        <a:rPr lang="zh-CN" altLang="en-US" sz="1800" b="1" dirty="0" smtClean="0">
                          <a:solidFill>
                            <a:srgbClr val="FEE9DE"/>
                          </a:solidFill>
                          <a:latin typeface="微软雅黑" panose="020B0503020204020204" pitchFamily="34" charset="-122"/>
                          <a:ea typeface="微软雅黑" panose="020B0503020204020204" pitchFamily="34" charset="-122"/>
                        </a:rPr>
                        <a:t>长度</a:t>
                      </a:r>
                      <a:endParaRPr lang="zh-CN" altLang="en-US" sz="1800" b="1" dirty="0">
                        <a:solidFill>
                          <a:srgbClr val="FEE9DE"/>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38100" cmpd="sng">
                      <a:solidFill>
                        <a:srgbClr val="FEE9DE"/>
                      </a:solidFill>
                    </a:lnB>
                    <a:solidFill>
                      <a:srgbClr val="5CB1FE"/>
                    </a:solidFill>
                  </a:tcPr>
                </a:tc>
                <a:tc>
                  <a:txBody>
                    <a:bodyPr/>
                    <a:p>
                      <a:r>
                        <a:rPr lang="zh-CN" altLang="en-US" sz="1800" b="1" dirty="0" smtClean="0">
                          <a:solidFill>
                            <a:srgbClr val="FEE9DE"/>
                          </a:solidFill>
                          <a:latin typeface="微软雅黑" panose="020B0503020204020204" pitchFamily="34" charset="-122"/>
                          <a:ea typeface="微软雅黑" panose="020B0503020204020204" pitchFamily="34" charset="-122"/>
                        </a:rPr>
                        <a:t>表头</a:t>
                      </a:r>
                      <a:endParaRPr lang="zh-CN" altLang="en-US" sz="1800" b="1" dirty="0">
                        <a:solidFill>
                          <a:srgbClr val="FEE9DE"/>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38100" cmpd="sng">
                      <a:solidFill>
                        <a:srgbClr val="FEE9DE"/>
                      </a:solidFill>
                    </a:lnB>
                    <a:solidFill>
                      <a:srgbClr val="5CB1FE"/>
                    </a:solidFill>
                  </a:tcPr>
                </a:tc>
                <a:tc>
                  <a:txBody>
                    <a:bodyPr/>
                    <a:p>
                      <a:r>
                        <a:rPr lang="zh-CN" altLang="en-US" sz="1800" b="1" dirty="0" smtClean="0">
                          <a:solidFill>
                            <a:srgbClr val="FEE9DE"/>
                          </a:solidFill>
                          <a:latin typeface="微软雅黑" panose="020B0503020204020204" pitchFamily="34" charset="-122"/>
                          <a:ea typeface="微软雅黑" panose="020B0503020204020204" pitchFamily="34" charset="-122"/>
                        </a:rPr>
                        <a:t>表尾</a:t>
                      </a:r>
                      <a:endParaRPr lang="zh-CN" altLang="en-US" sz="1800" b="1" dirty="0">
                        <a:solidFill>
                          <a:srgbClr val="FEE9DE"/>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38100" cmpd="sng">
                      <a:solidFill>
                        <a:srgbClr val="FEE9DE"/>
                      </a:solidFill>
                    </a:lnB>
                    <a:solidFill>
                      <a:srgbClr val="5CB1FE"/>
                    </a:solidFill>
                  </a:tcPr>
                </a:tc>
                <a:tc>
                  <a:txBody>
                    <a:bodyPr/>
                    <a:p>
                      <a:r>
                        <a:rPr lang="zh-CN" altLang="en-US" sz="1800" b="1" dirty="0" smtClean="0">
                          <a:solidFill>
                            <a:srgbClr val="FEE9DE"/>
                          </a:solidFill>
                          <a:latin typeface="微软雅黑" panose="020B0503020204020204" pitchFamily="34" charset="-122"/>
                          <a:ea typeface="微软雅黑" panose="020B0503020204020204" pitchFamily="34" charset="-122"/>
                        </a:rPr>
                        <a:t>深度</a:t>
                      </a:r>
                      <a:endParaRPr lang="zh-CN" altLang="en-US" sz="1800" b="1" dirty="0">
                        <a:solidFill>
                          <a:srgbClr val="FEE9DE"/>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38100" cmpd="sng">
                      <a:solidFill>
                        <a:srgbClr val="FEE9DE"/>
                      </a:solidFill>
                    </a:lnB>
                    <a:solidFill>
                      <a:srgbClr val="5CB1FE"/>
                    </a:solidFill>
                  </a:tcPr>
                </a:tc>
              </a:tr>
              <a:tr h="412750">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r>
                        <a:rPr lang="en-US" sz="1800" kern="1200" dirty="0" smtClean="0">
                          <a:solidFill>
                            <a:srgbClr val="000000"/>
                          </a:solidFill>
                          <a:latin typeface="微软雅黑" panose="020B0503020204020204" pitchFamily="34" charset="-122"/>
                          <a:ea typeface="微软雅黑" panose="020B0503020204020204" pitchFamily="34" charset="-122"/>
                          <a:cs typeface="+mn-ea"/>
                        </a:rPr>
                        <a:t> = ( )</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0</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zh-CN" altLang="en-US" sz="1800" dirty="0" smtClean="0">
                          <a:solidFill>
                            <a:srgbClr val="000000"/>
                          </a:solidFill>
                          <a:latin typeface="微软雅黑" panose="020B0503020204020204" pitchFamily="34" charset="-122"/>
                          <a:ea typeface="微软雅黑" panose="020B0503020204020204" pitchFamily="34" charset="-122"/>
                        </a:rPr>
                        <a:t>空</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zh-CN" altLang="en-US" sz="1800" dirty="0" smtClean="0">
                          <a:solidFill>
                            <a:srgbClr val="000000"/>
                          </a:solidFill>
                          <a:latin typeface="微软雅黑" panose="020B0503020204020204" pitchFamily="34" charset="-122"/>
                          <a:ea typeface="微软雅黑" panose="020B0503020204020204" pitchFamily="34" charset="-122"/>
                        </a:rPr>
                        <a:t>空</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1</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r>
              <a:tr h="411480">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B </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b</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2</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b</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1</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r>
              <a:tr h="411480">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C</a:t>
                      </a:r>
                      <a:r>
                        <a:rPr lang="en-US" sz="1800" kern="1200" dirty="0" smtClean="0">
                          <a:solidFill>
                            <a:srgbClr val="000000"/>
                          </a:solidFill>
                          <a:latin typeface="微软雅黑" panose="020B0503020204020204" pitchFamily="34" charset="-122"/>
                          <a:ea typeface="微软雅黑" panose="020B0503020204020204" pitchFamily="34" charset="-122"/>
                          <a:cs typeface="+mn-ea"/>
                        </a:rPr>
                        <a:t> =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s</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 t</a:t>
                      </a:r>
                      <a:r>
                        <a:rPr lang="en-US" sz="1800" kern="1200" dirty="0" smtClean="0">
                          <a:solidFill>
                            <a:srgbClr val="000000"/>
                          </a:solidFill>
                          <a:latin typeface="微软雅黑" panose="020B0503020204020204" pitchFamily="34" charset="-122"/>
                          <a:ea typeface="微软雅黑" panose="020B0503020204020204" pitchFamily="34" charset="-122"/>
                          <a:cs typeface="+mn-ea"/>
                        </a:rPr>
                        <a:t> ),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u</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v</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3</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s</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t</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u</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v</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2</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r>
              <a:tr h="412115">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D</a:t>
                      </a:r>
                      <a:r>
                        <a:rPr lang="en-US" sz="1800" kern="1200" dirty="0" smtClean="0">
                          <a:solidFill>
                            <a:srgbClr val="000000"/>
                          </a:solidFill>
                          <a:latin typeface="微软雅黑" panose="020B0503020204020204" pitchFamily="34" charset="-122"/>
                          <a:ea typeface="微软雅黑" panose="020B0503020204020204" pitchFamily="34" charset="-122"/>
                          <a:cs typeface="+mn-ea"/>
                        </a:rPr>
                        <a:t> =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B</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y</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C</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4</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b</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y</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s</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t</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u</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v</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3</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r>
              <a:tr h="412115">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E</a:t>
                      </a:r>
                      <a:r>
                        <a:rPr lang="en-US" sz="1800" kern="1200" dirty="0" smtClean="0">
                          <a:solidFill>
                            <a:srgbClr val="000000"/>
                          </a:solidFill>
                          <a:latin typeface="微软雅黑" panose="020B0503020204020204" pitchFamily="34" charset="-122"/>
                          <a:ea typeface="微软雅黑" panose="020B0503020204020204" pitchFamily="34" charset="-122"/>
                          <a:cs typeface="+mn-ea"/>
                        </a:rPr>
                        <a:t> =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E</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2</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zh-CN" altLang="en-US" sz="1800" kern="1200" dirty="0" smtClean="0">
                          <a:solidFill>
                            <a:srgbClr val="000000"/>
                          </a:solidFill>
                          <a:latin typeface="微软雅黑" panose="020B0503020204020204" pitchFamily="34" charset="-122"/>
                          <a:ea typeface="微软雅黑" panose="020B0503020204020204" pitchFamily="34" charset="-122"/>
                          <a:cs typeface="+mn-ea"/>
                        </a:rPr>
                        <a:t> </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a</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r>
                        <a:rPr lang="en-US" sz="1800" i="1" kern="1200" dirty="0" smtClean="0">
                          <a:solidFill>
                            <a:srgbClr val="000000"/>
                          </a:solidFill>
                          <a:latin typeface="微软雅黑" panose="020B0503020204020204" pitchFamily="34" charset="-122"/>
                          <a:ea typeface="微软雅黑" panose="020B0503020204020204" pitchFamily="34" charset="-122"/>
                          <a:cs typeface="+mn-ea"/>
                        </a:rPr>
                        <a:t>E</a:t>
                      </a:r>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c>
                  <a:txBody>
                    <a:bodyPr/>
                    <a:p>
                      <a:r>
                        <a:rPr lang="en-US" sz="1800" kern="1200" dirty="0" smtClean="0">
                          <a:solidFill>
                            <a:srgbClr val="000000"/>
                          </a:solidFill>
                          <a:latin typeface="微软雅黑" panose="020B0503020204020204" pitchFamily="34" charset="-122"/>
                          <a:ea typeface="微软雅黑" panose="020B0503020204020204" pitchFamily="34" charset="-122"/>
                          <a:cs typeface="+mn-ea"/>
                        </a:rPr>
                        <a:t>∞</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40000"/>
                      </a:srgbClr>
                    </a:solidFill>
                  </a:tcPr>
                </a:tc>
              </a:tr>
              <a:tr h="710565">
                <a:tc>
                  <a:txBody>
                    <a:bodyPr/>
                    <a:p>
                      <a:r>
                        <a:rPr lang="en-US" sz="1800" i="1" kern="1200" dirty="0" smtClean="0">
                          <a:solidFill>
                            <a:srgbClr val="000000"/>
                          </a:solidFill>
                          <a:latin typeface="微软雅黑" panose="020B0503020204020204" pitchFamily="34" charset="-122"/>
                          <a:ea typeface="微软雅黑" panose="020B0503020204020204" pitchFamily="34" charset="-122"/>
                          <a:cs typeface="+mn-ea"/>
                        </a:rPr>
                        <a:t>F</a:t>
                      </a:r>
                      <a:r>
                        <a:rPr lang="en-US" sz="1800" kern="1200" dirty="0" smtClean="0">
                          <a:solidFill>
                            <a:srgbClr val="000000"/>
                          </a:solidFill>
                          <a:latin typeface="微软雅黑" panose="020B0503020204020204" pitchFamily="34" charset="-122"/>
                          <a:ea typeface="微软雅黑" panose="020B0503020204020204" pitchFamily="34" charset="-122"/>
                          <a:cs typeface="+mn-ea"/>
                        </a:rPr>
                        <a:t> = (( ))</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1</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pPr marL="0" marR="0" indent="0" algn="l" defTabSz="914400" rtl="0" eaLnBrk="1" fontAlgn="auto" latinLnBrk="0" hangingPunct="1">
                        <a:lnSpc>
                          <a:spcPct val="100000"/>
                        </a:lnSpc>
                        <a:spcBef>
                          <a:spcPts val="0"/>
                        </a:spcBef>
                        <a:spcAft>
                          <a:spcPts val="0"/>
                        </a:spcAft>
                        <a:buClrTx/>
                        <a:buSzTx/>
                        <a:buFontTx/>
                        <a:buNone/>
                        <a:defRPr/>
                      </a:pP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pPr marL="0" marR="0" indent="0" algn="l" defTabSz="914400" rtl="0" eaLnBrk="1" fontAlgn="auto" latinLnBrk="0" hangingPunct="1">
                        <a:lnSpc>
                          <a:spcPct val="100000"/>
                        </a:lnSpc>
                        <a:spcBef>
                          <a:spcPts val="0"/>
                        </a:spcBef>
                        <a:spcAft>
                          <a:spcPts val="0"/>
                        </a:spcAft>
                        <a:buClrTx/>
                        <a:buSzTx/>
                        <a:buFontTx/>
                        <a:buNone/>
                        <a:defRPr/>
                      </a:pPr>
                      <a:r>
                        <a:rPr lang="en-US" sz="1800" kern="1200" dirty="0" smtClean="0">
                          <a:solidFill>
                            <a:srgbClr val="000000"/>
                          </a:solidFill>
                          <a:latin typeface="微软雅黑" panose="020B0503020204020204" pitchFamily="34" charset="-122"/>
                          <a:ea typeface="微软雅黑" panose="020B0503020204020204" pitchFamily="34" charset="-122"/>
                          <a:cs typeface="+mn-ea"/>
                        </a:rPr>
                        <a:t>( )</a:t>
                      </a:r>
                      <a:endParaRPr lang="zh-CN" altLang="en-US" sz="1800" dirty="0" smtClean="0"/>
                    </a:p>
                    <a:p>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c>
                  <a:txBody>
                    <a:bodyPr/>
                    <a:p>
                      <a:r>
                        <a:rPr lang="en-US" altLang="zh-CN" sz="1800" dirty="0" smtClean="0">
                          <a:solidFill>
                            <a:srgbClr val="000000"/>
                          </a:solidFill>
                          <a:latin typeface="微软雅黑" panose="020B0503020204020204" pitchFamily="34" charset="-122"/>
                          <a:ea typeface="微软雅黑" panose="020B0503020204020204" pitchFamily="34" charset="-122"/>
                        </a:rPr>
                        <a:t>2</a:t>
                      </a:r>
                      <a:endParaRPr lang="zh-CN" altLang="en-US" sz="1800" dirty="0">
                        <a:solidFill>
                          <a:srgbClr val="000000"/>
                        </a:solidFill>
                        <a:latin typeface="微软雅黑" panose="020B0503020204020204" pitchFamily="34" charset="-122"/>
                        <a:ea typeface="微软雅黑" panose="020B0503020204020204" pitchFamily="34" charset="-122"/>
                      </a:endParaRPr>
                    </a:p>
                  </a:txBody>
                  <a:tcPr marT="45725" marB="45725">
                    <a:lnL w="12700" cmpd="sng">
                      <a:solidFill>
                        <a:srgbClr val="FEE9DE"/>
                      </a:solidFill>
                    </a:lnL>
                    <a:lnR w="12700" cmpd="sng">
                      <a:solidFill>
                        <a:srgbClr val="FEE9DE"/>
                      </a:solidFill>
                    </a:lnR>
                    <a:lnT w="12700" cmpd="sng">
                      <a:solidFill>
                        <a:srgbClr val="FEE9DE"/>
                      </a:solidFill>
                    </a:lnT>
                    <a:lnB w="12700" cmpd="sng">
                      <a:solidFill>
                        <a:srgbClr val="FEE9DE"/>
                      </a:solidFill>
                    </a:lnB>
                    <a:solidFill>
                      <a:srgbClr val="5CB1FE">
                        <a:tint val="20000"/>
                      </a:srgbClr>
                    </a:solidFill>
                  </a:tcPr>
                </a:tc>
              </a:tr>
            </a:tbl>
          </a:graphicData>
        </a:graphic>
      </p:graphicFrame>
      <p:sp>
        <p:nvSpPr>
          <p:cNvPr id="12" name="内容占位符 2"/>
          <p:cNvSpPr txBox="1"/>
          <p:nvPr/>
        </p:nvSpPr>
        <p:spPr bwMode="gray">
          <a:xfrm>
            <a:off x="660400" y="4680585"/>
            <a:ext cx="10838180" cy="1448435"/>
          </a:xfrm>
          <a:prstGeom prst="rect">
            <a:avLst/>
          </a:prstGeom>
          <a:noFill/>
          <a:ln w="9525">
            <a:noFill/>
            <a:miter lim="800000"/>
          </a:ln>
        </p:spPr>
        <p:txBody>
          <a:bodyPr/>
          <a:p>
            <a:pPr marL="342900" marR="0" indent="-342900" defTabSz="914400" eaLnBrk="0" hangingPunct="0">
              <a:spcBef>
                <a:spcPct val="20000"/>
              </a:spcBef>
              <a:buClrTx/>
              <a:buSzTx/>
              <a:buFontTx/>
              <a:buNone/>
              <a:defRPr/>
            </a:pP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分析：</a:t>
            </a:r>
            <a:endParaRPr kumimoji="0" lang="en-US" altLang="zh-CN"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a:p>
            <a:pPr marL="342900" marR="0" indent="457200" defTabSz="914400" eaLnBrk="0" fontAlgn="auto" hangingPunct="0">
              <a:lnSpc>
                <a:spcPct val="125000"/>
              </a:lnSpc>
              <a:spcBef>
                <a:spcPts val="0"/>
              </a:spcBef>
              <a:buClrTx/>
              <a:buSzTx/>
              <a:buFontTx/>
              <a:buNone/>
              <a:defRPr/>
            </a:pP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D</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是长度为</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4</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的广义表，将上面的</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a:t>
            </a:r>
            <a:r>
              <a:rPr kumimoji="0" lang="zh-CN"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B</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和</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C</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代入，可得</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D</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 ((</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 b</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y, </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s, t</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u, </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v</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，其表头为</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zh-CN"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，表尾为</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 b</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y</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s, t</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 u, </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en-US"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v</a:t>
            </a:r>
            <a:r>
              <a:rPr kumimoji="0" lang="en-US" altLang="en-US" sz="2000" b="0"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r>
              <a:rPr kumimoji="0" lang="zh-CN"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rPr>
              <a:t>。</a:t>
            </a:r>
            <a:endParaRPr kumimoji="0" lang="zh-CN" altLang="en-US" sz="2000" b="0" i="1"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广义表的抽象数据类型定义</a:t>
            </a:r>
            <a:endParaRPr lang="zh-CN" altLang="en-US" sz="3600" i="1" dirty="0"/>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aphicFrame>
        <p:nvGraphicFramePr>
          <p:cNvPr id="13" name="表格 12"/>
          <p:cNvGraphicFramePr>
            <a:graphicFrameLocks noGrp="1"/>
          </p:cNvGraphicFramePr>
          <p:nvPr/>
        </p:nvGraphicFramePr>
        <p:xfrm>
          <a:off x="1513205" y="1036955"/>
          <a:ext cx="8686800" cy="5181600"/>
        </p:xfrm>
        <a:graphic>
          <a:graphicData uri="http://schemas.openxmlformats.org/drawingml/2006/table">
            <a:tbl>
              <a:tblPr>
                <a:effectLst/>
                <a:tableStyleId>{5940675A-B579-460E-94D1-54222C63F5DA}</a:tableStyleId>
              </a:tblPr>
              <a:tblGrid>
                <a:gridCol w="8686800"/>
              </a:tblGrid>
              <a:tr h="5181600">
                <a:tc>
                  <a:txBody>
                    <a:bodyPr/>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ADT </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Glist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数据对象：</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D</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ei|ei</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AtomSet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GList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=1,2,...,n</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n≥0</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AtomSet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为某个数据对象</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数据关系：</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R1</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{&lt;ei-1, </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&gt;|ei-1,ei</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=2,3,</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基本操作：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Init(&amp;L);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操作结果：创建空的广义表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Destroy(&amp;L);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初始条件：广义表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操作结果：销毁广义表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Create(&amp;L, S);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初始条件：</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是广义表的书写形式串。</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操作结果：由</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创建广义表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Copy(&amp;T, L);</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初始条件：广义表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操作结果：复制广义表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得到广义表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Length(L);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操作结果：求广义表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的长度。</a:t>
                      </a:r>
                      <a:endPar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广义表的抽象数据类型定义</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custDataLst>
              <p:tags r:id="rId2"/>
            </p:custDataLst>
          </p:nvPr>
        </p:nvGraphicFramePr>
        <p:xfrm>
          <a:off x="1564005" y="1014095"/>
          <a:ext cx="9063990" cy="5372100"/>
        </p:xfrm>
        <a:graphic>
          <a:graphicData uri="http://schemas.openxmlformats.org/drawingml/2006/table">
            <a:tbl>
              <a:tblPr>
                <a:effectLst/>
                <a:tableStyleId>{5940675A-B579-460E-94D1-54222C63F5DA}</a:tableStyleId>
              </a:tblPr>
              <a:tblGrid>
                <a:gridCol w="9063990"/>
              </a:tblGrid>
              <a:tr h="5372100">
                <a:tc>
                  <a:txBody>
                    <a:bodyPr/>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ADT </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Glist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数据对象：</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D</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ei|ei</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AtomSet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GList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=1,2,...,n</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n≥0</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AtomSet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为某个数据对象</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数据关系：</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R1</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{&lt;ei-1, </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&gt;|ei-1,ei</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err="1"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=2,3,</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基本操作：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Init(&amp;L);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操作结果：创建空的广义表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Destroy(&amp;L);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初始条件：广义表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操作结果：销毁广义表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Create(&amp;L, S);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初始条件：</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是广义表的书写形式串。</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操作结果：由</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创建广义表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Copy(&amp;T, L);</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初始条件：广义表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操作结果：复制广义表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得到广义表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Length(L); </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初始条件：广义表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存在。</a:t>
                      </a:r>
                      <a:endPar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algn="just" defTabSz="914400" rtl="0" eaLnBrk="1" latinLnBrk="0" hangingPunct="1">
                        <a:spcAft>
                          <a:spcPts val="0"/>
                        </a:spcAft>
                        <a:tabLst>
                          <a:tab pos="3581400" algn="l"/>
                        </a:tabLst>
                      </a:pP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操作结果：求广义表</a:t>
                      </a:r>
                      <a:r>
                        <a:rPr 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1600" kern="120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的长度。</a:t>
                      </a:r>
                      <a:endParaRPr 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广义表的特点</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45414" name="内容占位符 2"/>
          <p:cNvSpPr>
            <a:spLocks noGrp="1"/>
          </p:cNvSpPr>
          <p:nvPr/>
        </p:nvSpPr>
        <p:spPr>
          <a:xfrm>
            <a:off x="457200" y="1295400"/>
            <a:ext cx="10522585" cy="489775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广义表中的元素有相对次序。</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广义表是一个多层次结构。</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广义表可以共享。如：</a:t>
            </a:r>
            <a:r>
              <a:rPr lang="en-US" altLang="zh-CN" sz="2000" i="1">
                <a:latin typeface="微软雅黑" panose="020B0503020204020204" pitchFamily="34" charset="-122"/>
                <a:ea typeface="微软雅黑" panose="020B0503020204020204" pitchFamily="34" charset="-122"/>
              </a:rPr>
              <a:t>V</a:t>
            </a:r>
            <a:r>
              <a:rPr lang="en-US" altLang="zh-CN" sz="2000">
                <a:latin typeface="微软雅黑" panose="020B0503020204020204" pitchFamily="34" charset="-122"/>
                <a:ea typeface="微软雅黑" panose="020B0503020204020204" pitchFamily="34" charset="-122"/>
              </a:rPr>
              <a:t> = (</a:t>
            </a:r>
            <a:r>
              <a:rPr lang="en-US" altLang="zh-CN" sz="2000" i="1">
                <a:latin typeface="微软雅黑" panose="020B0503020204020204" pitchFamily="34" charset="-122"/>
                <a:ea typeface="微软雅黑" panose="020B0503020204020204" pitchFamily="34" charset="-122"/>
              </a:rPr>
              <a:t>S</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x</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en-US" altLang="zh-CN" sz="2000" i="1">
                <a:latin typeface="微软雅黑" panose="020B0503020204020204" pitchFamily="34" charset="-122"/>
                <a:ea typeface="微软雅黑" panose="020B0503020204020204" pitchFamily="34" charset="-122"/>
              </a:rPr>
              <a:t>W</a:t>
            </a:r>
            <a:r>
              <a:rPr lang="en-US" altLang="zh-CN" sz="2000">
                <a:latin typeface="微软雅黑" panose="020B0503020204020204" pitchFamily="34" charset="-122"/>
                <a:ea typeface="微软雅黑" panose="020B0503020204020204" pitchFamily="34" charset="-122"/>
              </a:rPr>
              <a:t> = (</a:t>
            </a:r>
            <a:r>
              <a:rPr lang="en-US" altLang="zh-CN" sz="2000" i="1">
                <a:latin typeface="微软雅黑" panose="020B0503020204020204" pitchFamily="34" charset="-122"/>
                <a:ea typeface="微软雅黑" panose="020B0503020204020204" pitchFamily="34" charset="-122"/>
              </a:rPr>
              <a:t>a</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S</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b</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，其中：</a:t>
            </a:r>
            <a:r>
              <a:rPr lang="zh-CN" altLang="en-US" sz="2000" i="1" dirty="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S </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a</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b</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c</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en-US" sz="2000" i="1" dirty="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V</a:t>
            </a:r>
            <a:r>
              <a:rPr lang="en-US" altLang="zh-CN" sz="200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和</a:t>
            </a:r>
            <a:r>
              <a:rPr lang="en-US" altLang="zh-CN" sz="2000" i="1">
                <a:latin typeface="微软雅黑" panose="020B0503020204020204" pitchFamily="34" charset="-122"/>
                <a:ea typeface="微软雅黑" panose="020B0503020204020204" pitchFamily="34" charset="-122"/>
              </a:rPr>
              <a:t>W</a:t>
            </a:r>
            <a:r>
              <a:rPr lang="en-US" altLang="zh-CN" sz="200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共享了</a:t>
            </a:r>
            <a:r>
              <a:rPr lang="en-US" altLang="zh-CN" sz="2000" i="1">
                <a:latin typeface="微软雅黑" panose="020B0503020204020204" pitchFamily="34" charset="-122"/>
                <a:ea typeface="微软雅黑" panose="020B0503020204020204" pitchFamily="34" charset="-122"/>
              </a:rPr>
              <a:t>S </a:t>
            </a:r>
            <a:r>
              <a:rPr lang="zh-CN" altLang="en-US" sz="2000" i="1" dirty="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广义表的</a:t>
            </a:r>
            <a:r>
              <a:rPr lang="zh-CN" altLang="en-US" sz="2000" b="1" dirty="0">
                <a:solidFill>
                  <a:srgbClr val="FF0000"/>
                </a:solidFill>
                <a:latin typeface="微软雅黑" panose="020B0503020204020204" pitchFamily="34" charset="-122"/>
                <a:ea typeface="微软雅黑" panose="020B0503020204020204" pitchFamily="34" charset="-122"/>
              </a:rPr>
              <a:t>长度</a:t>
            </a:r>
            <a:r>
              <a:rPr lang="zh-CN" altLang="en-US" sz="2000" dirty="0">
                <a:latin typeface="微软雅黑" panose="020B0503020204020204" pitchFamily="34" charset="-122"/>
                <a:ea typeface="微软雅黑" panose="020B0503020204020204" pitchFamily="34" charset="-122"/>
              </a:rPr>
              <a:t>定义为最外层包含元素个数。</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广义表的</a:t>
            </a:r>
            <a:r>
              <a:rPr lang="zh-CN" altLang="en-US" sz="2000" b="1" dirty="0">
                <a:solidFill>
                  <a:srgbClr val="FF0000"/>
                </a:solidFill>
                <a:latin typeface="微软雅黑" panose="020B0503020204020204" pitchFamily="34" charset="-122"/>
                <a:ea typeface="微软雅黑" panose="020B0503020204020204" pitchFamily="34" charset="-122"/>
              </a:rPr>
              <a:t>深度</a:t>
            </a:r>
            <a:r>
              <a:rPr lang="zh-CN" altLang="en-US" sz="2000" dirty="0">
                <a:latin typeface="微软雅黑" panose="020B0503020204020204" pitchFamily="34" charset="-122"/>
                <a:ea typeface="微软雅黑" panose="020B0503020204020204" pitchFamily="34" charset="-122"/>
              </a:rPr>
              <a:t>定义为所含括弧的重数</a:t>
            </a: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000" dirty="0">
                <a:latin typeface="微软雅黑" panose="020B0503020204020204" pitchFamily="34" charset="-122"/>
                <a:ea typeface="微软雅黑" panose="020B0503020204020204" pitchFamily="34" charset="-122"/>
              </a:rPr>
              <a:t>广义表可以是一个递归的表。如</a:t>
            </a:r>
            <a:r>
              <a:rPr lang="en-US" altLang="zh-CN" sz="2000" i="1">
                <a:latin typeface="微软雅黑" panose="020B0503020204020204" pitchFamily="34" charset="-122"/>
                <a:ea typeface="微软雅黑" panose="020B0503020204020204" pitchFamily="34" charset="-122"/>
              </a:rPr>
              <a:t>E</a:t>
            </a:r>
            <a:r>
              <a:rPr lang="en-US" altLang="zh-CN" sz="2000">
                <a:latin typeface="微软雅黑" panose="020B0503020204020204" pitchFamily="34" charset="-122"/>
                <a:ea typeface="微软雅黑" panose="020B0503020204020204" pitchFamily="34" charset="-122"/>
              </a:rPr>
              <a:t> = (</a:t>
            </a:r>
            <a:r>
              <a:rPr lang="en-US" altLang="zh-CN" sz="2000" i="1">
                <a:latin typeface="微软雅黑" panose="020B0503020204020204" pitchFamily="34" charset="-122"/>
                <a:ea typeface="微软雅黑" panose="020B0503020204020204" pitchFamily="34" charset="-122"/>
              </a:rPr>
              <a:t>a</a:t>
            </a:r>
            <a:r>
              <a:rPr lang="en-US" altLang="zh-CN" sz="2000">
                <a:latin typeface="微软雅黑" panose="020B0503020204020204" pitchFamily="34" charset="-122"/>
                <a:ea typeface="微软雅黑" panose="020B0503020204020204" pitchFamily="34" charset="-122"/>
              </a:rPr>
              <a:t>, </a:t>
            </a:r>
            <a:r>
              <a:rPr lang="en-US" altLang="zh-CN" sz="2000" i="1">
                <a:latin typeface="微软雅黑" panose="020B0503020204020204" pitchFamily="34" charset="-122"/>
                <a:ea typeface="微软雅黑" panose="020B0503020204020204" pitchFamily="34" charset="-122"/>
              </a:rPr>
              <a:t>E</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递归表的深度是无穷值，长度是有限值</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088672" y="648982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altLang="zh-CN" sz="4000" dirty="0">
                <a:solidFill>
                  <a:srgbClr val="000066"/>
                </a:solidFill>
                <a:latin typeface="微软雅黑" panose="020B0503020204020204" pitchFamily="34" charset="-122"/>
                <a:ea typeface="微软雅黑" panose="020B0503020204020204" pitchFamily="34" charset="-122"/>
                <a:cs typeface="+mn-ea"/>
                <a:sym typeface="+mn-ea"/>
              </a:rPr>
              <a:t> </a:t>
            </a:r>
            <a:r>
              <a:rPr lang="zh-CN" sz="3600" b="1" dirty="0">
                <a:solidFill>
                  <a:schemeClr val="bg1"/>
                </a:solidFill>
                <a:latin typeface="微软雅黑" panose="020B0503020204020204" pitchFamily="34" charset="-122"/>
                <a:ea typeface="微软雅黑" panose="020B0503020204020204" pitchFamily="34" charset="-122"/>
                <a:sym typeface="+mn-ea"/>
              </a:rPr>
              <a:t>3.5.2 广义表的存储结构</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46444" name="TextBox 7"/>
          <p:cNvSpPr txBox="1"/>
          <p:nvPr/>
        </p:nvSpPr>
        <p:spPr>
          <a:xfrm>
            <a:off x="393065" y="1128395"/>
            <a:ext cx="10937875" cy="833755"/>
          </a:xfrm>
          <a:prstGeom prst="rect">
            <a:avLst/>
          </a:prstGeom>
          <a:noFill/>
          <a:ln w="9525">
            <a:noFill/>
          </a:ln>
        </p:spPr>
        <p:txBody>
          <a:bodyPr>
            <a:noAutofit/>
          </a:bodyPr>
          <a:p>
            <a:pPr marL="457200" indent="-457200">
              <a:buFont typeface="Arial" panose="020B0604020202020204" pitchFamily="34" charset="0"/>
              <a:buChar char="•"/>
            </a:pPr>
            <a:r>
              <a:rPr lang="zh-CN" altLang="en-US" sz="2000" dirty="0">
                <a:solidFill>
                  <a:srgbClr val="FF0000"/>
                </a:solidFill>
                <a:latin typeface="微软雅黑" panose="020B0503020204020204" pitchFamily="34" charset="-122"/>
              </a:rPr>
              <a:t>头尾链表存储表示</a:t>
            </a:r>
            <a:r>
              <a:rPr lang="en-US" altLang="zh-CN" sz="2000">
                <a:solidFill>
                  <a:srgbClr val="FF0000"/>
                </a:solidFill>
                <a:latin typeface="微软雅黑" panose="020B0503020204020204" pitchFamily="34" charset="-122"/>
              </a:rPr>
              <a:t>:</a:t>
            </a:r>
            <a:r>
              <a:rPr lang="zh-CN" altLang="en-US" sz="2000" dirty="0">
                <a:solidFill>
                  <a:srgbClr val="000000"/>
                </a:solidFill>
                <a:latin typeface="微软雅黑" panose="020B0503020204020204" pitchFamily="34" charset="-122"/>
              </a:rPr>
              <a:t>对应于两种不同的元素</a:t>
            </a:r>
            <a:r>
              <a:rPr lang="en-US" altLang="zh-CN" sz="2000">
                <a:solidFill>
                  <a:srgbClr val="000000"/>
                </a:solidFill>
                <a:latin typeface="微软雅黑" panose="020B0503020204020204" pitchFamily="34" charset="-122"/>
              </a:rPr>
              <a:t>—</a:t>
            </a:r>
            <a:r>
              <a:rPr lang="zh-CN" altLang="en-US" sz="2000" dirty="0">
                <a:solidFill>
                  <a:srgbClr val="000000"/>
                </a:solidFill>
                <a:latin typeface="微软雅黑" panose="020B0503020204020204" pitchFamily="34" charset="-122"/>
              </a:rPr>
              <a:t>原子或广义表，把结点分为两类，一类是原子结点，一类是表结点。</a:t>
            </a:r>
            <a:endParaRPr lang="zh-CN" altLang="en-US" sz="2000" dirty="0">
              <a:solidFill>
                <a:srgbClr val="000000"/>
              </a:solidFill>
              <a:latin typeface="微软雅黑" panose="020B0503020204020204" pitchFamily="34" charset="-122"/>
            </a:endParaRPr>
          </a:p>
        </p:txBody>
      </p:sp>
      <p:pic>
        <p:nvPicPr>
          <p:cNvPr id="146443" name="Picture 13"/>
          <p:cNvPicPr>
            <a:picLocks noGrp="1" noChangeAspect="1"/>
          </p:cNvPicPr>
          <p:nvPr/>
        </p:nvPicPr>
        <p:blipFill>
          <a:blip r:embed="rId2"/>
          <a:srcRect/>
          <a:stretch>
            <a:fillRect/>
          </a:stretch>
        </p:blipFill>
        <p:spPr>
          <a:xfrm>
            <a:off x="2971800" y="1791335"/>
            <a:ext cx="1752600" cy="1073150"/>
          </a:xfrm>
          <a:prstGeom prst="rect">
            <a:avLst/>
          </a:prstGeom>
          <a:noFill/>
          <a:ln w="9525">
            <a:noFill/>
          </a:ln>
        </p:spPr>
      </p:pic>
      <p:pic>
        <p:nvPicPr>
          <p:cNvPr id="146445" name="Picture 14"/>
          <p:cNvPicPr>
            <a:picLocks noChangeAspect="1"/>
          </p:cNvPicPr>
          <p:nvPr/>
        </p:nvPicPr>
        <p:blipFill>
          <a:blip r:embed="rId3"/>
          <a:stretch>
            <a:fillRect/>
          </a:stretch>
        </p:blipFill>
        <p:spPr>
          <a:xfrm>
            <a:off x="5514658" y="1910080"/>
            <a:ext cx="1928812" cy="915988"/>
          </a:xfrm>
          <a:prstGeom prst="rect">
            <a:avLst/>
          </a:prstGeom>
          <a:noFill/>
          <a:ln w="9525">
            <a:noFill/>
          </a:ln>
        </p:spPr>
      </p:pic>
      <p:graphicFrame>
        <p:nvGraphicFramePr>
          <p:cNvPr id="143377" name="Group 17"/>
          <p:cNvGraphicFramePr>
            <a:graphicFrameLocks noGrp="1"/>
          </p:cNvGraphicFramePr>
          <p:nvPr/>
        </p:nvGraphicFramePr>
        <p:xfrm>
          <a:off x="1194435" y="2903855"/>
          <a:ext cx="8844915" cy="3292475"/>
        </p:xfrm>
        <a:graphic>
          <a:graphicData uri="http://schemas.openxmlformats.org/drawingml/2006/table">
            <a:tbl>
              <a:tblPr>
                <a:effectLst/>
                <a:tableStyleId>{5940675A-B579-460E-94D1-54222C63F5DA}</a:tableStyleId>
              </a:tblPr>
              <a:tblGrid>
                <a:gridCol w="8844915"/>
              </a:tblGrid>
              <a:tr h="3292475">
                <a:tc>
                  <a:txBody>
                    <a:bodyPr/>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typedef enum {ATOM, LIST} ElemTag;  // ATOM==0</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为原子，</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LIST==1</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为子表</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typedef struct GLNode</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ElemTag tag;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标志域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tag</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用来区别原子结点和表结点</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union</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AtomType atom;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原子结点的值域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atom</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struct {struct GLNode *hp, *tp;} htp;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表结点的指针域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htp</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包括表头指针域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hp</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和表尾指针域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tp</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 atom_htp;  // atom_htp</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是原子结点的值域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atom</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和表结点的指针域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htp</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的联合体</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*GList</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示例</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1444625" y="1021080"/>
            <a:ext cx="9138285" cy="4565015"/>
            <a:chOff x="360" y="2520"/>
            <a:chExt cx="13680" cy="7020"/>
          </a:xfrm>
        </p:grpSpPr>
        <p:pic>
          <p:nvPicPr>
            <p:cNvPr id="13" name="Picture 2"/>
            <p:cNvPicPr>
              <a:picLocks noChangeAspect="1"/>
            </p:cNvPicPr>
            <p:nvPr/>
          </p:nvPicPr>
          <p:blipFill>
            <a:blip r:embed="rId2"/>
            <a:stretch>
              <a:fillRect/>
            </a:stretch>
          </p:blipFill>
          <p:spPr>
            <a:xfrm>
              <a:off x="480" y="3480"/>
              <a:ext cx="4185" cy="1440"/>
            </a:xfrm>
            <a:prstGeom prst="rect">
              <a:avLst/>
            </a:prstGeom>
            <a:noFill/>
            <a:ln w="9525">
              <a:noFill/>
            </a:ln>
          </p:spPr>
        </p:pic>
        <p:pic>
          <p:nvPicPr>
            <p:cNvPr id="14" name="Picture 3"/>
            <p:cNvPicPr>
              <a:picLocks noChangeAspect="1"/>
            </p:cNvPicPr>
            <p:nvPr/>
          </p:nvPicPr>
          <p:blipFill>
            <a:blip r:embed="rId3"/>
            <a:stretch>
              <a:fillRect/>
            </a:stretch>
          </p:blipFill>
          <p:spPr>
            <a:xfrm>
              <a:off x="5640" y="3480"/>
              <a:ext cx="8400" cy="2445"/>
            </a:xfrm>
            <a:prstGeom prst="rect">
              <a:avLst/>
            </a:prstGeom>
            <a:noFill/>
            <a:ln w="9525">
              <a:noFill/>
            </a:ln>
          </p:spPr>
        </p:pic>
        <p:graphicFrame>
          <p:nvGraphicFramePr>
            <p:cNvPr id="15" name="Object 4"/>
            <p:cNvGraphicFramePr>
              <a:graphicFrameLocks noChangeAspect="1"/>
            </p:cNvGraphicFramePr>
            <p:nvPr/>
          </p:nvGraphicFramePr>
          <p:xfrm>
            <a:off x="840" y="2520"/>
            <a:ext cx="1148" cy="600"/>
          </p:xfrm>
          <a:graphic>
            <a:graphicData uri="http://schemas.openxmlformats.org/presentationml/2006/ole">
              <mc:AlternateContent xmlns:mc="http://schemas.openxmlformats.org/markup-compatibility/2006">
                <mc:Choice xmlns:v="urn:schemas-microsoft-com:vml" Requires="v">
                  <p:oleObj spid="_x0000_s16" name="" r:id="rId4" imgW="367665" imgH="197485" progId="Visio.Drawing.11">
                    <p:link updateAutomatic="1"/>
                  </p:oleObj>
                </mc:Choice>
                <mc:Fallback>
                  <p:oleObj name="" r:id="rId4" imgW="367665" imgH="197485" progId="Visio.Drawing.11">
                    <p:link updateAutomatic="1"/>
                    <p:pic>
                      <p:nvPicPr>
                        <p:cNvPr id="0" name="图片 3102"/>
                        <p:cNvPicPr/>
                        <p:nvPr/>
                      </p:nvPicPr>
                      <p:blipFill>
                        <a:blip r:embed="rId5"/>
                        <a:stretch>
                          <a:fillRect/>
                        </a:stretch>
                      </p:blipFill>
                      <p:spPr>
                        <a:xfrm>
                          <a:off x="840" y="2520"/>
                          <a:ext cx="1148" cy="600"/>
                        </a:xfrm>
                        <a:prstGeom prst="rect">
                          <a:avLst/>
                        </a:prstGeom>
                        <a:noFill/>
                        <a:ln w="38100">
                          <a:noFill/>
                          <a:miter/>
                        </a:ln>
                      </p:spPr>
                    </p:pic>
                  </p:oleObj>
                </mc:Fallback>
              </mc:AlternateContent>
            </a:graphicData>
          </a:graphic>
        </p:graphicFrame>
        <p:pic>
          <p:nvPicPr>
            <p:cNvPr id="17" name="Picture 5"/>
            <p:cNvPicPr>
              <a:picLocks noChangeAspect="1"/>
            </p:cNvPicPr>
            <p:nvPr/>
          </p:nvPicPr>
          <p:blipFill>
            <a:blip r:embed="rId6"/>
            <a:stretch>
              <a:fillRect/>
            </a:stretch>
          </p:blipFill>
          <p:spPr>
            <a:xfrm>
              <a:off x="360" y="6465"/>
              <a:ext cx="7240" cy="1215"/>
            </a:xfrm>
            <a:prstGeom prst="rect">
              <a:avLst/>
            </a:prstGeom>
            <a:noFill/>
            <a:ln w="9525">
              <a:noFill/>
            </a:ln>
          </p:spPr>
        </p:pic>
        <p:cxnSp>
          <p:nvCxnSpPr>
            <p:cNvPr id="18" name="直接箭头连接符 17"/>
            <p:cNvCxnSpPr/>
            <p:nvPr/>
          </p:nvCxnSpPr>
          <p:spPr>
            <a:xfrm rot="5400000">
              <a:off x="-120" y="4798"/>
              <a:ext cx="2160" cy="5"/>
            </a:xfrm>
            <a:prstGeom prst="straightConnector1">
              <a:avLst/>
            </a:prstGeom>
            <a:ln w="6350" cap="flat" cmpd="sng">
              <a:solidFill>
                <a:srgbClr val="000066"/>
              </a:solidFill>
              <a:prstDash val="solid"/>
              <a:headEnd type="triangle" w="lg" len="med"/>
              <a:tailEnd type="none" w="med" len="med"/>
            </a:ln>
          </p:spPr>
        </p:cxnSp>
        <p:cxnSp>
          <p:nvCxnSpPr>
            <p:cNvPr id="19" name="直接连接符 18"/>
            <p:cNvCxnSpPr/>
            <p:nvPr/>
          </p:nvCxnSpPr>
          <p:spPr>
            <a:xfrm>
              <a:off x="960" y="5880"/>
              <a:ext cx="2520" cy="3"/>
            </a:xfrm>
            <a:prstGeom prst="line">
              <a:avLst/>
            </a:prstGeom>
            <a:ln w="3175" cap="flat" cmpd="sng">
              <a:solidFill>
                <a:srgbClr val="000066"/>
              </a:solidFill>
              <a:prstDash val="solid"/>
              <a:headEnd type="none" w="med" len="med"/>
              <a:tailEnd type="none" w="med" len="med"/>
            </a:ln>
          </p:spPr>
        </p:cxnSp>
        <p:cxnSp>
          <p:nvCxnSpPr>
            <p:cNvPr id="226" name="直接连接符 225"/>
            <p:cNvCxnSpPr/>
            <p:nvPr/>
          </p:nvCxnSpPr>
          <p:spPr>
            <a:xfrm rot="5400000">
              <a:off x="3060" y="6300"/>
              <a:ext cx="840" cy="5"/>
            </a:xfrm>
            <a:prstGeom prst="line">
              <a:avLst/>
            </a:prstGeom>
            <a:ln w="3175" cap="flat" cmpd="sng">
              <a:solidFill>
                <a:srgbClr val="000066"/>
              </a:solidFill>
              <a:prstDash val="solid"/>
              <a:headEnd type="none" w="med" len="med"/>
              <a:tailEnd type="none" w="med" len="med"/>
            </a:ln>
          </p:spPr>
        </p:cxnSp>
        <p:cxnSp>
          <p:nvCxnSpPr>
            <p:cNvPr id="20" name="直接箭头连接符 19"/>
            <p:cNvCxnSpPr/>
            <p:nvPr/>
          </p:nvCxnSpPr>
          <p:spPr>
            <a:xfrm rot="5400000">
              <a:off x="4898" y="4998"/>
              <a:ext cx="2462" cy="20"/>
            </a:xfrm>
            <a:prstGeom prst="straightConnector1">
              <a:avLst/>
            </a:prstGeom>
            <a:ln w="6350" cap="flat" cmpd="sng">
              <a:solidFill>
                <a:srgbClr val="000066"/>
              </a:solidFill>
              <a:prstDash val="solid"/>
              <a:headEnd type="triangle" w="lg" len="med"/>
              <a:tailEnd type="none" w="med" len="med"/>
            </a:ln>
          </p:spPr>
        </p:cxnSp>
        <p:cxnSp>
          <p:nvCxnSpPr>
            <p:cNvPr id="232" name="直接连接符 231"/>
            <p:cNvCxnSpPr/>
            <p:nvPr/>
          </p:nvCxnSpPr>
          <p:spPr>
            <a:xfrm>
              <a:off x="6120" y="6238"/>
              <a:ext cx="720" cy="2"/>
            </a:xfrm>
            <a:prstGeom prst="line">
              <a:avLst/>
            </a:prstGeom>
            <a:ln w="3175" cap="flat" cmpd="sng">
              <a:solidFill>
                <a:srgbClr val="000066"/>
              </a:solidFill>
              <a:prstDash val="solid"/>
              <a:headEnd type="none" w="med" len="med"/>
              <a:tailEnd type="none" w="med" len="med"/>
            </a:ln>
          </p:spPr>
        </p:cxnSp>
        <p:cxnSp>
          <p:nvCxnSpPr>
            <p:cNvPr id="237" name="直接连接符 236"/>
            <p:cNvCxnSpPr/>
            <p:nvPr/>
          </p:nvCxnSpPr>
          <p:spPr>
            <a:xfrm rot="5400000">
              <a:off x="6603" y="6480"/>
              <a:ext cx="477" cy="3"/>
            </a:xfrm>
            <a:prstGeom prst="line">
              <a:avLst/>
            </a:prstGeom>
            <a:ln w="3175" cap="flat" cmpd="sng">
              <a:solidFill>
                <a:srgbClr val="000066"/>
              </a:solidFill>
              <a:prstDash val="solid"/>
              <a:headEnd type="none" w="med" len="med"/>
              <a:tailEnd type="none" w="med" len="med"/>
            </a:ln>
          </p:spPr>
        </p:cxnSp>
        <p:pic>
          <p:nvPicPr>
            <p:cNvPr id="21" name="Picture 6"/>
            <p:cNvPicPr>
              <a:picLocks noChangeAspect="1"/>
            </p:cNvPicPr>
            <p:nvPr/>
          </p:nvPicPr>
          <p:blipFill>
            <a:blip r:embed="rId7"/>
            <a:stretch>
              <a:fillRect/>
            </a:stretch>
          </p:blipFill>
          <p:spPr>
            <a:xfrm>
              <a:off x="600" y="7800"/>
              <a:ext cx="4408" cy="1740"/>
            </a:xfrm>
            <a:prstGeom prst="rect">
              <a:avLst/>
            </a:prstGeom>
            <a:noFill/>
            <a:ln w="9525">
              <a:noFill/>
            </a:ln>
          </p:spPr>
        </p:pic>
        <p:pic>
          <p:nvPicPr>
            <p:cNvPr id="22" name="Picture 7"/>
            <p:cNvPicPr>
              <a:picLocks noChangeAspect="1"/>
            </p:cNvPicPr>
            <p:nvPr/>
          </p:nvPicPr>
          <p:blipFill>
            <a:blip r:embed="rId8"/>
            <a:stretch>
              <a:fillRect/>
            </a:stretch>
          </p:blipFill>
          <p:spPr>
            <a:xfrm>
              <a:off x="9045" y="6555"/>
              <a:ext cx="2475" cy="553"/>
            </a:xfrm>
            <a:prstGeom prst="rect">
              <a:avLst/>
            </a:prstGeom>
            <a:noFill/>
            <a:ln w="9525">
              <a:noFill/>
            </a:ln>
          </p:spPr>
        </p:pic>
      </p:grpSp>
      <p:sp>
        <p:nvSpPr>
          <p:cNvPr id="208" name="Rectangle 294"/>
          <p:cNvSpPr>
            <a:spLocks noChangeArrowheads="1"/>
          </p:cNvSpPr>
          <p:nvPr/>
        </p:nvSpPr>
        <p:spPr bwMode="auto">
          <a:xfrm>
            <a:off x="5941695" y="4868545"/>
            <a:ext cx="4953000" cy="1076325"/>
          </a:xfrm>
          <a:prstGeom prst="rect">
            <a:avLst/>
          </a:prstGeom>
          <a:noFill/>
          <a:ln w="38100">
            <a:solidFill>
              <a:srgbClr val="006600"/>
            </a:solidFill>
            <a:miter lim="800000"/>
          </a:ln>
          <a:effectLst/>
        </p:spPr>
        <p:txBody>
          <a:bodyPr>
            <a:spAutoFit/>
          </a:bodyPr>
          <a:p>
            <a:pPr marL="0" marR="0" lvl="0" indent="0" algn="l" defTabSz="914400" rtl="0" eaLnBrk="1" fontAlgn="base" latinLnBrk="0" hangingPunct="1">
              <a:lnSpc>
                <a:spcPct val="85000"/>
              </a:lnSpc>
              <a:spcBef>
                <a:spcPct val="50000"/>
              </a:spcBef>
              <a:spcAft>
                <a:spcPct val="0"/>
              </a:spcAft>
              <a:buClr>
                <a:schemeClr val="tx2"/>
              </a:buClr>
              <a:buSzPct val="75000"/>
              <a:buFont typeface="微软雅黑" panose="020B0503020204020204" pitchFamily="34" charset="-122"/>
              <a:buNone/>
              <a:defRPr/>
            </a:pPr>
            <a:r>
              <a:rPr kumimoji="0" lang="en-US" altLang="zh-CN" sz="1800" b="1" i="1" u="none" strike="noStrike" kern="1200" cap="none" spc="0" normalizeH="0" baseline="0" noProof="0" dirty="0">
                <a:ln>
                  <a:noFill/>
                </a:ln>
                <a:solidFill>
                  <a:schemeClr val="tx2"/>
                </a:solidFill>
                <a:effectLst/>
                <a:uLnTx/>
                <a:uFillTx/>
                <a:latin typeface="+mn-ea"/>
                <a:ea typeface="+mn-ea"/>
                <a:cs typeface="+mn-cs"/>
              </a:rPr>
              <a:t>A＝</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	    	B＝</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a,b</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endParaRPr kumimoji="0" lang="en-US" altLang="zh-CN" sz="1800" b="1" i="0" u="none" strike="noStrike" kern="1200" cap="none" spc="0" normalizeH="0" baseline="0" noProof="0" dirty="0">
              <a:ln>
                <a:noFill/>
              </a:ln>
              <a:solidFill>
                <a:schemeClr val="tx2"/>
              </a:solidFill>
              <a:effectLst/>
              <a:uLnTx/>
              <a:uFillTx/>
              <a:latin typeface="+mn-ea"/>
              <a:ea typeface="+mn-ea"/>
              <a:cs typeface="+mn-cs"/>
            </a:endParaRPr>
          </a:p>
          <a:p>
            <a:pPr marL="0" marR="0" lvl="0" indent="0" algn="l" defTabSz="914400" rtl="0" eaLnBrk="1" fontAlgn="base" latinLnBrk="0" hangingPunct="1">
              <a:lnSpc>
                <a:spcPct val="85000"/>
              </a:lnSpc>
              <a:spcBef>
                <a:spcPct val="50000"/>
              </a:spcBef>
              <a:spcAft>
                <a:spcPct val="0"/>
              </a:spcAft>
              <a:buClr>
                <a:schemeClr val="tx2"/>
              </a:buClr>
              <a:buSzPct val="75000"/>
              <a:buFont typeface="微软雅黑" panose="020B0503020204020204" pitchFamily="34" charset="-122"/>
              <a:buNone/>
              <a:defRPr/>
            </a:pPr>
            <a:r>
              <a:rPr kumimoji="0" lang="en-US" altLang="zh-CN" sz="1800" b="1" i="1" u="none" strike="noStrike" kern="1200" cap="none" spc="0" normalizeH="0" baseline="0" noProof="0" dirty="0">
                <a:ln>
                  <a:noFill/>
                </a:ln>
                <a:solidFill>
                  <a:schemeClr val="tx2"/>
                </a:solidFill>
                <a:effectLst/>
                <a:uLnTx/>
                <a:uFillTx/>
                <a:latin typeface="+mn-ea"/>
                <a:ea typeface="+mn-ea"/>
                <a:cs typeface="+mn-cs"/>
              </a:rPr>
              <a:t>C＝</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s</a:t>
            </a:r>
            <a:r>
              <a:rPr kumimoji="0" lang="en-US" altLang="zh-CN" sz="1800" b="1" i="0" u="none" strike="noStrike" kern="1200" cap="none" spc="0" normalizeH="0" baseline="0" noProof="0" dirty="0" err="1">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t</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u</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v</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  	D＝（</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A,B,y,C</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a:t>
            </a:r>
            <a:endParaRPr kumimoji="0" lang="en-US" altLang="zh-CN" sz="1800" b="1" i="1" u="none" strike="noStrike" kern="1200" cap="none" spc="0" normalizeH="0" baseline="0" noProof="0" dirty="0">
              <a:ln>
                <a:noFill/>
              </a:ln>
              <a:solidFill>
                <a:schemeClr val="tx2"/>
              </a:solidFill>
              <a:effectLst/>
              <a:uLnTx/>
              <a:uFillTx/>
              <a:latin typeface="+mn-ea"/>
              <a:ea typeface="+mn-ea"/>
              <a:cs typeface="+mn-cs"/>
            </a:endParaRPr>
          </a:p>
          <a:p>
            <a:pPr marL="0" marR="0" lvl="0" indent="0" algn="l" defTabSz="914400" rtl="0" eaLnBrk="1" fontAlgn="base" latinLnBrk="0" hangingPunct="1">
              <a:lnSpc>
                <a:spcPct val="85000"/>
              </a:lnSpc>
              <a:spcBef>
                <a:spcPct val="50000"/>
              </a:spcBef>
              <a:spcAft>
                <a:spcPct val="0"/>
              </a:spcAft>
              <a:buClr>
                <a:schemeClr val="tx2"/>
              </a:buClr>
              <a:buSzPct val="75000"/>
              <a:buFont typeface="微软雅黑" panose="020B0503020204020204" pitchFamily="34" charset="-122"/>
              <a:buNone/>
              <a:defRPr/>
            </a:pPr>
            <a:r>
              <a:rPr kumimoji="0" lang="en-US" altLang="zh-CN" sz="1800" b="1" i="1" u="none" strike="noStrike" kern="1200" cap="none" spc="0" normalizeH="0" baseline="0" noProof="0" dirty="0">
                <a:ln>
                  <a:noFill/>
                </a:ln>
                <a:solidFill>
                  <a:schemeClr val="tx2"/>
                </a:solidFill>
                <a:effectLst/>
                <a:uLnTx/>
                <a:uFillTx/>
                <a:latin typeface="+mn-ea"/>
                <a:ea typeface="+mn-ea"/>
                <a:cs typeface="+mn-cs"/>
              </a:rPr>
              <a:t>E＝</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a,E</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 	   F=</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 ))</a:t>
            </a:r>
            <a:endParaRPr kumimoji="0" lang="en-US" altLang="zh-CN" sz="1800" b="1" i="0" u="none" strike="noStrike" kern="1200" cap="none" spc="0" normalizeH="0" baseline="0" noProof="0" dirty="0">
              <a:ln>
                <a:noFill/>
              </a:ln>
              <a:solidFill>
                <a:schemeClr val="tx2"/>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 calcmode="lin" valueType="num">
                                      <p:cBhvr additive="base">
                                        <p:cTn id="7" dur="500" fill="hold"/>
                                        <p:tgtEl>
                                          <p:spTgt spid="208"/>
                                        </p:tgtEl>
                                        <p:attrNameLst>
                                          <p:attrName>ppt_x</p:attrName>
                                        </p:attrNameLst>
                                      </p:cBhvr>
                                      <p:tavLst>
                                        <p:tav tm="0">
                                          <p:val>
                                            <p:strVal val="0-#ppt_w/2"/>
                                          </p:val>
                                        </p:tav>
                                        <p:tav tm="100000">
                                          <p:val>
                                            <p:strVal val="#ppt_x"/>
                                          </p:val>
                                        </p:tav>
                                      </p:tavLst>
                                    </p:anim>
                                    <p:anim calcmode="lin" valueType="num">
                                      <p:cBhvr additive="base">
                                        <p:cTn id="8" dur="500" fill="hold"/>
                                        <p:tgtEl>
                                          <p:spTgt spid="2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bldLvl="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173127" y="648982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342900" lvl="0"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3.5.2 广义表的存储结构</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r>
              <a:rPr lang="zh-CN" altLang="en-US" sz="2400" dirty="0">
                <a:solidFill>
                  <a:srgbClr val="000000"/>
                </a:solidFill>
                <a:latin typeface="微软雅黑" panose="020B0503020204020204" pitchFamily="34" charset="-122"/>
                <a:ea typeface="微软雅黑" panose="020B0503020204020204" pitchFamily="34" charset="-122"/>
                <a:cs typeface="+mn-ea"/>
                <a:sym typeface="+mn-ea"/>
              </a:rPr>
              <a:t>扩展线性链表存储表示</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pic>
        <p:nvPicPr>
          <p:cNvPr id="148492" name="Picture 3"/>
          <p:cNvPicPr>
            <a:picLocks noChangeAspect="1"/>
          </p:cNvPicPr>
          <p:nvPr/>
        </p:nvPicPr>
        <p:blipFill>
          <a:blip r:embed="rId2"/>
          <a:stretch>
            <a:fillRect/>
          </a:stretch>
        </p:blipFill>
        <p:spPr>
          <a:xfrm>
            <a:off x="2257425" y="1920240"/>
            <a:ext cx="1600200" cy="817563"/>
          </a:xfrm>
          <a:prstGeom prst="rect">
            <a:avLst/>
          </a:prstGeom>
          <a:noFill/>
          <a:ln w="9525">
            <a:noFill/>
          </a:ln>
        </p:spPr>
      </p:pic>
      <p:pic>
        <p:nvPicPr>
          <p:cNvPr id="148493" name="Picture 4"/>
          <p:cNvPicPr>
            <a:picLocks noChangeAspect="1"/>
          </p:cNvPicPr>
          <p:nvPr/>
        </p:nvPicPr>
        <p:blipFill>
          <a:blip r:embed="rId3"/>
          <a:stretch>
            <a:fillRect/>
          </a:stretch>
        </p:blipFill>
        <p:spPr>
          <a:xfrm>
            <a:off x="5772785" y="1880870"/>
            <a:ext cx="1676400" cy="857250"/>
          </a:xfrm>
          <a:prstGeom prst="rect">
            <a:avLst/>
          </a:prstGeom>
          <a:noFill/>
          <a:ln w="9525">
            <a:noFill/>
          </a:ln>
        </p:spPr>
      </p:pic>
      <p:graphicFrame>
        <p:nvGraphicFramePr>
          <p:cNvPr id="145424" name="Group 16"/>
          <p:cNvGraphicFramePr>
            <a:graphicFrameLocks noGrp="1"/>
          </p:cNvGraphicFramePr>
          <p:nvPr/>
        </p:nvGraphicFramePr>
        <p:xfrm>
          <a:off x="1276350" y="2910205"/>
          <a:ext cx="8763000" cy="3292475"/>
        </p:xfrm>
        <a:graphic>
          <a:graphicData uri="http://schemas.openxmlformats.org/drawingml/2006/table">
            <a:tbl>
              <a:tblPr>
                <a:effectLst/>
                <a:tableStyleId>{5940675A-B579-460E-94D1-54222C63F5DA}</a:tableStyleId>
              </a:tblPr>
              <a:tblGrid>
                <a:gridCol w="8763000"/>
              </a:tblGrid>
              <a:tr h="3292475">
                <a:tc>
                  <a:txBody>
                    <a:bodyPr/>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typedef enum {ATOM, LIST} ElemTag;  // ATOM==0</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为原子，</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LIST==1</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为子表</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typedef struct GLNode {</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ELemTag tag;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标志域</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tag</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用来区别原子结点和表结点</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union</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AtomType atom;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原子结点的值域</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struct GLNode *hp;  	// </a:t>
                      </a:r>
                      <a:r>
                        <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表结点的表头指针域</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struct GLNode *tp;  	// </a:t>
                      </a:r>
                      <a:r>
                        <a:rPr kumimoji="0" lang="zh-CN" altLang="en-US" sz="18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指向下一个元素结点的指针域，</a:t>
                      </a:r>
                      <a:endParaRPr kumimoji="0" lang="zh-CN" altLang="en-US" sz="18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同一层的结点以</a:t>
                      </a:r>
                      <a:r>
                        <a:rPr kumimoji="0" lang="en-US" altLang="zh-CN" sz="18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tp</a:t>
                      </a:r>
                      <a:r>
                        <a:rPr kumimoji="0" lang="zh-CN" altLang="en-US" sz="18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链接</a:t>
                      </a:r>
                      <a:endParaRPr kumimoji="0" lang="zh-CN" altLang="en-US" sz="1800" b="1" i="0" u="none" strike="noStrike" cap="none" normalizeH="0" baseline="0" smtClean="0">
                        <a:ln>
                          <a:noFill/>
                        </a:ln>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}*GList;</a:t>
                      </a:r>
                      <a:endParaRPr kumimoji="0" lang="zh-CN" altLang="zh-CN" sz="1800" b="0" i="0" u="none" strike="noStrike" cap="none" normalizeH="0" baseline="0" smtClean="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44174" marR="44174" marT="0" marB="0" horzOverflow="overflow">
                    <a:lnL w="38100" cap="flat" cmpd="dbl" algn="ctr">
                      <a:solidFill>
                        <a:srgbClr val="000000"/>
                      </a:solidFill>
                      <a:prstDash val="solid"/>
                      <a:round/>
                      <a:headEnd type="none" w="med" len="med"/>
                      <a:tailEnd type="none" w="med" len="med"/>
                    </a:lnL>
                    <a:lnR w="38100" cap="flat" cmpd="dbl" algn="ctr">
                      <a:solidFill>
                        <a:srgbClr val="000000"/>
                      </a:solidFill>
                      <a:prstDash val="solid"/>
                      <a:round/>
                      <a:headEnd type="none" w="med" len="med"/>
                      <a:tailEnd type="none" w="med" len="med"/>
                    </a:lnR>
                    <a:lnT w="38100" cap="flat" cmpd="dbl" algn="ctr">
                      <a:solidFill>
                        <a:srgbClr val="000000"/>
                      </a:solidFill>
                      <a:prstDash val="solid"/>
                      <a:round/>
                      <a:headEnd type="none" w="med" len="med"/>
                      <a:tailEnd type="none" w="med" len="med"/>
                    </a:lnT>
                    <a:lnB w="38100" cap="flat" cmpd="dbl"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97" name="文本框 96"/>
          <p:cNvSpPr txBox="1"/>
          <p:nvPr/>
        </p:nvSpPr>
        <p:spPr>
          <a:xfrm>
            <a:off x="765246" y="6470776"/>
            <a:ext cx="1491971" cy="368300"/>
          </a:xfrm>
          <a:prstGeom prst="rect">
            <a:avLst/>
          </a:prstGeom>
          <a:noFill/>
        </p:spPr>
        <p:txBody>
          <a:bodyPr wrap="square" rtlCol="0">
            <a:spAutoFit/>
          </a:bodyPr>
          <a:lstStyle/>
          <a:p>
            <a:pPr lvl="0" algn="ctr">
              <a:buClrTx/>
              <a:buSzTx/>
              <a:buFontTx/>
            </a:pP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 栈</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endParaRPr>
          </a:p>
        </p:txBody>
      </p:sp>
      <p:sp>
        <p:nvSpPr>
          <p:cNvPr id="99" name="文本框 98"/>
          <p:cNvSpPr txBox="1"/>
          <p:nvPr/>
        </p:nvSpPr>
        <p:spPr>
          <a:xfrm>
            <a:off x="5414437" y="6480936"/>
            <a:ext cx="1650365" cy="368300"/>
          </a:xfrm>
          <a:prstGeom prst="rect">
            <a:avLst/>
          </a:prstGeom>
          <a:noFill/>
        </p:spPr>
        <p:txBody>
          <a:bodyPr wrap="square" rtlCol="0">
            <a:spAutoFit/>
          </a:bodyPr>
          <a:lstStyle/>
          <a:p>
            <a:pPr algn="ct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串</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9945162" y="6491096"/>
            <a:ext cx="1765300" cy="368300"/>
          </a:xfrm>
          <a:prstGeom prst="rect">
            <a:avLst/>
          </a:prstGeom>
          <a:noFill/>
        </p:spPr>
        <p:txBody>
          <a:bodyPr wrap="square" rtlCol="0">
            <a:spAutoFit/>
          </a:bodyPr>
          <a:p>
            <a:pPr algn="ctr">
              <a:buClrTx/>
              <a:buSzTx/>
              <a:buFontTx/>
            </a:pPr>
            <a:r>
              <a:rPr lang="en-US" altLang="zh-CN" b="1" dirty="0" smtClean="0">
                <a:solidFill>
                  <a:srgbClr val="005A9E"/>
                </a:solidFill>
                <a:latin typeface="微软雅黑" panose="020B0503020204020204" pitchFamily="34" charset="-122"/>
                <a:ea typeface="微软雅黑" panose="020B0503020204020204" pitchFamily="34" charset="-122"/>
              </a:rPr>
              <a:t>V. 广义表</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4127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示例</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9928394" y="6581535"/>
            <a:ext cx="271682" cy="202424"/>
            <a:chOff x="1180190" y="6561344"/>
            <a:chExt cx="271682" cy="202424"/>
          </a:xfrm>
        </p:grpSpPr>
        <p:sp>
          <p:nvSpPr>
            <p:cNvPr id="3" name="燕尾形 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燕尾形 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 name="文本框 9"/>
          <p:cNvSpPr txBox="1"/>
          <p:nvPr>
            <p:custDataLst>
              <p:tags r:id="rId1"/>
            </p:custDataLst>
          </p:nvPr>
        </p:nvSpPr>
        <p:spPr>
          <a:xfrm>
            <a:off x="2599482" y="6475856"/>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队列</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9" name="文本框 8"/>
          <p:cNvSpPr txBox="1"/>
          <p:nvPr/>
        </p:nvSpPr>
        <p:spPr>
          <a:xfrm>
            <a:off x="7622332" y="6486016"/>
            <a:ext cx="176530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数组</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066800" y="859155"/>
            <a:ext cx="9804400" cy="5307926"/>
            <a:chOff x="599" y="2640"/>
            <a:chExt cx="15440" cy="7252"/>
          </a:xfrm>
        </p:grpSpPr>
        <p:sp>
          <p:nvSpPr>
            <p:cNvPr id="12" name="Rectangle 298"/>
            <p:cNvSpPr txBox="1">
              <a:spLocks noChangeArrowheads="1"/>
            </p:cNvSpPr>
            <p:nvPr/>
          </p:nvSpPr>
          <p:spPr bwMode="gray">
            <a:xfrm>
              <a:off x="599" y="2938"/>
              <a:ext cx="15440" cy="6954"/>
            </a:xfrm>
            <a:prstGeom prst="rect">
              <a:avLst/>
            </a:prstGeom>
            <a:noFill/>
            <a:ln w="9525">
              <a:noFill/>
              <a:miter lim="800000"/>
            </a:ln>
          </p:spPr>
          <p:txBody>
            <a:bodyPr/>
            <a:p>
              <a:pPr marL="342900" marR="0" indent="-342900" defTabSz="914400" eaLnBrk="0" hangingPunct="0">
                <a:spcBef>
                  <a:spcPct val="20000"/>
                </a:spcBef>
                <a:buClrTx/>
                <a:buSzTx/>
                <a:buFontTx/>
                <a:buChar char="•"/>
                <a:defRPr/>
              </a:pPr>
              <a:endParaRPr kumimoji="0" lang="zh-CN" altLang="en-US" sz="2400" b="0" kern="0" cap="none" spc="0" normalizeH="0" baseline="0" noProof="0" dirty="0">
                <a:solidFill>
                  <a:srgbClr val="000000"/>
                </a:solidFill>
                <a:latin typeface="微软雅黑" panose="020B0503020204020204" pitchFamily="34" charset="-122"/>
                <a:ea typeface="微软雅黑" panose="020B0503020204020204" pitchFamily="34" charset="-122"/>
                <a:cs typeface="+mn-ea"/>
              </a:endParaRPr>
            </a:p>
          </p:txBody>
        </p:sp>
        <p:pic>
          <p:nvPicPr>
            <p:cNvPr id="236549" name="Picture 5"/>
            <p:cNvPicPr>
              <a:picLocks noChangeAspect="1"/>
            </p:cNvPicPr>
            <p:nvPr/>
          </p:nvPicPr>
          <p:blipFill>
            <a:blip r:embed="rId2"/>
            <a:stretch>
              <a:fillRect/>
            </a:stretch>
          </p:blipFill>
          <p:spPr>
            <a:xfrm>
              <a:off x="720" y="2640"/>
              <a:ext cx="2520" cy="593"/>
            </a:xfrm>
            <a:prstGeom prst="rect">
              <a:avLst/>
            </a:prstGeom>
            <a:noFill/>
            <a:ln w="9525">
              <a:noFill/>
            </a:ln>
          </p:spPr>
        </p:pic>
        <p:pic>
          <p:nvPicPr>
            <p:cNvPr id="236550" name="Picture 6"/>
            <p:cNvPicPr>
              <a:picLocks noChangeAspect="1"/>
            </p:cNvPicPr>
            <p:nvPr/>
          </p:nvPicPr>
          <p:blipFill>
            <a:blip r:embed="rId3"/>
            <a:stretch>
              <a:fillRect/>
            </a:stretch>
          </p:blipFill>
          <p:spPr>
            <a:xfrm>
              <a:off x="600" y="3960"/>
              <a:ext cx="3578" cy="1200"/>
            </a:xfrm>
            <a:prstGeom prst="rect">
              <a:avLst/>
            </a:prstGeom>
            <a:noFill/>
            <a:ln w="9525">
              <a:noFill/>
            </a:ln>
          </p:spPr>
        </p:pic>
        <p:pic>
          <p:nvPicPr>
            <p:cNvPr id="236551" name="Picture 7"/>
            <p:cNvPicPr>
              <a:picLocks noChangeAspect="1"/>
            </p:cNvPicPr>
            <p:nvPr/>
          </p:nvPicPr>
          <p:blipFill>
            <a:blip r:embed="rId4"/>
            <a:stretch>
              <a:fillRect/>
            </a:stretch>
          </p:blipFill>
          <p:spPr>
            <a:xfrm>
              <a:off x="6360" y="3600"/>
              <a:ext cx="5325" cy="1945"/>
            </a:xfrm>
            <a:prstGeom prst="rect">
              <a:avLst/>
            </a:prstGeom>
            <a:noFill/>
            <a:ln w="9525">
              <a:noFill/>
            </a:ln>
          </p:spPr>
        </p:pic>
        <p:pic>
          <p:nvPicPr>
            <p:cNvPr id="236552" name="Picture 8"/>
            <p:cNvPicPr>
              <a:picLocks noChangeAspect="1"/>
            </p:cNvPicPr>
            <p:nvPr/>
          </p:nvPicPr>
          <p:blipFill>
            <a:blip r:embed="rId5"/>
            <a:stretch>
              <a:fillRect/>
            </a:stretch>
          </p:blipFill>
          <p:spPr>
            <a:xfrm>
              <a:off x="600" y="6120"/>
              <a:ext cx="6458" cy="1080"/>
            </a:xfrm>
            <a:prstGeom prst="rect">
              <a:avLst/>
            </a:prstGeom>
            <a:noFill/>
            <a:ln w="9525">
              <a:noFill/>
            </a:ln>
          </p:spPr>
        </p:pic>
        <p:pic>
          <p:nvPicPr>
            <p:cNvPr id="236553" name="Picture 9"/>
            <p:cNvPicPr>
              <a:picLocks noChangeAspect="1"/>
            </p:cNvPicPr>
            <p:nvPr/>
          </p:nvPicPr>
          <p:blipFill>
            <a:blip r:embed="rId6"/>
            <a:stretch>
              <a:fillRect/>
            </a:stretch>
          </p:blipFill>
          <p:spPr>
            <a:xfrm>
              <a:off x="840" y="7920"/>
              <a:ext cx="4013" cy="1320"/>
            </a:xfrm>
            <a:prstGeom prst="rect">
              <a:avLst/>
            </a:prstGeom>
            <a:noFill/>
            <a:ln w="9525">
              <a:noFill/>
            </a:ln>
          </p:spPr>
        </p:pic>
        <p:pic>
          <p:nvPicPr>
            <p:cNvPr id="236554" name="Picture 10"/>
            <p:cNvPicPr>
              <a:picLocks noChangeAspect="1"/>
            </p:cNvPicPr>
            <p:nvPr/>
          </p:nvPicPr>
          <p:blipFill>
            <a:blip r:embed="rId7"/>
            <a:stretch>
              <a:fillRect/>
            </a:stretch>
          </p:blipFill>
          <p:spPr>
            <a:xfrm>
              <a:off x="8445" y="6330"/>
              <a:ext cx="2115" cy="1245"/>
            </a:xfrm>
            <a:prstGeom prst="rect">
              <a:avLst/>
            </a:prstGeom>
            <a:noFill/>
            <a:ln w="9525">
              <a:noFill/>
            </a:ln>
          </p:spPr>
        </p:pic>
        <p:cxnSp>
          <p:nvCxnSpPr>
            <p:cNvPr id="28" name="直接连接符 27"/>
            <p:cNvCxnSpPr/>
            <p:nvPr/>
          </p:nvCxnSpPr>
          <p:spPr>
            <a:xfrm>
              <a:off x="960" y="4560"/>
              <a:ext cx="960" cy="3"/>
            </a:xfrm>
            <a:prstGeom prst="line">
              <a:avLst/>
            </a:prstGeom>
            <a:ln w="3175" cap="flat" cmpd="sng">
              <a:solidFill>
                <a:srgbClr val="000066"/>
              </a:solidFill>
              <a:prstDash val="solid"/>
              <a:headEnd type="none" w="med" len="med"/>
              <a:tailEnd type="none" w="med" len="med"/>
            </a:ln>
          </p:spPr>
        </p:cxnSp>
        <p:cxnSp>
          <p:nvCxnSpPr>
            <p:cNvPr id="31" name="直接连接符 30"/>
            <p:cNvCxnSpPr/>
            <p:nvPr/>
          </p:nvCxnSpPr>
          <p:spPr>
            <a:xfrm rot="5400000">
              <a:off x="298" y="5220"/>
              <a:ext cx="1320" cy="3"/>
            </a:xfrm>
            <a:prstGeom prst="line">
              <a:avLst/>
            </a:prstGeom>
            <a:ln w="3175" cap="flat" cmpd="sng">
              <a:solidFill>
                <a:srgbClr val="000066"/>
              </a:solidFill>
              <a:prstDash val="solid"/>
              <a:headEnd type="none" w="med" len="med"/>
              <a:tailEnd type="none" w="med" len="med"/>
            </a:ln>
          </p:spPr>
        </p:cxnSp>
        <p:cxnSp>
          <p:nvCxnSpPr>
            <p:cNvPr id="33" name="直接连接符 32"/>
            <p:cNvCxnSpPr/>
            <p:nvPr/>
          </p:nvCxnSpPr>
          <p:spPr>
            <a:xfrm>
              <a:off x="960" y="5880"/>
              <a:ext cx="2520" cy="3"/>
            </a:xfrm>
            <a:prstGeom prst="line">
              <a:avLst/>
            </a:prstGeom>
            <a:ln w="3175" cap="flat" cmpd="sng">
              <a:solidFill>
                <a:srgbClr val="000066"/>
              </a:solidFill>
              <a:prstDash val="solid"/>
              <a:headEnd type="none" w="med" len="med"/>
              <a:tailEnd type="none" w="med" len="med"/>
            </a:ln>
          </p:spPr>
        </p:cxnSp>
        <p:cxnSp>
          <p:nvCxnSpPr>
            <p:cNvPr id="36" name="直接连接符 35"/>
            <p:cNvCxnSpPr/>
            <p:nvPr/>
          </p:nvCxnSpPr>
          <p:spPr>
            <a:xfrm rot="5400000">
              <a:off x="2943" y="6420"/>
              <a:ext cx="1077" cy="3"/>
            </a:xfrm>
            <a:prstGeom prst="line">
              <a:avLst/>
            </a:prstGeom>
            <a:ln w="3175" cap="flat" cmpd="sng">
              <a:solidFill>
                <a:srgbClr val="000066"/>
              </a:solidFill>
              <a:prstDash val="solid"/>
              <a:headEnd type="none" w="med" len="med"/>
              <a:tailEnd type="none" w="med" len="med"/>
            </a:ln>
          </p:spPr>
        </p:cxnSp>
        <p:cxnSp>
          <p:nvCxnSpPr>
            <p:cNvPr id="39" name="直接连接符 38"/>
            <p:cNvCxnSpPr/>
            <p:nvPr/>
          </p:nvCxnSpPr>
          <p:spPr>
            <a:xfrm rot="5400000" flipH="1" flipV="1">
              <a:off x="5103" y="5580"/>
              <a:ext cx="2757" cy="3"/>
            </a:xfrm>
            <a:prstGeom prst="line">
              <a:avLst/>
            </a:prstGeom>
            <a:ln w="3175" cap="flat" cmpd="sng">
              <a:solidFill>
                <a:srgbClr val="000066"/>
              </a:solidFill>
              <a:prstDash val="solid"/>
              <a:headEnd type="none" w="med" len="med"/>
              <a:tailEnd type="none" w="med" len="med"/>
            </a:ln>
          </p:spPr>
        </p:cxnSp>
      </p:grpSp>
      <p:sp>
        <p:nvSpPr>
          <p:cNvPr id="208" name="Rectangle 294"/>
          <p:cNvSpPr>
            <a:spLocks noChangeArrowheads="1"/>
          </p:cNvSpPr>
          <p:nvPr/>
        </p:nvSpPr>
        <p:spPr bwMode="auto">
          <a:xfrm>
            <a:off x="5941695" y="4868545"/>
            <a:ext cx="4953000" cy="1076325"/>
          </a:xfrm>
          <a:prstGeom prst="rect">
            <a:avLst/>
          </a:prstGeom>
          <a:noFill/>
          <a:ln w="38100">
            <a:solidFill>
              <a:srgbClr val="006600"/>
            </a:solidFill>
            <a:miter lim="800000"/>
          </a:ln>
          <a:effectLst/>
        </p:spPr>
        <p:txBody>
          <a:bodyPr>
            <a:spAutoFit/>
          </a:bodyPr>
          <a:p>
            <a:pPr marL="0" marR="0" lvl="0" indent="0" algn="l" defTabSz="914400" rtl="0" eaLnBrk="1" fontAlgn="base" latinLnBrk="0" hangingPunct="1">
              <a:lnSpc>
                <a:spcPct val="85000"/>
              </a:lnSpc>
              <a:spcBef>
                <a:spcPct val="50000"/>
              </a:spcBef>
              <a:spcAft>
                <a:spcPct val="0"/>
              </a:spcAft>
              <a:buClr>
                <a:schemeClr val="tx2"/>
              </a:buClr>
              <a:buSzPct val="75000"/>
              <a:buFont typeface="微软雅黑" panose="020B0503020204020204" pitchFamily="34" charset="-122"/>
              <a:buNone/>
              <a:defRPr/>
            </a:pPr>
            <a:r>
              <a:rPr kumimoji="0" lang="en-US" altLang="zh-CN" sz="1800" b="1" i="1" u="none" strike="noStrike" kern="1200" cap="none" spc="0" normalizeH="0" baseline="0" noProof="0" dirty="0">
                <a:ln>
                  <a:noFill/>
                </a:ln>
                <a:solidFill>
                  <a:schemeClr val="tx2"/>
                </a:solidFill>
                <a:effectLst/>
                <a:uLnTx/>
                <a:uFillTx/>
                <a:latin typeface="+mn-ea"/>
                <a:ea typeface="+mn-ea"/>
                <a:cs typeface="+mn-cs"/>
              </a:rPr>
              <a:t>A＝</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	    	B＝</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a,b</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endParaRPr kumimoji="0" lang="en-US" altLang="zh-CN" sz="1800" b="1" i="0" u="none" strike="noStrike" kern="1200" cap="none" spc="0" normalizeH="0" baseline="0" noProof="0" dirty="0">
              <a:ln>
                <a:noFill/>
              </a:ln>
              <a:solidFill>
                <a:schemeClr val="tx2"/>
              </a:solidFill>
              <a:effectLst/>
              <a:uLnTx/>
              <a:uFillTx/>
              <a:latin typeface="+mn-ea"/>
              <a:ea typeface="+mn-ea"/>
              <a:cs typeface="+mn-cs"/>
            </a:endParaRPr>
          </a:p>
          <a:p>
            <a:pPr marL="0" marR="0" lvl="0" indent="0" algn="l" defTabSz="914400" rtl="0" eaLnBrk="1" fontAlgn="base" latinLnBrk="0" hangingPunct="1">
              <a:lnSpc>
                <a:spcPct val="85000"/>
              </a:lnSpc>
              <a:spcBef>
                <a:spcPct val="50000"/>
              </a:spcBef>
              <a:spcAft>
                <a:spcPct val="0"/>
              </a:spcAft>
              <a:buClr>
                <a:schemeClr val="tx2"/>
              </a:buClr>
              <a:buSzPct val="75000"/>
              <a:buFont typeface="微软雅黑" panose="020B0503020204020204" pitchFamily="34" charset="-122"/>
              <a:buNone/>
              <a:defRPr/>
            </a:pPr>
            <a:r>
              <a:rPr kumimoji="0" lang="en-US" altLang="zh-CN" sz="1800" b="1" i="1" u="none" strike="noStrike" kern="1200" cap="none" spc="0" normalizeH="0" baseline="0" noProof="0" dirty="0">
                <a:ln>
                  <a:noFill/>
                </a:ln>
                <a:solidFill>
                  <a:schemeClr val="tx2"/>
                </a:solidFill>
                <a:effectLst/>
                <a:uLnTx/>
                <a:uFillTx/>
                <a:latin typeface="+mn-ea"/>
                <a:ea typeface="+mn-ea"/>
                <a:cs typeface="+mn-cs"/>
              </a:rPr>
              <a:t>C＝</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s</a:t>
            </a:r>
            <a:r>
              <a:rPr kumimoji="0" lang="en-US" altLang="zh-CN" sz="1800" b="1" i="0" u="none" strike="noStrike" kern="1200" cap="none" spc="0" normalizeH="0" baseline="0" noProof="0" dirty="0" err="1">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t</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u</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v</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  	D＝（</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A,B,y,C</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a:t>
            </a:r>
            <a:endParaRPr kumimoji="0" lang="en-US" altLang="zh-CN" sz="1800" b="1" i="1" u="none" strike="noStrike" kern="1200" cap="none" spc="0" normalizeH="0" baseline="0" noProof="0" dirty="0">
              <a:ln>
                <a:noFill/>
              </a:ln>
              <a:solidFill>
                <a:schemeClr val="tx2"/>
              </a:solidFill>
              <a:effectLst/>
              <a:uLnTx/>
              <a:uFillTx/>
              <a:latin typeface="+mn-ea"/>
              <a:ea typeface="+mn-ea"/>
              <a:cs typeface="+mn-cs"/>
            </a:endParaRPr>
          </a:p>
          <a:p>
            <a:pPr marL="0" marR="0" lvl="0" indent="0" algn="l" defTabSz="914400" rtl="0" eaLnBrk="1" fontAlgn="base" latinLnBrk="0" hangingPunct="1">
              <a:lnSpc>
                <a:spcPct val="85000"/>
              </a:lnSpc>
              <a:spcBef>
                <a:spcPct val="50000"/>
              </a:spcBef>
              <a:spcAft>
                <a:spcPct val="0"/>
              </a:spcAft>
              <a:buClr>
                <a:schemeClr val="tx2"/>
              </a:buClr>
              <a:buSzPct val="75000"/>
              <a:buFont typeface="微软雅黑" panose="020B0503020204020204" pitchFamily="34" charset="-122"/>
              <a:buNone/>
              <a:defRPr/>
            </a:pPr>
            <a:r>
              <a:rPr kumimoji="0" lang="en-US" altLang="zh-CN" sz="1800" b="1" i="1" u="none" strike="noStrike" kern="1200" cap="none" spc="0" normalizeH="0" baseline="0" noProof="0" dirty="0">
                <a:ln>
                  <a:noFill/>
                </a:ln>
                <a:solidFill>
                  <a:schemeClr val="tx2"/>
                </a:solidFill>
                <a:effectLst/>
                <a:uLnTx/>
                <a:uFillTx/>
                <a:latin typeface="+mn-ea"/>
                <a:ea typeface="+mn-ea"/>
                <a:cs typeface="+mn-cs"/>
              </a:rPr>
              <a:t>E＝</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err="1">
                <a:ln>
                  <a:noFill/>
                </a:ln>
                <a:solidFill>
                  <a:schemeClr val="tx2"/>
                </a:solidFill>
                <a:effectLst/>
                <a:uLnTx/>
                <a:uFillTx/>
                <a:latin typeface="+mn-ea"/>
                <a:ea typeface="+mn-ea"/>
                <a:cs typeface="+mn-cs"/>
              </a:rPr>
              <a:t>a,E</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a:t>
            </a:r>
            <a:r>
              <a:rPr kumimoji="0" lang="en-US" altLang="zh-CN" sz="1800" b="1" i="1" u="none" strike="noStrike" kern="1200" cap="none" spc="0" normalizeH="0" baseline="0" noProof="0" dirty="0">
                <a:ln>
                  <a:noFill/>
                </a:ln>
                <a:solidFill>
                  <a:schemeClr val="tx2"/>
                </a:solidFill>
                <a:effectLst/>
                <a:uLnTx/>
                <a:uFillTx/>
                <a:latin typeface="+mn-ea"/>
                <a:ea typeface="+mn-ea"/>
                <a:cs typeface="+mn-cs"/>
              </a:rPr>
              <a:t> 	   F=</a:t>
            </a:r>
            <a:r>
              <a:rPr kumimoji="0" lang="en-US" altLang="zh-CN" sz="1800" b="1" i="0" u="none" strike="noStrike" kern="1200" cap="none" spc="0" normalizeH="0" baseline="0" noProof="0" dirty="0">
                <a:ln>
                  <a:noFill/>
                </a:ln>
                <a:solidFill>
                  <a:schemeClr val="tx2"/>
                </a:solidFill>
                <a:effectLst/>
                <a:uLnTx/>
                <a:uFillTx/>
                <a:latin typeface="+mn-ea"/>
                <a:ea typeface="+mn-ea"/>
                <a:cs typeface="+mn-cs"/>
              </a:rPr>
              <a:t>(( ))</a:t>
            </a:r>
            <a:endParaRPr kumimoji="0" lang="en-US" altLang="zh-CN" sz="1800" b="1" i="0" u="none" strike="noStrike" kern="1200" cap="none" spc="0" normalizeH="0" baseline="0" noProof="0" dirty="0">
              <a:ln>
                <a:noFill/>
              </a:ln>
              <a:solidFill>
                <a:schemeClr val="tx2"/>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 calcmode="lin" valueType="num">
                                      <p:cBhvr additive="base">
                                        <p:cTn id="7" dur="500" fill="hold"/>
                                        <p:tgtEl>
                                          <p:spTgt spid="208"/>
                                        </p:tgtEl>
                                        <p:attrNameLst>
                                          <p:attrName>ppt_x</p:attrName>
                                        </p:attrNameLst>
                                      </p:cBhvr>
                                      <p:tavLst>
                                        <p:tav tm="0">
                                          <p:val>
                                            <p:strVal val="0-#ppt_w/2"/>
                                          </p:val>
                                        </p:tav>
                                        <p:tav tm="100000">
                                          <p:val>
                                            <p:strVal val="#ppt_x"/>
                                          </p:val>
                                        </p:tav>
                                      </p:tavLst>
                                    </p:anim>
                                    <p:anim calcmode="lin" valueType="num">
                                      <p:cBhvr additive="base">
                                        <p:cTn id="8" dur="500" fill="hold"/>
                                        <p:tgtEl>
                                          <p:spTgt spid="2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bldLvl="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1" name="内容占位符 2"/>
          <p:cNvSpPr>
            <a:spLocks noGrp="1"/>
          </p:cNvSpPr>
          <p:nvPr/>
        </p:nvSpPr>
        <p:spPr>
          <a:xfrm>
            <a:off x="317500" y="1243330"/>
            <a:ext cx="10815320" cy="47047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pPr>
            <a:r>
              <a:rPr lang="zh-CN" altLang="zh-CN" sz="2000" dirty="0">
                <a:latin typeface="微软雅黑" panose="020B0503020204020204" pitchFamily="34" charset="-122"/>
                <a:ea typeface="微软雅黑" panose="020B0503020204020204" pitchFamily="34" charset="-122"/>
              </a:rPr>
              <a:t>栈具有后进先出</a:t>
            </a:r>
            <a:r>
              <a:rPr lang="en-US" altLang="zh-CN" sz="2000">
                <a:latin typeface="微软雅黑" panose="020B0503020204020204" pitchFamily="34" charset="-122"/>
                <a:ea typeface="微软雅黑" panose="020B0503020204020204" pitchFamily="34" charset="-122"/>
              </a:rPr>
              <a:t>(LIFO)</a:t>
            </a:r>
            <a:r>
              <a:rPr lang="zh-CN" altLang="zh-CN" sz="2000" dirty="0">
                <a:latin typeface="微软雅黑" panose="020B0503020204020204" pitchFamily="34" charset="-122"/>
                <a:ea typeface="微软雅黑" panose="020B0503020204020204" pitchFamily="34" charset="-122"/>
              </a:rPr>
              <a:t>的操作特点，是操作受限的线性表。栈的存储有顺序栈和链栈两种。在实际应用中，凡是对元素的保存次序与使用次序相反的问题都可以用栈来处理。栈和递归之间存在着很强的联系，递归算法的实现通常是通过设立一个“递归工作栈”来完成的。借助栈也可以将一个递归算法改写为非递归算法。掌握栈的两种存储结构及相应的操作算法，理解栈的应用，并能在实际应用问题中正确选用它。</a:t>
            </a:r>
            <a:endParaRPr lang="zh-CN" altLang="zh-CN" sz="2000" dirty="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a:latin typeface="微软雅黑" panose="020B0503020204020204" pitchFamily="34" charset="-122"/>
              <a:ea typeface="微软雅黑" panose="020B0503020204020204" pitchFamily="34" charset="-122"/>
            </a:endParaRPr>
          </a:p>
          <a:p>
            <a:pPr>
              <a:lnSpc>
                <a:spcPct val="150000"/>
              </a:lnSpc>
              <a:spcBef>
                <a:spcPts val="0"/>
              </a:spcBef>
            </a:pPr>
            <a:r>
              <a:rPr lang="zh-CN" altLang="zh-CN" sz="2000" dirty="0">
                <a:latin typeface="微软雅黑" panose="020B0503020204020204" pitchFamily="34" charset="-122"/>
                <a:ea typeface="微软雅黑" panose="020B0503020204020204" pitchFamily="34" charset="-122"/>
              </a:rPr>
              <a:t>队列具有先进先出（</a:t>
            </a:r>
            <a:r>
              <a:rPr lang="en-US" altLang="zh-CN" sz="2000">
                <a:latin typeface="微软雅黑" panose="020B0503020204020204" pitchFamily="34" charset="-122"/>
                <a:ea typeface="微软雅黑" panose="020B0503020204020204" pitchFamily="34" charset="-122"/>
              </a:rPr>
              <a:t>FIFO</a:t>
            </a:r>
            <a:r>
              <a:rPr lang="zh-CN" altLang="zh-CN" sz="2000" dirty="0">
                <a:latin typeface="微软雅黑" panose="020B0503020204020204" pitchFamily="34" charset="-122"/>
                <a:ea typeface="微软雅黑" panose="020B0503020204020204" pitchFamily="34" charset="-122"/>
              </a:rPr>
              <a:t>）的特点，也是操作受限的线性表。队列的存储有循环队列和链队列两种。在实际应用中，凡是对元素的保存次序与使用次序相同的问题都可以用队列来处理。掌握队列的两种存储结构及相应的操作算法，理解队列的应用，并能在实际应用问题中正确选用它</a:t>
            </a:r>
            <a:r>
              <a:rPr lang="zh-CN"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150000"/>
              </a:lnSpc>
              <a:spcBef>
                <a:spcPts val="0"/>
              </a:spcBef>
            </a:pPr>
            <a:endParaRPr lang="zh-CN" altLang="en-US"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本章小结</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本章小结</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51555" name="内容占位符 2"/>
          <p:cNvSpPr>
            <a:spLocks noGrp="1"/>
          </p:cNvSpPr>
          <p:nvPr/>
        </p:nvSpPr>
        <p:spPr>
          <a:xfrm>
            <a:off x="393700" y="1128395"/>
            <a:ext cx="10947400" cy="53263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pPr>
            <a:r>
              <a:rPr lang="zh-CN" altLang="zh-CN" sz="2000" dirty="0">
                <a:latin typeface="微软雅黑" panose="020B0503020204020204" pitchFamily="34" charset="-122"/>
                <a:ea typeface="微软雅黑" panose="020B0503020204020204" pitchFamily="34" charset="-122"/>
              </a:rPr>
              <a:t>串是数据元素类型特定的线性表，它限定表中的元素是字符。串一般采用顺序存储结构，其中有用固定大小的字符数组表示和根据实际串长动态分配的堆存储表示。了解串的存储结构及其操作特点。</a:t>
            </a:r>
            <a:endParaRPr lang="zh-CN" altLang="zh-CN" sz="2000" dirty="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000">
              <a:latin typeface="微软雅黑" panose="020B0503020204020204" pitchFamily="34" charset="-122"/>
              <a:ea typeface="微软雅黑" panose="020B0503020204020204" pitchFamily="34" charset="-122"/>
            </a:endParaRPr>
          </a:p>
          <a:p>
            <a:pPr>
              <a:lnSpc>
                <a:spcPct val="150000"/>
              </a:lnSpc>
              <a:spcBef>
                <a:spcPts val="0"/>
              </a:spcBef>
            </a:pPr>
            <a:r>
              <a:rPr lang="zh-CN" altLang="zh-CN" sz="2000" dirty="0">
                <a:latin typeface="微软雅黑" panose="020B0503020204020204" pitchFamily="34" charset="-122"/>
                <a:ea typeface="微软雅黑" panose="020B0503020204020204" pitchFamily="34" charset="-122"/>
              </a:rPr>
              <a:t>数组是线性表的推广，一维数组是一个定长的线性表，而</a:t>
            </a:r>
            <a:r>
              <a:rPr lang="en-US" altLang="zh-CN" sz="2000" i="1">
                <a:latin typeface="微软雅黑" panose="020B0503020204020204" pitchFamily="34" charset="-122"/>
                <a:ea typeface="微软雅黑" panose="020B0503020204020204" pitchFamily="34" charset="-122"/>
              </a:rPr>
              <a:t>n</a:t>
            </a:r>
            <a:r>
              <a:rPr lang="zh-CN" altLang="zh-CN" sz="2000" dirty="0">
                <a:latin typeface="微软雅黑" panose="020B0503020204020204" pitchFamily="34" charset="-122"/>
                <a:ea typeface="微软雅黑" panose="020B0503020204020204" pitchFamily="34" charset="-122"/>
              </a:rPr>
              <a:t>维数组则可以看成是数据元素是</a:t>
            </a:r>
            <a:r>
              <a:rPr lang="en-US" altLang="zh-CN" sz="2000" i="1">
                <a:latin typeface="微软雅黑" panose="020B0503020204020204" pitchFamily="34" charset="-122"/>
                <a:ea typeface="微软雅黑" panose="020B0503020204020204" pitchFamily="34" charset="-122"/>
              </a:rPr>
              <a:t>n</a:t>
            </a:r>
            <a:r>
              <a:rPr lang="en-US" altLang="zh-CN" sz="200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维数组的定长的线性表。数组通常采用顺序存储，分别有行优先顺序存储和列优先顺序存储两种次序。一般的矩阵可以用二维数组来存储，而对于如对称矩阵、三角矩阵和对角矩阵这样一些有规律的特殊方阵，为了节省存储空间，可以压缩存储。对于稀疏矩阵，可以用三元组顺序表或十字链表来存储。掌握二维数组在行∕列优先顺序存储时数据元素地址的计算方法。掌握特殊矩阵压缩存储时的下标变换方法。了解稀疏矩阵的压缩存储方法及相关算法。</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8" name="文本框 7"/>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微软雅黑" panose="020B0503020204020204" pitchFamily="34" charset="-122"/>
                <a:ea typeface="微软雅黑" panose="020B0503020204020204" pitchFamily="34" charset="-122"/>
              </a:rPr>
              <a:t>数据结构</a:t>
            </a:r>
            <a:endParaRPr lang="en-US" altLang="zh-CN" sz="2800" b="1" dirty="0" smtClean="0">
              <a:solidFill>
                <a:srgbClr val="005A9E"/>
              </a:solidFill>
              <a:latin typeface="微软雅黑" panose="020B0503020204020204" pitchFamily="34" charset="-122"/>
              <a:ea typeface="微软雅黑" panose="020B0503020204020204" pitchFamily="34" charset="-122"/>
            </a:endParaRPr>
          </a:p>
          <a:p>
            <a:pPr algn="dist"/>
            <a:r>
              <a:rPr lang="en-US" altLang="zh-CN" sz="1600" dirty="0" smtClean="0">
                <a:solidFill>
                  <a:srgbClr val="005A9E"/>
                </a:solidFill>
                <a:latin typeface="+mj-lt"/>
                <a:ea typeface="微软雅黑" panose="020B0503020204020204" pitchFamily="34" charset="-122"/>
              </a:rPr>
              <a:t>Data Structures</a:t>
            </a:r>
            <a:endParaRPr lang="zh-CN" altLang="en-US" sz="1600" dirty="0">
              <a:solidFill>
                <a:srgbClr val="005A9E"/>
              </a:solidFill>
              <a:latin typeface="+mj-lt"/>
              <a:ea typeface="微软雅黑" panose="020B0503020204020204" pitchFamily="34" charset="-122"/>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2291" name="内容占位符 2"/>
          <p:cNvSpPr>
            <a:spLocks noGrp="1"/>
          </p:cNvSpPr>
          <p:nvPr>
            <p:ph idx="1"/>
          </p:nvPr>
        </p:nvSpPr>
        <p:spPr>
          <a:xfrm>
            <a:off x="553720" y="1243965"/>
            <a:ext cx="10616565" cy="4952365"/>
          </a:xfrm>
        </p:spPr>
        <p:txBody>
          <a:bodyPr vert="horz" wrap="square" lIns="91440" tIns="45720" rIns="91440" bIns="45720" anchor="t" anchorCtr="0">
            <a:normAutofit/>
          </a:bodyPr>
          <a:p>
            <a:pPr>
              <a:buNone/>
            </a:pPr>
            <a:r>
              <a:rPr lang="en-US" altLang="zh-CN">
                <a:sym typeface="+mn-ea"/>
              </a:rPr>
              <a:t>  </a:t>
            </a:r>
            <a:endParaRPr lang="zh-CN" altLang="en-US">
              <a:cs typeface="微软雅黑" panose="020B0503020204020204" pitchFamily="34" charset="-122"/>
            </a:endParaRPr>
          </a:p>
        </p:txBody>
      </p:sp>
      <p:sp>
        <p:nvSpPr>
          <p:cNvPr id="7" name="文本框 6"/>
          <p:cNvSpPr txBox="1"/>
          <p:nvPr/>
        </p:nvSpPr>
        <p:spPr>
          <a:xfrm>
            <a:off x="393065" y="106045"/>
            <a:ext cx="8004175" cy="1022350"/>
          </a:xfrm>
          <a:prstGeom prst="rect">
            <a:avLst/>
          </a:prstGeom>
          <a:noFill/>
        </p:spPr>
        <p:txBody>
          <a:bodyPr wrap="square" rtlCol="0">
            <a:noAutofit/>
          </a:bodyPr>
          <a:p>
            <a:pPr marL="0" lvl="1" indent="-342900" algn="l" eaLnBrk="0" fontAlgn="base" hangingPunct="0">
              <a:buClrTx/>
              <a:buSzTx/>
              <a:buFontTx/>
            </a:pPr>
            <a:r>
              <a:rPr lang="zh-CN" sz="3600" b="1" dirty="0">
                <a:solidFill>
                  <a:schemeClr val="bg1"/>
                </a:solidFill>
                <a:latin typeface="微软雅黑" panose="020B0503020204020204" pitchFamily="34" charset="-122"/>
                <a:ea typeface="微软雅黑" panose="020B0503020204020204" pitchFamily="34" charset="-122"/>
                <a:sym typeface="+mn-ea"/>
              </a:rPr>
              <a:t>本章小结</a:t>
            </a: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lang="zh-CN" sz="3600" b="1" dirty="0">
              <a:solidFill>
                <a:schemeClr val="bg1"/>
              </a:solidFill>
              <a:latin typeface="微软雅黑" panose="020B0503020204020204" pitchFamily="34" charset="-122"/>
              <a:ea typeface="微软雅黑" panose="020B0503020204020204" pitchFamily="34" charset="-122"/>
            </a:endParaRPr>
          </a:p>
          <a:p>
            <a:pPr marL="0" lvl="1" indent="-342900" algn="l" eaLnBrk="0" fontAlgn="base" hangingPunct="0">
              <a:buClrTx/>
              <a:buSzTx/>
              <a:buFontTx/>
            </a:pPr>
            <a:endParaRPr kumimoji="0" lang="zh-CN" sz="3600" b="1" u="none" strike="noStrike" cap="none" spc="0" normalizeH="0" baseline="0"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pPr marL="342900" indent="-342900" algn="l" eaLnBrk="0" fontAlgn="base" hangingPunct="0">
              <a:buClrTx/>
              <a:buSzTx/>
              <a:buFontTx/>
            </a:pPr>
            <a:endParaRPr sz="3600" b="1" dirty="0">
              <a:solidFill>
                <a:schemeClr val="bg1"/>
              </a:solidFill>
              <a:latin typeface="微软雅黑" panose="020B0503020204020204" pitchFamily="34" charset="-122"/>
              <a:ea typeface="微软雅黑" panose="020B0503020204020204" pitchFamily="34" charset="-122"/>
            </a:endParaRPr>
          </a:p>
          <a:p>
            <a:endParaRPr lang="zh-CN" sz="3600" b="1" dirty="0">
              <a:solidFill>
                <a:schemeClr val="bg1"/>
              </a:solidFill>
              <a:latin typeface="微软雅黑" panose="020B0503020204020204" pitchFamily="34" charset="-122"/>
              <a:ea typeface="微软雅黑" panose="020B0503020204020204" pitchFamily="34" charset="-122"/>
            </a:endParaRPr>
          </a:p>
        </p:txBody>
      </p:sp>
      <p:sp>
        <p:nvSpPr>
          <p:cNvPr id="92165" name="Rectangle 6"/>
          <p:cNvSpPr/>
          <p:nvPr/>
        </p:nvSpPr>
        <p:spPr>
          <a:xfrm>
            <a:off x="0" y="1543050"/>
            <a:ext cx="9144000" cy="0"/>
          </a:xfrm>
          <a:prstGeom prst="rect">
            <a:avLst/>
          </a:prstGeom>
          <a:noFill/>
          <a:ln w="3175">
            <a:noFill/>
          </a:ln>
        </p:spPr>
        <p:txBody>
          <a:bodyPr wrap="none" lIns="90000" tIns="46800" rIns="90000" bIns="46800" anchor="ctr" anchorCtr="0">
            <a:spAutoFit/>
          </a:bodyPr>
          <a:p>
            <a:pPr algn="ctr"/>
            <a:endParaRPr lang="zh-CN" altLang="en-US" dirty="0">
              <a:latin typeface="微软雅黑" panose="020B0503020204020204" pitchFamily="34" charset="-122"/>
            </a:endParaRPr>
          </a:p>
        </p:txBody>
      </p:sp>
      <p:sp>
        <p:nvSpPr>
          <p:cNvPr id="152579" name="内容占位符 2"/>
          <p:cNvSpPr>
            <a:spLocks noGrp="1"/>
          </p:cNvSpPr>
          <p:nvPr/>
        </p:nvSpPr>
        <p:spPr>
          <a:xfrm>
            <a:off x="393065" y="1129030"/>
            <a:ext cx="11444605" cy="387858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cs typeface="+mn-ea"/>
              </a:defRPr>
            </a:lvl1pPr>
            <a:lvl2pPr marL="742950" indent="-28575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2pPr>
            <a:lvl3pPr marL="11430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3pPr>
            <a:lvl4pPr marL="16002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4pPr>
            <a:lvl5pPr marL="2057400" indent="-228600" algn="l" rtl="0" eaLnBrk="0" fontAlgn="base" hangingPunct="0">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5pPr>
            <a:lvl6pPr marL="25146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6pPr>
            <a:lvl7pPr marL="29718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7pPr>
            <a:lvl8pPr marL="34290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8pPr>
            <a:lvl9pPr marL="3886200" indent="-228600" algn="l" rtl="0" fontAlgn="base">
              <a:spcBef>
                <a:spcPct val="20000"/>
              </a:spcBef>
              <a:spcAft>
                <a:spcPct val="0"/>
              </a:spcAft>
              <a:buChar char="»"/>
              <a:defRPr sz="2400">
                <a:solidFill>
                  <a:srgbClr val="000000"/>
                </a:solidFill>
                <a:latin typeface="Times New Roman" panose="02020603050405020304" pitchFamily="18" charset="0"/>
                <a:ea typeface="楷体_GB2312" panose="02010609030101010101" pitchFamily="49" charset="-122"/>
              </a:defRPr>
            </a:lvl9pPr>
          </a:lstStyle>
          <a:p>
            <a:pPr>
              <a:lnSpc>
                <a:spcPct val="150000"/>
              </a:lnSpc>
              <a:spcBef>
                <a:spcPts val="0"/>
              </a:spcBef>
            </a:pPr>
            <a:r>
              <a:rPr lang="zh-CN" altLang="zh-CN" sz="2000" dirty="0">
                <a:latin typeface="微软雅黑" panose="020B0503020204020204" pitchFamily="34" charset="-122"/>
                <a:ea typeface="微软雅黑" panose="020B0503020204020204" pitchFamily="34" charset="-122"/>
              </a:rPr>
              <a:t>广义表是线性表的进一步推广，它允许表中的元素不同构，即表中元素可以是原子也可以是广义表。学会对非空广义表进行分解的方法：即可将一个非空广义表分解为表头和表尾两部分。掌握广义表的结构特点及头尾链表存储结构。</a:t>
            </a:r>
            <a:endParaRPr lang="zh-CN"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ISLIDE.ICON" val="#404870;#405337;#404870;#393849;#394159;#171092;#134425;#37043;#393940;"/>
</p:tagLst>
</file>

<file path=ppt/tags/tag2.xml><?xml version="1.0" encoding="utf-8"?>
<p:tagLst xmlns:p="http://schemas.openxmlformats.org/presentationml/2006/main">
  <p:tag name="KSO_WM_DIAGRAM_VIRTUALLY_FRAME" val="{&quot;height&quot;:349.15,&quot;left&quot;:398,&quot;top&quot;:95.45,&quot;width&quot;:483.4}"/>
</p:tagLst>
</file>

<file path=ppt/tags/tag3.xml><?xml version="1.0" encoding="utf-8"?>
<p:tagLst xmlns:p="http://schemas.openxmlformats.org/presentationml/2006/main">
  <p:tag name="KSO_WM_DIAGRAM_VIRTUALLY_FRAME" val="{&quot;height&quot;:349.15,&quot;left&quot;:398,&quot;top&quot;:95.45,&quot;width&quot;:483.4}"/>
</p:tagLst>
</file>

<file path=ppt/tags/tag4.xml><?xml version="1.0" encoding="utf-8"?>
<p:tagLst xmlns:p="http://schemas.openxmlformats.org/presentationml/2006/main">
  <p:tag name="KSO_WM_DIAGRAM_VIRTUALLY_FRAME" val="{&quot;height&quot;:349.15,&quot;left&quot;:398,&quot;top&quot;:95.45,&quot;width&quot;:483.4}"/>
</p:tagLst>
</file>

<file path=ppt/tags/tag5.xml><?xml version="1.0" encoding="utf-8"?>
<p:tagLst xmlns:p="http://schemas.openxmlformats.org/presentationml/2006/main">
  <p:tag name="KSO_WM_DIAGRAM_VIRTUALLY_FRAME" val="{&quot;height&quot;:349.15,&quot;left&quot;:398,&quot;top&quot;:95.45,&quot;width&quot;:483.4}"/>
</p:tagLst>
</file>

<file path=ppt/tags/tag6.xml><?xml version="1.0" encoding="utf-8"?>
<p:tagLst xmlns:p="http://schemas.openxmlformats.org/presentationml/2006/main">
  <p:tag name="KSO_WM_DIAGRAM_VIRTUALLY_FRAME" val="{&quot;height&quot;:349.15,&quot;left&quot;:398,&quot;top&quot;:95.45,&quot;width&quot;:483.4}"/>
</p:tagLst>
</file>

<file path=ppt/tags/tag7.xml><?xml version="1.0" encoding="utf-8"?>
<p:tagLst xmlns:p="http://schemas.openxmlformats.org/presentationml/2006/main">
  <p:tag name="KSO_WM_DIAGRAM_VIRTUALLY_FRAME" val="{&quot;height&quot;:349.15,&quot;left&quot;:398,&quot;top&quot;:95.45,&quot;width&quot;:483.4}"/>
</p:tagLst>
</file>

<file path=ppt/tags/tag8.xml><?xml version="1.0" encoding="utf-8"?>
<p:tagLst xmlns:p="http://schemas.openxmlformats.org/presentationml/2006/main">
  <p:tag name="KSO_WM_DIAGRAM_VIRTUALLY_FRAME" val="{&quot;height&quot;:349.15,&quot;left&quot;:398,&quot;top&quot;:95.45,&quot;width&quot;:483.4}"/>
</p:tagLst>
</file>

<file path=ppt/tags/tag9.xml><?xml version="1.0" encoding="utf-8"?>
<p:tagLst xmlns:p="http://schemas.openxmlformats.org/presentationml/2006/main">
  <p:tag name="KSO_WM_DIAGRAM_VIRTUALLY_FRAME" val="{&quot;height&quot;:349.15,&quot;left&quot;:398,&quot;top&quot;:95.45,&quot;width&quot;:483.4}"/>
</p:tagLst>
</file>

<file path=ppt/tags/tag10.xml><?xml version="1.0" encoding="utf-8"?>
<p:tagLst xmlns:p="http://schemas.openxmlformats.org/presentationml/2006/main">
  <p:tag name="KSO_WM_DIAGRAM_VIRTUALLY_FRAME" val="{&quot;height&quot;:349.15,&quot;left&quot;:398,&quot;top&quot;:95.45,&quot;width&quot;:483.4}"/>
</p:tagLst>
</file>

<file path=ppt/tags/tag11.xml><?xml version="1.0" encoding="utf-8"?>
<p:tagLst xmlns:p="http://schemas.openxmlformats.org/presentationml/2006/main">
  <p:tag name="KSO_WM_DIAGRAM_VIRTUALLY_FRAME" val="{&quot;height&quot;:349.15,&quot;left&quot;:398,&quot;top&quot;:95.45,&quot;width&quot;:483.4}"/>
</p:tagLst>
</file>

<file path=ppt/tags/tag12.xml><?xml version="1.0" encoding="utf-8"?>
<p:tagLst xmlns:p="http://schemas.openxmlformats.org/presentationml/2006/main">
  <p:tag name="KSO_WM_DIAGRAM_VIRTUALLY_FRAME" val="{&quot;height&quot;:349.15,&quot;left&quot;:398,&quot;top&quot;:95.45,&quot;width&quot;:483.4}"/>
</p:tagLst>
</file>

<file path=ppt/tags/tag13.xml><?xml version="1.0" encoding="utf-8"?>
<p:tagLst xmlns:p="http://schemas.openxmlformats.org/presentationml/2006/main">
  <p:tag name="KSO_WM_DIAGRAM_VIRTUALLY_FRAME" val="{&quot;height&quot;:349.15,&quot;left&quot;:398,&quot;top&quot;:95.45,&quot;width&quot;:483.4}"/>
</p:tagLst>
</file>

<file path=ppt/tags/tag14.xml><?xml version="1.0" encoding="utf-8"?>
<p:tagLst xmlns:p="http://schemas.openxmlformats.org/presentationml/2006/main">
  <p:tag name="KSO_WM_DIAGRAM_VIRTUALLY_FRAME" val="{&quot;height&quot;:349.15,&quot;left&quot;:398,&quot;top&quot;:95.45,&quot;width&quot;:483.4}"/>
</p:tagLst>
</file>

<file path=ppt/tags/tag15.xml><?xml version="1.0" encoding="utf-8"?>
<p:tagLst xmlns:p="http://schemas.openxmlformats.org/presentationml/2006/main">
  <p:tag name="KSO_WM_DIAGRAM_VIRTUALLY_FRAME" val="{&quot;height&quot;:349.15,&quot;left&quot;:398,&quot;top&quot;:95.45,&quot;width&quot;:483.4}"/>
</p:tagLst>
</file>

<file path=ppt/tags/tag16.xml><?xml version="1.0" encoding="utf-8"?>
<p:tagLst xmlns:p="http://schemas.openxmlformats.org/presentationml/2006/main">
  <p:tag name="KSO_WM_DIAGRAM_VIRTUALLY_FRAME" val="{&quot;height&quot;:349.15,&quot;left&quot;:398,&quot;top&quot;:95.45,&quot;width&quot;:483.4}"/>
</p:tagLst>
</file>

<file path=ppt/tags/tag17.xml><?xml version="1.0" encoding="utf-8"?>
<p:tagLst xmlns:p="http://schemas.openxmlformats.org/presentationml/2006/main">
  <p:tag name="KSO_WM_DIAGRAM_VIRTUALLY_FRAME" val="{&quot;height&quot;:349.15,&quot;left&quot;:398,&quot;top&quot;:95.45,&quot;width&quot;:483.4}"/>
</p:tagLst>
</file>

<file path=ppt/tags/tag18.xml><?xml version="1.0" encoding="utf-8"?>
<p:tagLst xmlns:p="http://schemas.openxmlformats.org/presentationml/2006/main">
  <p:tag name="KSO_WM_DIAGRAM_VIRTUALLY_FRAME" val="{&quot;height&quot;:349.15,&quot;left&quot;:398,&quot;top&quot;:95.45,&quot;width&quot;:483.4}"/>
</p:tagLst>
</file>

<file path=ppt/tags/tag19.xml><?xml version="1.0" encoding="utf-8"?>
<p:tagLst xmlns:p="http://schemas.openxmlformats.org/presentationml/2006/main">
  <p:tag name="KSO_WM_DIAGRAM_VIRTUALLY_FRAME" val="{&quot;height&quot;:349.15,&quot;left&quot;:398,&quot;top&quot;:95.45,&quot;width&quot;:483.4}"/>
</p:tagLst>
</file>

<file path=ppt/tags/tag20.xml><?xml version="1.0" encoding="utf-8"?>
<p:tagLst xmlns:p="http://schemas.openxmlformats.org/presentationml/2006/main">
  <p:tag name="KSO_WM_DIAGRAM_VIRTUALLY_FRAME" val="{&quot;height&quot;:349.15,&quot;left&quot;:398,&quot;top&quot;:95.45,&quot;width&quot;:483.4}"/>
</p:tagLst>
</file>

<file path=ppt/tags/tag21.xml><?xml version="1.0" encoding="utf-8"?>
<p:tagLst xmlns:p="http://schemas.openxmlformats.org/presentationml/2006/main">
  <p:tag name="KSO_WM_DIAGRAM_VIRTUALLY_FRAME" val="{&quot;height&quot;:349.15,&quot;left&quot;:398,&quot;top&quot;:95.45,&quot;width&quot;:483.4}"/>
</p:tagLst>
</file>

<file path=ppt/tags/tag22.xml><?xml version="1.0" encoding="utf-8"?>
<p:tagLst xmlns:p="http://schemas.openxmlformats.org/presentationml/2006/main">
  <p:tag name="KSO_WM_DIAGRAM_VIRTUALLY_FRAME" val="{&quot;height&quot;:349.15,&quot;left&quot;:398,&quot;top&quot;:95.45,&quot;width&quot;:483.4}"/>
</p:tagLst>
</file>

<file path=ppt/tags/tag23.xml><?xml version="1.0" encoding="utf-8"?>
<p:tagLst xmlns:p="http://schemas.openxmlformats.org/presentationml/2006/main">
  <p:tag name="KSO_WM_DIAGRAM_VIRTUALLY_FRAME" val="{&quot;height&quot;:349.15,&quot;left&quot;:398,&quot;top&quot;:95.45,&quot;width&quot;:483.4}"/>
</p:tagLst>
</file>

<file path=ppt/tags/tag24.xml><?xml version="1.0" encoding="utf-8"?>
<p:tagLst xmlns:p="http://schemas.openxmlformats.org/presentationml/2006/main">
  <p:tag name="KSO_WM_DIAGRAM_VIRTUALLY_FRAME" val="{&quot;height&quot;:349.15,&quot;left&quot;:398,&quot;top&quot;:95.45,&quot;width&quot;:483.4}"/>
</p:tagLst>
</file>

<file path=ppt/tags/tag25.xml><?xml version="1.0" encoding="utf-8"?>
<p:tagLst xmlns:p="http://schemas.openxmlformats.org/presentationml/2006/main">
  <p:tag name="KSO_WM_DIAGRAM_VIRTUALLY_FRAME" val="{&quot;height&quot;:349.15,&quot;left&quot;:398,&quot;top&quot;:95.45,&quot;width&quot;:483.4}"/>
</p:tagLst>
</file>

<file path=ppt/tags/tag26.xml><?xml version="1.0" encoding="utf-8"?>
<p:tagLst xmlns:p="http://schemas.openxmlformats.org/presentationml/2006/main">
  <p:tag name="KSO_WM_DIAGRAM_VIRTUALLY_FRAME" val="{&quot;height&quot;:349.15,&quot;left&quot;:398,&quot;top&quot;:95.45,&quot;width&quot;:483.4}"/>
</p:tagLst>
</file>

<file path=ppt/tags/tag27.xml><?xml version="1.0" encoding="utf-8"?>
<p:tagLst xmlns:p="http://schemas.openxmlformats.org/presentationml/2006/main">
  <p:tag name="KSO_WM_DIAGRAM_VIRTUALLY_FRAME" val="{&quot;height&quot;:349.15,&quot;left&quot;:398,&quot;top&quot;:95.45,&quot;width&quot;:483.4}"/>
</p:tagLst>
</file>

<file path=ppt/tags/tag28.xml><?xml version="1.0" encoding="utf-8"?>
<p:tagLst xmlns:p="http://schemas.openxmlformats.org/presentationml/2006/main">
  <p:tag name="KSO_WM_DIAGRAM_VIRTUALLY_FRAME" val="{&quot;height&quot;:349.15,&quot;left&quot;:398,&quot;top&quot;:95.45,&quot;width&quot;:483.4}"/>
</p:tagLst>
</file>

<file path=ppt/tags/tag29.xml><?xml version="1.0" encoding="utf-8"?>
<p:tagLst xmlns:p="http://schemas.openxmlformats.org/presentationml/2006/main">
  <p:tag name="KSO_WM_DIAGRAM_VIRTUALLY_FRAME" val="{&quot;height&quot;:349.15,&quot;left&quot;:398,&quot;top&quot;:95.45,&quot;width&quot;:483.4}"/>
</p:tagLst>
</file>

<file path=ppt/tags/tag30.xml><?xml version="1.0" encoding="utf-8"?>
<p:tagLst xmlns:p="http://schemas.openxmlformats.org/presentationml/2006/main">
  <p:tag name="KSO_WM_DIAGRAM_VIRTUALLY_FRAME" val="{&quot;height&quot;:349.15,&quot;left&quot;:398,&quot;top&quot;:95.45,&quot;width&quot;:483.4}"/>
</p:tagLst>
</file>

<file path=ppt/tags/tag31.xml><?xml version="1.0" encoding="utf-8"?>
<p:tagLst xmlns:p="http://schemas.openxmlformats.org/presentationml/2006/main">
  <p:tag name="KSO_WM_DIAGRAM_VIRTUALLY_FRAME" val="{&quot;height&quot;:349.15,&quot;left&quot;:398,&quot;top&quot;:95.45,&quot;width&quot;:483.4}"/>
</p:tagLst>
</file>

<file path=ppt/tags/tag32.xml><?xml version="1.0" encoding="utf-8"?>
<p:tagLst xmlns:p="http://schemas.openxmlformats.org/presentationml/2006/main">
  <p:tag name="ISLIDE.ICON" val="#404870;#405337;#404870;#393849;#394159;#175184;#154559;#174619;#393950;#87202;#381622;"/>
</p:tagLst>
</file>

<file path=ppt/tags/tag33.xml><?xml version="1.0" encoding="utf-8"?>
<p:tagLst xmlns:p="http://schemas.openxmlformats.org/presentationml/2006/main">
  <p:tag name="KSO_WM_DIAGRAM_VIRTUALLY_FRAME" val="{&quot;height&quot;:349.15,&quot;left&quot;:398,&quot;top&quot;:95.45,&quot;width&quot;:483.4}"/>
</p:tagLst>
</file>

<file path=ppt/tags/tag34.xml><?xml version="1.0" encoding="utf-8"?>
<p:tagLst xmlns:p="http://schemas.openxmlformats.org/presentationml/2006/main">
  <p:tag name="KSO_WM_DIAGRAM_VIRTUALLY_FRAME" val="{&quot;height&quot;:349.15,&quot;left&quot;:398,&quot;top&quot;:95.45,&quot;width&quot;:483.4}"/>
</p:tagLst>
</file>

<file path=ppt/tags/tag35.xml><?xml version="1.0" encoding="utf-8"?>
<p:tagLst xmlns:p="http://schemas.openxmlformats.org/presentationml/2006/main">
  <p:tag name="KSO_WM_DIAGRAM_VIRTUALLY_FRAME" val="{&quot;height&quot;:349.15,&quot;left&quot;:398,&quot;top&quot;:95.45,&quot;width&quot;:483.4}"/>
</p:tagLst>
</file>

<file path=ppt/tags/tag36.xml><?xml version="1.0" encoding="utf-8"?>
<p:tagLst xmlns:p="http://schemas.openxmlformats.org/presentationml/2006/main">
  <p:tag name="KSO_WM_DIAGRAM_VIRTUALLY_FRAME" val="{&quot;height&quot;:349.15,&quot;left&quot;:398,&quot;top&quot;:95.45,&quot;width&quot;:483.4}"/>
</p:tagLst>
</file>

<file path=ppt/tags/tag37.xml><?xml version="1.0" encoding="utf-8"?>
<p:tagLst xmlns:p="http://schemas.openxmlformats.org/presentationml/2006/main">
  <p:tag name="KSO_WM_DIAGRAM_VIRTUALLY_FRAME" val="{&quot;height&quot;:349.15,&quot;left&quot;:398,&quot;top&quot;:95.45,&quot;width&quot;:483.4}"/>
</p:tagLst>
</file>

<file path=ppt/tags/tag38.xml><?xml version="1.0" encoding="utf-8"?>
<p:tagLst xmlns:p="http://schemas.openxmlformats.org/presentationml/2006/main">
  <p:tag name="KSO_WM_DIAGRAM_VIRTUALLY_FRAME" val="{&quot;height&quot;:349.15,&quot;left&quot;:398,&quot;top&quot;:95.45,&quot;width&quot;:483.4}"/>
</p:tagLst>
</file>

<file path=ppt/tags/tag39.xml><?xml version="1.0" encoding="utf-8"?>
<p:tagLst xmlns:p="http://schemas.openxmlformats.org/presentationml/2006/main">
  <p:tag name="KSO_WM_DIAGRAM_VIRTUALLY_FRAME" val="{&quot;height&quot;:349.15,&quot;left&quot;:398,&quot;top&quot;:95.45,&quot;width&quot;:483.4}"/>
</p:tagLst>
</file>

<file path=ppt/tags/tag40.xml><?xml version="1.0" encoding="utf-8"?>
<p:tagLst xmlns:p="http://schemas.openxmlformats.org/presentationml/2006/main">
  <p:tag name="KSO_WM_DIAGRAM_VIRTUALLY_FRAME" val="{&quot;height&quot;:349.15,&quot;left&quot;:398,&quot;top&quot;:95.45,&quot;width&quot;:483.4}"/>
</p:tagLst>
</file>

<file path=ppt/tags/tag41.xml><?xml version="1.0" encoding="utf-8"?>
<p:tagLst xmlns:p="http://schemas.openxmlformats.org/presentationml/2006/main">
  <p:tag name="KSO_WM_DIAGRAM_VIRTUALLY_FRAME" val="{&quot;height&quot;:349.15,&quot;left&quot;:398,&quot;top&quot;:95.45,&quot;width&quot;:483.4}"/>
</p:tagLst>
</file>

<file path=ppt/tags/tag42.xml><?xml version="1.0" encoding="utf-8"?>
<p:tagLst xmlns:p="http://schemas.openxmlformats.org/presentationml/2006/main">
  <p:tag name="KSO_WM_DIAGRAM_VIRTUALLY_FRAME" val="{&quot;height&quot;:349.15,&quot;left&quot;:398,&quot;top&quot;:95.45,&quot;width&quot;:483.4}"/>
</p:tagLst>
</file>

<file path=ppt/tags/tag43.xml><?xml version="1.0" encoding="utf-8"?>
<p:tagLst xmlns:p="http://schemas.openxmlformats.org/presentationml/2006/main">
  <p:tag name="KSO_WM_DIAGRAM_VIRTUALLY_FRAME" val="{&quot;height&quot;:349.15,&quot;left&quot;:398,&quot;top&quot;:95.45,&quot;width&quot;:483.4}"/>
</p:tagLst>
</file>

<file path=ppt/tags/tag44.xml><?xml version="1.0" encoding="utf-8"?>
<p:tagLst xmlns:p="http://schemas.openxmlformats.org/presentationml/2006/main">
  <p:tag name="KSO_WM_DIAGRAM_VIRTUALLY_FRAME" val="{&quot;height&quot;:349.15,&quot;left&quot;:398,&quot;top&quot;:95.45,&quot;width&quot;:483.4}"/>
</p:tagLst>
</file>

<file path=ppt/tags/tag45.xml><?xml version="1.0" encoding="utf-8"?>
<p:tagLst xmlns:p="http://schemas.openxmlformats.org/presentationml/2006/main">
  <p:tag name="KSO_WM_DIAGRAM_VIRTUALLY_FRAME" val="{&quot;height&quot;:349.15,&quot;left&quot;:398,&quot;top&quot;:95.45,&quot;width&quot;:483.4}"/>
</p:tagLst>
</file>

<file path=ppt/tags/tag46.xml><?xml version="1.0" encoding="utf-8"?>
<p:tagLst xmlns:p="http://schemas.openxmlformats.org/presentationml/2006/main">
  <p:tag name="KSO_WM_DIAGRAM_VIRTUALLY_FRAME" val="{&quot;height&quot;:349.15,&quot;left&quot;:398,&quot;top&quot;:95.45,&quot;width&quot;:483.4}"/>
</p:tagLst>
</file>

<file path=ppt/tags/tag47.xml><?xml version="1.0" encoding="utf-8"?>
<p:tagLst xmlns:p="http://schemas.openxmlformats.org/presentationml/2006/main">
  <p:tag name="KSO_WM_DIAGRAM_VIRTUALLY_FRAME" val="{&quot;height&quot;:349.15,&quot;left&quot;:398,&quot;top&quot;:95.45,&quot;width&quot;:483.4}"/>
</p:tagLst>
</file>

<file path=ppt/tags/tag48.xml><?xml version="1.0" encoding="utf-8"?>
<p:tagLst xmlns:p="http://schemas.openxmlformats.org/presentationml/2006/main">
  <p:tag name="KSO_WM_DIAGRAM_VIRTUALLY_FRAME" val="{&quot;height&quot;:458.2599212598425,&quot;left&quot;:120.6,&quot;top&quot;:80.65,&quot;width&quot;:780.45}"/>
</p:tagLst>
</file>

<file path=ppt/tags/tag49.xml><?xml version="1.0" encoding="utf-8"?>
<p:tagLst xmlns:p="http://schemas.openxmlformats.org/presentationml/2006/main">
  <p:tag name="KSO_WM_DIAGRAM_VIRTUALLY_FRAME" val="{&quot;height&quot;:349.15,&quot;left&quot;:398,&quot;top&quot;:95.45,&quot;width&quot;:483.4}"/>
</p:tagLst>
</file>

<file path=ppt/tags/tag50.xml><?xml version="1.0" encoding="utf-8"?>
<p:tagLst xmlns:p="http://schemas.openxmlformats.org/presentationml/2006/main">
  <p:tag name="KSO_WM_DIAGRAM_VIRTUALLY_FRAME" val="{&quot;height&quot;:349.15,&quot;left&quot;:398,&quot;top&quot;:95.45,&quot;width&quot;:483.4}"/>
</p:tagLst>
</file>

<file path=ppt/tags/tag51.xml><?xml version="1.0" encoding="utf-8"?>
<p:tagLst xmlns:p="http://schemas.openxmlformats.org/presentationml/2006/main">
  <p:tag name="KSO_WM_DIAGRAM_VIRTUALLY_FRAME" val="{&quot;height&quot;:349.15,&quot;left&quot;:398,&quot;top&quot;:95.45,&quot;width&quot;:483.4}"/>
</p:tagLst>
</file>

<file path=ppt/tags/tag52.xml><?xml version="1.0" encoding="utf-8"?>
<p:tagLst xmlns:p="http://schemas.openxmlformats.org/presentationml/2006/main">
  <p:tag name="KSO_WM_DIAGRAM_VIRTUALLY_FRAME" val="{&quot;height&quot;:458.2599212598425,&quot;left&quot;:120.6,&quot;top&quot;:80.65,&quot;width&quot;:780.45}"/>
</p:tagLst>
</file>

<file path=ppt/tags/tag53.xml><?xml version="1.0" encoding="utf-8"?>
<p:tagLst xmlns:p="http://schemas.openxmlformats.org/presentationml/2006/main">
  <p:tag name="TABLE_ENDDRAG_ORIGIN_RECT" val="544*429"/>
  <p:tag name="TABLE_ENDDRAG_RECT" val="134*69*544*429"/>
</p:tagLst>
</file>

<file path=ppt/tags/tag54.xml><?xml version="1.0" encoding="utf-8"?>
<p:tagLst xmlns:p="http://schemas.openxmlformats.org/presentationml/2006/main">
  <p:tag name="KSO_WM_DIAGRAM_VIRTUALLY_FRAME" val="{&quot;height&quot;:458.2599212598425,&quot;left&quot;:120.6,&quot;top&quot;:80.65,&quot;width&quot;:780.45}"/>
</p:tagLst>
</file>

<file path=ppt/tags/tag55.xml><?xml version="1.0" encoding="utf-8"?>
<p:tagLst xmlns:p="http://schemas.openxmlformats.org/presentationml/2006/main">
  <p:tag name="KSO_WM_DIAGRAM_VIRTUALLY_FRAME" val="{&quot;height&quot;:349.15,&quot;left&quot;:398,&quot;top&quot;:95.45,&quot;width&quot;:483.4}"/>
</p:tagLst>
</file>

<file path=ppt/tags/tag56.xml><?xml version="1.0" encoding="utf-8"?>
<p:tagLst xmlns:p="http://schemas.openxmlformats.org/presentationml/2006/main">
  <p:tag name="KSO_WM_DIAGRAM_VIRTUALLY_FRAME" val="{&quot;height&quot;:349.15,&quot;left&quot;:398,&quot;top&quot;:95.45,&quot;width&quot;:483.4}"/>
</p:tagLst>
</file>

<file path=ppt/tags/tag57.xml><?xml version="1.0" encoding="utf-8"?>
<p:tagLst xmlns:p="http://schemas.openxmlformats.org/presentationml/2006/main">
  <p:tag name="KSO_WM_DIAGRAM_VIRTUALLY_FRAME" val="{&quot;height&quot;:349.15,&quot;left&quot;:398,&quot;top&quot;:95.45,&quot;width&quot;:483.4}"/>
</p:tagLst>
</file>

<file path=ppt/tags/tag58.xml><?xml version="1.0" encoding="utf-8"?>
<p:tagLst xmlns:p="http://schemas.openxmlformats.org/presentationml/2006/main">
  <p:tag name="KSO_WM_DIAGRAM_VIRTUALLY_FRAME" val="{&quot;height&quot;:458.2599212598425,&quot;left&quot;:120.6,&quot;top&quot;:80.65,&quot;width&quot;:780.45}"/>
</p:tagLst>
</file>

<file path=ppt/tags/tag59.xml><?xml version="1.0" encoding="utf-8"?>
<p:tagLst xmlns:p="http://schemas.openxmlformats.org/presentationml/2006/main">
  <p:tag name="KSO_WM_DIAGRAM_VIRTUALLY_FRAME" val="{&quot;height&quot;:458.2599212598425,&quot;left&quot;:120.6,&quot;top&quot;:80.65,&quot;width&quot;:780.45}"/>
</p:tagLst>
</file>

<file path=ppt/tags/tag60.xml><?xml version="1.0" encoding="utf-8"?>
<p:tagLst xmlns:p="http://schemas.openxmlformats.org/presentationml/2006/main">
  <p:tag name="KSO_WM_DIAGRAM_VIRTUALLY_FRAME" val="{&quot;height&quot;:458.2599212598425,&quot;left&quot;:120.6,&quot;top&quot;:80.65,&quot;width&quot;:780.45}"/>
</p:tagLst>
</file>

<file path=ppt/tags/tag61.xml><?xml version="1.0" encoding="utf-8"?>
<p:tagLst xmlns:p="http://schemas.openxmlformats.org/presentationml/2006/main">
  <p:tag name="KSO_WM_DIAGRAM_VIRTUALLY_FRAME" val="{&quot;height&quot;:458.2599212598425,&quot;left&quot;:120.6,&quot;top&quot;:80.65,&quot;width&quot;:780.45}"/>
</p:tagLst>
</file>

<file path=ppt/tags/tag62.xml><?xml version="1.0" encoding="utf-8"?>
<p:tagLst xmlns:p="http://schemas.openxmlformats.org/presentationml/2006/main">
  <p:tag name="KSO_WM_DIAGRAM_VIRTUALLY_FRAME" val="{&quot;height&quot;:458.2599212598425,&quot;left&quot;:120.6,&quot;top&quot;:80.65,&quot;width&quot;:780.45}"/>
</p:tagLst>
</file>

<file path=ppt/tags/tag63.xml><?xml version="1.0" encoding="utf-8"?>
<p:tagLst xmlns:p="http://schemas.openxmlformats.org/presentationml/2006/main">
  <p:tag name="KSO_WM_DIAGRAM_VIRTUALLY_FRAME" val="{&quot;height&quot;:458.2599212598425,&quot;left&quot;:120.6,&quot;top&quot;:80.65,&quot;width&quot;:780.45}"/>
</p:tagLst>
</file>

<file path=ppt/tags/tag64.xml><?xml version="1.0" encoding="utf-8"?>
<p:tagLst xmlns:p="http://schemas.openxmlformats.org/presentationml/2006/main">
  <p:tag name="KSO_WM_DIAGRAM_VIRTUALLY_FRAME" val="{&quot;height&quot;:458.2599212598425,&quot;left&quot;:120.6,&quot;top&quot;:80.65,&quot;width&quot;:780.45}"/>
</p:tagLst>
</file>

<file path=ppt/tags/tag65.xml><?xml version="1.0" encoding="utf-8"?>
<p:tagLst xmlns:p="http://schemas.openxmlformats.org/presentationml/2006/main">
  <p:tag name="KSO_WM_DIAGRAM_VIRTUALLY_FRAME" val="{&quot;height&quot;:458.2599212598425,&quot;left&quot;:120.6,&quot;top&quot;:80.65,&quot;width&quot;:780.45}"/>
</p:tagLst>
</file>

<file path=ppt/tags/tag66.xml><?xml version="1.0" encoding="utf-8"?>
<p:tagLst xmlns:p="http://schemas.openxmlformats.org/presentationml/2006/main">
  <p:tag name="KSO_WM_DIAGRAM_VIRTUALLY_FRAME" val="{&quot;height&quot;:458.2599212598425,&quot;left&quot;:120.6,&quot;top&quot;:80.65,&quot;width&quot;:780.45}"/>
</p:tagLst>
</file>

<file path=ppt/tags/tag67.xml><?xml version="1.0" encoding="utf-8"?>
<p:tagLst xmlns:p="http://schemas.openxmlformats.org/presentationml/2006/main">
  <p:tag name="KSO_WM_DIAGRAM_VIRTUALLY_FRAME" val="{&quot;height&quot;:458.2599212598425,&quot;left&quot;:120.6,&quot;top&quot;:80.65,&quot;width&quot;:780.45}"/>
</p:tagLst>
</file>

<file path=ppt/tags/tag68.xml><?xml version="1.0" encoding="utf-8"?>
<p:tagLst xmlns:p="http://schemas.openxmlformats.org/presentationml/2006/main">
  <p:tag name="TABLE_ENDDRAG_ORIGIN_RECT" val="736*325"/>
  <p:tag name="TABLE_ENDDRAG_RECT" val="132*151*736*325"/>
</p:tagLst>
</file>

<file path=ppt/tags/tag69.xml><?xml version="1.0" encoding="utf-8"?>
<p:tagLst xmlns:p="http://schemas.openxmlformats.org/presentationml/2006/main">
  <p:tag name="KSO_WM_DIAGRAM_VIRTUALLY_FRAME" val="{&quot;height&quot;:113.875,&quot;left&quot;:319.12503937007875,&quot;top&quot;:390.125,&quot;width&quot;:288.12496062992125}"/>
</p:tagLst>
</file>

<file path=ppt/tags/tag70.xml><?xml version="1.0" encoding="utf-8"?>
<p:tagLst xmlns:p="http://schemas.openxmlformats.org/presentationml/2006/main">
  <p:tag name="KSO_WM_DIAGRAM_VIRTUALLY_FRAME" val="{&quot;height&quot;:113.875,&quot;left&quot;:319.12503937007875,&quot;top&quot;:390.125,&quot;width&quot;:288.12496062992125}"/>
</p:tagLst>
</file>

<file path=ppt/tags/tag71.xml><?xml version="1.0" encoding="utf-8"?>
<p:tagLst xmlns:p="http://schemas.openxmlformats.org/presentationml/2006/main">
  <p:tag name="KSO_WM_DIAGRAM_VIRTUALLY_FRAME" val="{&quot;height&quot;:113.875,&quot;left&quot;:319.12503937007875,&quot;top&quot;:390.125,&quot;width&quot;:288.12496062992125}"/>
</p:tagLst>
</file>

<file path=ppt/tags/tag72.xml><?xml version="1.0" encoding="utf-8"?>
<p:tagLst xmlns:p="http://schemas.openxmlformats.org/presentationml/2006/main">
  <p:tag name="KSO_WM_DIAGRAM_VIRTUALLY_FRAME" val="{&quot;height&quot;:113.875,&quot;left&quot;:319.12503937007875,&quot;top&quot;:390.125,&quot;width&quot;:288.12496062992125}"/>
</p:tagLst>
</file>

<file path=ppt/tags/tag73.xml><?xml version="1.0" encoding="utf-8"?>
<p:tagLst xmlns:p="http://schemas.openxmlformats.org/presentationml/2006/main">
  <p:tag name="KSO_WM_DIAGRAM_VIRTUALLY_FRAME" val="{&quot;height&quot;:113.875,&quot;left&quot;:319.12503937007875,&quot;top&quot;:390.125,&quot;width&quot;:288.12496062992125}"/>
</p:tagLst>
</file>

<file path=ppt/tags/tag74.xml><?xml version="1.0" encoding="utf-8"?>
<p:tagLst xmlns:p="http://schemas.openxmlformats.org/presentationml/2006/main">
  <p:tag name="KSO_WM_DIAGRAM_VIRTUALLY_FRAME" val="{&quot;height&quot;:113.875,&quot;left&quot;:319.12503937007875,&quot;top&quot;:390.125,&quot;width&quot;:288.12496062992125}"/>
</p:tagLst>
</file>

<file path=ppt/tags/tag75.xml><?xml version="1.0" encoding="utf-8"?>
<p:tagLst xmlns:p="http://schemas.openxmlformats.org/presentationml/2006/main">
  <p:tag name="KSO_WM_DIAGRAM_VIRTUALLY_FRAME" val="{&quot;height&quot;:113.875,&quot;left&quot;:319.12503937007875,&quot;top&quot;:390.125,&quot;width&quot;:288.12496062992125}"/>
</p:tagLst>
</file>

<file path=ppt/tags/tag76.xml><?xml version="1.0" encoding="utf-8"?>
<p:tagLst xmlns:p="http://schemas.openxmlformats.org/presentationml/2006/main">
  <p:tag name="KSO_WM_DIAGRAM_VIRTUALLY_FRAME" val="{&quot;height&quot;:113.875,&quot;left&quot;:319.12503937007875,&quot;top&quot;:390.125,&quot;width&quot;:288.12496062992125}"/>
</p:tagLst>
</file>

<file path=ppt/tags/tag77.xml><?xml version="1.0" encoding="utf-8"?>
<p:tagLst xmlns:p="http://schemas.openxmlformats.org/presentationml/2006/main">
  <p:tag name="KSO_WM_DIAGRAM_VIRTUALLY_FRAME" val="{&quot;height&quot;:113.875,&quot;left&quot;:319.12503937007875,&quot;top&quot;:390.125,&quot;width&quot;:288.12496062992125}"/>
</p:tagLst>
</file>

<file path=ppt/tags/tag78.xml><?xml version="1.0" encoding="utf-8"?>
<p:tagLst xmlns:p="http://schemas.openxmlformats.org/presentationml/2006/main">
  <p:tag name="KSO_WM_DIAGRAM_VIRTUALLY_FRAME" val="{&quot;height&quot;:113.875,&quot;left&quot;:319.12503937007875,&quot;top&quot;:390.125,&quot;width&quot;:288.12496062992125}"/>
</p:tagLst>
</file>

<file path=ppt/tags/tag79.xml><?xml version="1.0" encoding="utf-8"?>
<p:tagLst xmlns:p="http://schemas.openxmlformats.org/presentationml/2006/main">
  <p:tag name="KSO_WM_DIAGRAM_VIRTUALLY_FRAME" val="{&quot;height&quot;:113.875,&quot;left&quot;:319.12503937007875,&quot;top&quot;:390.125,&quot;width&quot;:288.12496062992125}"/>
</p:tagLst>
</file>

<file path=ppt/tags/tag80.xml><?xml version="1.0" encoding="utf-8"?>
<p:tagLst xmlns:p="http://schemas.openxmlformats.org/presentationml/2006/main">
  <p:tag name="KSO_WM_DIAGRAM_VIRTUALLY_FRAME" val="{&quot;height&quot;:113.875,&quot;left&quot;:319.12503937007875,&quot;top&quot;:390.125,&quot;width&quot;:288.12496062992125}"/>
</p:tagLst>
</file>

<file path=ppt/tags/tag81.xml><?xml version="1.0" encoding="utf-8"?>
<p:tagLst xmlns:p="http://schemas.openxmlformats.org/presentationml/2006/main">
  <p:tag name="KSO_WM_DIAGRAM_VIRTUALLY_FRAME" val="{&quot;height&quot;:113.875,&quot;left&quot;:319.12503937007875,&quot;top&quot;:390.125,&quot;width&quot;:288.12496062992125}"/>
</p:tagLst>
</file>

<file path=ppt/tags/tag82.xml><?xml version="1.0" encoding="utf-8"?>
<p:tagLst xmlns:p="http://schemas.openxmlformats.org/presentationml/2006/main">
  <p:tag name="KSO_WM_DIAGRAM_VIRTUALLY_FRAME" val="{&quot;height&quot;:458.2599212598425,&quot;left&quot;:120.6,&quot;top&quot;:80.65,&quot;width&quot;:780.45}"/>
</p:tagLst>
</file>

<file path=ppt/tags/tag83.xml><?xml version="1.0" encoding="utf-8"?>
<p:tagLst xmlns:p="http://schemas.openxmlformats.org/presentationml/2006/main">
  <p:tag name="KSO_WM_DIAGRAM_VIRTUALLY_FRAME" val="{&quot;height&quot;:458.2599212598425,&quot;left&quot;:120.6,&quot;top&quot;:80.65,&quot;width&quot;:780.45}"/>
</p:tagLst>
</file>

<file path=ppt/tags/tag84.xml><?xml version="1.0" encoding="utf-8"?>
<p:tagLst xmlns:p="http://schemas.openxmlformats.org/presentationml/2006/main">
  <p:tag name="KSO_WM_DIAGRAM_VIRTUALLY_FRAME" val="{&quot;height&quot;:458.2599212598425,&quot;left&quot;:120.6,&quot;top&quot;:80.65,&quot;width&quot;:780.45}"/>
</p:tagLst>
</file>

<file path=ppt/tags/tag85.xml><?xml version="1.0" encoding="utf-8"?>
<p:tagLst xmlns:p="http://schemas.openxmlformats.org/presentationml/2006/main">
  <p:tag name="KSO_WM_DIAGRAM_VIRTUALLY_FRAME" val="{&quot;height&quot;:458.2599212598425,&quot;left&quot;:120.6,&quot;top&quot;:80.65,&quot;width&quot;:780.45}"/>
</p:tagLst>
</file>

<file path=ppt/tags/tag86.xml><?xml version="1.0" encoding="utf-8"?>
<p:tagLst xmlns:p="http://schemas.openxmlformats.org/presentationml/2006/main">
  <p:tag name="TABLE_ENDDRAG_ORIGIN_RECT" val="700*420"/>
  <p:tag name="TABLE_ENDDRAG_RECT" val="18*67*700*420"/>
</p:tagLst>
</file>

<file path=ppt/tags/tag87.xml><?xml version="1.0" encoding="utf-8"?>
<p:tagLst xmlns:p="http://schemas.openxmlformats.org/presentationml/2006/main">
  <p:tag name="KSO_WM_DIAGRAM_VIRTUALLY_FRAME" val="{&quot;height&quot;:458.2599212598425,&quot;left&quot;:120.6,&quot;top&quot;:80.65,&quot;width&quot;:780.45}"/>
</p:tagLst>
</file>

<file path=ppt/tags/tag88.xml><?xml version="1.0" encoding="utf-8"?>
<p:tagLst xmlns:p="http://schemas.openxmlformats.org/presentationml/2006/main">
  <p:tag name="TABLE_ENDDRAG_ORIGIN_RECT" val="662*146"/>
  <p:tag name="TABLE_ENDDRAG_RECT" val="54*140*662*146"/>
</p:tagLst>
</file>

<file path=ppt/tags/tag89.xml><?xml version="1.0" encoding="utf-8"?>
<p:tagLst xmlns:p="http://schemas.openxmlformats.org/presentationml/2006/main">
  <p:tag name="KSO_WM_DIAGRAM_VIRTUALLY_FRAME" val="{&quot;height&quot;:458.2599212598425,&quot;left&quot;:120.6,&quot;top&quot;:80.65,&quot;width&quot;:780.45}"/>
</p:tagLst>
</file>

<file path=ppt/tags/tag90.xml><?xml version="1.0" encoding="utf-8"?>
<p:tagLst xmlns:p="http://schemas.openxmlformats.org/presentationml/2006/main">
  <p:tag name="TABLE_ENDDRAG_ORIGIN_RECT" val="669*155"/>
  <p:tag name="TABLE_ENDDRAG_RECT" val="60*150*669*155"/>
</p:tagLst>
</file>

<file path=ppt/tags/tag91.xml><?xml version="1.0" encoding="utf-8"?>
<p:tagLst xmlns:p="http://schemas.openxmlformats.org/presentationml/2006/main">
  <p:tag name="KSO_WM_DIAGRAM_VIRTUALLY_FRAME" val="{&quot;height&quot;:458.2599212598425,&quot;left&quot;:120.6,&quot;top&quot;:80.65,&quot;width&quot;:780.45}"/>
</p:tagLst>
</file>

<file path=ppt/tags/tag92.xml><?xml version="1.0" encoding="utf-8"?>
<p:tagLst xmlns:p="http://schemas.openxmlformats.org/presentationml/2006/main">
  <p:tag name="TABLE_ENDDRAG_ORIGIN_RECT" val="666*260"/>
  <p:tag name="TABLE_ENDDRAG_RECT" val="60*147*666*260"/>
</p:tagLst>
</file>

<file path=ppt/tags/tag93.xml><?xml version="1.0" encoding="utf-8"?>
<p:tagLst xmlns:p="http://schemas.openxmlformats.org/presentationml/2006/main">
  <p:tag name="KSO_WM_DIAGRAM_VIRTUALLY_FRAME" val="{&quot;height&quot;:458.2599212598425,&quot;left&quot;:120.6,&quot;top&quot;:80.65,&quot;width&quot;:780.45}"/>
</p:tagLst>
</file>

<file path=ppt/tags/tag94.xml><?xml version="1.0" encoding="utf-8"?>
<p:tagLst xmlns:p="http://schemas.openxmlformats.org/presentationml/2006/main">
  <p:tag name="TABLE_ENDDRAG_ORIGIN_RECT" val="767*239"/>
  <p:tag name="TABLE_ENDDRAG_RECT" val="29*150*767*239"/>
</p:tagLst>
</file>

<file path=ppt/tags/tag95.xml><?xml version="1.0" encoding="utf-8"?>
<p:tagLst xmlns:p="http://schemas.openxmlformats.org/presentationml/2006/main">
  <p:tag name="KSO_WM_DIAGRAM_VIRTUALLY_FRAME" val="{&quot;height&quot;:458.2599212598425,&quot;left&quot;:120.6,&quot;top&quot;:80.65,&quot;width&quot;:780.45}"/>
</p:tagLst>
</file>

<file path=ppt/tags/tag96.xml><?xml version="1.0" encoding="utf-8"?>
<p:tagLst xmlns:p="http://schemas.openxmlformats.org/presentationml/2006/main">
  <p:tag name="TABLE_ENDDRAG_ORIGIN_RECT" val="667*282"/>
  <p:tag name="TABLE_ENDDRAG_RECT" val="60*150*667*282"/>
</p:tagLst>
</file>

<file path=ppt/tags/tag97.xml><?xml version="1.0" encoding="utf-8"?>
<p:tagLst xmlns:p="http://schemas.openxmlformats.org/presentationml/2006/main">
  <p:tag name="KSO_WM_DIAGRAM_VIRTUALLY_FRAME" val="{&quot;height&quot;:458.2599212598425,&quot;left&quot;:120.6,&quot;top&quot;:80.65,&quot;width&quot;:780.45}"/>
</p:tagLst>
</file>

<file path=ppt/tags/tag98.xml><?xml version="1.0" encoding="utf-8"?>
<p:tagLst xmlns:p="http://schemas.openxmlformats.org/presentationml/2006/main">
  <p:tag name="TABLE_ENDDRAG_ORIGIN_RECT" val="763*194"/>
  <p:tag name="TABLE_ENDDRAG_RECT" val="60*146*763*194"/>
</p:tagLst>
</file>

<file path=ppt/tags/tag99.xml><?xml version="1.0" encoding="utf-8"?>
<p:tagLst xmlns:p="http://schemas.openxmlformats.org/presentationml/2006/main">
  <p:tag name="KSO_WM_DIAGRAM_VIRTUALLY_FRAME" val="{&quot;height&quot;:458.2599212598425,&quot;left&quot;:120.6,&quot;top&quot;:80.65,&quot;width&quot;:780.45}"/>
</p:tagLst>
</file>

<file path=ppt/tags/tag100.xml><?xml version="1.0" encoding="utf-8"?>
<p:tagLst xmlns:p="http://schemas.openxmlformats.org/presentationml/2006/main">
  <p:tag name="TABLE_ENDDRAG_ORIGIN_RECT" val="742*241"/>
  <p:tag name="TABLE_ENDDRAG_RECT" val="60*144*742*241"/>
</p:tagLst>
</file>

<file path=ppt/tags/tag101.xml><?xml version="1.0" encoding="utf-8"?>
<p:tagLst xmlns:p="http://schemas.openxmlformats.org/presentationml/2006/main">
  <p:tag name="KSO_WM_DIAGRAM_VIRTUALLY_FRAME" val="{&quot;height&quot;:458.2599212598425,&quot;left&quot;:120.6,&quot;top&quot;:80.65,&quot;width&quot;:780.45}"/>
</p:tagLst>
</file>

<file path=ppt/tags/tag102.xml><?xml version="1.0" encoding="utf-8"?>
<p:tagLst xmlns:p="http://schemas.openxmlformats.org/presentationml/2006/main">
  <p:tag name="TABLE_ENDDRAG_ORIGIN_RECT" val="723*230"/>
  <p:tag name="TABLE_ENDDRAG_RECT" val="60*150*723*230"/>
</p:tagLst>
</file>

<file path=ppt/tags/tag103.xml><?xml version="1.0" encoding="utf-8"?>
<p:tagLst xmlns:p="http://schemas.openxmlformats.org/presentationml/2006/main">
  <p:tag name="KSO_WM_DIAGRAM_VIRTUALLY_FRAME" val="{&quot;height&quot;:458.2599212598425,&quot;left&quot;:120.6,&quot;top&quot;:80.65,&quot;width&quot;:780.45}"/>
</p:tagLst>
</file>

<file path=ppt/tags/tag104.xml><?xml version="1.0" encoding="utf-8"?>
<p:tagLst xmlns:p="http://schemas.openxmlformats.org/presentationml/2006/main">
  <p:tag name="KSO_WM_DIAGRAM_VIRTUALLY_FRAME" val="{&quot;height&quot;:458.2599212598425,&quot;left&quot;:120.6,&quot;top&quot;:80.65,&quot;width&quot;:780.45}"/>
</p:tagLst>
</file>

<file path=ppt/tags/tag105.xml><?xml version="1.0" encoding="utf-8"?>
<p:tagLst xmlns:p="http://schemas.openxmlformats.org/presentationml/2006/main">
  <p:tag name="KSO_WM_DIAGRAM_VIRTUALLY_FRAME" val="{&quot;height&quot;:210,&quot;left&quot;:144,&quot;top&quot;:138,&quot;width&quot;:378}"/>
</p:tagLst>
</file>

<file path=ppt/tags/tag106.xml><?xml version="1.0" encoding="utf-8"?>
<p:tagLst xmlns:p="http://schemas.openxmlformats.org/presentationml/2006/main">
  <p:tag name="KSO_WM_DIAGRAM_VIRTUALLY_FRAME" val="{&quot;height&quot;:210,&quot;left&quot;:144,&quot;top&quot;:138,&quot;width&quot;:378}"/>
</p:tagLst>
</file>

<file path=ppt/tags/tag107.xml><?xml version="1.0" encoding="utf-8"?>
<p:tagLst xmlns:p="http://schemas.openxmlformats.org/presentationml/2006/main">
  <p:tag name="KSO_WM_DIAGRAM_VIRTUALLY_FRAME" val="{&quot;height&quot;:210,&quot;left&quot;:144,&quot;top&quot;:138,&quot;width&quot;:378}"/>
</p:tagLst>
</file>

<file path=ppt/tags/tag108.xml><?xml version="1.0" encoding="utf-8"?>
<p:tagLst xmlns:p="http://schemas.openxmlformats.org/presentationml/2006/main">
  <p:tag name="KSO_WM_DIAGRAM_VIRTUALLY_FRAME" val="{&quot;height&quot;:210,&quot;left&quot;:144,&quot;top&quot;:138,&quot;width&quot;:378}"/>
</p:tagLst>
</file>

<file path=ppt/tags/tag109.xml><?xml version="1.0" encoding="utf-8"?>
<p:tagLst xmlns:p="http://schemas.openxmlformats.org/presentationml/2006/main">
  <p:tag name="KSO_WM_DIAGRAM_VIRTUALLY_FRAME" val="{&quot;height&quot;:458.2599212598425,&quot;left&quot;:120.6,&quot;top&quot;:80.65,&quot;width&quot;:780.45}"/>
</p:tagLst>
</file>

<file path=ppt/tags/tag110.xml><?xml version="1.0" encoding="utf-8"?>
<p:tagLst xmlns:p="http://schemas.openxmlformats.org/presentationml/2006/main">
  <p:tag name="KSO_WM_DIAGRAM_VIRTUALLY_FRAME" val="{&quot;height&quot;:458.2599212598425,&quot;left&quot;:120.6,&quot;top&quot;:80.65,&quot;width&quot;:780.45}"/>
</p:tagLst>
</file>

<file path=ppt/tags/tag111.xml><?xml version="1.0" encoding="utf-8"?>
<p:tagLst xmlns:p="http://schemas.openxmlformats.org/presentationml/2006/main">
  <p:tag name="KSO_WM_DIAGRAM_VIRTUALLY_FRAME" val="{&quot;height&quot;:458.2599212598425,&quot;left&quot;:120.6,&quot;top&quot;:80.65,&quot;width&quot;:780.45}"/>
</p:tagLst>
</file>

<file path=ppt/tags/tag112.xml><?xml version="1.0" encoding="utf-8"?>
<p:tagLst xmlns:p="http://schemas.openxmlformats.org/presentationml/2006/main">
  <p:tag name="KSO_WM_DIAGRAM_VIRTUALLY_FRAME" val="{&quot;height&quot;:458.2599212598425,&quot;left&quot;:120.6,&quot;top&quot;:80.65,&quot;width&quot;:780.45}"/>
</p:tagLst>
</file>

<file path=ppt/tags/tag113.xml><?xml version="1.0" encoding="utf-8"?>
<p:tagLst xmlns:p="http://schemas.openxmlformats.org/presentationml/2006/main">
  <p:tag name="KSO_WM_DIAGRAM_VIRTUALLY_FRAME" val="{&quot;height&quot;:458.2599212598425,&quot;left&quot;:120.6,&quot;top&quot;:80.65,&quot;width&quot;:780.45}"/>
</p:tagLst>
</file>

<file path=ppt/tags/tag114.xml><?xml version="1.0" encoding="utf-8"?>
<p:tagLst xmlns:p="http://schemas.openxmlformats.org/presentationml/2006/main">
  <p:tag name="KSO_WM_DIAGRAM_VIRTUALLY_FRAME" val="{&quot;height&quot;:458.2599212598425,&quot;left&quot;:120.6,&quot;top&quot;:80.65,&quot;width&quot;:780.45}"/>
</p:tagLst>
</file>

<file path=ppt/tags/tag115.xml><?xml version="1.0" encoding="utf-8"?>
<p:tagLst xmlns:p="http://schemas.openxmlformats.org/presentationml/2006/main">
  <p:tag name="KSO_WM_DIAGRAM_VIRTUALLY_FRAME" val="{&quot;height&quot;:458.2599212598425,&quot;left&quot;:120.6,&quot;top&quot;:80.65,&quot;width&quot;:780.45}"/>
</p:tagLst>
</file>

<file path=ppt/tags/tag116.xml><?xml version="1.0" encoding="utf-8"?>
<p:tagLst xmlns:p="http://schemas.openxmlformats.org/presentationml/2006/main">
  <p:tag name="KSO_WM_DIAGRAM_VIRTUALLY_FRAME" val="{&quot;height&quot;:458.2599212598425,&quot;left&quot;:120.6,&quot;top&quot;:80.65,&quot;width&quot;:780.45}"/>
</p:tagLst>
</file>

<file path=ppt/tags/tag117.xml><?xml version="1.0" encoding="utf-8"?>
<p:tagLst xmlns:p="http://schemas.openxmlformats.org/presentationml/2006/main">
  <p:tag name="KSO_WM_DIAGRAM_VIRTUALLY_FRAME" val="{&quot;height&quot;:458.2599212598425,&quot;left&quot;:120.6,&quot;top&quot;:80.65,&quot;width&quot;:780.45}"/>
</p:tagLst>
</file>

<file path=ppt/tags/tag118.xml><?xml version="1.0" encoding="utf-8"?>
<p:tagLst xmlns:p="http://schemas.openxmlformats.org/presentationml/2006/main">
  <p:tag name="KSO_WM_DIAGRAM_VIRTUALLY_FRAME" val="{&quot;height&quot;:458.2599212598425,&quot;left&quot;:120.6,&quot;top&quot;:80.65,&quot;width&quot;:780.45}"/>
</p:tagLst>
</file>

<file path=ppt/tags/tag119.xml><?xml version="1.0" encoding="utf-8"?>
<p:tagLst xmlns:p="http://schemas.openxmlformats.org/presentationml/2006/main">
  <p:tag name="KSO_WM_DIAGRAM_VIRTUALLY_FRAME" val="{&quot;height&quot;:458.2599212598425,&quot;left&quot;:120.6,&quot;top&quot;:80.65,&quot;width&quot;:780.45}"/>
</p:tagLst>
</file>

<file path=ppt/tags/tag120.xml><?xml version="1.0" encoding="utf-8"?>
<p:tagLst xmlns:p="http://schemas.openxmlformats.org/presentationml/2006/main">
  <p:tag name="KSO_WM_DIAGRAM_VIRTUALLY_FRAME" val="{&quot;height&quot;:458.2599212598425,&quot;left&quot;:120.6,&quot;top&quot;:80.65,&quot;width&quot;:780.45}"/>
</p:tagLst>
</file>

<file path=ppt/tags/tag121.xml><?xml version="1.0" encoding="utf-8"?>
<p:tagLst xmlns:p="http://schemas.openxmlformats.org/presentationml/2006/main">
  <p:tag name="KSO_WM_DIAGRAM_VIRTUALLY_FRAME" val="{&quot;height&quot;:458.2599212598425,&quot;left&quot;:120.6,&quot;top&quot;:80.65,&quot;width&quot;:780.45}"/>
</p:tagLst>
</file>

<file path=ppt/tags/tag122.xml><?xml version="1.0" encoding="utf-8"?>
<p:tagLst xmlns:p="http://schemas.openxmlformats.org/presentationml/2006/main">
  <p:tag name="KSO_WM_DIAGRAM_VIRTUALLY_FRAME" val="{&quot;height&quot;:458.2599212598425,&quot;left&quot;:120.6,&quot;top&quot;:80.65,&quot;width&quot;:780.45}"/>
</p:tagLst>
</file>

<file path=ppt/tags/tag123.xml><?xml version="1.0" encoding="utf-8"?>
<p:tagLst xmlns:p="http://schemas.openxmlformats.org/presentationml/2006/main">
  <p:tag name="TABLE_ENDDRAG_ORIGIN_RECT" val="820*384"/>
  <p:tag name="TABLE_ENDDRAG_RECT" val="39*115*820*384"/>
</p:tagLst>
</file>

<file path=ppt/tags/tag124.xml><?xml version="1.0" encoding="utf-8"?>
<p:tagLst xmlns:p="http://schemas.openxmlformats.org/presentationml/2006/main">
  <p:tag name="KSO_WM_DIAGRAM_VIRTUALLY_FRAME" val="{&quot;height&quot;:458.2599212598425,&quot;left&quot;:120.6,&quot;top&quot;:80.65,&quot;width&quot;:780.45}"/>
</p:tagLst>
</file>

<file path=ppt/tags/tag125.xml><?xml version="1.0" encoding="utf-8"?>
<p:tagLst xmlns:p="http://schemas.openxmlformats.org/presentationml/2006/main">
  <p:tag name="KSO_WM_DIAGRAM_VIRTUALLY_FRAME" val="{&quot;height&quot;:458.2599212598425,&quot;left&quot;:120.6,&quot;top&quot;:80.65,&quot;width&quot;:780.45}"/>
</p:tagLst>
</file>

<file path=ppt/tags/tag126.xml><?xml version="1.0" encoding="utf-8"?>
<p:tagLst xmlns:p="http://schemas.openxmlformats.org/presentationml/2006/main">
  <p:tag name="KSO_WM_DIAGRAM_VIRTUALLY_FRAME" val="{&quot;height&quot;:458.2599212598425,&quot;left&quot;:120.6,&quot;top&quot;:80.65,&quot;width&quot;:780.45}"/>
</p:tagLst>
</file>

<file path=ppt/tags/tag127.xml><?xml version="1.0" encoding="utf-8"?>
<p:tagLst xmlns:p="http://schemas.openxmlformats.org/presentationml/2006/main">
  <p:tag name="KSO_WM_DIAGRAM_VIRTUALLY_FRAME" val="{&quot;height&quot;:458.2599212598425,&quot;left&quot;:120.6,&quot;top&quot;:80.65,&quot;width&quot;:780.45}"/>
</p:tagLst>
</file>

<file path=ppt/tags/tag128.xml><?xml version="1.0" encoding="utf-8"?>
<p:tagLst xmlns:p="http://schemas.openxmlformats.org/presentationml/2006/main">
  <p:tag name="KSO_WM_DIAGRAM_VIRTUALLY_FRAME" val="{&quot;height&quot;:458.2599212598425,&quot;left&quot;:120.6,&quot;top&quot;:80.65,&quot;width&quot;:780.45}"/>
</p:tagLst>
</file>

<file path=ppt/tags/tag129.xml><?xml version="1.0" encoding="utf-8"?>
<p:tagLst xmlns:p="http://schemas.openxmlformats.org/presentationml/2006/main">
  <p:tag name="KSO_WM_DIAGRAM_VIRTUALLY_FRAME" val="{&quot;height&quot;:180,&quot;left&quot;:96,&quot;top&quot;:150,&quot;width&quot;:480}"/>
</p:tagLst>
</file>

<file path=ppt/tags/tag130.xml><?xml version="1.0" encoding="utf-8"?>
<p:tagLst xmlns:p="http://schemas.openxmlformats.org/presentationml/2006/main">
  <p:tag name="KSO_WM_DIAGRAM_VIRTUALLY_FRAME" val="{&quot;height&quot;:180,&quot;left&quot;:96,&quot;top&quot;:150,&quot;width&quot;:480}"/>
</p:tagLst>
</file>

<file path=ppt/tags/tag131.xml><?xml version="1.0" encoding="utf-8"?>
<p:tagLst xmlns:p="http://schemas.openxmlformats.org/presentationml/2006/main">
  <p:tag name="KSO_WM_DIAGRAM_VIRTUALLY_FRAME" val="{&quot;height&quot;:180,&quot;left&quot;:96,&quot;top&quot;:150,&quot;width&quot;:480}"/>
</p:tagLst>
</file>

<file path=ppt/tags/tag132.xml><?xml version="1.0" encoding="utf-8"?>
<p:tagLst xmlns:p="http://schemas.openxmlformats.org/presentationml/2006/main">
  <p:tag name="KSO_WM_DIAGRAM_VIRTUALLY_FRAME" val="{&quot;height&quot;:458.2599212598425,&quot;left&quot;:120.6,&quot;top&quot;:80.65,&quot;width&quot;:780.45}"/>
</p:tagLst>
</file>

<file path=ppt/tags/tag133.xml><?xml version="1.0" encoding="utf-8"?>
<p:tagLst xmlns:p="http://schemas.openxmlformats.org/presentationml/2006/main">
  <p:tag name="TABLE_ENDDRAG_ORIGIN_RECT" val="595*447"/>
  <p:tag name="TABLE_ENDDRAG_RECT" val="128*68*595*447"/>
</p:tagLst>
</file>

<file path=ppt/tags/tag134.xml><?xml version="1.0" encoding="utf-8"?>
<p:tagLst xmlns:p="http://schemas.openxmlformats.org/presentationml/2006/main">
  <p:tag name="KSO_WM_DIAGRAM_VIRTUALLY_FRAME" val="{&quot;height&quot;:458.2599212598425,&quot;left&quot;:120.6,&quot;top&quot;:80.65,&quot;width&quot;:780.45}"/>
</p:tagLst>
</file>

<file path=ppt/tags/tag135.xml><?xml version="1.0" encoding="utf-8"?>
<p:tagLst xmlns:p="http://schemas.openxmlformats.org/presentationml/2006/main">
  <p:tag name="KSO_WM_DIAGRAM_VIRTUALLY_FRAME" val="{&quot;height&quot;:458.2599212598425,&quot;left&quot;:120.6,&quot;top&quot;:80.65,&quot;width&quot;:780.45}"/>
</p:tagLst>
</file>

<file path=ppt/tags/tag136.xml><?xml version="1.0" encoding="utf-8"?>
<p:tagLst xmlns:p="http://schemas.openxmlformats.org/presentationml/2006/main">
  <p:tag name="KSO_WM_DIAGRAM_VIRTUALLY_FRAME" val="{&quot;height&quot;:458.2599212598425,&quot;left&quot;:120.6,&quot;top&quot;:80.65,&quot;width&quot;:780.45}"/>
</p:tagLst>
</file>

<file path=ppt/tags/tag137.xml><?xml version="1.0" encoding="utf-8"?>
<p:tagLst xmlns:p="http://schemas.openxmlformats.org/presentationml/2006/main">
  <p:tag name="KSO_WM_DIAGRAM_VIRTUALLY_FRAME" val="{&quot;height&quot;:458.2599212598425,&quot;left&quot;:120.6,&quot;top&quot;:80.65,&quot;width&quot;:780.45}"/>
</p:tagLst>
</file>

<file path=ppt/tags/tag138.xml><?xml version="1.0" encoding="utf-8"?>
<p:tagLst xmlns:p="http://schemas.openxmlformats.org/presentationml/2006/main">
  <p:tag name="KSO_WM_DIAGRAM_VIRTUALLY_FRAME" val="{&quot;height&quot;:458.2599212598425,&quot;left&quot;:120.6,&quot;top&quot;:80.65,&quot;width&quot;:780.45}"/>
</p:tagLst>
</file>

<file path=ppt/tags/tag139.xml><?xml version="1.0" encoding="utf-8"?>
<p:tagLst xmlns:p="http://schemas.openxmlformats.org/presentationml/2006/main">
  <p:tag name="KSO_WM_DIAGRAM_VIRTUALLY_FRAME" val="{&quot;height&quot;:458.2599212598425,&quot;left&quot;:120.6,&quot;top&quot;:80.65,&quot;width&quot;:780.45}"/>
</p:tagLst>
</file>

<file path=ppt/tags/tag140.xml><?xml version="1.0" encoding="utf-8"?>
<p:tagLst xmlns:p="http://schemas.openxmlformats.org/presentationml/2006/main">
  <p:tag name="KSO_WM_DIAGRAM_VIRTUALLY_FRAME" val="{&quot;height&quot;:458.2599212598425,&quot;left&quot;:120.6,&quot;top&quot;:80.65,&quot;width&quot;:780.45}"/>
</p:tagLst>
</file>

<file path=ppt/tags/tag141.xml><?xml version="1.0" encoding="utf-8"?>
<p:tagLst xmlns:p="http://schemas.openxmlformats.org/presentationml/2006/main">
  <p:tag name="KSO_WM_DIAGRAM_VIRTUALLY_FRAME" val="{&quot;height&quot;:458.2599212598425,&quot;left&quot;:120.6,&quot;top&quot;:80.65,&quot;width&quot;:780.45}"/>
</p:tagLst>
</file>

<file path=ppt/tags/tag142.xml><?xml version="1.0" encoding="utf-8"?>
<p:tagLst xmlns:p="http://schemas.openxmlformats.org/presentationml/2006/main">
  <p:tag name="TABLE_ENDDRAG_ORIGIN_RECT" val="643*235"/>
  <p:tag name="TABLE_ENDDRAG_RECT" val="54*150*643*235"/>
</p:tagLst>
</file>

<file path=ppt/tags/tag143.xml><?xml version="1.0" encoding="utf-8"?>
<p:tagLst xmlns:p="http://schemas.openxmlformats.org/presentationml/2006/main">
  <p:tag name="KSO_WM_DIAGRAM_VIRTUALLY_FRAME" val="{&quot;height&quot;:458.2599212598425,&quot;left&quot;:120.6,&quot;top&quot;:80.65,&quot;width&quot;:780.45}"/>
</p:tagLst>
</file>

<file path=ppt/tags/tag144.xml><?xml version="1.0" encoding="utf-8"?>
<p:tagLst xmlns:p="http://schemas.openxmlformats.org/presentationml/2006/main">
  <p:tag name="TABLE_ENDDRAG_ORIGIN_RECT" val="622*189"/>
  <p:tag name="TABLE_ENDDRAG_RECT" val="54*150*622*189"/>
</p:tagLst>
</file>

<file path=ppt/tags/tag145.xml><?xml version="1.0" encoding="utf-8"?>
<p:tagLst xmlns:p="http://schemas.openxmlformats.org/presentationml/2006/main">
  <p:tag name="KSO_WM_DIAGRAM_VIRTUALLY_FRAME" val="{&quot;height&quot;:458.2599212598425,&quot;left&quot;:120.6,&quot;top&quot;:80.65,&quot;width&quot;:780.45}"/>
</p:tagLst>
</file>

<file path=ppt/tags/tag146.xml><?xml version="1.0" encoding="utf-8"?>
<p:tagLst xmlns:p="http://schemas.openxmlformats.org/presentationml/2006/main">
  <p:tag name="KSO_WM_DIAGRAM_VIRTUALLY_FRAME" val="{&quot;height&quot;:458.2599212598425,&quot;left&quot;:120.6,&quot;top&quot;:80.65,&quot;width&quot;:780.45}"/>
</p:tagLst>
</file>

<file path=ppt/tags/tag147.xml><?xml version="1.0" encoding="utf-8"?>
<p:tagLst xmlns:p="http://schemas.openxmlformats.org/presentationml/2006/main">
  <p:tag name="TABLE_ENDDRAG_ORIGIN_RECT" val="657*240"/>
  <p:tag name="TABLE_ENDDRAG_RECT" val="54*150*657*240"/>
</p:tagLst>
</file>

<file path=ppt/tags/tag148.xml><?xml version="1.0" encoding="utf-8"?>
<p:tagLst xmlns:p="http://schemas.openxmlformats.org/presentationml/2006/main">
  <p:tag name="KSO_WM_DIAGRAM_VIRTUALLY_FRAME" val="{&quot;height&quot;:458.2599212598425,&quot;left&quot;:120.6,&quot;top&quot;:80.65,&quot;width&quot;:780.45}"/>
</p:tagLst>
</file>

<file path=ppt/tags/tag149.xml><?xml version="1.0" encoding="utf-8"?>
<p:tagLst xmlns:p="http://schemas.openxmlformats.org/presentationml/2006/main">
  <p:tag name="TABLE_ENDDRAG_ORIGIN_RECT" val="654*239"/>
  <p:tag name="TABLE_ENDDRAG_RECT" val="54*150*654*239"/>
</p:tagLst>
</file>

<file path=ppt/tags/tag150.xml><?xml version="1.0" encoding="utf-8"?>
<p:tagLst xmlns:p="http://schemas.openxmlformats.org/presentationml/2006/main">
  <p:tag name="KSO_WM_DIAGRAM_VIRTUALLY_FRAME" val="{&quot;height&quot;:458.2599212598425,&quot;left&quot;:120.6,&quot;top&quot;:80.65,&quot;width&quot;:780.45}"/>
</p:tagLst>
</file>

<file path=ppt/tags/tag151.xml><?xml version="1.0" encoding="utf-8"?>
<p:tagLst xmlns:p="http://schemas.openxmlformats.org/presentationml/2006/main">
  <p:tag name="TABLE_ENDDRAG_ORIGIN_RECT" val="691*250"/>
  <p:tag name="TABLE_ENDDRAG_RECT" val="54*150*691*250"/>
</p:tagLst>
</file>

<file path=ppt/tags/tag152.xml><?xml version="1.0" encoding="utf-8"?>
<p:tagLst xmlns:p="http://schemas.openxmlformats.org/presentationml/2006/main">
  <p:tag name="KSO_WM_DIAGRAM_VIRTUALLY_FRAME" val="{&quot;height&quot;:458.2599212598425,&quot;left&quot;:120.6,&quot;top&quot;:80.65,&quot;width&quot;:780.45}"/>
</p:tagLst>
</file>

<file path=ppt/tags/tag153.xml><?xml version="1.0" encoding="utf-8"?>
<p:tagLst xmlns:p="http://schemas.openxmlformats.org/presentationml/2006/main">
  <p:tag name="TABLE_ENDDRAG_ORIGIN_RECT" val="633*382"/>
  <p:tag name="TABLE_ENDDRAG_RECT" val="60*127*633*382"/>
</p:tagLst>
</file>

<file path=ppt/tags/tag154.xml><?xml version="1.0" encoding="utf-8"?>
<p:tagLst xmlns:p="http://schemas.openxmlformats.org/presentationml/2006/main">
  <p:tag name="KSO_WM_DIAGRAM_VIRTUALLY_FRAME" val="{&quot;height&quot;:458.2599212598425,&quot;left&quot;:120.6,&quot;top&quot;:80.65,&quot;width&quot;:780.45}"/>
</p:tagLst>
</file>

<file path=ppt/tags/tag155.xml><?xml version="1.0" encoding="utf-8"?>
<p:tagLst xmlns:p="http://schemas.openxmlformats.org/presentationml/2006/main">
  <p:tag name="TABLE_ENDDRAG_ORIGIN_RECT" val="692*228"/>
  <p:tag name="TABLE_ENDDRAG_RECT" val="54*150*692*228"/>
</p:tagLst>
</file>

<file path=ppt/tags/tag156.xml><?xml version="1.0" encoding="utf-8"?>
<p:tagLst xmlns:p="http://schemas.openxmlformats.org/presentationml/2006/main">
  <p:tag name="KSO_WM_DIAGRAM_VIRTUALLY_FRAME" val="{&quot;height&quot;:458.2599212598425,&quot;left&quot;:120.6,&quot;top&quot;:80.65,&quot;width&quot;:780.45}"/>
</p:tagLst>
</file>

<file path=ppt/tags/tag157.xml><?xml version="1.0" encoding="utf-8"?>
<p:tagLst xmlns:p="http://schemas.openxmlformats.org/presentationml/2006/main">
  <p:tag name="KSO_WM_DIAGRAM_VIRTUALLY_FRAME" val="{&quot;height&quot;:458.2599212598425,&quot;left&quot;:120.6,&quot;top&quot;:80.65,&quot;width&quot;:780.45}"/>
</p:tagLst>
</file>

<file path=ppt/tags/tag158.xml><?xml version="1.0" encoding="utf-8"?>
<p:tagLst xmlns:p="http://schemas.openxmlformats.org/presentationml/2006/main">
  <p:tag name="TABLE_ENDDRAG_ORIGIN_RECT" val="652*375"/>
  <p:tag name="TABLE_ENDDRAG_RECT" val="43*99*652*375"/>
</p:tagLst>
</file>

<file path=ppt/tags/tag159.xml><?xml version="1.0" encoding="utf-8"?>
<p:tagLst xmlns:p="http://schemas.openxmlformats.org/presentationml/2006/main">
  <p:tag name="KSO_WM_DIAGRAM_VIRTUALLY_FRAME" val="{&quot;height&quot;:458.2599212598425,&quot;left&quot;:120.6,&quot;top&quot;:80.65,&quot;width&quot;:780.45}"/>
</p:tagLst>
</file>

<file path=ppt/tags/tag160.xml><?xml version="1.0" encoding="utf-8"?>
<p:tagLst xmlns:p="http://schemas.openxmlformats.org/presentationml/2006/main">
  <p:tag name="TABLE_ENDDRAG_ORIGIN_RECT" val="666*239"/>
  <p:tag name="TABLE_ENDDRAG_RECT" val="54*150*666*239"/>
</p:tagLst>
</file>

<file path=ppt/tags/tag161.xml><?xml version="1.0" encoding="utf-8"?>
<p:tagLst xmlns:p="http://schemas.openxmlformats.org/presentationml/2006/main">
  <p:tag name="KSO_WM_DIAGRAM_VIRTUALLY_FRAME" val="{&quot;height&quot;:458.2599212598425,&quot;left&quot;:120.6,&quot;top&quot;:80.65,&quot;width&quot;:780.45}"/>
</p:tagLst>
</file>

<file path=ppt/tags/tag162.xml><?xml version="1.0" encoding="utf-8"?>
<p:tagLst xmlns:p="http://schemas.openxmlformats.org/presentationml/2006/main">
  <p:tag name="TABLE_ENDDRAG_ORIGIN_RECT" val="685*255"/>
  <p:tag name="TABLE_ENDDRAG_RECT" val="54*150*685*255"/>
</p:tagLst>
</file>

<file path=ppt/tags/tag163.xml><?xml version="1.0" encoding="utf-8"?>
<p:tagLst xmlns:p="http://schemas.openxmlformats.org/presentationml/2006/main">
  <p:tag name="KSO_WM_DIAGRAM_VIRTUALLY_FRAME" val="{&quot;height&quot;:458.2599212598425,&quot;left&quot;:120.6,&quot;top&quot;:80.65,&quot;width&quot;:780.45}"/>
</p:tagLst>
</file>

<file path=ppt/tags/tag164.xml><?xml version="1.0" encoding="utf-8"?>
<p:tagLst xmlns:p="http://schemas.openxmlformats.org/presentationml/2006/main">
  <p:tag name="TABLE_ENDDRAG_ORIGIN_RECT" val="616*300"/>
  <p:tag name="TABLE_ENDDRAG_RECT" val="43*157*616*300"/>
</p:tagLst>
</file>

<file path=ppt/tags/tag165.xml><?xml version="1.0" encoding="utf-8"?>
<p:tagLst xmlns:p="http://schemas.openxmlformats.org/presentationml/2006/main">
  <p:tag name="KSO_WM_DIAGRAM_VIRTUALLY_FRAME" val="{&quot;height&quot;:458.2599212598425,&quot;left&quot;:120.6,&quot;top&quot;:80.65,&quot;width&quot;:780.45}"/>
</p:tagLst>
</file>

<file path=ppt/tags/tag166.xml><?xml version="1.0" encoding="utf-8"?>
<p:tagLst xmlns:p="http://schemas.openxmlformats.org/presentationml/2006/main">
  <p:tag name="TABLE_ENDDRAG_ORIGIN_RECT" val="714*263"/>
  <p:tag name="TABLE_ENDDRAG_RECT" val="54*150*714*263"/>
</p:tagLst>
</file>

<file path=ppt/tags/tag167.xml><?xml version="1.0" encoding="utf-8"?>
<p:tagLst xmlns:p="http://schemas.openxmlformats.org/presentationml/2006/main">
  <p:tag name="KSO_WM_DIAGRAM_VIRTUALLY_FRAME" val="{&quot;height&quot;:458.2599212598425,&quot;left&quot;:120.6,&quot;top&quot;:80.65,&quot;width&quot;:780.45}"/>
</p:tagLst>
</file>

<file path=ppt/tags/tag168.xml><?xml version="1.0" encoding="utf-8"?>
<p:tagLst xmlns:p="http://schemas.openxmlformats.org/presentationml/2006/main">
  <p:tag name="TABLE_ENDDRAG_ORIGIN_RECT" val="676*317"/>
  <p:tag name="TABLE_ENDDRAG_RECT" val="54*150*676*317"/>
</p:tagLst>
</file>

<file path=ppt/tags/tag169.xml><?xml version="1.0" encoding="utf-8"?>
<p:tagLst xmlns:p="http://schemas.openxmlformats.org/presentationml/2006/main">
  <p:tag name="KSO_WM_DIAGRAM_VIRTUALLY_FRAME" val="{&quot;height&quot;:458.2599212598425,&quot;left&quot;:120.6,&quot;top&quot;:80.65,&quot;width&quot;:780.45}"/>
</p:tagLst>
</file>

<file path=ppt/tags/tag170.xml><?xml version="1.0" encoding="utf-8"?>
<p:tagLst xmlns:p="http://schemas.openxmlformats.org/presentationml/2006/main">
  <p:tag name="TABLE_ENDDRAG_ORIGIN_RECT" val="676*281"/>
  <p:tag name="TABLE_ENDDRAG_RECT" val="49*130*676*281"/>
</p:tagLst>
</file>

<file path=ppt/tags/tag171.xml><?xml version="1.0" encoding="utf-8"?>
<p:tagLst xmlns:p="http://schemas.openxmlformats.org/presentationml/2006/main">
  <p:tag name="KSO_WM_DIAGRAM_VIRTUALLY_FRAME" val="{&quot;height&quot;:458.2599212598425,&quot;left&quot;:120.6,&quot;top&quot;:80.65,&quot;width&quot;:780.45}"/>
</p:tagLst>
</file>

<file path=ppt/tags/tag172.xml><?xml version="1.0" encoding="utf-8"?>
<p:tagLst xmlns:p="http://schemas.openxmlformats.org/presentationml/2006/main">
  <p:tag name="TABLE_ENDDRAG_ORIGIN_RECT" val="689*241"/>
  <p:tag name="TABLE_ENDDRAG_RECT" val="34*149*689*241"/>
</p:tagLst>
</file>

<file path=ppt/tags/tag173.xml><?xml version="1.0" encoding="utf-8"?>
<p:tagLst xmlns:p="http://schemas.openxmlformats.org/presentationml/2006/main">
  <p:tag name="KSO_WM_DIAGRAM_VIRTUALLY_FRAME" val="{&quot;height&quot;:458.2599212598425,&quot;left&quot;:120.6,&quot;top&quot;:80.65,&quot;width&quot;:780.45}"/>
</p:tagLst>
</file>

<file path=ppt/tags/tag174.xml><?xml version="1.0" encoding="utf-8"?>
<p:tagLst xmlns:p="http://schemas.openxmlformats.org/presentationml/2006/main">
  <p:tag name="TABLE_ENDDRAG_ORIGIN_RECT" val="693*286"/>
  <p:tag name="TABLE_ENDDRAG_RECT" val="54*150*693*286"/>
</p:tagLst>
</file>

<file path=ppt/tags/tag175.xml><?xml version="1.0" encoding="utf-8"?>
<p:tagLst xmlns:p="http://schemas.openxmlformats.org/presentationml/2006/main">
  <p:tag name="KSO_WM_DIAGRAM_VIRTUALLY_FRAME" val="{&quot;height&quot;:458.2599212598425,&quot;left&quot;:120.6,&quot;top&quot;:80.65,&quot;width&quot;:780.45}"/>
</p:tagLst>
</file>

<file path=ppt/tags/tag176.xml><?xml version="1.0" encoding="utf-8"?>
<p:tagLst xmlns:p="http://schemas.openxmlformats.org/presentationml/2006/main">
  <p:tag name="TABLE_ENDDRAG_ORIGIN_RECT" val="768*305"/>
  <p:tag name="TABLE_ENDDRAG_RECT" val="33*131*768*305"/>
</p:tagLst>
</file>

<file path=ppt/tags/tag177.xml><?xml version="1.0" encoding="utf-8"?>
<p:tagLst xmlns:p="http://schemas.openxmlformats.org/presentationml/2006/main">
  <p:tag name="KSO_WM_DIAGRAM_VIRTUALLY_FRAME" val="{&quot;height&quot;:458.2599212598425,&quot;left&quot;:120.6,&quot;top&quot;:80.65,&quot;width&quot;:780.45}"/>
</p:tagLst>
</file>

<file path=ppt/tags/tag178.xml><?xml version="1.0" encoding="utf-8"?>
<p:tagLst xmlns:p="http://schemas.openxmlformats.org/presentationml/2006/main">
  <p:tag name="KSO_WM_DIAGRAM_VIRTUALLY_FRAME" val="{&quot;height&quot;:458.2599212598425,&quot;left&quot;:120.6,&quot;top&quot;:80.65,&quot;width&quot;:780.45}"/>
</p:tagLst>
</file>

<file path=ppt/tags/tag179.xml><?xml version="1.0" encoding="utf-8"?>
<p:tagLst xmlns:p="http://schemas.openxmlformats.org/presentationml/2006/main">
  <p:tag name="KSO_WM_DIAGRAM_VIRTUALLY_FRAME" val="{&quot;height&quot;:458.2599212598425,&quot;left&quot;:120.6,&quot;top&quot;:80.65,&quot;width&quot;:780.45}"/>
</p:tagLst>
</file>

<file path=ppt/tags/tag180.xml><?xml version="1.0" encoding="utf-8"?>
<p:tagLst xmlns:p="http://schemas.openxmlformats.org/presentationml/2006/main">
  <p:tag name="KSO_WM_DIAGRAM_VIRTUALLY_FRAME" val="{&quot;height&quot;:458.2599212598425,&quot;left&quot;:120.6,&quot;top&quot;:80.65,&quot;width&quot;:780.45}"/>
</p:tagLst>
</file>

<file path=ppt/tags/tag181.xml><?xml version="1.0" encoding="utf-8"?>
<p:tagLst xmlns:p="http://schemas.openxmlformats.org/presentationml/2006/main">
  <p:tag name="KSO_WM_DIAGRAM_VIRTUALLY_FRAME" val="{&quot;height&quot;:458.2599212598425,&quot;left&quot;:120.6,&quot;top&quot;:80.65,&quot;width&quot;:780.45}"/>
</p:tagLst>
</file>

<file path=ppt/tags/tag182.xml><?xml version="1.0" encoding="utf-8"?>
<p:tagLst xmlns:p="http://schemas.openxmlformats.org/presentationml/2006/main">
  <p:tag name="KSO_WM_DIAGRAM_VIRTUALLY_FRAME" val="{&quot;height&quot;:458.2599212598425,&quot;left&quot;:120.6,&quot;top&quot;:80.65,&quot;width&quot;:780.45}"/>
</p:tagLst>
</file>

<file path=ppt/tags/tag183.xml><?xml version="1.0" encoding="utf-8"?>
<p:tagLst xmlns:p="http://schemas.openxmlformats.org/presentationml/2006/main">
  <p:tag name="KSO_WM_DIAGRAM_VIRTUALLY_FRAME" val="{&quot;height&quot;:458.2599212598425,&quot;left&quot;:120.6,&quot;top&quot;:80.65,&quot;width&quot;:780.45}"/>
</p:tagLst>
</file>

<file path=ppt/tags/tag184.xml><?xml version="1.0" encoding="utf-8"?>
<p:tagLst xmlns:p="http://schemas.openxmlformats.org/presentationml/2006/main">
  <p:tag name="KSO_WM_DIAGRAM_VIRTUALLY_FRAME" val="{&quot;height&quot;:458.2599212598425,&quot;left&quot;:120.6,&quot;top&quot;:80.65,&quot;width&quot;:780.45}"/>
</p:tagLst>
</file>

<file path=ppt/tags/tag185.xml><?xml version="1.0" encoding="utf-8"?>
<p:tagLst xmlns:p="http://schemas.openxmlformats.org/presentationml/2006/main">
  <p:tag name="KSO_WM_DIAGRAM_VIRTUALLY_FRAME" val="{&quot;height&quot;:458.2599212598425,&quot;left&quot;:120.6,&quot;top&quot;:80.65,&quot;width&quot;:780.45}"/>
</p:tagLst>
</file>

<file path=ppt/tags/tag186.xml><?xml version="1.0" encoding="utf-8"?>
<p:tagLst xmlns:p="http://schemas.openxmlformats.org/presentationml/2006/main">
  <p:tag name="KSO_WM_DIAGRAM_VIRTUALLY_FRAME" val="{&quot;height&quot;:458.2599212598425,&quot;left&quot;:120.6,&quot;top&quot;:80.65,&quot;width&quot;:780.45}"/>
</p:tagLst>
</file>

<file path=ppt/tags/tag187.xml><?xml version="1.0" encoding="utf-8"?>
<p:tagLst xmlns:p="http://schemas.openxmlformats.org/presentationml/2006/main">
  <p:tag name="KSO_WM_DIAGRAM_VIRTUALLY_FRAME" val="{&quot;height&quot;:458.2599212598425,&quot;left&quot;:120.6,&quot;top&quot;:80.65,&quot;width&quot;:780.45}"/>
</p:tagLst>
</file>

<file path=ppt/tags/tag188.xml><?xml version="1.0" encoding="utf-8"?>
<p:tagLst xmlns:p="http://schemas.openxmlformats.org/presentationml/2006/main">
  <p:tag name="KSO_WM_DIAGRAM_VIRTUALLY_FRAME" val="{&quot;height&quot;:458.2599212598425,&quot;left&quot;:120.6,&quot;top&quot;:80.65,&quot;width&quot;:780.45}"/>
</p:tagLst>
</file>

<file path=ppt/tags/tag189.xml><?xml version="1.0" encoding="utf-8"?>
<p:tagLst xmlns:p="http://schemas.openxmlformats.org/presentationml/2006/main">
  <p:tag name="KSO_WM_DIAGRAM_VIRTUALLY_FRAME" val="{&quot;height&quot;:458.2599212598425,&quot;left&quot;:120.6,&quot;top&quot;:80.65,&quot;width&quot;:780.45}"/>
</p:tagLst>
</file>

<file path=ppt/tags/tag190.xml><?xml version="1.0" encoding="utf-8"?>
<p:tagLst xmlns:p="http://schemas.openxmlformats.org/presentationml/2006/main">
  <p:tag name="KSO_WM_DIAGRAM_VIRTUALLY_FRAME" val="{&quot;height&quot;:458.2599212598425,&quot;left&quot;:120.6,&quot;top&quot;:80.65,&quot;width&quot;:780.45}"/>
</p:tagLst>
</file>

<file path=ppt/tags/tag191.xml><?xml version="1.0" encoding="utf-8"?>
<p:tagLst xmlns:p="http://schemas.openxmlformats.org/presentationml/2006/main">
  <p:tag name="KSO_WM_DIAGRAM_VIRTUALLY_FRAME" val="{&quot;height&quot;:458.2599212598425,&quot;left&quot;:120.6,&quot;top&quot;:80.65,&quot;width&quot;:780.45}"/>
</p:tagLst>
</file>

<file path=ppt/tags/tag192.xml><?xml version="1.0" encoding="utf-8"?>
<p:tagLst xmlns:p="http://schemas.openxmlformats.org/presentationml/2006/main">
  <p:tag name="KSO_WM_DIAGRAM_VIRTUALLY_FRAME" val="{&quot;height&quot;:458.2599212598425,&quot;left&quot;:120.6,&quot;top&quot;:80.65,&quot;width&quot;:780.45}"/>
</p:tagLst>
</file>

<file path=ppt/tags/tag193.xml><?xml version="1.0" encoding="utf-8"?>
<p:tagLst xmlns:p="http://schemas.openxmlformats.org/presentationml/2006/main">
  <p:tag name="KSO_WM_DIAGRAM_VIRTUALLY_FRAME" val="{&quot;height&quot;:458.2599212598425,&quot;left&quot;:120.6,&quot;top&quot;:80.65,&quot;width&quot;:780.45}"/>
</p:tagLst>
</file>

<file path=ppt/tags/tag194.xml><?xml version="1.0" encoding="utf-8"?>
<p:tagLst xmlns:p="http://schemas.openxmlformats.org/presentationml/2006/main">
  <p:tag name="KSO_WM_DIAGRAM_VIRTUALLY_FRAME" val="{&quot;height&quot;:458.2599212598425,&quot;left&quot;:120.6,&quot;top&quot;:80.65,&quot;width&quot;:780.45}"/>
</p:tagLst>
</file>

<file path=ppt/tags/tag195.xml><?xml version="1.0" encoding="utf-8"?>
<p:tagLst xmlns:p="http://schemas.openxmlformats.org/presentationml/2006/main">
  <p:tag name="TABLE_ENDDRAG_ORIGIN_RECT" val="723*430"/>
  <p:tag name="TABLE_ENDDRAG_RECT" val="36*80*723*430"/>
</p:tagLst>
</file>

<file path=ppt/tags/tag196.xml><?xml version="1.0" encoding="utf-8"?>
<p:tagLst xmlns:p="http://schemas.openxmlformats.org/presentationml/2006/main">
  <p:tag name="KSO_WM_DIAGRAM_VIRTUALLY_FRAME" val="{&quot;height&quot;:458.2599212598425,&quot;left&quot;:120.6,&quot;top&quot;:80.65,&quot;width&quot;:780.45}"/>
</p:tagLst>
</file>

<file path=ppt/tags/tag197.xml><?xml version="1.0" encoding="utf-8"?>
<p:tagLst xmlns:p="http://schemas.openxmlformats.org/presentationml/2006/main">
  <p:tag name="KSO_WM_DIAGRAM_VIRTUALLY_FRAME" val="{&quot;height&quot;:458.2599212598425,&quot;left&quot;:120.6,&quot;top&quot;:80.65,&quot;width&quot;:780.45}"/>
</p:tagLst>
</file>

<file path=ppt/tags/tag198.xml><?xml version="1.0" encoding="utf-8"?>
<p:tagLst xmlns:p="http://schemas.openxmlformats.org/presentationml/2006/main">
  <p:tag name="TABLE_ENDDRAG_ORIGIN_RECT" val="721*431"/>
  <p:tag name="TABLE_ENDDRAG_RECT" val="18*78*721*431"/>
</p:tagLst>
</file>

<file path=ppt/tags/tag199.xml><?xml version="1.0" encoding="utf-8"?>
<p:tagLst xmlns:p="http://schemas.openxmlformats.org/presentationml/2006/main">
  <p:tag name="KSO_WM_DIAGRAM_VIRTUALLY_FRAME" val="{&quot;height&quot;:458.2599212598425,&quot;left&quot;:120.6,&quot;top&quot;:80.65,&quot;width&quot;:780.45}"/>
</p:tagLst>
</file>

<file path=ppt/tags/tag200.xml><?xml version="1.0" encoding="utf-8"?>
<p:tagLst xmlns:p="http://schemas.openxmlformats.org/presentationml/2006/main">
  <p:tag name="KSO_WM_DIAGRAM_VIRTUALLY_FRAME" val="{&quot;height&quot;:458.2599212598425,&quot;left&quot;:120.6,&quot;top&quot;:80.65,&quot;width&quot;:780.45}"/>
</p:tagLst>
</file>

<file path=ppt/tags/tag201.xml><?xml version="1.0" encoding="utf-8"?>
<p:tagLst xmlns:p="http://schemas.openxmlformats.org/presentationml/2006/main">
  <p:tag name="TABLE_ENDDRAG_ORIGIN_RECT" val="710*385"/>
  <p:tag name="TABLE_ENDDRAG_RECT" val="42*94*710*385"/>
</p:tagLst>
</file>

<file path=ppt/tags/tag202.xml><?xml version="1.0" encoding="utf-8"?>
<p:tagLst xmlns:p="http://schemas.openxmlformats.org/presentationml/2006/main">
  <p:tag name="KSO_WM_DIAGRAM_VIRTUALLY_FRAME" val="{&quot;height&quot;:458.2599212598425,&quot;left&quot;:120.6,&quot;top&quot;:80.65,&quot;width&quot;:780.45}"/>
</p:tagLst>
</file>

<file path=ppt/tags/tag203.xml><?xml version="1.0" encoding="utf-8"?>
<p:tagLst xmlns:p="http://schemas.openxmlformats.org/presentationml/2006/main">
  <p:tag name="KSO_WM_DIAGRAM_VIRTUALLY_FRAME" val="{&quot;height&quot;:458.2599212598425,&quot;left&quot;:120.6,&quot;top&quot;:80.65,&quot;width&quot;:780.45}"/>
</p:tagLst>
</file>

<file path=ppt/tags/tag204.xml><?xml version="1.0" encoding="utf-8"?>
<p:tagLst xmlns:p="http://schemas.openxmlformats.org/presentationml/2006/main">
  <p:tag name="KSO_WM_DIAGRAM_VIRTUALLY_FRAME" val="{&quot;height&quot;:458.2599212598425,&quot;left&quot;:120.6,&quot;top&quot;:80.65,&quot;width&quot;:780.45}"/>
</p:tagLst>
</file>

<file path=ppt/tags/tag205.xml><?xml version="1.0" encoding="utf-8"?>
<p:tagLst xmlns:p="http://schemas.openxmlformats.org/presentationml/2006/main">
  <p:tag name="KSO_WM_DIAGRAM_VIRTUALLY_FRAME" val="{&quot;height&quot;:458.2599212598425,&quot;left&quot;:120.6,&quot;top&quot;:80.65,&quot;width&quot;:780.45}"/>
</p:tagLst>
</file>

<file path=ppt/tags/tag206.xml><?xml version="1.0" encoding="utf-8"?>
<p:tagLst xmlns:p="http://schemas.openxmlformats.org/presentationml/2006/main">
  <p:tag name="KSO_WM_DIAGRAM_VIRTUALLY_FRAME" val="{&quot;height&quot;:458.2599212598425,&quot;left&quot;:120.6,&quot;top&quot;:80.65,&quot;width&quot;:780.45}"/>
</p:tagLst>
</file>

<file path=ppt/tags/tag207.xml><?xml version="1.0" encoding="utf-8"?>
<p:tagLst xmlns:p="http://schemas.openxmlformats.org/presentationml/2006/main">
  <p:tag name="KSO_WM_DIAGRAM_VIRTUALLY_FRAME" val="{&quot;height&quot;:458.2599212598425,&quot;left&quot;:120.6,&quot;top&quot;:80.65,&quot;width&quot;:780.45}"/>
</p:tagLst>
</file>

<file path=ppt/tags/tag208.xml><?xml version="1.0" encoding="utf-8"?>
<p:tagLst xmlns:p="http://schemas.openxmlformats.org/presentationml/2006/main">
  <p:tag name="KSO_WM_DIAGRAM_VIRTUALLY_FRAME" val="{&quot;height&quot;:458.2599212598425,&quot;left&quot;:120.6,&quot;top&quot;:80.65,&quot;width&quot;:780.45}"/>
</p:tagLst>
</file>

<file path=ppt/tags/tag209.xml><?xml version="1.0" encoding="utf-8"?>
<p:tagLst xmlns:p="http://schemas.openxmlformats.org/presentationml/2006/main">
  <p:tag name="KSO_WM_DIAGRAM_VIRTUALLY_FRAME" val="{&quot;height&quot;:458.2599212598425,&quot;left&quot;:120.6,&quot;top&quot;:80.65,&quot;width&quot;:780.45}"/>
</p:tagLst>
</file>

<file path=ppt/tags/tag210.xml><?xml version="1.0" encoding="utf-8"?>
<p:tagLst xmlns:p="http://schemas.openxmlformats.org/presentationml/2006/main">
  <p:tag name="KSO_WM_DIAGRAM_VIRTUALLY_FRAME" val="{&quot;height&quot;:458.2599212598425,&quot;left&quot;:120.6,&quot;top&quot;:80.65,&quot;width&quot;:780.45}"/>
</p:tagLst>
</file>

<file path=ppt/tags/tag211.xml><?xml version="1.0" encoding="utf-8"?>
<p:tagLst xmlns:p="http://schemas.openxmlformats.org/presentationml/2006/main">
  <p:tag name="KSO_WM_DIAGRAM_VIRTUALLY_FRAME" val="{&quot;height&quot;:458.2599212598425,&quot;left&quot;:120.6,&quot;top&quot;:80.65,&quot;width&quot;:780.45}"/>
</p:tagLst>
</file>

<file path=ppt/tags/tag212.xml><?xml version="1.0" encoding="utf-8"?>
<p:tagLst xmlns:p="http://schemas.openxmlformats.org/presentationml/2006/main">
  <p:tag name="KSO_WM_DIAGRAM_VIRTUALLY_FRAME" val="{&quot;height&quot;:458.2599212598425,&quot;left&quot;:120.6,&quot;top&quot;:80.65,&quot;width&quot;:780.45}"/>
</p:tagLst>
</file>

<file path=ppt/tags/tag213.xml><?xml version="1.0" encoding="utf-8"?>
<p:tagLst xmlns:p="http://schemas.openxmlformats.org/presentationml/2006/main">
  <p:tag name="KSO_WM_DIAGRAM_VIRTUALLY_FRAME" val="{&quot;height&quot;:458.2599212598425,&quot;left&quot;:120.6,&quot;top&quot;:80.65,&quot;width&quot;:780.45}"/>
</p:tagLst>
</file>

<file path=ppt/tags/tag214.xml><?xml version="1.0" encoding="utf-8"?>
<p:tagLst xmlns:p="http://schemas.openxmlformats.org/presentationml/2006/main">
  <p:tag name="KSO_WM_DIAGRAM_VIRTUALLY_FRAME" val="{&quot;height&quot;:458.2599212598425,&quot;left&quot;:120.6,&quot;top&quot;:80.65,&quot;width&quot;:780.45}"/>
</p:tagLst>
</file>

<file path=ppt/tags/tag215.xml><?xml version="1.0" encoding="utf-8"?>
<p:tagLst xmlns:p="http://schemas.openxmlformats.org/presentationml/2006/main">
  <p:tag name="KSO_WM_DIAGRAM_VIRTUALLY_FRAME" val="{&quot;height&quot;:458.2599212598425,&quot;left&quot;:120.6,&quot;top&quot;:80.65,&quot;width&quot;:780.45}"/>
</p:tagLst>
</file>

<file path=ppt/tags/tag216.xml><?xml version="1.0" encoding="utf-8"?>
<p:tagLst xmlns:p="http://schemas.openxmlformats.org/presentationml/2006/main">
  <p:tag name="KSO_WM_DIAGRAM_VIRTUALLY_FRAME" val="{&quot;height&quot;:458.2599212598425,&quot;left&quot;:120.6,&quot;top&quot;:80.65,&quot;width&quot;:780.45}"/>
</p:tagLst>
</file>

<file path=ppt/tags/tag217.xml><?xml version="1.0" encoding="utf-8"?>
<p:tagLst xmlns:p="http://schemas.openxmlformats.org/presentationml/2006/main">
  <p:tag name="KSO_WM_DIAGRAM_VIRTUALLY_FRAME" val="{&quot;height&quot;:458.2599212598425,&quot;left&quot;:120.6,&quot;top&quot;:80.65,&quot;width&quot;:780.45}"/>
</p:tagLst>
</file>

<file path=ppt/tags/tag218.xml><?xml version="1.0" encoding="utf-8"?>
<p:tagLst xmlns:p="http://schemas.openxmlformats.org/presentationml/2006/main">
  <p:tag name="KSO_WM_DIAGRAM_VIRTUALLY_FRAME" val="{&quot;height&quot;:458.2599212598425,&quot;left&quot;:120.6,&quot;top&quot;:80.65,&quot;width&quot;:780.45}"/>
</p:tagLst>
</file>

<file path=ppt/tags/tag219.xml><?xml version="1.0" encoding="utf-8"?>
<p:tagLst xmlns:p="http://schemas.openxmlformats.org/presentationml/2006/main">
  <p:tag name="KSO_WM_DIAGRAM_VIRTUALLY_FRAME" val="{&quot;height&quot;:458.2599212598425,&quot;left&quot;:120.6,&quot;top&quot;:80.65,&quot;width&quot;:780.45}"/>
</p:tagLst>
</file>

<file path=ppt/tags/tag220.xml><?xml version="1.0" encoding="utf-8"?>
<p:tagLst xmlns:p="http://schemas.openxmlformats.org/presentationml/2006/main">
  <p:tag name="KSO_WM_DIAGRAM_VIRTUALLY_FRAME" val="{&quot;height&quot;:458.2599212598425,&quot;left&quot;:120.6,&quot;top&quot;:80.65,&quot;width&quot;:780.45}"/>
</p:tagLst>
</file>

<file path=ppt/tags/tag221.xml><?xml version="1.0" encoding="utf-8"?>
<p:tagLst xmlns:p="http://schemas.openxmlformats.org/presentationml/2006/main">
  <p:tag name="KSO_WM_DIAGRAM_VIRTUALLY_FRAME" val="{&quot;height&quot;:458.2599212598425,&quot;left&quot;:120.6,&quot;top&quot;:80.65,&quot;width&quot;:780.45}"/>
</p:tagLst>
</file>

<file path=ppt/tags/tag222.xml><?xml version="1.0" encoding="utf-8"?>
<p:tagLst xmlns:p="http://schemas.openxmlformats.org/presentationml/2006/main">
  <p:tag name="KSO_WM_DIAGRAM_VIRTUALLY_FRAME" val="{&quot;height&quot;:458.2599212598425,&quot;left&quot;:120.6,&quot;top&quot;:80.65,&quot;width&quot;:780.45}"/>
</p:tagLst>
</file>

<file path=ppt/tags/tag223.xml><?xml version="1.0" encoding="utf-8"?>
<p:tagLst xmlns:p="http://schemas.openxmlformats.org/presentationml/2006/main">
  <p:tag name="KSO_WM_DIAGRAM_VIRTUALLY_FRAME" val="{&quot;height&quot;:458.2599212598425,&quot;left&quot;:120.6,&quot;top&quot;:80.65,&quot;width&quot;:780.45}"/>
</p:tagLst>
</file>

<file path=ppt/tags/tag224.xml><?xml version="1.0" encoding="utf-8"?>
<p:tagLst xmlns:p="http://schemas.openxmlformats.org/presentationml/2006/main">
  <p:tag name="KSO_WM_DIAGRAM_VIRTUALLY_FRAME" val="{&quot;height&quot;:458.2599212598425,&quot;left&quot;:120.6,&quot;top&quot;:80.65,&quot;width&quot;:780.45}"/>
</p:tagLst>
</file>

<file path=ppt/tags/tag225.xml><?xml version="1.0" encoding="utf-8"?>
<p:tagLst xmlns:p="http://schemas.openxmlformats.org/presentationml/2006/main">
  <p:tag name="KSO_WM_DIAGRAM_VIRTUALLY_FRAME" val="{&quot;height&quot;:458.2599212598425,&quot;left&quot;:120.6,&quot;top&quot;:80.65,&quot;width&quot;:780.45}"/>
</p:tagLst>
</file>

<file path=ppt/tags/tag226.xml><?xml version="1.0" encoding="utf-8"?>
<p:tagLst xmlns:p="http://schemas.openxmlformats.org/presentationml/2006/main">
  <p:tag name="KSO_WM_DIAGRAM_VIRTUALLY_FRAME" val="{&quot;height&quot;:458.2599212598425,&quot;left&quot;:120.6,&quot;top&quot;:80.65,&quot;width&quot;:780.45}"/>
</p:tagLst>
</file>

<file path=ppt/tags/tag227.xml><?xml version="1.0" encoding="utf-8"?>
<p:tagLst xmlns:p="http://schemas.openxmlformats.org/presentationml/2006/main">
  <p:tag name="KSO_WM_DIAGRAM_VIRTUALLY_FRAME" val="{&quot;height&quot;:458.2599212598425,&quot;left&quot;:120.6,&quot;top&quot;:80.65,&quot;width&quot;:780.45}"/>
</p:tagLst>
</file>

<file path=ppt/tags/tag228.xml><?xml version="1.0" encoding="utf-8"?>
<p:tagLst xmlns:p="http://schemas.openxmlformats.org/presentationml/2006/main">
  <p:tag name="KSO_WM_DIAGRAM_VIRTUALLY_FRAME" val="{&quot;height&quot;:458.2599212598425,&quot;left&quot;:120.6,&quot;top&quot;:80.65,&quot;width&quot;:780.45}"/>
</p:tagLst>
</file>

<file path=ppt/tags/tag229.xml><?xml version="1.0" encoding="utf-8"?>
<p:tagLst xmlns:p="http://schemas.openxmlformats.org/presentationml/2006/main">
  <p:tag name="KSO_WM_DIAGRAM_VIRTUALLY_FRAME" val="{&quot;height&quot;:458.2599212598425,&quot;left&quot;:120.6,&quot;top&quot;:80.65,&quot;width&quot;:780.45}"/>
</p:tagLst>
</file>

<file path=ppt/tags/tag230.xml><?xml version="1.0" encoding="utf-8"?>
<p:tagLst xmlns:p="http://schemas.openxmlformats.org/presentationml/2006/main">
  <p:tag name="KSO_WM_DIAGRAM_VIRTUALLY_FRAME" val="{&quot;height&quot;:458.2599212598425,&quot;left&quot;:120.6,&quot;top&quot;:80.65,&quot;width&quot;:780.45}"/>
</p:tagLst>
</file>

<file path=ppt/tags/tag231.xml><?xml version="1.0" encoding="utf-8"?>
<p:tagLst xmlns:p="http://schemas.openxmlformats.org/presentationml/2006/main">
  <p:tag name="KSO_WM_DIAGRAM_VIRTUALLY_FRAME" val="{&quot;height&quot;:458.2599212598425,&quot;left&quot;:120.6,&quot;top&quot;:80.65,&quot;width&quot;:780.45}"/>
</p:tagLst>
</file>

<file path=ppt/tags/tag232.xml><?xml version="1.0" encoding="utf-8"?>
<p:tagLst xmlns:p="http://schemas.openxmlformats.org/presentationml/2006/main">
  <p:tag name="KSO_WM_DIAGRAM_VIRTUALLY_FRAME" val="{&quot;height&quot;:458.2599212598425,&quot;left&quot;:120.6,&quot;top&quot;:80.65,&quot;width&quot;:780.45}"/>
</p:tagLst>
</file>

<file path=ppt/tags/tag233.xml><?xml version="1.0" encoding="utf-8"?>
<p:tagLst xmlns:p="http://schemas.openxmlformats.org/presentationml/2006/main">
  <p:tag name="KSO_WM_DIAGRAM_VIRTUALLY_FRAME" val="{&quot;height&quot;:458.2599212598425,&quot;left&quot;:120.6,&quot;top&quot;:80.65,&quot;width&quot;:780.45}"/>
</p:tagLst>
</file>

<file path=ppt/tags/tag234.xml><?xml version="1.0" encoding="utf-8"?>
<p:tagLst xmlns:p="http://schemas.openxmlformats.org/presentationml/2006/main">
  <p:tag name="TABLE_ENDDRAG_ORIGIN_RECT" val="722*429"/>
  <p:tag name="TABLE_ENDDRAG_RECT" val="30*72*722*429"/>
</p:tagLst>
</file>

<file path=ppt/tags/tag235.xml><?xml version="1.0" encoding="utf-8"?>
<p:tagLst xmlns:p="http://schemas.openxmlformats.org/presentationml/2006/main">
  <p:tag name="KSO_WM_DIAGRAM_VIRTUALLY_FRAME" val="{&quot;height&quot;:458.2599212598425,&quot;left&quot;:120.6,&quot;top&quot;:80.65,&quot;width&quot;:780.45}"/>
</p:tagLst>
</file>

<file path=ppt/tags/tag236.xml><?xml version="1.0" encoding="utf-8"?>
<p:tagLst xmlns:p="http://schemas.openxmlformats.org/presentationml/2006/main">
  <p:tag name="KSO_WM_DIAGRAM_VIRTUALLY_FRAME" val="{&quot;height&quot;:458.2599212598425,&quot;left&quot;:120.6,&quot;top&quot;:80.65,&quot;width&quot;:780.45}"/>
</p:tagLst>
</file>

<file path=ppt/tags/tag237.xml><?xml version="1.0" encoding="utf-8"?>
<p:tagLst xmlns:p="http://schemas.openxmlformats.org/presentationml/2006/main">
  <p:tag name="KSO_WM_DIAGRAM_VIRTUALLY_FRAME" val="{&quot;height&quot;:458.2599212598425,&quot;left&quot;:120.6,&quot;top&quot;:80.65,&quot;width&quot;:780.45}"/>
</p:tagLst>
</file>

<file path=ppt/tags/tag238.xml><?xml version="1.0" encoding="utf-8"?>
<p:tagLst xmlns:p="http://schemas.openxmlformats.org/presentationml/2006/main">
  <p:tag name="KSO_WM_DIAGRAM_VIRTUALLY_FRAME" val="{&quot;height&quot;:458.2599212598425,&quot;left&quot;:120.6,&quot;top&quot;:80.65,&quot;width&quot;:780.45}"/>
</p:tagLst>
</file>

<file path=ppt/tags/tag239.xml><?xml version="1.0" encoding="utf-8"?>
<p:tagLst xmlns:p="http://schemas.openxmlformats.org/presentationml/2006/main">
  <p:tag name="KSO_WM_DIAGRAM_VIRTUALLY_FRAME" val="{&quot;height&quot;:458.2599212598425,&quot;left&quot;:120.6,&quot;top&quot;:80.65,&quot;width&quot;:780.45}"/>
</p:tagLst>
</file>

<file path=ppt/tags/tag240.xml><?xml version="1.0" encoding="utf-8"?>
<p:tagLst xmlns:p="http://schemas.openxmlformats.org/presentationml/2006/main">
  <p:tag name="KSO_WM_DIAGRAM_VIRTUALLY_FRAME" val="{&quot;height&quot;:458.2599212598425,&quot;left&quot;:120.6,&quot;top&quot;:80.65,&quot;width&quot;:780.45}"/>
</p:tagLst>
</file>

<file path=ppt/tags/tag241.xml><?xml version="1.0" encoding="utf-8"?>
<p:tagLst xmlns:p="http://schemas.openxmlformats.org/presentationml/2006/main">
  <p:tag name="KSO_WM_DIAGRAM_VIRTUALLY_FRAME" val="{&quot;height&quot;:458.2599212598425,&quot;left&quot;:120.6,&quot;top&quot;:80.65,&quot;width&quot;:780.45}"/>
</p:tagLst>
</file>

<file path=ppt/tags/tag242.xml><?xml version="1.0" encoding="utf-8"?>
<p:tagLst xmlns:p="http://schemas.openxmlformats.org/presentationml/2006/main">
  <p:tag name="TABLE_ENDDRAG_ORIGIN_RECT" val="865*104"/>
  <p:tag name="TABLE_ENDDRAG_RECT" val="36*292*865*104"/>
</p:tagLst>
</file>

<file path=ppt/tags/tag243.xml><?xml version="1.0" encoding="utf-8"?>
<p:tagLst xmlns:p="http://schemas.openxmlformats.org/presentationml/2006/main">
  <p:tag name="KSO_WM_DIAGRAM_VIRTUALLY_FRAME" val="{&quot;height&quot;:458.2599212598425,&quot;left&quot;:120.6,&quot;top&quot;:80.65,&quot;width&quot;:780.45}"/>
</p:tagLst>
</file>

<file path=ppt/tags/tag244.xml><?xml version="1.0" encoding="utf-8"?>
<p:tagLst xmlns:p="http://schemas.openxmlformats.org/presentationml/2006/main">
  <p:tag name="TABLE_ENDDRAG_ORIGIN_RECT" val="773*76"/>
  <p:tag name="TABLE_ENDDRAG_RECT" val="36*304*773*76"/>
</p:tagLst>
</file>

<file path=ppt/tags/tag245.xml><?xml version="1.0" encoding="utf-8"?>
<p:tagLst xmlns:p="http://schemas.openxmlformats.org/presentationml/2006/main">
  <p:tag name="KSO_WM_DIAGRAM_VIRTUALLY_FRAME" val="{&quot;height&quot;:458.2599212598425,&quot;left&quot;:120.6,&quot;top&quot;:80.65,&quot;width&quot;:780.45}"/>
</p:tagLst>
</file>

<file path=ppt/tags/tag246.xml><?xml version="1.0" encoding="utf-8"?>
<p:tagLst xmlns:p="http://schemas.openxmlformats.org/presentationml/2006/main">
  <p:tag name="KSO_WM_DIAGRAM_VIRTUALLY_FRAME" val="{&quot;height&quot;:458.2599212598425,&quot;left&quot;:120.6,&quot;top&quot;:80.65,&quot;width&quot;:780.45}"/>
</p:tagLst>
</file>

<file path=ppt/tags/tag247.xml><?xml version="1.0" encoding="utf-8"?>
<p:tagLst xmlns:p="http://schemas.openxmlformats.org/presentationml/2006/main">
  <p:tag name="KSO_WM_DIAGRAM_VIRTUALLY_FRAME" val="{&quot;height&quot;:458.2599212598425,&quot;left&quot;:120.6,&quot;top&quot;:80.65,&quot;width&quot;:780.45}"/>
</p:tagLst>
</file>

<file path=ppt/tags/tag248.xml><?xml version="1.0" encoding="utf-8"?>
<p:tagLst xmlns:p="http://schemas.openxmlformats.org/presentationml/2006/main">
  <p:tag name="KSO_WM_DIAGRAM_VIRTUALLY_FRAME" val="{&quot;height&quot;:458.2599212598425,&quot;left&quot;:120.6,&quot;top&quot;:80.65,&quot;width&quot;:780.45}"/>
</p:tagLst>
</file>

<file path=ppt/tags/tag249.xml><?xml version="1.0" encoding="utf-8"?>
<p:tagLst xmlns:p="http://schemas.openxmlformats.org/presentationml/2006/main">
  <p:tag name="KSO_WM_DIAGRAM_VIRTUALLY_FRAME" val="{&quot;height&quot;:458.2599212598425,&quot;left&quot;:120.6,&quot;top&quot;:80.65,&quot;width&quot;:780.45}"/>
</p:tagLst>
</file>

<file path=ppt/tags/tag250.xml><?xml version="1.0" encoding="utf-8"?>
<p:tagLst xmlns:p="http://schemas.openxmlformats.org/presentationml/2006/main">
  <p:tag name="KSO_WM_DIAGRAM_VIRTUALLY_FRAME" val="{&quot;height&quot;:458.2599212598425,&quot;left&quot;:120.6,&quot;top&quot;:80.65,&quot;width&quot;:780.45}"/>
</p:tagLst>
</file>

<file path=ppt/tags/tag251.xml><?xml version="1.0" encoding="utf-8"?>
<p:tagLst xmlns:p="http://schemas.openxmlformats.org/presentationml/2006/main">
  <p:tag name="KSO_WM_DIAGRAM_VIRTUALLY_FRAME" val="{&quot;height&quot;:458.2599212598425,&quot;left&quot;:120.6,&quot;top&quot;:80.65,&quot;width&quot;:780.45}"/>
</p:tagLst>
</file>

<file path=ppt/tags/tag252.xml><?xml version="1.0" encoding="utf-8"?>
<p:tagLst xmlns:p="http://schemas.openxmlformats.org/presentationml/2006/main">
  <p:tag name="KSO_WM_DIAGRAM_VIRTUALLY_FRAME" val="{&quot;height&quot;:458.2599212598425,&quot;left&quot;:120.6,&quot;top&quot;:80.65,&quot;width&quot;:780.45}"/>
</p:tagLst>
</file>

<file path=ppt/tags/tag253.xml><?xml version="1.0" encoding="utf-8"?>
<p:tagLst xmlns:p="http://schemas.openxmlformats.org/presentationml/2006/main">
  <p:tag name="TABLE_ENDDRAG_ORIGIN_RECT" val="134*338"/>
  <p:tag name="TABLE_ENDDRAG_RECT" val="204*128*134*338"/>
</p:tagLst>
</file>

<file path=ppt/tags/tag254.xml><?xml version="1.0" encoding="utf-8"?>
<p:tagLst xmlns:p="http://schemas.openxmlformats.org/presentationml/2006/main">
  <p:tag name="TABLE_ENDDRAG_ORIGIN_RECT" val="174*349"/>
  <p:tag name="TABLE_ENDDRAG_RECT" val="528*125*174*349"/>
</p:tagLst>
</file>

<file path=ppt/tags/tag255.xml><?xml version="1.0" encoding="utf-8"?>
<p:tagLst xmlns:p="http://schemas.openxmlformats.org/presentationml/2006/main">
  <p:tag name="KSO_WM_DIAGRAM_VIRTUALLY_FRAME" val="{&quot;height&quot;:458.2599212598425,&quot;left&quot;:120.6,&quot;top&quot;:80.65,&quot;width&quot;:780.45}"/>
</p:tagLst>
</file>

<file path=ppt/tags/tag256.xml><?xml version="1.0" encoding="utf-8"?>
<p:tagLst xmlns:p="http://schemas.openxmlformats.org/presentationml/2006/main">
  <p:tag name="KSO_WM_DIAGRAM_VIRTUALLY_FRAME" val="{&quot;height&quot;:458.2599212598425,&quot;left&quot;:120.6,&quot;top&quot;:80.65,&quot;width&quot;:780.45}"/>
</p:tagLst>
</file>

<file path=ppt/tags/tag257.xml><?xml version="1.0" encoding="utf-8"?>
<p:tagLst xmlns:p="http://schemas.openxmlformats.org/presentationml/2006/main">
  <p:tag name="KSO_WM_DIAGRAM_VIRTUALLY_FRAME" val="{&quot;height&quot;:458.2599212598425,&quot;left&quot;:120.6,&quot;top&quot;:80.65,&quot;width&quot;:780.45}"/>
</p:tagLst>
</file>

<file path=ppt/tags/tag258.xml><?xml version="1.0" encoding="utf-8"?>
<p:tagLst xmlns:p="http://schemas.openxmlformats.org/presentationml/2006/main">
  <p:tag name="TABLE_ENDDRAG_ORIGIN_RECT" val="767*445"/>
  <p:tag name="TABLE_ENDDRAG_RECT" val="0*64*767*445"/>
</p:tagLst>
</file>

<file path=ppt/tags/tag259.xml><?xml version="1.0" encoding="utf-8"?>
<p:tagLst xmlns:p="http://schemas.openxmlformats.org/presentationml/2006/main">
  <p:tag name="KSO_WM_DIAGRAM_VIRTUALLY_FRAME" val="{&quot;height&quot;:458.2599212598425,&quot;left&quot;:120.6,&quot;top&quot;:80.65,&quot;width&quot;:780.45}"/>
</p:tagLst>
</file>

<file path=ppt/tags/tag260.xml><?xml version="1.0" encoding="utf-8"?>
<p:tagLst xmlns:p="http://schemas.openxmlformats.org/presentationml/2006/main">
  <p:tag name="KSO_WM_DIAGRAM_VIRTUALLY_FRAME" val="{&quot;height&quot;:458.2599212598425,&quot;left&quot;:120.6,&quot;top&quot;:80.65,&quot;width&quot;:780.45}"/>
</p:tagLst>
</file>

<file path=ppt/tags/tag261.xml><?xml version="1.0" encoding="utf-8"?>
<p:tagLst xmlns:p="http://schemas.openxmlformats.org/presentationml/2006/main">
  <p:tag name="KSO_WM_DIAGRAM_VIRTUALLY_FRAME" val="{&quot;height&quot;:458.2599212598425,&quot;left&quot;:120.6,&quot;top&quot;:80.65,&quot;width&quot;:780.45}"/>
</p:tagLst>
</file>

<file path=ppt/tags/tag262.xml><?xml version="1.0" encoding="utf-8"?>
<p:tagLst xmlns:p="http://schemas.openxmlformats.org/presentationml/2006/main">
  <p:tag name="KSO_WM_DIAGRAM_VIRTUALLY_FRAME" val="{&quot;height&quot;:458.2599212598425,&quot;left&quot;:120.6,&quot;top&quot;:80.65,&quot;width&quot;:780.45}"/>
</p:tagLst>
</file>

<file path=ppt/tags/tag263.xml><?xml version="1.0" encoding="utf-8"?>
<p:tagLst xmlns:p="http://schemas.openxmlformats.org/presentationml/2006/main">
  <p:tag name="KSO_WM_DIAGRAM_VIRTUALLY_FRAME" val="{&quot;height&quot;:458.2599212598425,&quot;left&quot;:120.6,&quot;top&quot;:80.65,&quot;width&quot;:780.45}"/>
</p:tagLst>
</file>

<file path=ppt/tags/tag264.xml><?xml version="1.0" encoding="utf-8"?>
<p:tagLst xmlns:p="http://schemas.openxmlformats.org/presentationml/2006/main">
  <p:tag name="KSO_WM_DIAGRAM_VIRTUALLY_FRAME" val="{&quot;height&quot;:458.2599212598425,&quot;left&quot;:120.6,&quot;top&quot;:80.65,&quot;width&quot;:780.45}"/>
</p:tagLst>
</file>

<file path=ppt/tags/tag265.xml><?xml version="1.0" encoding="utf-8"?>
<p:tagLst xmlns:p="http://schemas.openxmlformats.org/presentationml/2006/main">
  <p:tag name="KSO_WM_DIAGRAM_VIRTUALLY_FRAME" val="{&quot;height&quot;:458.2599212598425,&quot;left&quot;:120.6,&quot;top&quot;:80.65,&quot;width&quot;:780.45}"/>
</p:tagLst>
</file>

<file path=ppt/tags/tag266.xml><?xml version="1.0" encoding="utf-8"?>
<p:tagLst xmlns:p="http://schemas.openxmlformats.org/presentationml/2006/main">
  <p:tag name="KSO_WM_DIAGRAM_VIRTUALLY_FRAME" val="{&quot;height&quot;:458.2599212598425,&quot;left&quot;:120.6,&quot;top&quot;:80.65,&quot;width&quot;:780.45}"/>
</p:tagLst>
</file>

<file path=ppt/tags/tag267.xml><?xml version="1.0" encoding="utf-8"?>
<p:tagLst xmlns:p="http://schemas.openxmlformats.org/presentationml/2006/main">
  <p:tag name="TABLE_ENDDRAG_ORIGIN_RECT" val="727*250"/>
  <p:tag name="TABLE_ENDDRAG_RECT" val="99*74*727*250"/>
</p:tagLst>
</file>

<file path=ppt/tags/tag268.xml><?xml version="1.0" encoding="utf-8"?>
<p:tagLst xmlns:p="http://schemas.openxmlformats.org/presentationml/2006/main">
  <p:tag name="KSO_WM_DIAGRAM_VIRTUALLY_FRAME" val="{&quot;height&quot;:458.2599212598425,&quot;left&quot;:120.6,&quot;top&quot;:80.65,&quot;width&quot;:780.45}"/>
</p:tagLst>
</file>

<file path=ppt/tags/tag269.xml><?xml version="1.0" encoding="utf-8"?>
<p:tagLst xmlns:p="http://schemas.openxmlformats.org/presentationml/2006/main">
  <p:tag name="KSO_WM_DIAGRAM_VIRTUALLY_FRAME" val="{&quot;height&quot;:458.2599212598425,&quot;left&quot;:120.6,&quot;top&quot;:80.65,&quot;width&quot;:780.45}"/>
</p:tagLst>
</file>

<file path=ppt/tags/tag270.xml><?xml version="1.0" encoding="utf-8"?>
<p:tagLst xmlns:p="http://schemas.openxmlformats.org/presentationml/2006/main">
  <p:tag name="TABLE_ENDDRAG_ORIGIN_RECT" val="713*423"/>
  <p:tag name="TABLE_ENDDRAG_RECT" val="18*74*713*423"/>
</p:tagLst>
</file>

<file path=ppt/tags/tag271.xml><?xml version="1.0" encoding="utf-8"?>
<p:tagLst xmlns:p="http://schemas.openxmlformats.org/presentationml/2006/main">
  <p:tag name="KSO_WM_DIAGRAM_VIRTUALLY_FRAME" val="{&quot;height&quot;:458.2599212598425,&quot;left&quot;:120.6,&quot;top&quot;:80.65,&quot;width&quot;:780.45}"/>
</p:tagLst>
</file>

<file path=ppt/tags/tag272.xml><?xml version="1.0" encoding="utf-8"?>
<p:tagLst xmlns:p="http://schemas.openxmlformats.org/presentationml/2006/main">
  <p:tag name="KSO_WM_DIAGRAM_VIRTUALLY_FRAME" val="{&quot;height&quot;:458.2599212598425,&quot;left&quot;:120.6,&quot;top&quot;:80.65,&quot;width&quot;:780.45}"/>
</p:tagLst>
</file>

<file path=ppt/tags/tag273.xml><?xml version="1.0" encoding="utf-8"?>
<p:tagLst xmlns:p="http://schemas.openxmlformats.org/presentationml/2006/main">
  <p:tag name="KSO_WM_DIAGRAM_VIRTUALLY_FRAME" val="{&quot;height&quot;:458.2599212598425,&quot;left&quot;:120.6,&quot;top&quot;:80.65,&quot;width&quot;:780.45}"/>
</p:tagLst>
</file>

<file path=ppt/tags/tag274.xml><?xml version="1.0" encoding="utf-8"?>
<p:tagLst xmlns:p="http://schemas.openxmlformats.org/presentationml/2006/main">
  <p:tag name="KSO_WM_DIAGRAM_VIRTUALLY_FRAME" val="{&quot;height&quot;:458.2599212598425,&quot;left&quot;:120.6,&quot;top&quot;:80.65,&quot;width&quot;:780.45}"/>
</p:tagLst>
</file>

<file path=ppt/tags/tag275.xml><?xml version="1.0" encoding="utf-8"?>
<p:tagLst xmlns:p="http://schemas.openxmlformats.org/presentationml/2006/main">
  <p:tag name="KSO_WM_DIAGRAM_VIRTUALLY_FRAME" val="{&quot;height&quot;:458.2599212598425,&quot;left&quot;:120.6,&quot;top&quot;:80.65,&quot;width&quot;:780.45}"/>
</p:tagLst>
</file>

<file path=ppt/tags/tag276.xml><?xml version="1.0" encoding="utf-8"?>
<p:tagLst xmlns:p="http://schemas.openxmlformats.org/presentationml/2006/main">
  <p:tag name="commondata" val="eyJoZGlkIjoiZjQ4NDFjNWE2YjY1NTA0MjhjMmU2NTU4MDRhMDIxYjgifQ=="/>
</p:tagLst>
</file>

<file path=ppt/theme/theme1.xml><?xml version="1.0" encoding="utf-8"?>
<a:theme xmlns:a="http://schemas.openxmlformats.org/drawingml/2006/main" name="办公资源网：www.bangongziyuan.com">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微软雅黑"/>
        <a:ea typeface="阿里巴巴普惠体 B"/>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solidFill>
            <a:srgbClr val="0070C0"/>
          </a:solidFill>
        </a:ln>
      </a:spPr>
      <a:bodyPr wrap="square" rtlCol="0">
        <a:spAutoFit/>
      </a:bodyPr>
      <a:lstStyle>
        <a:defPPr algn="ctr">
          <a:buClrTx/>
          <a:buSzTx/>
          <a:buFontTx/>
          <a:defRPr lang="en-US" altLang="zh-CN" dirty="0" smtClean="0">
            <a:solidFill>
              <a:schemeClr val="accent6">
                <a:lumMod val="7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微软雅黑"/>
        <a:ea typeface="阿里巴巴普惠体 B"/>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36875</Words>
  <Application>WPS 演示</Application>
  <PresentationFormat>宽屏</PresentationFormat>
  <Paragraphs>4550</Paragraphs>
  <Slides>147</Slides>
  <Notes>4</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28</vt:i4>
      </vt:variant>
      <vt:variant>
        <vt:lpstr>幻灯片标题</vt:lpstr>
      </vt:variant>
      <vt:variant>
        <vt:i4>147</vt:i4>
      </vt:variant>
    </vt:vector>
  </HeadingPairs>
  <TitlesOfParts>
    <vt:vector size="186" baseType="lpstr">
      <vt:lpstr>Arial</vt:lpstr>
      <vt:lpstr>宋体</vt:lpstr>
      <vt:lpstr>Wingdings</vt:lpstr>
      <vt:lpstr>微软雅黑</vt:lpstr>
      <vt:lpstr>Times New Roman</vt:lpstr>
      <vt:lpstr>OPPOSans B</vt:lpstr>
      <vt:lpstr>Georgia</vt:lpstr>
      <vt:lpstr>Arial Unicode MS</vt:lpstr>
      <vt:lpstr>楷体_GB2312</vt:lpstr>
      <vt:lpstr>办公资源网：www.bangongziyuan.com</vt:lpstr>
      <vt:lpstr>自定义设计方案</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刘雅茜</cp:lastModifiedBy>
  <cp:revision>3302</cp:revision>
  <dcterms:created xsi:type="dcterms:W3CDTF">2020-11-24T06:30:00Z</dcterms:created>
  <dcterms:modified xsi:type="dcterms:W3CDTF">2024-10-29T08:39:43Z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027D0818981F42C2B07B6C3C7E7629F7_12</vt:lpwstr>
  </property>
  <property fmtid="{D5CDD505-2E9C-101B-9397-08002B2CF9AE}" pid="3" name="KSOProductBuildVer">
    <vt:lpwstr>2052-12.1.0.18608</vt:lpwstr>
  </property>
</Properties>
</file>