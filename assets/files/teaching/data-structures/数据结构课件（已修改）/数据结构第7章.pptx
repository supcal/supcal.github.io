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94"/>
  </p:handoutMasterIdLst>
  <p:sldIdLst>
    <p:sldId id="15714907" r:id="rId4"/>
    <p:sldId id="15714992" r:id="rId6"/>
    <p:sldId id="15714993" r:id="rId7"/>
    <p:sldId id="15714994" r:id="rId8"/>
    <p:sldId id="15714995" r:id="rId9"/>
    <p:sldId id="15714996" r:id="rId10"/>
    <p:sldId id="15715003" r:id="rId11"/>
    <p:sldId id="15714997" r:id="rId12"/>
    <p:sldId id="15714998" r:id="rId13"/>
    <p:sldId id="15714999" r:id="rId14"/>
    <p:sldId id="15715004" r:id="rId15"/>
    <p:sldId id="15715000" r:id="rId16"/>
    <p:sldId id="15715001" r:id="rId17"/>
    <p:sldId id="15715005" r:id="rId18"/>
    <p:sldId id="15715006" r:id="rId19"/>
    <p:sldId id="15715007" r:id="rId20"/>
    <p:sldId id="15715012" r:id="rId21"/>
    <p:sldId id="15715008" r:id="rId22"/>
    <p:sldId id="15715009" r:id="rId23"/>
    <p:sldId id="15715010" r:id="rId24"/>
    <p:sldId id="15715034" r:id="rId25"/>
    <p:sldId id="15715035" r:id="rId26"/>
    <p:sldId id="15715036" r:id="rId27"/>
    <p:sldId id="15715037" r:id="rId28"/>
    <p:sldId id="15715038" r:id="rId29"/>
    <p:sldId id="15715039" r:id="rId30"/>
    <p:sldId id="15715040" r:id="rId31"/>
    <p:sldId id="15715041" r:id="rId32"/>
    <p:sldId id="15715042" r:id="rId33"/>
    <p:sldId id="15715043" r:id="rId34"/>
    <p:sldId id="15715044" r:id="rId35"/>
    <p:sldId id="15715045" r:id="rId36"/>
    <p:sldId id="15715046" r:id="rId37"/>
    <p:sldId id="15715047" r:id="rId38"/>
    <p:sldId id="15715048" r:id="rId39"/>
    <p:sldId id="15715049" r:id="rId40"/>
    <p:sldId id="15715050" r:id="rId41"/>
    <p:sldId id="15715051" r:id="rId42"/>
    <p:sldId id="15715052" r:id="rId43"/>
    <p:sldId id="15715053" r:id="rId44"/>
    <p:sldId id="15715054" r:id="rId45"/>
    <p:sldId id="15715055" r:id="rId46"/>
    <p:sldId id="15715056" r:id="rId47"/>
    <p:sldId id="15715057" r:id="rId48"/>
    <p:sldId id="15715058" r:id="rId49"/>
    <p:sldId id="15715059" r:id="rId50"/>
    <p:sldId id="15715060" r:id="rId51"/>
    <p:sldId id="15715061" r:id="rId52"/>
    <p:sldId id="15715062" r:id="rId53"/>
    <p:sldId id="15715063" r:id="rId54"/>
    <p:sldId id="15715064" r:id="rId55"/>
    <p:sldId id="15715065" r:id="rId56"/>
    <p:sldId id="15715066" r:id="rId57"/>
    <p:sldId id="15715067" r:id="rId58"/>
    <p:sldId id="15715068" r:id="rId59"/>
    <p:sldId id="15715069" r:id="rId60"/>
    <p:sldId id="15715070" r:id="rId61"/>
    <p:sldId id="15715071" r:id="rId62"/>
    <p:sldId id="15715072" r:id="rId63"/>
    <p:sldId id="15715073" r:id="rId64"/>
    <p:sldId id="15715074" r:id="rId65"/>
    <p:sldId id="15715075" r:id="rId66"/>
    <p:sldId id="15715076" r:id="rId67"/>
    <p:sldId id="15715077" r:id="rId68"/>
    <p:sldId id="15715078" r:id="rId69"/>
    <p:sldId id="15715079" r:id="rId70"/>
    <p:sldId id="15715080" r:id="rId71"/>
    <p:sldId id="15715081" r:id="rId72"/>
    <p:sldId id="15715082" r:id="rId73"/>
    <p:sldId id="15715083" r:id="rId74"/>
    <p:sldId id="15715084" r:id="rId75"/>
    <p:sldId id="15715085" r:id="rId76"/>
    <p:sldId id="15715086" r:id="rId77"/>
    <p:sldId id="15715087" r:id="rId78"/>
    <p:sldId id="15715088" r:id="rId79"/>
    <p:sldId id="15715089" r:id="rId80"/>
    <p:sldId id="15715090" r:id="rId81"/>
    <p:sldId id="15715091" r:id="rId82"/>
    <p:sldId id="15715092" r:id="rId83"/>
    <p:sldId id="15715093" r:id="rId84"/>
    <p:sldId id="15715094" r:id="rId85"/>
    <p:sldId id="15715095" r:id="rId86"/>
    <p:sldId id="15715096" r:id="rId87"/>
    <p:sldId id="15715097" r:id="rId88"/>
    <p:sldId id="15715098" r:id="rId89"/>
    <p:sldId id="15715099" r:id="rId90"/>
    <p:sldId id="15715100" r:id="rId91"/>
    <p:sldId id="15715101" r:id="rId92"/>
    <p:sldId id="15715102" r:id="rId93"/>
  </p:sldIdLst>
  <p:sldSz cx="12192000" cy="6858000"/>
  <p:notesSz cx="6858000" cy="9144000"/>
  <p:custDataLst>
    <p:tags r:id="rId9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973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E"/>
    <a:srgbClr val="000000"/>
    <a:srgbClr val="ADA19D"/>
    <a:srgbClr val="F0ECF2"/>
    <a:srgbClr val="494958"/>
    <a:srgbClr val="484C58"/>
    <a:srgbClr val="A8A8A8"/>
    <a:srgbClr val="015B9F"/>
    <a:srgbClr val="029188"/>
    <a:srgbClr val="049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6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4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42"/>
    </p:cViewPr>
  </p:sorterViewPr>
  <p:notesViewPr>
    <p:cSldViewPr snapToGrid="0">
      <p:cViewPr varScale="1">
        <p:scale>
          <a:sx n="60" d="100"/>
          <a:sy n="60" d="100"/>
        </p:scale>
        <p:origin x="10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tags" Target="tags/tag2.xml"/><Relationship Id="rId98" Type="http://schemas.openxmlformats.org/officeDocument/2006/relationships/commentAuthors" Target="commentAuthors.xml"/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handoutMaster" Target="handoutMasters/handoutMaster1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C2F0C-902B-40A3-A4BD-4EF077EA43A2}" type="datetimeFigureOut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2C1B7-04C4-46E7-9BAA-4B759B4AC2C1}" type="slidenum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3C9F0365-6E51-42DF-A7F1-912A2B6B56F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830FE25F-8BC0-4BE2-A57A-787CA670B11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FF1102C-FAD4-459D-8C7A-106E6431C5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50DA76-BDB9-41EC-AAF5-70C0225A9A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65A674D8-D595-481B-98B3-1F39AF99B9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B35DD3EC-14B0-476A-A7B6-2379185BAD17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27050" y="923086"/>
            <a:ext cx="111379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7"/>
          <p:cNvSpPr/>
          <p:nvPr userDrawn="1"/>
        </p:nvSpPr>
        <p:spPr>
          <a:xfrm rot="5400000">
            <a:off x="478876" y="414720"/>
            <a:ext cx="441960" cy="267628"/>
          </a:xfrm>
          <a:prstGeom prst="triangle">
            <a:avLst/>
          </a:prstGeom>
          <a:solidFill>
            <a:srgbClr val="005A9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rtlCol="0" anchor="ctr"/>
          <a:lstStyle/>
          <a:p>
            <a:pPr algn="ctr"/>
            <a:endParaRPr lang="zh-CN" altLang="en-US" sz="2400" dirty="0">
              <a:latin typeface="OPPOSans B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9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2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3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5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oleObject" Target="../embeddings/oleObject18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9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0.bin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1.bin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283"/>
          <p:cNvSpPr txBox="1"/>
          <p:nvPr/>
        </p:nvSpPr>
        <p:spPr>
          <a:xfrm>
            <a:off x="5016500" y="1728470"/>
            <a:ext cx="23869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100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排序</a:t>
            </a:r>
            <a:endParaRPr kumimoji="0" lang="zh-CN" altLang="en-US" sz="7200" b="1" i="0" u="none" strike="noStrike" kern="1200" cap="none" spc="100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56353" y="4939300"/>
            <a:ext cx="3950519" cy="1029628"/>
            <a:chOff x="4293107" y="4891174"/>
            <a:chExt cx="3479292" cy="1029628"/>
          </a:xfrm>
        </p:grpSpPr>
        <p:sp>
          <p:nvSpPr>
            <p:cNvPr id="28" name="文本框 27"/>
            <p:cNvSpPr txBox="1"/>
            <p:nvPr/>
          </p:nvSpPr>
          <p:spPr>
            <a:xfrm flipH="1">
              <a:off x="4293107" y="4891174"/>
              <a:ext cx="3479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rtlCol="0">
              <a:spAutoFit/>
            </a:bodyPr>
            <a:lstStyle/>
            <a:p>
              <a:pPr marL="342900" lvl="0" indent="-342900" defTabSz="1219200">
                <a:buFont typeface="Wingdings" panose="05000000000000000000" pitchFamily="2" charset="2"/>
                <a:buChar char="u"/>
                <a:defRPr/>
              </a:pPr>
              <a:r>
                <a:rPr lang="zh-CN" altLang="en-US" sz="200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  <a:sym typeface="+mn-lt"/>
                </a:rPr>
                <a:t>课程性质：专业</a:t>
              </a:r>
              <a:r>
                <a:rPr lang="zh-CN" altLang="en-US" sz="2000" spc="3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  <a:sym typeface="+mn-lt"/>
                </a:rPr>
                <a:t>必修课</a:t>
              </a:r>
              <a:endParaRPr lang="zh-CN" altLang="en-US" sz="200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 flipH="1">
              <a:off x="4293107" y="5520692"/>
              <a:ext cx="3479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rtlCol="0">
              <a:spAutoFit/>
            </a:bodyPr>
            <a:lstStyle/>
            <a:p>
              <a:pPr marL="342900" lvl="0" indent="-342900" defTabSz="1219200">
                <a:buFont typeface="Wingdings" panose="05000000000000000000" pitchFamily="2" charset="2"/>
                <a:buChar char="u"/>
                <a:defRPr/>
              </a:pPr>
              <a:r>
                <a:rPr lang="zh-CN" altLang="en-US" sz="200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  <a:sym typeface="+mn-lt"/>
                </a:rPr>
                <a:t>授课对象：本科二年级</a:t>
              </a:r>
              <a:endParaRPr lang="zh-CN" altLang="en-US" sz="200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2253378" y="3947028"/>
            <a:ext cx="7685244" cy="586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796779" y="6270902"/>
            <a:ext cx="8598443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283"/>
          <p:cNvSpPr txBox="1"/>
          <p:nvPr/>
        </p:nvSpPr>
        <p:spPr>
          <a:xfrm>
            <a:off x="3000776" y="3992461"/>
            <a:ext cx="6383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1000" normalizeH="0" baseline="0" noProof="0" dirty="0" smtClean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课程名称：数据结构</a:t>
            </a:r>
            <a:endParaRPr kumimoji="0" lang="zh-CN" altLang="en-US" sz="2800" b="0" i="0" u="none" strike="noStrike" kern="1200" cap="none" spc="100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2" name="文本框 283"/>
          <p:cNvSpPr txBox="1"/>
          <p:nvPr/>
        </p:nvSpPr>
        <p:spPr>
          <a:xfrm>
            <a:off x="285750" y="331470"/>
            <a:ext cx="617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600" normalizeH="0" baseline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OPPOSans B" panose="00020600040101010101" pitchFamily="18" charset="-122"/>
              </a:defRPr>
            </a:lvl1pPr>
          </a:lstStyle>
          <a:p>
            <a:pPr algn="l"/>
            <a:r>
              <a:rPr lang="zh-CN" altLang="en-US" dirty="0"/>
              <a:t>节选自第七章 排序</a:t>
            </a:r>
            <a:endParaRPr lang="zh-CN" altLang="en-US" dirty="0"/>
          </a:p>
        </p:txBody>
      </p:sp>
      <p:sp>
        <p:nvSpPr>
          <p:cNvPr id="13" name="文本框 283"/>
          <p:cNvSpPr txBox="1"/>
          <p:nvPr/>
        </p:nvSpPr>
        <p:spPr>
          <a:xfrm>
            <a:off x="9703435" y="331470"/>
            <a:ext cx="1578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1" u="none" strike="noStrike" cap="none" spc="600" normalizeH="0" baseline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OPPOSans B" panose="00020600040101010101" pitchFamily="18" charset="-122"/>
              </a:defRPr>
            </a:lvl1pPr>
          </a:lstStyle>
          <a:p>
            <a:pPr algn="dist"/>
            <a:r>
              <a:rPr lang="en-US" altLang="zh-CN" i="0" spc="0" dirty="0" smtClean="0"/>
              <a:t>《</a:t>
            </a:r>
            <a:r>
              <a:rPr lang="en-US" altLang="zh-CN" spc="0" dirty="0" err="1" smtClean="0"/>
              <a:t>Sort</a:t>
            </a:r>
            <a:r>
              <a:rPr lang="en-US" altLang="zh-CN" i="0" spc="0" dirty="0"/>
              <a:t>》</a:t>
            </a:r>
            <a:endParaRPr lang="zh-CN" altLang="en-US" i="0" spc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393065" y="1132840"/>
            <a:ext cx="10960735" cy="504444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什么是排序？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排序是计算机内经常进行的一种操作，其目的是将一组“无序”的元素序列调整为“有序”的元素序列。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排序的分类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待排序元素关键字个数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单关键字排序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多关键字排序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待排序元素的存储介质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内部排序：排序过程不需要访问外存便能完成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外部排序：排序过程需要访问外存才能完成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3835" y="1009650"/>
            <a:ext cx="10906760" cy="4952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内部排序的类别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插入类：直接插入排序、折半排序、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路插入排序、希尔排序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分划类：冒泡排序、快速排序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选择类：简单选择排序、堆排序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归并类：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路归并排序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其他方法：基数排序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218" name="内容占位符 2"/>
          <p:cNvSpPr>
            <a:spLocks noGrp="1"/>
          </p:cNvSpPr>
          <p:nvPr>
            <p:ph idx="1"/>
          </p:nvPr>
        </p:nvSpPr>
        <p:spPr>
          <a:xfrm>
            <a:off x="393700" y="1195070"/>
            <a:ext cx="10960100" cy="498221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排序的两个基本操作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比较两个关键字大小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将记录从一个位置移动到另一个位置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待排序列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 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，其相应的关键字序列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 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，假设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k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≤i, j≤n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≠ j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，且在排序前的序列中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领先于 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若在排序后的序列中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仍领先于 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，则称所用的排序方法是稳定的，反之，则称其是不稳定的。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插入类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267335" y="948055"/>
            <a:ext cx="11086465" cy="52292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插入类排序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将待排序元素逐个插入到已排好序的有序表中，从而得到一个新的有序表。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应用插入类排序思想的算法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直接插入排序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稳定的排序算法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折半插入排序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稳定的排序算法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2-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路插入排序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希尔排序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不稳定的排序算法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6470650"/>
            <a:ext cx="12192000" cy="420370"/>
            <a:chOff x="0" y="10190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90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205" y="10327"/>
              <a:ext cx="428" cy="319"/>
              <a:chOff x="1180190" y="6561344"/>
              <a:chExt cx="271682" cy="202424"/>
            </a:xfrm>
          </p:grpSpPr>
          <p:sp>
            <p:nvSpPr>
              <p:cNvPr id="102" name="燕尾形 101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燕尾形 102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文本框 96"/>
            <p:cNvSpPr txBox="1"/>
            <p:nvPr/>
          </p:nvSpPr>
          <p:spPr>
            <a:xfrm>
              <a:off x="1634" y="10190"/>
              <a:ext cx="29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b="1" dirty="0" smtClean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77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528" y="10220"/>
              <a:ext cx="41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4843" y="1022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7.1.1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直接插入排序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44220" y="1083945"/>
            <a:ext cx="10355580" cy="4896485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排序过程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 fontAlgn="auto">
              <a:lnSpc>
                <a:spcPct val="120000"/>
              </a:lnSpc>
              <a:buNone/>
              <a:extLst>
                <a:ext uri="{35155182-B16C-46BC-9424-99874614C6A1}">
                  <wpsdc:marlchars xmlns:wpsdc="http://www.wps.cn/officeDocument/2017/drawingmlCustomData" val="200" checksum="2975741746"/>
                </a:ext>
              </a:extLst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整个排序过程为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n-1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趟插入，即先将序列中第1个记录看成是一个有序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子序列，然后从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第2个记录开始，逐个进行插入，直至整个序列有序。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趟直接插入排序的基本思想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1267" name="Group 12"/>
          <p:cNvGrpSpPr/>
          <p:nvPr/>
        </p:nvGrpSpPr>
        <p:grpSpPr>
          <a:xfrm>
            <a:off x="2017395" y="3084830"/>
            <a:ext cx="5715000" cy="2895600"/>
            <a:chOff x="609600" y="1981200"/>
            <a:chExt cx="8077200" cy="4191000"/>
          </a:xfrm>
        </p:grpSpPr>
        <p:sp>
          <p:nvSpPr>
            <p:cNvPr id="4" name="Rectangle 4" descr="60%"/>
            <p:cNvSpPr>
              <a:spLocks noChangeArrowheads="1"/>
            </p:cNvSpPr>
            <p:nvPr/>
          </p:nvSpPr>
          <p:spPr bwMode="auto">
            <a:xfrm>
              <a:off x="609600" y="1981200"/>
              <a:ext cx="3352038" cy="8386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有序序列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A[0..i-1]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961638" y="3123156"/>
              <a:ext cx="762847" cy="838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R[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6" descr="棚架"/>
            <p:cNvSpPr>
              <a:spLocks noChangeArrowheads="1"/>
            </p:cNvSpPr>
            <p:nvPr/>
          </p:nvSpPr>
          <p:spPr bwMode="auto">
            <a:xfrm>
              <a:off x="3961638" y="1981200"/>
              <a:ext cx="4725162" cy="8386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无序序列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..n-1]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15" descr="60%"/>
            <p:cNvSpPr>
              <a:spLocks noChangeArrowheads="1"/>
            </p:cNvSpPr>
            <p:nvPr/>
          </p:nvSpPr>
          <p:spPr bwMode="auto">
            <a:xfrm>
              <a:off x="609600" y="5333541"/>
              <a:ext cx="4114885" cy="8386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有序序列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A[0..i]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16" descr="棚架"/>
            <p:cNvSpPr>
              <a:spLocks noChangeArrowheads="1"/>
            </p:cNvSpPr>
            <p:nvPr/>
          </p:nvSpPr>
          <p:spPr bwMode="auto">
            <a:xfrm>
              <a:off x="4724485" y="5333541"/>
              <a:ext cx="3962315" cy="838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无序序列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[i+1..n-1]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273" name="AutoShape 21"/>
            <p:cNvCxnSpPr>
              <a:stCxn id="5" idx="1"/>
              <a:endCxn id="4" idx="2"/>
            </p:cNvCxnSpPr>
            <p:nvPr/>
          </p:nvCxnSpPr>
          <p:spPr>
            <a:xfrm rot="10800000">
              <a:off x="2286000" y="2819400"/>
              <a:ext cx="1676400" cy="723900"/>
            </a:xfrm>
            <a:prstGeom prst="bentConnector2">
              <a:avLst/>
            </a:prstGeom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sp>
          <p:nvSpPr>
            <p:cNvPr id="11274" name="AutoShape 22"/>
            <p:cNvSpPr/>
            <p:nvPr/>
          </p:nvSpPr>
          <p:spPr>
            <a:xfrm>
              <a:off x="3048000" y="3810000"/>
              <a:ext cx="838200" cy="1371600"/>
            </a:xfrm>
            <a:prstGeom prst="downArrow">
              <a:avLst>
                <a:gd name="adj1" fmla="val 50000"/>
                <a:gd name="adj2" fmla="val 40901"/>
              </a:avLst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275" name="Line 23"/>
            <p:cNvSpPr/>
            <p:nvPr/>
          </p:nvSpPr>
          <p:spPr>
            <a:xfrm>
              <a:off x="4648200" y="1981200"/>
              <a:ext cx="0" cy="838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1276" name="Line 24"/>
            <p:cNvSpPr/>
            <p:nvPr/>
          </p:nvSpPr>
          <p:spPr>
            <a:xfrm>
              <a:off x="4724400" y="3962400"/>
              <a:ext cx="0" cy="137160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7" name="组合 6"/>
          <p:cNvGrpSpPr/>
          <p:nvPr/>
        </p:nvGrpSpPr>
        <p:grpSpPr>
          <a:xfrm>
            <a:off x="0" y="6470650"/>
            <a:ext cx="12192000" cy="420370"/>
            <a:chOff x="0" y="10190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90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205" y="10327"/>
              <a:ext cx="428" cy="319"/>
              <a:chOff x="1180190" y="6561344"/>
              <a:chExt cx="271682" cy="202424"/>
            </a:xfrm>
          </p:grpSpPr>
          <p:sp>
            <p:nvSpPr>
              <p:cNvPr id="102" name="燕尾形 101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燕尾形 102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文本框 96"/>
            <p:cNvSpPr txBox="1"/>
            <p:nvPr/>
          </p:nvSpPr>
          <p:spPr>
            <a:xfrm>
              <a:off x="1634" y="10190"/>
              <a:ext cx="29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b="1" dirty="0" smtClean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77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528" y="10220"/>
              <a:ext cx="41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4843" y="1022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/>
          <p:nvPr/>
        </p:nvSpPr>
        <p:spPr>
          <a:xfrm>
            <a:off x="5942965" y="-184785"/>
            <a:ext cx="306070" cy="36957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3600" i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直接插入排序例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1938020" y="1174115"/>
          <a:ext cx="78930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473700" imgH="2806700" progId="Visio.Drawing.11">
                  <p:embed/>
                </p:oleObj>
              </mc:Choice>
              <mc:Fallback>
                <p:oleObj name="" r:id="rId1" imgW="5473700" imgH="28067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38020" y="1174115"/>
                        <a:ext cx="789305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988820" y="2020570"/>
            <a:ext cx="7924800" cy="3352800"/>
          </a:xfrm>
          <a:prstGeom prst="rect">
            <a:avLst/>
          </a:prstGeom>
          <a:solidFill>
            <a:schemeClr val="accent1"/>
          </a:solidFill>
          <a:ln w="31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6470650"/>
            <a:ext cx="12192000" cy="420370"/>
            <a:chOff x="0" y="10190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90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205" y="10327"/>
              <a:ext cx="428" cy="319"/>
              <a:chOff x="1180190" y="6561344"/>
              <a:chExt cx="271682" cy="202424"/>
            </a:xfrm>
          </p:grpSpPr>
          <p:sp>
            <p:nvSpPr>
              <p:cNvPr id="102" name="燕尾形 101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燕尾形 102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文本框 96"/>
            <p:cNvSpPr txBox="1"/>
            <p:nvPr/>
          </p:nvSpPr>
          <p:spPr>
            <a:xfrm>
              <a:off x="1634" y="10190"/>
              <a:ext cx="29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b="1" dirty="0" smtClean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77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528" y="10220"/>
              <a:ext cx="41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4843" y="1022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4394E-6 L 0 0.06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771 L 0 0.15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5542 L 0 0.2220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bldLvl="0" animBg="1"/>
      <p:bldP spid="6" grpId="2" bldLvl="0" animBg="1"/>
      <p:bldP spid="6" grpId="3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7.1.1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直接插入排序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208405" y="1565275"/>
            <a:ext cx="8185150" cy="47682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直接插入排序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用于存放待排序元素，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为待排序元素个数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InsertSort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j;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1;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&lt; n;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if (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&gt;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- 1])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continue;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];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保存待插入的元素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- 1];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 ( j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- 1; j &gt; 0 &amp;&amp; data[j - 1] &gt;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tmp;j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data[j] = data[j - 1];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元素后移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data[j]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插入到正确位置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042035"/>
            <a:ext cx="10585450" cy="523240"/>
          </a:xfrm>
        </p:spPr>
        <p:txBody>
          <a:bodyPr vert="horz" wrap="square" lIns="91440" tIns="45720" rIns="91440" bIns="45720" anchor="t" anchorCtr="0">
            <a:normAutofit/>
          </a:bodyPr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直接插入排序算法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6470650"/>
            <a:ext cx="12192000" cy="420370"/>
            <a:chOff x="0" y="10190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90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205" y="10327"/>
              <a:ext cx="428" cy="319"/>
              <a:chOff x="1180190" y="6561344"/>
              <a:chExt cx="271682" cy="202424"/>
            </a:xfrm>
          </p:grpSpPr>
          <p:sp>
            <p:nvSpPr>
              <p:cNvPr id="102" name="燕尾形 101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燕尾形 102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文本框 96"/>
            <p:cNvSpPr txBox="1"/>
            <p:nvPr/>
          </p:nvSpPr>
          <p:spPr>
            <a:xfrm>
              <a:off x="1634" y="10190"/>
              <a:ext cx="29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b="1" dirty="0" smtClean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77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528" y="10220"/>
              <a:ext cx="41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4843" y="1022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直接插入排序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314325" y="981075"/>
            <a:ext cx="10295890" cy="5089525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算法评价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时间复杂度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正序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3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元素移动次数：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元素比较次数：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n-1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逆序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元素移动次数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>
              <a:lnSpc>
                <a:spcPct val="130000"/>
              </a:lnSpc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3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元素比较次数：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平均情况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30000"/>
              </a:lnSpc>
              <a:buNone/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>
              <a:lnSpc>
                <a:spcPct val="130000"/>
              </a:lnSpc>
            </a:pPr>
            <a:endParaRPr lang="en-US" altLang="zh-CN" sz="2000" dirty="0"/>
          </a:p>
          <a:p>
            <a:pPr lvl="1">
              <a:lnSpc>
                <a:spcPct val="130000"/>
              </a:lnSpc>
              <a:buNone/>
            </a:pPr>
            <a:endParaRPr lang="zh-CN" altLang="en-US" dirty="0"/>
          </a:p>
        </p:txBody>
      </p:sp>
      <p:graphicFrame>
        <p:nvGraphicFramePr>
          <p:cNvPr id="15363" name="Object 5"/>
          <p:cNvGraphicFramePr>
            <a:graphicFrameLocks noChangeAspect="1"/>
          </p:cNvGraphicFramePr>
          <p:nvPr/>
        </p:nvGraphicFramePr>
        <p:xfrm>
          <a:off x="3470275" y="3656330"/>
          <a:ext cx="19812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333500" imgH="431800" progId="Equation.DSMT4">
                  <p:embed/>
                </p:oleObj>
              </mc:Choice>
              <mc:Fallback>
                <p:oleObj name="" r:id="rId1" imgW="1333500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0275" y="3656330"/>
                        <a:ext cx="1981200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6"/>
          <p:cNvGraphicFramePr>
            <a:graphicFrameLocks noChangeAspect="1"/>
          </p:cNvGraphicFramePr>
          <p:nvPr/>
        </p:nvGraphicFramePr>
        <p:xfrm>
          <a:off x="3390900" y="4457700"/>
          <a:ext cx="25146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651000" imgH="431800" progId="Equation.DSMT4">
                  <p:embed/>
                </p:oleObj>
              </mc:Choice>
              <mc:Fallback>
                <p:oleObj name="" r:id="rId3" imgW="1651000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0900" y="4457700"/>
                        <a:ext cx="251460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0" y="6470650"/>
            <a:ext cx="12192000" cy="420370"/>
            <a:chOff x="0" y="10190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90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205" y="10327"/>
              <a:ext cx="428" cy="319"/>
              <a:chOff x="1180190" y="6561344"/>
              <a:chExt cx="271682" cy="202424"/>
            </a:xfrm>
          </p:grpSpPr>
          <p:sp>
            <p:nvSpPr>
              <p:cNvPr id="102" name="燕尾形 101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燕尾形 102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文本框 96"/>
            <p:cNvSpPr txBox="1"/>
            <p:nvPr/>
          </p:nvSpPr>
          <p:spPr>
            <a:xfrm>
              <a:off x="1634" y="10190"/>
              <a:ext cx="29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</a:t>
              </a:r>
              <a:r>
                <a:rPr lang="zh-CN" altLang="en-US" b="1" dirty="0" smtClean="0">
                  <a:solidFill>
                    <a:srgbClr val="005A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b="1" dirty="0" smtClean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77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528" y="10220"/>
              <a:ext cx="41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4843" y="1022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折半插入排序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641350" y="1253490"/>
            <a:ext cx="10515600" cy="4351655"/>
          </a:xfrm>
        </p:spPr>
        <p:txBody>
          <a:bodyPr vert="horz" wrap="square" lIns="91440" tIns="45720" rIns="91440" bIns="45720" anchor="t" anchorCtr="0"/>
          <a:p>
            <a:pPr>
              <a:lnSpc>
                <a:spcPct val="2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A[0..i-1]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是一个按关键字有序的有序序列，则可以利用“折半查找”实现“在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A[0..i-1]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中查找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A[i]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的插入位置”，如此实现的插入排序为折半插入排序。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减少元素关键字间的比较次数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，但元素移动次数不变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2" name="燕尾形 101"/>
            <p:cNvSpPr/>
            <p:nvPr/>
          </p:nvSpPr>
          <p:spPr>
            <a:xfrm>
              <a:off x="5812" y="10327"/>
              <a:ext cx="253" cy="319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燕尾形 102"/>
            <p:cNvSpPr/>
            <p:nvPr/>
          </p:nvSpPr>
          <p:spPr>
            <a:xfrm>
              <a:off x="5637" y="10327"/>
              <a:ext cx="253" cy="319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246" y="10198"/>
              <a:ext cx="30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直接插入排序</a:t>
              </a:r>
              <a:endParaRPr lang="zh-CN" altLang="en-US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227" y="10198"/>
              <a:ext cx="30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折半插入排序</a:t>
              </a:r>
              <a:endParaRPr lang="zh-CN" altLang="en-US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1148" y="10190"/>
              <a:ext cx="33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5354" y="1019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 bwMode="auto">
          <a:xfrm>
            <a:off x="7960360" y="4420553"/>
            <a:ext cx="838200" cy="457200"/>
          </a:xfrm>
          <a:prstGeom prst="rect">
            <a:avLst/>
          </a:prstGeom>
          <a:solidFill>
            <a:schemeClr val="accent5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960360" y="1473200"/>
            <a:ext cx="838200" cy="457200"/>
          </a:xfrm>
          <a:prstGeom prst="rect">
            <a:avLst/>
          </a:prstGeom>
          <a:solidFill>
            <a:schemeClr val="accent5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960360" y="2449830"/>
            <a:ext cx="838200" cy="457200"/>
          </a:xfrm>
          <a:prstGeom prst="rect">
            <a:avLst/>
          </a:prstGeom>
          <a:solidFill>
            <a:schemeClr val="accent5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960360" y="3493770"/>
            <a:ext cx="838200" cy="457200"/>
          </a:xfrm>
          <a:prstGeom prst="rect">
            <a:avLst/>
          </a:prstGeom>
          <a:solidFill>
            <a:schemeClr val="accent5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472690" y="5626735"/>
            <a:ext cx="838200" cy="457200"/>
          </a:xfrm>
          <a:prstGeom prst="rect">
            <a:avLst/>
          </a:prstGeom>
          <a:solidFill>
            <a:schemeClr val="accent5"/>
          </a:solidFill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17415" name="Rectangle 2"/>
          <p:cNvSpPr/>
          <p:nvPr/>
        </p:nvSpPr>
        <p:spPr>
          <a:xfrm>
            <a:off x="5942965" y="-184785"/>
            <a:ext cx="306070" cy="369570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078" name="Text Box 6"/>
          <p:cNvSpPr txBox="1"/>
          <p:nvPr/>
        </p:nvSpPr>
        <p:spPr>
          <a:xfrm>
            <a:off x="1551305" y="6250305"/>
            <a:ext cx="8507095" cy="466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noAutofit/>
          </a:bodyPr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结束查找的条件是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low&gt;high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，并且在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low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指示的位置插入元素。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7417" name="Object 1"/>
          <p:cNvGraphicFramePr>
            <a:graphicFrameLocks noChangeAspect="1"/>
          </p:cNvGraphicFramePr>
          <p:nvPr/>
        </p:nvGraphicFramePr>
        <p:xfrm>
          <a:off x="1165860" y="858520"/>
          <a:ext cx="8822055" cy="532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366770" imgH="2033905" progId="Visio.Drawing.11">
                  <p:embed/>
                </p:oleObj>
              </mc:Choice>
              <mc:Fallback>
                <p:oleObj name="" r:id="rId1" imgW="3366770" imgH="203390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65860" y="858520"/>
                        <a:ext cx="8822055" cy="532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3600" b="1" i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折半插入排序例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折半插入排序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433" name="内容占位符 2"/>
          <p:cNvSpPr>
            <a:spLocks noGrp="1"/>
          </p:cNvSpPr>
          <p:nvPr>
            <p:ph idx="1"/>
          </p:nvPr>
        </p:nvSpPr>
        <p:spPr>
          <a:xfrm>
            <a:off x="904240" y="923925"/>
            <a:ext cx="8535670" cy="5178425"/>
          </a:xfrm>
        </p:spPr>
        <p:txBody>
          <a:bodyPr vert="horz" wrap="square" lIns="91440" tIns="45720" rIns="91440" bIns="45720" anchor="t" anchorCtr="0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折半插入排序算法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69110" y="1385570"/>
            <a:ext cx="8153400" cy="495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BInsertSort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n){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j, mid, low, high;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1;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&lt; n;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 low = 0, high = i-1;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while (low &lt;= high){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data[low..high]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中查找插入的位置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mid = (low + high) / 2;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折半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if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&lt; data[mid])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high = --mid;   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插入点在低半区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else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low = ++mid;     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插入点在高半区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 (j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- 1; j &gt;= low; j--)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data[j + 1] = data[j];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元素后移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data[low]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    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插入到正确位置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2" name="燕尾形 101"/>
            <p:cNvSpPr/>
            <p:nvPr/>
          </p:nvSpPr>
          <p:spPr>
            <a:xfrm>
              <a:off x="5812" y="10327"/>
              <a:ext cx="253" cy="319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燕尾形 102"/>
            <p:cNvSpPr/>
            <p:nvPr/>
          </p:nvSpPr>
          <p:spPr>
            <a:xfrm>
              <a:off x="5637" y="10327"/>
              <a:ext cx="253" cy="319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246" y="10198"/>
              <a:ext cx="30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直接插入排序</a:t>
              </a:r>
              <a:endParaRPr lang="zh-CN" altLang="en-US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227" y="10198"/>
              <a:ext cx="30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折半插入排序</a:t>
              </a:r>
              <a:endParaRPr lang="zh-CN" altLang="en-US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1148" y="10190"/>
              <a:ext cx="335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5354" y="1019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7.1.3 2-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93065" y="1253490"/>
            <a:ext cx="10977245" cy="4901565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>
              <a:lnSpc>
                <a:spcPct val="16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将插入区域分成大致等长的两段，选择性地插人到其中一段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排序过程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设置一个和原数组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同类型，同规模的数组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，并将其视为</a:t>
            </a: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循环数组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（即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位置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逻辑上相邻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d[0] = data[0]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d[0]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看作为排好序中处于中间位置的元素，从第二个元素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data[1]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开始做以下操作；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data[i]&gt;d[0]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data[i]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d[0]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之后的有序序列，并保持插入后有序；反之，将其插入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d[0]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之前的有序序列，并保持插入后有序。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2" name="矩形 1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0279" y="10315"/>
              <a:ext cx="428" cy="319"/>
              <a:chOff x="1180190" y="6561344"/>
              <a:chExt cx="271682" cy="202424"/>
            </a:xfrm>
          </p:grpSpPr>
          <p:sp>
            <p:nvSpPr>
              <p:cNvPr id="4" name="燕尾形 3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燕尾形 4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684" y="10190"/>
              <a:ext cx="30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直接插入排序</a:t>
              </a:r>
              <a:endParaRPr lang="zh-CN" altLang="en-US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69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857" y="10190"/>
              <a:ext cx="337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路插入排序</a:t>
              </a:r>
              <a:endPara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5126" y="1019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2-</a:t>
            </a:r>
            <a:r>
              <a:rPr lang="zh-CN" altLang="en-US" sz="36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路插入排序例</a:t>
            </a:r>
            <a:endParaRPr lang="zh-CN" altLang="en-US" sz="36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0483" name="Object 1"/>
          <p:cNvGraphicFramePr>
            <a:graphicFrameLocks noChangeAspect="1"/>
          </p:cNvGraphicFramePr>
          <p:nvPr/>
        </p:nvGraphicFramePr>
        <p:xfrm>
          <a:off x="3203575" y="943610"/>
          <a:ext cx="4275455" cy="5614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708400" imgH="4864100" progId="Visio.Drawing.11">
                  <p:embed/>
                </p:oleObj>
              </mc:Choice>
              <mc:Fallback>
                <p:oleObj name="" r:id="rId1" imgW="3708400" imgH="48641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3575" y="943610"/>
                        <a:ext cx="4275455" cy="56140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2" name="矩形 1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0279" y="10315"/>
              <a:ext cx="428" cy="319"/>
              <a:chOff x="1180190" y="6561344"/>
              <a:chExt cx="271682" cy="202424"/>
            </a:xfrm>
          </p:grpSpPr>
          <p:sp>
            <p:nvSpPr>
              <p:cNvPr id="4" name="燕尾形 3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燕尾形 4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684" y="10190"/>
              <a:ext cx="30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直接插入排序</a:t>
              </a:r>
              <a:endParaRPr lang="zh-CN" altLang="en-US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69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857" y="10190"/>
              <a:ext cx="337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路插入排序</a:t>
              </a:r>
              <a:endPara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5126" y="1019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7.1.3 2-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路插入排序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393065" y="1039495"/>
            <a:ext cx="12962890" cy="4806315"/>
          </a:xfrm>
        </p:spPr>
        <p:txBody>
          <a:bodyPr vert="horz" wrap="square" lIns="91440" tIns="45720" rIns="91440" bIns="45720" anchor="t" anchorCtr="0"/>
          <a:p>
            <a:pPr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算法评价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减少约为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/8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元素移动次数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基准元素选取的好坏直接影响排序的效率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2" name="矩形 1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0279" y="10315"/>
              <a:ext cx="428" cy="319"/>
              <a:chOff x="1180190" y="6561344"/>
              <a:chExt cx="271682" cy="202424"/>
            </a:xfrm>
          </p:grpSpPr>
          <p:sp>
            <p:nvSpPr>
              <p:cNvPr id="4" name="燕尾形 3"/>
              <p:cNvSpPr/>
              <p:nvPr/>
            </p:nvSpPr>
            <p:spPr>
              <a:xfrm>
                <a:off x="1291328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燕尾形 4"/>
              <p:cNvSpPr/>
              <p:nvPr/>
            </p:nvSpPr>
            <p:spPr>
              <a:xfrm>
                <a:off x="1180190" y="6561344"/>
                <a:ext cx="160544" cy="20242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684" y="10190"/>
              <a:ext cx="30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</a:t>
              </a:r>
              <a:r>
                <a:rPr lang="en-US" altLang="zh-CN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dirty="0" smtClean="0">
                  <a:solidFill>
                    <a:schemeClr val="accent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直接插入排序</a:t>
              </a:r>
              <a:endParaRPr lang="zh-CN" altLang="en-US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669" y="10220"/>
              <a:ext cx="32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折半插入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857" y="10190"/>
              <a:ext cx="337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III. 2-</a:t>
              </a:r>
              <a:r>
                <a: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路插入排序</a:t>
              </a:r>
              <a:endParaRPr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5126" y="10190"/>
              <a:ext cx="27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IV. 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希尔</a:t>
              </a:r>
              <a:r>
                <a:rPr lang="zh-CN" altLang="en-US" dirty="0" smtClean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endPara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7.1.4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314325" y="1078230"/>
            <a:ext cx="11085830" cy="4927600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希尔排序又称缩小增量排序。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将记录序列分成若干子序列，分别对每个子序列进行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直接插入排序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例如：将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个记录分成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个子序列：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R[1]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R[1+d]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R[1+2d]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R[1+kd] }</a:t>
            </a:r>
            <a:endParaRPr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		{ R[2]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R[2+d]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R[2+2d]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R[2+kd] }</a:t>
            </a:r>
            <a:endParaRPr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		…</a:t>
            </a:r>
            <a:endParaRPr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		{ R[d]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R[2d]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R[3d]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R[kd]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R[(k+1)d] }</a:t>
            </a:r>
            <a:endParaRPr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称为增量，它的值在排序过程中从大到小逐渐缩小，直至最后一趟排序减为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，然后对所有元素进行一次直接插入排序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205" y="10190"/>
              <a:ext cx="17234" cy="610"/>
              <a:chOff x="1205" y="10190"/>
              <a:chExt cx="17234" cy="610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15095" y="10326"/>
                <a:ext cx="428" cy="319"/>
                <a:chOff x="1180190" y="6561344"/>
                <a:chExt cx="271682" cy="202424"/>
              </a:xfrm>
            </p:grpSpPr>
            <p:sp>
              <p:nvSpPr>
                <p:cNvPr id="102" name="燕尾形 101"/>
                <p:cNvSpPr/>
                <p:nvPr/>
              </p:nvSpPr>
              <p:spPr>
                <a:xfrm>
                  <a:off x="1291328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燕尾形 102"/>
                <p:cNvSpPr/>
                <p:nvPr/>
              </p:nvSpPr>
              <p:spPr>
                <a:xfrm>
                  <a:off x="1180190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1205" y="10190"/>
                <a:ext cx="304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</a:t>
                </a:r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4991" y="10220"/>
                <a:ext cx="32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折半插入排序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9641" y="10190"/>
                <a:ext cx="333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III. 2-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5659" y="10190"/>
                <a:ext cx="278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IV. </a:t>
                </a:r>
                <a:r>
                  <a:rPr lang="zh-CN" altLang="en-US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希尔排序</a:t>
                </a:r>
                <a:endPara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879" name="Group 111"/>
          <p:cNvGraphicFramePr>
            <a:graphicFrameLocks noGrp="1"/>
          </p:cNvGraphicFramePr>
          <p:nvPr>
            <p:ph idx="1"/>
          </p:nvPr>
        </p:nvGraphicFramePr>
        <p:xfrm>
          <a:off x="1981200" y="1524000"/>
          <a:ext cx="8229600" cy="396875"/>
        </p:xfrm>
        <a:graphic>
          <a:graphicData uri="http://schemas.openxmlformats.org/drawingml/2006/table">
            <a:tbl>
              <a:tblPr/>
              <a:tblGrid>
                <a:gridCol w="748030"/>
                <a:gridCol w="749300"/>
                <a:gridCol w="747395"/>
                <a:gridCol w="748030"/>
                <a:gridCol w="747395"/>
                <a:gridCol w="749300"/>
                <a:gridCol w="748030"/>
                <a:gridCol w="747395"/>
                <a:gridCol w="748030"/>
                <a:gridCol w="749300"/>
                <a:gridCol w="747395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34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28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81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79 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22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16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55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24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99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64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46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580" name="TextBox 4"/>
          <p:cNvSpPr txBox="1"/>
          <p:nvPr/>
        </p:nvSpPr>
        <p:spPr>
          <a:xfrm>
            <a:off x="2057400" y="22098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设增量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d=5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880" name="Group 112"/>
          <p:cNvGraphicFramePr>
            <a:graphicFrameLocks noGrp="1"/>
          </p:cNvGraphicFramePr>
          <p:nvPr/>
        </p:nvGraphicFramePr>
        <p:xfrm>
          <a:off x="2057400" y="2819400"/>
          <a:ext cx="8229600" cy="396875"/>
        </p:xfrm>
        <a:graphic>
          <a:graphicData uri="http://schemas.openxmlformats.org/drawingml/2006/table">
            <a:tbl>
              <a:tblPr/>
              <a:tblGrid>
                <a:gridCol w="748030"/>
                <a:gridCol w="749300"/>
                <a:gridCol w="747395"/>
                <a:gridCol w="748030"/>
                <a:gridCol w="747395"/>
                <a:gridCol w="749300"/>
                <a:gridCol w="748030"/>
                <a:gridCol w="747395"/>
                <a:gridCol w="748030"/>
                <a:gridCol w="749300"/>
                <a:gridCol w="747395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16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28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24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79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22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34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55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81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99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D60093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64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46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607" name="TextBox 6"/>
          <p:cNvSpPr txBox="1"/>
          <p:nvPr/>
        </p:nvSpPr>
        <p:spPr>
          <a:xfrm>
            <a:off x="1981200" y="35814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设增量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d=3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883" name="Group 115"/>
          <p:cNvGraphicFramePr>
            <a:graphicFrameLocks noGrp="1"/>
          </p:cNvGraphicFramePr>
          <p:nvPr/>
        </p:nvGraphicFramePr>
        <p:xfrm>
          <a:off x="2057400" y="4267200"/>
          <a:ext cx="8229600" cy="396875"/>
        </p:xfrm>
        <a:graphic>
          <a:graphicData uri="http://schemas.openxmlformats.org/drawingml/2006/table">
            <a:tbl>
              <a:tblPr/>
              <a:tblGrid>
                <a:gridCol w="748030"/>
                <a:gridCol w="749300"/>
                <a:gridCol w="747395"/>
                <a:gridCol w="748030"/>
                <a:gridCol w="747395"/>
                <a:gridCol w="749300"/>
                <a:gridCol w="748030"/>
                <a:gridCol w="747395"/>
                <a:gridCol w="748030"/>
                <a:gridCol w="749300"/>
                <a:gridCol w="747395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16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22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24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55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28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34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64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46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99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79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81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634" name="TextBox 8"/>
          <p:cNvSpPr txBox="1"/>
          <p:nvPr/>
        </p:nvSpPr>
        <p:spPr>
          <a:xfrm>
            <a:off x="2057400" y="5105400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设增量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d=1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内容占位符 3"/>
          <p:cNvGraphicFramePr/>
          <p:nvPr/>
        </p:nvGraphicFramePr>
        <p:xfrm>
          <a:off x="2057400" y="5791200"/>
          <a:ext cx="8229600" cy="396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8030"/>
                <a:gridCol w="748030"/>
                <a:gridCol w="748665"/>
                <a:gridCol w="748030"/>
                <a:gridCol w="748030"/>
                <a:gridCol w="748030"/>
                <a:gridCol w="748030"/>
                <a:gridCol w="748030"/>
                <a:gridCol w="748665"/>
                <a:gridCol w="748030"/>
                <a:gridCol w="748030"/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16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22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24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28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34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46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55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64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79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81</a:t>
                      </a:r>
                      <a:endParaRPr lang="zh-CN" altLang="en-US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99</a:t>
                      </a:r>
                      <a:endParaRPr lang="zh-CN" altLang="en-US" sz="2000" dirty="0"/>
                    </a:p>
                  </a:txBody>
                  <a:tcPr marT="45793" marB="45793"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071688" y="1419225"/>
            <a:ext cx="533400" cy="579438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24538" y="1444625"/>
            <a:ext cx="533400" cy="579438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86913" y="1447800"/>
            <a:ext cx="533400" cy="581025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19400" y="1425575"/>
            <a:ext cx="533400" cy="5810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86538" y="1414463"/>
            <a:ext cx="533400" cy="5810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63938" y="1414463"/>
            <a:ext cx="533400" cy="581025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315200" y="1430338"/>
            <a:ext cx="533400" cy="579437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40225" y="1400175"/>
            <a:ext cx="533400" cy="581025"/>
          </a:xfrm>
          <a:prstGeom prst="rect">
            <a:avLst/>
          </a:prstGeom>
          <a:noFill/>
          <a:ln w="38100" cap="flat" cmpd="sng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80375" y="1430338"/>
            <a:ext cx="533400" cy="579437"/>
          </a:xfrm>
          <a:prstGeom prst="rect">
            <a:avLst/>
          </a:prstGeom>
          <a:noFill/>
          <a:ln w="38100" cap="flat" cmpd="sng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065" y="233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3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希尔排序例 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205" y="10190"/>
              <a:ext cx="17234" cy="610"/>
              <a:chOff x="1205" y="10190"/>
              <a:chExt cx="17234" cy="610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15095" y="10326"/>
                <a:ext cx="428" cy="319"/>
                <a:chOff x="1180190" y="6561344"/>
                <a:chExt cx="271682" cy="202424"/>
              </a:xfrm>
            </p:grpSpPr>
            <p:sp>
              <p:nvSpPr>
                <p:cNvPr id="102" name="燕尾形 101"/>
                <p:cNvSpPr/>
                <p:nvPr/>
              </p:nvSpPr>
              <p:spPr>
                <a:xfrm>
                  <a:off x="1291328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燕尾形 102"/>
                <p:cNvSpPr/>
                <p:nvPr/>
              </p:nvSpPr>
              <p:spPr>
                <a:xfrm>
                  <a:off x="1180190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1205" y="10190"/>
                <a:ext cx="304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</a:t>
                </a:r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4991" y="10220"/>
                <a:ext cx="32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折半插入排序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9641" y="10190"/>
                <a:ext cx="333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III. 2-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5659" y="10190"/>
                <a:ext cx="278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IV. </a:t>
                </a:r>
                <a:r>
                  <a:rPr lang="zh-CN" altLang="en-US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希尔排序</a:t>
                </a:r>
                <a:endPara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7.1.4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743585" y="964565"/>
            <a:ext cx="10895330" cy="4588510"/>
          </a:xfrm>
        </p:spPr>
        <p:txBody>
          <a:bodyPr vert="horz" wrap="square" lIns="91440" tIns="45720" rIns="91440" bIns="45720" anchor="t" anchorCtr="0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希尔排序算法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1408430"/>
            <a:ext cx="8534400" cy="4895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ShellSort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increments[]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				 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incrementsLength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j, k;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 k = 0; k &lt;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incrementsLength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 k++){  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				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进行以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increments[k]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为增量的排序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for (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increments[k];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n;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for ( j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 j &gt;= increments[k]; j -= increments[k]){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if (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&gt;= data[j - increments[k]])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    break;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data[j] = data[j - increments[k]];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data[j]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205" y="10190"/>
              <a:ext cx="17234" cy="610"/>
              <a:chOff x="1205" y="10190"/>
              <a:chExt cx="17234" cy="610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15095" y="10326"/>
                <a:ext cx="428" cy="319"/>
                <a:chOff x="1180190" y="6561344"/>
                <a:chExt cx="271682" cy="202424"/>
              </a:xfrm>
            </p:grpSpPr>
            <p:sp>
              <p:nvSpPr>
                <p:cNvPr id="102" name="燕尾形 101"/>
                <p:cNvSpPr/>
                <p:nvPr/>
              </p:nvSpPr>
              <p:spPr>
                <a:xfrm>
                  <a:off x="1291328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燕尾形 102"/>
                <p:cNvSpPr/>
                <p:nvPr/>
              </p:nvSpPr>
              <p:spPr>
                <a:xfrm>
                  <a:off x="1180190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1205" y="10190"/>
                <a:ext cx="304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</a:t>
                </a:r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4991" y="10220"/>
                <a:ext cx="32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折半插入排序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9641" y="10190"/>
                <a:ext cx="333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III. 2-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5659" y="10190"/>
                <a:ext cx="278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IV. </a:t>
                </a:r>
                <a:r>
                  <a:rPr lang="zh-CN" altLang="en-US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希尔排序</a:t>
                </a:r>
                <a:endPara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7.1.4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065" y="1035050"/>
            <a:ext cx="11149330" cy="5093970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特点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2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子序列的构成不是简单的“逐段分割”，而是将相隔某个增量的元素组成一个子序列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2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希尔排序可提高排序速度，因为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2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分组后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值减小，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n²</a:t>
            </a:r>
            <a:r>
              <a:rPr kumimoji="0" lang="zh-CN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更小，而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T(n)=O(n²),</a:t>
            </a:r>
            <a:r>
              <a:rPr kumimoji="0" lang="zh-CN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T(n)</a:t>
            </a:r>
            <a:r>
              <a:rPr kumimoji="0" lang="zh-CN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从总体上看是减小了</a:t>
            </a:r>
            <a:endParaRPr kumimoji="0" lang="zh-CN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2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关键字较小的记录跳跃式前移，在进行最后一趟增量为1的插入排序时，序列已基本有序</a:t>
            </a:r>
            <a:endParaRPr kumimoji="0" lang="zh-CN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205" y="10190"/>
              <a:ext cx="17234" cy="610"/>
              <a:chOff x="1205" y="10190"/>
              <a:chExt cx="17234" cy="610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15095" y="10326"/>
                <a:ext cx="428" cy="319"/>
                <a:chOff x="1180190" y="6561344"/>
                <a:chExt cx="271682" cy="202424"/>
              </a:xfrm>
            </p:grpSpPr>
            <p:sp>
              <p:nvSpPr>
                <p:cNvPr id="102" name="燕尾形 101"/>
                <p:cNvSpPr/>
                <p:nvPr/>
              </p:nvSpPr>
              <p:spPr>
                <a:xfrm>
                  <a:off x="1291328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燕尾形 102"/>
                <p:cNvSpPr/>
                <p:nvPr/>
              </p:nvSpPr>
              <p:spPr>
                <a:xfrm>
                  <a:off x="1180190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1205" y="10190"/>
                <a:ext cx="304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</a:t>
                </a:r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4991" y="10220"/>
                <a:ext cx="32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折半插入排序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9641" y="10190"/>
                <a:ext cx="333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III. 2-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5659" y="10190"/>
                <a:ext cx="278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IV. </a:t>
                </a:r>
                <a:r>
                  <a:rPr lang="zh-CN" altLang="en-US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希尔排序</a:t>
                </a:r>
                <a:endPara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3065" y="106045"/>
            <a:ext cx="6685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7.1.4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458470" y="1187450"/>
            <a:ext cx="12613005" cy="499618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算法评价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算法效率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依赖于增量序列的选择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时间复杂度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None/>
            </a:pPr>
            <a:r>
              <a:rPr lang="zh-CN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3/2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7/6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</a:t>
            </a:r>
            <a:endParaRPr lang="en-US" altLang="zh-CN" sz="1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增量序列的取法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最后一个增量必须为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其他增量间保持 “互质”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6437630"/>
            <a:ext cx="12192000" cy="420370"/>
            <a:chOff x="0" y="10138"/>
            <a:chExt cx="19200" cy="662"/>
          </a:xfrm>
        </p:grpSpPr>
        <p:sp>
          <p:nvSpPr>
            <p:cNvPr id="75" name="矩形 74"/>
            <p:cNvSpPr/>
            <p:nvPr/>
          </p:nvSpPr>
          <p:spPr>
            <a:xfrm>
              <a:off x="0" y="10138"/>
              <a:ext cx="19200" cy="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205" y="10190"/>
              <a:ext cx="17234" cy="610"/>
              <a:chOff x="1205" y="10190"/>
              <a:chExt cx="17234" cy="610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15095" y="10326"/>
                <a:ext cx="428" cy="319"/>
                <a:chOff x="1180190" y="6561344"/>
                <a:chExt cx="271682" cy="202424"/>
              </a:xfrm>
            </p:grpSpPr>
            <p:sp>
              <p:nvSpPr>
                <p:cNvPr id="102" name="燕尾形 101"/>
                <p:cNvSpPr/>
                <p:nvPr/>
              </p:nvSpPr>
              <p:spPr>
                <a:xfrm>
                  <a:off x="1291328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燕尾形 102"/>
                <p:cNvSpPr/>
                <p:nvPr/>
              </p:nvSpPr>
              <p:spPr>
                <a:xfrm>
                  <a:off x="1180190" y="6561344"/>
                  <a:ext cx="160544" cy="202424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1205" y="10190"/>
                <a:ext cx="304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</a:t>
                </a:r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4991" y="10220"/>
                <a:ext cx="321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II. 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折半插入排序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9641" y="10190"/>
                <a:ext cx="333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III. 2-</a:t>
                </a:r>
                <a:r>
                  <a:rPr lang="zh-CN" altLang="en-US" dirty="0" smtClean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路插入排序</a:t>
                </a:r>
                <a:endParaRPr lang="zh-CN" altLang="en-US" dirty="0" smtClean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5659" y="10190"/>
                <a:ext cx="278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IV. </a:t>
                </a:r>
                <a:r>
                  <a:rPr lang="zh-CN" altLang="en-US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希尔排序</a:t>
                </a:r>
                <a:endParaRPr lang="zh-CN" altLang="en-US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分划类排序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122" name="内容占位符 2"/>
          <p:cNvSpPr>
            <a:spLocks noGrp="1"/>
          </p:cNvSpPr>
          <p:nvPr/>
        </p:nvSpPr>
        <p:spPr>
          <a:xfrm>
            <a:off x="217805" y="1094105"/>
            <a:ext cx="11720195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>
              <a:lnSpc>
                <a:spcPct val="125000"/>
              </a:lnSpc>
              <a:spcBef>
                <a:spcPts val="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分划类排序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25000"/>
              </a:lnSpc>
              <a:spcBef>
                <a:spcPts val="0"/>
              </a:spcBef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通过一趟划分确定一个元素在序列中的位置，保证在它之前的一组元素不比它大，之后的不比它小，接着对两组元素继续分划，直至待排序列有序。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25000"/>
              </a:lnSpc>
              <a:spcBef>
                <a:spcPts val="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25000"/>
              </a:lnSpc>
              <a:spcBef>
                <a:spcPts val="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应用插入类排序思想的算法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冒泡排序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冒泡排序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393065" y="1133475"/>
            <a:ext cx="11336020" cy="4351655"/>
          </a:xfrm>
        </p:spPr>
        <p:txBody>
          <a:bodyPr vert="horz" wrap="square" lIns="91440" tIns="45720" rIns="91440" bIns="45720" anchor="t"/>
          <a:p>
            <a:pPr fontAlgn="auto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排序过程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第一个和第二个元素的关键字进行比较，若为逆序，则将两元素互换；接着比较第二个和第三个元素的关键字，依次类推，直至最后两个元素的完成比较，这称为第一趟冒泡排序。第一趟排序分划出一组元素个数为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n-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的待排序列和一个关键字最大的元素。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趟对前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- i + 1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个的元素进行类似的排序操作，得到一组元素个数为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- i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的待排序列和一个关键字次大的元素。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这样不断分划直至一趟分划时无元素互换为止。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冒泡排序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393065" y="1019810"/>
            <a:ext cx="10515600" cy="4351655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假设在排序过程中，元素序列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A[1..n]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的状态为：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ctangle 6"/>
          <p:cNvSpPr/>
          <p:nvPr/>
        </p:nvSpPr>
        <p:spPr>
          <a:xfrm>
            <a:off x="1730375" y="2247265"/>
            <a:ext cx="4191000" cy="5334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无序序列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A[1..n-i+1]</a:t>
            </a:r>
            <a:endParaRPr lang="en-US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5921375" y="2247265"/>
            <a:ext cx="3657600" cy="5334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en-US" altLang="zh-CN" sz="30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有序序列 </a:t>
            </a:r>
            <a:r>
              <a:rPr lang="en-US" altLang="zh-CN" sz="2400" dirty="0">
                <a:latin typeface="Consolas" panose="020B0609020204030204" pitchFamily="49" charset="0"/>
              </a:rPr>
              <a:t>A[n-i+2..n]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/>
            <a:endParaRPr lang="en-US" altLang="zh-CN" sz="3000" dirty="0">
              <a:latin typeface="Consolas" panose="020B0609020204030204" pitchFamily="49" charset="0"/>
            </a:endParaRPr>
          </a:p>
        </p:txBody>
      </p:sp>
      <p:sp>
        <p:nvSpPr>
          <p:cNvPr id="6" name="Line 14"/>
          <p:cNvSpPr/>
          <p:nvPr/>
        </p:nvSpPr>
        <p:spPr>
          <a:xfrm>
            <a:off x="5768975" y="1713865"/>
            <a:ext cx="0" cy="533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7" name="Text Box 15"/>
          <p:cNvSpPr txBox="1"/>
          <p:nvPr/>
        </p:nvSpPr>
        <p:spPr>
          <a:xfrm>
            <a:off x="5845175" y="1485265"/>
            <a:ext cx="1035050" cy="4622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n-i+1</a:t>
            </a:r>
            <a:endParaRPr lang="en-US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16"/>
          <p:cNvSpPr/>
          <p:nvPr/>
        </p:nvSpPr>
        <p:spPr>
          <a:xfrm>
            <a:off x="1730375" y="5219065"/>
            <a:ext cx="3810000" cy="5334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无序序列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A[1..n-i]</a:t>
            </a:r>
            <a:endParaRPr lang="en-US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17"/>
          <p:cNvSpPr/>
          <p:nvPr/>
        </p:nvSpPr>
        <p:spPr>
          <a:xfrm>
            <a:off x="5540375" y="5219065"/>
            <a:ext cx="4038600" cy="5334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en-US" altLang="zh-CN" sz="30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有序序列 </a:t>
            </a:r>
            <a:r>
              <a:rPr lang="en-US" altLang="zh-CN" sz="2400" dirty="0">
                <a:latin typeface="Consolas" panose="020B0609020204030204" pitchFamily="49" charset="0"/>
              </a:rPr>
              <a:t>A[n-i+1..n]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/>
            <a:endParaRPr lang="en-US" altLang="zh-CN" sz="3000" dirty="0">
              <a:latin typeface="Consolas" panose="020B0609020204030204" pitchFamily="49" charset="0"/>
            </a:endParaRPr>
          </a:p>
        </p:txBody>
      </p:sp>
      <p:sp>
        <p:nvSpPr>
          <p:cNvPr id="10" name="AutoShape 20"/>
          <p:cNvSpPr/>
          <p:nvPr/>
        </p:nvSpPr>
        <p:spPr>
          <a:xfrm>
            <a:off x="6073775" y="3161665"/>
            <a:ext cx="914400" cy="1828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CC99"/>
          </a:soli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AutoShape 22"/>
          <p:cNvSpPr/>
          <p:nvPr/>
        </p:nvSpPr>
        <p:spPr>
          <a:xfrm>
            <a:off x="37115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2" name="AutoShape 23"/>
          <p:cNvSpPr/>
          <p:nvPr/>
        </p:nvSpPr>
        <p:spPr>
          <a:xfrm>
            <a:off x="53117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3" name="AutoShape 24"/>
          <p:cNvSpPr/>
          <p:nvPr/>
        </p:nvSpPr>
        <p:spPr>
          <a:xfrm>
            <a:off x="47783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" name="AutoShape 25"/>
          <p:cNvSpPr/>
          <p:nvPr/>
        </p:nvSpPr>
        <p:spPr>
          <a:xfrm>
            <a:off x="42449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" name="AutoShape 26"/>
          <p:cNvSpPr/>
          <p:nvPr/>
        </p:nvSpPr>
        <p:spPr>
          <a:xfrm>
            <a:off x="32543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6" name="AutoShape 27"/>
          <p:cNvSpPr/>
          <p:nvPr/>
        </p:nvSpPr>
        <p:spPr>
          <a:xfrm>
            <a:off x="27971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7" name="AutoShape 28"/>
          <p:cNvSpPr/>
          <p:nvPr/>
        </p:nvSpPr>
        <p:spPr>
          <a:xfrm>
            <a:off x="23399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" name="AutoShape 29"/>
          <p:cNvSpPr/>
          <p:nvPr/>
        </p:nvSpPr>
        <p:spPr>
          <a:xfrm>
            <a:off x="1806575" y="2780665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Line 30"/>
          <p:cNvSpPr/>
          <p:nvPr/>
        </p:nvSpPr>
        <p:spPr>
          <a:xfrm>
            <a:off x="5921375" y="2780665"/>
            <a:ext cx="0" cy="2971800"/>
          </a:xfrm>
          <a:prstGeom prst="line">
            <a:avLst/>
          </a:prstGeom>
          <a:ln w="9525" cap="rnd" cmpd="sng">
            <a:solidFill>
              <a:srgbClr val="FF6600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20" name="Line 31"/>
          <p:cNvSpPr/>
          <p:nvPr/>
        </p:nvSpPr>
        <p:spPr>
          <a:xfrm>
            <a:off x="5540375" y="2247265"/>
            <a:ext cx="0" cy="2971800"/>
          </a:xfrm>
          <a:prstGeom prst="line">
            <a:avLst/>
          </a:prstGeom>
          <a:ln w="9525" cap="rnd" cmpd="sng">
            <a:solidFill>
              <a:srgbClr val="FF6600"/>
            </a:solidFill>
            <a:prstDash val="sysDot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冒泡排序例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9219" name="Object 1"/>
          <p:cNvGraphicFramePr>
            <a:graphicFrameLocks noChangeAspect="1"/>
          </p:cNvGraphicFramePr>
          <p:nvPr/>
        </p:nvGraphicFramePr>
        <p:xfrm>
          <a:off x="3399155" y="1873250"/>
          <a:ext cx="5394325" cy="343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87700" imgH="2032000" progId="Visio.Drawing.11">
                  <p:embed/>
                </p:oleObj>
              </mc:Choice>
              <mc:Fallback>
                <p:oleObj name="" r:id="rId1" imgW="3187700" imgH="20320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99155" y="1873250"/>
                        <a:ext cx="5394325" cy="34315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冒泡排序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393065" y="1252855"/>
            <a:ext cx="10515600" cy="4351655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冒泡排序算法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3375" y="1892935"/>
            <a:ext cx="8305800" cy="419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BubbleSort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lastSwapIndex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n - 1;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用于记录最后一次交换的元素下标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j;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lastSwapIndex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&gt; 0;i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lastSwapIndex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lastSwapIndex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0;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for (j = 0; j &lt;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 j++)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if (data[j] &gt; data[j + 1]){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Swap( data[j],data[j + 1]);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lastSwapIndex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j;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冒泡排序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393065" y="1188085"/>
            <a:ext cx="10515600" cy="4351655"/>
          </a:xfrm>
        </p:spPr>
        <p:txBody>
          <a:bodyPr vert="horz" wrap="square" lIns="91440" tIns="45720" rIns="91440" bIns="45720" anchor="t"/>
          <a:p>
            <a:pPr fontAlgn="auto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算法评价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最好情况（正序）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移动次数：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比较次数：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n-1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最坏情况（逆序）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移动次数：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-1)/2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比较次数：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1)/2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快速排序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393065" y="1253490"/>
            <a:ext cx="10515600" cy="4351655"/>
          </a:xfrm>
        </p:spPr>
        <p:txBody>
          <a:bodyPr vert="horz" wrap="square" lIns="91440" tIns="45720" rIns="91440" bIns="45720" anchor="t"/>
          <a:p>
            <a:pPr fontAlgn="auto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一趟快速排序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选第一个待排序元素作为枢轴（或支点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pivot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），根据枢轴将待排序列划分为两个子列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这两个子列必须满足以下条件：一个子列的元素关键字都不大于枢轴的关键字，另一个子列的元素关键字都不小于枢轴的关键字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快速排序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393065" y="1165225"/>
            <a:ext cx="11425555" cy="4351655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首先对无序的记录序列进行“一次划分”，之后分别对分割所得两个子序列“递归”进行快速排序。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 Box 9"/>
          <p:cNvSpPr txBox="1"/>
          <p:nvPr/>
        </p:nvSpPr>
        <p:spPr>
          <a:xfrm>
            <a:off x="2526665" y="2673985"/>
            <a:ext cx="6248400" cy="528955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rgbClr val="00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Consolas" panose="020B0609020204030204" pitchFamily="49" charset="0"/>
              </a:rPr>
              <a:t>无 序 的 元 素 序 列</a:t>
            </a:r>
            <a:endParaRPr lang="zh-CN" altLang="en-US" sz="2800" dirty="0">
              <a:solidFill>
                <a:srgbClr val="00336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 Box 10"/>
          <p:cNvSpPr txBox="1"/>
          <p:nvPr/>
        </p:nvSpPr>
        <p:spPr>
          <a:xfrm>
            <a:off x="2526665" y="4060190"/>
            <a:ext cx="3178175" cy="531495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Consolas" panose="020B0609020204030204" pitchFamily="49" charset="0"/>
              </a:rPr>
              <a:t>无序记录子序列</a:t>
            </a:r>
            <a:r>
              <a:rPr lang="en-US" altLang="zh-CN" sz="2800" dirty="0">
                <a:solidFill>
                  <a:srgbClr val="003366"/>
                </a:solidFill>
                <a:latin typeface="Consolas" panose="020B0609020204030204" pitchFamily="49" charset="0"/>
              </a:rPr>
              <a:t>(1)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6" name="Text Box 11"/>
          <p:cNvSpPr txBox="1"/>
          <p:nvPr/>
        </p:nvSpPr>
        <p:spPr>
          <a:xfrm>
            <a:off x="6336665" y="4047490"/>
            <a:ext cx="2438400" cy="531495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Consolas" panose="020B0609020204030204" pitchFamily="49" charset="0"/>
              </a:rPr>
              <a:t>无序子序列</a:t>
            </a:r>
            <a:r>
              <a:rPr lang="en-US" altLang="zh-CN" sz="2800" dirty="0">
                <a:solidFill>
                  <a:srgbClr val="003366"/>
                </a:solidFill>
                <a:latin typeface="Consolas" panose="020B0609020204030204" pitchFamily="49" charset="0"/>
              </a:rPr>
              <a:t>(2)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7" name="Oval 14"/>
          <p:cNvSpPr/>
          <p:nvPr/>
        </p:nvSpPr>
        <p:spPr>
          <a:xfrm>
            <a:off x="5727065" y="4045585"/>
            <a:ext cx="609600" cy="533400"/>
          </a:xfrm>
          <a:prstGeom prst="ellipse">
            <a:avLst/>
          </a:prstGeom>
          <a:solidFill>
            <a:srgbClr val="FFCC99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dirty="0">
                <a:solidFill>
                  <a:srgbClr val="990000"/>
                </a:solidFill>
                <a:latin typeface="Consolas" panose="020B0609020204030204" pitchFamily="49" charset="0"/>
              </a:rPr>
              <a:t>枢轴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AutoShape 16"/>
          <p:cNvSpPr/>
          <p:nvPr/>
        </p:nvSpPr>
        <p:spPr>
          <a:xfrm>
            <a:off x="4888865" y="3283585"/>
            <a:ext cx="304800" cy="685800"/>
          </a:xfrm>
          <a:prstGeom prst="downArrow">
            <a:avLst>
              <a:gd name="adj1" fmla="val 50000"/>
              <a:gd name="adj2" fmla="val 56250"/>
            </a:avLst>
          </a:prstGeom>
          <a:solidFill>
            <a:schemeClr val="hlink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Text Box 17"/>
          <p:cNvSpPr txBox="1"/>
          <p:nvPr/>
        </p:nvSpPr>
        <p:spPr>
          <a:xfrm>
            <a:off x="5330190" y="3275965"/>
            <a:ext cx="180975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3200" dirty="0">
                <a:solidFill>
                  <a:srgbClr val="990000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一次划分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10" name="Line 19"/>
          <p:cNvSpPr/>
          <p:nvPr/>
        </p:nvSpPr>
        <p:spPr>
          <a:xfrm flipH="1" flipV="1">
            <a:off x="4507865" y="4655185"/>
            <a:ext cx="609600" cy="609600"/>
          </a:xfrm>
          <a:prstGeom prst="line">
            <a:avLst/>
          </a:prstGeom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11" name="Line 20"/>
          <p:cNvSpPr/>
          <p:nvPr/>
        </p:nvSpPr>
        <p:spPr>
          <a:xfrm flipV="1">
            <a:off x="6108065" y="4655185"/>
            <a:ext cx="609600" cy="609600"/>
          </a:xfrm>
          <a:prstGeom prst="line">
            <a:avLst/>
          </a:prstGeom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12" name="Text Box 21"/>
          <p:cNvSpPr txBox="1"/>
          <p:nvPr/>
        </p:nvSpPr>
        <p:spPr>
          <a:xfrm>
            <a:off x="3745865" y="5156835"/>
            <a:ext cx="38417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3600" dirty="0">
                <a:solidFill>
                  <a:srgbClr val="FF0000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分别进行快速排序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快速排序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263525" y="1059180"/>
            <a:ext cx="10515600" cy="4351655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排序过程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marR="0" lvl="1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对待排序列</a:t>
            </a:r>
            <a:r>
              <a:rPr kumimoji="0" lang="en-US" altLang="zh-CN" sz="20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进行快速排序的递归算法QuickSort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可以描述如下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kumimoji="0" lang="zh-CN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中元素的个数为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，则返回；否则，继续</a:t>
            </a:r>
            <a:endParaRPr kumimoji="0" lang="zh-CN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中的一个元素 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作为枢轴（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pivot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0" lang="zh-CN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中剩下的元素“划分”成两个不相交的集合：</a:t>
            </a:r>
            <a:endParaRPr kumimoji="0" lang="zh-CN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                                                                                          </a:t>
            </a:r>
            <a:endParaRPr kumimoji="0" lang="zh-CN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7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QuickSort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 p,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QuickSort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en-US" altLang="zh-CN" sz="20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2618740" y="4048760"/>
          <a:ext cx="716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025900" imgH="228600" progId="Equation.DSMT4">
                  <p:embed/>
                </p:oleObj>
              </mc:Choice>
              <mc:Fallback>
                <p:oleObj name="" r:id="rId1" imgW="40259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18740" y="4048760"/>
                        <a:ext cx="7162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一趟快速排序例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5363" name="Object 1"/>
          <p:cNvGraphicFramePr>
            <a:graphicFrameLocks noChangeAspect="1"/>
          </p:cNvGraphicFramePr>
          <p:nvPr/>
        </p:nvGraphicFramePr>
        <p:xfrm>
          <a:off x="1828800" y="1157605"/>
          <a:ext cx="8534400" cy="523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6248400" imgH="3835400" progId="Visio.Drawing.11">
                  <p:embed/>
                </p:oleObj>
              </mc:Choice>
              <mc:Fallback>
                <p:oleObj name="" r:id="rId1" imgW="6248400" imgH="3835400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0" y="1157605"/>
                        <a:ext cx="8534400" cy="523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快速排序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981200" y="1565910"/>
            <a:ext cx="8229600" cy="502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data[low...high]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进行分划，确定枢轴的位置，并返回其所在位置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子序列中，在枢轴之前（后）的元素均不大（小）于它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Partition(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 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low 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high)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pivot = data[low]; 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用子序列的头元素作为枢轴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while (low &lt; high){                         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while (low &lt; high &amp;&amp; data[high] &gt;= pivot)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high--;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data[low] = data[high];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比枢轴小的元素移到低端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while (low &lt; high &amp;&amp; pivot &gt;= data[low])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low++;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data[high] = data[low];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比枢轴大的元素移到高端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data[low] = pivot;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确定枢轴的合适位置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return low;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返回枢轴的位置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393065" y="951230"/>
            <a:ext cx="3554730" cy="521335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一趟快速排序算法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.2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快速排序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393065" y="1019810"/>
            <a:ext cx="3660775" cy="548640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81200" y="1568450"/>
            <a:ext cx="8229600" cy="502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data[begin...end]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进行快速排序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QuickSort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begin,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end){  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if (begin &gt;= end)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data长度小于等于时返回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return;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pivot = Partition(data , begin , end);  	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				      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对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data[begin...end]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进行分划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QuickSort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(data , begin , pivot - 1);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对低端子列进行递归排序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QuickSort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(data , pivot + 1, end);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对高端子列进行递归排序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快速排序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QuickSort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if (n &lt; 2)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return;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QuickSort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(data, 0, n-1);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快速排序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25" y="1082675"/>
            <a:ext cx="10515600" cy="4351655"/>
          </a:xfrm>
        </p:spPr>
        <p:txBody>
          <a:bodyPr vert="horz" wrap="square" lIns="91440" tIns="45720" rIns="91440" bIns="45720" numCol="1" anchor="t" anchorCtr="0" compatLnSpc="1">
            <a:normAutofit/>
          </a:bodyPr>
          <a:p>
            <a:pPr marL="342900" marR="0" lvl="0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算法分析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marR="0" lvl="1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最好情况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每次中间值作为枢轴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log2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每次总选最大或最小元素作为枢轴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²)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平均情况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00" marR="0" lvl="2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 </a:t>
            </a:r>
            <a:r>
              <a:rPr kumimoji="0" lang="en-US" altLang="zh-CN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nlogn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0" algn="l" defTabSz="914400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三数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中值分割法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选择类排序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393065" y="1252855"/>
            <a:ext cx="10515600" cy="4351655"/>
          </a:xfrm>
        </p:spPr>
        <p:txBody>
          <a:bodyPr vert="horz" wrap="square" lIns="91440" tIns="45720" rIns="91440" bIns="45720" anchor="t"/>
          <a:p>
            <a:pPr fontAlgn="auto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选择类排序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逐趟扫描未排序的部分，从中选取一个元素移动到合适的位置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25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类排序思想的算法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简单选择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树形选择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393065" y="1001395"/>
            <a:ext cx="6499860" cy="613410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假设排序过程中，待排记录序列的状态为：</a:t>
            </a:r>
            <a:endParaRPr lang="zh-CN" altLang="en-US" dirty="0"/>
          </a:p>
        </p:txBody>
      </p:sp>
      <p:sp>
        <p:nvSpPr>
          <p:cNvPr id="4" name="Rectangle 5" descr="60%"/>
          <p:cNvSpPr>
            <a:spLocks noChangeArrowheads="1"/>
          </p:cNvSpPr>
          <p:nvPr/>
        </p:nvSpPr>
        <p:spPr bwMode="auto">
          <a:xfrm>
            <a:off x="1941195" y="1998345"/>
            <a:ext cx="3613150" cy="685800"/>
          </a:xfrm>
          <a:prstGeom prst="rect">
            <a:avLst/>
          </a:prstGeom>
          <a:pattFill prst="pct60">
            <a:fgClr>
              <a:schemeClr val="hlink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有序序列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A[1..i-1]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6" descr="棚架"/>
          <p:cNvSpPr>
            <a:spLocks noChangeArrowheads="1"/>
          </p:cNvSpPr>
          <p:nvPr/>
        </p:nvSpPr>
        <p:spPr bwMode="auto">
          <a:xfrm>
            <a:off x="5554345" y="1998345"/>
            <a:ext cx="3854450" cy="685800"/>
          </a:xfrm>
          <a:prstGeom prst="rect">
            <a:avLst/>
          </a:prstGeom>
          <a:pattFill prst="trellis">
            <a:fgClr>
              <a:srgbClr val="CC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无序序列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..n]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/>
          <p:nvPr/>
        </p:nvSpPr>
        <p:spPr>
          <a:xfrm>
            <a:off x="2306320" y="3369945"/>
            <a:ext cx="3095625" cy="4508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105000"/>
              </a:lnSpc>
              <a:buClr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第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趟简单选择排序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 Box 11"/>
          <p:cNvSpPr txBox="1"/>
          <p:nvPr/>
        </p:nvSpPr>
        <p:spPr>
          <a:xfrm>
            <a:off x="5706745" y="2760345"/>
            <a:ext cx="3505200" cy="8686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105000"/>
              </a:lnSpc>
              <a:buClr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从中选出关键字最小的元素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AutoShape 12"/>
          <p:cNvSpPr/>
          <p:nvPr/>
        </p:nvSpPr>
        <p:spPr>
          <a:xfrm>
            <a:off x="5554345" y="2684145"/>
            <a:ext cx="3810000" cy="1981200"/>
          </a:xfrm>
          <a:prstGeom prst="downArrowCallout">
            <a:avLst>
              <a:gd name="adj1" fmla="val 26923"/>
              <a:gd name="adj2" fmla="val 48157"/>
              <a:gd name="adj3" fmla="val 14856"/>
              <a:gd name="adj4" fmla="val 67949"/>
            </a:avLst>
          </a:prstGeom>
          <a:noFill/>
          <a:ln w="9525" cap="flat" cmpd="sng">
            <a:solidFill>
              <a:srgbClr val="0099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Rectangle 13" descr="60%"/>
          <p:cNvSpPr>
            <a:spLocks noChangeArrowheads="1"/>
          </p:cNvSpPr>
          <p:nvPr/>
        </p:nvSpPr>
        <p:spPr bwMode="auto">
          <a:xfrm>
            <a:off x="1896745" y="5579745"/>
            <a:ext cx="4114800" cy="685800"/>
          </a:xfrm>
          <a:prstGeom prst="rect">
            <a:avLst/>
          </a:prstGeom>
          <a:pattFill prst="pct60">
            <a:fgClr>
              <a:schemeClr val="hlink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有序序列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A[1..i]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4" descr="棚架"/>
          <p:cNvSpPr>
            <a:spLocks noChangeArrowheads="1"/>
          </p:cNvSpPr>
          <p:nvPr/>
        </p:nvSpPr>
        <p:spPr bwMode="auto">
          <a:xfrm>
            <a:off x="6011545" y="5579745"/>
            <a:ext cx="3733800" cy="685800"/>
          </a:xfrm>
          <a:prstGeom prst="rect">
            <a:avLst/>
          </a:prstGeom>
          <a:pattFill prst="trellis">
            <a:fgClr>
              <a:srgbClr val="CC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无序序列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A[i+1..n]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Line 23"/>
          <p:cNvSpPr/>
          <p:nvPr/>
        </p:nvSpPr>
        <p:spPr>
          <a:xfrm flipH="1">
            <a:off x="5782945" y="4665345"/>
            <a:ext cx="1676400" cy="914400"/>
          </a:xfrm>
          <a:prstGeom prst="line">
            <a:avLst/>
          </a:prstGeom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diamond" w="med" len="lg"/>
          </a:ln>
        </p:spPr>
      </p:sp>
      <p:sp>
        <p:nvSpPr>
          <p:cNvPr id="12" name="Line 24"/>
          <p:cNvSpPr/>
          <p:nvPr/>
        </p:nvSpPr>
        <p:spPr>
          <a:xfrm>
            <a:off x="5554345" y="4055745"/>
            <a:ext cx="0" cy="2209800"/>
          </a:xfrm>
          <a:prstGeom prst="line">
            <a:avLst/>
          </a:prstGeom>
          <a:ln w="9525" cap="rnd" cmpd="sng">
            <a:solidFill>
              <a:srgbClr val="009999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" name="文本框 2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简单选择排序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/>
      <p:bldP spid="7" grpId="0"/>
      <p:bldP spid="8" grpId="0" bldLvl="0" animBg="1"/>
      <p:bldP spid="9" grpId="0" bldLvl="0" animBg="1"/>
      <p:bldP spid="10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393065" y="1253490"/>
            <a:ext cx="10515600" cy="4351655"/>
          </a:xfrm>
        </p:spPr>
        <p:txBody>
          <a:bodyPr vert="horz" wrap="square" lIns="91440" tIns="45720" rIns="91440" bIns="45720" anchor="t"/>
          <a:p>
            <a:pPr fontAlgn="auto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排序过程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第一趟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扫描所有待排序元素，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找出关键字最小的元素并将它与第一个元素进行交换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 </a:t>
            </a:r>
            <a:r>
              <a:rPr lang="en-US" altLang="zh-CN" sz="2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趟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，扫描待排序列中剩余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- i +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个元素，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找出关键字最小的元素与序列中第 </a:t>
            </a:r>
            <a:r>
              <a:rPr lang="en-US" altLang="zh-CN" sz="2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个位置上的元素交换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重复上述操作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直到所有的元素都放到正确的位置上为止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简单选择排序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graphicFrame>
        <p:nvGraphicFramePr>
          <p:cNvPr id="22531" name="Object 1"/>
          <p:cNvGraphicFramePr>
            <a:graphicFrameLocks noChangeAspect="1"/>
          </p:cNvGraphicFramePr>
          <p:nvPr/>
        </p:nvGraphicFramePr>
        <p:xfrm>
          <a:off x="2778760" y="1840865"/>
          <a:ext cx="6635115" cy="3757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87700" imgH="1803400" progId="Visio.Drawing.11">
                  <p:embed/>
                </p:oleObj>
              </mc:Choice>
              <mc:Fallback>
                <p:oleObj name="" r:id="rId1" imgW="3187700" imgH="18034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8760" y="1840865"/>
                        <a:ext cx="6635115" cy="37579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简单选择排序例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23553" name="Content Placeholder 2"/>
          <p:cNvSpPr>
            <a:spLocks noGrp="1"/>
          </p:cNvSpPr>
          <p:nvPr>
            <p:ph idx="1"/>
          </p:nvPr>
        </p:nvSpPr>
        <p:spPr>
          <a:xfrm>
            <a:off x="393065" y="1252855"/>
            <a:ext cx="5813425" cy="667385"/>
          </a:xfrm>
        </p:spPr>
        <p:txBody>
          <a:bodyPr vert="horz" wrap="square" lIns="91440" tIns="45720" rIns="91440" bIns="45720" anchor="t"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简单选择排序算法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2400300" y="2086610"/>
            <a:ext cx="7391400" cy="419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template&lt;class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SelectionSort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data[],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j, min;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&lt; n;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++){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min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for (j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+ 1; j &lt; n; j++){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data[i+1...n-1]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中最小的元素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if ( data[j] &lt; data[min])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min = j;               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Swap(data[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],data[min]);  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将data[i]与第i小的元素交换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楷体_GB2312" panose="02010609030101010101" pitchFamily="49" charset="-122"/>
                <a:cs typeface="+mn-cs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nsolas" panose="020B0609020204030204" pitchFamily="49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简单选择排序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简单选择排序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93065" y="1156335"/>
            <a:ext cx="10515600" cy="4351655"/>
          </a:xfrm>
        </p:spPr>
        <p:txBody>
          <a:bodyPr vert="horz" wrap="square" lIns="91440" tIns="45720" rIns="91440" bIns="45720" anchor="t"/>
          <a:p>
            <a:pPr fontAlgn="auto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算法分析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最好情况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比较次数：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移动次数：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比较次数：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fontAlgn="auto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移动次数：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- 1)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25000"/>
              </a:lnSpc>
            </a:pP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)=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²)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2869565" y="2049463"/>
          <a:ext cx="1865630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20165" imgH="431800" progId="Equation.DSMT4">
                  <p:embed/>
                </p:oleObj>
              </mc:Choice>
              <mc:Fallback>
                <p:oleObj name="" r:id="rId1" imgW="1320165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69565" y="2049463"/>
                        <a:ext cx="1865630" cy="610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2887980" y="3277235"/>
          <a:ext cx="1828800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320165" imgH="431800" progId="Equation.DSMT4">
                  <p:embed/>
                </p:oleObj>
              </mc:Choice>
              <mc:Fallback>
                <p:oleObj name="" r:id="rId3" imgW="1320165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87980" y="3277235"/>
                        <a:ext cx="1828800" cy="598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 smtClean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 smtClean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 smtClean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92806" y="106251"/>
            <a:ext cx="5161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树形选择排序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393065" y="1202055"/>
            <a:ext cx="11096625" cy="4351655"/>
          </a:xfrm>
        </p:spPr>
        <p:txBody>
          <a:bodyPr vert="horz" wrap="square" lIns="91440" tIns="45720" rIns="91440" bIns="45720" anchor="t">
            <a:normAutofit lnSpcReduction="10000"/>
          </a:bodyPr>
          <a:p>
            <a:pPr fontAlgn="auto">
              <a:lnSpc>
                <a:spcPct val="14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简单选择排序中一趟排序中的比较操作可能在前一趟中已经做过，但前一趟中未保存这些比较结果，因此在后一趟的排序中又重复执行了这些操作。为了解决这个问题，树形选择排序应运而生。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算法思想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fontAlgn="auto">
              <a:lnSpc>
                <a:spcPct val="14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先将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个元素的关键字两两比较，然后将其中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较小者两两比较，如此重复，不断的淘汰较大者，最终选出关键字最小的元素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具体做法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4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构建一棵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个叶子结点的完全二叉树，若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，则用最大值补足，叶子结点用于存储待排序元素，非叶子结点存储子结点两两比较得到的优胜者（关键字小的元素）。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5603" name="Object 5"/>
          <p:cNvGraphicFramePr>
            <a:graphicFrameLocks noChangeAspect="1"/>
          </p:cNvGraphicFramePr>
          <p:nvPr/>
        </p:nvGraphicFramePr>
        <p:xfrm>
          <a:off x="6188710" y="2747645"/>
          <a:ext cx="6858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17500" imgH="190500" progId="Equation.3">
                  <p:embed/>
                </p:oleObj>
              </mc:Choice>
              <mc:Fallback>
                <p:oleObj name="" r:id="rId1" imgW="317500" imgH="190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88710" y="2747645"/>
                        <a:ext cx="685800" cy="4114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1" y="1253331"/>
            <a:ext cx="10515600" cy="43513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堆的定义：堆是满足下列性质的数列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{a</a:t>
            </a:r>
            <a:r>
              <a:rPr lang="en-US" altLang="zh-CN" sz="20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</a:t>
            </a:r>
            <a:r>
              <a:rPr lang="en-US" altLang="zh-CN" sz="20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…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2400" b="1" dirty="0">
              <a:latin typeface="+mn-lt"/>
              <a:ea typeface="+mn-ea"/>
            </a:endParaRPr>
          </a:p>
        </p:txBody>
      </p:sp>
      <p:sp>
        <p:nvSpPr>
          <p:cNvPr id="4" name="Text Box 7"/>
          <p:cNvSpPr txBox="1"/>
          <p:nvPr/>
        </p:nvSpPr>
        <p:spPr>
          <a:xfrm>
            <a:off x="5530851" y="2165350"/>
            <a:ext cx="6445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000099"/>
                </a:solidFill>
                <a:latin typeface="Consolas" panose="020B0609020204030204" pitchFamily="49" charset="0"/>
              </a:rPr>
              <a:t>或</a:t>
            </a:r>
            <a:endParaRPr lang="zh-CN" altLang="en-US" sz="3600" b="1" dirty="0">
              <a:solidFill>
                <a:srgbClr val="0000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197990" y="1981200"/>
          <a:ext cx="15335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81965" imgH="342900" progId="Equation.DSMT4">
                  <p:embed/>
                </p:oleObj>
              </mc:Choice>
              <mc:Fallback>
                <p:oleObj name="" r:id="rId1" imgW="481965" imgH="3429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7990" y="1981200"/>
                        <a:ext cx="1533525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6629400" y="1981200"/>
          <a:ext cx="13716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81965" imgH="342900" progId="Equation.DSMT4">
                  <p:embed/>
                </p:oleObj>
              </mc:Choice>
              <mc:Fallback>
                <p:oleObj name="" r:id="rId3" imgW="481965" imgH="3429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29400" y="1981200"/>
                        <a:ext cx="1371600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3918428" y="2227264"/>
            <a:ext cx="112402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小顶堆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8235824" y="2227264"/>
            <a:ext cx="112402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大顶堆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829107" y="3350210"/>
            <a:ext cx="6118983" cy="4303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{12, 36, 27, 65, 40, 34, 98, 81, 73, 55, 49}    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小顶堆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829107" y="4397961"/>
            <a:ext cx="6194324" cy="4303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{12, 36, 27, 65, 40, 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98, 81, 73, 55, 49}     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不是堆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ldLvl="0" animBg="1"/>
      <p:bldP spid="9" grpId="0" bldLvl="0" animBg="1"/>
      <p:bldP spid="10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548641" y="1265724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若将该数列视作完全二叉树，则 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的左孩子； 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的右孩子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Oval 2"/>
          <p:cNvSpPr/>
          <p:nvPr/>
        </p:nvSpPr>
        <p:spPr>
          <a:xfrm>
            <a:off x="5257800" y="1905000"/>
            <a:ext cx="125095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008784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4000" b="1" baseline="-25000" dirty="0">
                <a:solidFill>
                  <a:srgbClr val="008784"/>
                </a:solidFill>
                <a:latin typeface="Consolas" panose="020B0609020204030204" pitchFamily="49" charset="0"/>
              </a:rPr>
              <a:t>i</a:t>
            </a:r>
            <a:endParaRPr lang="en-US" altLang="zh-CN" sz="36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Oval 3"/>
          <p:cNvSpPr/>
          <p:nvPr/>
        </p:nvSpPr>
        <p:spPr>
          <a:xfrm>
            <a:off x="2895600" y="2743200"/>
            <a:ext cx="17653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008784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4000" b="1" baseline="-25000" dirty="0">
                <a:solidFill>
                  <a:srgbClr val="008784"/>
                </a:solidFill>
                <a:latin typeface="Consolas" panose="020B0609020204030204" pitchFamily="49" charset="0"/>
              </a:rPr>
              <a:t>2i</a:t>
            </a:r>
            <a:r>
              <a:rPr lang="en-US" altLang="zh-CN" sz="4000" b="1" baseline="-250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endParaRPr lang="en-US" altLang="zh-CN" sz="3600" b="1" baseline="-250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Oval 4"/>
          <p:cNvSpPr/>
          <p:nvPr/>
        </p:nvSpPr>
        <p:spPr>
          <a:xfrm>
            <a:off x="7086600" y="2743200"/>
            <a:ext cx="17653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008784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4000" b="1" baseline="-25000" dirty="0">
                <a:solidFill>
                  <a:srgbClr val="008784"/>
                </a:solidFill>
                <a:latin typeface="Consolas" panose="020B0609020204030204" pitchFamily="49" charset="0"/>
              </a:rPr>
              <a:t>2i+1</a:t>
            </a:r>
            <a:r>
              <a:rPr lang="en-US" altLang="zh-CN" sz="4000" b="1" baseline="-250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endParaRPr lang="en-US" altLang="zh-CN" sz="4000" b="1" baseline="-250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Line 5"/>
          <p:cNvSpPr/>
          <p:nvPr/>
        </p:nvSpPr>
        <p:spPr>
          <a:xfrm flipH="1">
            <a:off x="3810000" y="2209800"/>
            <a:ext cx="1398588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Line 6"/>
          <p:cNvSpPr/>
          <p:nvPr/>
        </p:nvSpPr>
        <p:spPr>
          <a:xfrm>
            <a:off x="6553200" y="2209800"/>
            <a:ext cx="1398588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Oval 8"/>
          <p:cNvSpPr/>
          <p:nvPr/>
        </p:nvSpPr>
        <p:spPr>
          <a:xfrm>
            <a:off x="5943600" y="3810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8784"/>
                </a:solidFill>
                <a:latin typeface="Consolas" panose="020B0609020204030204" pitchFamily="49" charset="0"/>
              </a:rPr>
              <a:t>12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886200" y="4572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36</a:t>
            </a:r>
            <a:endParaRPr lang="en-US" altLang="zh-CN" sz="32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3400" y="4572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8784"/>
                </a:solidFill>
                <a:latin typeface="Consolas" panose="020B0609020204030204" pitchFamily="49" charset="0"/>
              </a:rPr>
              <a:t>27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514600" y="5334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65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67400" y="6096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49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828800" y="6096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81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124200" y="6096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73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495800" y="6096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55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181600" y="5334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40</a:t>
            </a:r>
            <a:endParaRPr lang="en-US" altLang="zh-CN" sz="3200" b="1" dirty="0">
              <a:solidFill>
                <a:srgbClr val="009999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010400" y="5334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8784"/>
                </a:solidFill>
                <a:latin typeface="Consolas" panose="020B0609020204030204" pitchFamily="49" charset="0"/>
              </a:rPr>
              <a:t>34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372600" y="5334000"/>
            <a:ext cx="661988" cy="381000"/>
          </a:xfrm>
          <a:prstGeom prst="ellipse">
            <a:avLst/>
          </a:prstGeom>
          <a:solidFill>
            <a:srgbClr val="CCFFCC"/>
          </a:solidFill>
          <a:ln w="12700" cap="flat" cmpd="sng">
            <a:solidFill>
              <a:srgbClr val="00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9999"/>
                </a:solidFill>
                <a:latin typeface="Consolas" panose="020B0609020204030204" pitchFamily="49" charset="0"/>
              </a:rPr>
              <a:t>98</a:t>
            </a:r>
            <a:endParaRPr lang="en-US" altLang="zh-CN" sz="3200" b="1" dirty="0">
              <a:solidFill>
                <a:srgbClr val="009999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Line 19"/>
          <p:cNvSpPr/>
          <p:nvPr/>
        </p:nvSpPr>
        <p:spPr>
          <a:xfrm flipH="1">
            <a:off x="4191000" y="4114800"/>
            <a:ext cx="17653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Line 20"/>
          <p:cNvSpPr/>
          <p:nvPr/>
        </p:nvSpPr>
        <p:spPr>
          <a:xfrm>
            <a:off x="6553201" y="4114800"/>
            <a:ext cx="1839913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Line 21"/>
          <p:cNvSpPr/>
          <p:nvPr/>
        </p:nvSpPr>
        <p:spPr>
          <a:xfrm flipH="1">
            <a:off x="2819400" y="4800600"/>
            <a:ext cx="1030288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Line 22"/>
          <p:cNvSpPr/>
          <p:nvPr/>
        </p:nvSpPr>
        <p:spPr>
          <a:xfrm>
            <a:off x="4572000" y="4800600"/>
            <a:ext cx="88265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ine 23"/>
          <p:cNvSpPr/>
          <p:nvPr/>
        </p:nvSpPr>
        <p:spPr>
          <a:xfrm flipH="1">
            <a:off x="7315201" y="4800600"/>
            <a:ext cx="809625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Line 24"/>
          <p:cNvSpPr/>
          <p:nvPr/>
        </p:nvSpPr>
        <p:spPr>
          <a:xfrm>
            <a:off x="8839200" y="4800600"/>
            <a:ext cx="88265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Line 25"/>
          <p:cNvSpPr/>
          <p:nvPr/>
        </p:nvSpPr>
        <p:spPr>
          <a:xfrm flipH="1">
            <a:off x="2133600" y="5562600"/>
            <a:ext cx="3683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Line 26"/>
          <p:cNvSpPr/>
          <p:nvPr/>
        </p:nvSpPr>
        <p:spPr>
          <a:xfrm>
            <a:off x="3200401" y="5562600"/>
            <a:ext cx="220663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" name="Line 27"/>
          <p:cNvSpPr/>
          <p:nvPr/>
        </p:nvSpPr>
        <p:spPr>
          <a:xfrm flipH="1">
            <a:off x="4800600" y="5562600"/>
            <a:ext cx="3683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Line 28"/>
          <p:cNvSpPr/>
          <p:nvPr/>
        </p:nvSpPr>
        <p:spPr>
          <a:xfrm>
            <a:off x="5867400" y="5562600"/>
            <a:ext cx="3683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" name="Rectangle 31"/>
          <p:cNvSpPr>
            <a:spLocks noChangeArrowheads="1"/>
          </p:cNvSpPr>
          <p:nvPr/>
        </p:nvSpPr>
        <p:spPr bwMode="auto">
          <a:xfrm>
            <a:off x="8153400" y="5943601"/>
            <a:ext cx="20574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val 32"/>
          <p:cNvSpPr/>
          <p:nvPr/>
        </p:nvSpPr>
        <p:spPr>
          <a:xfrm>
            <a:off x="7010400" y="5334000"/>
            <a:ext cx="661988" cy="381000"/>
          </a:xfrm>
          <a:prstGeom prst="ellipse">
            <a:avLst/>
          </a:prstGeom>
          <a:solidFill>
            <a:srgbClr val="99CCFF"/>
          </a:solidFill>
          <a:ln w="12700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3366"/>
                </a:solidFill>
                <a:latin typeface="Consolas" panose="020B0609020204030204" pitchFamily="49" charset="0"/>
              </a:rPr>
              <a:t>14</a:t>
            </a:r>
            <a:endParaRPr lang="en-US" altLang="zh-CN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31" grpId="0" bldLvl="0" animBg="1"/>
      <p:bldP spid="32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548641" y="1459865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堆排序即是利用堆的特性对记录序列进行排序的一种排序方法。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排序过程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将待排序列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A[0…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-1]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调整为大顶堆；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将堆顶元素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（即关键字最大的元素）与堆尾元素（即堆中最后一个元素）交换，从堆中除去堆尾元素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即关键字最大的元素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，同时调整堆中剩余元素，使它们恢复堆属性；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反复进行步骤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，直至堆中元素个数为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627888" y="1185672"/>
            <a:ext cx="10762162" cy="53340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堆排序需解决的两个问题：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将初始的待排序列</a:t>
            </a:r>
            <a:r>
              <a:rPr lang="zh-CN" altLang="zh-CN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调整为一个堆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因堆顶元素与堆尾元素</a:t>
            </a:r>
            <a:r>
              <a:rPr lang="zh-CN" altLang="zh-CN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交换后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，新的堆顶元素可能破坏了堆属性，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zh-CN" altLang="zh-CN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调整成为堆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第一个问题解决方法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从最后一个非叶子结点（即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[n/2]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）开始对所有非叶子结点调整操作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第二个问题解决方法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堆顶元素之后，以堆中最后一个元素替代之；然后将根结点值与左、右子树的根结点值进行比较，并与其中较大者进行交换；重复上述操作，直至叶子结点，将得到新的堆，称这个从堆顶至叶子的调整过程为“筛选”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846139" y="1203388"/>
            <a:ext cx="8229600" cy="20574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从最后一个非叶子结点（即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[n/2]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）开始对所有非叶子结点调整操作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个元素的无序序列（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22, 18, 53, 98, 4, 24, 55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将其调整为升序序列，则需要建立大顶堆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87"/>
          <p:cNvGrpSpPr/>
          <p:nvPr/>
        </p:nvGrpSpPr>
        <p:grpSpPr>
          <a:xfrm>
            <a:off x="3857626" y="3425825"/>
            <a:ext cx="1857375" cy="1373188"/>
            <a:chOff x="694" y="851"/>
            <a:chExt cx="1170" cy="865"/>
          </a:xfrm>
        </p:grpSpPr>
        <p:sp>
          <p:nvSpPr>
            <p:cNvPr id="53296" name="Oval 4"/>
            <p:cNvSpPr/>
            <p:nvPr/>
          </p:nvSpPr>
          <p:spPr>
            <a:xfrm>
              <a:off x="1209" y="851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22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97" name="Oval 6"/>
            <p:cNvSpPr/>
            <p:nvPr/>
          </p:nvSpPr>
          <p:spPr>
            <a:xfrm>
              <a:off x="867" y="1176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18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98" name="Oval 7"/>
            <p:cNvSpPr/>
            <p:nvPr/>
          </p:nvSpPr>
          <p:spPr>
            <a:xfrm>
              <a:off x="1652" y="1516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55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99" name="Oval 8"/>
            <p:cNvSpPr/>
            <p:nvPr/>
          </p:nvSpPr>
          <p:spPr>
            <a:xfrm>
              <a:off x="1326" y="1516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300" name="Oval 9"/>
            <p:cNvSpPr/>
            <p:nvPr/>
          </p:nvSpPr>
          <p:spPr>
            <a:xfrm>
              <a:off x="1000" y="1516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301" name="Oval 10"/>
            <p:cNvSpPr/>
            <p:nvPr/>
          </p:nvSpPr>
          <p:spPr>
            <a:xfrm>
              <a:off x="1538" y="1179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rgbClr val="0066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302" name="Oval 11"/>
            <p:cNvSpPr/>
            <p:nvPr/>
          </p:nvSpPr>
          <p:spPr>
            <a:xfrm flipH="1">
              <a:off x="694" y="1523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98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303" name="Line 12"/>
            <p:cNvSpPr/>
            <p:nvPr/>
          </p:nvSpPr>
          <p:spPr>
            <a:xfrm flipH="1">
              <a:off x="1067" y="1022"/>
              <a:ext cx="178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4" name="Line 13"/>
            <p:cNvSpPr/>
            <p:nvPr/>
          </p:nvSpPr>
          <p:spPr>
            <a:xfrm flipH="1">
              <a:off x="823" y="1366"/>
              <a:ext cx="122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5" name="Line 15"/>
            <p:cNvSpPr/>
            <p:nvPr/>
          </p:nvSpPr>
          <p:spPr>
            <a:xfrm>
              <a:off x="1389" y="1011"/>
              <a:ext cx="212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6" name="Line 16"/>
            <p:cNvSpPr/>
            <p:nvPr/>
          </p:nvSpPr>
          <p:spPr>
            <a:xfrm>
              <a:off x="1667" y="1377"/>
              <a:ext cx="111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7" name="Line 17"/>
            <p:cNvSpPr/>
            <p:nvPr/>
          </p:nvSpPr>
          <p:spPr>
            <a:xfrm>
              <a:off x="1012" y="1355"/>
              <a:ext cx="89" cy="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8" name="Line 18"/>
            <p:cNvSpPr/>
            <p:nvPr/>
          </p:nvSpPr>
          <p:spPr>
            <a:xfrm flipH="1">
              <a:off x="1467" y="1388"/>
              <a:ext cx="145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37"/>
          <p:cNvGrpSpPr/>
          <p:nvPr/>
        </p:nvGrpSpPr>
        <p:grpSpPr>
          <a:xfrm>
            <a:off x="6569076" y="3425825"/>
            <a:ext cx="1889125" cy="1373188"/>
            <a:chOff x="4056" y="799"/>
            <a:chExt cx="1190" cy="865"/>
          </a:xfrm>
        </p:grpSpPr>
        <p:sp>
          <p:nvSpPr>
            <p:cNvPr id="53283" name="Oval 38"/>
            <p:cNvSpPr/>
            <p:nvPr/>
          </p:nvSpPr>
          <p:spPr>
            <a:xfrm>
              <a:off x="4591" y="799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22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84" name="Oval 39"/>
            <p:cNvSpPr/>
            <p:nvPr/>
          </p:nvSpPr>
          <p:spPr>
            <a:xfrm>
              <a:off x="4909" y="1128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55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85" name="Oval 40"/>
            <p:cNvSpPr/>
            <p:nvPr/>
          </p:nvSpPr>
          <p:spPr>
            <a:xfrm>
              <a:off x="4249" y="1124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rgbClr val="0066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18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86" name="Oval 41"/>
            <p:cNvSpPr/>
            <p:nvPr/>
          </p:nvSpPr>
          <p:spPr>
            <a:xfrm>
              <a:off x="5034" y="1464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53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87" name="Oval 42"/>
            <p:cNvSpPr/>
            <p:nvPr/>
          </p:nvSpPr>
          <p:spPr>
            <a:xfrm>
              <a:off x="4708" y="1464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88" name="Oval 43"/>
            <p:cNvSpPr/>
            <p:nvPr/>
          </p:nvSpPr>
          <p:spPr>
            <a:xfrm>
              <a:off x="4382" y="1464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89" name="Oval 44"/>
            <p:cNvSpPr/>
            <p:nvPr/>
          </p:nvSpPr>
          <p:spPr>
            <a:xfrm>
              <a:off x="4056" y="1464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98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90" name="Line 46"/>
            <p:cNvSpPr/>
            <p:nvPr/>
          </p:nvSpPr>
          <p:spPr>
            <a:xfrm flipH="1">
              <a:off x="4449" y="970"/>
              <a:ext cx="178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1" name="Line 47"/>
            <p:cNvSpPr/>
            <p:nvPr/>
          </p:nvSpPr>
          <p:spPr>
            <a:xfrm flipH="1">
              <a:off x="4205" y="1314"/>
              <a:ext cx="122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2" name="Line 49"/>
            <p:cNvSpPr/>
            <p:nvPr/>
          </p:nvSpPr>
          <p:spPr>
            <a:xfrm>
              <a:off x="4771" y="959"/>
              <a:ext cx="212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3" name="Line 50"/>
            <p:cNvSpPr/>
            <p:nvPr/>
          </p:nvSpPr>
          <p:spPr>
            <a:xfrm>
              <a:off x="5049" y="1325"/>
              <a:ext cx="111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4" name="Line 51"/>
            <p:cNvSpPr/>
            <p:nvPr/>
          </p:nvSpPr>
          <p:spPr>
            <a:xfrm>
              <a:off x="4394" y="1303"/>
              <a:ext cx="89" cy="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5" name="Line 52"/>
            <p:cNvSpPr/>
            <p:nvPr/>
          </p:nvSpPr>
          <p:spPr>
            <a:xfrm flipH="1">
              <a:off x="4849" y="1336"/>
              <a:ext cx="145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89"/>
          <p:cNvGrpSpPr/>
          <p:nvPr/>
        </p:nvGrpSpPr>
        <p:grpSpPr>
          <a:xfrm>
            <a:off x="3825876" y="5180014"/>
            <a:ext cx="1889125" cy="1373187"/>
            <a:chOff x="529" y="2440"/>
            <a:chExt cx="1190" cy="865"/>
          </a:xfrm>
        </p:grpSpPr>
        <p:sp>
          <p:nvSpPr>
            <p:cNvPr id="53270" name="Oval 54"/>
            <p:cNvSpPr/>
            <p:nvPr/>
          </p:nvSpPr>
          <p:spPr>
            <a:xfrm>
              <a:off x="1064" y="2440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rgbClr val="0066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22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1" name="Oval 55"/>
            <p:cNvSpPr/>
            <p:nvPr/>
          </p:nvSpPr>
          <p:spPr>
            <a:xfrm>
              <a:off x="1382" y="2769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55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2" name="Oval 56"/>
            <p:cNvSpPr/>
            <p:nvPr/>
          </p:nvSpPr>
          <p:spPr>
            <a:xfrm>
              <a:off x="722" y="2765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98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3" name="Oval 57"/>
            <p:cNvSpPr/>
            <p:nvPr/>
          </p:nvSpPr>
          <p:spPr>
            <a:xfrm>
              <a:off x="1507" y="3105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53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4" name="Oval 58"/>
            <p:cNvSpPr/>
            <p:nvPr/>
          </p:nvSpPr>
          <p:spPr>
            <a:xfrm>
              <a:off x="1181" y="3105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5" name="Oval 59"/>
            <p:cNvSpPr/>
            <p:nvPr/>
          </p:nvSpPr>
          <p:spPr>
            <a:xfrm>
              <a:off x="855" y="3105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6" name="Oval 60"/>
            <p:cNvSpPr/>
            <p:nvPr/>
          </p:nvSpPr>
          <p:spPr>
            <a:xfrm>
              <a:off x="529" y="3105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18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77" name="Line 62"/>
            <p:cNvSpPr/>
            <p:nvPr/>
          </p:nvSpPr>
          <p:spPr>
            <a:xfrm flipH="1">
              <a:off x="922" y="2611"/>
              <a:ext cx="178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8" name="Line 63"/>
            <p:cNvSpPr/>
            <p:nvPr/>
          </p:nvSpPr>
          <p:spPr>
            <a:xfrm flipH="1">
              <a:off x="678" y="2955"/>
              <a:ext cx="122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9" name="Line 65"/>
            <p:cNvSpPr/>
            <p:nvPr/>
          </p:nvSpPr>
          <p:spPr>
            <a:xfrm>
              <a:off x="1244" y="2600"/>
              <a:ext cx="212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0" name="Line 66"/>
            <p:cNvSpPr/>
            <p:nvPr/>
          </p:nvSpPr>
          <p:spPr>
            <a:xfrm>
              <a:off x="1522" y="2966"/>
              <a:ext cx="111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1" name="Line 67"/>
            <p:cNvSpPr/>
            <p:nvPr/>
          </p:nvSpPr>
          <p:spPr>
            <a:xfrm>
              <a:off x="867" y="2944"/>
              <a:ext cx="89" cy="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2" name="Line 68"/>
            <p:cNvSpPr/>
            <p:nvPr/>
          </p:nvSpPr>
          <p:spPr>
            <a:xfrm flipH="1">
              <a:off x="1322" y="2977"/>
              <a:ext cx="145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71"/>
          <p:cNvGrpSpPr/>
          <p:nvPr/>
        </p:nvGrpSpPr>
        <p:grpSpPr>
          <a:xfrm>
            <a:off x="6645276" y="5180014"/>
            <a:ext cx="1889125" cy="1373187"/>
            <a:chOff x="2014" y="2436"/>
            <a:chExt cx="1190" cy="865"/>
          </a:xfrm>
        </p:grpSpPr>
        <p:sp>
          <p:nvSpPr>
            <p:cNvPr id="53257" name="Oval 72"/>
            <p:cNvSpPr/>
            <p:nvPr/>
          </p:nvSpPr>
          <p:spPr>
            <a:xfrm>
              <a:off x="2549" y="2436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98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58" name="Oval 73"/>
            <p:cNvSpPr/>
            <p:nvPr/>
          </p:nvSpPr>
          <p:spPr>
            <a:xfrm>
              <a:off x="2867" y="2765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55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59" name="Oval 74"/>
            <p:cNvSpPr/>
            <p:nvPr/>
          </p:nvSpPr>
          <p:spPr>
            <a:xfrm>
              <a:off x="2207" y="2761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22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60" name="Oval 75"/>
            <p:cNvSpPr/>
            <p:nvPr/>
          </p:nvSpPr>
          <p:spPr>
            <a:xfrm>
              <a:off x="2992" y="3101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53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61" name="Oval 76"/>
            <p:cNvSpPr/>
            <p:nvPr/>
          </p:nvSpPr>
          <p:spPr>
            <a:xfrm>
              <a:off x="2666" y="3101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24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62" name="Oval 77"/>
            <p:cNvSpPr/>
            <p:nvPr/>
          </p:nvSpPr>
          <p:spPr>
            <a:xfrm>
              <a:off x="2340" y="3101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4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63" name="Oval 78"/>
            <p:cNvSpPr/>
            <p:nvPr/>
          </p:nvSpPr>
          <p:spPr>
            <a:xfrm>
              <a:off x="2014" y="3101"/>
              <a:ext cx="212" cy="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Consolas" panose="020B0609020204030204" pitchFamily="49" charset="0"/>
                </a:rPr>
                <a:t>18</a:t>
              </a:r>
              <a:endParaRPr lang="en-US" altLang="zh-CN" sz="1800" b="1" dirty="0">
                <a:latin typeface="Consolas" panose="020B0609020204030204" pitchFamily="49" charset="0"/>
              </a:endParaRPr>
            </a:p>
          </p:txBody>
        </p:sp>
        <p:sp>
          <p:nvSpPr>
            <p:cNvPr id="53264" name="Line 80"/>
            <p:cNvSpPr/>
            <p:nvPr/>
          </p:nvSpPr>
          <p:spPr>
            <a:xfrm flipH="1">
              <a:off x="2407" y="2607"/>
              <a:ext cx="178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5" name="Line 81"/>
            <p:cNvSpPr/>
            <p:nvPr/>
          </p:nvSpPr>
          <p:spPr>
            <a:xfrm flipH="1">
              <a:off x="2163" y="2951"/>
              <a:ext cx="122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6" name="Line 83"/>
            <p:cNvSpPr/>
            <p:nvPr/>
          </p:nvSpPr>
          <p:spPr>
            <a:xfrm>
              <a:off x="2729" y="2596"/>
              <a:ext cx="212" cy="2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7" name="Line 84"/>
            <p:cNvSpPr/>
            <p:nvPr/>
          </p:nvSpPr>
          <p:spPr>
            <a:xfrm>
              <a:off x="3007" y="2962"/>
              <a:ext cx="111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8" name="Line 85"/>
            <p:cNvSpPr/>
            <p:nvPr/>
          </p:nvSpPr>
          <p:spPr>
            <a:xfrm>
              <a:off x="2352" y="2940"/>
              <a:ext cx="89" cy="1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9" name="Line 86"/>
            <p:cNvSpPr/>
            <p:nvPr/>
          </p:nvSpPr>
          <p:spPr>
            <a:xfrm flipH="1">
              <a:off x="2807" y="2973"/>
              <a:ext cx="145" cy="1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56" name="TextBox 83"/>
          <p:cNvSpPr txBox="1"/>
          <p:nvPr/>
        </p:nvSpPr>
        <p:spPr>
          <a:xfrm>
            <a:off x="5153025" y="3959225"/>
            <a:ext cx="457200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zh-CN" sz="1600" b="1" dirty="0">
                <a:latin typeface="Consolas" panose="020B0609020204030204" pitchFamily="49" charset="0"/>
              </a:rPr>
              <a:t>53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建堆例 ——调整堆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3"/>
          <p:cNvSpPr txBox="1"/>
          <p:nvPr/>
        </p:nvSpPr>
        <p:spPr>
          <a:xfrm>
            <a:off x="2819614" y="696913"/>
            <a:ext cx="415498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onsolas" panose="020B0609020204030204" pitchFamily="49" charset="0"/>
              </a:rPr>
              <a:t>例</a:t>
            </a: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pic>
        <p:nvPicPr>
          <p:cNvPr id="54276" name="Picture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14626"/>
            <a:ext cx="7696200" cy="4067175"/>
          </a:xfrm>
          <a:prstGeom prst="rect">
            <a:avLst/>
          </a:prstGeom>
          <a:noFill/>
          <a:ln w="3175">
            <a:noFill/>
          </a:ln>
        </p:spPr>
      </p:pic>
      <p:sp>
        <p:nvSpPr>
          <p:cNvPr id="54277" name="Rectangle 6"/>
          <p:cNvSpPr/>
          <p:nvPr/>
        </p:nvSpPr>
        <p:spPr>
          <a:xfrm>
            <a:off x="699208" y="1024621"/>
            <a:ext cx="10424511" cy="1213538"/>
          </a:xfrm>
          <a:prstGeom prst="rect">
            <a:avLst/>
          </a:prstGeom>
          <a:noFill/>
          <a:ln w="3175">
            <a:noFill/>
          </a:ln>
        </p:spPr>
        <p:txBody>
          <a:bodyPr wrap="square"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25000"/>
              </a:lnSpc>
              <a:buChar char="–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出堆顶元素之后，以堆中最后一个元素替代之；然后将根结点值与左、右子树的根结点值进行比较，并与其中较大者进行交换；重复上述操作，直至叶子结点，将得到新的堆，称这个从堆顶至叶子的调整过程为“筛选”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00263" y="2714626"/>
            <a:ext cx="2743200" cy="200977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00600" y="2652714"/>
            <a:ext cx="2624138" cy="200977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88225" y="2667001"/>
            <a:ext cx="2743200" cy="200977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85975" y="4724401"/>
            <a:ext cx="2743200" cy="200977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00600" y="4648201"/>
            <a:ext cx="2630488" cy="208597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415213" y="4724401"/>
            <a:ext cx="2576512" cy="200977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1371600"/>
            <a:ext cx="8420100" cy="4419600"/>
          </a:xfrm>
          <a:prstGeom prst="rect">
            <a:avLst/>
          </a:prstGeom>
          <a:noFill/>
          <a:ln w="3175">
            <a:noFill/>
          </a:ln>
        </p:spPr>
      </p:pic>
      <p:sp>
        <p:nvSpPr>
          <p:cNvPr id="4" name="矩形 3"/>
          <p:cNvSpPr/>
          <p:nvPr/>
        </p:nvSpPr>
        <p:spPr>
          <a:xfrm>
            <a:off x="1970089" y="1346201"/>
            <a:ext cx="2949575" cy="220662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35538" y="1371601"/>
            <a:ext cx="2895600" cy="220662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54938" y="1371601"/>
            <a:ext cx="2895600" cy="220662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24063" y="3581401"/>
            <a:ext cx="2895600" cy="220662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35538" y="3589339"/>
            <a:ext cx="2895600" cy="2205037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29538" y="3581401"/>
            <a:ext cx="2895600" cy="2206625"/>
          </a:xfrm>
          <a:prstGeom prst="rect">
            <a:avLst/>
          </a:prstGeom>
          <a:solidFill>
            <a:srgbClr val="F8F8F8"/>
          </a:solidFill>
          <a:ln w="3175">
            <a:noFill/>
          </a:ln>
        </p:spPr>
        <p:txBody>
          <a:bodyPr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2806" y="106251"/>
            <a:ext cx="80367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堆排序调整例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392806" y="1046655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调整堆算法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973749" y="1482162"/>
            <a:ext cx="7848600" cy="5105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..n-1]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中的元素调整为大顶堆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HeapAdjust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child; 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data[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LeftChild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 &lt; n;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child){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child =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LeftChild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(child != n - 1 &amp;&amp; data[child + 1] &gt; data[child]) 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					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取较大的孩子结点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child++;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data[child])                                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data[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= data[child];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else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break;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data[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=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3065" y="106045"/>
            <a:ext cx="8036560" cy="1041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548641" y="125333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堆排序算法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80944" y="1663605"/>
            <a:ext cx="7848600" cy="411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HeapSort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n/2;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&gt;= 0;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--)	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建堆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HeapAdjust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(data,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n);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将堆的根结点与最后的一个叶结点交换,并进行调整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n - 1;i &gt; 0;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--){	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Swap(data[0],data[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]);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HeapAdjust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(data, 0,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3065" y="106045"/>
            <a:ext cx="8036560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548641" y="1491075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算法评价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最好情况：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最坏情况：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平均：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548641" y="1551305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将两个有序列合并成为一个新的有序列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路归并排序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将相邻的元素两两归并，得到长度为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的有序子序列，再将这些子序列两两归并，如此重复，直至得到一个长度为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的有序列为止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7.3.3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归并类排序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5"/>
          <p:cNvSpPr/>
          <p:nvPr/>
        </p:nvSpPr>
        <p:spPr>
          <a:xfrm>
            <a:off x="6005090" y="-185756"/>
            <a:ext cx="181821" cy="37151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0420" name="Object 34"/>
          <p:cNvGraphicFramePr>
            <a:graphicFrameLocks noChangeAspect="1"/>
          </p:cNvGraphicFramePr>
          <p:nvPr/>
        </p:nvGraphicFramePr>
        <p:xfrm>
          <a:off x="694945" y="1793983"/>
          <a:ext cx="8562468" cy="2912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381500" imgH="1498600" progId="Visio.Drawing.11">
                  <p:embed/>
                </p:oleObj>
              </mc:Choice>
              <mc:Fallback>
                <p:oleObj name="" r:id="rId1" imgW="4381500" imgH="1498600" progId="Visio.Drawing.11">
                  <p:embed/>
                  <p:pic>
                    <p:nvPicPr>
                      <p:cNvPr id="0" name="Object 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4945" y="1793983"/>
                        <a:ext cx="8562468" cy="291212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路归并排序例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826008" y="1083998"/>
            <a:ext cx="7848600" cy="5486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将数组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lptr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...rptr-1][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rptr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rightEnd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两部分的元素进行合并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tmpArr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为合并时的辅存空间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Merge(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endParaRPr lang="en-US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			    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rightEnd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leftEnd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- 1;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ptr,i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while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leftEnd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&amp;&amp;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rightEnd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&lt;=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 =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else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 =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++];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while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leftEnd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 =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while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rightEnd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 =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rptr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++];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(;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rightEnd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Consolas" panose="020B0609020204030204" pitchFamily="49" charset="0"/>
                <a:ea typeface="楷体_GB2312" panose="02010609030101010101" pitchFamily="49" charset="-122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楷体_GB2312" panose="0201060903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3065" y="106045"/>
            <a:ext cx="8036560" cy="1362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“归并”算法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>
              <a:buClrTx/>
              <a:buSzTx/>
              <a:buFontTx/>
              <a:defRPr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969797" y="1061770"/>
            <a:ext cx="9451848" cy="5608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MPass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0;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while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&lt;= n - 2 *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Merge(data,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i+mergeLength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i+2*mergeLength-1);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+ 2 *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if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n)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Merge(data,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n - 1);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2-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路归并算法非递归实现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template&lt;class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MergeSortNonRecursion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1;  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mergeLength记录每趟归并的步长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NULL;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new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[n];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pArr为合并时的辅存空间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while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n){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MPass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(data,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n,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mergeLength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*= 2;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delete[]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806" y="106251"/>
            <a:ext cx="8036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路归并排序算法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548641" y="1514729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算法评价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空间复杂度为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算法中需要较多的拷贝工作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归并类排序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548640" y="1514729"/>
            <a:ext cx="10850287" cy="43513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3600" b="1" kern="0" dirty="0">
                <a:latin typeface="+mj-ea"/>
                <a:ea typeface="+mj-ea"/>
              </a:rPr>
              <a:t>：</a:t>
            </a:r>
            <a:endParaRPr lang="en-US" altLang="zh-CN" sz="3600" b="1" kern="0" dirty="0">
              <a:latin typeface="+mj-ea"/>
              <a:ea typeface="+mj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en-US" altLang="zh-CN" kern="0" dirty="0">
                <a:latin typeface="+mn-lt"/>
                <a:ea typeface="+mn-ea"/>
              </a:rPr>
              <a:t>     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无须比较关键字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- 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通过“分组”和“收集”两个过程来完成排序任务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- 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多关键字排序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gray">
          <a:xfrm>
            <a:off x="961390" y="1306830"/>
            <a:ext cx="8686800" cy="4876800"/>
          </a:xfrm>
          <a:blipFill rotWithShape="0">
            <a:blip r:embed="rId1"/>
            <a:stretch>
              <a:fillRect l="-1263" t="-1750" r="-772" b="-4375"/>
            </a:stretch>
          </a:blipFill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noFill/>
              </a:rPr>
              <a:t> </a:t>
            </a:r>
            <a:endParaRPr lang="zh-CN" altLang="en-US" dirty="0">
              <a:noFill/>
            </a:endParaRPr>
          </a:p>
        </p:txBody>
      </p:sp>
      <p:graphicFrame>
        <p:nvGraphicFramePr>
          <p:cNvPr id="65540" name="Object 3"/>
          <p:cNvGraphicFramePr>
            <a:graphicFrameLocks noChangeAspect="1"/>
          </p:cNvGraphicFramePr>
          <p:nvPr/>
        </p:nvGraphicFramePr>
        <p:xfrm>
          <a:off x="5638801" y="1714500"/>
          <a:ext cx="18018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876300" imgH="241300" progId="Equation.DSMT4">
                  <p:embed/>
                </p:oleObj>
              </mc:Choice>
              <mc:Fallback>
                <p:oleObj name="" r:id="rId2" imgW="876300" imgH="2413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1" y="1714500"/>
                        <a:ext cx="1801813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4"/>
          <p:cNvGraphicFramePr>
            <a:graphicFrameLocks noChangeAspect="1"/>
          </p:cNvGraphicFramePr>
          <p:nvPr/>
        </p:nvGraphicFramePr>
        <p:xfrm>
          <a:off x="4038601" y="3200400"/>
          <a:ext cx="44815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1866265" imgH="254000" progId="Equation.DSMT4">
                  <p:embed/>
                </p:oleObj>
              </mc:Choice>
              <mc:Fallback>
                <p:oleObj name="" r:id="rId4" imgW="1866265" imgH="2540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8601" y="3200400"/>
                        <a:ext cx="4481513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7.5.1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多关键字的排序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53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874776" y="1219200"/>
            <a:ext cx="8839200" cy="5257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排序方法</a:t>
            </a:r>
            <a:r>
              <a:rPr lang="zh-CN" altLang="en-US" sz="3200" b="1" kern="0" dirty="0">
                <a:latin typeface="+mn-lt"/>
                <a:ea typeface="+mn-ea"/>
              </a:rPr>
              <a:t>：</a:t>
            </a:r>
            <a:endParaRPr lang="en-US" altLang="zh-CN" sz="3200" b="1" kern="0" dirty="0">
              <a:latin typeface="+mn-lt"/>
              <a:ea typeface="+mn-ea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最高位优先法（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MSD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先对最高位关键字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排序，将序列分成若干子序列，每个子序列有相同的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接着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让每个子序列对次关键字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排序，又分成若干更小的子序列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依次重复，直至就每个子序列对最低位关键字</a:t>
            </a:r>
            <a:r>
              <a:rPr lang="en-US" altLang="zh-CN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kern="0" baseline="30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排序；最后将所有子序列依次连接在一起成为一个有序序列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位优先法（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LSD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60780" lvl="2" indent="-24638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从最低位关键字</a:t>
            </a:r>
            <a:r>
              <a:rPr lang="en-US" altLang="zh-CN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kern="0" baseline="30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起进行排序，然后再对高一位的关键字排序，……依次重复，直至对最高位关键字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排序后，便成为一个有序序列。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横卷形 1"/>
          <p:cNvSpPr/>
          <p:nvPr/>
        </p:nvSpPr>
        <p:spPr bwMode="auto">
          <a:xfrm>
            <a:off x="5638800" y="1219200"/>
            <a:ext cx="4267200" cy="990600"/>
          </a:xfrm>
          <a:prstGeom prst="horizontalScroll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以扑克牌为例，每张扑克牌有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“花色”和“面值”两个关键字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7.5.1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多关键字的排序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MSD</a:t>
            </a:r>
            <a:r>
              <a:rPr lang="zh-CN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LSD</a:t>
            </a:r>
            <a:r>
              <a:rPr lang="zh-CN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不同特点</a:t>
            </a:r>
            <a:endParaRPr lang="zh-CN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MSD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排序，必须将序列逐层分割成若干子序列，然后对各子序列分别排序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LSD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排序，不必分成子序列，对每个关键字都是整个序列参加排序；并且可不通过关键字比较，而通过若干次分配与收集实现排序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2400" kern="0" dirty="0"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7.5.1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多关键字的排序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548641" y="125333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基数排序依次根据各关键字分量进行“分配”、“收集”完成排序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在单关键字排序中，一个关键字可以看作由若干个关键字分量复合而成，如整数可视为若干数位的集合。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/>
          <p:nvPr/>
        </p:nvSpPr>
        <p:spPr>
          <a:xfrm>
            <a:off x="6005090" y="-185756"/>
            <a:ext cx="181821" cy="37151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9636" name="文本框 1"/>
          <p:cNvSpPr txBox="1">
            <a:spLocks noChangeArrowheads="1"/>
          </p:cNvSpPr>
          <p:nvPr/>
        </p:nvSpPr>
        <p:spPr bwMode="auto">
          <a:xfrm>
            <a:off x="798576" y="1310640"/>
            <a:ext cx="8294688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1pPr>
            <a:lvl2pPr marL="742950" indent="-28575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2pPr>
            <a:lvl3pPr marL="1143000" indent="-22860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3pPr>
            <a:lvl4pPr marL="1600200" indent="-22860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4pPr>
            <a:lvl5pPr marL="2057400" indent="-22860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9pPr>
          </a:lstStyle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举例：将依据基数排序的思路对下列待排序数据进行非递减排序。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112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按个位分组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0   1   2   3   4   5   6   7   8   9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081  002     024        056      098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102     004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112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收集：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081 002 102 112 024 004 056 098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/>
          <p:nvPr/>
        </p:nvSpPr>
        <p:spPr>
          <a:xfrm>
            <a:off x="6005090" y="-185756"/>
            <a:ext cx="181821" cy="37151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9636" name="文本框 1"/>
          <p:cNvSpPr txBox="1">
            <a:spLocks noChangeArrowheads="1"/>
          </p:cNvSpPr>
          <p:nvPr/>
        </p:nvSpPr>
        <p:spPr bwMode="auto">
          <a:xfrm>
            <a:off x="767567" y="1239402"/>
            <a:ext cx="8534400" cy="501675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1pPr>
            <a:lvl2pPr marL="742950" indent="-28575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2pPr>
            <a:lvl3pPr marL="1143000" indent="-22860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3pPr>
            <a:lvl4pPr marL="1600200" indent="-22860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4pPr>
            <a:lvl5pPr marL="2057400" indent="-228600"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FFFFFF"/>
                </a:solidFill>
                <a:latin typeface="Consolas" panose="020B0609020204030204" pitchFamily="49" charset="0"/>
                <a:ea typeface="楷体_GB2312" panose="02010609030101010101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趟收集：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081 002 102 112 024 004 056 098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按十位分组： 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0   1   2   3   4   5   6   7   8   9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002 112 024         056         081 098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102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004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趟收集：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002 102 004 112 024 056 081 098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按百位分组：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0   1   2   3   4   5   6   7   8   9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002 102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004 112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024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056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081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098            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趟收集：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002 004 024 056 081 098 102 112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96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6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96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6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96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6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838200" y="1125315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用数组实现的基数排序算法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1642872"/>
            <a:ext cx="8077200" cy="464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RadixSort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data[],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const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radix = 10;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const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digits = 10; 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i,j,k,factor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 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queue&lt;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&gt; queues[radix];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0,factor = 1;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&lt;digits; </a:t>
            </a:r>
            <a:r>
              <a:rPr lang="en-US" altLang="zh-CN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++,factor *= radix)    {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for ( j = 0;j &lt; n; j++)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queues[(data[j]/factor)%radix].push(data[j]);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for ( k = j = 0; j &lt; radix; j++,k++)         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收集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while (!queues[j].empty()){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data[k] = queues[j].front();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queues[j].pop();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}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838200" y="149644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用数组实现基数排序的缺点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虽然不需要进行“比较”操作，但仍需要大量的元素移动操作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还需要额外的空间来存放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个队列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带表头结点的静态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链表作存储结构的基数排序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个队列，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front[i]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rear[i]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分别为第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个队列的头指针和尾指针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第一趟分配对最低位关键字（个位）进行，改变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的指针值，将链表中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分配至10个链队列中，每个队列记录的关键字的个位相同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第一趟收集是改变所有非空队列的队尾记录的指针域，令其指向下一个非空队列的队头记录，重新将10个队列链成一个链表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重复上述两步，进行第二趟、第三趟分配和收集，分别对十位、百位进行，最后得到一个有序序列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/>
          <p:nvPr/>
        </p:nvSpPr>
        <p:spPr>
          <a:xfrm>
            <a:off x="6005090" y="-185756"/>
            <a:ext cx="181821" cy="37151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74756" name="Object 1"/>
          <p:cNvGraphicFramePr>
            <a:graphicFrameLocks noChangeAspect="1"/>
          </p:cNvGraphicFramePr>
          <p:nvPr/>
        </p:nvGraphicFramePr>
        <p:xfrm>
          <a:off x="906381" y="1219200"/>
          <a:ext cx="7523163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540500" imgH="4508500" progId="Visio.Drawing.11">
                  <p:embed/>
                </p:oleObj>
              </mc:Choice>
              <mc:Fallback>
                <p:oleObj name="" r:id="rId1" imgW="6540500" imgH="4508500" progId="Visio.Drawing.11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6381" y="1219200"/>
                        <a:ext cx="7523163" cy="518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链式基数排序（第一趟）例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6280" y="1261872"/>
            <a:ext cx="8077200" cy="525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class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struct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Node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 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key[DIGITS];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info;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next;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friend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ostream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&amp; operator&lt;&lt;(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ostream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&amp;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os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&amp;s);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public: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():data(NULL),length(0){};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~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void Arrange();   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重排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void Init(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arr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n);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void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RadixSort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();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式基数排序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private: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void Distribute(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);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//分配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void Collection(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);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//收集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Node *data;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length;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};</a:t>
            </a:r>
            <a:endParaRPr lang="en-US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静态链表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7479" y="1647092"/>
            <a:ext cx="8077200" cy="449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::Distribute(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front[],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rear[],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digit)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index;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0;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RADIX;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front[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= 0;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data[0].next;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&gt; 0;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L.data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].next){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index =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].key /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pow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(10.0, digit) 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-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].key /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pow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(10.0, digit + 1) * 10;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(front[index] == 0)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front[index]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else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data[rear[index]].next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rear[index]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4" name="Content Placeholder 5"/>
          <p:cNvSpPr>
            <a:spLocks noGrp="1"/>
          </p:cNvSpPr>
          <p:nvPr>
            <p:ph idx="1"/>
          </p:nvPr>
        </p:nvSpPr>
        <p:spPr>
          <a:xfrm>
            <a:off x="682752" y="1077116"/>
            <a:ext cx="8229600" cy="5334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“分配”算法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Content Placeholder 5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“收集”算法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1884368"/>
            <a:ext cx="8077200" cy="411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::Collection(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front[],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rear[],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digit)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current;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0; front[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== 0;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++);	//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找到第一个非空子表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data[0].next = front[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];	//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头结点指向第一个非空子表中第一个结点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current = rear[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++];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RADIX;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(front[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 == 0)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continue;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data[current].next = front[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];	//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链接两个非空子表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current = rear[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data[current].next = 0;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ontent Placeholder 5"/>
          <p:cNvSpPr>
            <a:spLocks noGrp="1"/>
          </p:cNvSpPr>
          <p:nvPr>
            <p:ph idx="1"/>
          </p:nvPr>
        </p:nvSpPr>
        <p:spPr>
          <a:xfrm>
            <a:off x="548641" y="125333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 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9808" y="1755648"/>
            <a:ext cx="8485632" cy="33467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 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SLList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实现的基数排序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SLList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::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RadixSort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front[RADIX],rear[RADIX];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// 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从最低位优先依次对各关键字进行分配收集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 (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0;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&lt; DIGITS;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++){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Distribute(front, rear,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Collection(front, rear,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       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710184" y="149644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重排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链式基数排序产生的是一个有序循环链表，只能对它进行顺序访问，无法进行随机访问，因此有时需要对元素重新排列，将元素按照链表结点中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域的值调整位置使其顺序存储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具体做法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顺序扫描有序链表，将链表中第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个结点移动至静态链表中的第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个分量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/>
          <p:nvPr/>
        </p:nvSpPr>
        <p:spPr>
          <a:xfrm>
            <a:off x="6005090" y="-185756"/>
            <a:ext cx="181821" cy="37151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80900" name="Object 1"/>
          <p:cNvGraphicFramePr>
            <a:graphicFrameLocks noChangeAspect="1"/>
          </p:cNvGraphicFramePr>
          <p:nvPr/>
        </p:nvGraphicFramePr>
        <p:xfrm>
          <a:off x="2590800" y="1295400"/>
          <a:ext cx="57023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692900" imgH="6337300" progId="Visio.Drawing.11">
                  <p:embed/>
                </p:oleObj>
              </mc:Choice>
              <mc:Fallback>
                <p:oleObj name="" r:id="rId1" imgW="6692900" imgH="6337300" progId="Visio.Drawing.11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1295400"/>
                        <a:ext cx="5702300" cy="541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重排例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Content Placeholder 5"/>
          <p:cNvSpPr>
            <a:spLocks noGrp="1"/>
          </p:cNvSpPr>
          <p:nvPr>
            <p:ph idx="1"/>
          </p:nvPr>
        </p:nvSpPr>
        <p:spPr>
          <a:xfrm>
            <a:off x="392806" y="125333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重排算法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3400" y="1682496"/>
            <a:ext cx="8077200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algn="ctr">
            <a:solidFill>
              <a:schemeClr val="tx2"/>
            </a:solidFill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SLList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::Arrange()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current = data[0].next;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current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存放第一个元素的当前位置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 (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&lt; length;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++){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while (current &lt;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 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找到第i个元素，并用current存放其在静态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链表中当前位置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current = data[current].next;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= data[current].next;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(current !=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){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l" fontAlgn="base">
              <a:buClrTx/>
              <a:buSzTx/>
              <a:buFontTx/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Swap(data[current],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]);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第i个元素调整到位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fontAlgn="base">
              <a:buClrTx/>
              <a:buSzTx/>
              <a:buFontTx/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data[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].next = current;  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指向被移走的元素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l" fontAlgn="base">
              <a:buClrTx/>
              <a:buSzTx/>
              <a:buFontTx/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current = </a:t>
            </a:r>
            <a:r>
              <a:rPr lang="en-US" altLang="zh-CN" sz="1600" dirty="0" err="1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tmp</a:t>
            </a: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;                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// 为找第i + 1个元素做准备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810768" y="1313688"/>
            <a:ext cx="8153400" cy="4876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算法分析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2255" indent="-262255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en-US" altLang="zh-CN" kern="0" dirty="0">
                <a:latin typeface="+mn-lt"/>
                <a:ea typeface="+mn-ea"/>
              </a:rPr>
              <a:t>- 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假设待排序元素个数为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，元素的关键字分量数为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，基数为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，则链式基数排序算法需要重复执行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趟“分配”和“收集”，每趟对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个元素进行分配，对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个队列进行收集。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 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+ r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-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+ 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，实际存储空间大小为： 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2r+n+1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endParaRPr lang="en-US" altLang="zh-CN" kern="0" dirty="0"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95489" y="1371601"/>
            <a:ext cx="82153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内部排序算法通过元素间关键字大小的比较和元素移动来逐步扩大“有序序列”区域长度。</a:t>
            </a:r>
            <a:endParaRPr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内部排序算法分为四大类：插入类、分划类、选择类、归并类、基数排序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多关键字排序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18489" y="1017584"/>
          <a:ext cx="8153401" cy="4038600"/>
        </p:xfrm>
        <a:graphic>
          <a:graphicData uri="http://schemas.openxmlformats.org/drawingml/2006/table">
            <a:tbl>
              <a:tblPr/>
              <a:tblGrid>
                <a:gridCol w="2247585"/>
                <a:gridCol w="1958481"/>
                <a:gridCol w="2057474"/>
                <a:gridCol w="1889861"/>
              </a:tblGrid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排序方法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平均情况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最好情况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最坏情况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基数排序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+ r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+ r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))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+ r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2-</a:t>
                      </a: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路归并排序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堆排序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快速排序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 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log 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baseline="300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希尔排序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直接插入排序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baseline="300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baseline="300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2400" b="1" kern="10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简单选择排序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baseline="300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baseline="300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O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2400" b="1" i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</a:t>
                      </a:r>
                      <a:r>
                        <a:rPr lang="en-US" sz="2400" b="1" kern="100" baseline="300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en-US" sz="2400" b="1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</a:t>
                      </a:r>
                      <a:endParaRPr lang="zh-CN" sz="2400" b="1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371600" y="5214936"/>
            <a:ext cx="750570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zh-CN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从平均性能而言，快速排序最佳，但最坏情况下不如堆排序和归并排序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；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/>
              <a:ea typeface="楷体_GB2312" panose="02010609030101010101" pitchFamily="49" charset="-122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zh-CN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直接插入排序、简单选择排序、冒泡排序是</a:t>
            </a:r>
            <a:r>
              <a:rPr lang="en-US" altLang="zh-CN" sz="2000" b="1" i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O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(</a:t>
            </a:r>
            <a:r>
              <a:rPr lang="en-US" altLang="zh-CN" sz="2000" b="1" i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n</a:t>
            </a:r>
            <a:r>
              <a:rPr lang="en-US" altLang="zh-CN" sz="2000" b="1" kern="0" baseline="3000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2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)</a:t>
            </a:r>
            <a:r>
              <a:rPr lang="zh-CN" altLang="zh-CN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的排序，不适合处理</a:t>
            </a:r>
            <a:r>
              <a:rPr lang="en-US" altLang="zh-CN" sz="2000" b="1" i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n</a:t>
            </a:r>
            <a:r>
              <a:rPr lang="zh-CN" altLang="zh-CN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较大的情况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。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/>
              <a:ea typeface="楷体_GB2312" panose="0201060903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内部排序的比较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289"/>
            <a:ext cx="10515600" cy="43513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角度考虑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归并排序需要与待排序列等量的辅助存储空间，其空间复杂度为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基数排序次之，空间复杂度为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+ 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快速排序最坏情况下需要的栈空间为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，最好情况下需要的栈空间为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000" i="1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其余排序算法的空间复杂度为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内部排序的比较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838200" y="1441577"/>
            <a:ext cx="10515600" cy="43513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从稳定性角度考虑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直接插入排序、冒泡排序和基数排序都是稳定的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堆排序、快速排序、希尔排序和简单选择排序是不稳定的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稳定性由算法本身决定，和描述形式无关。对于不稳定的排序算法总能找到一个说明不稳定的实例，而对于稳定的排序算法总能找到一种不引起不稳定的描述形式。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从存储结构上看，若待排序元素是存放在顺序存储结构中，则排序过程中无法避免元素移动。因此，当元素规模较大时，可以采用静态链表，避免移动元素造成的时间耗费。但快速排序和堆排序不适用。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/>
            </a:pPr>
            <a:endParaRPr lang="zh-CN" altLang="en-US" kern="0" dirty="0"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内部排序的比较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184" y="1551305"/>
            <a:ext cx="10515600" cy="4351338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选择排序方法时应综合考虑这些因素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待排序的元素数目</a:t>
            </a:r>
            <a:r>
              <a:rPr lang="en-US" altLang="zh-CN" sz="20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关键字的结构及其初始状态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对稳定性的要求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语言工具的条件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存储结构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时间和辅助空间复杂度等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内部排序的比较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Content Placeholder 2"/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排序的一般下界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任何只借助“比较”的排序算法在最坏情况下都需要                      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次比较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8068" name="Object 2"/>
          <p:cNvGraphicFramePr>
            <a:graphicFrameLocks noChangeAspect="1"/>
          </p:cNvGraphicFramePr>
          <p:nvPr/>
        </p:nvGraphicFramePr>
        <p:xfrm>
          <a:off x="1685544" y="2337817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85800" imgH="254000" progId="Equation.DSMT4">
                  <p:embed/>
                </p:oleObj>
              </mc:Choice>
              <mc:Fallback>
                <p:oleObj name="" r:id="rId1" imgW="685800" imgH="2540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85544" y="2337817"/>
                        <a:ext cx="12954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内部排序的比较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39272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外部排序是指大文件的排序，用于处理输入数据量较大、无法同时全部载入内存的排序情况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外部排序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根据外存设备的存储介质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磁盘文件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buNone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直接存取设备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磁带文件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顺序存取设备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外部存储设备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169"/>
            <a:ext cx="10515600" cy="4351338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342900" indent="-34290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磁盘存储器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由盘片、磁头、盘片主轴、控制电机、磁头控制器、数据转换器、接口、缓存等部分组成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磁盘上标明一个具体位置需要用一个三维地址：柱面号、盘面号、块号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磁盘读写一块数据的时间需要由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部分组成：寻道时间、等待时间和传输时间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磁带存储器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一种以磁带为存储介质、能存储大量数字信息的装置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通常由磁带控制器和磁带驱动器（或称磁带机）组成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在磁带上读写一块数据需要的时间由两部分组成：延迟时间和传输时间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外部存储设备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indent="-3429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外部排序以下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两个阶段组成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根据可用内存大小，将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个待排序元素的文件分成若干个子文件，依次读入内存并利用内部排序算法对它们进行排序，然后将排序后得到的子文件写入外存，这些有序的子文件或排过序的元素组称为归并段或顺串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zh-CN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将这些归并段逐趟归并，归并段逐渐由小到大，直至得到整个有序文件为止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归并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外部排序的方法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Content Placeholder 2"/>
          <p:cNvSpPr>
            <a:spLocks noGrp="1"/>
          </p:cNvSpPr>
          <p:nvPr>
            <p:ph idx="1"/>
          </p:nvPr>
        </p:nvSpPr>
        <p:spPr>
          <a:xfrm>
            <a:off x="548641" y="1253331"/>
            <a:ext cx="10515600" cy="4351338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外部排序需要的总时间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内部排序所需的时间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         +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外存信息读写的时间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         +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内部归并所需的时间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为初始归并段个数，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是得到一个初始归并段所耗费的内部排序时间的均值；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为总的外存读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写次数，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为一次读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写时间的均值；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为归并的趟数，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mg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是对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个元素进行内部归并所需的时间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若增加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或减少归并段个数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便能减少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，从而减小外存读写次数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，但单纯增加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将使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</a:t>
            </a:r>
            <a:r>
              <a:rPr lang="en-US" altLang="zh-CN" sz="20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mg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3188" name="Object 2"/>
          <p:cNvGraphicFramePr>
            <a:graphicFrameLocks noChangeAspect="1"/>
          </p:cNvGraphicFramePr>
          <p:nvPr/>
        </p:nvGraphicFramePr>
        <p:xfrm>
          <a:off x="1127759" y="4126993"/>
          <a:ext cx="1828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799465" imgH="254000" progId="Equation.DSMT4">
                  <p:embed/>
                </p:oleObj>
              </mc:Choice>
              <mc:Fallback>
                <p:oleObj name="" r:id="rId1" imgW="799465" imgH="2540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27759" y="4126993"/>
                        <a:ext cx="18288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外部排序的方法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败者树是指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在锦标赛（选择树）中，每个父结点存放其孩子结点中的“败者”，而让“胜者”参加更高一层的比赛，而在根结点之上再增加一个结点，存放整个比赛的获胜者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败者树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/>
          <p:nvPr/>
        </p:nvSpPr>
        <p:spPr>
          <a:xfrm>
            <a:off x="6005090" y="-185756"/>
            <a:ext cx="181821" cy="371513"/>
          </a:xfrm>
          <a:prstGeom prst="rect">
            <a:avLst/>
          </a:prstGeom>
          <a:noFill/>
          <a:ln w="317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pic>
        <p:nvPicPr>
          <p:cNvPr id="9523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1" y="1295400"/>
            <a:ext cx="7878763" cy="4724400"/>
          </a:xfrm>
          <a:prstGeom prst="rect">
            <a:avLst/>
          </a:prstGeom>
          <a:noFill/>
          <a:ln w="317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败者树例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Content Placeholder 2"/>
          <p:cNvSpPr>
            <a:spLocks noGrp="1"/>
          </p:cNvSpPr>
          <p:nvPr>
            <p:ph idx="1"/>
          </p:nvPr>
        </p:nvSpPr>
        <p:spPr>
          <a:xfrm>
            <a:off x="838200" y="1587881"/>
            <a:ext cx="10515600" cy="4351338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采用败者树来生成初始归并段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最佳归并树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对长度不等的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个初始归并段构造一颗哈夫曼树作为归并树，则可以保证在外部归并时所需要的外存读写次数达到最小，这棵归并树被称为最佳归并树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7.7.3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败者树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熟练掌握各内部排序算法的基本思想、具体过程以及实现算法；掌握各种排序算法时间复杂度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、空间复杂度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的分析方法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和稳定性的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排序算法大致可分为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类：插入类排序、分划类排序、选择类排序、归并类排序和基数排序。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通过对各种典型的排序算法的学习，能够在实际问题上选择或设计适合的排序算法。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06" y="106251"/>
            <a:ext cx="8036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学习要点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4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  <a:effectLst>
            <a:outerShdw dist="35921" dir="2699999" algn="ctr" rotWithShape="0">
              <a:srgbClr val="FFFFFF"/>
            </a:outerShdw>
          </a:effectLst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eaLnBrk="1" hangingPunct="1">
              <a:buClrTx/>
              <a:buSzTx/>
              <a:buFontTx/>
            </a:pPr>
            <a:r>
              <a:rPr lang="en-US" altLang="zh-CN" sz="5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Thank You!</a:t>
            </a:r>
            <a:endParaRPr lang="en-US" altLang="zh-CN" sz="5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ICON" val="#404870;#405337;#404870;#393849;#394159;#171092;#134425;#37043;#393940;"/>
</p:tagLst>
</file>

<file path=ppt/tags/tag2.xml><?xml version="1.0" encoding="utf-8"?>
<p:tagLst xmlns:p="http://schemas.openxmlformats.org/presentationml/2006/main">
  <p:tag name="commondata" val="eyJoZGlkIjoiZjQ4NDFjNWE2YjY1NTA0MjhjMmU2NTU4MDRhMDIxYjgifQ=="/>
</p:tagLst>
</file>

<file path=ppt/theme/theme1.xml><?xml version="1.0" encoding="utf-8"?>
<a:theme xmlns:a="http://schemas.openxmlformats.org/drawingml/2006/main" name="办公资源网：www.bangongziyuan.com">
  <a:themeElements>
    <a:clrScheme name="自定义 1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A9E"/>
      </a:accent1>
      <a:accent2>
        <a:srgbClr val="7F7F7F"/>
      </a:accent2>
      <a:accent3>
        <a:srgbClr val="45546B"/>
      </a:accent3>
      <a:accent4>
        <a:srgbClr val="E5EAF0"/>
      </a:accent4>
      <a:accent5>
        <a:srgbClr val="A5A5A5"/>
      </a:accent5>
      <a:accent6>
        <a:srgbClr val="C9C9C9"/>
      </a:accent6>
      <a:hlink>
        <a:srgbClr val="49738F"/>
      </a:hlink>
      <a:folHlink>
        <a:srgbClr val="BFBFBF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A9E"/>
      </a:accent1>
      <a:accent2>
        <a:srgbClr val="7F7F7F"/>
      </a:accent2>
      <a:accent3>
        <a:srgbClr val="45546B"/>
      </a:accent3>
      <a:accent4>
        <a:srgbClr val="E5EAF0"/>
      </a:accent4>
      <a:accent5>
        <a:srgbClr val="A5A5A5"/>
      </a:accent5>
      <a:accent6>
        <a:srgbClr val="C9C9C9"/>
      </a:accent6>
      <a:hlink>
        <a:srgbClr val="49738F"/>
      </a:hlink>
      <a:folHlink>
        <a:srgbClr val="BFBFBF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1">
    <a:dk1>
      <a:srgbClr val="000000"/>
    </a:dk1>
    <a:lt1>
      <a:srgbClr val="FFFFFF"/>
    </a:lt1>
    <a:dk2>
      <a:srgbClr val="778495"/>
    </a:dk2>
    <a:lt2>
      <a:srgbClr val="F0F0F0"/>
    </a:lt2>
    <a:accent1>
      <a:srgbClr val="005A9E"/>
    </a:accent1>
    <a:accent2>
      <a:srgbClr val="7F7F7F"/>
    </a:accent2>
    <a:accent3>
      <a:srgbClr val="45546B"/>
    </a:accent3>
    <a:accent4>
      <a:srgbClr val="E5EAF0"/>
    </a:accent4>
    <a:accent5>
      <a:srgbClr val="A5A5A5"/>
    </a:accent5>
    <a:accent6>
      <a:srgbClr val="C9C9C9"/>
    </a:accent6>
    <a:hlink>
      <a:srgbClr val="49738F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18532</Words>
  <Application>WPS 演示</Application>
  <PresentationFormat>宽屏</PresentationFormat>
  <Paragraphs>1590</Paragraphs>
  <Slides>89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89</vt:i4>
      </vt:variant>
    </vt:vector>
  </HeadingPairs>
  <TitlesOfParts>
    <vt:vector size="134" baseType="lpstr">
      <vt:lpstr>Arial</vt:lpstr>
      <vt:lpstr>宋体</vt:lpstr>
      <vt:lpstr>Wingdings</vt:lpstr>
      <vt:lpstr>OPPOSans R</vt:lpstr>
      <vt:lpstr>OPPOSans B</vt:lpstr>
      <vt:lpstr>微软雅黑</vt:lpstr>
      <vt:lpstr>Times New Roman</vt:lpstr>
      <vt:lpstr>华文行楷</vt:lpstr>
      <vt:lpstr>Wingdings</vt:lpstr>
      <vt:lpstr>Georgia</vt:lpstr>
      <vt:lpstr>Calibri</vt:lpstr>
      <vt:lpstr>OPPOSans H</vt:lpstr>
      <vt:lpstr>庞门正道标题体</vt:lpstr>
      <vt:lpstr>Consolas</vt:lpstr>
      <vt:lpstr>Arial Unicode MS</vt:lpstr>
      <vt:lpstr>楷体_GB2312</vt:lpstr>
      <vt:lpstr>隶书</vt:lpstr>
      <vt:lpstr>思源黑体 CN Regular</vt:lpstr>
      <vt:lpstr>黑体</vt:lpstr>
      <vt:lpstr>阿里巴巴普惠体 B</vt:lpstr>
      <vt:lpstr>Segoe Print</vt:lpstr>
      <vt:lpstr>Times New Roman</vt:lpstr>
      <vt:lpstr>办公资源网：www.bangongziyuan.com</vt:lpstr>
      <vt:lpstr>自定义设计方案</vt:lpstr>
      <vt:lpstr>Visio.Drawing.11</vt:lpstr>
      <vt:lpstr>Equation.DSMT4</vt:lpstr>
      <vt:lpstr>Equation.DSMT4</vt:lpstr>
      <vt:lpstr>Equation.3</vt:lpstr>
      <vt:lpstr>Equation.DSMT4</vt:lpstr>
      <vt:lpstr>Equation.DSMT4</vt:lpstr>
      <vt:lpstr>Visio.Drawing.11</vt:lpstr>
      <vt:lpstr>Equation.DSMT4</vt:lpstr>
      <vt:lpstr>Equation.DSMT4</vt:lpstr>
      <vt:lpstr>Visio.Drawing.11</vt:lpstr>
      <vt:lpstr>Visio.Drawing.11</vt:lpstr>
      <vt:lpstr>Equation.DSMT4</vt:lpstr>
      <vt:lpstr>Equation.DSMT4</vt:lpstr>
      <vt:lpstr>Equation.DSMT4</vt:lpstr>
      <vt:lpstr>Equation.DSMT4</vt:lpstr>
      <vt:lpstr>Visio.Drawing.11</vt:lpstr>
      <vt:lpstr>Visio.Drawing.11</vt:lpstr>
      <vt:lpstr>Visio.Drawing.11</vt:lpstr>
      <vt:lpstr>Equation.DSMT4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刘雅茜</cp:lastModifiedBy>
  <cp:revision>3283</cp:revision>
  <dcterms:created xsi:type="dcterms:W3CDTF">2020-11-24T06:30:00Z</dcterms:created>
  <dcterms:modified xsi:type="dcterms:W3CDTF">2024-11-04T03:22:35Z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1C70F1662D8A4858A2A886356C0AB262_12</vt:lpwstr>
  </property>
  <property fmtid="{D5CDD505-2E9C-101B-9397-08002B2CF9AE}" pid="3" name="KSOProductBuildVer">
    <vt:lpwstr>2052-12.1.0.18608</vt:lpwstr>
  </property>
</Properties>
</file>