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5"/>
  </p:notesMasterIdLst>
  <p:handoutMasterIdLst>
    <p:handoutMasterId r:id="rId144"/>
  </p:handoutMasterIdLst>
  <p:sldIdLst>
    <p:sldId id="15714907" r:id="rId4"/>
    <p:sldId id="15714992" r:id="rId6"/>
    <p:sldId id="15714993" r:id="rId7"/>
    <p:sldId id="15714897" r:id="rId8"/>
    <p:sldId id="15714994" r:id="rId9"/>
    <p:sldId id="15714998" r:id="rId10"/>
    <p:sldId id="15714999" r:id="rId11"/>
    <p:sldId id="15715004" r:id="rId12"/>
    <p:sldId id="15715005" r:id="rId13"/>
    <p:sldId id="15715006" r:id="rId14"/>
    <p:sldId id="15715007" r:id="rId15"/>
    <p:sldId id="15715008" r:id="rId16"/>
    <p:sldId id="15715009" r:id="rId17"/>
    <p:sldId id="15715010" r:id="rId18"/>
    <p:sldId id="15715011" r:id="rId19"/>
    <p:sldId id="15715012" r:id="rId20"/>
    <p:sldId id="15715013" r:id="rId21"/>
    <p:sldId id="15715014" r:id="rId22"/>
    <p:sldId id="15715015" r:id="rId23"/>
    <p:sldId id="15715016" r:id="rId24"/>
    <p:sldId id="15715017" r:id="rId25"/>
    <p:sldId id="15715018" r:id="rId26"/>
    <p:sldId id="15715019" r:id="rId27"/>
    <p:sldId id="15715020" r:id="rId28"/>
    <p:sldId id="15715021" r:id="rId29"/>
    <p:sldId id="15715022" r:id="rId30"/>
    <p:sldId id="15715023" r:id="rId31"/>
    <p:sldId id="15715024" r:id="rId32"/>
    <p:sldId id="15715025" r:id="rId33"/>
    <p:sldId id="15715026" r:id="rId34"/>
    <p:sldId id="15715027" r:id="rId35"/>
    <p:sldId id="15715028" r:id="rId36"/>
    <p:sldId id="15715029" r:id="rId37"/>
    <p:sldId id="15715030" r:id="rId38"/>
    <p:sldId id="15715031" r:id="rId39"/>
    <p:sldId id="15715032" r:id="rId40"/>
    <p:sldId id="15715033" r:id="rId41"/>
    <p:sldId id="15715034" r:id="rId42"/>
    <p:sldId id="15715035" r:id="rId43"/>
    <p:sldId id="15715036" r:id="rId44"/>
    <p:sldId id="15715037" r:id="rId45"/>
    <p:sldId id="15715038" r:id="rId46"/>
    <p:sldId id="15715039" r:id="rId47"/>
    <p:sldId id="15715040" r:id="rId48"/>
    <p:sldId id="15715041" r:id="rId49"/>
    <p:sldId id="15715042" r:id="rId50"/>
    <p:sldId id="15715043" r:id="rId51"/>
    <p:sldId id="15715044" r:id="rId52"/>
    <p:sldId id="15715045" r:id="rId53"/>
    <p:sldId id="15715046" r:id="rId54"/>
    <p:sldId id="15715047" r:id="rId55"/>
    <p:sldId id="15715048" r:id="rId56"/>
    <p:sldId id="15715049" r:id="rId57"/>
    <p:sldId id="15715050" r:id="rId58"/>
    <p:sldId id="15715051" r:id="rId59"/>
    <p:sldId id="15715052" r:id="rId60"/>
    <p:sldId id="15715053" r:id="rId61"/>
    <p:sldId id="15715054" r:id="rId62"/>
    <p:sldId id="15715055" r:id="rId63"/>
    <p:sldId id="15715056" r:id="rId64"/>
    <p:sldId id="15715057" r:id="rId65"/>
    <p:sldId id="15715058" r:id="rId66"/>
    <p:sldId id="15715059" r:id="rId67"/>
    <p:sldId id="15715060" r:id="rId68"/>
    <p:sldId id="15715061" r:id="rId69"/>
    <p:sldId id="15715062" r:id="rId70"/>
    <p:sldId id="15715063" r:id="rId71"/>
    <p:sldId id="15715064" r:id="rId72"/>
    <p:sldId id="15715065" r:id="rId73"/>
    <p:sldId id="15715066" r:id="rId74"/>
    <p:sldId id="15715067" r:id="rId75"/>
    <p:sldId id="15715068" r:id="rId76"/>
    <p:sldId id="15715069" r:id="rId77"/>
    <p:sldId id="15715070" r:id="rId78"/>
    <p:sldId id="15715071" r:id="rId79"/>
    <p:sldId id="15715072" r:id="rId80"/>
    <p:sldId id="15715073" r:id="rId81"/>
    <p:sldId id="15715074" r:id="rId82"/>
    <p:sldId id="15715075" r:id="rId83"/>
    <p:sldId id="15715076" r:id="rId84"/>
    <p:sldId id="15715077" r:id="rId85"/>
    <p:sldId id="15715078" r:id="rId86"/>
    <p:sldId id="15715079" r:id="rId87"/>
    <p:sldId id="15715080" r:id="rId88"/>
    <p:sldId id="15715081" r:id="rId89"/>
    <p:sldId id="15715082" r:id="rId90"/>
    <p:sldId id="15715083" r:id="rId91"/>
    <p:sldId id="15715084" r:id="rId92"/>
    <p:sldId id="15715085" r:id="rId93"/>
    <p:sldId id="15715086" r:id="rId94"/>
    <p:sldId id="15715087" r:id="rId95"/>
    <p:sldId id="15715088" r:id="rId96"/>
    <p:sldId id="15715089" r:id="rId97"/>
    <p:sldId id="15715090" r:id="rId98"/>
    <p:sldId id="15715091" r:id="rId99"/>
    <p:sldId id="15715092" r:id="rId100"/>
    <p:sldId id="15715093" r:id="rId101"/>
    <p:sldId id="15715094" r:id="rId102"/>
    <p:sldId id="15715095" r:id="rId103"/>
    <p:sldId id="15715096" r:id="rId104"/>
    <p:sldId id="15715097" r:id="rId105"/>
    <p:sldId id="15715098" r:id="rId106"/>
    <p:sldId id="15715099" r:id="rId107"/>
    <p:sldId id="15715100" r:id="rId108"/>
    <p:sldId id="15715101" r:id="rId109"/>
    <p:sldId id="15715102" r:id="rId110"/>
    <p:sldId id="15715103" r:id="rId111"/>
    <p:sldId id="15715104" r:id="rId112"/>
    <p:sldId id="15715105" r:id="rId113"/>
    <p:sldId id="15715106" r:id="rId114"/>
    <p:sldId id="15715107" r:id="rId115"/>
    <p:sldId id="15715108" r:id="rId116"/>
    <p:sldId id="15715109" r:id="rId117"/>
    <p:sldId id="15715110" r:id="rId118"/>
    <p:sldId id="15715111" r:id="rId119"/>
    <p:sldId id="15715112" r:id="rId120"/>
    <p:sldId id="15715113" r:id="rId121"/>
    <p:sldId id="15715114" r:id="rId122"/>
    <p:sldId id="15715115" r:id="rId123"/>
    <p:sldId id="15715116" r:id="rId124"/>
    <p:sldId id="15715117" r:id="rId125"/>
    <p:sldId id="15715118" r:id="rId126"/>
    <p:sldId id="15715119" r:id="rId127"/>
    <p:sldId id="15715120" r:id="rId128"/>
    <p:sldId id="15715121" r:id="rId129"/>
    <p:sldId id="15715122" r:id="rId130"/>
    <p:sldId id="15715123" r:id="rId131"/>
    <p:sldId id="15715124" r:id="rId132"/>
    <p:sldId id="15715125" r:id="rId133"/>
    <p:sldId id="15715126" r:id="rId134"/>
    <p:sldId id="15715127" r:id="rId135"/>
    <p:sldId id="15715128" r:id="rId136"/>
    <p:sldId id="15715129" r:id="rId137"/>
    <p:sldId id="15715130" r:id="rId138"/>
    <p:sldId id="15715131" r:id="rId139"/>
    <p:sldId id="15715132" r:id="rId140"/>
    <p:sldId id="15715133" r:id="rId141"/>
    <p:sldId id="15715134" r:id="rId142"/>
    <p:sldId id="15715135" r:id="rId143"/>
  </p:sldIdLst>
  <p:sldSz cx="12192000" cy="6858000"/>
  <p:notesSz cx="6858000" cy="9144000"/>
  <p:custDataLst>
    <p:tags r:id="rId1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9E"/>
    <a:srgbClr val="000000"/>
    <a:srgbClr val="979797"/>
    <a:srgbClr val="ADA19D"/>
    <a:srgbClr val="F0ECF2"/>
    <a:srgbClr val="494958"/>
    <a:srgbClr val="484C58"/>
    <a:srgbClr val="A8A8A8"/>
    <a:srgbClr val="015B9F"/>
    <a:srgbClr val="0291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64" autoAdjust="0"/>
    <p:restoredTop sz="94660"/>
  </p:normalViewPr>
  <p:slideViewPr>
    <p:cSldViewPr snapToGrid="0">
      <p:cViewPr varScale="1">
        <p:scale>
          <a:sx n="62" d="100"/>
          <a:sy n="62" d="100"/>
        </p:scale>
        <p:origin x="704" y="40"/>
      </p:cViewPr>
      <p:guideLst/>
    </p:cSldViewPr>
  </p:slideViewPr>
  <p:notesTextViewPr>
    <p:cViewPr>
      <p:scale>
        <a:sx n="3" d="2"/>
        <a:sy n="3" d="2"/>
      </p:scale>
      <p:origin x="0" y="0"/>
    </p:cViewPr>
  </p:notesTextViewPr>
  <p:sorterViewPr>
    <p:cViewPr>
      <p:scale>
        <a:sx n="100" d="100"/>
        <a:sy n="100" d="100"/>
      </p:scale>
      <p:origin x="0" y="-642"/>
    </p:cViewPr>
  </p:sorterViewPr>
  <p:notesViewPr>
    <p:cSldViewPr snapToGrid="0">
      <p:cViewPr varScale="1">
        <p:scale>
          <a:sx n="60" d="100"/>
          <a:sy n="60" d="100"/>
        </p:scale>
        <p:origin x="1014" y="6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8" Type="http://schemas.openxmlformats.org/officeDocument/2006/relationships/tags" Target="tags/tag42.xml"/><Relationship Id="rId147" Type="http://schemas.openxmlformats.org/officeDocument/2006/relationships/tableStyles" Target="tableStyles.xml"/><Relationship Id="rId146" Type="http://schemas.openxmlformats.org/officeDocument/2006/relationships/viewProps" Target="viewProps.xml"/><Relationship Id="rId145" Type="http://schemas.openxmlformats.org/officeDocument/2006/relationships/presProps" Target="presProps.xml"/><Relationship Id="rId144" Type="http://schemas.openxmlformats.org/officeDocument/2006/relationships/handoutMaster" Target="handoutMasters/handoutMaster1.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5C2F0C-902B-40A3-A4BD-4EF077EA43A2}" type="datetimeFigureOut">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2C1B7-04C4-46E7-9BAA-4B759B4AC2C1}" type="slidenum">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3C9F0365-6E51-42DF-A7F1-912A2B6B56F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830FE25F-8BC0-4BE2-A57A-787CA670B11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325438"/>
            <a:ext cx="10972800" cy="9271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09600" y="1295400"/>
            <a:ext cx="10972800" cy="4876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5ACA17-FE65-47FE-9016-FDB89E2EC47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25438"/>
            <a:ext cx="10972800" cy="927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295400"/>
            <a:ext cx="5384800" cy="4876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97600" y="1295400"/>
            <a:ext cx="5384800" cy="2362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197600" y="3810000"/>
            <a:ext cx="5384800" cy="2362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5ACA17-FE65-47FE-9016-FDB89E2EC47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325438"/>
            <a:ext cx="10972800" cy="927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09600" y="1295400"/>
            <a:ext cx="5384800" cy="4876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7600" y="1295400"/>
            <a:ext cx="5384800" cy="4876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B5ACA17-FE65-47FE-9016-FDB89E2EC47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1" Type="http://schemas.openxmlformats.org/officeDocument/2006/relationships/theme" Target="../theme/theme2.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07C27E53-8393-4364-8F27-75C13D97A0E8}"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93D2807F-E77D-47AF-BE97-7F279468F5B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65A674D8-D595-481B-98B3-1F39AF99B99A}"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B35DD3EC-14B0-476A-A7B6-2379185BAD17}" type="slidenum">
              <a:rPr lang="zh-CN" altLang="en-US" smtClean="0"/>
            </a:fld>
            <a:endParaRPr lang="zh-CN" altLang="en-US" dirty="0"/>
          </a:p>
        </p:txBody>
      </p:sp>
      <p:cxnSp>
        <p:nvCxnSpPr>
          <p:cNvPr id="7" name="直接连接符 6"/>
          <p:cNvCxnSpPr/>
          <p:nvPr userDrawn="1"/>
        </p:nvCxnSpPr>
        <p:spPr>
          <a:xfrm>
            <a:off x="527050" y="923086"/>
            <a:ext cx="111379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等腰三角形 7"/>
          <p:cNvSpPr/>
          <p:nvPr userDrawn="1"/>
        </p:nvSpPr>
        <p:spPr>
          <a:xfrm rot="5400000">
            <a:off x="478876" y="414720"/>
            <a:ext cx="441960" cy="267628"/>
          </a:xfrm>
          <a:prstGeom prst="triangle">
            <a:avLst/>
          </a:prstGeom>
          <a:solidFill>
            <a:srgbClr val="005A9E"/>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5" rIns="91428" bIns="45715" rtlCol="0" anchor="ctr"/>
          <a:lstStyle/>
          <a:p>
            <a:pPr algn="ctr"/>
            <a:endParaRPr lang="zh-CN" altLang="en-US" sz="2400" dirty="0">
              <a:latin typeface="OPPOSans B"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5" Type="http://schemas.openxmlformats.org/officeDocument/2006/relationships/notesSlide" Target="../notesSlides/notesSlide4.xml"/><Relationship Id="rId24" Type="http://schemas.openxmlformats.org/officeDocument/2006/relationships/slideLayout" Target="../slideLayouts/slideLayout2.xml"/><Relationship Id="rId23" Type="http://schemas.openxmlformats.org/officeDocument/2006/relationships/themeOverride" Target="../theme/themeOverride2.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 Id="rId3" Type="http://schemas.openxmlformats.org/officeDocument/2006/relationships/oleObject" Target="../embeddings/oleObject3.bin"/><Relationship Id="rId2" Type="http://schemas.openxmlformats.org/officeDocument/2006/relationships/image" Target="../media/image2.w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5.emf"/><Relationship Id="rId1"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13.xml"/><Relationship Id="rId3" Type="http://schemas.openxmlformats.org/officeDocument/2006/relationships/oleObject" Target="../embeddings/oleObject7.bin"/><Relationship Id="rId2" Type="http://schemas.openxmlformats.org/officeDocument/2006/relationships/image" Target="../media/image6.wmf"/><Relationship Id="rId1"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6" Type="http://schemas.openxmlformats.org/officeDocument/2006/relationships/slideLayout" Target="../slideLayouts/slideLayout7.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14.xml"/><Relationship Id="rId6" Type="http://schemas.openxmlformats.org/officeDocument/2006/relationships/image" Target="../media/image9.emf"/><Relationship Id="rId5" Type="http://schemas.openxmlformats.org/officeDocument/2006/relationships/oleObject" Target="../embeddings/oleObject10.bin"/><Relationship Id="rId4" Type="http://schemas.openxmlformats.org/officeDocument/2006/relationships/image" Target="../media/image8.emf"/><Relationship Id="rId3" Type="http://schemas.openxmlformats.org/officeDocument/2006/relationships/oleObject" Target="../embeddings/oleObject9.bin"/><Relationship Id="rId2" Type="http://schemas.openxmlformats.org/officeDocument/2006/relationships/image" Target="../media/image7.emf"/><Relationship Id="rId1" Type="http://schemas.openxmlformats.org/officeDocument/2006/relationships/oleObject" Target="../embeddings/oleObject8.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11.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1.emf"/><Relationship Id="rId1" Type="http://schemas.openxmlformats.org/officeDocument/2006/relationships/oleObject" Target="../embeddings/oleObject12.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1.emf"/><Relationship Id="rId1" Type="http://schemas.openxmlformats.org/officeDocument/2006/relationships/oleObject" Target="../embeddings/oleObject13.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2.emf"/><Relationship Id="rId1" Type="http://schemas.openxmlformats.org/officeDocument/2006/relationships/oleObject" Target="../embeddings/oleObject14.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12.xml"/><Relationship Id="rId2" Type="http://schemas.openxmlformats.org/officeDocument/2006/relationships/image" Target="../media/image14.emf"/><Relationship Id="rId1" Type="http://schemas.openxmlformats.org/officeDocument/2006/relationships/oleObject" Target="../embeddings/oleObject15.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16.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15.emf"/><Relationship Id="rId1" Type="http://schemas.openxmlformats.org/officeDocument/2006/relationships/oleObject" Target="../embeddings/oleObject17.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18.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19.bin"/></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20.bin"/></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21.bin"/></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wmf"/></Relationships>
</file>

<file path=ppt/slides/_rels/slide116.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22.bin"/></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oleObject" Target="../embeddings/oleObject23.bin"/></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24.bin"/></Relationships>
</file>

<file path=ppt/slides/_rels/slide121.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24.emf"/><Relationship Id="rId1" Type="http://schemas.openxmlformats.org/officeDocument/2006/relationships/oleObject" Target="../embeddings/oleObject25.bin"/></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oleObject" Target="../embeddings/oleObject26.bin"/></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2.xml"/><Relationship Id="rId2" Type="http://schemas.openxmlformats.org/officeDocument/2006/relationships/image" Target="../media/image27.wmf"/><Relationship Id="rId1" Type="http://schemas.openxmlformats.org/officeDocument/2006/relationships/oleObject" Target="../embeddings/oleObject27.bin"/></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28.bin"/></Relationships>
</file>

<file path=ppt/slides/_rels/slide138.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29.emf"/><Relationship Id="rId1" Type="http://schemas.openxmlformats.org/officeDocument/2006/relationships/oleObject" Target="../embeddings/oleObject29.bin"/></Relationships>
</file>

<file path=ppt/slides/_rels/slide139.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30.wmf"/><Relationship Id="rId1" Type="http://schemas.openxmlformats.org/officeDocument/2006/relationships/oleObject" Target="../embeddings/oleObject3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342900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7" name="文本框 283"/>
          <p:cNvSpPr txBox="1"/>
          <p:nvPr/>
        </p:nvSpPr>
        <p:spPr>
          <a:xfrm>
            <a:off x="3065145" y="1728470"/>
            <a:ext cx="6250940" cy="1209675"/>
          </a:xfrm>
          <a:prstGeom prst="rect">
            <a:avLst/>
          </a:prstGeom>
          <a:noFill/>
        </p:spPr>
        <p:txBody>
          <a:bodyPr wrap="square" rtlCol="0">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树</a:t>
            </a:r>
            <a:r>
              <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型结构</a:t>
            </a:r>
            <a:endPar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grpSp>
        <p:nvGrpSpPr>
          <p:cNvPr id="8" name="组合 7"/>
          <p:cNvGrpSpPr/>
          <p:nvPr/>
        </p:nvGrpSpPr>
        <p:grpSpPr>
          <a:xfrm>
            <a:off x="4356353" y="4939300"/>
            <a:ext cx="3950519" cy="1029628"/>
            <a:chOff x="4293107" y="4891174"/>
            <a:chExt cx="3479292" cy="1029628"/>
          </a:xfrm>
        </p:grpSpPr>
        <p:sp>
          <p:nvSpPr>
            <p:cNvPr id="28" name="文本框 27"/>
            <p:cNvSpPr txBox="1"/>
            <p:nvPr/>
          </p:nvSpPr>
          <p:spPr>
            <a:xfrm flipH="1">
              <a:off x="4293107" y="4891174"/>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课程性质：专业</a:t>
              </a:r>
              <a:r>
                <a:rPr lang="zh-CN" altLang="en-US" sz="2000" spc="300" dirty="0" smtClean="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必修课</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sp>
          <p:nvSpPr>
            <p:cNvPr id="30" name="文本框 29"/>
            <p:cNvSpPr txBox="1"/>
            <p:nvPr/>
          </p:nvSpPr>
          <p:spPr>
            <a:xfrm flipH="1">
              <a:off x="4293107" y="5520692"/>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授课对象：本科二年级</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grpSp>
      <p:sp>
        <p:nvSpPr>
          <p:cNvPr id="16" name="矩形 15"/>
          <p:cNvSpPr/>
          <p:nvPr/>
        </p:nvSpPr>
        <p:spPr>
          <a:xfrm>
            <a:off x="2253378" y="3947028"/>
            <a:ext cx="7685244" cy="5868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1796779" y="6270902"/>
            <a:ext cx="8598443" cy="0"/>
          </a:xfrm>
          <a:prstGeom prst="line">
            <a:avLst/>
          </a:prstGeom>
          <a:ln w="12700">
            <a:gradFill>
              <a:gsLst>
                <a:gs pos="0">
                  <a:schemeClr val="accent1">
                    <a:lumMod val="5000"/>
                    <a:lumOff val="95000"/>
                    <a:alpha val="0"/>
                  </a:schemeClr>
                </a:gs>
                <a:gs pos="50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3" name="文本框 283"/>
          <p:cNvSpPr txBox="1"/>
          <p:nvPr/>
        </p:nvSpPr>
        <p:spPr>
          <a:xfrm>
            <a:off x="3000776" y="3992461"/>
            <a:ext cx="638372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1000" normalizeH="0" baseline="0" noProof="0" dirty="0" smtClean="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课程名称：数据结构</a:t>
            </a:r>
            <a:endPar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2" name="文本框 283"/>
          <p:cNvSpPr txBox="1"/>
          <p:nvPr/>
        </p:nvSpPr>
        <p:spPr>
          <a:xfrm>
            <a:off x="271780" y="331470"/>
            <a:ext cx="6191250" cy="46037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0"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pPr algn="l"/>
            <a:r>
              <a:rPr lang="zh-CN" altLang="en-US" dirty="0"/>
              <a:t>节选自第四章 树</a:t>
            </a:r>
            <a:r>
              <a:rPr lang="zh-CN" altLang="en-US" dirty="0"/>
              <a:t>型结构</a:t>
            </a:r>
            <a:endParaRPr lang="zh-CN" altLang="en-US" dirty="0"/>
          </a:p>
        </p:txBody>
      </p:sp>
      <p:sp>
        <p:nvSpPr>
          <p:cNvPr id="13" name="文本框 283"/>
          <p:cNvSpPr txBox="1"/>
          <p:nvPr/>
        </p:nvSpPr>
        <p:spPr>
          <a:xfrm>
            <a:off x="8642774" y="331578"/>
            <a:ext cx="3121044" cy="46037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1"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pPr algn="dist"/>
            <a:r>
              <a:rPr lang="en-US" altLang="zh-CN" i="0" spc="0" dirty="0" smtClean="0"/>
              <a:t>《</a:t>
            </a:r>
            <a:r>
              <a:rPr lang="en-US" altLang="zh-CN" spc="0" dirty="0" smtClean="0"/>
              <a:t> Tree structure</a:t>
            </a:r>
            <a:r>
              <a:rPr lang="en-US" altLang="zh-CN" i="0" spc="0" dirty="0"/>
              <a:t>》</a:t>
            </a:r>
            <a:endParaRPr lang="zh-CN" altLang="en-US" i="0" spc="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r>
              <a:rPr lang="zh-CN" altLang="en-US" sz="3600" b="1" dirty="0">
                <a:solidFill>
                  <a:schemeClr val="bg1"/>
                </a:solidFill>
                <a:latin typeface="微软雅黑" panose="020B0503020204020204" pitchFamily="34" charset="-122"/>
                <a:ea typeface="微软雅黑" panose="020B0503020204020204" pitchFamily="34" charset="-122"/>
                <a:sym typeface="+mn-ea"/>
              </a:rPr>
              <a:t>学习要点</a:t>
            </a:r>
            <a:endParaRPr lang="zh-CN" altLang="en-US" sz="3600" b="1" dirty="0">
              <a:solidFill>
                <a:schemeClr val="bg1"/>
              </a:solidFill>
              <a:latin typeface="微软雅黑" panose="020B0503020204020204" pitchFamily="34" charset="-122"/>
              <a:ea typeface="微软雅黑" panose="020B0503020204020204" pitchFamily="34" charset="-122"/>
              <a:sym typeface="+mn-ea"/>
            </a:endParaRPr>
          </a:p>
        </p:txBody>
      </p:sp>
      <p:sp>
        <p:nvSpPr>
          <p:cNvPr id="5" name="Rectangle 3"/>
          <p:cNvSpPr>
            <a:spLocks noGrp="1"/>
          </p:cNvSpPr>
          <p:nvPr>
            <p:ph idx="1"/>
          </p:nvPr>
        </p:nvSpPr>
        <p:spPr>
          <a:xfrm>
            <a:off x="462280" y="1063625"/>
            <a:ext cx="11202035" cy="5262880"/>
          </a:xfrm>
        </p:spPr>
        <p:txBody>
          <a:bodyPr vert="horz" wrap="square" lIns="91440" tIns="45720" rIns="91440" bIns="45720" anchor="t" anchorCtr="0">
            <a:noAutofit/>
          </a:bodyPr>
          <a:p>
            <a:pPr>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熟练掌握二叉树的结构特性，了解相应的证明方法。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建立存储结构是进行操作的前提。故须熟悉二叉树的各种存储结构、并把握各种存储结构的特点及适用范围。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遍历二叉树是二叉树各种操作的基础。实现二叉树遍历的具体算法与所采用的存储结构有关。掌握各种遍历策略的递归算法，灵活运用遍历算法实现二叉树的其他操作。理解包括层次遍历在内的各种非递归遍历的算法。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理解二叉树线索化的实质是建立结点与其在相应序列中的前驱或后继之间的直接联系，熟练掌握二叉树的线索化过程以及在中序线索化二叉树上找到给定结点的前驱和后继的方法。二叉树的线索化过程是基于对二叉树进行遍历，而线索二叉树上的线索又为相应的遍历提供了方便。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熟悉树的各种存储结构及其特点，掌握树和森林与二叉树的转换方法。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学会编写实现树的各种操作的算法。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理解等价关系和等价类问题。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了解最优树的特性，掌握建立最优树和赫夫曼编码的方法。</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5160"/>
          </a:xfrm>
          <a:prstGeom prst="rect">
            <a:avLst/>
          </a:prstGeom>
          <a:noFill/>
        </p:spPr>
        <p:txBody>
          <a:bodyPr wrap="square" rtlCol="0">
            <a:spAutoFit/>
          </a:body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  树型结构</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Rectangle 3"/>
          <p:cNvSpPr>
            <a:spLocks noGrp="1"/>
          </p:cNvSpPr>
          <p:nvPr>
            <p:ph type="body" idx="4294967295"/>
          </p:nvPr>
        </p:nvSpPr>
        <p:spPr>
          <a:xfrm>
            <a:off x="393065" y="1175385"/>
            <a:ext cx="11200765" cy="5253355"/>
          </a:xfrm>
        </p:spPr>
        <p:txBody>
          <a:bodyPr vert="horz" wrap="square" lIns="91440" tIns="45720" rIns="91440" bIns="45720" anchor="t" anchorCtr="0"/>
          <a:p>
            <a:pPr eaLnBrk="1" hangingPunct="1">
              <a:lnSpc>
                <a:spcPct val="140000"/>
              </a:lnSpc>
            </a:pPr>
            <a:r>
              <a:rPr lang="zh-CN" altLang="en-US" sz="2000" dirty="0">
                <a:latin typeface="微软雅黑" panose="020B0503020204020204" pitchFamily="34" charset="-122"/>
                <a:ea typeface="微软雅黑" panose="020B0503020204020204" pitchFamily="34" charset="-122"/>
              </a:rPr>
              <a:t>树型结构是一种典型的分支结构，并且具有明显的层次特征。</a:t>
            </a:r>
            <a:endParaRPr lang="zh-CN" altLang="en-US" sz="2000" dirty="0">
              <a:latin typeface="微软雅黑" panose="020B0503020204020204" pitchFamily="34" charset="-122"/>
              <a:ea typeface="微软雅黑" panose="020B0503020204020204" pitchFamily="34" charset="-122"/>
            </a:endParaRPr>
          </a:p>
          <a:p>
            <a:pPr eaLnBrk="1" hangingPunct="1">
              <a:lnSpc>
                <a:spcPct val="140000"/>
              </a:lnSpc>
            </a:pPr>
            <a:r>
              <a:rPr lang="zh-CN" altLang="en-US" sz="2000" dirty="0">
                <a:latin typeface="微软雅黑" panose="020B0503020204020204" pitchFamily="34" charset="-122"/>
                <a:ea typeface="微软雅黑" panose="020B0503020204020204" pitchFamily="34" charset="-122"/>
              </a:rPr>
              <a:t>树型结构在客观世界中是广泛存在的，如家族谱、组织机构、博弈等都可用树型结构形象地表示。</a:t>
            </a:r>
            <a:endParaRPr lang="zh-CN" altLang="en-US" sz="2000" dirty="0">
              <a:latin typeface="微软雅黑" panose="020B0503020204020204" pitchFamily="34" charset="-122"/>
              <a:ea typeface="微软雅黑" panose="020B0503020204020204" pitchFamily="34" charset="-122"/>
            </a:endParaRPr>
          </a:p>
          <a:p>
            <a:pPr eaLnBrk="1" hangingPunct="1">
              <a:lnSpc>
                <a:spcPct val="140000"/>
              </a:lnSpc>
            </a:pPr>
            <a:r>
              <a:rPr lang="zh-CN" altLang="en-US" sz="2000" dirty="0">
                <a:latin typeface="微软雅黑" panose="020B0503020204020204" pitchFamily="34" charset="-122"/>
                <a:ea typeface="微软雅黑" panose="020B0503020204020204" pitchFamily="34" charset="-122"/>
              </a:rPr>
              <a:t>树型结构在计算机领域中也有着广泛的应用：编译程序、数据库系统、分析算法</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0"/>
            <a:ext cx="3770345"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grpSp>
        <p:nvGrpSpPr>
          <p:cNvPr id="35" name="组合 34"/>
          <p:cNvGrpSpPr/>
          <p:nvPr/>
        </p:nvGrpSpPr>
        <p:grpSpPr>
          <a:xfrm>
            <a:off x="538579" y="2731214"/>
            <a:ext cx="2732672" cy="1290429"/>
            <a:chOff x="1960631" y="2033950"/>
            <a:chExt cx="2732672" cy="1290429"/>
          </a:xfrm>
        </p:grpSpPr>
        <p:sp>
          <p:nvSpPr>
            <p:cNvPr id="36" name="Title 1"/>
            <p:cNvSpPr txBox="1"/>
            <p:nvPr/>
          </p:nvSpPr>
          <p:spPr>
            <a:xfrm>
              <a:off x="2390080" y="2033950"/>
              <a:ext cx="1873774" cy="761875"/>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tx1"/>
                  </a:solidFill>
                  <a:latin typeface="Georgia" panose="02040502050405020303"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i="0"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Calibri" panose="020F0502020204030204" pitchFamily="34" charset="0"/>
                </a:rPr>
                <a:t>目录</a:t>
              </a:r>
              <a:endParaRPr kumimoji="0" lang="en-US" sz="5400" i="0"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Calibri" panose="020F0502020204030204" pitchFamily="34" charset="0"/>
              </a:endParaRPr>
            </a:p>
          </p:txBody>
        </p:sp>
        <p:sp>
          <p:nvSpPr>
            <p:cNvPr id="37" name="文本框 36"/>
            <p:cNvSpPr txBox="1"/>
            <p:nvPr/>
          </p:nvSpPr>
          <p:spPr>
            <a:xfrm>
              <a:off x="1960631" y="2924269"/>
              <a:ext cx="2732672" cy="400110"/>
            </a:xfrm>
            <a:prstGeom prst="rect">
              <a:avLst/>
            </a:prstGeom>
            <a:noFill/>
          </p:spPr>
          <p:txBody>
            <a:bodyPr wrap="square">
              <a:spAutoFit/>
            </a:bodyPr>
            <a:lstStyle/>
            <a:p>
              <a:pPr algn="ctr"/>
              <a:r>
                <a:rPr lang="en-US" altLang="zh-CN" sz="2000" b="1" spc="3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Calibri" panose="020F0502020204030204" pitchFamily="34" charset="0"/>
                </a:rPr>
                <a:t>CONTENTS</a:t>
              </a:r>
              <a:endParaRPr lang="zh-CN" altLang="en-US" sz="2000" b="1" spc="300" dirty="0">
                <a:solidFill>
                  <a:schemeClr val="bg1"/>
                </a:solidFill>
                <a:latin typeface="微软雅黑" panose="020B0503020204020204" pitchFamily="34" charset="-122"/>
                <a:ea typeface="微软雅黑" panose="020B0503020204020204" pitchFamily="34" charset="-122"/>
                <a:cs typeface="OPPOSans B" panose="00020600040101010101" pitchFamily="18" charset="-122"/>
                <a:sym typeface="Calibri" panose="020F0502020204030204" pitchFamily="34" charset="0"/>
              </a:endParaRPr>
            </a:p>
          </p:txBody>
        </p:sp>
      </p:grpSp>
      <p:grpSp>
        <p:nvGrpSpPr>
          <p:cNvPr id="12" name="组合 11"/>
          <p:cNvGrpSpPr/>
          <p:nvPr>
            <p:custDataLst>
              <p:tags r:id="rId1"/>
            </p:custDataLst>
          </p:nvPr>
        </p:nvGrpSpPr>
        <p:grpSpPr>
          <a:xfrm>
            <a:off x="5054619" y="1600432"/>
            <a:ext cx="6229350" cy="3657137"/>
            <a:chOff x="5054619" y="2003043"/>
            <a:chExt cx="6229350" cy="3657137"/>
          </a:xfrm>
        </p:grpSpPr>
        <p:grpSp>
          <p:nvGrpSpPr>
            <p:cNvPr id="7" name="组合 6"/>
            <p:cNvGrpSpPr/>
            <p:nvPr/>
          </p:nvGrpSpPr>
          <p:grpSpPr>
            <a:xfrm>
              <a:off x="5054619" y="2003043"/>
              <a:ext cx="6137122" cy="649706"/>
              <a:chOff x="5054619" y="1197820"/>
              <a:chExt cx="6137122" cy="649706"/>
            </a:xfrm>
          </p:grpSpPr>
          <p:sp>
            <p:nvSpPr>
              <p:cNvPr id="51" name="矩形 50"/>
              <p:cNvSpPr/>
              <p:nvPr>
                <p:custDataLst>
                  <p:tags r:id="rId2"/>
                </p:custDataLst>
              </p:nvPr>
            </p:nvSpPr>
            <p:spPr>
              <a:xfrm>
                <a:off x="5265495" y="1197820"/>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2" name="矩形 51"/>
              <p:cNvSpPr/>
              <p:nvPr>
                <p:custDataLst>
                  <p:tags r:id="rId3"/>
                </p:custDataLst>
              </p:nvPr>
            </p:nvSpPr>
            <p:spPr>
              <a:xfrm>
                <a:off x="6465289" y="1197820"/>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3" name="文本框 9"/>
              <p:cNvSpPr txBox="1"/>
              <p:nvPr>
                <p:custDataLst>
                  <p:tags r:id="rId4"/>
                </p:custDataLst>
              </p:nvPr>
            </p:nvSpPr>
            <p:spPr>
              <a:xfrm>
                <a:off x="5054619" y="1286814"/>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rPr>
                  <a:t>01</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endParaRPr>
              </a:p>
            </p:txBody>
          </p:sp>
          <p:sp>
            <p:nvSpPr>
              <p:cNvPr id="54" name="TextBox 49"/>
              <p:cNvSpPr txBox="1"/>
              <p:nvPr>
                <p:custDataLst>
                  <p:tags r:id="rId5"/>
                </p:custDataLst>
              </p:nvPr>
            </p:nvSpPr>
            <p:spPr>
              <a:xfrm>
                <a:off x="7557789" y="1256240"/>
                <a:ext cx="3362960" cy="334184"/>
              </a:xfrm>
              <a:prstGeom prst="rect">
                <a:avLst/>
              </a:prstGeom>
              <a:noFill/>
            </p:spPr>
            <p:txBody>
              <a:bodyPr wrap="square" rtlCol="0">
                <a:spAutoFit/>
              </a:bodyPr>
              <a:lstStyle/>
              <a:p>
                <a:pPr eaLnBrk="1" hangingPunct="1"/>
                <a:r>
                  <a:rPr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定义及基本术语</a:t>
                </a:r>
                <a:endParaRPr lang="zh-CN" altLang="en-US" sz="3200" b="1" spc="600" dirty="0">
                  <a:solidFill>
                    <a:schemeClr val="bg1"/>
                  </a:solidFill>
                  <a:latin typeface="微软雅黑" panose="020B0503020204020204" pitchFamily="34" charset="-122"/>
                  <a:ea typeface="微软雅黑" panose="020B0503020204020204" pitchFamily="34" charset="-122"/>
                  <a:sym typeface="庞门正道标题体" panose="02010600030101010101" pitchFamily="2" charset="-122"/>
                </a:endParaRPr>
              </a:p>
            </p:txBody>
          </p:sp>
          <p:sp>
            <p:nvSpPr>
              <p:cNvPr id="72" name="progress-report_18229"/>
              <p:cNvSpPr/>
              <p:nvPr>
                <p:custDataLst>
                  <p:tags r:id="rId6"/>
                </p:custDataLst>
              </p:nvPr>
            </p:nvSpPr>
            <p:spPr>
              <a:xfrm>
                <a:off x="6739399" y="1295210"/>
                <a:ext cx="473328" cy="453283"/>
              </a:xfrm>
              <a:custGeom>
                <a:avLst/>
                <a:gdLst>
                  <a:gd name="T0" fmla="*/ 9715 w 10362"/>
                  <a:gd name="T1" fmla="*/ 3586 h 10386"/>
                  <a:gd name="T2" fmla="*/ 8844 w 10362"/>
                  <a:gd name="T3" fmla="*/ 3586 h 10386"/>
                  <a:gd name="T4" fmla="*/ 5353 w 10362"/>
                  <a:gd name="T5" fmla="*/ 95 h 10386"/>
                  <a:gd name="T6" fmla="*/ 5010 w 10362"/>
                  <a:gd name="T7" fmla="*/ 95 h 10386"/>
                  <a:gd name="T8" fmla="*/ 1519 w 10362"/>
                  <a:gd name="T9" fmla="*/ 3586 h 10386"/>
                  <a:gd name="T10" fmla="*/ 647 w 10362"/>
                  <a:gd name="T11" fmla="*/ 3586 h 10386"/>
                  <a:gd name="T12" fmla="*/ 0 w 10362"/>
                  <a:gd name="T13" fmla="*/ 4234 h 10386"/>
                  <a:gd name="T14" fmla="*/ 0 w 10362"/>
                  <a:gd name="T15" fmla="*/ 9739 h 10386"/>
                  <a:gd name="T16" fmla="*/ 647 w 10362"/>
                  <a:gd name="T17" fmla="*/ 10386 h 10386"/>
                  <a:gd name="T18" fmla="*/ 9715 w 10362"/>
                  <a:gd name="T19" fmla="*/ 10386 h 10386"/>
                  <a:gd name="T20" fmla="*/ 10362 w 10362"/>
                  <a:gd name="T21" fmla="*/ 9739 h 10386"/>
                  <a:gd name="T22" fmla="*/ 10362 w 10362"/>
                  <a:gd name="T23" fmla="*/ 4234 h 10386"/>
                  <a:gd name="T24" fmla="*/ 9715 w 10362"/>
                  <a:gd name="T25" fmla="*/ 3586 h 10386"/>
                  <a:gd name="T26" fmla="*/ 5181 w 10362"/>
                  <a:gd name="T27" fmla="*/ 610 h 10386"/>
                  <a:gd name="T28" fmla="*/ 8157 w 10362"/>
                  <a:gd name="T29" fmla="*/ 3586 h 10386"/>
                  <a:gd name="T30" fmla="*/ 2206 w 10362"/>
                  <a:gd name="T31" fmla="*/ 3586 h 10386"/>
                  <a:gd name="T32" fmla="*/ 5181 w 10362"/>
                  <a:gd name="T33" fmla="*/ 610 h 10386"/>
                  <a:gd name="T34" fmla="*/ 2031 w 10362"/>
                  <a:gd name="T35" fmla="*/ 9091 h 10386"/>
                  <a:gd name="T36" fmla="*/ 1545 w 10362"/>
                  <a:gd name="T37" fmla="*/ 8605 h 10386"/>
                  <a:gd name="T38" fmla="*/ 2031 w 10362"/>
                  <a:gd name="T39" fmla="*/ 8119 h 10386"/>
                  <a:gd name="T40" fmla="*/ 2517 w 10362"/>
                  <a:gd name="T41" fmla="*/ 8605 h 10386"/>
                  <a:gd name="T42" fmla="*/ 2031 w 10362"/>
                  <a:gd name="T43" fmla="*/ 9091 h 10386"/>
                  <a:gd name="T44" fmla="*/ 2031 w 10362"/>
                  <a:gd name="T45" fmla="*/ 7471 h 10386"/>
                  <a:gd name="T46" fmla="*/ 1545 w 10362"/>
                  <a:gd name="T47" fmla="*/ 6985 h 10386"/>
                  <a:gd name="T48" fmla="*/ 2031 w 10362"/>
                  <a:gd name="T49" fmla="*/ 6499 h 10386"/>
                  <a:gd name="T50" fmla="*/ 2517 w 10362"/>
                  <a:gd name="T51" fmla="*/ 6985 h 10386"/>
                  <a:gd name="T52" fmla="*/ 2031 w 10362"/>
                  <a:gd name="T53" fmla="*/ 7471 h 10386"/>
                  <a:gd name="T54" fmla="*/ 2031 w 10362"/>
                  <a:gd name="T55" fmla="*/ 5852 h 10386"/>
                  <a:gd name="T56" fmla="*/ 1545 w 10362"/>
                  <a:gd name="T57" fmla="*/ 5366 h 10386"/>
                  <a:gd name="T58" fmla="*/ 2031 w 10362"/>
                  <a:gd name="T59" fmla="*/ 4880 h 10386"/>
                  <a:gd name="T60" fmla="*/ 2517 w 10362"/>
                  <a:gd name="T61" fmla="*/ 5366 h 10386"/>
                  <a:gd name="T62" fmla="*/ 2031 w 10362"/>
                  <a:gd name="T63" fmla="*/ 5852 h 10386"/>
                  <a:gd name="T64" fmla="*/ 8817 w 10362"/>
                  <a:gd name="T65" fmla="*/ 8848 h 10386"/>
                  <a:gd name="T66" fmla="*/ 3636 w 10362"/>
                  <a:gd name="T67" fmla="*/ 8848 h 10386"/>
                  <a:gd name="T68" fmla="*/ 3394 w 10362"/>
                  <a:gd name="T69" fmla="*/ 8605 h 10386"/>
                  <a:gd name="T70" fmla="*/ 3636 w 10362"/>
                  <a:gd name="T71" fmla="*/ 8363 h 10386"/>
                  <a:gd name="T72" fmla="*/ 8817 w 10362"/>
                  <a:gd name="T73" fmla="*/ 8363 h 10386"/>
                  <a:gd name="T74" fmla="*/ 9060 w 10362"/>
                  <a:gd name="T75" fmla="*/ 8605 h 10386"/>
                  <a:gd name="T76" fmla="*/ 8817 w 10362"/>
                  <a:gd name="T77" fmla="*/ 8848 h 10386"/>
                  <a:gd name="T78" fmla="*/ 8817 w 10362"/>
                  <a:gd name="T79" fmla="*/ 7229 h 10386"/>
                  <a:gd name="T80" fmla="*/ 3636 w 10362"/>
                  <a:gd name="T81" fmla="*/ 7229 h 10386"/>
                  <a:gd name="T82" fmla="*/ 3394 w 10362"/>
                  <a:gd name="T83" fmla="*/ 6986 h 10386"/>
                  <a:gd name="T84" fmla="*/ 3636 w 10362"/>
                  <a:gd name="T85" fmla="*/ 6744 h 10386"/>
                  <a:gd name="T86" fmla="*/ 8817 w 10362"/>
                  <a:gd name="T87" fmla="*/ 6744 h 10386"/>
                  <a:gd name="T88" fmla="*/ 9060 w 10362"/>
                  <a:gd name="T89" fmla="*/ 6986 h 10386"/>
                  <a:gd name="T90" fmla="*/ 8817 w 10362"/>
                  <a:gd name="T91" fmla="*/ 7229 h 10386"/>
                  <a:gd name="T92" fmla="*/ 8817 w 10362"/>
                  <a:gd name="T93" fmla="*/ 5610 h 10386"/>
                  <a:gd name="T94" fmla="*/ 3636 w 10362"/>
                  <a:gd name="T95" fmla="*/ 5610 h 10386"/>
                  <a:gd name="T96" fmla="*/ 3394 w 10362"/>
                  <a:gd name="T97" fmla="*/ 5368 h 10386"/>
                  <a:gd name="T98" fmla="*/ 3636 w 10362"/>
                  <a:gd name="T99" fmla="*/ 5125 h 10386"/>
                  <a:gd name="T100" fmla="*/ 8817 w 10362"/>
                  <a:gd name="T101" fmla="*/ 5125 h 10386"/>
                  <a:gd name="T102" fmla="*/ 9060 w 10362"/>
                  <a:gd name="T103" fmla="*/ 5368 h 10386"/>
                  <a:gd name="T104" fmla="*/ 8817 w 10362"/>
                  <a:gd name="T105" fmla="*/ 5610 h 10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362" h="10386">
                    <a:moveTo>
                      <a:pt x="9715" y="3586"/>
                    </a:moveTo>
                    <a:lnTo>
                      <a:pt x="8844" y="3586"/>
                    </a:lnTo>
                    <a:lnTo>
                      <a:pt x="5353" y="95"/>
                    </a:lnTo>
                    <a:cubicBezTo>
                      <a:pt x="5258" y="0"/>
                      <a:pt x="5105" y="0"/>
                      <a:pt x="5010" y="95"/>
                    </a:cubicBezTo>
                    <a:lnTo>
                      <a:pt x="1519" y="3586"/>
                    </a:lnTo>
                    <a:lnTo>
                      <a:pt x="647" y="3586"/>
                    </a:lnTo>
                    <a:cubicBezTo>
                      <a:pt x="290" y="3586"/>
                      <a:pt x="0" y="3876"/>
                      <a:pt x="0" y="4234"/>
                    </a:cubicBezTo>
                    <a:lnTo>
                      <a:pt x="0" y="9739"/>
                    </a:lnTo>
                    <a:cubicBezTo>
                      <a:pt x="0" y="10096"/>
                      <a:pt x="290" y="10386"/>
                      <a:pt x="647" y="10386"/>
                    </a:cubicBezTo>
                    <a:lnTo>
                      <a:pt x="9715" y="10386"/>
                    </a:lnTo>
                    <a:cubicBezTo>
                      <a:pt x="10072" y="10386"/>
                      <a:pt x="10362" y="10096"/>
                      <a:pt x="10362" y="9739"/>
                    </a:cubicBezTo>
                    <a:lnTo>
                      <a:pt x="10362" y="4234"/>
                    </a:lnTo>
                    <a:cubicBezTo>
                      <a:pt x="10362" y="3876"/>
                      <a:pt x="10072" y="3586"/>
                      <a:pt x="9715" y="3586"/>
                    </a:cubicBezTo>
                    <a:close/>
                    <a:moveTo>
                      <a:pt x="5181" y="610"/>
                    </a:moveTo>
                    <a:lnTo>
                      <a:pt x="8157" y="3586"/>
                    </a:lnTo>
                    <a:lnTo>
                      <a:pt x="2206" y="3586"/>
                    </a:lnTo>
                    <a:lnTo>
                      <a:pt x="5181" y="610"/>
                    </a:lnTo>
                    <a:close/>
                    <a:moveTo>
                      <a:pt x="2031" y="9091"/>
                    </a:moveTo>
                    <a:cubicBezTo>
                      <a:pt x="1762" y="9091"/>
                      <a:pt x="1545" y="8874"/>
                      <a:pt x="1545" y="8605"/>
                    </a:cubicBezTo>
                    <a:cubicBezTo>
                      <a:pt x="1545" y="8336"/>
                      <a:pt x="1762" y="8119"/>
                      <a:pt x="2031" y="8119"/>
                    </a:cubicBezTo>
                    <a:cubicBezTo>
                      <a:pt x="2300" y="8119"/>
                      <a:pt x="2517" y="8336"/>
                      <a:pt x="2517" y="8605"/>
                    </a:cubicBezTo>
                    <a:cubicBezTo>
                      <a:pt x="2517" y="8874"/>
                      <a:pt x="2300" y="9091"/>
                      <a:pt x="2031" y="9091"/>
                    </a:cubicBezTo>
                    <a:close/>
                    <a:moveTo>
                      <a:pt x="2031" y="7471"/>
                    </a:moveTo>
                    <a:cubicBezTo>
                      <a:pt x="1762" y="7471"/>
                      <a:pt x="1545" y="7254"/>
                      <a:pt x="1545" y="6985"/>
                    </a:cubicBezTo>
                    <a:cubicBezTo>
                      <a:pt x="1545" y="6716"/>
                      <a:pt x="1762" y="6499"/>
                      <a:pt x="2031" y="6499"/>
                    </a:cubicBezTo>
                    <a:cubicBezTo>
                      <a:pt x="2300" y="6499"/>
                      <a:pt x="2517" y="6716"/>
                      <a:pt x="2517" y="6985"/>
                    </a:cubicBezTo>
                    <a:cubicBezTo>
                      <a:pt x="2517" y="7254"/>
                      <a:pt x="2300" y="7471"/>
                      <a:pt x="2031" y="7471"/>
                    </a:cubicBezTo>
                    <a:close/>
                    <a:moveTo>
                      <a:pt x="2031" y="5852"/>
                    </a:moveTo>
                    <a:cubicBezTo>
                      <a:pt x="1762" y="5852"/>
                      <a:pt x="1545" y="5635"/>
                      <a:pt x="1545" y="5366"/>
                    </a:cubicBezTo>
                    <a:cubicBezTo>
                      <a:pt x="1545" y="5098"/>
                      <a:pt x="1762" y="4880"/>
                      <a:pt x="2031" y="4880"/>
                    </a:cubicBezTo>
                    <a:cubicBezTo>
                      <a:pt x="2300" y="4880"/>
                      <a:pt x="2517" y="5098"/>
                      <a:pt x="2517" y="5366"/>
                    </a:cubicBezTo>
                    <a:cubicBezTo>
                      <a:pt x="2517" y="5635"/>
                      <a:pt x="2300" y="5852"/>
                      <a:pt x="2031" y="5852"/>
                    </a:cubicBezTo>
                    <a:close/>
                    <a:moveTo>
                      <a:pt x="8817" y="8848"/>
                    </a:moveTo>
                    <a:lnTo>
                      <a:pt x="3636" y="8848"/>
                    </a:lnTo>
                    <a:cubicBezTo>
                      <a:pt x="3502" y="8848"/>
                      <a:pt x="3394" y="8739"/>
                      <a:pt x="3394" y="8605"/>
                    </a:cubicBezTo>
                    <a:cubicBezTo>
                      <a:pt x="3394" y="8471"/>
                      <a:pt x="3502" y="8363"/>
                      <a:pt x="3636" y="8363"/>
                    </a:cubicBezTo>
                    <a:lnTo>
                      <a:pt x="8817" y="8363"/>
                    </a:lnTo>
                    <a:cubicBezTo>
                      <a:pt x="8951" y="8363"/>
                      <a:pt x="9060" y="8471"/>
                      <a:pt x="9060" y="8605"/>
                    </a:cubicBezTo>
                    <a:cubicBezTo>
                      <a:pt x="9060" y="8739"/>
                      <a:pt x="8951" y="8848"/>
                      <a:pt x="8817" y="8848"/>
                    </a:cubicBezTo>
                    <a:close/>
                    <a:moveTo>
                      <a:pt x="8817" y="7229"/>
                    </a:moveTo>
                    <a:lnTo>
                      <a:pt x="3636" y="7229"/>
                    </a:lnTo>
                    <a:cubicBezTo>
                      <a:pt x="3502" y="7229"/>
                      <a:pt x="3394" y="7120"/>
                      <a:pt x="3394" y="6986"/>
                    </a:cubicBezTo>
                    <a:cubicBezTo>
                      <a:pt x="3394" y="6853"/>
                      <a:pt x="3502" y="6744"/>
                      <a:pt x="3636" y="6744"/>
                    </a:cubicBezTo>
                    <a:lnTo>
                      <a:pt x="8817" y="6744"/>
                    </a:lnTo>
                    <a:cubicBezTo>
                      <a:pt x="8951" y="6744"/>
                      <a:pt x="9060" y="6853"/>
                      <a:pt x="9060" y="6986"/>
                    </a:cubicBezTo>
                    <a:cubicBezTo>
                      <a:pt x="9060" y="7120"/>
                      <a:pt x="8951" y="7229"/>
                      <a:pt x="8817" y="7229"/>
                    </a:cubicBezTo>
                    <a:close/>
                    <a:moveTo>
                      <a:pt x="8817" y="5610"/>
                    </a:moveTo>
                    <a:lnTo>
                      <a:pt x="3636" y="5610"/>
                    </a:lnTo>
                    <a:cubicBezTo>
                      <a:pt x="3502" y="5610"/>
                      <a:pt x="3394" y="5501"/>
                      <a:pt x="3394" y="5368"/>
                    </a:cubicBezTo>
                    <a:cubicBezTo>
                      <a:pt x="3394" y="5234"/>
                      <a:pt x="3502" y="5125"/>
                      <a:pt x="3636" y="5125"/>
                    </a:cubicBezTo>
                    <a:lnTo>
                      <a:pt x="8817" y="5125"/>
                    </a:lnTo>
                    <a:cubicBezTo>
                      <a:pt x="8951" y="5125"/>
                      <a:pt x="9060" y="5234"/>
                      <a:pt x="9060" y="5368"/>
                    </a:cubicBezTo>
                    <a:cubicBezTo>
                      <a:pt x="9060" y="5501"/>
                      <a:pt x="8951" y="5610"/>
                      <a:pt x="8817" y="561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5054619" y="3005520"/>
              <a:ext cx="6137122" cy="649706"/>
              <a:chOff x="5054619" y="3078396"/>
              <a:chExt cx="6137122" cy="649706"/>
            </a:xfrm>
          </p:grpSpPr>
          <p:sp>
            <p:nvSpPr>
              <p:cNvPr id="38" name="矩形 37"/>
              <p:cNvSpPr/>
              <p:nvPr>
                <p:custDataLst>
                  <p:tags r:id="rId7"/>
                </p:custDataLst>
              </p:nvPr>
            </p:nvSpPr>
            <p:spPr>
              <a:xfrm>
                <a:off x="5265495" y="3078396"/>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39" name="矩形 38"/>
              <p:cNvSpPr/>
              <p:nvPr>
                <p:custDataLst>
                  <p:tags r:id="rId8"/>
                </p:custDataLst>
              </p:nvPr>
            </p:nvSpPr>
            <p:spPr>
              <a:xfrm>
                <a:off x="6465289" y="3078396"/>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40" name="文本框 9"/>
              <p:cNvSpPr txBox="1"/>
              <p:nvPr>
                <p:custDataLst>
                  <p:tags r:id="rId9"/>
                </p:custDataLst>
              </p:nvPr>
            </p:nvSpPr>
            <p:spPr>
              <a:xfrm>
                <a:off x="5054619" y="3167390"/>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rPr>
                  <a:t>02</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endParaRPr>
              </a:p>
            </p:txBody>
          </p:sp>
          <p:sp>
            <p:nvSpPr>
              <p:cNvPr id="41" name="TextBox 49"/>
              <p:cNvSpPr txBox="1"/>
              <p:nvPr>
                <p:custDataLst>
                  <p:tags r:id="rId10"/>
                </p:custDataLst>
              </p:nvPr>
            </p:nvSpPr>
            <p:spPr>
              <a:xfrm>
                <a:off x="7557740" y="3136612"/>
                <a:ext cx="2654771" cy="549497"/>
              </a:xfrm>
              <a:prstGeom prst="rect">
                <a:avLst/>
              </a:prstGeom>
              <a:noFill/>
            </p:spPr>
            <p:txBody>
              <a:bodyPr wrap="square" rtlCol="0">
                <a:spAutoFit/>
              </a:bodyPr>
              <a:lstStyle/>
              <a:p>
                <a:pPr eaLnBrk="1" hangingPunct="1"/>
                <a:r>
                  <a:rPr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二叉树</a:t>
                </a:r>
                <a:endParaRPr lang="zh-CN" altLang="en-US" sz="3200" b="1" spc="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1" name="progress-report_18229"/>
              <p:cNvSpPr/>
              <p:nvPr>
                <p:custDataLst>
                  <p:tags r:id="rId11"/>
                </p:custDataLst>
              </p:nvPr>
            </p:nvSpPr>
            <p:spPr>
              <a:xfrm>
                <a:off x="6738867" y="3175786"/>
                <a:ext cx="474393" cy="453283"/>
              </a:xfrm>
              <a:custGeom>
                <a:avLst/>
                <a:gdLst>
                  <a:gd name="T0" fmla="*/ 12774 w 12774"/>
                  <a:gd name="T1" fmla="*/ 3193 h 12774"/>
                  <a:gd name="T2" fmla="*/ 9581 w 12774"/>
                  <a:gd name="T3" fmla="*/ 0 h 12774"/>
                  <a:gd name="T4" fmla="*/ 6387 w 12774"/>
                  <a:gd name="T5" fmla="*/ 3193 h 12774"/>
                  <a:gd name="T6" fmla="*/ 3193 w 12774"/>
                  <a:gd name="T7" fmla="*/ 0 h 12774"/>
                  <a:gd name="T8" fmla="*/ 0 w 12774"/>
                  <a:gd name="T9" fmla="*/ 3193 h 12774"/>
                  <a:gd name="T10" fmla="*/ 3193 w 12774"/>
                  <a:gd name="T11" fmla="*/ 6387 h 12774"/>
                  <a:gd name="T12" fmla="*/ 0 w 12774"/>
                  <a:gd name="T13" fmla="*/ 9581 h 12774"/>
                  <a:gd name="T14" fmla="*/ 0 w 12774"/>
                  <a:gd name="T15" fmla="*/ 12774 h 12774"/>
                  <a:gd name="T16" fmla="*/ 3193 w 12774"/>
                  <a:gd name="T17" fmla="*/ 12774 h 12774"/>
                  <a:gd name="T18" fmla="*/ 6387 w 12774"/>
                  <a:gd name="T19" fmla="*/ 9581 h 12774"/>
                  <a:gd name="T20" fmla="*/ 9581 w 12774"/>
                  <a:gd name="T21" fmla="*/ 12774 h 12774"/>
                  <a:gd name="T22" fmla="*/ 12774 w 12774"/>
                  <a:gd name="T23" fmla="*/ 9581 h 12774"/>
                  <a:gd name="T24" fmla="*/ 9581 w 12774"/>
                  <a:gd name="T25" fmla="*/ 6387 h 12774"/>
                  <a:gd name="T26" fmla="*/ 12774 w 12774"/>
                  <a:gd name="T27" fmla="*/ 3193 h 12774"/>
                  <a:gd name="T28" fmla="*/ 3273 w 12774"/>
                  <a:gd name="T29" fmla="*/ 5349 h 12774"/>
                  <a:gd name="T30" fmla="*/ 4630 w 12774"/>
                  <a:gd name="T31" fmla="*/ 3992 h 12774"/>
                  <a:gd name="T32" fmla="*/ 4072 w 12774"/>
                  <a:gd name="T33" fmla="*/ 3433 h 12774"/>
                  <a:gd name="T34" fmla="*/ 2714 w 12774"/>
                  <a:gd name="T35" fmla="*/ 4790 h 12774"/>
                  <a:gd name="T36" fmla="*/ 2235 w 12774"/>
                  <a:gd name="T37" fmla="*/ 4311 h 12774"/>
                  <a:gd name="T38" fmla="*/ 3673 w 12774"/>
                  <a:gd name="T39" fmla="*/ 2875 h 12774"/>
                  <a:gd name="T40" fmla="*/ 3033 w 12774"/>
                  <a:gd name="T41" fmla="*/ 2315 h 12774"/>
                  <a:gd name="T42" fmla="*/ 1677 w 12774"/>
                  <a:gd name="T43" fmla="*/ 3753 h 12774"/>
                  <a:gd name="T44" fmla="*/ 1117 w 12774"/>
                  <a:gd name="T45" fmla="*/ 3194 h 12774"/>
                  <a:gd name="T46" fmla="*/ 3193 w 12774"/>
                  <a:gd name="T47" fmla="*/ 1118 h 12774"/>
                  <a:gd name="T48" fmla="*/ 5827 w 12774"/>
                  <a:gd name="T49" fmla="*/ 3752 h 12774"/>
                  <a:gd name="T50" fmla="*/ 3752 w 12774"/>
                  <a:gd name="T51" fmla="*/ 5828 h 12774"/>
                  <a:gd name="T52" fmla="*/ 3273 w 12774"/>
                  <a:gd name="T53" fmla="*/ 5349 h 12774"/>
                  <a:gd name="T54" fmla="*/ 798 w 12774"/>
                  <a:gd name="T55" fmla="*/ 11976 h 12774"/>
                  <a:gd name="T56" fmla="*/ 798 w 12774"/>
                  <a:gd name="T57" fmla="*/ 10379 h 12774"/>
                  <a:gd name="T58" fmla="*/ 2395 w 12774"/>
                  <a:gd name="T59" fmla="*/ 11976 h 12774"/>
                  <a:gd name="T60" fmla="*/ 798 w 12774"/>
                  <a:gd name="T61" fmla="*/ 11976 h 12774"/>
                  <a:gd name="T62" fmla="*/ 3193 w 12774"/>
                  <a:gd name="T63" fmla="*/ 11657 h 12774"/>
                  <a:gd name="T64" fmla="*/ 1117 w 12774"/>
                  <a:gd name="T65" fmla="*/ 9581 h 12774"/>
                  <a:gd name="T66" fmla="*/ 9581 w 12774"/>
                  <a:gd name="T67" fmla="*/ 1117 h 12774"/>
                  <a:gd name="T68" fmla="*/ 11657 w 12774"/>
                  <a:gd name="T69" fmla="*/ 3193 h 12774"/>
                  <a:gd name="T70" fmla="*/ 3193 w 12774"/>
                  <a:gd name="T71" fmla="*/ 11657 h 12774"/>
                  <a:gd name="T72" fmla="*/ 11657 w 12774"/>
                  <a:gd name="T73" fmla="*/ 9581 h 12774"/>
                  <a:gd name="T74" fmla="*/ 9581 w 12774"/>
                  <a:gd name="T75" fmla="*/ 11657 h 12774"/>
                  <a:gd name="T76" fmla="*/ 9022 w 12774"/>
                  <a:gd name="T77" fmla="*/ 11097 h 12774"/>
                  <a:gd name="T78" fmla="*/ 10459 w 12774"/>
                  <a:gd name="T79" fmla="*/ 9661 h 12774"/>
                  <a:gd name="T80" fmla="*/ 9900 w 12774"/>
                  <a:gd name="T81" fmla="*/ 9101 h 12774"/>
                  <a:gd name="T82" fmla="*/ 8463 w 12774"/>
                  <a:gd name="T83" fmla="*/ 10539 h 12774"/>
                  <a:gd name="T84" fmla="*/ 7984 w 12774"/>
                  <a:gd name="T85" fmla="*/ 10060 h 12774"/>
                  <a:gd name="T86" fmla="*/ 9421 w 12774"/>
                  <a:gd name="T87" fmla="*/ 8623 h 12774"/>
                  <a:gd name="T88" fmla="*/ 8782 w 12774"/>
                  <a:gd name="T89" fmla="*/ 8063 h 12774"/>
                  <a:gd name="T90" fmla="*/ 7345 w 12774"/>
                  <a:gd name="T91" fmla="*/ 9501 h 12774"/>
                  <a:gd name="T92" fmla="*/ 6865 w 12774"/>
                  <a:gd name="T93" fmla="*/ 9022 h 12774"/>
                  <a:gd name="T94" fmla="*/ 8942 w 12774"/>
                  <a:gd name="T95" fmla="*/ 6946 h 12774"/>
                  <a:gd name="T96" fmla="*/ 11657 w 12774"/>
                  <a:gd name="T97" fmla="*/ 9581 h 12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74" h="12774">
                    <a:moveTo>
                      <a:pt x="12774" y="3193"/>
                    </a:moveTo>
                    <a:lnTo>
                      <a:pt x="9581" y="0"/>
                    </a:lnTo>
                    <a:lnTo>
                      <a:pt x="6387" y="3193"/>
                    </a:lnTo>
                    <a:lnTo>
                      <a:pt x="3193" y="0"/>
                    </a:lnTo>
                    <a:lnTo>
                      <a:pt x="0" y="3193"/>
                    </a:lnTo>
                    <a:lnTo>
                      <a:pt x="3193" y="6387"/>
                    </a:lnTo>
                    <a:lnTo>
                      <a:pt x="0" y="9581"/>
                    </a:lnTo>
                    <a:lnTo>
                      <a:pt x="0" y="12774"/>
                    </a:lnTo>
                    <a:lnTo>
                      <a:pt x="3193" y="12774"/>
                    </a:lnTo>
                    <a:lnTo>
                      <a:pt x="6387" y="9581"/>
                    </a:lnTo>
                    <a:lnTo>
                      <a:pt x="9581" y="12774"/>
                    </a:lnTo>
                    <a:lnTo>
                      <a:pt x="12774" y="9581"/>
                    </a:lnTo>
                    <a:lnTo>
                      <a:pt x="9581" y="6387"/>
                    </a:lnTo>
                    <a:lnTo>
                      <a:pt x="12774" y="3193"/>
                    </a:lnTo>
                    <a:close/>
                    <a:moveTo>
                      <a:pt x="3273" y="5349"/>
                    </a:moveTo>
                    <a:lnTo>
                      <a:pt x="4630" y="3992"/>
                    </a:lnTo>
                    <a:lnTo>
                      <a:pt x="4072" y="3433"/>
                    </a:lnTo>
                    <a:lnTo>
                      <a:pt x="2714" y="4790"/>
                    </a:lnTo>
                    <a:lnTo>
                      <a:pt x="2235" y="4311"/>
                    </a:lnTo>
                    <a:lnTo>
                      <a:pt x="3673" y="2875"/>
                    </a:lnTo>
                    <a:lnTo>
                      <a:pt x="3033" y="2315"/>
                    </a:lnTo>
                    <a:lnTo>
                      <a:pt x="1677" y="3753"/>
                    </a:lnTo>
                    <a:lnTo>
                      <a:pt x="1117" y="3194"/>
                    </a:lnTo>
                    <a:lnTo>
                      <a:pt x="3193" y="1118"/>
                    </a:lnTo>
                    <a:lnTo>
                      <a:pt x="5827" y="3752"/>
                    </a:lnTo>
                    <a:lnTo>
                      <a:pt x="3752" y="5828"/>
                    </a:lnTo>
                    <a:lnTo>
                      <a:pt x="3273" y="5349"/>
                    </a:lnTo>
                    <a:close/>
                    <a:moveTo>
                      <a:pt x="798" y="11976"/>
                    </a:moveTo>
                    <a:lnTo>
                      <a:pt x="798" y="10379"/>
                    </a:lnTo>
                    <a:lnTo>
                      <a:pt x="2395" y="11976"/>
                    </a:lnTo>
                    <a:lnTo>
                      <a:pt x="798" y="11976"/>
                    </a:lnTo>
                    <a:close/>
                    <a:moveTo>
                      <a:pt x="3193" y="11657"/>
                    </a:moveTo>
                    <a:lnTo>
                      <a:pt x="1117" y="9581"/>
                    </a:lnTo>
                    <a:lnTo>
                      <a:pt x="9581" y="1117"/>
                    </a:lnTo>
                    <a:lnTo>
                      <a:pt x="11657" y="3193"/>
                    </a:lnTo>
                    <a:lnTo>
                      <a:pt x="3193" y="11657"/>
                    </a:lnTo>
                    <a:close/>
                    <a:moveTo>
                      <a:pt x="11657" y="9581"/>
                    </a:moveTo>
                    <a:lnTo>
                      <a:pt x="9581" y="11657"/>
                    </a:lnTo>
                    <a:lnTo>
                      <a:pt x="9022" y="11097"/>
                    </a:lnTo>
                    <a:lnTo>
                      <a:pt x="10459" y="9661"/>
                    </a:lnTo>
                    <a:lnTo>
                      <a:pt x="9900" y="9101"/>
                    </a:lnTo>
                    <a:lnTo>
                      <a:pt x="8463" y="10539"/>
                    </a:lnTo>
                    <a:lnTo>
                      <a:pt x="7984" y="10060"/>
                    </a:lnTo>
                    <a:lnTo>
                      <a:pt x="9421" y="8623"/>
                    </a:lnTo>
                    <a:lnTo>
                      <a:pt x="8782" y="8063"/>
                    </a:lnTo>
                    <a:lnTo>
                      <a:pt x="7345" y="9501"/>
                    </a:lnTo>
                    <a:lnTo>
                      <a:pt x="6865" y="9022"/>
                    </a:lnTo>
                    <a:lnTo>
                      <a:pt x="8942" y="6946"/>
                    </a:lnTo>
                    <a:lnTo>
                      <a:pt x="11657" y="958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5054619" y="5010474"/>
              <a:ext cx="6137122" cy="649706"/>
              <a:chOff x="5054619" y="5010474"/>
              <a:chExt cx="6137122" cy="649706"/>
            </a:xfrm>
          </p:grpSpPr>
          <p:sp>
            <p:nvSpPr>
              <p:cNvPr id="74" name="矩形 73"/>
              <p:cNvSpPr/>
              <p:nvPr>
                <p:custDataLst>
                  <p:tags r:id="rId12"/>
                </p:custDataLst>
              </p:nvPr>
            </p:nvSpPr>
            <p:spPr>
              <a:xfrm>
                <a:off x="5265495" y="5010474"/>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75" name="矩形 74"/>
              <p:cNvSpPr/>
              <p:nvPr>
                <p:custDataLst>
                  <p:tags r:id="rId13"/>
                </p:custDataLst>
              </p:nvPr>
            </p:nvSpPr>
            <p:spPr>
              <a:xfrm>
                <a:off x="6465289" y="5010474"/>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76" name="文本框 9"/>
              <p:cNvSpPr txBox="1"/>
              <p:nvPr>
                <p:custDataLst>
                  <p:tags r:id="rId14"/>
                </p:custDataLst>
              </p:nvPr>
            </p:nvSpPr>
            <p:spPr>
              <a:xfrm>
                <a:off x="5054619" y="5099468"/>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rPr>
                  <a:t>04</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endParaRPr>
              </a:p>
            </p:txBody>
          </p:sp>
          <p:sp>
            <p:nvSpPr>
              <p:cNvPr id="77" name="TextBox 49"/>
              <p:cNvSpPr txBox="1"/>
              <p:nvPr>
                <p:custDataLst>
                  <p:tags r:id="rId15"/>
                </p:custDataLst>
              </p:nvPr>
            </p:nvSpPr>
            <p:spPr>
              <a:xfrm>
                <a:off x="7557789" y="5068894"/>
                <a:ext cx="3300095" cy="583565"/>
              </a:xfrm>
              <a:prstGeom prst="rect">
                <a:avLst/>
              </a:prstGeom>
              <a:noFill/>
            </p:spPr>
            <p:txBody>
              <a:bodyPr wrap="square" rtlCol="0">
                <a:spAutoFit/>
              </a:bodyPr>
              <a:lstStyle/>
              <a:p>
                <a:pPr eaLnBrk="1" hangingPunct="1"/>
                <a:r>
                  <a:rPr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树型结构的应用 </a:t>
                </a:r>
                <a:endParaRPr lang="zh-CN" altLang="en-US" sz="3200" b="1" spc="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8" name="progress-report_18229"/>
              <p:cNvSpPr/>
              <p:nvPr>
                <p:custDataLst>
                  <p:tags r:id="rId16"/>
                </p:custDataLst>
              </p:nvPr>
            </p:nvSpPr>
            <p:spPr>
              <a:xfrm>
                <a:off x="6749997" y="5112093"/>
                <a:ext cx="452134" cy="453283"/>
              </a:xfrm>
              <a:custGeom>
                <a:avLst/>
                <a:gdLst>
                  <a:gd name="T0" fmla="*/ 4155 w 4907"/>
                  <a:gd name="T1" fmla="*/ 2163 h 5157"/>
                  <a:gd name="T2" fmla="*/ 4086 w 4907"/>
                  <a:gd name="T3" fmla="*/ 2978 h 5157"/>
                  <a:gd name="T4" fmla="*/ 4651 w 4907"/>
                  <a:gd name="T5" fmla="*/ 2978 h 5157"/>
                  <a:gd name="T6" fmla="*/ 4411 w 4907"/>
                  <a:gd name="T7" fmla="*/ 2858 h 5157"/>
                  <a:gd name="T8" fmla="*/ 4139 w 4907"/>
                  <a:gd name="T9" fmla="*/ 1926 h 5157"/>
                  <a:gd name="T10" fmla="*/ 4005 w 4907"/>
                  <a:gd name="T11" fmla="*/ 1663 h 5157"/>
                  <a:gd name="T12" fmla="*/ 2710 w 4907"/>
                  <a:gd name="T13" fmla="*/ 1831 h 5157"/>
                  <a:gd name="T14" fmla="*/ 2210 w 4907"/>
                  <a:gd name="T15" fmla="*/ 1571 h 5157"/>
                  <a:gd name="T16" fmla="*/ 2210 w 4907"/>
                  <a:gd name="T17" fmla="*/ 1571 h 5157"/>
                  <a:gd name="T18" fmla="*/ 4000 w 4907"/>
                  <a:gd name="T19" fmla="*/ 2493 h 5157"/>
                  <a:gd name="T20" fmla="*/ 4227 w 4907"/>
                  <a:gd name="T21" fmla="*/ 2602 h 5157"/>
                  <a:gd name="T22" fmla="*/ 1129 w 4907"/>
                  <a:gd name="T23" fmla="*/ 240 h 5157"/>
                  <a:gd name="T24" fmla="*/ 1841 w 4907"/>
                  <a:gd name="T25" fmla="*/ 252 h 5157"/>
                  <a:gd name="T26" fmla="*/ 1353 w 4907"/>
                  <a:gd name="T27" fmla="*/ 2236 h 5157"/>
                  <a:gd name="T28" fmla="*/ 3037 w 4907"/>
                  <a:gd name="T29" fmla="*/ 4917 h 5157"/>
                  <a:gd name="T30" fmla="*/ 2227 w 4907"/>
                  <a:gd name="T31" fmla="*/ 2810 h 5157"/>
                  <a:gd name="T32" fmla="*/ 2148 w 4907"/>
                  <a:gd name="T33" fmla="*/ 2530 h 5157"/>
                  <a:gd name="T34" fmla="*/ 2032 w 4907"/>
                  <a:gd name="T35" fmla="*/ 2549 h 5157"/>
                  <a:gd name="T36" fmla="*/ 1987 w 4907"/>
                  <a:gd name="T37" fmla="*/ 3806 h 5157"/>
                  <a:gd name="T38" fmla="*/ 1997 w 4907"/>
                  <a:gd name="T39" fmla="*/ 3855 h 5157"/>
                  <a:gd name="T40" fmla="*/ 1997 w 4907"/>
                  <a:gd name="T41" fmla="*/ 3856 h 5157"/>
                  <a:gd name="T42" fmla="*/ 1997 w 4907"/>
                  <a:gd name="T43" fmla="*/ 3857 h 5157"/>
                  <a:gd name="T44" fmla="*/ 1998 w 4907"/>
                  <a:gd name="T45" fmla="*/ 3857 h 5157"/>
                  <a:gd name="T46" fmla="*/ 1998 w 4907"/>
                  <a:gd name="T47" fmla="*/ 3858 h 5157"/>
                  <a:gd name="T48" fmla="*/ 1999 w 4907"/>
                  <a:gd name="T49" fmla="*/ 3859 h 5157"/>
                  <a:gd name="T50" fmla="*/ 1999 w 4907"/>
                  <a:gd name="T51" fmla="*/ 3860 h 5157"/>
                  <a:gd name="T52" fmla="*/ 1999 w 4907"/>
                  <a:gd name="T53" fmla="*/ 3860 h 5157"/>
                  <a:gd name="T54" fmla="*/ 2000 w 4907"/>
                  <a:gd name="T55" fmla="*/ 3861 h 5157"/>
                  <a:gd name="T56" fmla="*/ 2013 w 4907"/>
                  <a:gd name="T57" fmla="*/ 3882 h 5157"/>
                  <a:gd name="T58" fmla="*/ 2014 w 4907"/>
                  <a:gd name="T59" fmla="*/ 3883 h 5157"/>
                  <a:gd name="T60" fmla="*/ 2014 w 4907"/>
                  <a:gd name="T61" fmla="*/ 3883 h 5157"/>
                  <a:gd name="T62" fmla="*/ 2015 w 4907"/>
                  <a:gd name="T63" fmla="*/ 3884 h 5157"/>
                  <a:gd name="T64" fmla="*/ 2015 w 4907"/>
                  <a:gd name="T65" fmla="*/ 3884 h 5157"/>
                  <a:gd name="T66" fmla="*/ 2016 w 4907"/>
                  <a:gd name="T67" fmla="*/ 3885 h 5157"/>
                  <a:gd name="T68" fmla="*/ 2016 w 4907"/>
                  <a:gd name="T69" fmla="*/ 3886 h 5157"/>
                  <a:gd name="T70" fmla="*/ 2017 w 4907"/>
                  <a:gd name="T71" fmla="*/ 3886 h 5157"/>
                  <a:gd name="T72" fmla="*/ 2017 w 4907"/>
                  <a:gd name="T73" fmla="*/ 3887 h 5157"/>
                  <a:gd name="T74" fmla="*/ 2018 w 4907"/>
                  <a:gd name="T75" fmla="*/ 3887 h 5157"/>
                  <a:gd name="T76" fmla="*/ 2018 w 4907"/>
                  <a:gd name="T77" fmla="*/ 3888 h 5157"/>
                  <a:gd name="T78" fmla="*/ 2019 w 4907"/>
                  <a:gd name="T79" fmla="*/ 3888 h 5157"/>
                  <a:gd name="T80" fmla="*/ 2797 w 4907"/>
                  <a:gd name="T81" fmla="*/ 3929 h 5157"/>
                  <a:gd name="T82" fmla="*/ 2917 w 4907"/>
                  <a:gd name="T83" fmla="*/ 5157 h 5157"/>
                  <a:gd name="T84" fmla="*/ 3241 w 4907"/>
                  <a:gd name="T85" fmla="*/ 4917 h 5157"/>
                  <a:gd name="T86" fmla="*/ 2952 w 4907"/>
                  <a:gd name="T87" fmla="*/ 3366 h 5157"/>
                  <a:gd name="T88" fmla="*/ 4253 w 4907"/>
                  <a:gd name="T89" fmla="*/ 4917 h 5157"/>
                  <a:gd name="T90" fmla="*/ 4907 w 4907"/>
                  <a:gd name="T91" fmla="*/ 5037 h 5157"/>
                  <a:gd name="T92" fmla="*/ 4907 w 4907"/>
                  <a:gd name="T93" fmla="*/ 3366 h 5157"/>
                  <a:gd name="T94" fmla="*/ 1774 w 4907"/>
                  <a:gd name="T95" fmla="*/ 3021 h 5157"/>
                  <a:gd name="T96" fmla="*/ 1534 w 4907"/>
                  <a:gd name="T97" fmla="*/ 4238 h 5157"/>
                  <a:gd name="T98" fmla="*/ 1774 w 4907"/>
                  <a:gd name="T99" fmla="*/ 4358 h 5157"/>
                  <a:gd name="T100" fmla="*/ 2567 w 4907"/>
                  <a:gd name="T101" fmla="*/ 5037 h 5157"/>
                  <a:gd name="T102" fmla="*/ 1414 w 4907"/>
                  <a:gd name="T103" fmla="*/ 1584 h 5157"/>
                  <a:gd name="T104" fmla="*/ 1129 w 4907"/>
                  <a:gd name="T105" fmla="*/ 1772 h 5157"/>
                  <a:gd name="T106" fmla="*/ 845 w 4907"/>
                  <a:gd name="T107" fmla="*/ 1584 h 5157"/>
                  <a:gd name="T108" fmla="*/ 744 w 4907"/>
                  <a:gd name="T109" fmla="*/ 1249 h 5157"/>
                  <a:gd name="T110" fmla="*/ 744 w 4907"/>
                  <a:gd name="T111" fmla="*/ 1009 h 5157"/>
                  <a:gd name="T112" fmla="*/ 845 w 4907"/>
                  <a:gd name="T113" fmla="*/ 675 h 5157"/>
                  <a:gd name="T114" fmla="*/ 1129 w 4907"/>
                  <a:gd name="T115" fmla="*/ 486 h 5157"/>
                  <a:gd name="T116" fmla="*/ 1414 w 4907"/>
                  <a:gd name="T117" fmla="*/ 675 h 5157"/>
                  <a:gd name="T118" fmla="*/ 1515 w 4907"/>
                  <a:gd name="T119" fmla="*/ 1009 h 5157"/>
                  <a:gd name="T120" fmla="*/ 1515 w 4907"/>
                  <a:gd name="T121" fmla="*/ 1249 h 5157"/>
                  <a:gd name="T122" fmla="*/ 1293 w 4907"/>
                  <a:gd name="T123" fmla="*/ 1129 h 5157"/>
                  <a:gd name="T124" fmla="*/ 1293 w 4907"/>
                  <a:gd name="T125" fmla="*/ 1129 h 5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907" h="5157">
                    <a:moveTo>
                      <a:pt x="3676" y="2163"/>
                    </a:moveTo>
                    <a:cubicBezTo>
                      <a:pt x="3676" y="2096"/>
                      <a:pt x="3730" y="2043"/>
                      <a:pt x="3796" y="2043"/>
                    </a:cubicBezTo>
                    <a:lnTo>
                      <a:pt x="4035" y="2043"/>
                    </a:lnTo>
                    <a:cubicBezTo>
                      <a:pt x="4102" y="2043"/>
                      <a:pt x="4155" y="2096"/>
                      <a:pt x="4155" y="2163"/>
                    </a:cubicBezTo>
                    <a:cubicBezTo>
                      <a:pt x="4155" y="2229"/>
                      <a:pt x="4102" y="2283"/>
                      <a:pt x="4035" y="2283"/>
                    </a:cubicBezTo>
                    <a:lnTo>
                      <a:pt x="3796" y="2283"/>
                    </a:lnTo>
                    <a:cubicBezTo>
                      <a:pt x="3730" y="2283"/>
                      <a:pt x="3676" y="2229"/>
                      <a:pt x="3676" y="2163"/>
                    </a:cubicBezTo>
                    <a:close/>
                    <a:moveTo>
                      <a:pt x="4086" y="2978"/>
                    </a:moveTo>
                    <a:cubicBezTo>
                      <a:pt x="4086" y="3045"/>
                      <a:pt x="4140" y="3098"/>
                      <a:pt x="4206" y="3098"/>
                    </a:cubicBezTo>
                    <a:lnTo>
                      <a:pt x="4528" y="3098"/>
                    </a:lnTo>
                    <a:cubicBezTo>
                      <a:pt x="4529" y="3098"/>
                      <a:pt x="4530" y="3098"/>
                      <a:pt x="4531" y="3098"/>
                    </a:cubicBezTo>
                    <a:cubicBezTo>
                      <a:pt x="4597" y="3098"/>
                      <a:pt x="4651" y="3045"/>
                      <a:pt x="4651" y="2978"/>
                    </a:cubicBezTo>
                    <a:lnTo>
                      <a:pt x="4651" y="1751"/>
                    </a:lnTo>
                    <a:cubicBezTo>
                      <a:pt x="4651" y="1684"/>
                      <a:pt x="4597" y="1631"/>
                      <a:pt x="4531" y="1631"/>
                    </a:cubicBezTo>
                    <a:cubicBezTo>
                      <a:pt x="4464" y="1631"/>
                      <a:pt x="4411" y="1684"/>
                      <a:pt x="4411" y="1751"/>
                    </a:cubicBezTo>
                    <a:lnTo>
                      <a:pt x="4411" y="2858"/>
                    </a:lnTo>
                    <a:lnTo>
                      <a:pt x="4206" y="2858"/>
                    </a:lnTo>
                    <a:cubicBezTo>
                      <a:pt x="4140" y="2858"/>
                      <a:pt x="4086" y="2912"/>
                      <a:pt x="4086" y="2978"/>
                    </a:cubicBezTo>
                    <a:close/>
                    <a:moveTo>
                      <a:pt x="4052" y="1888"/>
                    </a:moveTo>
                    <a:cubicBezTo>
                      <a:pt x="4076" y="1913"/>
                      <a:pt x="4107" y="1926"/>
                      <a:pt x="4139" y="1926"/>
                    </a:cubicBezTo>
                    <a:cubicBezTo>
                      <a:pt x="4169" y="1926"/>
                      <a:pt x="4198" y="1915"/>
                      <a:pt x="4222" y="1893"/>
                    </a:cubicBezTo>
                    <a:cubicBezTo>
                      <a:pt x="4270" y="1847"/>
                      <a:pt x="4272" y="1771"/>
                      <a:pt x="4227" y="1723"/>
                    </a:cubicBezTo>
                    <a:lnTo>
                      <a:pt x="4175" y="1668"/>
                    </a:lnTo>
                    <a:cubicBezTo>
                      <a:pt x="4129" y="1620"/>
                      <a:pt x="4053" y="1618"/>
                      <a:pt x="4005" y="1663"/>
                    </a:cubicBezTo>
                    <a:cubicBezTo>
                      <a:pt x="3957" y="1709"/>
                      <a:pt x="3955" y="1785"/>
                      <a:pt x="4000" y="1833"/>
                    </a:cubicBezTo>
                    <a:lnTo>
                      <a:pt x="4052" y="1888"/>
                    </a:lnTo>
                    <a:close/>
                    <a:moveTo>
                      <a:pt x="2210" y="1331"/>
                    </a:moveTo>
                    <a:cubicBezTo>
                      <a:pt x="2486" y="1331"/>
                      <a:pt x="2710" y="1555"/>
                      <a:pt x="2710" y="1831"/>
                    </a:cubicBezTo>
                    <a:cubicBezTo>
                      <a:pt x="2710" y="2107"/>
                      <a:pt x="2486" y="2331"/>
                      <a:pt x="2210" y="2331"/>
                    </a:cubicBezTo>
                    <a:cubicBezTo>
                      <a:pt x="1934" y="2331"/>
                      <a:pt x="1710" y="2107"/>
                      <a:pt x="1710" y="1831"/>
                    </a:cubicBezTo>
                    <a:cubicBezTo>
                      <a:pt x="1710" y="1555"/>
                      <a:pt x="1934" y="1331"/>
                      <a:pt x="2210" y="1331"/>
                    </a:cubicBezTo>
                    <a:close/>
                    <a:moveTo>
                      <a:pt x="2210" y="1571"/>
                    </a:moveTo>
                    <a:cubicBezTo>
                      <a:pt x="2066" y="1571"/>
                      <a:pt x="1950" y="1687"/>
                      <a:pt x="1950" y="1831"/>
                    </a:cubicBezTo>
                    <a:cubicBezTo>
                      <a:pt x="1950" y="1975"/>
                      <a:pt x="2066" y="2091"/>
                      <a:pt x="2210" y="2091"/>
                    </a:cubicBezTo>
                    <a:cubicBezTo>
                      <a:pt x="2354" y="2091"/>
                      <a:pt x="2470" y="1975"/>
                      <a:pt x="2470" y="1831"/>
                    </a:cubicBezTo>
                    <a:cubicBezTo>
                      <a:pt x="2470" y="1687"/>
                      <a:pt x="2354" y="1571"/>
                      <a:pt x="2210" y="1571"/>
                    </a:cubicBezTo>
                    <a:close/>
                    <a:moveTo>
                      <a:pt x="4227" y="2602"/>
                    </a:moveTo>
                    <a:cubicBezTo>
                      <a:pt x="4272" y="2554"/>
                      <a:pt x="4270" y="2478"/>
                      <a:pt x="4222" y="2433"/>
                    </a:cubicBezTo>
                    <a:cubicBezTo>
                      <a:pt x="4173" y="2387"/>
                      <a:pt x="4098" y="2389"/>
                      <a:pt x="4052" y="2437"/>
                    </a:cubicBezTo>
                    <a:lnTo>
                      <a:pt x="4000" y="2493"/>
                    </a:lnTo>
                    <a:cubicBezTo>
                      <a:pt x="3955" y="2541"/>
                      <a:pt x="3957" y="2617"/>
                      <a:pt x="4005" y="2662"/>
                    </a:cubicBezTo>
                    <a:cubicBezTo>
                      <a:pt x="4028" y="2684"/>
                      <a:pt x="4058" y="2695"/>
                      <a:pt x="4087" y="2695"/>
                    </a:cubicBezTo>
                    <a:cubicBezTo>
                      <a:pt x="4119" y="2695"/>
                      <a:pt x="4151" y="2682"/>
                      <a:pt x="4175" y="2657"/>
                    </a:cubicBezTo>
                    <a:lnTo>
                      <a:pt x="4227" y="2602"/>
                    </a:lnTo>
                    <a:close/>
                    <a:moveTo>
                      <a:pt x="1306" y="2001"/>
                    </a:moveTo>
                    <a:cubicBezTo>
                      <a:pt x="1248" y="2012"/>
                      <a:pt x="1189" y="2018"/>
                      <a:pt x="1129" y="2018"/>
                    </a:cubicBezTo>
                    <a:cubicBezTo>
                      <a:pt x="639" y="2018"/>
                      <a:pt x="240" y="1619"/>
                      <a:pt x="240" y="1129"/>
                    </a:cubicBezTo>
                    <a:cubicBezTo>
                      <a:pt x="240" y="639"/>
                      <a:pt x="639" y="240"/>
                      <a:pt x="1129" y="240"/>
                    </a:cubicBezTo>
                    <a:cubicBezTo>
                      <a:pt x="1543" y="240"/>
                      <a:pt x="1908" y="533"/>
                      <a:pt x="1997" y="936"/>
                    </a:cubicBezTo>
                    <a:cubicBezTo>
                      <a:pt x="2012" y="1001"/>
                      <a:pt x="2076" y="1041"/>
                      <a:pt x="2140" y="1027"/>
                    </a:cubicBezTo>
                    <a:cubicBezTo>
                      <a:pt x="2205" y="1013"/>
                      <a:pt x="2246" y="949"/>
                      <a:pt x="2232" y="884"/>
                    </a:cubicBezTo>
                    <a:cubicBezTo>
                      <a:pt x="2177" y="637"/>
                      <a:pt x="2038" y="413"/>
                      <a:pt x="1841" y="252"/>
                    </a:cubicBezTo>
                    <a:cubicBezTo>
                      <a:pt x="1640" y="90"/>
                      <a:pt x="1388" y="0"/>
                      <a:pt x="1129" y="0"/>
                    </a:cubicBezTo>
                    <a:cubicBezTo>
                      <a:pt x="507" y="0"/>
                      <a:pt x="0" y="507"/>
                      <a:pt x="0" y="1129"/>
                    </a:cubicBezTo>
                    <a:cubicBezTo>
                      <a:pt x="0" y="1752"/>
                      <a:pt x="507" y="2258"/>
                      <a:pt x="1129" y="2258"/>
                    </a:cubicBezTo>
                    <a:cubicBezTo>
                      <a:pt x="1205" y="2258"/>
                      <a:pt x="1280" y="2251"/>
                      <a:pt x="1353" y="2236"/>
                    </a:cubicBezTo>
                    <a:cubicBezTo>
                      <a:pt x="1418" y="2223"/>
                      <a:pt x="1460" y="2160"/>
                      <a:pt x="1447" y="2095"/>
                    </a:cubicBezTo>
                    <a:cubicBezTo>
                      <a:pt x="1434" y="2030"/>
                      <a:pt x="1371" y="1988"/>
                      <a:pt x="1306" y="2001"/>
                    </a:cubicBezTo>
                    <a:close/>
                    <a:moveTo>
                      <a:pt x="3241" y="4917"/>
                    </a:moveTo>
                    <a:lnTo>
                      <a:pt x="3037" y="4917"/>
                    </a:lnTo>
                    <a:lnTo>
                      <a:pt x="3037" y="3810"/>
                    </a:lnTo>
                    <a:cubicBezTo>
                      <a:pt x="3037" y="3743"/>
                      <a:pt x="2983" y="3690"/>
                      <a:pt x="2917" y="3690"/>
                    </a:cubicBezTo>
                    <a:lnTo>
                      <a:pt x="2227" y="3687"/>
                    </a:lnTo>
                    <a:lnTo>
                      <a:pt x="2227" y="2810"/>
                    </a:lnTo>
                    <a:lnTo>
                      <a:pt x="3073" y="3092"/>
                    </a:lnTo>
                    <a:cubicBezTo>
                      <a:pt x="3136" y="3113"/>
                      <a:pt x="3204" y="3079"/>
                      <a:pt x="3225" y="3016"/>
                    </a:cubicBezTo>
                    <a:cubicBezTo>
                      <a:pt x="3246" y="2953"/>
                      <a:pt x="3212" y="2885"/>
                      <a:pt x="3149" y="2864"/>
                    </a:cubicBezTo>
                    <a:lnTo>
                      <a:pt x="2148" y="2530"/>
                    </a:lnTo>
                    <a:cubicBezTo>
                      <a:pt x="2136" y="2526"/>
                      <a:pt x="2122" y="2523"/>
                      <a:pt x="2108" y="2523"/>
                    </a:cubicBezTo>
                    <a:cubicBezTo>
                      <a:pt x="2106" y="2523"/>
                      <a:pt x="2104" y="2523"/>
                      <a:pt x="2102" y="2523"/>
                    </a:cubicBezTo>
                    <a:cubicBezTo>
                      <a:pt x="2102" y="2523"/>
                      <a:pt x="2102" y="2523"/>
                      <a:pt x="2102" y="2523"/>
                    </a:cubicBezTo>
                    <a:cubicBezTo>
                      <a:pt x="2075" y="2524"/>
                      <a:pt x="2051" y="2534"/>
                      <a:pt x="2032" y="2549"/>
                    </a:cubicBezTo>
                    <a:cubicBezTo>
                      <a:pt x="2019" y="2560"/>
                      <a:pt x="2008" y="2573"/>
                      <a:pt x="2000" y="2588"/>
                    </a:cubicBezTo>
                    <a:cubicBezTo>
                      <a:pt x="1995" y="2597"/>
                      <a:pt x="1992" y="2606"/>
                      <a:pt x="1990" y="2616"/>
                    </a:cubicBezTo>
                    <a:cubicBezTo>
                      <a:pt x="1987" y="2626"/>
                      <a:pt x="1986" y="2637"/>
                      <a:pt x="1987" y="2647"/>
                    </a:cubicBezTo>
                    <a:lnTo>
                      <a:pt x="1987" y="3806"/>
                    </a:lnTo>
                    <a:cubicBezTo>
                      <a:pt x="1986" y="3823"/>
                      <a:pt x="1990" y="3840"/>
                      <a:pt x="1997" y="3855"/>
                    </a:cubicBezTo>
                    <a:cubicBezTo>
                      <a:pt x="1997" y="3855"/>
                      <a:pt x="1997" y="3855"/>
                      <a:pt x="1997" y="3855"/>
                    </a:cubicBezTo>
                    <a:cubicBezTo>
                      <a:pt x="1997" y="3855"/>
                      <a:pt x="1997" y="3855"/>
                      <a:pt x="1997" y="3855"/>
                    </a:cubicBezTo>
                    <a:cubicBezTo>
                      <a:pt x="1997" y="3855"/>
                      <a:pt x="1997" y="3855"/>
                      <a:pt x="1997" y="3855"/>
                    </a:cubicBezTo>
                    <a:cubicBezTo>
                      <a:pt x="1997" y="3855"/>
                      <a:pt x="1997" y="3856"/>
                      <a:pt x="1997" y="3856"/>
                    </a:cubicBezTo>
                    <a:cubicBezTo>
                      <a:pt x="1997" y="3856"/>
                      <a:pt x="1997" y="3856"/>
                      <a:pt x="1997" y="3856"/>
                    </a:cubicBezTo>
                    <a:cubicBezTo>
                      <a:pt x="1997" y="3856"/>
                      <a:pt x="1997" y="3856"/>
                      <a:pt x="1997" y="3856"/>
                    </a:cubicBezTo>
                    <a:lnTo>
                      <a:pt x="1997" y="3856"/>
                    </a:lnTo>
                    <a:cubicBezTo>
                      <a:pt x="1997" y="3856"/>
                      <a:pt x="1997" y="3856"/>
                      <a:pt x="1997" y="3856"/>
                    </a:cubicBezTo>
                    <a:lnTo>
                      <a:pt x="1997" y="3856"/>
                    </a:lnTo>
                    <a:lnTo>
                      <a:pt x="1997" y="3857"/>
                    </a:lnTo>
                    <a:cubicBezTo>
                      <a:pt x="1997" y="3857"/>
                      <a:pt x="1997" y="3857"/>
                      <a:pt x="1997" y="3857"/>
                    </a:cubicBezTo>
                    <a:cubicBezTo>
                      <a:pt x="1998" y="3857"/>
                      <a:pt x="1998" y="3857"/>
                      <a:pt x="1998" y="3857"/>
                    </a:cubicBezTo>
                    <a:cubicBezTo>
                      <a:pt x="1998" y="3857"/>
                      <a:pt x="1998" y="3857"/>
                      <a:pt x="1998" y="3857"/>
                    </a:cubicBezTo>
                    <a:cubicBezTo>
                      <a:pt x="1998" y="3857"/>
                      <a:pt x="1998" y="3857"/>
                      <a:pt x="1998" y="3857"/>
                    </a:cubicBezTo>
                    <a:cubicBezTo>
                      <a:pt x="1998" y="3857"/>
                      <a:pt x="1998" y="3857"/>
                      <a:pt x="1998" y="3857"/>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8"/>
                      <a:pt x="1998" y="3858"/>
                      <a:pt x="1998" y="3858"/>
                    </a:cubicBezTo>
                    <a:cubicBezTo>
                      <a:pt x="1998" y="3859"/>
                      <a:pt x="1998" y="3859"/>
                      <a:pt x="1998" y="3859"/>
                    </a:cubicBezTo>
                    <a:cubicBezTo>
                      <a:pt x="1998" y="3859"/>
                      <a:pt x="1998" y="3859"/>
                      <a:pt x="1999" y="3859"/>
                    </a:cubicBezTo>
                    <a:cubicBezTo>
                      <a:pt x="1999" y="3859"/>
                      <a:pt x="1999" y="3859"/>
                      <a:pt x="1999" y="3859"/>
                    </a:cubicBezTo>
                    <a:cubicBezTo>
                      <a:pt x="1999" y="3859"/>
                      <a:pt x="1999" y="3859"/>
                      <a:pt x="1999" y="3859"/>
                    </a:cubicBezTo>
                    <a:cubicBezTo>
                      <a:pt x="1999" y="3859"/>
                      <a:pt x="1999" y="3859"/>
                      <a:pt x="1999" y="3859"/>
                    </a:cubicBezTo>
                    <a:cubicBezTo>
                      <a:pt x="1999" y="3859"/>
                      <a:pt x="1999" y="3859"/>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0"/>
                    </a:cubicBezTo>
                    <a:cubicBezTo>
                      <a:pt x="1999" y="3860"/>
                      <a:pt x="1999" y="3860"/>
                      <a:pt x="1999" y="3861"/>
                    </a:cubicBezTo>
                    <a:cubicBezTo>
                      <a:pt x="1999" y="3861"/>
                      <a:pt x="1999" y="3861"/>
                      <a:pt x="1999" y="3861"/>
                    </a:cubicBezTo>
                    <a:cubicBezTo>
                      <a:pt x="1999" y="3861"/>
                      <a:pt x="1999" y="3861"/>
                      <a:pt x="2000" y="3861"/>
                    </a:cubicBezTo>
                    <a:cubicBezTo>
                      <a:pt x="2000" y="3861"/>
                      <a:pt x="2000" y="3861"/>
                      <a:pt x="2000" y="3861"/>
                    </a:cubicBezTo>
                    <a:cubicBezTo>
                      <a:pt x="2003" y="3868"/>
                      <a:pt x="2008" y="3876"/>
                      <a:pt x="2013" y="3882"/>
                    </a:cubicBezTo>
                    <a:lnTo>
                      <a:pt x="2013" y="3882"/>
                    </a:lnTo>
                    <a:cubicBezTo>
                      <a:pt x="2013" y="3882"/>
                      <a:pt x="2013" y="3882"/>
                      <a:pt x="2013" y="3882"/>
                    </a:cubicBezTo>
                    <a:lnTo>
                      <a:pt x="2014" y="3882"/>
                    </a:lnTo>
                    <a:lnTo>
                      <a:pt x="2014" y="3883"/>
                    </a:lnTo>
                    <a:lnTo>
                      <a:pt x="2014" y="3883"/>
                    </a:lnTo>
                    <a:cubicBezTo>
                      <a:pt x="2014" y="3883"/>
                      <a:pt x="2014" y="3883"/>
                      <a:pt x="2014" y="3883"/>
                    </a:cubicBezTo>
                    <a:lnTo>
                      <a:pt x="2014" y="3883"/>
                    </a:lnTo>
                    <a:lnTo>
                      <a:pt x="2014" y="3883"/>
                    </a:lnTo>
                    <a:lnTo>
                      <a:pt x="2014" y="3883"/>
                    </a:lnTo>
                    <a:cubicBezTo>
                      <a:pt x="2014" y="3883"/>
                      <a:pt x="2014" y="3883"/>
                      <a:pt x="2014" y="3883"/>
                    </a:cubicBezTo>
                    <a:cubicBezTo>
                      <a:pt x="2014" y="3883"/>
                      <a:pt x="2014" y="3883"/>
                      <a:pt x="2014" y="3883"/>
                    </a:cubicBezTo>
                    <a:cubicBezTo>
                      <a:pt x="2015" y="3884"/>
                      <a:pt x="2015" y="3884"/>
                      <a:pt x="2015" y="3884"/>
                    </a:cubicBezTo>
                    <a:lnTo>
                      <a:pt x="2015" y="3884"/>
                    </a:lnTo>
                    <a:cubicBezTo>
                      <a:pt x="2015" y="3884"/>
                      <a:pt x="2015" y="3884"/>
                      <a:pt x="2015" y="3884"/>
                    </a:cubicBezTo>
                    <a:lnTo>
                      <a:pt x="2015" y="3884"/>
                    </a:lnTo>
                    <a:lnTo>
                      <a:pt x="2015" y="3884"/>
                    </a:lnTo>
                    <a:lnTo>
                      <a:pt x="2015" y="3884"/>
                    </a:lnTo>
                    <a:cubicBezTo>
                      <a:pt x="2015" y="3884"/>
                      <a:pt x="2015" y="3884"/>
                      <a:pt x="2015" y="3884"/>
                    </a:cubicBezTo>
                    <a:cubicBezTo>
                      <a:pt x="2015" y="3884"/>
                      <a:pt x="2015" y="3885"/>
                      <a:pt x="2015" y="3885"/>
                    </a:cubicBezTo>
                    <a:cubicBezTo>
                      <a:pt x="2015"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5"/>
                    </a:cubicBezTo>
                    <a:cubicBezTo>
                      <a:pt x="2016" y="3885"/>
                      <a:pt x="2016" y="3885"/>
                      <a:pt x="2016" y="3886"/>
                    </a:cubicBezTo>
                    <a:cubicBezTo>
                      <a:pt x="2016" y="3886"/>
                      <a:pt x="2016" y="3886"/>
                      <a:pt x="2016" y="3886"/>
                    </a:cubicBezTo>
                    <a:cubicBezTo>
                      <a:pt x="2016" y="3886"/>
                      <a:pt x="2016" y="3886"/>
                      <a:pt x="2016" y="3886"/>
                    </a:cubicBezTo>
                    <a:cubicBezTo>
                      <a:pt x="2017" y="3886"/>
                      <a:pt x="2017" y="3886"/>
                      <a:pt x="2017" y="3886"/>
                    </a:cubicBezTo>
                    <a:cubicBezTo>
                      <a:pt x="2017" y="3886"/>
                      <a:pt x="2017" y="3886"/>
                      <a:pt x="2017" y="3886"/>
                    </a:cubicBezTo>
                    <a:cubicBezTo>
                      <a:pt x="2017" y="3886"/>
                      <a:pt x="2017" y="3886"/>
                      <a:pt x="2017" y="3886"/>
                    </a:cubicBezTo>
                    <a:cubicBezTo>
                      <a:pt x="2017" y="3886"/>
                      <a:pt x="2017" y="3886"/>
                      <a:pt x="2017" y="3886"/>
                    </a:cubicBezTo>
                    <a:cubicBezTo>
                      <a:pt x="2017" y="3886"/>
                      <a:pt x="2017" y="3886"/>
                      <a:pt x="2017" y="3886"/>
                    </a:cubicBezTo>
                    <a:cubicBezTo>
                      <a:pt x="2017" y="3886"/>
                      <a:pt x="2017" y="3887"/>
                      <a:pt x="2017" y="3887"/>
                    </a:cubicBezTo>
                    <a:cubicBezTo>
                      <a:pt x="2017" y="3887"/>
                      <a:pt x="2017" y="3887"/>
                      <a:pt x="2017" y="3887"/>
                    </a:cubicBezTo>
                    <a:cubicBezTo>
                      <a:pt x="2017" y="3887"/>
                      <a:pt x="2017" y="3887"/>
                      <a:pt x="2017" y="3887"/>
                    </a:cubicBezTo>
                    <a:cubicBezTo>
                      <a:pt x="2017" y="3887"/>
                      <a:pt x="2018" y="3887"/>
                      <a:pt x="2018" y="3887"/>
                    </a:cubicBezTo>
                    <a:lnTo>
                      <a:pt x="2018" y="3887"/>
                    </a:lnTo>
                    <a:cubicBezTo>
                      <a:pt x="2018" y="3887"/>
                      <a:pt x="2018" y="3887"/>
                      <a:pt x="2018" y="3887"/>
                    </a:cubicBezTo>
                    <a:lnTo>
                      <a:pt x="2018" y="3887"/>
                    </a:lnTo>
                    <a:cubicBezTo>
                      <a:pt x="2018" y="3887"/>
                      <a:pt x="2018" y="3887"/>
                      <a:pt x="2018" y="3888"/>
                    </a:cubicBezTo>
                    <a:cubicBezTo>
                      <a:pt x="2018" y="3888"/>
                      <a:pt x="2018" y="3888"/>
                      <a:pt x="2018" y="3888"/>
                    </a:cubicBezTo>
                    <a:cubicBezTo>
                      <a:pt x="2018" y="3888"/>
                      <a:pt x="2018" y="3888"/>
                      <a:pt x="2018" y="3888"/>
                    </a:cubicBezTo>
                    <a:cubicBezTo>
                      <a:pt x="2018" y="3888"/>
                      <a:pt x="2018" y="3888"/>
                      <a:pt x="2018" y="3888"/>
                    </a:cubicBezTo>
                    <a:cubicBezTo>
                      <a:pt x="2018" y="3888"/>
                      <a:pt x="2019" y="3888"/>
                      <a:pt x="2019" y="3888"/>
                    </a:cubicBezTo>
                    <a:lnTo>
                      <a:pt x="2019" y="3888"/>
                    </a:lnTo>
                    <a:cubicBezTo>
                      <a:pt x="2019" y="3888"/>
                      <a:pt x="2019" y="3888"/>
                      <a:pt x="2019" y="3888"/>
                    </a:cubicBezTo>
                    <a:lnTo>
                      <a:pt x="2019" y="3888"/>
                    </a:lnTo>
                    <a:cubicBezTo>
                      <a:pt x="2041" y="3912"/>
                      <a:pt x="2072" y="3926"/>
                      <a:pt x="2106" y="3927"/>
                    </a:cubicBezTo>
                    <a:lnTo>
                      <a:pt x="2797" y="3929"/>
                    </a:lnTo>
                    <a:lnTo>
                      <a:pt x="2797" y="5034"/>
                    </a:lnTo>
                    <a:cubicBezTo>
                      <a:pt x="2797" y="5035"/>
                      <a:pt x="2797" y="5036"/>
                      <a:pt x="2797" y="5037"/>
                    </a:cubicBezTo>
                    <a:cubicBezTo>
                      <a:pt x="2797" y="5079"/>
                      <a:pt x="2818" y="5115"/>
                      <a:pt x="2849" y="5137"/>
                    </a:cubicBezTo>
                    <a:cubicBezTo>
                      <a:pt x="2869" y="5150"/>
                      <a:pt x="2892" y="5157"/>
                      <a:pt x="2917" y="5157"/>
                    </a:cubicBezTo>
                    <a:cubicBezTo>
                      <a:pt x="2918" y="5157"/>
                      <a:pt x="2919" y="5157"/>
                      <a:pt x="2919" y="5157"/>
                    </a:cubicBezTo>
                    <a:lnTo>
                      <a:pt x="3241" y="5157"/>
                    </a:lnTo>
                    <a:cubicBezTo>
                      <a:pt x="3307" y="5157"/>
                      <a:pt x="3361" y="5104"/>
                      <a:pt x="3361" y="5037"/>
                    </a:cubicBezTo>
                    <a:cubicBezTo>
                      <a:pt x="3361" y="4971"/>
                      <a:pt x="3307" y="4917"/>
                      <a:pt x="3241" y="4917"/>
                    </a:cubicBezTo>
                    <a:close/>
                    <a:moveTo>
                      <a:pt x="4787" y="3246"/>
                    </a:moveTo>
                    <a:cubicBezTo>
                      <a:pt x="4786" y="3246"/>
                      <a:pt x="4786" y="3246"/>
                      <a:pt x="4785" y="3246"/>
                    </a:cubicBezTo>
                    <a:lnTo>
                      <a:pt x="3072" y="3246"/>
                    </a:lnTo>
                    <a:cubicBezTo>
                      <a:pt x="3006" y="3246"/>
                      <a:pt x="2952" y="3299"/>
                      <a:pt x="2952" y="3366"/>
                    </a:cubicBezTo>
                    <a:cubicBezTo>
                      <a:pt x="2952" y="3432"/>
                      <a:pt x="3006" y="3486"/>
                      <a:pt x="3072" y="3486"/>
                    </a:cubicBezTo>
                    <a:lnTo>
                      <a:pt x="4667" y="3486"/>
                    </a:lnTo>
                    <a:lnTo>
                      <a:pt x="4667" y="4917"/>
                    </a:lnTo>
                    <a:lnTo>
                      <a:pt x="4253" y="4917"/>
                    </a:lnTo>
                    <a:cubicBezTo>
                      <a:pt x="4187" y="4917"/>
                      <a:pt x="4133" y="4971"/>
                      <a:pt x="4133" y="5037"/>
                    </a:cubicBezTo>
                    <a:cubicBezTo>
                      <a:pt x="4133" y="5104"/>
                      <a:pt x="4187" y="5157"/>
                      <a:pt x="4253" y="5157"/>
                    </a:cubicBezTo>
                    <a:lnTo>
                      <a:pt x="4787" y="5157"/>
                    </a:lnTo>
                    <a:cubicBezTo>
                      <a:pt x="4854" y="5157"/>
                      <a:pt x="4907" y="5104"/>
                      <a:pt x="4907" y="5037"/>
                    </a:cubicBezTo>
                    <a:cubicBezTo>
                      <a:pt x="4907" y="5030"/>
                      <a:pt x="4907" y="5023"/>
                      <a:pt x="4905" y="5016"/>
                    </a:cubicBezTo>
                    <a:cubicBezTo>
                      <a:pt x="4907" y="5009"/>
                      <a:pt x="4907" y="5001"/>
                      <a:pt x="4907" y="4994"/>
                    </a:cubicBezTo>
                    <a:lnTo>
                      <a:pt x="4907" y="3366"/>
                    </a:lnTo>
                    <a:lnTo>
                      <a:pt x="4907" y="3366"/>
                    </a:lnTo>
                    <a:cubicBezTo>
                      <a:pt x="4907" y="3299"/>
                      <a:pt x="4854" y="3246"/>
                      <a:pt x="4787" y="3246"/>
                    </a:cubicBezTo>
                    <a:close/>
                    <a:moveTo>
                      <a:pt x="2447" y="4118"/>
                    </a:moveTo>
                    <a:lnTo>
                      <a:pt x="1774" y="4118"/>
                    </a:lnTo>
                    <a:lnTo>
                      <a:pt x="1774" y="3021"/>
                    </a:lnTo>
                    <a:cubicBezTo>
                      <a:pt x="1774" y="2955"/>
                      <a:pt x="1720" y="2901"/>
                      <a:pt x="1654" y="2901"/>
                    </a:cubicBezTo>
                    <a:cubicBezTo>
                      <a:pt x="1588" y="2901"/>
                      <a:pt x="1534" y="2955"/>
                      <a:pt x="1534" y="3021"/>
                    </a:cubicBezTo>
                    <a:lnTo>
                      <a:pt x="1534" y="4235"/>
                    </a:lnTo>
                    <a:cubicBezTo>
                      <a:pt x="1534" y="4236"/>
                      <a:pt x="1534" y="4237"/>
                      <a:pt x="1534" y="4238"/>
                    </a:cubicBezTo>
                    <a:lnTo>
                      <a:pt x="1534" y="5037"/>
                    </a:lnTo>
                    <a:cubicBezTo>
                      <a:pt x="1534" y="5104"/>
                      <a:pt x="1587" y="5157"/>
                      <a:pt x="1654" y="5157"/>
                    </a:cubicBezTo>
                    <a:cubicBezTo>
                      <a:pt x="1720" y="5157"/>
                      <a:pt x="1774" y="5104"/>
                      <a:pt x="1774" y="5037"/>
                    </a:cubicBezTo>
                    <a:lnTo>
                      <a:pt x="1774" y="4358"/>
                    </a:lnTo>
                    <a:lnTo>
                      <a:pt x="2327" y="4358"/>
                    </a:lnTo>
                    <a:lnTo>
                      <a:pt x="2327" y="5037"/>
                    </a:lnTo>
                    <a:cubicBezTo>
                      <a:pt x="2327" y="5104"/>
                      <a:pt x="2380" y="5157"/>
                      <a:pt x="2447" y="5157"/>
                    </a:cubicBezTo>
                    <a:cubicBezTo>
                      <a:pt x="2513" y="5157"/>
                      <a:pt x="2567" y="5104"/>
                      <a:pt x="2567" y="5037"/>
                    </a:cubicBezTo>
                    <a:lnTo>
                      <a:pt x="2567" y="4238"/>
                    </a:lnTo>
                    <a:cubicBezTo>
                      <a:pt x="2567" y="4172"/>
                      <a:pt x="2513" y="4118"/>
                      <a:pt x="2447" y="4118"/>
                    </a:cubicBezTo>
                    <a:close/>
                    <a:moveTo>
                      <a:pt x="1584" y="1584"/>
                    </a:moveTo>
                    <a:cubicBezTo>
                      <a:pt x="1537" y="1630"/>
                      <a:pt x="1461" y="1630"/>
                      <a:pt x="1414" y="1584"/>
                    </a:cubicBezTo>
                    <a:lnTo>
                      <a:pt x="1317" y="1486"/>
                    </a:lnTo>
                    <a:cubicBezTo>
                      <a:pt x="1295" y="1498"/>
                      <a:pt x="1273" y="1507"/>
                      <a:pt x="1249" y="1514"/>
                    </a:cubicBezTo>
                    <a:lnTo>
                      <a:pt x="1249" y="1652"/>
                    </a:lnTo>
                    <a:cubicBezTo>
                      <a:pt x="1249" y="1718"/>
                      <a:pt x="1196" y="1772"/>
                      <a:pt x="1129" y="1772"/>
                    </a:cubicBezTo>
                    <a:cubicBezTo>
                      <a:pt x="1063" y="1772"/>
                      <a:pt x="1009" y="1718"/>
                      <a:pt x="1009" y="1652"/>
                    </a:cubicBezTo>
                    <a:lnTo>
                      <a:pt x="1009" y="1514"/>
                    </a:lnTo>
                    <a:cubicBezTo>
                      <a:pt x="986" y="1507"/>
                      <a:pt x="963" y="1498"/>
                      <a:pt x="942" y="1486"/>
                    </a:cubicBezTo>
                    <a:lnTo>
                      <a:pt x="845" y="1584"/>
                    </a:lnTo>
                    <a:cubicBezTo>
                      <a:pt x="798" y="1630"/>
                      <a:pt x="722" y="1630"/>
                      <a:pt x="675" y="1584"/>
                    </a:cubicBezTo>
                    <a:cubicBezTo>
                      <a:pt x="628" y="1537"/>
                      <a:pt x="628" y="1461"/>
                      <a:pt x="675" y="1414"/>
                    </a:cubicBezTo>
                    <a:lnTo>
                      <a:pt x="772" y="1317"/>
                    </a:lnTo>
                    <a:cubicBezTo>
                      <a:pt x="761" y="1295"/>
                      <a:pt x="751" y="1273"/>
                      <a:pt x="744" y="1249"/>
                    </a:cubicBezTo>
                    <a:lnTo>
                      <a:pt x="607" y="1249"/>
                    </a:lnTo>
                    <a:cubicBezTo>
                      <a:pt x="540" y="1249"/>
                      <a:pt x="487" y="1195"/>
                      <a:pt x="487" y="1129"/>
                    </a:cubicBezTo>
                    <a:cubicBezTo>
                      <a:pt x="487" y="1063"/>
                      <a:pt x="540" y="1009"/>
                      <a:pt x="607" y="1009"/>
                    </a:cubicBezTo>
                    <a:lnTo>
                      <a:pt x="744" y="1009"/>
                    </a:lnTo>
                    <a:cubicBezTo>
                      <a:pt x="751" y="986"/>
                      <a:pt x="761" y="963"/>
                      <a:pt x="772" y="942"/>
                    </a:cubicBezTo>
                    <a:lnTo>
                      <a:pt x="675" y="844"/>
                    </a:lnTo>
                    <a:cubicBezTo>
                      <a:pt x="628" y="798"/>
                      <a:pt x="628" y="722"/>
                      <a:pt x="675" y="675"/>
                    </a:cubicBezTo>
                    <a:cubicBezTo>
                      <a:pt x="722" y="628"/>
                      <a:pt x="798" y="628"/>
                      <a:pt x="845" y="675"/>
                    </a:cubicBezTo>
                    <a:lnTo>
                      <a:pt x="942" y="772"/>
                    </a:lnTo>
                    <a:cubicBezTo>
                      <a:pt x="963" y="761"/>
                      <a:pt x="986" y="751"/>
                      <a:pt x="1009" y="744"/>
                    </a:cubicBezTo>
                    <a:lnTo>
                      <a:pt x="1009" y="606"/>
                    </a:lnTo>
                    <a:cubicBezTo>
                      <a:pt x="1009" y="540"/>
                      <a:pt x="1063" y="486"/>
                      <a:pt x="1129" y="486"/>
                    </a:cubicBezTo>
                    <a:cubicBezTo>
                      <a:pt x="1196" y="486"/>
                      <a:pt x="1249" y="540"/>
                      <a:pt x="1249" y="606"/>
                    </a:cubicBezTo>
                    <a:lnTo>
                      <a:pt x="1249" y="744"/>
                    </a:lnTo>
                    <a:cubicBezTo>
                      <a:pt x="1273" y="751"/>
                      <a:pt x="1295" y="761"/>
                      <a:pt x="1317" y="772"/>
                    </a:cubicBezTo>
                    <a:lnTo>
                      <a:pt x="1414" y="675"/>
                    </a:lnTo>
                    <a:cubicBezTo>
                      <a:pt x="1461" y="628"/>
                      <a:pt x="1537" y="628"/>
                      <a:pt x="1584" y="675"/>
                    </a:cubicBezTo>
                    <a:cubicBezTo>
                      <a:pt x="1631" y="722"/>
                      <a:pt x="1631" y="798"/>
                      <a:pt x="1584" y="844"/>
                    </a:cubicBezTo>
                    <a:lnTo>
                      <a:pt x="1486" y="942"/>
                    </a:lnTo>
                    <a:cubicBezTo>
                      <a:pt x="1498" y="963"/>
                      <a:pt x="1507" y="986"/>
                      <a:pt x="1515" y="1009"/>
                    </a:cubicBezTo>
                    <a:lnTo>
                      <a:pt x="1652" y="1009"/>
                    </a:lnTo>
                    <a:cubicBezTo>
                      <a:pt x="1718" y="1009"/>
                      <a:pt x="1772" y="1063"/>
                      <a:pt x="1772" y="1129"/>
                    </a:cubicBezTo>
                    <a:cubicBezTo>
                      <a:pt x="1772" y="1195"/>
                      <a:pt x="1718" y="1249"/>
                      <a:pt x="1652" y="1249"/>
                    </a:cubicBezTo>
                    <a:lnTo>
                      <a:pt x="1515" y="1249"/>
                    </a:lnTo>
                    <a:cubicBezTo>
                      <a:pt x="1507" y="1273"/>
                      <a:pt x="1498" y="1295"/>
                      <a:pt x="1486" y="1317"/>
                    </a:cubicBezTo>
                    <a:lnTo>
                      <a:pt x="1584" y="1414"/>
                    </a:lnTo>
                    <a:cubicBezTo>
                      <a:pt x="1631" y="1461"/>
                      <a:pt x="1631" y="1537"/>
                      <a:pt x="1584" y="1584"/>
                    </a:cubicBezTo>
                    <a:close/>
                    <a:moveTo>
                      <a:pt x="1293" y="1129"/>
                    </a:moveTo>
                    <a:cubicBezTo>
                      <a:pt x="1293" y="1039"/>
                      <a:pt x="1219" y="966"/>
                      <a:pt x="1129" y="966"/>
                    </a:cubicBezTo>
                    <a:cubicBezTo>
                      <a:pt x="1039" y="966"/>
                      <a:pt x="966" y="1039"/>
                      <a:pt x="966" y="1129"/>
                    </a:cubicBezTo>
                    <a:cubicBezTo>
                      <a:pt x="966" y="1219"/>
                      <a:pt x="1039" y="1293"/>
                      <a:pt x="1129" y="1293"/>
                    </a:cubicBezTo>
                    <a:cubicBezTo>
                      <a:pt x="1219" y="1293"/>
                      <a:pt x="1293" y="1219"/>
                      <a:pt x="1293" y="112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5054619" y="4007997"/>
              <a:ext cx="6229350" cy="649706"/>
              <a:chOff x="5054619" y="4018684"/>
              <a:chExt cx="6229350" cy="649706"/>
            </a:xfrm>
          </p:grpSpPr>
          <p:sp>
            <p:nvSpPr>
              <p:cNvPr id="58" name="矩形 57"/>
              <p:cNvSpPr/>
              <p:nvPr>
                <p:custDataLst>
                  <p:tags r:id="rId17"/>
                </p:custDataLst>
              </p:nvPr>
            </p:nvSpPr>
            <p:spPr>
              <a:xfrm>
                <a:off x="5265495" y="4018684"/>
                <a:ext cx="704297"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59" name="矩形 58"/>
              <p:cNvSpPr/>
              <p:nvPr>
                <p:custDataLst>
                  <p:tags r:id="rId18"/>
                </p:custDataLst>
              </p:nvPr>
            </p:nvSpPr>
            <p:spPr>
              <a:xfrm>
                <a:off x="6465289" y="4018684"/>
                <a:ext cx="4726452" cy="6497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60" name="文本框 9"/>
              <p:cNvSpPr txBox="1"/>
              <p:nvPr>
                <p:custDataLst>
                  <p:tags r:id="rId19"/>
                </p:custDataLst>
              </p:nvPr>
            </p:nvSpPr>
            <p:spPr>
              <a:xfrm>
                <a:off x="5054619" y="4107678"/>
                <a:ext cx="112604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rPr>
                  <a:t>03</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OPPOSans H" panose="00020600040101010101" pitchFamily="18" charset="-122"/>
                </a:endParaRPr>
              </a:p>
            </p:txBody>
          </p:sp>
          <p:sp>
            <p:nvSpPr>
              <p:cNvPr id="61" name="TextBox 49"/>
              <p:cNvSpPr txBox="1"/>
              <p:nvPr>
                <p:custDataLst>
                  <p:tags r:id="rId20"/>
                </p:custDataLst>
              </p:nvPr>
            </p:nvSpPr>
            <p:spPr>
              <a:xfrm>
                <a:off x="7557789" y="4077104"/>
                <a:ext cx="3726180" cy="333937"/>
              </a:xfrm>
              <a:prstGeom prst="rect">
                <a:avLst/>
              </a:prstGeom>
              <a:noFill/>
            </p:spPr>
            <p:txBody>
              <a:bodyPr wrap="square" rtlCol="0">
                <a:spAutoFit/>
              </a:bodyPr>
              <a:lstStyle/>
              <a:p>
                <a:pPr eaLnBrk="1" hangingPunct="1"/>
                <a:r>
                  <a:rPr lang="zh-CN" altLang="en-US" sz="3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树和森林的再讨论</a:t>
                </a:r>
                <a:endParaRPr lang="zh-CN" altLang="en-US" sz="3200" b="1" spc="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0" name="progress-report_18229"/>
              <p:cNvSpPr/>
              <p:nvPr>
                <p:custDataLst>
                  <p:tags r:id="rId21"/>
                </p:custDataLst>
              </p:nvPr>
            </p:nvSpPr>
            <p:spPr>
              <a:xfrm>
                <a:off x="6738829" y="4119492"/>
                <a:ext cx="474471" cy="411297"/>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微软雅黑" panose="020B0503020204020204" pitchFamily="34" charset="-122"/>
                  <a:ea typeface="微软雅黑" panose="020B0503020204020204" pitchFamily="34" charset="-122"/>
                </a:endParaRPr>
              </a:p>
            </p:txBody>
          </p:sp>
        </p:grpSp>
      </p:grpSp>
    </p:spTree>
    <p:custDataLst>
      <p:tags r:id="rId22"/>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smtClean="0">
                <a:solidFill>
                  <a:srgbClr val="005A9E"/>
                </a:solidFill>
                <a:latin typeface="华文行楷" panose="02010800040101010101" pitchFamily="2" charset="-122"/>
                <a:ea typeface="华文行楷" panose="02010800040101010101" pitchFamily="2" charset="-122"/>
              </a:rPr>
              <a:t>数据结构</a:t>
            </a:r>
            <a:endParaRPr lang="en-US" altLang="zh-CN" sz="2800" b="1" dirty="0" smtClean="0">
              <a:solidFill>
                <a:srgbClr val="005A9E"/>
              </a:solidFill>
              <a:latin typeface="华文行楷" panose="02010800040101010101" pitchFamily="2" charset="-122"/>
              <a:ea typeface="华文行楷" panose="02010800040101010101" pitchFamily="2" charset="-122"/>
            </a:endParaRPr>
          </a:p>
          <a:p>
            <a:pPr algn="dist"/>
            <a:r>
              <a:rPr lang="en-US" altLang="zh-CN" sz="1600" dirty="0" smtClean="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3065" y="106045"/>
            <a:ext cx="6685915" cy="645160"/>
          </a:xfrm>
          <a:prstGeom prst="rect">
            <a:avLst/>
          </a:prstGeom>
          <a:noFill/>
        </p:spPr>
        <p:txBody>
          <a:bodyPr wrap="square" rtlCol="0">
            <a:spAutoFit/>
          </a:bodyPr>
          <a:lstStyle/>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树、森林的定义及基本术语</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219" name="内容占位符 2"/>
          <p:cNvSpPr>
            <a:spLocks noGrp="1"/>
          </p:cNvSpPr>
          <p:nvPr>
            <p:ph idx="1"/>
          </p:nvPr>
        </p:nvSpPr>
        <p:spPr>
          <a:xfrm>
            <a:off x="393065" y="1226185"/>
            <a:ext cx="10767060" cy="4997450"/>
          </a:xfrm>
        </p:spPr>
        <p:txBody>
          <a:bodyPr vert="horz" wrap="square" lIns="91440" tIns="45720" rIns="91440" bIns="45720" anchor="t" anchorCtr="0"/>
          <a:p>
            <a:pPr eaLnBrk="1" hangingPunct="1">
              <a:lnSpc>
                <a:spcPct val="160000"/>
              </a:lnSpc>
              <a:spcBef>
                <a:spcPct val="5000"/>
              </a:spcBef>
              <a:buFont typeface="Wingdings" panose="05000000000000000000" charset="0"/>
              <a:buChar char="Ø"/>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树</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(tree)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个结点的有限集</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当</a:t>
            </a:r>
            <a:r>
              <a:rPr lang="zh-CN"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=0时称为空树</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，否则满足以下两个条件：</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60000"/>
              </a:lnSpc>
              <a:spcBef>
                <a:spcPct val="5000"/>
              </a:spcBef>
              <a:buFont typeface="Arial" panose="020B0604020202020204" pitchFamily="34" charset="0"/>
              <a:buChar cha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有且仅有一个特定的结点，称为树的根</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(root)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60000"/>
              </a:lnSpc>
              <a:spcBef>
                <a:spcPct val="5000"/>
              </a:spcBef>
              <a:buFont typeface="Arial" panose="020B0604020202020204" pitchFamily="34" charset="0"/>
              <a:buChar cha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其余结点可分为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个互不相交的子集</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，其中每一个子集本身又是一棵树，</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并称其为根结点的子树</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(subtree)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5" name="组合 34"/>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33" name="组合 32"/>
            <p:cNvGrpSpPr/>
            <p:nvPr/>
          </p:nvGrpSpPr>
          <p:grpSpPr>
            <a:xfrm>
              <a:off x="619" y="10220"/>
              <a:ext cx="17226" cy="580"/>
              <a:chOff x="619" y="10220"/>
              <a:chExt cx="17226"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定义及基本术语</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grpSp>
            <p:nvGrpSpPr>
              <p:cNvPr id="31" name="组合 30"/>
              <p:cNvGrpSpPr/>
              <p:nvPr/>
            </p:nvGrpSpPr>
            <p:grpSpPr>
              <a:xfrm>
                <a:off x="1171" y="10220"/>
                <a:ext cx="16674" cy="580"/>
                <a:chOff x="1171" y="10220"/>
                <a:chExt cx="16674" cy="580"/>
              </a:xfrm>
            </p:grpSpPr>
            <p:sp>
              <p:nvSpPr>
                <p:cNvPr id="26" name="燕尾形 25"/>
                <p:cNvSpPr/>
                <p:nvPr/>
              </p:nvSpPr>
              <p:spPr>
                <a:xfrm>
                  <a:off x="1346" y="10327"/>
                  <a:ext cx="253" cy="31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7" name="燕尾形 26"/>
                <p:cNvSpPr/>
                <p:nvPr/>
              </p:nvSpPr>
              <p:spPr>
                <a:xfrm>
                  <a:off x="1171" y="10327"/>
                  <a:ext cx="253" cy="31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Oval 4"/>
          <p:cNvSpPr/>
          <p:nvPr/>
        </p:nvSpPr>
        <p:spPr>
          <a:xfrm>
            <a:off x="8077200" y="1362710"/>
            <a:ext cx="501650" cy="471488"/>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A</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44" name="Oval 6"/>
          <p:cNvSpPr/>
          <p:nvPr/>
        </p:nvSpPr>
        <p:spPr>
          <a:xfrm>
            <a:off x="8839200" y="2034223"/>
            <a:ext cx="501650" cy="47148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C</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45" name="Line 7"/>
          <p:cNvSpPr/>
          <p:nvPr/>
        </p:nvSpPr>
        <p:spPr>
          <a:xfrm flipH="1">
            <a:off x="7620000" y="1743710"/>
            <a:ext cx="457200" cy="304800"/>
          </a:xfrm>
          <a:prstGeom prst="line">
            <a:avLst/>
          </a:prstGeom>
          <a:ln w="9525" cap="flat" cmpd="sng">
            <a:solidFill>
              <a:srgbClr val="000000"/>
            </a:solidFill>
            <a:prstDash val="solid"/>
            <a:headEnd type="none" w="med" len="med"/>
            <a:tailEnd type="none" w="med" len="med"/>
          </a:ln>
        </p:spPr>
      </p:sp>
      <p:sp>
        <p:nvSpPr>
          <p:cNvPr id="10246" name="Line 8"/>
          <p:cNvSpPr/>
          <p:nvPr/>
        </p:nvSpPr>
        <p:spPr>
          <a:xfrm>
            <a:off x="8534400" y="1743710"/>
            <a:ext cx="457200" cy="304800"/>
          </a:xfrm>
          <a:prstGeom prst="line">
            <a:avLst/>
          </a:prstGeom>
          <a:ln w="9525" cap="flat" cmpd="sng">
            <a:solidFill>
              <a:srgbClr val="000000"/>
            </a:solidFill>
            <a:prstDash val="solid"/>
            <a:headEnd type="none" w="med" len="med"/>
            <a:tailEnd type="none" w="med" len="med"/>
          </a:ln>
        </p:spPr>
      </p:sp>
      <p:sp>
        <p:nvSpPr>
          <p:cNvPr id="10247" name="Oval 9"/>
          <p:cNvSpPr/>
          <p:nvPr/>
        </p:nvSpPr>
        <p:spPr>
          <a:xfrm>
            <a:off x="9067800" y="2810510"/>
            <a:ext cx="501650" cy="471488"/>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G</a:t>
            </a:r>
            <a:endParaRPr lang="en-US" altLang="zh-CN" b="1" dirty="0">
              <a:solidFill>
                <a:schemeClr val="accent1"/>
              </a:solidFill>
              <a:latin typeface="Arial" panose="020B0604020202020204" pitchFamily="34" charset="0"/>
              <a:ea typeface="宋体" panose="02010600030101010101" pitchFamily="2" charset="-122"/>
            </a:endParaRPr>
          </a:p>
        </p:txBody>
      </p:sp>
      <p:grpSp>
        <p:nvGrpSpPr>
          <p:cNvPr id="10248" name="Group 10"/>
          <p:cNvGrpSpPr/>
          <p:nvPr/>
        </p:nvGrpSpPr>
        <p:grpSpPr>
          <a:xfrm>
            <a:off x="6477000" y="2034223"/>
            <a:ext cx="2025650" cy="2071687"/>
            <a:chOff x="3120" y="1095"/>
            <a:chExt cx="1276" cy="1305"/>
          </a:xfrm>
        </p:grpSpPr>
        <p:sp>
          <p:nvSpPr>
            <p:cNvPr id="10287" name="Oval 11"/>
            <p:cNvSpPr/>
            <p:nvPr/>
          </p:nvSpPr>
          <p:spPr>
            <a:xfrm>
              <a:off x="3648" y="1095"/>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B</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88" name="Oval 12"/>
            <p:cNvSpPr/>
            <p:nvPr/>
          </p:nvSpPr>
          <p:spPr>
            <a:xfrm>
              <a:off x="3120" y="1584"/>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D</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89" name="Oval 13"/>
            <p:cNvSpPr/>
            <p:nvPr/>
          </p:nvSpPr>
          <p:spPr>
            <a:xfrm>
              <a:off x="3600" y="1584"/>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E</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90" name="Oval 14"/>
            <p:cNvSpPr/>
            <p:nvPr/>
          </p:nvSpPr>
          <p:spPr>
            <a:xfrm>
              <a:off x="4080" y="1584"/>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F</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91" name="Line 15"/>
            <p:cNvSpPr/>
            <p:nvPr/>
          </p:nvSpPr>
          <p:spPr>
            <a:xfrm flipH="1">
              <a:off x="3360" y="1344"/>
              <a:ext cx="336" cy="240"/>
            </a:xfrm>
            <a:prstGeom prst="line">
              <a:avLst/>
            </a:prstGeom>
            <a:ln w="9525" cap="flat" cmpd="sng">
              <a:solidFill>
                <a:srgbClr val="000000"/>
              </a:solidFill>
              <a:prstDash val="solid"/>
              <a:headEnd type="none" w="med" len="med"/>
              <a:tailEnd type="none" w="med" len="med"/>
            </a:ln>
          </p:spPr>
        </p:sp>
        <p:sp>
          <p:nvSpPr>
            <p:cNvPr id="10292" name="Line 16"/>
            <p:cNvSpPr/>
            <p:nvPr/>
          </p:nvSpPr>
          <p:spPr>
            <a:xfrm>
              <a:off x="3792" y="1392"/>
              <a:ext cx="0" cy="192"/>
            </a:xfrm>
            <a:prstGeom prst="line">
              <a:avLst/>
            </a:prstGeom>
            <a:ln w="9525" cap="flat" cmpd="sng">
              <a:solidFill>
                <a:srgbClr val="000000"/>
              </a:solidFill>
              <a:prstDash val="solid"/>
              <a:headEnd type="none" w="med" len="med"/>
              <a:tailEnd type="none" w="med" len="med"/>
            </a:ln>
          </p:spPr>
        </p:sp>
        <p:sp>
          <p:nvSpPr>
            <p:cNvPr id="10293" name="Line 17"/>
            <p:cNvSpPr/>
            <p:nvPr/>
          </p:nvSpPr>
          <p:spPr>
            <a:xfrm>
              <a:off x="3936" y="1344"/>
              <a:ext cx="240" cy="240"/>
            </a:xfrm>
            <a:prstGeom prst="line">
              <a:avLst/>
            </a:prstGeom>
            <a:ln w="9525" cap="flat" cmpd="sng">
              <a:solidFill>
                <a:srgbClr val="000000"/>
              </a:solidFill>
              <a:prstDash val="solid"/>
              <a:headEnd type="none" w="med" len="med"/>
              <a:tailEnd type="none" w="med" len="med"/>
            </a:ln>
          </p:spPr>
        </p:sp>
        <p:sp>
          <p:nvSpPr>
            <p:cNvPr id="10294" name="Oval 18"/>
            <p:cNvSpPr/>
            <p:nvPr/>
          </p:nvSpPr>
          <p:spPr>
            <a:xfrm>
              <a:off x="3380" y="2103"/>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H</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95" name="Oval 19"/>
            <p:cNvSpPr/>
            <p:nvPr/>
          </p:nvSpPr>
          <p:spPr>
            <a:xfrm>
              <a:off x="3860" y="2103"/>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I</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96" name="Line 20"/>
            <p:cNvSpPr/>
            <p:nvPr/>
          </p:nvSpPr>
          <p:spPr>
            <a:xfrm flipH="1">
              <a:off x="3552" y="1872"/>
              <a:ext cx="144" cy="240"/>
            </a:xfrm>
            <a:prstGeom prst="line">
              <a:avLst/>
            </a:prstGeom>
            <a:ln w="9525" cap="flat" cmpd="sng">
              <a:solidFill>
                <a:srgbClr val="000000"/>
              </a:solidFill>
              <a:prstDash val="solid"/>
              <a:headEnd type="none" w="med" len="med"/>
              <a:tailEnd type="none" w="med" len="med"/>
            </a:ln>
          </p:spPr>
        </p:sp>
        <p:sp>
          <p:nvSpPr>
            <p:cNvPr id="10297" name="Line 21"/>
            <p:cNvSpPr/>
            <p:nvPr/>
          </p:nvSpPr>
          <p:spPr>
            <a:xfrm>
              <a:off x="3840" y="1872"/>
              <a:ext cx="192" cy="240"/>
            </a:xfrm>
            <a:prstGeom prst="line">
              <a:avLst/>
            </a:prstGeom>
            <a:ln w="9525" cap="flat" cmpd="sng">
              <a:solidFill>
                <a:srgbClr val="000000"/>
              </a:solidFill>
              <a:prstDash val="solid"/>
              <a:headEnd type="none" w="med" len="med"/>
              <a:tailEnd type="none" w="med" len="med"/>
            </a:ln>
          </p:spPr>
        </p:sp>
      </p:grpSp>
      <p:sp>
        <p:nvSpPr>
          <p:cNvPr id="10249" name="Line 22"/>
          <p:cNvSpPr/>
          <p:nvPr/>
        </p:nvSpPr>
        <p:spPr>
          <a:xfrm>
            <a:off x="9144000" y="2505710"/>
            <a:ext cx="76200" cy="304800"/>
          </a:xfrm>
          <a:prstGeom prst="line">
            <a:avLst/>
          </a:prstGeom>
          <a:ln w="9525" cap="flat" cmpd="sng">
            <a:solidFill>
              <a:srgbClr val="000000"/>
            </a:solidFill>
            <a:prstDash val="solid"/>
            <a:headEnd type="none" w="med" len="med"/>
            <a:tailEnd type="none" w="med" len="med"/>
          </a:ln>
        </p:spPr>
      </p:sp>
      <p:sp>
        <p:nvSpPr>
          <p:cNvPr id="151575" name="AutoShape 23"/>
          <p:cNvSpPr/>
          <p:nvPr/>
        </p:nvSpPr>
        <p:spPr>
          <a:xfrm>
            <a:off x="9144000" y="1295400"/>
            <a:ext cx="1295400" cy="457200"/>
          </a:xfrm>
          <a:prstGeom prst="wedgeRoundRectCallout">
            <a:avLst>
              <a:gd name="adj1" fmla="val -85662"/>
              <a:gd name="adj2" fmla="val 20139"/>
              <a:gd name="adj3" fmla="val 16667"/>
            </a:avLst>
          </a:prstGeom>
          <a:noFill/>
          <a:ln w="9525" cap="flat" cmpd="sng">
            <a:solidFill>
              <a:schemeClr val="hlink"/>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000000"/>
                </a:solidFill>
                <a:latin typeface="Times New Roman" panose="02020603050405020304" pitchFamily="18" charset="0"/>
                <a:ea typeface="微软雅黑" panose="020B0503020204020204" pitchFamily="34" charset="-122"/>
              </a:rPr>
              <a:t>根结点</a:t>
            </a:r>
            <a:endParaRPr lang="zh-CN" altLang="en-US" dirty="0">
              <a:solidFill>
                <a:srgbClr val="000000"/>
              </a:solidFill>
              <a:latin typeface="Times New Roman" panose="02020603050405020304" pitchFamily="18" charset="0"/>
              <a:ea typeface="微软雅黑" panose="020B0503020204020204" pitchFamily="34" charset="-122"/>
            </a:endParaRPr>
          </a:p>
        </p:txBody>
      </p:sp>
      <p:sp>
        <p:nvSpPr>
          <p:cNvPr id="151576" name="Oval 24"/>
          <p:cNvSpPr/>
          <p:nvPr/>
        </p:nvSpPr>
        <p:spPr>
          <a:xfrm>
            <a:off x="6400800" y="1896110"/>
            <a:ext cx="2209800" cy="2667000"/>
          </a:xfrm>
          <a:prstGeom prst="ellipse">
            <a:avLst/>
          </a:prstGeom>
          <a:noFill/>
          <a:ln w="9525" cap="flat" cmpd="sng">
            <a:solidFill>
              <a:srgbClr val="0000CC"/>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51577" name="Oval 25"/>
          <p:cNvSpPr/>
          <p:nvPr/>
        </p:nvSpPr>
        <p:spPr>
          <a:xfrm>
            <a:off x="8610600" y="1896110"/>
            <a:ext cx="1219200" cy="1447800"/>
          </a:xfrm>
          <a:prstGeom prst="ellipse">
            <a:avLst/>
          </a:prstGeom>
          <a:noFill/>
          <a:ln w="9525" cap="flat" cmpd="sng">
            <a:solidFill>
              <a:srgbClr val="0000CC"/>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pSp>
        <p:nvGrpSpPr>
          <p:cNvPr id="3" name="Group 26"/>
          <p:cNvGrpSpPr/>
          <p:nvPr/>
        </p:nvGrpSpPr>
        <p:grpSpPr>
          <a:xfrm>
            <a:off x="2971800" y="1743710"/>
            <a:ext cx="2025650" cy="2071688"/>
            <a:chOff x="912" y="1104"/>
            <a:chExt cx="1276" cy="1305"/>
          </a:xfrm>
        </p:grpSpPr>
        <p:sp>
          <p:nvSpPr>
            <p:cNvPr id="10276" name="Oval 27"/>
            <p:cNvSpPr/>
            <p:nvPr/>
          </p:nvSpPr>
          <p:spPr>
            <a:xfrm>
              <a:off x="1440" y="1104"/>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B</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77" name="Oval 28"/>
            <p:cNvSpPr/>
            <p:nvPr/>
          </p:nvSpPr>
          <p:spPr>
            <a:xfrm>
              <a:off x="912" y="1593"/>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D</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78" name="Oval 29"/>
            <p:cNvSpPr/>
            <p:nvPr/>
          </p:nvSpPr>
          <p:spPr>
            <a:xfrm>
              <a:off x="1392" y="1593"/>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E</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79" name="Oval 30"/>
            <p:cNvSpPr/>
            <p:nvPr/>
          </p:nvSpPr>
          <p:spPr>
            <a:xfrm>
              <a:off x="1872" y="1593"/>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F</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80" name="Line 31"/>
            <p:cNvSpPr/>
            <p:nvPr/>
          </p:nvSpPr>
          <p:spPr>
            <a:xfrm flipH="1">
              <a:off x="1152" y="1353"/>
              <a:ext cx="336" cy="240"/>
            </a:xfrm>
            <a:prstGeom prst="line">
              <a:avLst/>
            </a:prstGeom>
            <a:ln w="9525" cap="flat" cmpd="sng">
              <a:solidFill>
                <a:srgbClr val="000000"/>
              </a:solidFill>
              <a:prstDash val="solid"/>
              <a:headEnd type="none" w="med" len="med"/>
              <a:tailEnd type="none" w="med" len="med"/>
            </a:ln>
          </p:spPr>
        </p:sp>
        <p:sp>
          <p:nvSpPr>
            <p:cNvPr id="10281" name="Line 32"/>
            <p:cNvSpPr/>
            <p:nvPr/>
          </p:nvSpPr>
          <p:spPr>
            <a:xfrm>
              <a:off x="1584" y="1401"/>
              <a:ext cx="0" cy="192"/>
            </a:xfrm>
            <a:prstGeom prst="line">
              <a:avLst/>
            </a:prstGeom>
            <a:ln w="9525" cap="flat" cmpd="sng">
              <a:solidFill>
                <a:srgbClr val="000000"/>
              </a:solidFill>
              <a:prstDash val="solid"/>
              <a:headEnd type="none" w="med" len="med"/>
              <a:tailEnd type="none" w="med" len="med"/>
            </a:ln>
          </p:spPr>
        </p:sp>
        <p:sp>
          <p:nvSpPr>
            <p:cNvPr id="10282" name="Line 33"/>
            <p:cNvSpPr/>
            <p:nvPr/>
          </p:nvSpPr>
          <p:spPr>
            <a:xfrm>
              <a:off x="1728" y="1353"/>
              <a:ext cx="240" cy="240"/>
            </a:xfrm>
            <a:prstGeom prst="line">
              <a:avLst/>
            </a:prstGeom>
            <a:ln w="9525" cap="flat" cmpd="sng">
              <a:solidFill>
                <a:srgbClr val="000000"/>
              </a:solidFill>
              <a:prstDash val="solid"/>
              <a:headEnd type="none" w="med" len="med"/>
              <a:tailEnd type="none" w="med" len="med"/>
            </a:ln>
          </p:spPr>
        </p:sp>
        <p:sp>
          <p:nvSpPr>
            <p:cNvPr id="10283" name="Oval 34"/>
            <p:cNvSpPr/>
            <p:nvPr/>
          </p:nvSpPr>
          <p:spPr>
            <a:xfrm>
              <a:off x="1172" y="2112"/>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H</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84" name="Oval 35"/>
            <p:cNvSpPr/>
            <p:nvPr/>
          </p:nvSpPr>
          <p:spPr>
            <a:xfrm>
              <a:off x="1652" y="2112"/>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I</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85" name="Line 36"/>
            <p:cNvSpPr/>
            <p:nvPr/>
          </p:nvSpPr>
          <p:spPr>
            <a:xfrm flipH="1">
              <a:off x="1344" y="1881"/>
              <a:ext cx="144" cy="240"/>
            </a:xfrm>
            <a:prstGeom prst="line">
              <a:avLst/>
            </a:prstGeom>
            <a:ln w="9525" cap="flat" cmpd="sng">
              <a:solidFill>
                <a:srgbClr val="000000"/>
              </a:solidFill>
              <a:prstDash val="solid"/>
              <a:headEnd type="none" w="med" len="med"/>
              <a:tailEnd type="none" w="med" len="med"/>
            </a:ln>
          </p:spPr>
        </p:sp>
        <p:sp>
          <p:nvSpPr>
            <p:cNvPr id="10286" name="Line 37"/>
            <p:cNvSpPr/>
            <p:nvPr/>
          </p:nvSpPr>
          <p:spPr>
            <a:xfrm>
              <a:off x="1632" y="1881"/>
              <a:ext cx="192" cy="240"/>
            </a:xfrm>
            <a:prstGeom prst="line">
              <a:avLst/>
            </a:prstGeom>
            <a:ln w="9525" cap="flat" cmpd="sng">
              <a:solidFill>
                <a:srgbClr val="000000"/>
              </a:solidFill>
              <a:prstDash val="solid"/>
              <a:headEnd type="none" w="med" len="med"/>
              <a:tailEnd type="none" w="med" len="med"/>
            </a:ln>
          </p:spPr>
        </p:sp>
      </p:grpSp>
      <p:sp>
        <p:nvSpPr>
          <p:cNvPr id="151590" name="AutoShape 38"/>
          <p:cNvSpPr/>
          <p:nvPr/>
        </p:nvSpPr>
        <p:spPr>
          <a:xfrm>
            <a:off x="9067800" y="3572510"/>
            <a:ext cx="1295400" cy="381000"/>
          </a:xfrm>
          <a:prstGeom prst="wedgeRoundRectCallout">
            <a:avLst>
              <a:gd name="adj1" fmla="val 6986"/>
              <a:gd name="adj2" fmla="val -242083"/>
              <a:gd name="adj3" fmla="val 16667"/>
            </a:avLst>
          </a:prstGeom>
          <a:noFill/>
          <a:ln w="9525" cap="flat" cmpd="sng">
            <a:solidFill>
              <a:schemeClr val="hlink"/>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子树</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1591" name="AutoShape 39"/>
          <p:cNvSpPr/>
          <p:nvPr/>
        </p:nvSpPr>
        <p:spPr>
          <a:xfrm>
            <a:off x="8382000" y="4105910"/>
            <a:ext cx="1295400" cy="381000"/>
          </a:xfrm>
          <a:prstGeom prst="wedgeRoundRectCallout">
            <a:avLst>
              <a:gd name="adj1" fmla="val -32968"/>
              <a:gd name="adj2" fmla="val -209583"/>
              <a:gd name="adj3" fmla="val 16667"/>
            </a:avLst>
          </a:prstGeom>
          <a:noFill/>
          <a:ln w="9525" cap="flat" cmpd="sng">
            <a:solidFill>
              <a:schemeClr val="hlink"/>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子树</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1592" name="AutoShape 40"/>
          <p:cNvSpPr/>
          <p:nvPr/>
        </p:nvSpPr>
        <p:spPr>
          <a:xfrm>
            <a:off x="4800600" y="1667510"/>
            <a:ext cx="1295400" cy="457200"/>
          </a:xfrm>
          <a:prstGeom prst="wedgeRoundRectCallout">
            <a:avLst>
              <a:gd name="adj1" fmla="val -85662"/>
              <a:gd name="adj2" fmla="val 20139"/>
              <a:gd name="adj3" fmla="val 16667"/>
            </a:avLst>
          </a:prstGeom>
          <a:noFill/>
          <a:ln w="9525" cap="flat" cmpd="sng">
            <a:solidFill>
              <a:schemeClr val="hlink"/>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000000"/>
                </a:solidFill>
                <a:latin typeface="微软雅黑" panose="020B0503020204020204" pitchFamily="34" charset="-122"/>
                <a:ea typeface="微软雅黑" panose="020B0503020204020204" pitchFamily="34" charset="-122"/>
              </a:rPr>
              <a:t>根结点</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151593" name="Oval 41"/>
          <p:cNvSpPr/>
          <p:nvPr/>
        </p:nvSpPr>
        <p:spPr>
          <a:xfrm>
            <a:off x="2895600" y="2429510"/>
            <a:ext cx="685800" cy="609600"/>
          </a:xfrm>
          <a:prstGeom prst="ellipse">
            <a:avLst/>
          </a:prstGeom>
          <a:noFill/>
          <a:ln w="9525" cap="flat" cmpd="sng">
            <a:solidFill>
              <a:srgbClr val="0000CC"/>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51594" name="Freeform 42"/>
          <p:cNvSpPr/>
          <p:nvPr/>
        </p:nvSpPr>
        <p:spPr>
          <a:xfrm>
            <a:off x="3276600" y="2277110"/>
            <a:ext cx="1536700" cy="1689100"/>
          </a:xfrm>
          <a:custGeom>
            <a:avLst/>
            <a:gdLst>
              <a:gd name="txL" fmla="*/ 0 w 968"/>
              <a:gd name="txT" fmla="*/ 0 h 1064"/>
              <a:gd name="txR" fmla="*/ 968 w 968"/>
              <a:gd name="txB" fmla="*/ 1064 h 1064"/>
            </a:gdLst>
            <a:ahLst/>
            <a:cxnLst>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968" h="1064">
                <a:moveTo>
                  <a:pt x="384" y="104"/>
                </a:moveTo>
                <a:cubicBezTo>
                  <a:pt x="344" y="120"/>
                  <a:pt x="352" y="72"/>
                  <a:pt x="288" y="200"/>
                </a:cubicBezTo>
                <a:cubicBezTo>
                  <a:pt x="224" y="328"/>
                  <a:pt x="0" y="736"/>
                  <a:pt x="0" y="872"/>
                </a:cubicBezTo>
                <a:cubicBezTo>
                  <a:pt x="0" y="1008"/>
                  <a:pt x="144" y="992"/>
                  <a:pt x="288" y="1016"/>
                </a:cubicBezTo>
                <a:cubicBezTo>
                  <a:pt x="432" y="1040"/>
                  <a:pt x="760" y="1064"/>
                  <a:pt x="864" y="1016"/>
                </a:cubicBezTo>
                <a:cubicBezTo>
                  <a:pt x="968" y="968"/>
                  <a:pt x="968" y="880"/>
                  <a:pt x="912" y="728"/>
                </a:cubicBezTo>
                <a:cubicBezTo>
                  <a:pt x="856" y="576"/>
                  <a:pt x="616" y="208"/>
                  <a:pt x="528" y="104"/>
                </a:cubicBezTo>
                <a:cubicBezTo>
                  <a:pt x="440" y="0"/>
                  <a:pt x="424" y="88"/>
                  <a:pt x="384" y="104"/>
                </a:cubicBezTo>
                <a:close/>
              </a:path>
            </a:pathLst>
          </a:custGeom>
          <a:noFill/>
          <a:ln w="9525" cap="flat" cmpd="sng">
            <a:solidFill>
              <a:srgbClr val="0000CC">
                <a:alpha val="100000"/>
              </a:srgbClr>
            </a:solidFill>
            <a:prstDash val="dash"/>
            <a:round/>
            <a:headEnd type="none" w="med" len="med"/>
            <a:tailEnd type="none" w="med" len="med"/>
          </a:ln>
        </p:spPr>
        <p:txBody>
          <a:bodyPr/>
          <a:p>
            <a:endParaRPr lang="zh-CN" altLang="en-US"/>
          </a:p>
        </p:txBody>
      </p:sp>
      <p:sp>
        <p:nvSpPr>
          <p:cNvPr id="151595" name="Oval 43"/>
          <p:cNvSpPr/>
          <p:nvPr/>
        </p:nvSpPr>
        <p:spPr>
          <a:xfrm>
            <a:off x="4419600" y="2429510"/>
            <a:ext cx="685800" cy="609600"/>
          </a:xfrm>
          <a:prstGeom prst="ellipse">
            <a:avLst/>
          </a:prstGeom>
          <a:noFill/>
          <a:ln w="9525" cap="flat" cmpd="sng">
            <a:solidFill>
              <a:srgbClr val="0000CC"/>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51596" name="AutoShape 44"/>
          <p:cNvSpPr/>
          <p:nvPr/>
        </p:nvSpPr>
        <p:spPr>
          <a:xfrm>
            <a:off x="1676400" y="3496310"/>
            <a:ext cx="1295400" cy="381000"/>
          </a:xfrm>
          <a:prstGeom prst="wedgeRoundRectCallout">
            <a:avLst>
              <a:gd name="adj1" fmla="val 79903"/>
              <a:gd name="adj2" fmla="val -109583"/>
              <a:gd name="adj3" fmla="val 16667"/>
            </a:avLst>
          </a:prstGeom>
          <a:noFill/>
          <a:ln w="9525" cap="flat" cmpd="sng">
            <a:solidFill>
              <a:schemeClr val="hlink"/>
            </a:solidFill>
            <a:prstDash val="solid"/>
            <a:miter/>
            <a:headEnd type="none" w="med" len="med"/>
            <a:tailEnd type="none" w="med" len="med"/>
          </a:ln>
        </p:spPr>
        <p:txBody>
          <a:bodyPr lIns="0" r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子树</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12</a:t>
            </a:r>
            <a:endPar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1597" name="AutoShape 45"/>
          <p:cNvSpPr/>
          <p:nvPr/>
        </p:nvSpPr>
        <p:spPr>
          <a:xfrm>
            <a:off x="4876800" y="3115310"/>
            <a:ext cx="1295400" cy="381000"/>
          </a:xfrm>
          <a:prstGeom prst="wedgeRoundRectCallout">
            <a:avLst>
              <a:gd name="adj1" fmla="val -33088"/>
              <a:gd name="adj2" fmla="val -149583"/>
              <a:gd name="adj3" fmla="val 16667"/>
            </a:avLst>
          </a:prstGeom>
          <a:noFill/>
          <a:ln w="9525" cap="flat" cmpd="sng">
            <a:solidFill>
              <a:schemeClr val="hlink"/>
            </a:solidFill>
            <a:prstDash val="solid"/>
            <a:miter/>
            <a:headEnd type="none" w="med" len="med"/>
            <a:tailEnd type="none" w="med" len="med"/>
          </a:ln>
        </p:spPr>
        <p:txBody>
          <a:bodyPr lIns="0" r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子树</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13</a:t>
            </a:r>
            <a:endPar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1598" name="AutoShape 46"/>
          <p:cNvSpPr/>
          <p:nvPr/>
        </p:nvSpPr>
        <p:spPr>
          <a:xfrm>
            <a:off x="1752600" y="1972310"/>
            <a:ext cx="1295400" cy="381000"/>
          </a:xfrm>
          <a:prstGeom prst="wedgeRoundRectCallout">
            <a:avLst>
              <a:gd name="adj1" fmla="val 43384"/>
              <a:gd name="adj2" fmla="val 78333"/>
              <a:gd name="adj3" fmla="val 16667"/>
            </a:avLst>
          </a:prstGeom>
          <a:noFill/>
          <a:ln w="9525" cap="flat" cmpd="sng">
            <a:solidFill>
              <a:schemeClr val="hlink"/>
            </a:solidFill>
            <a:prstDash val="solid"/>
            <a:miter/>
            <a:headEnd type="none" w="med" len="med"/>
            <a:tailEnd type="none" w="med" len="med"/>
          </a:ln>
        </p:spPr>
        <p:txBody>
          <a:bodyPr lIns="0" r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子树</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11</a:t>
            </a:r>
            <a:endPar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 name="Group 47"/>
          <p:cNvGrpSpPr/>
          <p:nvPr/>
        </p:nvGrpSpPr>
        <p:grpSpPr>
          <a:xfrm>
            <a:off x="3384550" y="4334510"/>
            <a:ext cx="1263650" cy="1295400"/>
            <a:chOff x="1268" y="2784"/>
            <a:chExt cx="796" cy="816"/>
          </a:xfrm>
        </p:grpSpPr>
        <p:sp>
          <p:nvSpPr>
            <p:cNvPr id="10271" name="Oval 48"/>
            <p:cNvSpPr/>
            <p:nvPr/>
          </p:nvSpPr>
          <p:spPr>
            <a:xfrm>
              <a:off x="1488" y="2784"/>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E</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72" name="Oval 49"/>
            <p:cNvSpPr/>
            <p:nvPr/>
          </p:nvSpPr>
          <p:spPr>
            <a:xfrm>
              <a:off x="1268" y="3303"/>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H</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73" name="Oval 50"/>
            <p:cNvSpPr/>
            <p:nvPr/>
          </p:nvSpPr>
          <p:spPr>
            <a:xfrm>
              <a:off x="1748" y="3303"/>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I</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0274" name="Line 51"/>
            <p:cNvSpPr/>
            <p:nvPr/>
          </p:nvSpPr>
          <p:spPr>
            <a:xfrm flipH="1">
              <a:off x="1440" y="3072"/>
              <a:ext cx="144" cy="240"/>
            </a:xfrm>
            <a:prstGeom prst="line">
              <a:avLst/>
            </a:prstGeom>
            <a:ln w="9525" cap="flat" cmpd="sng">
              <a:solidFill>
                <a:srgbClr val="000000"/>
              </a:solidFill>
              <a:prstDash val="solid"/>
              <a:headEnd type="none" w="med" len="med"/>
              <a:tailEnd type="none" w="med" len="med"/>
            </a:ln>
          </p:spPr>
        </p:sp>
        <p:sp>
          <p:nvSpPr>
            <p:cNvPr id="10275" name="Line 52"/>
            <p:cNvSpPr/>
            <p:nvPr/>
          </p:nvSpPr>
          <p:spPr>
            <a:xfrm>
              <a:off x="1728" y="3072"/>
              <a:ext cx="192" cy="240"/>
            </a:xfrm>
            <a:prstGeom prst="line">
              <a:avLst/>
            </a:prstGeom>
            <a:ln w="9525" cap="flat" cmpd="sng">
              <a:solidFill>
                <a:srgbClr val="000000"/>
              </a:solidFill>
              <a:prstDash val="solid"/>
              <a:headEnd type="none" w="med" len="med"/>
              <a:tailEnd type="none" w="med" len="med"/>
            </a:ln>
          </p:spPr>
        </p:sp>
      </p:grpSp>
      <p:sp>
        <p:nvSpPr>
          <p:cNvPr id="151605" name="AutoShape 53"/>
          <p:cNvSpPr/>
          <p:nvPr/>
        </p:nvSpPr>
        <p:spPr>
          <a:xfrm>
            <a:off x="4724400" y="4258310"/>
            <a:ext cx="1295400" cy="457200"/>
          </a:xfrm>
          <a:prstGeom prst="wedgeRoundRectCallout">
            <a:avLst>
              <a:gd name="adj1" fmla="val -85662"/>
              <a:gd name="adj2" fmla="val 20139"/>
              <a:gd name="adj3" fmla="val 16667"/>
            </a:avLst>
          </a:prstGeom>
          <a:noFill/>
          <a:ln w="9525" cap="flat" cmpd="sng">
            <a:solidFill>
              <a:schemeClr val="hlink"/>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000000"/>
                </a:solidFill>
                <a:latin typeface="微软雅黑" panose="020B0503020204020204" pitchFamily="34" charset="-122"/>
                <a:ea typeface="微软雅黑" panose="020B0503020204020204" pitchFamily="34" charset="-122"/>
              </a:rPr>
              <a:t>根结点</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151606" name="Oval 54"/>
          <p:cNvSpPr/>
          <p:nvPr/>
        </p:nvSpPr>
        <p:spPr>
          <a:xfrm>
            <a:off x="3276600" y="5096510"/>
            <a:ext cx="685800" cy="609600"/>
          </a:xfrm>
          <a:prstGeom prst="ellipse">
            <a:avLst/>
          </a:prstGeom>
          <a:noFill/>
          <a:ln w="9525" cap="flat" cmpd="sng">
            <a:solidFill>
              <a:srgbClr val="0000CC"/>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51607" name="Oval 55"/>
          <p:cNvSpPr/>
          <p:nvPr/>
        </p:nvSpPr>
        <p:spPr>
          <a:xfrm>
            <a:off x="4038600" y="5096510"/>
            <a:ext cx="685800" cy="609600"/>
          </a:xfrm>
          <a:prstGeom prst="ellipse">
            <a:avLst/>
          </a:prstGeom>
          <a:noFill/>
          <a:ln w="9525" cap="flat" cmpd="sng">
            <a:solidFill>
              <a:srgbClr val="0000CC"/>
            </a:solidFill>
            <a:prstDash val="dash"/>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51608" name="AutoShape 56"/>
          <p:cNvSpPr/>
          <p:nvPr/>
        </p:nvSpPr>
        <p:spPr>
          <a:xfrm>
            <a:off x="1905000" y="6019800"/>
            <a:ext cx="1600200" cy="381000"/>
          </a:xfrm>
          <a:prstGeom prst="wedgeRoundRectCallout">
            <a:avLst>
              <a:gd name="adj1" fmla="val 36111"/>
              <a:gd name="adj2" fmla="val -177500"/>
              <a:gd name="adj3" fmla="val 16667"/>
            </a:avLst>
          </a:prstGeom>
          <a:noFill/>
          <a:ln w="9525" cap="flat" cmpd="sng">
            <a:solidFill>
              <a:schemeClr val="hlink"/>
            </a:solidFill>
            <a:prstDash val="solid"/>
            <a:miter/>
            <a:headEnd type="none" w="med" len="med"/>
            <a:tailEnd type="none" w="med" len="med"/>
          </a:ln>
        </p:spPr>
        <p:txBody>
          <a:bodyPr lIns="0" r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子树</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121</a:t>
            </a:r>
            <a:endPar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1609" name="AutoShape 57"/>
          <p:cNvSpPr/>
          <p:nvPr/>
        </p:nvSpPr>
        <p:spPr>
          <a:xfrm>
            <a:off x="4419600" y="6019800"/>
            <a:ext cx="1600200" cy="381000"/>
          </a:xfrm>
          <a:prstGeom prst="wedgeRoundRectCallout">
            <a:avLst>
              <a:gd name="adj1" fmla="val -32440"/>
              <a:gd name="adj2" fmla="val -190000"/>
              <a:gd name="adj3" fmla="val 16667"/>
            </a:avLst>
          </a:prstGeom>
          <a:noFill/>
          <a:ln w="9525" cap="flat" cmpd="sng">
            <a:solidFill>
              <a:schemeClr val="hlink"/>
            </a:solidFill>
            <a:prstDash val="solid"/>
            <a:miter/>
            <a:headEnd type="none" w="med" len="med"/>
            <a:tailEnd type="none" w="med" len="med"/>
          </a:ln>
        </p:spPr>
        <p:txBody>
          <a:bodyPr lIns="0" r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子树</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122</a:t>
            </a:r>
            <a:endParaRPr lang="en-US" altLang="zh-CN" baseline="-25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1610" name="Text Box 58"/>
          <p:cNvSpPr txBox="1"/>
          <p:nvPr/>
        </p:nvSpPr>
        <p:spPr>
          <a:xfrm>
            <a:off x="6777355" y="4966335"/>
            <a:ext cx="3885565" cy="1101725"/>
          </a:xfrm>
          <a:prstGeom prst="rect">
            <a:avLst/>
          </a:prstGeom>
          <a:noFill/>
          <a:ln w="9525" cap="flat" cmpd="sng">
            <a:solidFill>
              <a:schemeClr val="hlink"/>
            </a:solidFill>
            <a:prstDash val="solid"/>
            <a:miter/>
            <a:headEnd type="none" w="med" len="med"/>
            <a:tailEnd type="none" w="med" len="med"/>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00000"/>
              </a:lnSpc>
              <a:spcBef>
                <a:spcPct val="50000"/>
              </a:spcBef>
              <a:buNone/>
            </a:pPr>
            <a:r>
              <a:rPr lang="zh-CN" altLang="en-US" sz="2000" b="1" dirty="0">
                <a:solidFill>
                  <a:srgbClr val="000000"/>
                </a:solidFill>
                <a:latin typeface="Arial" panose="020B0604020202020204" pitchFamily="34" charset="0"/>
                <a:ea typeface="宋体" panose="02010600030101010101" pitchFamily="2" charset="-122"/>
              </a:rPr>
              <a:t> </a:t>
            </a:r>
            <a:r>
              <a:rPr lang="zh-CN" altLang="en-US"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由定义和例子可以看出，树是一个递归的定义，在树的定义中又用到了树的概念</a:t>
            </a:r>
            <a:r>
              <a:rPr lang="zh-CN" altLang="en-US" sz="2000" b="1" dirty="0">
                <a:solidFill>
                  <a:srgbClr val="000000"/>
                </a:solidFill>
                <a:latin typeface="Arial" panose="020B0604020202020204" pitchFamily="34" charset="0"/>
                <a:ea typeface="宋体" panose="02010600030101010101" pitchFamily="2" charset="-122"/>
              </a:rPr>
              <a:t>。</a:t>
            </a:r>
            <a:endParaRPr lang="zh-CN" altLang="en-US" sz="2000" b="1" dirty="0">
              <a:solidFill>
                <a:srgbClr val="000000"/>
              </a:solidFill>
              <a:latin typeface="Arial" panose="020B0604020202020204" pitchFamily="34" charset="0"/>
              <a:ea typeface="宋体" panose="02010600030101010101" pitchFamily="2" charset="-122"/>
            </a:endParaRPr>
          </a:p>
        </p:txBody>
      </p:sp>
      <p:sp>
        <p:nvSpPr>
          <p:cNvPr id="10270" name="Text Box 59"/>
          <p:cNvSpPr txBox="1"/>
          <p:nvPr/>
        </p:nvSpPr>
        <p:spPr>
          <a:xfrm>
            <a:off x="3124200" y="1362710"/>
            <a:ext cx="358140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endParaRPr lang="zh-CN" altLang="en-US" sz="2000" b="1" dirty="0">
              <a:solidFill>
                <a:srgbClr val="800080"/>
              </a:solidFill>
              <a:latin typeface="Arial" panose="020B0604020202020204" pitchFamily="34" charset="0"/>
              <a:ea typeface="宋体" panose="02010600030101010101" pitchFamily="2"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188" name="文本框 187"/>
          <p:cNvSpPr txBox="1"/>
          <p:nvPr/>
        </p:nvSpPr>
        <p:spPr>
          <a:xfrm>
            <a:off x="393065" y="106045"/>
            <a:ext cx="6685915" cy="645160"/>
          </a:xfrm>
          <a:prstGeom prst="rect">
            <a:avLst/>
          </a:prstGeom>
          <a:noFill/>
        </p:spPr>
        <p:txBody>
          <a:bodyPr wrap="square" rtlCol="0">
            <a:spAutoFit/>
          </a:bodyPr>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树、森林的定义及基本术语</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86" name="组合 85"/>
          <p:cNvGrpSpPr/>
          <p:nvPr/>
        </p:nvGrpSpPr>
        <p:grpSpPr>
          <a:xfrm>
            <a:off x="0" y="6437630"/>
            <a:ext cx="12192000" cy="420370"/>
            <a:chOff x="0" y="10138"/>
            <a:chExt cx="19200" cy="662"/>
          </a:xfrm>
        </p:grpSpPr>
        <p:sp>
          <p:nvSpPr>
            <p:cNvPr id="85" name="矩形 84"/>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77" name="组合 76"/>
            <p:cNvGrpSpPr/>
            <p:nvPr/>
          </p:nvGrpSpPr>
          <p:grpSpPr>
            <a:xfrm>
              <a:off x="619" y="10220"/>
              <a:ext cx="17226" cy="580"/>
              <a:chOff x="619" y="10220"/>
              <a:chExt cx="17226" cy="580"/>
            </a:xfrm>
          </p:grpSpPr>
          <p:sp>
            <p:nvSpPr>
              <p:cNvPr id="78" name="文本框 77"/>
              <p:cNvSpPr txBox="1"/>
              <p:nvPr/>
            </p:nvSpPr>
            <p:spPr>
              <a:xfrm>
                <a:off x="619" y="10220"/>
                <a:ext cx="5296" cy="580"/>
              </a:xfrm>
              <a:prstGeom prst="rect">
                <a:avLst/>
              </a:prstGeom>
              <a:noFill/>
            </p:spPr>
            <p:txBody>
              <a:bodyPr wrap="square" rtlCol="0">
                <a:spAutoFit/>
              </a:bodyPr>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定义及基本术语</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grpSp>
            <p:nvGrpSpPr>
              <p:cNvPr id="79" name="组合 78"/>
              <p:cNvGrpSpPr/>
              <p:nvPr/>
            </p:nvGrpSpPr>
            <p:grpSpPr>
              <a:xfrm>
                <a:off x="1171" y="10220"/>
                <a:ext cx="16674" cy="580"/>
                <a:chOff x="1171" y="10220"/>
                <a:chExt cx="16674" cy="580"/>
              </a:xfrm>
            </p:grpSpPr>
            <p:sp>
              <p:nvSpPr>
                <p:cNvPr id="80" name="燕尾形 79"/>
                <p:cNvSpPr/>
                <p:nvPr/>
              </p:nvSpPr>
              <p:spPr>
                <a:xfrm>
                  <a:off x="1346" y="10327"/>
                  <a:ext cx="253" cy="31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1" name="燕尾形 80"/>
                <p:cNvSpPr/>
                <p:nvPr/>
              </p:nvSpPr>
              <p:spPr>
                <a:xfrm>
                  <a:off x="1171" y="10327"/>
                  <a:ext cx="253" cy="31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2" name="文本框 81"/>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9041" y="10220"/>
                  <a:ext cx="4186" cy="58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51575"/>
                                        </p:tgtEl>
                                        <p:attrNameLst>
                                          <p:attrName>style.visibility</p:attrName>
                                        </p:attrNameLst>
                                      </p:cBhvr>
                                      <p:to>
                                        <p:strVal val="visible"/>
                                      </p:to>
                                    </p:set>
                                    <p:animEffect transition="in" filter="wedge">
                                      <p:cBhvr>
                                        <p:cTn id="7" dur="2000"/>
                                        <p:tgtEl>
                                          <p:spTgt spid="15157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51576"/>
                                        </p:tgtEl>
                                        <p:attrNameLst>
                                          <p:attrName>style.visibility</p:attrName>
                                        </p:attrNameLst>
                                      </p:cBhvr>
                                      <p:to>
                                        <p:strVal val="visible"/>
                                      </p:to>
                                    </p:set>
                                    <p:anim calcmode="lin" valueType="num">
                                      <p:cBhvr>
                                        <p:cTn id="12" dur="500" fill="hold"/>
                                        <p:tgtEl>
                                          <p:spTgt spid="151576"/>
                                        </p:tgtEl>
                                        <p:attrNameLst>
                                          <p:attrName>ppt_w</p:attrName>
                                        </p:attrNameLst>
                                      </p:cBhvr>
                                      <p:tavLst>
                                        <p:tav tm="0">
                                          <p:val>
                                            <p:fltVal val="0.000000"/>
                                          </p:val>
                                        </p:tav>
                                        <p:tav tm="100000">
                                          <p:val>
                                            <p:strVal val="#ppt_w"/>
                                          </p:val>
                                        </p:tav>
                                      </p:tavLst>
                                    </p:anim>
                                    <p:anim calcmode="lin" valueType="num">
                                      <p:cBhvr>
                                        <p:cTn id="13" dur="500" fill="hold"/>
                                        <p:tgtEl>
                                          <p:spTgt spid="151576"/>
                                        </p:tgtEl>
                                        <p:attrNameLst>
                                          <p:attrName>ppt_h</p:attrName>
                                        </p:attrNameLst>
                                      </p:cBhvr>
                                      <p:tavLst>
                                        <p:tav tm="0">
                                          <p:val>
                                            <p:fltVal val="0.000000"/>
                                          </p:val>
                                        </p:tav>
                                        <p:tav tm="100000">
                                          <p:val>
                                            <p:strVal val="#ppt_h"/>
                                          </p:val>
                                        </p:tav>
                                      </p:tavLst>
                                    </p:anim>
                                  </p:childTnLst>
                                </p:cTn>
                              </p:par>
                            </p:childTnLst>
                          </p:cTn>
                        </p:par>
                        <p:par>
                          <p:cTn id="14" fill="hold">
                            <p:stCondLst>
                              <p:cond delay="500"/>
                            </p:stCondLst>
                            <p:childTnLst>
                              <p:par>
                                <p:cTn id="15" presetID="23" presetClass="entr" presetSubtype="16" fill="hold" grpId="0" nodeType="afterEffect">
                                  <p:stCondLst>
                                    <p:cond delay="0"/>
                                  </p:stCondLst>
                                  <p:childTnLst>
                                    <p:set>
                                      <p:cBhvr>
                                        <p:cTn id="16" dur="1" fill="hold">
                                          <p:stCondLst>
                                            <p:cond delay="0"/>
                                          </p:stCondLst>
                                        </p:cTn>
                                        <p:tgtEl>
                                          <p:spTgt spid="151577"/>
                                        </p:tgtEl>
                                        <p:attrNameLst>
                                          <p:attrName>style.visibility</p:attrName>
                                        </p:attrNameLst>
                                      </p:cBhvr>
                                      <p:to>
                                        <p:strVal val="visible"/>
                                      </p:to>
                                    </p:set>
                                    <p:anim calcmode="lin" valueType="num">
                                      <p:cBhvr>
                                        <p:cTn id="17" dur="500" fill="hold"/>
                                        <p:tgtEl>
                                          <p:spTgt spid="151577"/>
                                        </p:tgtEl>
                                        <p:attrNameLst>
                                          <p:attrName>ppt_w</p:attrName>
                                        </p:attrNameLst>
                                      </p:cBhvr>
                                      <p:tavLst>
                                        <p:tav tm="0">
                                          <p:val>
                                            <p:fltVal val="0.000000"/>
                                          </p:val>
                                        </p:tav>
                                        <p:tav tm="100000">
                                          <p:val>
                                            <p:strVal val="#ppt_w"/>
                                          </p:val>
                                        </p:tav>
                                      </p:tavLst>
                                    </p:anim>
                                    <p:anim calcmode="lin" valueType="num">
                                      <p:cBhvr>
                                        <p:cTn id="18" dur="500" fill="hold"/>
                                        <p:tgtEl>
                                          <p:spTgt spid="151577"/>
                                        </p:tgtEl>
                                        <p:attrNameLst>
                                          <p:attrName>ppt_h</p:attrName>
                                        </p:attrNameLst>
                                      </p:cBhvr>
                                      <p:tavLst>
                                        <p:tav tm="0">
                                          <p:val>
                                            <p:fltVal val="0.000000"/>
                                          </p:val>
                                        </p:tav>
                                        <p:tav tm="100000">
                                          <p:val>
                                            <p:strVal val="#ppt_h"/>
                                          </p:val>
                                        </p:tav>
                                      </p:tavLst>
                                    </p:anim>
                                  </p:childTnLst>
                                </p:cTn>
                              </p:par>
                            </p:childTnLst>
                          </p:cTn>
                        </p:par>
                        <p:par>
                          <p:cTn id="19" fill="hold">
                            <p:stCondLst>
                              <p:cond delay="1000"/>
                            </p:stCondLst>
                            <p:childTnLst>
                              <p:par>
                                <p:cTn id="20" presetID="20" presetClass="entr" presetSubtype="0" fill="hold" grpId="0" nodeType="afterEffect">
                                  <p:stCondLst>
                                    <p:cond delay="1000"/>
                                  </p:stCondLst>
                                  <p:childTnLst>
                                    <p:set>
                                      <p:cBhvr>
                                        <p:cTn id="21" dur="1" fill="hold">
                                          <p:stCondLst>
                                            <p:cond delay="0"/>
                                          </p:stCondLst>
                                        </p:cTn>
                                        <p:tgtEl>
                                          <p:spTgt spid="151591"/>
                                        </p:tgtEl>
                                        <p:attrNameLst>
                                          <p:attrName>style.visibility</p:attrName>
                                        </p:attrNameLst>
                                      </p:cBhvr>
                                      <p:to>
                                        <p:strVal val="visible"/>
                                      </p:to>
                                    </p:set>
                                    <p:animEffect transition="in" filter="wedge">
                                      <p:cBhvr>
                                        <p:cTn id="22" dur="2000"/>
                                        <p:tgtEl>
                                          <p:spTgt spid="151591"/>
                                        </p:tgtEl>
                                      </p:cBhvr>
                                    </p:animEffect>
                                  </p:childTnLst>
                                </p:cTn>
                              </p:par>
                            </p:childTnLst>
                          </p:cTn>
                        </p:par>
                        <p:par>
                          <p:cTn id="23" fill="hold">
                            <p:stCondLst>
                              <p:cond delay="4000"/>
                            </p:stCondLst>
                            <p:childTnLst>
                              <p:par>
                                <p:cTn id="24" presetID="20" presetClass="entr" presetSubtype="0" fill="hold" grpId="0" nodeType="afterEffect">
                                  <p:stCondLst>
                                    <p:cond delay="0"/>
                                  </p:stCondLst>
                                  <p:childTnLst>
                                    <p:set>
                                      <p:cBhvr>
                                        <p:cTn id="25" dur="1" fill="hold">
                                          <p:stCondLst>
                                            <p:cond delay="0"/>
                                          </p:stCondLst>
                                        </p:cTn>
                                        <p:tgtEl>
                                          <p:spTgt spid="151590"/>
                                        </p:tgtEl>
                                        <p:attrNameLst>
                                          <p:attrName>style.visibility</p:attrName>
                                        </p:attrNameLst>
                                      </p:cBhvr>
                                      <p:to>
                                        <p:strVal val="visible"/>
                                      </p:to>
                                    </p:set>
                                    <p:animEffect transition="in" filter="wedge">
                                      <p:cBhvr>
                                        <p:cTn id="26" dur="2000"/>
                                        <p:tgtEl>
                                          <p:spTgt spid="15159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20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0" presetClass="entr" presetSubtype="0" fill="hold" grpId="0" nodeType="clickEffect">
                                  <p:stCondLst>
                                    <p:cond delay="0"/>
                                  </p:stCondLst>
                                  <p:childTnLst>
                                    <p:set>
                                      <p:cBhvr>
                                        <p:cTn id="35" dur="1" fill="hold">
                                          <p:stCondLst>
                                            <p:cond delay="0"/>
                                          </p:stCondLst>
                                        </p:cTn>
                                        <p:tgtEl>
                                          <p:spTgt spid="151592"/>
                                        </p:tgtEl>
                                        <p:attrNameLst>
                                          <p:attrName>style.visibility</p:attrName>
                                        </p:attrNameLst>
                                      </p:cBhvr>
                                      <p:to>
                                        <p:strVal val="visible"/>
                                      </p:to>
                                    </p:set>
                                    <p:animEffect transition="in" filter="wedge">
                                      <p:cBhvr>
                                        <p:cTn id="36" dur="2000"/>
                                        <p:tgtEl>
                                          <p:spTgt spid="151592"/>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51593"/>
                                        </p:tgtEl>
                                        <p:attrNameLst>
                                          <p:attrName>style.visibility</p:attrName>
                                        </p:attrNameLst>
                                      </p:cBhvr>
                                      <p:to>
                                        <p:strVal val="visible"/>
                                      </p:to>
                                    </p:set>
                                    <p:anim calcmode="lin" valueType="num">
                                      <p:cBhvr>
                                        <p:cTn id="41" dur="500" fill="hold"/>
                                        <p:tgtEl>
                                          <p:spTgt spid="151593"/>
                                        </p:tgtEl>
                                        <p:attrNameLst>
                                          <p:attrName>ppt_w</p:attrName>
                                        </p:attrNameLst>
                                      </p:cBhvr>
                                      <p:tavLst>
                                        <p:tav tm="0">
                                          <p:val>
                                            <p:fltVal val="0.000000"/>
                                          </p:val>
                                        </p:tav>
                                        <p:tav tm="100000">
                                          <p:val>
                                            <p:strVal val="#ppt_w"/>
                                          </p:val>
                                        </p:tav>
                                      </p:tavLst>
                                    </p:anim>
                                    <p:anim calcmode="lin" valueType="num">
                                      <p:cBhvr>
                                        <p:cTn id="42" dur="500" fill="hold"/>
                                        <p:tgtEl>
                                          <p:spTgt spid="151593"/>
                                        </p:tgtEl>
                                        <p:attrNameLst>
                                          <p:attrName>ppt_h</p:attrName>
                                        </p:attrNameLst>
                                      </p:cBhvr>
                                      <p:tavLst>
                                        <p:tav tm="0">
                                          <p:val>
                                            <p:fltVal val="0.000000"/>
                                          </p:val>
                                        </p:tav>
                                        <p:tav tm="100000">
                                          <p:val>
                                            <p:strVal val="#ppt_h"/>
                                          </p:val>
                                        </p:tav>
                                      </p:tavLst>
                                    </p:anim>
                                  </p:childTnLst>
                                </p:cTn>
                              </p:par>
                            </p:childTnLst>
                          </p:cTn>
                        </p:par>
                        <p:par>
                          <p:cTn id="43" fill="hold">
                            <p:stCondLst>
                              <p:cond delay="500"/>
                            </p:stCondLst>
                            <p:childTnLst>
                              <p:par>
                                <p:cTn id="44" presetID="23" presetClass="entr" presetSubtype="16" fill="hold" nodeType="afterEffect">
                                  <p:stCondLst>
                                    <p:cond delay="0"/>
                                  </p:stCondLst>
                                  <p:childTnLst>
                                    <p:set>
                                      <p:cBhvr>
                                        <p:cTn id="45" dur="1" fill="hold">
                                          <p:stCondLst>
                                            <p:cond delay="0"/>
                                          </p:stCondLst>
                                        </p:cTn>
                                        <p:tgtEl>
                                          <p:spTgt spid="151594"/>
                                        </p:tgtEl>
                                        <p:attrNameLst>
                                          <p:attrName>style.visibility</p:attrName>
                                        </p:attrNameLst>
                                      </p:cBhvr>
                                      <p:to>
                                        <p:strVal val="visible"/>
                                      </p:to>
                                    </p:set>
                                    <p:anim calcmode="lin" valueType="num">
                                      <p:cBhvr>
                                        <p:cTn id="46" dur="500" fill="hold"/>
                                        <p:tgtEl>
                                          <p:spTgt spid="151594"/>
                                        </p:tgtEl>
                                        <p:attrNameLst>
                                          <p:attrName>ppt_w</p:attrName>
                                        </p:attrNameLst>
                                      </p:cBhvr>
                                      <p:tavLst>
                                        <p:tav tm="0">
                                          <p:val>
                                            <p:fltVal val="0.000000"/>
                                          </p:val>
                                        </p:tav>
                                        <p:tav tm="100000">
                                          <p:val>
                                            <p:strVal val="#ppt_w"/>
                                          </p:val>
                                        </p:tav>
                                      </p:tavLst>
                                    </p:anim>
                                    <p:anim calcmode="lin" valueType="num">
                                      <p:cBhvr>
                                        <p:cTn id="47" dur="500" fill="hold"/>
                                        <p:tgtEl>
                                          <p:spTgt spid="151594"/>
                                        </p:tgtEl>
                                        <p:attrNameLst>
                                          <p:attrName>ppt_h</p:attrName>
                                        </p:attrNameLst>
                                      </p:cBhvr>
                                      <p:tavLst>
                                        <p:tav tm="0">
                                          <p:val>
                                            <p:fltVal val="0.000000"/>
                                          </p:val>
                                        </p:tav>
                                        <p:tav tm="100000">
                                          <p:val>
                                            <p:strVal val="#ppt_h"/>
                                          </p:val>
                                        </p:tav>
                                      </p:tavLst>
                                    </p:anim>
                                  </p:childTnLst>
                                </p:cTn>
                              </p:par>
                            </p:childTnLst>
                          </p:cTn>
                        </p:par>
                        <p:par>
                          <p:cTn id="48" fill="hold">
                            <p:stCondLst>
                              <p:cond delay="1000"/>
                            </p:stCondLst>
                            <p:childTnLst>
                              <p:par>
                                <p:cTn id="49" presetID="23" presetClass="entr" presetSubtype="16" fill="hold" grpId="0" nodeType="afterEffect">
                                  <p:stCondLst>
                                    <p:cond delay="0"/>
                                  </p:stCondLst>
                                  <p:childTnLst>
                                    <p:set>
                                      <p:cBhvr>
                                        <p:cTn id="50" dur="1" fill="hold">
                                          <p:stCondLst>
                                            <p:cond delay="0"/>
                                          </p:stCondLst>
                                        </p:cTn>
                                        <p:tgtEl>
                                          <p:spTgt spid="151595"/>
                                        </p:tgtEl>
                                        <p:attrNameLst>
                                          <p:attrName>style.visibility</p:attrName>
                                        </p:attrNameLst>
                                      </p:cBhvr>
                                      <p:to>
                                        <p:strVal val="visible"/>
                                      </p:to>
                                    </p:set>
                                    <p:anim calcmode="lin" valueType="num">
                                      <p:cBhvr>
                                        <p:cTn id="51" dur="500" fill="hold"/>
                                        <p:tgtEl>
                                          <p:spTgt spid="151595"/>
                                        </p:tgtEl>
                                        <p:attrNameLst>
                                          <p:attrName>ppt_w</p:attrName>
                                        </p:attrNameLst>
                                      </p:cBhvr>
                                      <p:tavLst>
                                        <p:tav tm="0">
                                          <p:val>
                                            <p:fltVal val="0.000000"/>
                                          </p:val>
                                        </p:tav>
                                        <p:tav tm="100000">
                                          <p:val>
                                            <p:strVal val="#ppt_w"/>
                                          </p:val>
                                        </p:tav>
                                      </p:tavLst>
                                    </p:anim>
                                    <p:anim calcmode="lin" valueType="num">
                                      <p:cBhvr>
                                        <p:cTn id="52" dur="500" fill="hold"/>
                                        <p:tgtEl>
                                          <p:spTgt spid="151595"/>
                                        </p:tgtEl>
                                        <p:attrNameLst>
                                          <p:attrName>ppt_h</p:attrName>
                                        </p:attrNameLst>
                                      </p:cBhvr>
                                      <p:tavLst>
                                        <p:tav tm="0">
                                          <p:val>
                                            <p:fltVal val="0.000000"/>
                                          </p:val>
                                        </p:tav>
                                        <p:tav tm="100000">
                                          <p:val>
                                            <p:strVal val="#ppt_h"/>
                                          </p:val>
                                        </p:tav>
                                      </p:tavLst>
                                    </p:anim>
                                  </p:childTnLst>
                                </p:cTn>
                              </p:par>
                            </p:childTnLst>
                          </p:cTn>
                        </p:par>
                        <p:par>
                          <p:cTn id="53" fill="hold">
                            <p:stCondLst>
                              <p:cond delay="1500"/>
                            </p:stCondLst>
                            <p:childTnLst>
                              <p:par>
                                <p:cTn id="54" presetID="20" presetClass="entr" presetSubtype="0" fill="hold" grpId="0" nodeType="afterEffect">
                                  <p:stCondLst>
                                    <p:cond delay="1000"/>
                                  </p:stCondLst>
                                  <p:childTnLst>
                                    <p:set>
                                      <p:cBhvr>
                                        <p:cTn id="55" dur="1" fill="hold">
                                          <p:stCondLst>
                                            <p:cond delay="0"/>
                                          </p:stCondLst>
                                        </p:cTn>
                                        <p:tgtEl>
                                          <p:spTgt spid="151598"/>
                                        </p:tgtEl>
                                        <p:attrNameLst>
                                          <p:attrName>style.visibility</p:attrName>
                                        </p:attrNameLst>
                                      </p:cBhvr>
                                      <p:to>
                                        <p:strVal val="visible"/>
                                      </p:to>
                                    </p:set>
                                    <p:animEffect transition="in" filter="wedge">
                                      <p:cBhvr>
                                        <p:cTn id="56" dur="2000"/>
                                        <p:tgtEl>
                                          <p:spTgt spid="151598"/>
                                        </p:tgtEl>
                                      </p:cBhvr>
                                    </p:animEffect>
                                  </p:childTnLst>
                                </p:cTn>
                              </p:par>
                            </p:childTnLst>
                          </p:cTn>
                        </p:par>
                        <p:par>
                          <p:cTn id="57" fill="hold">
                            <p:stCondLst>
                              <p:cond delay="4500"/>
                            </p:stCondLst>
                            <p:childTnLst>
                              <p:par>
                                <p:cTn id="58" presetID="20" presetClass="entr" presetSubtype="0" fill="hold" grpId="0" nodeType="afterEffect">
                                  <p:stCondLst>
                                    <p:cond delay="0"/>
                                  </p:stCondLst>
                                  <p:childTnLst>
                                    <p:set>
                                      <p:cBhvr>
                                        <p:cTn id="59" dur="1" fill="hold">
                                          <p:stCondLst>
                                            <p:cond delay="0"/>
                                          </p:stCondLst>
                                        </p:cTn>
                                        <p:tgtEl>
                                          <p:spTgt spid="151596"/>
                                        </p:tgtEl>
                                        <p:attrNameLst>
                                          <p:attrName>style.visibility</p:attrName>
                                        </p:attrNameLst>
                                      </p:cBhvr>
                                      <p:to>
                                        <p:strVal val="visible"/>
                                      </p:to>
                                    </p:set>
                                    <p:animEffect transition="in" filter="wedge">
                                      <p:cBhvr>
                                        <p:cTn id="60" dur="2000"/>
                                        <p:tgtEl>
                                          <p:spTgt spid="151596"/>
                                        </p:tgtEl>
                                      </p:cBhvr>
                                    </p:animEffect>
                                  </p:childTnLst>
                                </p:cTn>
                              </p:par>
                            </p:childTnLst>
                          </p:cTn>
                        </p:par>
                        <p:par>
                          <p:cTn id="61" fill="hold">
                            <p:stCondLst>
                              <p:cond delay="6500"/>
                            </p:stCondLst>
                            <p:childTnLst>
                              <p:par>
                                <p:cTn id="62" presetID="20" presetClass="entr" presetSubtype="0" fill="hold" grpId="0" nodeType="afterEffect">
                                  <p:stCondLst>
                                    <p:cond delay="0"/>
                                  </p:stCondLst>
                                  <p:childTnLst>
                                    <p:set>
                                      <p:cBhvr>
                                        <p:cTn id="63" dur="1" fill="hold">
                                          <p:stCondLst>
                                            <p:cond delay="0"/>
                                          </p:stCondLst>
                                        </p:cTn>
                                        <p:tgtEl>
                                          <p:spTgt spid="151597"/>
                                        </p:tgtEl>
                                        <p:attrNameLst>
                                          <p:attrName>style.visibility</p:attrName>
                                        </p:attrNameLst>
                                      </p:cBhvr>
                                      <p:to>
                                        <p:strVal val="visible"/>
                                      </p:to>
                                    </p:set>
                                    <p:animEffect transition="in" filter="wedge">
                                      <p:cBhvr>
                                        <p:cTn id="64" dur="2000"/>
                                        <p:tgtEl>
                                          <p:spTgt spid="151597"/>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2000"/>
                                        <p:tgtEl>
                                          <p:spTgt spid="4"/>
                                        </p:tgtEl>
                                      </p:cBhvr>
                                    </p:animEffect>
                                  </p:childTnLst>
                                </p:cTn>
                              </p:par>
                            </p:childTnLst>
                          </p:cTn>
                        </p:par>
                      </p:childTnLst>
                    </p:cTn>
                  </p:par>
                  <p:par>
                    <p:cTn id="70" fill="hold">
                      <p:stCondLst>
                        <p:cond delay="indefinite"/>
                      </p:stCondLst>
                      <p:childTnLst>
                        <p:par>
                          <p:cTn id="71" fill="hold">
                            <p:stCondLst>
                              <p:cond delay="0"/>
                            </p:stCondLst>
                            <p:childTnLst>
                              <p:par>
                                <p:cTn id="72" presetID="20" presetClass="entr" presetSubtype="0" fill="hold" grpId="0" nodeType="clickEffect">
                                  <p:stCondLst>
                                    <p:cond delay="0"/>
                                  </p:stCondLst>
                                  <p:childTnLst>
                                    <p:set>
                                      <p:cBhvr>
                                        <p:cTn id="73" dur="1" fill="hold">
                                          <p:stCondLst>
                                            <p:cond delay="0"/>
                                          </p:stCondLst>
                                        </p:cTn>
                                        <p:tgtEl>
                                          <p:spTgt spid="151605"/>
                                        </p:tgtEl>
                                        <p:attrNameLst>
                                          <p:attrName>style.visibility</p:attrName>
                                        </p:attrNameLst>
                                      </p:cBhvr>
                                      <p:to>
                                        <p:strVal val="visible"/>
                                      </p:to>
                                    </p:set>
                                    <p:animEffect transition="in" filter="wedge">
                                      <p:cBhvr>
                                        <p:cTn id="74" dur="2000"/>
                                        <p:tgtEl>
                                          <p:spTgt spid="151605"/>
                                        </p:tgtEl>
                                      </p:cBhvr>
                                    </p:animEffect>
                                  </p:childTnLst>
                                </p:cTn>
                              </p:par>
                            </p:childTnLst>
                          </p:cTn>
                        </p:par>
                      </p:childTnLst>
                    </p:cTn>
                  </p:par>
                  <p:par>
                    <p:cTn id="75" fill="hold">
                      <p:stCondLst>
                        <p:cond delay="indefinite"/>
                      </p:stCondLst>
                      <p:childTnLst>
                        <p:par>
                          <p:cTn id="76" fill="hold">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151606"/>
                                        </p:tgtEl>
                                        <p:attrNameLst>
                                          <p:attrName>style.visibility</p:attrName>
                                        </p:attrNameLst>
                                      </p:cBhvr>
                                      <p:to>
                                        <p:strVal val="visible"/>
                                      </p:to>
                                    </p:set>
                                    <p:anim calcmode="lin" valueType="num">
                                      <p:cBhvr>
                                        <p:cTn id="79" dur="500" fill="hold"/>
                                        <p:tgtEl>
                                          <p:spTgt spid="151606"/>
                                        </p:tgtEl>
                                        <p:attrNameLst>
                                          <p:attrName>ppt_w</p:attrName>
                                        </p:attrNameLst>
                                      </p:cBhvr>
                                      <p:tavLst>
                                        <p:tav tm="0">
                                          <p:val>
                                            <p:fltVal val="0.000000"/>
                                          </p:val>
                                        </p:tav>
                                        <p:tav tm="100000">
                                          <p:val>
                                            <p:strVal val="#ppt_w"/>
                                          </p:val>
                                        </p:tav>
                                      </p:tavLst>
                                    </p:anim>
                                    <p:anim calcmode="lin" valueType="num">
                                      <p:cBhvr>
                                        <p:cTn id="80" dur="500" fill="hold"/>
                                        <p:tgtEl>
                                          <p:spTgt spid="151606"/>
                                        </p:tgtEl>
                                        <p:attrNameLst>
                                          <p:attrName>ppt_h</p:attrName>
                                        </p:attrNameLst>
                                      </p:cBhvr>
                                      <p:tavLst>
                                        <p:tav tm="0">
                                          <p:val>
                                            <p:fltVal val="0.000000"/>
                                          </p:val>
                                        </p:tav>
                                        <p:tav tm="100000">
                                          <p:val>
                                            <p:strVal val="#ppt_h"/>
                                          </p:val>
                                        </p:tav>
                                      </p:tavLst>
                                    </p:anim>
                                  </p:childTnLst>
                                </p:cTn>
                              </p:par>
                            </p:childTnLst>
                          </p:cTn>
                        </p:par>
                        <p:par>
                          <p:cTn id="81" fill="hold">
                            <p:stCondLst>
                              <p:cond delay="500"/>
                            </p:stCondLst>
                            <p:childTnLst>
                              <p:par>
                                <p:cTn id="82" presetID="23" presetClass="entr" presetSubtype="16" fill="hold" grpId="0" nodeType="afterEffect">
                                  <p:stCondLst>
                                    <p:cond delay="0"/>
                                  </p:stCondLst>
                                  <p:childTnLst>
                                    <p:set>
                                      <p:cBhvr>
                                        <p:cTn id="83" dur="1" fill="hold">
                                          <p:stCondLst>
                                            <p:cond delay="0"/>
                                          </p:stCondLst>
                                        </p:cTn>
                                        <p:tgtEl>
                                          <p:spTgt spid="151607"/>
                                        </p:tgtEl>
                                        <p:attrNameLst>
                                          <p:attrName>style.visibility</p:attrName>
                                        </p:attrNameLst>
                                      </p:cBhvr>
                                      <p:to>
                                        <p:strVal val="visible"/>
                                      </p:to>
                                    </p:set>
                                    <p:anim calcmode="lin" valueType="num">
                                      <p:cBhvr>
                                        <p:cTn id="84" dur="500" fill="hold"/>
                                        <p:tgtEl>
                                          <p:spTgt spid="151607"/>
                                        </p:tgtEl>
                                        <p:attrNameLst>
                                          <p:attrName>ppt_w</p:attrName>
                                        </p:attrNameLst>
                                      </p:cBhvr>
                                      <p:tavLst>
                                        <p:tav tm="0">
                                          <p:val>
                                            <p:fltVal val="0.000000"/>
                                          </p:val>
                                        </p:tav>
                                        <p:tav tm="100000">
                                          <p:val>
                                            <p:strVal val="#ppt_w"/>
                                          </p:val>
                                        </p:tav>
                                      </p:tavLst>
                                    </p:anim>
                                    <p:anim calcmode="lin" valueType="num">
                                      <p:cBhvr>
                                        <p:cTn id="85" dur="500" fill="hold"/>
                                        <p:tgtEl>
                                          <p:spTgt spid="151607"/>
                                        </p:tgtEl>
                                        <p:attrNameLst>
                                          <p:attrName>ppt_h</p:attrName>
                                        </p:attrNameLst>
                                      </p:cBhvr>
                                      <p:tavLst>
                                        <p:tav tm="0">
                                          <p:val>
                                            <p:fltVal val="0.000000"/>
                                          </p:val>
                                        </p:tav>
                                        <p:tav tm="100000">
                                          <p:val>
                                            <p:strVal val="#ppt_h"/>
                                          </p:val>
                                        </p:tav>
                                      </p:tavLst>
                                    </p:anim>
                                  </p:childTnLst>
                                </p:cTn>
                              </p:par>
                            </p:childTnLst>
                          </p:cTn>
                        </p:par>
                        <p:par>
                          <p:cTn id="86" fill="hold">
                            <p:stCondLst>
                              <p:cond delay="1000"/>
                            </p:stCondLst>
                            <p:childTnLst>
                              <p:par>
                                <p:cTn id="87" presetID="20" presetClass="entr" presetSubtype="0" fill="hold" grpId="0" nodeType="afterEffect">
                                  <p:stCondLst>
                                    <p:cond delay="1000"/>
                                  </p:stCondLst>
                                  <p:childTnLst>
                                    <p:set>
                                      <p:cBhvr>
                                        <p:cTn id="88" dur="1" fill="hold">
                                          <p:stCondLst>
                                            <p:cond delay="0"/>
                                          </p:stCondLst>
                                        </p:cTn>
                                        <p:tgtEl>
                                          <p:spTgt spid="151608"/>
                                        </p:tgtEl>
                                        <p:attrNameLst>
                                          <p:attrName>style.visibility</p:attrName>
                                        </p:attrNameLst>
                                      </p:cBhvr>
                                      <p:to>
                                        <p:strVal val="visible"/>
                                      </p:to>
                                    </p:set>
                                    <p:animEffect transition="in" filter="wedge">
                                      <p:cBhvr>
                                        <p:cTn id="89" dur="2000"/>
                                        <p:tgtEl>
                                          <p:spTgt spid="151608"/>
                                        </p:tgtEl>
                                      </p:cBhvr>
                                    </p:animEffect>
                                  </p:childTnLst>
                                </p:cTn>
                              </p:par>
                            </p:childTnLst>
                          </p:cTn>
                        </p:par>
                        <p:par>
                          <p:cTn id="90" fill="hold">
                            <p:stCondLst>
                              <p:cond delay="4000"/>
                            </p:stCondLst>
                            <p:childTnLst>
                              <p:par>
                                <p:cTn id="91" presetID="20" presetClass="entr" presetSubtype="0" fill="hold" grpId="0" nodeType="afterEffect">
                                  <p:stCondLst>
                                    <p:cond delay="0"/>
                                  </p:stCondLst>
                                  <p:childTnLst>
                                    <p:set>
                                      <p:cBhvr>
                                        <p:cTn id="92" dur="1" fill="hold">
                                          <p:stCondLst>
                                            <p:cond delay="0"/>
                                          </p:stCondLst>
                                        </p:cTn>
                                        <p:tgtEl>
                                          <p:spTgt spid="151609"/>
                                        </p:tgtEl>
                                        <p:attrNameLst>
                                          <p:attrName>style.visibility</p:attrName>
                                        </p:attrNameLst>
                                      </p:cBhvr>
                                      <p:to>
                                        <p:strVal val="visible"/>
                                      </p:to>
                                    </p:set>
                                    <p:animEffect transition="in" filter="wedge">
                                      <p:cBhvr>
                                        <p:cTn id="93" dur="2000"/>
                                        <p:tgtEl>
                                          <p:spTgt spid="151609"/>
                                        </p:tgtEl>
                                      </p:cBhvr>
                                    </p:animEffect>
                                  </p:childTnLst>
                                </p:cTn>
                              </p:par>
                            </p:childTnLst>
                          </p:cTn>
                        </p:par>
                      </p:childTnLst>
                    </p:cTn>
                  </p:par>
                  <p:par>
                    <p:cTn id="94" fill="hold">
                      <p:stCondLst>
                        <p:cond delay="indefinite"/>
                      </p:stCondLst>
                      <p:childTnLst>
                        <p:par>
                          <p:cTn id="95" fill="hold">
                            <p:stCondLst>
                              <p:cond delay="0"/>
                            </p:stCondLst>
                            <p:childTnLst>
                              <p:par>
                                <p:cTn id="96" presetID="12" presetClass="entr" presetSubtype="4" fill="hold" grpId="0" nodeType="clickEffect">
                                  <p:stCondLst>
                                    <p:cond delay="0"/>
                                  </p:stCondLst>
                                  <p:childTnLst>
                                    <p:set>
                                      <p:cBhvr>
                                        <p:cTn id="97" dur="1" fill="hold">
                                          <p:stCondLst>
                                            <p:cond delay="0"/>
                                          </p:stCondLst>
                                        </p:cTn>
                                        <p:tgtEl>
                                          <p:spTgt spid="151610"/>
                                        </p:tgtEl>
                                        <p:attrNameLst>
                                          <p:attrName>style.visibility</p:attrName>
                                        </p:attrNameLst>
                                      </p:cBhvr>
                                      <p:to>
                                        <p:strVal val="visible"/>
                                      </p:to>
                                    </p:set>
                                    <p:animEffect transition="in" filter="slide(fromBottom)">
                                      <p:cBhvr>
                                        <p:cTn id="98" dur="500"/>
                                        <p:tgtEl>
                                          <p:spTgt spid="151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75" grpId="0" bldLvl="0" animBg="1"/>
      <p:bldP spid="151576" grpId="0" bldLvl="0" animBg="1"/>
      <p:bldP spid="151577" grpId="0" bldLvl="0" animBg="1"/>
      <p:bldP spid="151590" grpId="0" bldLvl="0" animBg="1"/>
      <p:bldP spid="151591" grpId="0" bldLvl="0" animBg="1"/>
      <p:bldP spid="151592" grpId="0" bldLvl="0" animBg="1"/>
      <p:bldP spid="151593" grpId="0" bldLvl="0" animBg="1"/>
      <p:bldP spid="151595" grpId="0" bldLvl="0" animBg="1"/>
      <p:bldP spid="151596" grpId="0" bldLvl="0" animBg="1"/>
      <p:bldP spid="151597" grpId="0" bldLvl="0" animBg="1"/>
      <p:bldP spid="151598" grpId="0" bldLvl="0" animBg="1"/>
      <p:bldP spid="151605" grpId="0" bldLvl="0" animBg="1"/>
      <p:bldP spid="151606" grpId="0" bldLvl="0" animBg="1"/>
      <p:bldP spid="151607" grpId="0" bldLvl="0" animBg="1"/>
      <p:bldP spid="151608" grpId="0" bldLvl="0" animBg="1"/>
      <p:bldP spid="151609" grpId="0" bldLvl="0" animBg="1"/>
      <p:bldP spid="151610"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内容占位符 2"/>
          <p:cNvSpPr>
            <a:spLocks noGrp="1"/>
          </p:cNvSpPr>
          <p:nvPr>
            <p:ph idx="1"/>
          </p:nvPr>
        </p:nvSpPr>
        <p:spPr>
          <a:xfrm>
            <a:off x="798830" y="1295400"/>
            <a:ext cx="10565765" cy="5085715"/>
          </a:xfrm>
        </p:spPr>
        <p:txBody>
          <a:bodyPr vert="horz" wrap="square" lIns="91440" tIns="45720" rIns="91440" bIns="45720" anchor="t" anchorCtr="0">
            <a:normAutofit lnSpcReduction="20000"/>
          </a:bodyPr>
          <a:p>
            <a:pPr marL="457200" lvl="1" indent="0" algn="l" eaLnBrk="1" hangingPunct="1">
              <a:lnSpc>
                <a:spcPct val="130000"/>
              </a:lnSpc>
              <a:spcBef>
                <a:spcPct val="5000"/>
              </a:spcBef>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子树的根结点都是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的直接后继。根结点与其子树的根结点之间构成了序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偶关系集：</a:t>
            </a:r>
            <a:endParaRPr lang="zh-CN" altLang="en-US" sz="2000" dirty="0"/>
          </a:p>
          <a:p>
            <a:pPr lvl="1" eaLnBrk="1" hangingPunct="1">
              <a:lnSpc>
                <a:spcPct val="130000"/>
              </a:lnSpc>
              <a:spcBef>
                <a:spcPct val="5000"/>
              </a:spcBef>
              <a:buNone/>
            </a:pPr>
            <a:r>
              <a:rPr lang="en-US" altLang="zh-CN" dirty="0"/>
              <a:t>          </a:t>
            </a:r>
            <a:r>
              <a:rPr lang="en-US" altLang="zh-CN" dirty="0">
                <a:latin typeface="Times New Roman" panose="02020603050405020304" pitchFamily="18" charset="0"/>
                <a:cs typeface="Times New Roman" panose="02020603050405020304" pitchFamily="18" charset="0"/>
              </a:rPr>
              <a:t>R={&lt;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&gt;, &lt;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&gt;, &lt;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d</a:t>
            </a:r>
            <a:r>
              <a:rPr lang="en-US" altLang="zh-CN" dirty="0">
                <a:latin typeface="Times New Roman" panose="02020603050405020304" pitchFamily="18" charset="0"/>
                <a:cs typeface="Times New Roman" panose="02020603050405020304" pitchFamily="18" charset="0"/>
              </a:rPr>
              <a:t>&gt;, &lt;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e</a:t>
            </a:r>
            <a:r>
              <a:rPr lang="en-US" altLang="zh-CN" dirty="0">
                <a:latin typeface="Times New Roman" panose="02020603050405020304" pitchFamily="18" charset="0"/>
                <a:cs typeface="Times New Roman" panose="02020603050405020304" pitchFamily="18" charset="0"/>
              </a:rPr>
              <a:t>&gt;, &lt;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&gt;, &lt;</a:t>
            </a:r>
            <a:r>
              <a:rPr lang="en-US" altLang="zh-CN" i="1" dirty="0">
                <a:latin typeface="Times New Roman" panose="02020603050405020304" pitchFamily="18" charset="0"/>
                <a:cs typeface="Times New Roman" panose="02020603050405020304" pitchFamily="18" charset="0"/>
              </a:rPr>
              <a:t>d</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&gt;, &lt;</a:t>
            </a:r>
            <a:r>
              <a:rPr lang="en-US" altLang="zh-CN" i="1" dirty="0">
                <a:latin typeface="Times New Roman" panose="02020603050405020304" pitchFamily="18" charset="0"/>
                <a:cs typeface="Times New Roman" panose="02020603050405020304" pitchFamily="18" charset="0"/>
              </a:rPr>
              <a:t>d</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h</a:t>
            </a:r>
            <a:r>
              <a:rPr lang="en-US" altLang="zh-CN" dirty="0">
                <a:latin typeface="Times New Roman" panose="02020603050405020304" pitchFamily="18" charset="0"/>
                <a:cs typeface="Times New Roman" panose="02020603050405020304" pitchFamily="18" charset="0"/>
              </a:rPr>
              <a:t>&gt;,   </a:t>
            </a:r>
            <a:endParaRPr lang="en-US" altLang="zh-CN" dirty="0">
              <a:latin typeface="Times New Roman" panose="02020603050405020304" pitchFamily="18" charset="0"/>
              <a:cs typeface="Times New Roman" panose="02020603050405020304" pitchFamily="18" charset="0"/>
            </a:endParaRPr>
          </a:p>
          <a:p>
            <a:pPr lvl="1" eaLnBrk="1" hangingPunct="1">
              <a:lnSpc>
                <a:spcPct val="130000"/>
              </a:lnSpc>
              <a:spcBef>
                <a:spcPct val="5000"/>
              </a:spcBef>
              <a:buNone/>
            </a:pPr>
            <a:r>
              <a:rPr lang="en-US" altLang="zh-CN" dirty="0">
                <a:latin typeface="Times New Roman" panose="02020603050405020304" pitchFamily="18" charset="0"/>
                <a:cs typeface="Times New Roman" panose="02020603050405020304" pitchFamily="18" charset="0"/>
              </a:rPr>
              <a:t>                 &lt;</a:t>
            </a:r>
            <a:r>
              <a:rPr lang="en-US" altLang="zh-CN" i="1" dirty="0">
                <a:latin typeface="Times New Roman" panose="02020603050405020304" pitchFamily="18" charset="0"/>
                <a:cs typeface="Times New Roman" panose="02020603050405020304" pitchFamily="18" charset="0"/>
              </a:rPr>
              <a:t>d</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&gt;, &lt;</a:t>
            </a:r>
            <a:r>
              <a:rPr lang="en-US" altLang="zh-CN" i="1" dirty="0">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rPr>
              <a:t>&gt;}</a:t>
            </a:r>
            <a:endParaRPr lang="en-US" altLang="zh-CN" dirty="0">
              <a:latin typeface="Times New Roman" panose="02020603050405020304" pitchFamily="18" charset="0"/>
              <a:cs typeface="Times New Roman" panose="02020603050405020304" pitchFamily="18" charset="0"/>
            </a:endParaRPr>
          </a:p>
          <a:p>
            <a:pPr>
              <a:lnSpc>
                <a:spcPct val="13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森林是</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≥0）棵互不相交的树的集合。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用森林的定义也可定义树：一棵非空的树由根结点及其子树森林所构成。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树和森林均为典型的树型结构，从形态上看，树结构类似于自然界倒长的一棵树</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30000"/>
              </a:lnSpc>
              <a:spcBef>
                <a:spcPct val="40000"/>
              </a:spcBef>
              <a:buNone/>
            </a:pP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本章学习思路：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研究树和森林的表示与实现，我们首先从一种特殊的树即二叉树入手，弄清二叉树的表示与实现，然后再想办法把树和森林转换为二叉树，最终达到研究一般树和森林的目的</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7173" name="Object 33"/>
          <p:cNvGraphicFramePr>
            <a:graphicFrameLocks noChangeAspect="1"/>
          </p:cNvGraphicFramePr>
          <p:nvPr/>
        </p:nvGraphicFramePr>
        <p:xfrm>
          <a:off x="4191000" y="2971800"/>
          <a:ext cx="3962400" cy="2590800"/>
        </p:xfrm>
        <a:graphic>
          <a:graphicData uri="http://schemas.openxmlformats.org/presentationml/2006/ole">
            <mc:AlternateContent xmlns:mc="http://schemas.openxmlformats.org/markup-compatibility/2006">
              <mc:Choice xmlns:v="urn:schemas-microsoft-com:vml" Requires="v">
                <p:oleObj spid="_x0000_s3076" name="" r:id="rId1" imgW="3441700" imgH="2159000" progId="Visio.Drawing.11">
                  <p:embed/>
                </p:oleObj>
              </mc:Choice>
              <mc:Fallback>
                <p:oleObj name="" r:id="rId1" imgW="3441700" imgH="2159000" progId="Visio.Drawing.11">
                  <p:embed/>
                  <p:pic>
                    <p:nvPicPr>
                      <p:cNvPr id="0" name="图片 3075"/>
                      <p:cNvPicPr/>
                      <p:nvPr/>
                    </p:nvPicPr>
                    <p:blipFill>
                      <a:blip r:embed="rId2"/>
                      <a:stretch>
                        <a:fillRect/>
                      </a:stretch>
                    </p:blipFill>
                    <p:spPr>
                      <a:xfrm>
                        <a:off x="4191000" y="2971800"/>
                        <a:ext cx="3962400" cy="2590800"/>
                      </a:xfrm>
                      <a:prstGeom prst="rect">
                        <a:avLst/>
                      </a:prstGeom>
                      <a:noFill/>
                      <a:ln w="38100">
                        <a:noFill/>
                        <a:miter/>
                      </a:ln>
                    </p:spPr>
                  </p:pic>
                </p:oleObj>
              </mc:Fallback>
            </mc:AlternateContent>
          </a:graphicData>
        </a:graphic>
      </p:graphicFrame>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188" name="文本框 187"/>
          <p:cNvSpPr txBox="1"/>
          <p:nvPr/>
        </p:nvSpPr>
        <p:spPr>
          <a:xfrm>
            <a:off x="393065" y="106045"/>
            <a:ext cx="7076440" cy="645160"/>
          </a:xfrm>
          <a:prstGeom prst="rect">
            <a:avLst/>
          </a:prstGeom>
          <a:noFill/>
        </p:spPr>
        <p:txBody>
          <a:bodyPr wrap="square" rtlCol="0">
            <a:spAutoFit/>
          </a:bodyPr>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树、森林的定义及基本术语</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5" name="矩形 7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85" name="矩形 84"/>
          <p:cNvSpPr/>
          <p:nvPr/>
        </p:nvSpPr>
        <p:spPr>
          <a:xfrm>
            <a:off x="127001" y="6564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8" name="文本框 77"/>
          <p:cNvSpPr txBox="1"/>
          <p:nvPr/>
        </p:nvSpPr>
        <p:spPr>
          <a:xfrm>
            <a:off x="393065" y="6489700"/>
            <a:ext cx="3362960" cy="368300"/>
          </a:xfrm>
          <a:prstGeom prst="rect">
            <a:avLst/>
          </a:prstGeom>
          <a:noFill/>
        </p:spPr>
        <p:txBody>
          <a:bodyPr wrap="square" rtlCol="0">
            <a:spAutoFit/>
          </a:bodyPr>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定义及基本术语</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3203575" y="6489700"/>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5741035" y="6489700"/>
            <a:ext cx="265811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9112885" y="6489700"/>
            <a:ext cx="2219325"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173"/>
                                        </p:tgtEl>
                                        <p:attrNameLst>
                                          <p:attrName>style.visibility</p:attrName>
                                        </p:attrNameLst>
                                      </p:cBhvr>
                                      <p:to>
                                        <p:strVal val="hidden"/>
                                      </p:to>
                                    </p:set>
                                  </p:childTnLst>
                                </p:cTn>
                              </p:par>
                            </p:childTnLst>
                          </p:cTn>
                        </p:par>
                        <p:par>
                          <p:cTn id="7" fill="hold">
                            <p:stCondLst>
                              <p:cond delay="0"/>
                            </p:stCondLst>
                            <p:childTnLst>
                              <p:par>
                                <p:cTn id="8" presetID="22" presetClass="entr" presetSubtype="4" fill="hold" nodeType="afterEffect">
                                  <p:stCondLst>
                                    <p:cond delay="0"/>
                                  </p:stCondLst>
                                  <p:childTnLst>
                                    <p:set>
                                      <p:cBhvr>
                                        <p:cTn id="9" dur="1" fill="hold">
                                          <p:stCondLst>
                                            <p:cond delay="0"/>
                                          </p:stCondLst>
                                        </p:cTn>
                                        <p:tgtEl>
                                          <p:spTgt spid="7171">
                                            <p:txEl>
                                              <p:charRg st="134" end="156"/>
                                            </p:txEl>
                                          </p:spTgt>
                                        </p:tgtEl>
                                        <p:attrNameLst>
                                          <p:attrName>style.visibility</p:attrName>
                                        </p:attrNameLst>
                                      </p:cBhvr>
                                      <p:to>
                                        <p:strVal val="visible"/>
                                      </p:to>
                                    </p:set>
                                    <p:animEffect transition="in" filter="wipe(down)">
                                      <p:cBhvr>
                                        <p:cTn id="10" dur="500"/>
                                        <p:tgtEl>
                                          <p:spTgt spid="7171">
                                            <p:txEl>
                                              <p:charRg st="134" end="15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171">
                                            <p:txEl>
                                              <p:charRg st="156" end="190"/>
                                            </p:txEl>
                                          </p:spTgt>
                                        </p:tgtEl>
                                        <p:attrNameLst>
                                          <p:attrName>style.visibility</p:attrName>
                                        </p:attrNameLst>
                                      </p:cBhvr>
                                      <p:to>
                                        <p:strVal val="visible"/>
                                      </p:to>
                                    </p:set>
                                    <p:animEffect transition="in" filter="wipe(down)">
                                      <p:cBhvr>
                                        <p:cTn id="13" dur="500"/>
                                        <p:tgtEl>
                                          <p:spTgt spid="7171">
                                            <p:txEl>
                                              <p:charRg st="156" end="19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7171">
                                            <p:txEl>
                                              <p:charRg st="190" end="226"/>
                                            </p:txEl>
                                          </p:spTgt>
                                        </p:tgtEl>
                                        <p:attrNameLst>
                                          <p:attrName>style.visibility</p:attrName>
                                        </p:attrNameLst>
                                      </p:cBhvr>
                                      <p:to>
                                        <p:strVal val="visible"/>
                                      </p:to>
                                    </p:set>
                                    <p:animEffect transition="in" filter="wipe(down)">
                                      <p:cBhvr>
                                        <p:cTn id="16" dur="500"/>
                                        <p:tgtEl>
                                          <p:spTgt spid="7171">
                                            <p:txEl>
                                              <p:charRg st="190" end="226"/>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7171">
                                            <p:txEl>
                                              <p:charRg st="226" end="312"/>
                                            </p:txEl>
                                          </p:spTgt>
                                        </p:tgtEl>
                                        <p:attrNameLst>
                                          <p:attrName>style.visibility</p:attrName>
                                        </p:attrNameLst>
                                      </p:cBhvr>
                                      <p:to>
                                        <p:strVal val="visible"/>
                                      </p:to>
                                    </p:set>
                                    <p:animEffect transition="in" filter="wipe(down)">
                                      <p:cBhvr>
                                        <p:cTn id="19" dur="500"/>
                                        <p:tgtEl>
                                          <p:spTgt spid="7171">
                                            <p:txEl>
                                              <p:charRg st="226" end="3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内容占位符 2"/>
          <p:cNvSpPr>
            <a:spLocks noGrp="1"/>
          </p:cNvSpPr>
          <p:nvPr>
            <p:ph idx="1"/>
          </p:nvPr>
        </p:nvSpPr>
        <p:spPr>
          <a:xfrm>
            <a:off x="327660" y="1295400"/>
            <a:ext cx="11064240" cy="5193030"/>
          </a:xfrm>
        </p:spPr>
        <p:txBody>
          <a:bodyPr vert="horz" wrap="square" lIns="91440" tIns="45720" rIns="91440" bIns="45720" anchor="t" anchorCtr="0"/>
          <a:p>
            <a:pPr eaLnBrk="1" hangingPunct="1">
              <a:lnSpc>
                <a:spcPct val="140000"/>
              </a:lnSpc>
              <a:buFont typeface="Wingdings" panose="05000000000000000000" charset="0"/>
              <a:buChar char="Ø"/>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基本术语</a:t>
            </a:r>
            <a:r>
              <a:rPr lang="zh-CN" altLang="en-US" sz="2400" b="1" u="sng"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（结合练习掌握术语的意思）</a:t>
            </a:r>
            <a:endParaRPr lang="en-US" altLang="zh-CN" sz="2400" b="1" u="sng"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包含了数据元素及若干个指向其子树的分支。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结点的度：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结点的子树数目或分支个数。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树的度：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在树中取各结点的度的最大值。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分支结点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（又称</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非终端结点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）：度大于零的结点。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树叶结点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（又称</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终端结点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）：度为零的结点。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结点的路径：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根结点到该结点所经分支和结点构成结点的路径。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结点的路径长度：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根结点到该结点路径上所经分支的数目。</a:t>
            </a:r>
            <a:r>
              <a:rPr lang="zh-CN" altLang="en-US" sz="2000" dirty="0"/>
              <a:t> </a:t>
            </a:r>
            <a:endParaRPr lang="zh-CN" altLang="en-US" sz="2000" dirty="0"/>
          </a:p>
          <a:p>
            <a:pPr marL="457200" lvl="1" indent="0">
              <a:lnSpc>
                <a:spcPct val="130000"/>
              </a:lnSpc>
              <a:buNone/>
            </a:pPr>
            <a:endParaRPr lang="zh-CN" altLang="en-US" sz="2000" dirty="0"/>
          </a:p>
        </p:txBody>
      </p:sp>
      <p:sp>
        <p:nvSpPr>
          <p:cNvPr id="188" name="文本框 187"/>
          <p:cNvSpPr txBox="1"/>
          <p:nvPr/>
        </p:nvSpPr>
        <p:spPr>
          <a:xfrm>
            <a:off x="393065" y="106045"/>
            <a:ext cx="7076440" cy="645160"/>
          </a:xfrm>
          <a:prstGeom prst="rect">
            <a:avLst/>
          </a:prstGeom>
          <a:noFill/>
        </p:spPr>
        <p:txBody>
          <a:bodyPr wrap="square" rtlCol="0">
            <a:spAutoFit/>
          </a:bodyPr>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树、森林的定义及基本术语</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520065" y="233045"/>
            <a:ext cx="7076440" cy="645160"/>
          </a:xfrm>
          <a:prstGeom prst="rect">
            <a:avLst/>
          </a:prstGeom>
          <a:noFill/>
        </p:spPr>
        <p:txBody>
          <a:bodyPr wrap="square" rtlCol="0">
            <a:spAutoFit/>
          </a:bodyPr>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树、森林的定义及基本术语</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6" name="文本框 5"/>
          <p:cNvSpPr txBox="1"/>
          <p:nvPr/>
        </p:nvSpPr>
        <p:spPr>
          <a:xfrm>
            <a:off x="393065" y="106045"/>
            <a:ext cx="7458710" cy="645160"/>
          </a:xfrm>
          <a:prstGeom prst="rect">
            <a:avLst/>
          </a:prstGeom>
          <a:noFill/>
        </p:spPr>
        <p:txBody>
          <a:bodyPr wrap="square" rtlCol="0">
            <a:spAutoFit/>
          </a:bodyPr>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树、森林的定义及基本术语</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5" name="矩形 8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8" name="文本框 77"/>
          <p:cNvSpPr txBox="1"/>
          <p:nvPr/>
        </p:nvSpPr>
        <p:spPr>
          <a:xfrm>
            <a:off x="393065" y="6489700"/>
            <a:ext cx="3362960" cy="368300"/>
          </a:xfrm>
          <a:prstGeom prst="rect">
            <a:avLst/>
          </a:prstGeom>
          <a:noFill/>
        </p:spPr>
        <p:txBody>
          <a:bodyPr wrap="square" rtlCol="0">
            <a:spAutoFit/>
          </a:bodyPr>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定义及基本术语</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3203575" y="6489700"/>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5741035" y="6489700"/>
            <a:ext cx="265811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9112885" y="6489700"/>
            <a:ext cx="2219325"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内容占位符 2"/>
          <p:cNvSpPr>
            <a:spLocks noGrp="1"/>
          </p:cNvSpPr>
          <p:nvPr>
            <p:ph idx="1"/>
          </p:nvPr>
        </p:nvSpPr>
        <p:spPr>
          <a:xfrm>
            <a:off x="617220" y="1295400"/>
            <a:ext cx="10494645" cy="5128260"/>
          </a:xfrm>
        </p:spPr>
        <p:txBody>
          <a:bodyPr vert="horz" wrap="square" lIns="91440" tIns="45720" rIns="91440" bIns="45720" anchor="t" anchorCtr="0"/>
          <a:p>
            <a:pPr eaLnBrk="1" hangingPunct="1">
              <a:lnSpc>
                <a:spcPct val="140000"/>
              </a:lnSpc>
              <a:buFont typeface="Wingdings" panose="05000000000000000000" charset="0"/>
              <a:buChar char="Ø"/>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基本术语</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Arial" panose="020B0604020202020204" pitchFamily="34" charset="0"/>
              <a:buChar char="•"/>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结点的层次：</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设根结点的层次为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，则其子树的根结点层次为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层结点的子树的根结点层次为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40000"/>
              </a:lnSpc>
              <a:buFont typeface="Arial" panose="020B0604020202020204" pitchFamily="34" charset="0"/>
              <a:buChar char="•"/>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树的深度：</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树中结点（该结点必为树叶结点）的最大层次。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40000"/>
              </a:lnSpc>
              <a:buFont typeface="Arial" panose="020B0604020202020204" pitchFamily="34" charset="0"/>
              <a:buChar char="•"/>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孩子结点及双亲结点：</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结点的子树的根结点称为该结点的孩子结点，该结点又称为孩子结点的双亲结点。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40000"/>
              </a:lnSpc>
              <a:buFont typeface="Arial" panose="020B0604020202020204" pitchFamily="34" charset="0"/>
              <a:buChar char="•"/>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兄弟结点：</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拥有同一个双亲结点的若干个结点互称为兄弟结点。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40000"/>
              </a:lnSpc>
              <a:buFont typeface="Arial" panose="020B0604020202020204" pitchFamily="34" charset="0"/>
              <a:buChar char="•"/>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堂兄弟结点：</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在同一层次上，但双亲结点不同的若干个结点称为堂兄弟结点。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188" name="文本框 187"/>
          <p:cNvSpPr txBox="1"/>
          <p:nvPr/>
        </p:nvSpPr>
        <p:spPr>
          <a:xfrm>
            <a:off x="393065" y="106045"/>
            <a:ext cx="6786245" cy="645160"/>
          </a:xfrm>
          <a:prstGeom prst="rect">
            <a:avLst/>
          </a:prstGeom>
          <a:noFill/>
        </p:spPr>
        <p:txBody>
          <a:bodyPr wrap="square" rtlCol="0">
            <a:spAutoFit/>
          </a:bodyPr>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树、森林的定义及基本术语</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5" name="矩形 8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8" name="文本框 77"/>
          <p:cNvSpPr txBox="1"/>
          <p:nvPr/>
        </p:nvSpPr>
        <p:spPr>
          <a:xfrm>
            <a:off x="393065" y="6489700"/>
            <a:ext cx="3362960" cy="368300"/>
          </a:xfrm>
          <a:prstGeom prst="rect">
            <a:avLst/>
          </a:prstGeom>
          <a:noFill/>
        </p:spPr>
        <p:txBody>
          <a:bodyPr wrap="square" rtlCol="0">
            <a:spAutoFit/>
          </a:bodyPr>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定义及基本术语</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3203575" y="6489700"/>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5741035" y="6489700"/>
            <a:ext cx="265811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9112885" y="6489700"/>
            <a:ext cx="2219325"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内容占位符 2"/>
          <p:cNvSpPr>
            <a:spLocks noGrp="1"/>
          </p:cNvSpPr>
          <p:nvPr>
            <p:ph idx="1"/>
          </p:nvPr>
        </p:nvSpPr>
        <p:spPr>
          <a:xfrm>
            <a:off x="393700" y="1068705"/>
            <a:ext cx="10860405" cy="5255895"/>
          </a:xfrm>
        </p:spPr>
        <p:txBody>
          <a:bodyPr vert="horz" wrap="square" lIns="91440" tIns="45720" rIns="91440" bIns="45720" anchor="t" anchorCtr="0"/>
          <a:p>
            <a:pPr eaLnBrk="1" hangingPunct="1">
              <a:lnSpc>
                <a:spcPct val="140000"/>
              </a:lnSpc>
              <a:spcBef>
                <a:spcPct val="10000"/>
              </a:spcBef>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基本术语</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spcBef>
                <a:spcPct val="10000"/>
              </a:spcBef>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祖先结点：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根结点到该结点路径上的所有结点均为该结点的祖先结点。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spcBef>
                <a:spcPct val="10000"/>
              </a:spcBef>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子孙结点：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某结点的子树中所包含的所有结点均为该结点的子孙结点。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spcBef>
                <a:spcPct val="10000"/>
              </a:spcBef>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无序树：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子树之间不存在次序关系，即子树能够调换，则称该树为无序树。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spcBef>
                <a:spcPct val="10000"/>
              </a:spcBef>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有序树：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子树之间映射客观存在的次序关系（子树不能调换），则称该树为有序树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245" name="Rectangle 5"/>
          <p:cNvSpPr/>
          <p:nvPr/>
        </p:nvSpPr>
        <p:spPr>
          <a:xfrm>
            <a:off x="1148715" y="5153025"/>
            <a:ext cx="9366885" cy="148399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40000"/>
              </a:lnSpc>
              <a:spcBef>
                <a:spcPct val="50000"/>
              </a:spcBef>
              <a:buNone/>
            </a:pPr>
            <a:r>
              <a:rPr lang="zh-CN" altLang="en-US" sz="2000" b="1" dirty="0">
                <a:latin typeface="楷体_GB2312" panose="02010609030101010101" pitchFamily="49"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另外，在有序树中，某结点的最左边子树称为该结点的第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棵子树，第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棵子树的根称为该结点的第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个孩子。</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Group 6"/>
          <p:cNvGrpSpPr/>
          <p:nvPr/>
        </p:nvGrpSpPr>
        <p:grpSpPr>
          <a:xfrm>
            <a:off x="3456305" y="4116705"/>
            <a:ext cx="3657600" cy="914400"/>
            <a:chOff x="1104" y="2736"/>
            <a:chExt cx="2496" cy="681"/>
          </a:xfrm>
        </p:grpSpPr>
        <p:sp>
          <p:nvSpPr>
            <p:cNvPr id="14342" name="Oval 7"/>
            <p:cNvSpPr/>
            <p:nvPr/>
          </p:nvSpPr>
          <p:spPr>
            <a:xfrm>
              <a:off x="1536" y="2736"/>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A</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4343" name="Oval 8"/>
            <p:cNvSpPr/>
            <p:nvPr/>
          </p:nvSpPr>
          <p:spPr>
            <a:xfrm>
              <a:off x="1104" y="312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B</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4344" name="Oval 9"/>
            <p:cNvSpPr/>
            <p:nvPr/>
          </p:nvSpPr>
          <p:spPr>
            <a:xfrm>
              <a:off x="1892" y="312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C</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4345" name="Line 10"/>
            <p:cNvSpPr/>
            <p:nvPr/>
          </p:nvSpPr>
          <p:spPr>
            <a:xfrm flipH="1">
              <a:off x="1344" y="2976"/>
              <a:ext cx="240" cy="144"/>
            </a:xfrm>
            <a:prstGeom prst="line">
              <a:avLst/>
            </a:prstGeom>
            <a:ln w="9525" cap="flat" cmpd="sng">
              <a:solidFill>
                <a:srgbClr val="000000"/>
              </a:solidFill>
              <a:prstDash val="solid"/>
              <a:headEnd type="none" w="med" len="med"/>
              <a:tailEnd type="none" w="med" len="med"/>
            </a:ln>
          </p:spPr>
        </p:sp>
        <p:sp>
          <p:nvSpPr>
            <p:cNvPr id="14346" name="Line 11"/>
            <p:cNvSpPr/>
            <p:nvPr/>
          </p:nvSpPr>
          <p:spPr>
            <a:xfrm>
              <a:off x="1824" y="2976"/>
              <a:ext cx="144" cy="144"/>
            </a:xfrm>
            <a:prstGeom prst="line">
              <a:avLst/>
            </a:prstGeom>
            <a:ln w="9525" cap="flat" cmpd="sng">
              <a:solidFill>
                <a:srgbClr val="000000"/>
              </a:solidFill>
              <a:prstDash val="solid"/>
              <a:headEnd type="none" w="med" len="med"/>
              <a:tailEnd type="none" w="med" len="med"/>
            </a:ln>
          </p:spPr>
        </p:sp>
        <p:sp>
          <p:nvSpPr>
            <p:cNvPr id="14347" name="Oval 12"/>
            <p:cNvSpPr/>
            <p:nvPr/>
          </p:nvSpPr>
          <p:spPr>
            <a:xfrm>
              <a:off x="2928" y="2736"/>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A</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4348" name="Oval 13"/>
            <p:cNvSpPr/>
            <p:nvPr/>
          </p:nvSpPr>
          <p:spPr>
            <a:xfrm>
              <a:off x="2496" y="312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C</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4349" name="Oval 14"/>
            <p:cNvSpPr/>
            <p:nvPr/>
          </p:nvSpPr>
          <p:spPr>
            <a:xfrm>
              <a:off x="3284" y="3120"/>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B</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4350" name="Line 15"/>
            <p:cNvSpPr/>
            <p:nvPr/>
          </p:nvSpPr>
          <p:spPr>
            <a:xfrm flipH="1">
              <a:off x="2736" y="2976"/>
              <a:ext cx="240" cy="144"/>
            </a:xfrm>
            <a:prstGeom prst="line">
              <a:avLst/>
            </a:prstGeom>
            <a:ln w="9525" cap="flat" cmpd="sng">
              <a:solidFill>
                <a:srgbClr val="000000"/>
              </a:solidFill>
              <a:prstDash val="solid"/>
              <a:headEnd type="none" w="med" len="med"/>
              <a:tailEnd type="none" w="med" len="med"/>
            </a:ln>
          </p:spPr>
        </p:sp>
        <p:sp>
          <p:nvSpPr>
            <p:cNvPr id="14351" name="Line 16"/>
            <p:cNvSpPr/>
            <p:nvPr/>
          </p:nvSpPr>
          <p:spPr>
            <a:xfrm>
              <a:off x="3216" y="2976"/>
              <a:ext cx="144" cy="144"/>
            </a:xfrm>
            <a:prstGeom prst="line">
              <a:avLst/>
            </a:prstGeom>
            <a:ln w="9525" cap="flat" cmpd="sng">
              <a:solidFill>
                <a:srgbClr val="000000"/>
              </a:solidFill>
              <a:prstDash val="solid"/>
              <a:headEnd type="none" w="med" len="med"/>
              <a:tailEnd type="none" w="med" len="med"/>
            </a:ln>
          </p:spPr>
        </p:sp>
      </p:gr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188" name="文本框 187"/>
          <p:cNvSpPr txBox="1"/>
          <p:nvPr/>
        </p:nvSpPr>
        <p:spPr>
          <a:xfrm>
            <a:off x="393065" y="106045"/>
            <a:ext cx="7604125" cy="645160"/>
          </a:xfrm>
          <a:prstGeom prst="rect">
            <a:avLst/>
          </a:prstGeom>
          <a:noFill/>
        </p:spPr>
        <p:txBody>
          <a:bodyPr wrap="square" rtlCol="0">
            <a:spAutoFit/>
          </a:bodyPr>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树、森林的定义及基本术语</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5" name="矩形 8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8" name="文本框 77"/>
          <p:cNvSpPr txBox="1"/>
          <p:nvPr/>
        </p:nvSpPr>
        <p:spPr>
          <a:xfrm>
            <a:off x="393065" y="6489700"/>
            <a:ext cx="3362960" cy="368300"/>
          </a:xfrm>
          <a:prstGeom prst="rect">
            <a:avLst/>
          </a:prstGeom>
          <a:noFill/>
        </p:spPr>
        <p:txBody>
          <a:bodyPr wrap="square" rtlCol="0">
            <a:spAutoFit/>
          </a:bodyPr>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定义及基本术语</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3203575" y="6489700"/>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5741035" y="6489700"/>
            <a:ext cx="265811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9112885" y="6489700"/>
            <a:ext cx="2219325"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10245"/>
                                        </p:tgtEl>
                                        <p:attrNameLst>
                                          <p:attrName>style.visibility</p:attrName>
                                        </p:attrNameLst>
                                      </p:cBhvr>
                                      <p:to>
                                        <p:strVal val="visible"/>
                                      </p:to>
                                    </p:set>
                                    <p:animEffect transition="in" filter="slide(fromBottom)">
                                      <p:cBhvr>
                                        <p:cTn id="11"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4493" name="Group 45"/>
          <p:cNvGraphicFramePr>
            <a:graphicFrameLocks noGrp="1"/>
          </p:cNvGraphicFramePr>
          <p:nvPr>
            <p:ph idx="1"/>
            <p:custDataLst>
              <p:tags r:id="rId1"/>
            </p:custDataLst>
          </p:nvPr>
        </p:nvGraphicFramePr>
        <p:xfrm>
          <a:off x="635000" y="1532255"/>
          <a:ext cx="10648950" cy="3959225"/>
        </p:xfrm>
        <a:graphic>
          <a:graphicData uri="http://schemas.openxmlformats.org/drawingml/2006/table">
            <a:tbl>
              <a:tblPr/>
              <a:tblGrid>
                <a:gridCol w="5324475"/>
                <a:gridCol w="5324475"/>
              </a:tblGrid>
              <a:tr h="82359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线性结构</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树型结构</a:t>
                      </a:r>
                      <a:endParaRPr kumimoji="0" lang="zh-CN" altLang="en-US" sz="24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423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第一个数据元素</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无前驱</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根结点</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无前驱</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486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最后一个数据元素</a:t>
                      </a:r>
                      <a:r>
                        <a:rPr kumimoji="0" lang="en-US" altLang="zh-CN"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无后继</a:t>
                      </a:r>
                      <a:r>
                        <a:rPr kumimoji="0" lang="en-US" altLang="zh-CN"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多个叶子结点</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无后继</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8653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其它数据元素</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一个前驱、一个后继</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其它数据元素</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一个前驱、多个后继</a:t>
                      </a:r>
                      <a:r>
                        <a:rPr kumimoji="0" lang="en-US" altLang="zh-CN"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3600" b="1" i="1" dirty="0">
                <a:latin typeface="微软雅黑" panose="020B0503020204020204" pitchFamily="34" charset="-122"/>
                <a:ea typeface="微软雅黑" panose="020B0503020204020204" pitchFamily="34" charset="-122"/>
                <a:sym typeface="+mn-ea"/>
              </a:rPr>
              <a:t>线性结构和树型结构的比较</a:t>
            </a:r>
            <a:endParaRPr lang="zh-CN" altLang="en-US" sz="3600" b="1" i="1" dirty="0">
              <a:latin typeface="微软雅黑" panose="020B0503020204020204" pitchFamily="34" charset="-122"/>
              <a:ea typeface="微软雅黑" panose="020B0503020204020204" pitchFamily="34" charset="-122"/>
              <a:sym typeface="+mn-ea"/>
            </a:endParaRPr>
          </a:p>
        </p:txBody>
      </p:sp>
      <p:sp>
        <p:nvSpPr>
          <p:cNvPr id="85" name="矩形 84"/>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8" name="文本框 77"/>
          <p:cNvSpPr txBox="1"/>
          <p:nvPr/>
        </p:nvSpPr>
        <p:spPr>
          <a:xfrm>
            <a:off x="393065" y="6489700"/>
            <a:ext cx="3362960" cy="368300"/>
          </a:xfrm>
          <a:prstGeom prst="rect">
            <a:avLst/>
          </a:prstGeom>
          <a:noFill/>
        </p:spPr>
        <p:txBody>
          <a:bodyPr wrap="square" rtlCol="0">
            <a:spAutoFit/>
          </a:bodyPr>
          <a:p>
            <a:pPr algn="ctr"/>
            <a:r>
              <a:rPr lang="en-US" altLang="zh-CN" b="1" dirty="0" smtClean="0">
                <a:solidFill>
                  <a:srgbClr val="005A9E"/>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b="1" dirty="0" smtClean="0">
                <a:solidFill>
                  <a:srgbClr val="005A9E"/>
                </a:solidFill>
                <a:latin typeface="微软雅黑" panose="020B0503020204020204" pitchFamily="34" charset="-122"/>
                <a:ea typeface="微软雅黑" panose="020B0503020204020204" pitchFamily="34" charset="-122"/>
              </a:rPr>
              <a:t>. 定义及基本术语</a:t>
            </a:r>
            <a:endParaRPr lang="en-US" altLang="zh-CN" b="1" dirty="0" smtClean="0">
              <a:solidFill>
                <a:srgbClr val="005A9E"/>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3203575" y="6489700"/>
            <a:ext cx="204216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5741035" y="6489700"/>
            <a:ext cx="2658110" cy="368300"/>
          </a:xfrm>
          <a:prstGeom prst="rect">
            <a:avLst/>
          </a:prstGeom>
          <a:noFill/>
        </p:spPr>
        <p:txBody>
          <a:bodyPr wrap="square" rtlCol="0">
            <a:spAutoFit/>
          </a:bodyPr>
          <a:lstStyle/>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9112885" y="6489700"/>
            <a:ext cx="2219325"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765344" y="6557405"/>
            <a:ext cx="271682" cy="202424"/>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7" name="Rectangle 3"/>
          <p:cNvSpPr>
            <a:spLocks noGrp="1"/>
          </p:cNvSpPr>
          <p:nvPr>
            <p:ph idx="1"/>
          </p:nvPr>
        </p:nvSpPr>
        <p:spPr>
          <a:xfrm>
            <a:off x="420370" y="1090295"/>
            <a:ext cx="10933430" cy="5086985"/>
          </a:xfrm>
        </p:spPr>
        <p:txBody>
          <a:bodyPr vert="horz" wrap="square" lIns="91440" tIns="45720" rIns="91440" bIns="45720" anchor="t" anchorCtr="0"/>
          <a:p>
            <a:pPr marL="457200" indent="-457200" eaLnBrk="1" hangingPunct="1">
              <a:lnSpc>
                <a:spcPct val="120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4.2.1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二叉树的结构定义</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0000"/>
              </a:lnSpc>
              <a:buFont typeface="Wingdings" panose="05000000000000000000" charset="0"/>
              <a:buChar char="Ø"/>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二叉树的定义</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342900" algn="l" eaLnBrk="1" hangingPunct="1">
              <a:lnSpc>
                <a:spcPct val="13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二叉树是</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）个结点的有限集，当</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时，二叉树为空；当</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&gt;0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时，</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二叉树由一个根结点及至多两棵互不相交的左右子树组成，且左右子树都是二叉树</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342900" algn="l" eaLnBrk="1" hangingPunct="1">
              <a:lnSpc>
                <a:spcPct val="130000"/>
              </a:lnSpc>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0000"/>
              </a:lnSpc>
              <a:buFont typeface="Wingdings" panose="05000000000000000000" charset="0"/>
              <a:buChar char="Ø"/>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二叉树的特点</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342900" eaLnBrk="1" hangingPunct="1">
              <a:lnSpc>
                <a:spcPct val="13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每个结点至多有二棵子树</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即不存在度大于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的结点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342900" eaLnBrk="1" hangingPunct="1">
              <a:lnSpc>
                <a:spcPct val="13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二叉树的子树有左、右之分，且其次序不能任意颠倒。相应地，左子树的根结点称为左孩子</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右子树的根</a:t>
            </a:r>
            <a:r>
              <a:rPr lang="zh-CN" altLang="en-US" sz="2000" dirty="0">
                <a:solidFill>
                  <a:srgbClr val="979797"/>
                </a:solidFill>
                <a:latin typeface="微软雅黑" panose="020B0503020204020204" pitchFamily="34" charset="-122"/>
                <a:ea typeface="微软雅黑" panose="020B0503020204020204" pitchFamily="34" charset="-122"/>
                <a:cs typeface="微软雅黑" panose="020B0503020204020204" pitchFamily="34" charset="-122"/>
              </a:rPr>
              <a:t>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称为右孩子。</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Rectangle 3"/>
          <p:cNvSpPr>
            <a:spLocks noGrp="1"/>
          </p:cNvSpPr>
          <p:nvPr>
            <p:ph idx="1"/>
          </p:nvPr>
        </p:nvSpPr>
        <p:spPr>
          <a:xfrm>
            <a:off x="427355" y="1188085"/>
            <a:ext cx="5732145" cy="539115"/>
          </a:xfrm>
        </p:spPr>
        <p:txBody>
          <a:bodyPr vert="horz" wrap="square" lIns="91440" tIns="45720" rIns="91440" bIns="45720" anchor="t" anchorCtr="0">
            <a:normAutofit/>
          </a:bodyPr>
          <a:p>
            <a:pPr eaLnBrk="1" hangingPunct="1"/>
            <a:r>
              <a:rPr lang="zh-CN" altLang="en-US" sz="2400" dirty="0">
                <a:latin typeface="微软雅黑" panose="020B0503020204020204" pitchFamily="34" charset="-122"/>
                <a:ea typeface="微软雅黑" panose="020B0503020204020204" pitchFamily="34" charset="-122"/>
              </a:rPr>
              <a:t>二叉树的五种基本形态</a:t>
            </a:r>
            <a:endParaRPr lang="zh-CN" altLang="en-US" sz="2400" dirty="0">
              <a:latin typeface="微软雅黑" panose="020B0503020204020204" pitchFamily="34" charset="-122"/>
              <a:ea typeface="微软雅黑" panose="020B0503020204020204" pitchFamily="34" charset="-122"/>
            </a:endParaRPr>
          </a:p>
        </p:txBody>
      </p:sp>
      <p:sp>
        <p:nvSpPr>
          <p:cNvPr id="17412" name="Oval 8"/>
          <p:cNvSpPr/>
          <p:nvPr/>
        </p:nvSpPr>
        <p:spPr>
          <a:xfrm>
            <a:off x="5257800" y="2057400"/>
            <a:ext cx="460375" cy="463550"/>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2000" b="1" dirty="0">
              <a:ea typeface="宋体" panose="02010600030101010101" pitchFamily="2" charset="-122"/>
            </a:endParaRPr>
          </a:p>
        </p:txBody>
      </p:sp>
      <p:sp>
        <p:nvSpPr>
          <p:cNvPr id="17413" name="Text Box 54"/>
          <p:cNvSpPr txBox="1"/>
          <p:nvPr/>
        </p:nvSpPr>
        <p:spPr>
          <a:xfrm>
            <a:off x="3124677" y="1979137"/>
            <a:ext cx="492760" cy="58356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3200" dirty="0">
                <a:ea typeface="宋体" panose="02010600030101010101" pitchFamily="2" charset="-122"/>
                <a:sym typeface="Symbol" panose="05050102010706020507" pitchFamily="18" charset="2"/>
              </a:rPr>
              <a:t></a:t>
            </a:r>
            <a:endParaRPr lang="zh-CN" altLang="en-US" sz="2000" dirty="0">
              <a:ea typeface="宋体" panose="02010600030101010101" pitchFamily="2" charset="-122"/>
            </a:endParaRPr>
          </a:p>
        </p:txBody>
      </p:sp>
      <p:sp>
        <p:nvSpPr>
          <p:cNvPr id="17414" name="TextBox 30"/>
          <p:cNvSpPr txBox="1"/>
          <p:nvPr/>
        </p:nvSpPr>
        <p:spPr>
          <a:xfrm>
            <a:off x="2856548" y="2754313"/>
            <a:ext cx="10972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1800" dirty="0">
                <a:latin typeface="微软雅黑" panose="020B0503020204020204" pitchFamily="34" charset="-122"/>
                <a:ea typeface="微软雅黑" panose="020B0503020204020204" pitchFamily="34" charset="-122"/>
              </a:rPr>
              <a:t>空二叉树</a:t>
            </a:r>
            <a:endParaRPr lang="zh-CN" altLang="en-US" sz="1800" dirty="0">
              <a:latin typeface="微软雅黑" panose="020B0503020204020204" pitchFamily="34" charset="-122"/>
              <a:ea typeface="微软雅黑" panose="020B0503020204020204" pitchFamily="34" charset="-122"/>
            </a:endParaRPr>
          </a:p>
        </p:txBody>
      </p:sp>
      <p:sp>
        <p:nvSpPr>
          <p:cNvPr id="17415" name="TextBox 31"/>
          <p:cNvSpPr txBox="1"/>
          <p:nvPr/>
        </p:nvSpPr>
        <p:spPr>
          <a:xfrm>
            <a:off x="4390073" y="2743200"/>
            <a:ext cx="22402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1800" dirty="0">
                <a:latin typeface="微软雅黑" panose="020B0503020204020204" pitchFamily="34" charset="-122"/>
                <a:ea typeface="微软雅黑" panose="020B0503020204020204" pitchFamily="34" charset="-122"/>
              </a:rPr>
              <a:t>只有根结点的二叉树</a:t>
            </a:r>
            <a:endParaRPr lang="zh-CN" altLang="en-US" sz="1800" dirty="0">
              <a:latin typeface="微软雅黑" panose="020B0503020204020204" pitchFamily="34" charset="-122"/>
              <a:ea typeface="微软雅黑" panose="020B0503020204020204" pitchFamily="34" charset="-122"/>
            </a:endParaRPr>
          </a:p>
        </p:txBody>
      </p:sp>
      <p:sp>
        <p:nvSpPr>
          <p:cNvPr id="17416" name="TextBox 32"/>
          <p:cNvSpPr txBox="1"/>
          <p:nvPr/>
        </p:nvSpPr>
        <p:spPr>
          <a:xfrm>
            <a:off x="1530668" y="5714683"/>
            <a:ext cx="13258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1800" dirty="0">
                <a:latin typeface="微软雅黑" panose="020B0503020204020204" pitchFamily="34" charset="-122"/>
                <a:ea typeface="微软雅黑" panose="020B0503020204020204" pitchFamily="34" charset="-122"/>
              </a:rPr>
              <a:t>右子树为空</a:t>
            </a:r>
            <a:endParaRPr lang="zh-CN" altLang="en-US" sz="1800" dirty="0">
              <a:latin typeface="微软雅黑" panose="020B0503020204020204" pitchFamily="34" charset="-122"/>
              <a:ea typeface="微软雅黑" panose="020B0503020204020204" pitchFamily="34" charset="-122"/>
            </a:endParaRPr>
          </a:p>
        </p:txBody>
      </p:sp>
      <p:sp>
        <p:nvSpPr>
          <p:cNvPr id="17417" name="TextBox 33"/>
          <p:cNvSpPr txBox="1"/>
          <p:nvPr/>
        </p:nvSpPr>
        <p:spPr>
          <a:xfrm>
            <a:off x="4958239" y="5696585"/>
            <a:ext cx="13258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1800" dirty="0">
                <a:latin typeface="微软雅黑" panose="020B0503020204020204" pitchFamily="34" charset="-122"/>
                <a:ea typeface="微软雅黑" panose="020B0503020204020204" pitchFamily="34" charset="-122"/>
              </a:rPr>
              <a:t>左子树为空</a:t>
            </a:r>
            <a:endParaRPr lang="zh-CN" altLang="en-US" sz="1800" dirty="0">
              <a:latin typeface="微软雅黑" panose="020B0503020204020204" pitchFamily="34" charset="-122"/>
              <a:ea typeface="微软雅黑" panose="020B0503020204020204" pitchFamily="34" charset="-122"/>
            </a:endParaRPr>
          </a:p>
        </p:txBody>
      </p:sp>
      <p:sp>
        <p:nvSpPr>
          <p:cNvPr id="17418" name="TextBox 34"/>
          <p:cNvSpPr txBox="1"/>
          <p:nvPr/>
        </p:nvSpPr>
        <p:spPr>
          <a:xfrm>
            <a:off x="7931786" y="5715000"/>
            <a:ext cx="1783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1800" dirty="0">
                <a:latin typeface="微软雅黑" panose="020B0503020204020204" pitchFamily="34" charset="-122"/>
                <a:ea typeface="微软雅黑" panose="020B0503020204020204" pitchFamily="34" charset="-122"/>
              </a:rPr>
              <a:t>左右子树均非空</a:t>
            </a:r>
            <a:endParaRPr lang="zh-CN" altLang="en-US" sz="1800" dirty="0">
              <a:latin typeface="微软雅黑" panose="020B0503020204020204" pitchFamily="34" charset="-122"/>
              <a:ea typeface="微软雅黑" panose="020B0503020204020204" pitchFamily="34" charset="-122"/>
            </a:endParaRPr>
          </a:p>
        </p:txBody>
      </p:sp>
      <p:sp useBgFill="1">
        <p:nvSpPr>
          <p:cNvPr id="27" name="AutoShape 7"/>
          <p:cNvSpPr/>
          <p:nvPr/>
        </p:nvSpPr>
        <p:spPr>
          <a:xfrm>
            <a:off x="1622108" y="4659313"/>
            <a:ext cx="688975" cy="688975"/>
          </a:xfrm>
          <a:prstGeom prst="wedgeEllipseCallout">
            <a:avLst>
              <a:gd name="adj1" fmla="val 59764"/>
              <a:gd name="adj2" fmla="val -93431"/>
            </a:avLst>
          </a:prstGeom>
          <a:ln w="31750" cap="flat" cmpd="sng">
            <a:solidFill>
              <a:srgbClr val="339966"/>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just" eaLnBrk="1" hangingPunct="1">
              <a:spcBef>
                <a:spcPct val="0"/>
              </a:spcBef>
              <a:buNone/>
            </a:pPr>
            <a:endParaRPr lang="zh-CN" altLang="zh-CN" sz="1000" b="1" dirty="0">
              <a:solidFill>
                <a:srgbClr val="FFFFFF"/>
              </a:solidFill>
              <a:latin typeface="Consolas" panose="020B0609020204030204" pitchFamily="49" charset="0"/>
            </a:endParaRPr>
          </a:p>
        </p:txBody>
      </p:sp>
      <p:sp useBgFill="1">
        <p:nvSpPr>
          <p:cNvPr id="28" name="Oval 18"/>
          <p:cNvSpPr/>
          <p:nvPr/>
        </p:nvSpPr>
        <p:spPr>
          <a:xfrm>
            <a:off x="2249170" y="3760788"/>
            <a:ext cx="738188" cy="615950"/>
          </a:xfrm>
          <a:prstGeom prst="ellipse">
            <a:avLst/>
          </a:prstGeom>
          <a:ln w="31750" cap="flat" cmpd="sng">
            <a:solidFill>
              <a:srgbClr val="99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2800" b="1" dirty="0">
              <a:solidFill>
                <a:schemeClr val="bg2"/>
              </a:solidFill>
              <a:latin typeface="Consolas" panose="020B0609020204030204" pitchFamily="49" charset="0"/>
            </a:endParaRPr>
          </a:p>
        </p:txBody>
      </p:sp>
      <p:sp useBgFill="1">
        <p:nvSpPr>
          <p:cNvPr id="29" name="Oval 19"/>
          <p:cNvSpPr/>
          <p:nvPr/>
        </p:nvSpPr>
        <p:spPr>
          <a:xfrm>
            <a:off x="4958080" y="3769995"/>
            <a:ext cx="703263" cy="642938"/>
          </a:xfrm>
          <a:prstGeom prst="ellipse">
            <a:avLst/>
          </a:prstGeom>
          <a:ln w="31750" cap="flat" cmpd="sng">
            <a:solidFill>
              <a:srgbClr val="99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2800" b="1" dirty="0">
              <a:solidFill>
                <a:schemeClr val="bg2"/>
              </a:solidFill>
              <a:latin typeface="Consolas" panose="020B0609020204030204" pitchFamily="49" charset="0"/>
            </a:endParaRPr>
          </a:p>
        </p:txBody>
      </p:sp>
      <p:sp useBgFill="1">
        <p:nvSpPr>
          <p:cNvPr id="30" name="AutoShape 9"/>
          <p:cNvSpPr/>
          <p:nvPr/>
        </p:nvSpPr>
        <p:spPr>
          <a:xfrm>
            <a:off x="5797550" y="4660900"/>
            <a:ext cx="596900" cy="687388"/>
          </a:xfrm>
          <a:prstGeom prst="wedgeEllipseCallout">
            <a:avLst>
              <a:gd name="adj1" fmla="val -75000"/>
              <a:gd name="adj2" fmla="val -97116"/>
            </a:avLst>
          </a:prstGeom>
          <a:ln w="31750" cap="flat" cmpd="sng">
            <a:solidFill>
              <a:srgbClr val="339966"/>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just" eaLnBrk="1" hangingPunct="1">
              <a:spcBef>
                <a:spcPct val="0"/>
              </a:spcBef>
              <a:buNone/>
            </a:pPr>
            <a:endParaRPr lang="zh-CN" altLang="zh-CN" sz="1000" b="1" dirty="0">
              <a:solidFill>
                <a:srgbClr val="FFFFFF"/>
              </a:solidFill>
              <a:latin typeface="Consolas" panose="020B0609020204030204" pitchFamily="49" charset="0"/>
            </a:endParaRPr>
          </a:p>
        </p:txBody>
      </p:sp>
      <p:sp useBgFill="1">
        <p:nvSpPr>
          <p:cNvPr id="31" name="Oval 19"/>
          <p:cNvSpPr/>
          <p:nvPr/>
        </p:nvSpPr>
        <p:spPr>
          <a:xfrm>
            <a:off x="8305800" y="3713163"/>
            <a:ext cx="703263" cy="641350"/>
          </a:xfrm>
          <a:prstGeom prst="ellipse">
            <a:avLst/>
          </a:prstGeom>
          <a:ln w="31750" cap="flat" cmpd="sng">
            <a:solidFill>
              <a:srgbClr val="99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2800" b="1" dirty="0">
              <a:solidFill>
                <a:schemeClr val="bg2"/>
              </a:solidFill>
              <a:latin typeface="Consolas" panose="020B0609020204030204" pitchFamily="49" charset="0"/>
            </a:endParaRPr>
          </a:p>
        </p:txBody>
      </p:sp>
      <p:sp useBgFill="1">
        <p:nvSpPr>
          <p:cNvPr id="32" name="AutoShape 9"/>
          <p:cNvSpPr/>
          <p:nvPr/>
        </p:nvSpPr>
        <p:spPr>
          <a:xfrm>
            <a:off x="9139238" y="4659313"/>
            <a:ext cx="596900" cy="687387"/>
          </a:xfrm>
          <a:prstGeom prst="wedgeEllipseCallout">
            <a:avLst>
              <a:gd name="adj1" fmla="val -75000"/>
              <a:gd name="adj2" fmla="val -97116"/>
            </a:avLst>
          </a:prstGeom>
          <a:ln w="31750" cap="flat" cmpd="sng">
            <a:solidFill>
              <a:srgbClr val="339966"/>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just" eaLnBrk="1" hangingPunct="1">
              <a:spcBef>
                <a:spcPct val="0"/>
              </a:spcBef>
              <a:buNone/>
            </a:pPr>
            <a:endParaRPr lang="zh-CN" altLang="zh-CN" sz="1000" b="1" dirty="0">
              <a:solidFill>
                <a:srgbClr val="FFFFFF"/>
              </a:solidFill>
              <a:latin typeface="Consolas" panose="020B0609020204030204" pitchFamily="49" charset="0"/>
            </a:endParaRPr>
          </a:p>
        </p:txBody>
      </p:sp>
      <p:sp useBgFill="1">
        <p:nvSpPr>
          <p:cNvPr id="33" name="AutoShape 7"/>
          <p:cNvSpPr/>
          <p:nvPr/>
        </p:nvSpPr>
        <p:spPr>
          <a:xfrm>
            <a:off x="7616825" y="4659313"/>
            <a:ext cx="688975" cy="687387"/>
          </a:xfrm>
          <a:prstGeom prst="wedgeEllipseCallout">
            <a:avLst>
              <a:gd name="adj1" fmla="val 59764"/>
              <a:gd name="adj2" fmla="val -93431"/>
            </a:avLst>
          </a:prstGeom>
          <a:ln w="31750" cap="flat" cmpd="sng">
            <a:solidFill>
              <a:srgbClr val="339966"/>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just" eaLnBrk="1" hangingPunct="1">
              <a:spcBef>
                <a:spcPct val="0"/>
              </a:spcBef>
              <a:buNone/>
            </a:pPr>
            <a:endParaRPr lang="zh-CN" altLang="zh-CN" sz="1000" b="1" dirty="0">
              <a:solidFill>
                <a:srgbClr val="FFFFFF"/>
              </a:solidFill>
              <a:latin typeface="Consolas" panose="020B0609020204030204" pitchFamily="49" charset="0"/>
            </a:endParaRPr>
          </a:p>
        </p:txBody>
      </p:sp>
      <p:sp>
        <p:nvSpPr>
          <p:cNvPr id="13331" name="Text Box 19"/>
          <p:cNvSpPr txBox="1"/>
          <p:nvPr/>
        </p:nvSpPr>
        <p:spPr>
          <a:xfrm>
            <a:off x="7992745" y="1727200"/>
            <a:ext cx="2667000" cy="461645"/>
          </a:xfrm>
          <a:prstGeom prst="rect">
            <a:avLst/>
          </a:prstGeom>
          <a:solidFill>
            <a:schemeClr val="accent1"/>
          </a:solidFill>
          <a:ln w="3175" cap="flat" cmpd="sng">
            <a:solidFill>
              <a:schemeClr val="tx1"/>
            </a:solidFill>
            <a:prstDash val="solid"/>
            <a:miter/>
            <a:headEnd type="none" w="med" len="med"/>
            <a:tailEnd type="none" w="med" len="med"/>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课后习题</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6  P154</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二叉树的结构定义</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3" name="矩形 412"/>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5741035" y="6489700"/>
            <a:ext cx="265811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9103360" y="6489700"/>
            <a:ext cx="222885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393065" y="6489700"/>
            <a:ext cx="3362960" cy="36830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3691255" y="6489700"/>
            <a:ext cx="2042160" cy="36830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sp>
        <p:nvSpPr>
          <p:cNvPr id="3" name="燕尾形 2"/>
          <p:cNvSpPr/>
          <p:nvPr/>
        </p:nvSpPr>
        <p:spPr>
          <a:xfrm>
            <a:off x="3963217" y="6572645"/>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燕尾形 3"/>
          <p:cNvSpPr/>
          <p:nvPr/>
        </p:nvSpPr>
        <p:spPr>
          <a:xfrm>
            <a:off x="3852079" y="6572645"/>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heckerboard(down)">
                                      <p:cBhvr>
                                        <p:cTn id="7" dur="500"/>
                                        <p:tgtEl>
                                          <p:spTgt spid="28"/>
                                        </p:tgtEl>
                                      </p:cBhvr>
                                    </p:animEffect>
                                  </p:childTnLst>
                                </p:cTn>
                              </p:par>
                            </p:childTnLst>
                          </p:cTn>
                        </p:par>
                        <p:par>
                          <p:cTn id="8" fill="hold">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linds(vertical)">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5"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checkerboard(down)">
                                      <p:cBhvr>
                                        <p:cTn id="16" dur="500"/>
                                        <p:tgtEl>
                                          <p:spTgt spid="29"/>
                                        </p:tgtEl>
                                      </p:cBhvr>
                                    </p:animEffect>
                                  </p:childTnLst>
                                </p:cTn>
                              </p:par>
                            </p:childTnLst>
                          </p:cTn>
                        </p:par>
                        <p:par>
                          <p:cTn id="17" fill="hold">
                            <p:stCondLst>
                              <p:cond delay="500"/>
                            </p:stCondLst>
                            <p:childTnLst>
                              <p:par>
                                <p:cTn id="18" presetID="3" presetClass="entr" presetSubtype="5"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blinds(vertical)">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5"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checkerboard(down)">
                                      <p:cBhvr>
                                        <p:cTn id="25" dur="500"/>
                                        <p:tgtEl>
                                          <p:spTgt spid="31"/>
                                        </p:tgtEl>
                                      </p:cBhvr>
                                    </p:animEffect>
                                  </p:childTnLst>
                                </p:cTn>
                              </p:par>
                            </p:childTnLst>
                          </p:cTn>
                        </p:par>
                        <p:par>
                          <p:cTn id="26" fill="hold">
                            <p:stCondLst>
                              <p:cond delay="500"/>
                            </p:stCondLst>
                            <p:childTnLst>
                              <p:par>
                                <p:cTn id="27" presetID="3" presetClass="entr" presetSubtype="5" fill="hold" grpId="0"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blinds(vertical)">
                                      <p:cBhvr>
                                        <p:cTn id="29" dur="500"/>
                                        <p:tgtEl>
                                          <p:spTgt spid="33"/>
                                        </p:tgtEl>
                                      </p:cBhvr>
                                    </p:animEffect>
                                  </p:childTnLst>
                                </p:cTn>
                              </p:par>
                            </p:childTnLst>
                          </p:cTn>
                        </p:par>
                        <p:par>
                          <p:cTn id="30" fill="hold">
                            <p:stCondLst>
                              <p:cond delay="1000"/>
                            </p:stCondLst>
                            <p:childTnLst>
                              <p:par>
                                <p:cTn id="31" presetID="3" presetClass="entr" presetSubtype="5"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blinds(vertical)">
                                      <p:cBhvr>
                                        <p:cTn id="33" dur="500"/>
                                        <p:tgtEl>
                                          <p:spTgt spid="32"/>
                                        </p:tgtEl>
                                      </p:cBhvr>
                                    </p:animEffect>
                                  </p:childTnLst>
                                </p:cTn>
                              </p:par>
                            </p:childTnLst>
                          </p:cTn>
                        </p:par>
                      </p:childTnLst>
                    </p:cTn>
                  </p:par>
                  <p:par>
                    <p:cTn id="34" fill="hold">
                      <p:stCondLst>
                        <p:cond delay="indefinite"/>
                      </p:stCondLst>
                      <p:childTnLst>
                        <p:par>
                          <p:cTn id="35" fill="hold">
                            <p:stCondLst>
                              <p:cond delay="0"/>
                            </p:stCondLst>
                            <p:childTnLst>
                              <p:par>
                                <p:cTn id="36" presetID="30" presetClass="entr" presetSubtype="0" fill="hold" grpId="0" nodeType="clickEffect">
                                  <p:stCondLst>
                                    <p:cond delay="0"/>
                                  </p:stCondLst>
                                  <p:childTnLst>
                                    <p:set>
                                      <p:cBhvr>
                                        <p:cTn id="37" dur="1" fill="hold">
                                          <p:stCondLst>
                                            <p:cond delay="0"/>
                                          </p:stCondLst>
                                        </p:cTn>
                                        <p:tgtEl>
                                          <p:spTgt spid="13331"/>
                                        </p:tgtEl>
                                        <p:attrNameLst>
                                          <p:attrName>style.visibility</p:attrName>
                                        </p:attrNameLst>
                                      </p:cBhvr>
                                      <p:to>
                                        <p:strVal val="visible"/>
                                      </p:to>
                                    </p:set>
                                    <p:animEffect transition="in" filter="fade">
                                      <p:cBhvr>
                                        <p:cTn id="38" dur="800" decel="100000"/>
                                        <p:tgtEl>
                                          <p:spTgt spid="13331"/>
                                        </p:tgtEl>
                                      </p:cBhvr>
                                    </p:animEffect>
                                    <p:anim calcmode="lin" valueType="num">
                                      <p:cBhvr>
                                        <p:cTn id="39" dur="800" decel="100000" fill="hold"/>
                                        <p:tgtEl>
                                          <p:spTgt spid="13331"/>
                                        </p:tgtEl>
                                        <p:attrNameLst>
                                          <p:attrName>style.rotation</p:attrName>
                                        </p:attrNameLst>
                                      </p:cBhvr>
                                      <p:tavLst>
                                        <p:tav tm="0">
                                          <p:val>
                                            <p:fltVal val="-90.000000"/>
                                          </p:val>
                                        </p:tav>
                                        <p:tav tm="100000">
                                          <p:val>
                                            <p:fltVal val="0.000000"/>
                                          </p:val>
                                        </p:tav>
                                      </p:tavLst>
                                    </p:anim>
                                    <p:anim calcmode="lin" valueType="num">
                                      <p:cBhvr>
                                        <p:cTn id="40" dur="800" decel="100000" fill="hold"/>
                                        <p:tgtEl>
                                          <p:spTgt spid="13331"/>
                                        </p:tgtEl>
                                        <p:attrNameLst>
                                          <p:attrName>ppt_x</p:attrName>
                                        </p:attrNameLst>
                                      </p:cBhvr>
                                      <p:tavLst>
                                        <p:tav tm="0">
                                          <p:val>
                                            <p:strVal val="#ppt_x+0.4"/>
                                          </p:val>
                                        </p:tav>
                                        <p:tav tm="100000">
                                          <p:val>
                                            <p:strVal val="#ppt_x-0.05"/>
                                          </p:val>
                                        </p:tav>
                                      </p:tavLst>
                                    </p:anim>
                                    <p:anim calcmode="lin" valueType="num">
                                      <p:cBhvr>
                                        <p:cTn id="41" dur="800" decel="100000" fill="hold"/>
                                        <p:tgtEl>
                                          <p:spTgt spid="13331"/>
                                        </p:tgtEl>
                                        <p:attrNameLst>
                                          <p:attrName>ppt_y</p:attrName>
                                        </p:attrNameLst>
                                      </p:cBhvr>
                                      <p:tavLst>
                                        <p:tav tm="0">
                                          <p:val>
                                            <p:strVal val="#ppt_y-0.4"/>
                                          </p:val>
                                        </p:tav>
                                        <p:tav tm="100000">
                                          <p:val>
                                            <p:strVal val="#ppt_y+0.1"/>
                                          </p:val>
                                        </p:tav>
                                      </p:tavLst>
                                    </p:anim>
                                    <p:anim calcmode="lin" valueType="num">
                                      <p:cBhvr>
                                        <p:cTn id="42" dur="200" accel="100000" fill="hold">
                                          <p:stCondLst>
                                            <p:cond delay="800"/>
                                          </p:stCondLst>
                                        </p:cTn>
                                        <p:tgtEl>
                                          <p:spTgt spid="13331"/>
                                        </p:tgtEl>
                                        <p:attrNameLst>
                                          <p:attrName>ppt_x</p:attrName>
                                        </p:attrNameLst>
                                      </p:cBhvr>
                                      <p:tavLst>
                                        <p:tav tm="0">
                                          <p:val>
                                            <p:strVal val="#ppt_x-0.05"/>
                                          </p:val>
                                        </p:tav>
                                        <p:tav tm="100000">
                                          <p:val>
                                            <p:strVal val="#ppt_x"/>
                                          </p:val>
                                        </p:tav>
                                      </p:tavLst>
                                    </p:anim>
                                    <p:anim calcmode="lin" valueType="num">
                                      <p:cBhvr>
                                        <p:cTn id="43" dur="200" accel="100000" fill="hold">
                                          <p:stCondLst>
                                            <p:cond delay="800"/>
                                          </p:stCondLst>
                                        </p:cTn>
                                        <p:tgtEl>
                                          <p:spTgt spid="1333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8" grpId="0" bldLvl="0" animBg="1"/>
      <p:bldP spid="29" grpId="0" bldLvl="0" animBg="1"/>
      <p:bldP spid="30" grpId="0" bldLvl="0" animBg="1"/>
      <p:bldP spid="31" grpId="0" bldLvl="0" animBg="1"/>
      <p:bldP spid="32" grpId="0" bldLvl="0" animBg="1"/>
      <p:bldP spid="33" grpId="0" bldLvl="0" animBg="1"/>
      <p:bldP spid="1333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Rectangle 3"/>
          <p:cNvSpPr>
            <a:spLocks noGrp="1"/>
          </p:cNvSpPr>
          <p:nvPr>
            <p:ph type="body" idx="4294967295"/>
          </p:nvPr>
        </p:nvSpPr>
        <p:spPr>
          <a:xfrm>
            <a:off x="448945" y="1186815"/>
            <a:ext cx="10803890" cy="5299710"/>
          </a:xfrm>
        </p:spPr>
        <p:txBody>
          <a:bodyPr vert="horz" wrap="square" lIns="91440" tIns="45720" rIns="91440" bIns="45720" anchor="t" anchorCtr="0"/>
          <a:p>
            <a:pPr marL="457200" indent="-457200" eaLnBrk="1" hangingPunct="1">
              <a:lnSpc>
                <a:spcPct val="13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满二叉树：一棵深度为</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的二叉树若每一层上的结点数都达到最大则称其为满二叉树。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3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完全二叉树：一棵具有</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个结点且深度为</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的二叉树若前</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1层的结点数都达到最大，剩余的结点在第</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层中从左至右连续分布则称其为完全二叉树。</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2580" name="Text Box 4"/>
          <p:cNvSpPr txBox="1"/>
          <p:nvPr/>
        </p:nvSpPr>
        <p:spPr>
          <a:xfrm>
            <a:off x="582295" y="4116705"/>
            <a:ext cx="10008870" cy="38354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lnSpc>
                <a:spcPct val="95000"/>
              </a:lnSpc>
              <a:spcBef>
                <a:spcPct val="4000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⑵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叶子结点只可能在出现在层次最大的两层上</a:t>
            </a:r>
            <a:r>
              <a:rPr lang="zh-CN" altLang="en-US" sz="2000" dirty="0">
                <a:latin typeface="楷体_GB2312" panose="02010609030101010101" pitchFamily="49" charset="-122"/>
              </a:rPr>
              <a:t>。</a:t>
            </a:r>
            <a:endParaRPr lang="zh-CN" altLang="en-US" sz="2000" dirty="0">
              <a:latin typeface="楷体_GB2312" panose="02010609030101010101" pitchFamily="49" charset="-122"/>
            </a:endParaRPr>
          </a:p>
        </p:txBody>
      </p:sp>
      <p:sp>
        <p:nvSpPr>
          <p:cNvPr id="152581" name="Text Box 5"/>
          <p:cNvSpPr txBox="1"/>
          <p:nvPr/>
        </p:nvSpPr>
        <p:spPr>
          <a:xfrm>
            <a:off x="582295" y="4669155"/>
            <a:ext cx="9610090" cy="74231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lnSpc>
                <a:spcPct val="95000"/>
              </a:lnSpc>
              <a:spcBef>
                <a:spcPct val="4000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⑶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对任一结点，若其右子树上的子孙的最大层次为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，那么其左子树上的子孙的最大层次为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k+1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2582" name="Text Box 6"/>
          <p:cNvSpPr txBox="1"/>
          <p:nvPr/>
        </p:nvSpPr>
        <p:spPr>
          <a:xfrm>
            <a:off x="582295" y="5497195"/>
            <a:ext cx="10440670" cy="98996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lnSpc>
                <a:spcPct val="95000"/>
              </a:lnSpc>
              <a:spcBef>
                <a:spcPct val="4000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⑷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个结点的完全二叉树的深度为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其中，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表示向下取整，即取</a:t>
            </a:r>
            <a:r>
              <a:rPr lang="en-US"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的最大整数；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表示向上取整，即取</a:t>
            </a:r>
            <a:r>
              <a:rPr lang="en-US"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的最小整数。</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2583" name="Text Box 7"/>
          <p:cNvSpPr txBox="1"/>
          <p:nvPr/>
        </p:nvSpPr>
        <p:spPr>
          <a:xfrm>
            <a:off x="582295" y="3597275"/>
            <a:ext cx="9932670" cy="38354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lnSpc>
                <a:spcPct val="95000"/>
              </a:lnSpc>
              <a:spcBef>
                <a:spcPct val="40000"/>
              </a:spcBef>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⑴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若完全二叉树的深度为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h</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，则它的前</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h-1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层是全满的</a:t>
            </a:r>
            <a:r>
              <a:rPr lang="zh-CN" altLang="en-US" sz="2000" dirty="0">
                <a:latin typeface="楷体_GB2312" panose="02010609030101010101" pitchFamily="49" charset="-122"/>
              </a:rPr>
              <a:t>。</a:t>
            </a:r>
            <a:endParaRPr lang="zh-CN" altLang="en-US" sz="2000" dirty="0">
              <a:latin typeface="楷体_GB2312" panose="02010609030101010101" pitchFamily="49" charset="-122"/>
            </a:endParaRPr>
          </a:p>
        </p:txBody>
      </p:sp>
      <p:graphicFrame>
        <p:nvGraphicFramePr>
          <p:cNvPr id="152584" name="Object 8"/>
          <p:cNvGraphicFramePr>
            <a:graphicFrameLocks noChangeAspect="1"/>
          </p:cNvGraphicFramePr>
          <p:nvPr/>
        </p:nvGraphicFramePr>
        <p:xfrm>
          <a:off x="4736465" y="5452745"/>
          <a:ext cx="2445385" cy="379095"/>
        </p:xfrm>
        <a:graphic>
          <a:graphicData uri="http://schemas.openxmlformats.org/presentationml/2006/ole">
            <mc:AlternateContent xmlns:mc="http://schemas.openxmlformats.org/markup-compatibility/2006">
              <mc:Choice xmlns:v="urn:schemas-microsoft-com:vml" Requires="v">
                <p:oleObj spid="_x0000_s3089" name="" r:id="rId1" imgW="1396365" imgH="215900" progId="Equation.3">
                  <p:embed/>
                </p:oleObj>
              </mc:Choice>
              <mc:Fallback>
                <p:oleObj name="" r:id="rId1" imgW="1396365" imgH="215900" progId="Equation.3">
                  <p:embed/>
                  <p:pic>
                    <p:nvPicPr>
                      <p:cNvPr id="0" name="图片 3088"/>
                      <p:cNvPicPr/>
                      <p:nvPr/>
                    </p:nvPicPr>
                    <p:blipFill>
                      <a:blip r:embed="rId2"/>
                      <a:stretch>
                        <a:fillRect/>
                      </a:stretch>
                    </p:blipFill>
                    <p:spPr>
                      <a:xfrm>
                        <a:off x="4736465" y="5452745"/>
                        <a:ext cx="2445385" cy="379095"/>
                      </a:xfrm>
                      <a:prstGeom prst="rect">
                        <a:avLst/>
                      </a:prstGeom>
                      <a:noFill/>
                      <a:ln w="38100">
                        <a:noFill/>
                        <a:miter/>
                      </a:ln>
                    </p:spPr>
                  </p:pic>
                </p:oleObj>
              </mc:Fallback>
            </mc:AlternateContent>
          </a:graphicData>
        </a:graphic>
      </p:graphicFrame>
      <p:graphicFrame>
        <p:nvGraphicFramePr>
          <p:cNvPr id="152585" name="Object 9"/>
          <p:cNvGraphicFramePr>
            <a:graphicFrameLocks noChangeAspect="1"/>
          </p:cNvGraphicFramePr>
          <p:nvPr/>
        </p:nvGraphicFramePr>
        <p:xfrm>
          <a:off x="8027035" y="5521960"/>
          <a:ext cx="372110" cy="353060"/>
        </p:xfrm>
        <a:graphic>
          <a:graphicData uri="http://schemas.openxmlformats.org/presentationml/2006/ole">
            <mc:AlternateContent xmlns:mc="http://schemas.openxmlformats.org/markup-compatibility/2006">
              <mc:Choice xmlns:v="urn:schemas-microsoft-com:vml" Requires="v">
                <p:oleObj spid="_x0000_s3091" name="" r:id="rId3" imgW="241300" imgH="228600" progId="Equation.3">
                  <p:embed/>
                </p:oleObj>
              </mc:Choice>
              <mc:Fallback>
                <p:oleObj name="" r:id="rId3" imgW="241300" imgH="228600" progId="Equation.3">
                  <p:embed/>
                  <p:pic>
                    <p:nvPicPr>
                      <p:cNvPr id="0" name="图片 3090"/>
                      <p:cNvPicPr/>
                      <p:nvPr/>
                    </p:nvPicPr>
                    <p:blipFill>
                      <a:blip r:embed="rId4"/>
                      <a:stretch>
                        <a:fillRect/>
                      </a:stretch>
                    </p:blipFill>
                    <p:spPr>
                      <a:xfrm>
                        <a:off x="8027035" y="5521960"/>
                        <a:ext cx="372110" cy="353060"/>
                      </a:xfrm>
                      <a:prstGeom prst="rect">
                        <a:avLst/>
                      </a:prstGeom>
                      <a:noFill/>
                      <a:ln w="38100">
                        <a:noFill/>
                        <a:miter/>
                      </a:ln>
                    </p:spPr>
                  </p:pic>
                </p:oleObj>
              </mc:Fallback>
            </mc:AlternateContent>
          </a:graphicData>
        </a:graphic>
      </p:graphicFrame>
      <p:graphicFrame>
        <p:nvGraphicFramePr>
          <p:cNvPr id="152586" name="Object 10"/>
          <p:cNvGraphicFramePr>
            <a:graphicFrameLocks noChangeAspect="1"/>
          </p:cNvGraphicFramePr>
          <p:nvPr/>
        </p:nvGraphicFramePr>
        <p:xfrm>
          <a:off x="2766060" y="5875020"/>
          <a:ext cx="361315" cy="337185"/>
        </p:xfrm>
        <a:graphic>
          <a:graphicData uri="http://schemas.openxmlformats.org/presentationml/2006/ole">
            <mc:AlternateContent xmlns:mc="http://schemas.openxmlformats.org/markup-compatibility/2006">
              <mc:Choice xmlns:v="urn:schemas-microsoft-com:vml" Requires="v">
                <p:oleObj spid="_x0000_s3090" name="" r:id="rId5" imgW="241300" imgH="228600" progId="Equation.3">
                  <p:embed/>
                </p:oleObj>
              </mc:Choice>
              <mc:Fallback>
                <p:oleObj name="" r:id="rId5" imgW="241300" imgH="228600" progId="Equation.3">
                  <p:embed/>
                  <p:pic>
                    <p:nvPicPr>
                      <p:cNvPr id="0" name="图片 3089"/>
                      <p:cNvPicPr/>
                      <p:nvPr/>
                    </p:nvPicPr>
                    <p:blipFill>
                      <a:blip r:embed="rId6"/>
                      <a:stretch>
                        <a:fillRect/>
                      </a:stretch>
                    </p:blipFill>
                    <p:spPr>
                      <a:xfrm>
                        <a:off x="2766060" y="5875020"/>
                        <a:ext cx="361315" cy="337185"/>
                      </a:xfrm>
                      <a:prstGeom prst="rect">
                        <a:avLst/>
                      </a:prstGeom>
                      <a:noFill/>
                      <a:ln w="38100">
                        <a:noFill/>
                        <a:miter/>
                      </a:ln>
                    </p:spPr>
                  </p:pic>
                </p:oleObj>
              </mc:Fallback>
            </mc:AlternateContent>
          </a:graphicData>
        </a:graphic>
      </p:graphicFrame>
      <p:sp>
        <p:nvSpPr>
          <p:cNvPr id="152587" name="Text Box 11"/>
          <p:cNvSpPr txBox="1"/>
          <p:nvPr/>
        </p:nvSpPr>
        <p:spPr>
          <a:xfrm>
            <a:off x="683895" y="2861310"/>
            <a:ext cx="2895600" cy="460375"/>
          </a:xfrm>
          <a:prstGeom prst="rect">
            <a:avLst/>
          </a:prstGeom>
          <a:solidFill>
            <a:schemeClr val="accent1">
              <a:lumMod val="20000"/>
              <a:lumOff val="80000"/>
            </a:schemeClr>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完全二叉树的性质： </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4.2.2 几种特殊形态的二叉树</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3" name="矩形 412"/>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5741035" y="6489700"/>
            <a:ext cx="265811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9103360" y="6489700"/>
            <a:ext cx="222885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393065" y="6489700"/>
            <a:ext cx="3362960" cy="36830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3691255" y="6489700"/>
            <a:ext cx="2042160" cy="36830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sp>
        <p:nvSpPr>
          <p:cNvPr id="6" name="燕尾形 5"/>
          <p:cNvSpPr/>
          <p:nvPr/>
        </p:nvSpPr>
        <p:spPr>
          <a:xfrm>
            <a:off x="3963217" y="6572645"/>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852079" y="6572645"/>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2587"/>
                                        </p:tgtEl>
                                        <p:attrNameLst>
                                          <p:attrName>style.visibility</p:attrName>
                                        </p:attrNameLst>
                                      </p:cBhvr>
                                      <p:to>
                                        <p:strVal val="visible"/>
                                      </p:to>
                                    </p:set>
                                    <p:anim calcmode="lin" valueType="num">
                                      <p:cBhvr additive="base">
                                        <p:cTn id="7" dur="500" fill="hold"/>
                                        <p:tgtEl>
                                          <p:spTgt spid="152587"/>
                                        </p:tgtEl>
                                        <p:attrNameLst>
                                          <p:attrName>ppt_x</p:attrName>
                                        </p:attrNameLst>
                                      </p:cBhvr>
                                      <p:tavLst>
                                        <p:tav tm="0">
                                          <p:val>
                                            <p:strVal val="#ppt_x"/>
                                          </p:val>
                                        </p:tav>
                                        <p:tav tm="100000">
                                          <p:val>
                                            <p:strVal val="#ppt_x"/>
                                          </p:val>
                                        </p:tav>
                                      </p:tavLst>
                                    </p:anim>
                                    <p:anim calcmode="lin" valueType="num">
                                      <p:cBhvr additive="base">
                                        <p:cTn id="8" dur="500" fill="hold"/>
                                        <p:tgtEl>
                                          <p:spTgt spid="1525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52583"/>
                                        </p:tgtEl>
                                        <p:attrNameLst>
                                          <p:attrName>style.visibility</p:attrName>
                                        </p:attrNameLst>
                                      </p:cBhvr>
                                      <p:to>
                                        <p:strVal val="visible"/>
                                      </p:to>
                                    </p:set>
                                    <p:anim calcmode="lin" valueType="num">
                                      <p:cBhvr additive="base">
                                        <p:cTn id="13" dur="500" fill="hold"/>
                                        <p:tgtEl>
                                          <p:spTgt spid="152583"/>
                                        </p:tgtEl>
                                        <p:attrNameLst>
                                          <p:attrName>ppt_x</p:attrName>
                                        </p:attrNameLst>
                                      </p:cBhvr>
                                      <p:tavLst>
                                        <p:tav tm="0">
                                          <p:val>
                                            <p:strVal val="1+#ppt_w/2"/>
                                          </p:val>
                                        </p:tav>
                                        <p:tav tm="100000">
                                          <p:val>
                                            <p:strVal val="#ppt_x"/>
                                          </p:val>
                                        </p:tav>
                                      </p:tavLst>
                                    </p:anim>
                                    <p:anim calcmode="lin" valueType="num">
                                      <p:cBhvr additive="base">
                                        <p:cTn id="14" dur="500" fill="hold"/>
                                        <p:tgtEl>
                                          <p:spTgt spid="15258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152580"/>
                                        </p:tgtEl>
                                        <p:attrNameLst>
                                          <p:attrName>style.visibility</p:attrName>
                                        </p:attrNameLst>
                                      </p:cBhvr>
                                      <p:to>
                                        <p:strVal val="visible"/>
                                      </p:to>
                                    </p:set>
                                    <p:anim calcmode="lin" valueType="num">
                                      <p:cBhvr additive="base">
                                        <p:cTn id="19" dur="500" fill="hold"/>
                                        <p:tgtEl>
                                          <p:spTgt spid="152580"/>
                                        </p:tgtEl>
                                        <p:attrNameLst>
                                          <p:attrName>ppt_x</p:attrName>
                                        </p:attrNameLst>
                                      </p:cBhvr>
                                      <p:tavLst>
                                        <p:tav tm="0">
                                          <p:val>
                                            <p:strVal val="1+#ppt_w/2"/>
                                          </p:val>
                                        </p:tav>
                                        <p:tav tm="100000">
                                          <p:val>
                                            <p:strVal val="#ppt_x"/>
                                          </p:val>
                                        </p:tav>
                                      </p:tavLst>
                                    </p:anim>
                                    <p:anim calcmode="lin" valueType="num">
                                      <p:cBhvr additive="base">
                                        <p:cTn id="20" dur="500" fill="hold"/>
                                        <p:tgtEl>
                                          <p:spTgt spid="15258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52581"/>
                                        </p:tgtEl>
                                        <p:attrNameLst>
                                          <p:attrName>style.visibility</p:attrName>
                                        </p:attrNameLst>
                                      </p:cBhvr>
                                      <p:to>
                                        <p:strVal val="visible"/>
                                      </p:to>
                                    </p:set>
                                    <p:anim calcmode="lin" valueType="num">
                                      <p:cBhvr additive="base">
                                        <p:cTn id="25" dur="500" fill="hold"/>
                                        <p:tgtEl>
                                          <p:spTgt spid="152581"/>
                                        </p:tgtEl>
                                        <p:attrNameLst>
                                          <p:attrName>ppt_x</p:attrName>
                                        </p:attrNameLst>
                                      </p:cBhvr>
                                      <p:tavLst>
                                        <p:tav tm="0">
                                          <p:val>
                                            <p:strVal val="1+#ppt_w/2"/>
                                          </p:val>
                                        </p:tav>
                                        <p:tav tm="100000">
                                          <p:val>
                                            <p:strVal val="#ppt_x"/>
                                          </p:val>
                                        </p:tav>
                                      </p:tavLst>
                                    </p:anim>
                                    <p:anim calcmode="lin" valueType="num">
                                      <p:cBhvr additive="base">
                                        <p:cTn id="26" dur="500" fill="hold"/>
                                        <p:tgtEl>
                                          <p:spTgt spid="15258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152582"/>
                                        </p:tgtEl>
                                        <p:attrNameLst>
                                          <p:attrName>style.visibility</p:attrName>
                                        </p:attrNameLst>
                                      </p:cBhvr>
                                      <p:to>
                                        <p:strVal val="visible"/>
                                      </p:to>
                                    </p:set>
                                    <p:anim calcmode="lin" valueType="num">
                                      <p:cBhvr additive="base">
                                        <p:cTn id="31" dur="500" fill="hold"/>
                                        <p:tgtEl>
                                          <p:spTgt spid="152582"/>
                                        </p:tgtEl>
                                        <p:attrNameLst>
                                          <p:attrName>ppt_x</p:attrName>
                                        </p:attrNameLst>
                                      </p:cBhvr>
                                      <p:tavLst>
                                        <p:tav tm="0">
                                          <p:val>
                                            <p:strVal val="1+#ppt_w/2"/>
                                          </p:val>
                                        </p:tav>
                                        <p:tav tm="100000">
                                          <p:val>
                                            <p:strVal val="#ppt_x"/>
                                          </p:val>
                                        </p:tav>
                                      </p:tavLst>
                                    </p:anim>
                                    <p:anim calcmode="lin" valueType="num">
                                      <p:cBhvr additive="base">
                                        <p:cTn id="32" dur="500" fill="hold"/>
                                        <p:tgtEl>
                                          <p:spTgt spid="152582"/>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0"/>
                                          </p:stCondLst>
                                        </p:cTn>
                                        <p:tgtEl>
                                          <p:spTgt spid="152584"/>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52585"/>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52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0" grpId="0"/>
      <p:bldP spid="152581" grpId="0"/>
      <p:bldP spid="152582" grpId="0"/>
      <p:bldP spid="152583" grpId="0"/>
      <p:bldP spid="152587"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Rectangle 3"/>
          <p:cNvSpPr>
            <a:spLocks noGrp="1"/>
          </p:cNvSpPr>
          <p:nvPr>
            <p:ph type="body" idx="4294967295"/>
          </p:nvPr>
        </p:nvSpPr>
        <p:spPr>
          <a:xfrm>
            <a:off x="284480" y="1196340"/>
            <a:ext cx="10442575" cy="4412615"/>
          </a:xfrm>
        </p:spPr>
        <p:txBody>
          <a:bodyPr vert="horz" wrap="square" lIns="91440" tIns="45720" rIns="91440" bIns="45720" anchor="t" anchorCtr="0"/>
          <a:p>
            <a:pPr marL="457200" indent="-457200">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拟满二叉树：一棵具有</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个结点且深度为k的二叉树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若前</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1层的结点数都达到最大，剩余的结点在第</a:t>
            </a:r>
            <a:r>
              <a:rPr lang="zh-CN"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层中随机分布则称其为拟满二叉树。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正则二叉树：在一棵二叉树中，如果只存在度为0和度为2的结点则称其为正则二叉树。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平衡二叉树：在一棵二叉树中，若其任一子树均满足</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|左子树的深度–右子树的深度|≤1</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，则称其为平衡二叉树</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4.2.2 几种特殊形态的二叉树</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3" name="矩形 412"/>
          <p:cNvSpPr/>
          <p:nvPr/>
        </p:nvSpPr>
        <p:spPr>
          <a:xfrm>
            <a:off x="1" y="6437376"/>
            <a:ext cx="12191999" cy="42062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5741035" y="6489700"/>
            <a:ext cx="265811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9103360" y="6489700"/>
            <a:ext cx="2228850" cy="36830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393065" y="6489700"/>
            <a:ext cx="3362960" cy="36830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3691255" y="6489700"/>
            <a:ext cx="2042160" cy="36830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sp>
        <p:nvSpPr>
          <p:cNvPr id="6" name="燕尾形 5"/>
          <p:cNvSpPr/>
          <p:nvPr/>
        </p:nvSpPr>
        <p:spPr>
          <a:xfrm>
            <a:off x="3963217" y="6572645"/>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 name="燕尾形 7"/>
          <p:cNvSpPr/>
          <p:nvPr/>
        </p:nvSpPr>
        <p:spPr>
          <a:xfrm>
            <a:off x="3852079" y="6572645"/>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Rectangle 28"/>
          <p:cNvSpPr/>
          <p:nvPr/>
        </p:nvSpPr>
        <p:spPr>
          <a:xfrm>
            <a:off x="5942965" y="1915478"/>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20484" name="Object 27"/>
          <p:cNvGraphicFramePr>
            <a:graphicFrameLocks noChangeAspect="1"/>
          </p:cNvGraphicFramePr>
          <p:nvPr/>
        </p:nvGraphicFramePr>
        <p:xfrm>
          <a:off x="1228725" y="1172210"/>
          <a:ext cx="8678545" cy="5393690"/>
        </p:xfrm>
        <a:graphic>
          <a:graphicData uri="http://schemas.openxmlformats.org/presentationml/2006/ole">
            <mc:AlternateContent xmlns:mc="http://schemas.openxmlformats.org/markup-compatibility/2006">
              <mc:Choice xmlns:v="urn:schemas-microsoft-com:vml" Requires="v">
                <p:oleObj spid="_x0000_s3088" name="" r:id="rId1" imgW="5715000" imgH="3556000" progId="Visio.Drawing.11">
                  <p:embed/>
                </p:oleObj>
              </mc:Choice>
              <mc:Fallback>
                <p:oleObj name="" r:id="rId1" imgW="5715000" imgH="3556000" progId="Visio.Drawing.11">
                  <p:embed/>
                  <p:pic>
                    <p:nvPicPr>
                      <p:cNvPr id="0" name="图片 3087"/>
                      <p:cNvPicPr/>
                      <p:nvPr/>
                    </p:nvPicPr>
                    <p:blipFill>
                      <a:blip r:embed="rId2"/>
                      <a:stretch>
                        <a:fillRect/>
                      </a:stretch>
                    </p:blipFill>
                    <p:spPr>
                      <a:xfrm>
                        <a:off x="1228725" y="1172210"/>
                        <a:ext cx="8678545" cy="5393690"/>
                      </a:xfrm>
                      <a:prstGeom prst="rect">
                        <a:avLst/>
                      </a:prstGeom>
                      <a:noFill/>
                      <a:ln w="38100">
                        <a:noFill/>
                        <a:miter/>
                      </a:ln>
                    </p:spPr>
                  </p:pic>
                </p:oleObj>
              </mc:Fallback>
            </mc:AlternateContent>
          </a:graphicData>
        </a:graphic>
      </p:graphicFrame>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4.2.2 几种特殊形态的二叉树</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Rectangle 3"/>
          <p:cNvSpPr>
            <a:spLocks noGrp="1"/>
          </p:cNvSpPr>
          <p:nvPr>
            <p:ph idx="1"/>
          </p:nvPr>
        </p:nvSpPr>
        <p:spPr>
          <a:xfrm>
            <a:off x="502285" y="1244600"/>
            <a:ext cx="10851515" cy="4932680"/>
          </a:xfrm>
        </p:spPr>
        <p:txBody>
          <a:bodyPr vert="horz" wrap="square" lIns="91440" tIns="45720" rIns="91440" bIns="45720" anchor="t" anchorCtr="0">
            <a:normAutofit lnSpcReduction="10000"/>
          </a:bodyPr>
          <a:p>
            <a:pPr eaLnBrk="1" hangingPunct="1">
              <a:lnSpc>
                <a:spcPct val="15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二叉树性质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在二叉树的第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层上至多有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i-1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个结点。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914400" lvl="2" indent="0" eaLnBrk="1" hangingPunct="1">
              <a:lnSpc>
                <a:spcPct val="150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证明：用归纳法证明之</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1714500" lvl="3" indent="-457200" eaLnBrk="1" hangingPunct="1">
              <a:lnSpc>
                <a:spcPct val="150000"/>
              </a:lnSpc>
              <a:buFont typeface="Times New Roman" panose="02020603050405020304" pitchFamily="18" charset="0"/>
              <a:buAutoNum type="arabicPeriod"/>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时，只有一个根结点，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2</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；命题成立</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1714500" lvl="3" indent="-457200" eaLnBrk="1" hangingPunct="1">
              <a:lnSpc>
                <a:spcPct val="150000"/>
              </a:lnSpc>
              <a:buFont typeface="Times New Roman" panose="02020603050405020304" pitchFamily="18" charset="0"/>
              <a:buAutoNum type="arabicPeriod"/>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假设对所有</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j</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j&lt;i</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命题成立，即第</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层上至多有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j</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个结点，那么，第</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层至多有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个结点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1714500" lvl="3" indent="-457200" eaLnBrk="1" hangingPunct="1">
              <a:lnSpc>
                <a:spcPct val="150000"/>
              </a:lnSpc>
              <a:buFont typeface="Times New Roman" panose="02020603050405020304" pitchFamily="18" charset="0"/>
              <a:buAutoNum type="arabicPeriod"/>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二叉树每个结点的度至多为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层上最大结点数是第</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层的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倍，即，</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1714500" lvl="3" indent="-457200" algn="ctr" eaLnBrk="1" hangingPunct="1">
              <a:lnSpc>
                <a:spcPct val="150000"/>
              </a:lnSpc>
              <a:buFont typeface="Times New Roman" panose="02020603050405020304" pitchFamily="18" charset="0"/>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2 = 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1714500" lvl="3" indent="-457200" eaLnBrk="1" hangingPunct="1">
              <a:lnSpc>
                <a:spcPct val="15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故命题得证。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50000"/>
              </a:lnSpc>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4.2.3 二叉树的性质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1" name="Rectangle 3"/>
          <p:cNvSpPr>
            <a:spLocks noGrp="1"/>
          </p:cNvSpPr>
          <p:nvPr>
            <p:ph idx="1"/>
          </p:nvPr>
        </p:nvSpPr>
        <p:spPr>
          <a:xfrm>
            <a:off x="418465" y="1141095"/>
            <a:ext cx="11508740" cy="2364105"/>
          </a:xfrm>
        </p:spPr>
        <p:txBody>
          <a:bodyPr vert="horz" wrap="square" lIns="91440" tIns="45720" rIns="91440" bIns="45720" anchor="t" anchorCtr="0"/>
          <a:p>
            <a:pPr eaLnBrk="1" hangingPunct="1">
              <a:lnSpc>
                <a:spcPct val="14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二叉树性质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深度为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的二叉树上至多含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个结点（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证明</a:t>
            </a:r>
            <a:b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基于上一条性质，深度为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的二叉树上的结点数至多为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437" name="Text Box 5"/>
          <p:cNvSpPr txBox="1"/>
          <p:nvPr/>
        </p:nvSpPr>
        <p:spPr>
          <a:xfrm>
            <a:off x="932815" y="4114800"/>
            <a:ext cx="10474325" cy="978535"/>
          </a:xfrm>
          <a:prstGeom prst="rect">
            <a:avLst/>
          </a:prstGeom>
          <a:noFill/>
          <a:ln w="38100" cap="flat" cmpd="dbl">
            <a:solidFill>
              <a:schemeClr val="tx1"/>
            </a:solidFill>
            <a:prstDash val="solid"/>
            <a:miter/>
            <a:headEnd type="none" w="med" len="med"/>
            <a:tailEnd type="none" w="med" len="med"/>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0000"/>
              </a:lnSpc>
              <a:spcBef>
                <a:spcPct val="40000"/>
              </a:spcBef>
              <a:buNone/>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练习：已知完全二叉树的第七层有</a:t>
            </a:r>
            <a:r>
              <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个叶子结点，则整个二叉树的结点数最多有多少？</a:t>
            </a:r>
            <a:endPar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extBox 1"/>
          <p:cNvSpPr txBox="1"/>
          <p:nvPr/>
        </p:nvSpPr>
        <p:spPr>
          <a:xfrm>
            <a:off x="6880860" y="4900930"/>
            <a:ext cx="838200" cy="521970"/>
          </a:xfrm>
          <a:prstGeom prst="rect">
            <a:avLst/>
          </a:prstGeom>
          <a:solidFill>
            <a:schemeClr val="accent1">
              <a:lumMod val="20000"/>
              <a:lumOff val="80000"/>
            </a:schemeClr>
          </a:solidFill>
          <a:ln>
            <a:solidFill>
              <a:schemeClr val="tx1"/>
            </a:solidFill>
          </a:ln>
        </p:spPr>
        <p:txBody>
          <a:bodyPr>
            <a:spAutoFit/>
          </a:bodyPr>
          <a:lstStyle/>
          <a:p>
            <a:pPr marR="0" algn="ctr" defTabSz="914400" eaLnBrk="1" hangingPunct="1">
              <a:buClrTx/>
              <a:buSzTx/>
              <a:buFontTx/>
              <a:buNone/>
              <a:defRPr/>
            </a:pPr>
            <a:r>
              <a:rPr kumimoji="0" lang="en-US" altLang="zh-CN" sz="2800" b="0" kern="1200" cap="none" spc="0" normalizeH="0" baseline="0" noProof="0" dirty="0">
                <a:solidFill>
                  <a:schemeClr val="tx1"/>
                </a:solidFill>
                <a:latin typeface="Consolas" panose="020B0609020204030204" pitchFamily="49" charset="0"/>
                <a:ea typeface="楷体_GB2312" panose="02010609030101010101" pitchFamily="49" charset="-122"/>
                <a:cs typeface="+mn-cs"/>
              </a:rPr>
              <a:t>235</a:t>
            </a:r>
            <a:endParaRPr kumimoji="0" lang="zh-CN" altLang="en-US" sz="2800" b="0" kern="1200" cap="none" spc="0" normalizeH="0" baseline="0" noProof="0" dirty="0">
              <a:solidFill>
                <a:schemeClr val="tx1"/>
              </a:solidFill>
              <a:latin typeface="Consolas" panose="020B0609020204030204" pitchFamily="49" charset="0"/>
              <a:ea typeface="楷体_GB2312" panose="02010609030101010101" pitchFamily="49" charset="-122"/>
              <a:cs typeface="+mn-cs"/>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4.2.3 二叉树的性质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 calcmode="lin" valueType="num">
                                      <p:cBhvr additive="base">
                                        <p:cTn id="7" dur="500" fill="hold"/>
                                        <p:tgtEl>
                                          <p:spTgt spid="18437"/>
                                        </p:tgtEl>
                                        <p:attrNameLst>
                                          <p:attrName>ppt_x</p:attrName>
                                        </p:attrNameLst>
                                      </p:cBhvr>
                                      <p:tavLst>
                                        <p:tav tm="0">
                                          <p:val>
                                            <p:strVal val="#ppt_x"/>
                                          </p:val>
                                        </p:tav>
                                        <p:tav tm="100000">
                                          <p:val>
                                            <p:strVal val="#ppt_x"/>
                                          </p:val>
                                        </p:tav>
                                      </p:tavLst>
                                    </p:anim>
                                    <p:anim calcmode="lin" valueType="num">
                                      <p:cBhvr additive="base">
                                        <p:cTn id="8"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ldLvl="0" animBg="1"/>
      <p:bldP spid="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5" name="Rectangle 3"/>
          <p:cNvSpPr>
            <a:spLocks noGrp="1"/>
          </p:cNvSpPr>
          <p:nvPr>
            <p:ph idx="1"/>
          </p:nvPr>
        </p:nvSpPr>
        <p:spPr>
          <a:xfrm>
            <a:off x="311150" y="1044575"/>
            <a:ext cx="11042650" cy="5132705"/>
          </a:xfrm>
        </p:spPr>
        <p:txBody>
          <a:bodyPr vert="horz" wrap="square" lIns="91440" tIns="45720" rIns="91440" bIns="45720" anchor="t" anchorCtr="0">
            <a:normAutofit lnSpcReduction="10000"/>
          </a:bodyPr>
          <a:p>
            <a:pPr eaLnBrk="1" hangingPunct="1">
              <a:lnSpc>
                <a:spcPct val="11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二叉树性质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2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对任何一棵二叉树，若它含有</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个叶子结点、</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个度为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的结点，则必存在关系式：</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i="1" baseline="-25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2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证明：</a:t>
            </a:r>
            <a:b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设</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为二叉树中度为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的结点数，</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2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）从结点的角度考虑：</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gn="ctr" eaLnBrk="1" hangingPunct="1">
              <a:lnSpc>
                <a:spcPct val="12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二叉树上结点总数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 = 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2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）从分支数目考虑：</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gn="ctr" eaLnBrk="1" hangingPunct="1">
              <a:lnSpc>
                <a:spcPct val="12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二叉树上分支总数</a:t>
            </a:r>
            <a:r>
              <a:rPr lang="zh-CN" altLang="en-US" sz="20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+2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gn="ctr" eaLnBrk="1" hangingPunct="1">
              <a:lnSpc>
                <a:spcPct val="12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又因为，</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2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所以，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B = 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 =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b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由此，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10000"/>
              </a:lnSpc>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4.2.3 二叉树的性质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1" name="Rectangle 3"/>
          <p:cNvSpPr>
            <a:spLocks noGrp="1"/>
          </p:cNvSpPr>
          <p:nvPr>
            <p:ph idx="1"/>
          </p:nvPr>
        </p:nvSpPr>
        <p:spPr>
          <a:xfrm>
            <a:off x="582295" y="1295400"/>
            <a:ext cx="10507980" cy="4876800"/>
          </a:xfrm>
        </p:spPr>
        <p:txBody>
          <a:bodyPr vert="horz" wrap="square" lIns="91440" tIns="45720" rIns="91440" bIns="45720" anchor="t" anchorCtr="0"/>
          <a:p>
            <a:pPr>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证明：一棵二叉树中的结点的度或为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或为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，则二叉树的枝数为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是度为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的结点的个数。</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pP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课后习题</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：如果在一棵树中有</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个度为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的结点，有</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个度为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的结点，</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个度为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的结点，试问有多少个度为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的结点？多少个分支结点？</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4.2.3 二叉树的性质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0531">
                                            <p:txEl>
                                              <p:charRg st="56" end="125"/>
                                            </p:txEl>
                                          </p:spTgt>
                                        </p:tgtEl>
                                        <p:attrNameLst>
                                          <p:attrName>style.visibility</p:attrName>
                                        </p:attrNameLst>
                                      </p:cBhvr>
                                      <p:to>
                                        <p:strVal val="visible"/>
                                      </p:to>
                                    </p:set>
                                    <p:animEffect transition="in" filter="fade">
                                      <p:cBhvr>
                                        <p:cTn id="7" dur="1000"/>
                                        <p:tgtEl>
                                          <p:spTgt spid="150531">
                                            <p:txEl>
                                              <p:charRg st="56" end="125"/>
                                            </p:txEl>
                                          </p:spTgt>
                                        </p:tgtEl>
                                      </p:cBhvr>
                                    </p:animEffect>
                                    <p:anim calcmode="lin" valueType="num">
                                      <p:cBhvr>
                                        <p:cTn id="8" dur="1000" fill="hold"/>
                                        <p:tgtEl>
                                          <p:spTgt spid="150531">
                                            <p:txEl>
                                              <p:charRg st="56" end="125"/>
                                            </p:txEl>
                                          </p:spTgt>
                                        </p:tgtEl>
                                        <p:attrNameLst>
                                          <p:attrName>ppt_x</p:attrName>
                                        </p:attrNameLst>
                                      </p:cBhvr>
                                      <p:tavLst>
                                        <p:tav tm="0">
                                          <p:val>
                                            <p:strVal val="#ppt_x"/>
                                          </p:val>
                                        </p:tav>
                                        <p:tav tm="100000">
                                          <p:val>
                                            <p:strVal val="#ppt_x"/>
                                          </p:val>
                                        </p:tav>
                                      </p:tavLst>
                                    </p:anim>
                                    <p:anim calcmode="lin" valueType="num">
                                      <p:cBhvr>
                                        <p:cTn id="9" dur="1000" fill="hold"/>
                                        <p:tgtEl>
                                          <p:spTgt spid="150531">
                                            <p:txEl>
                                              <p:charRg st="56" end="12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3" name="Rectangle 3"/>
          <p:cNvSpPr>
            <a:spLocks noGrp="1"/>
          </p:cNvSpPr>
          <p:nvPr>
            <p:ph type="body" sz="half" idx="1"/>
          </p:nvPr>
        </p:nvSpPr>
        <p:spPr>
          <a:xfrm>
            <a:off x="546100" y="1140460"/>
            <a:ext cx="9817100" cy="5186045"/>
          </a:xfrm>
        </p:spPr>
        <p:txBody>
          <a:bodyPr vert="horz" wrap="square" lIns="91440" tIns="45720" rIns="91440" bIns="45720" anchor="t" anchorCtr="0"/>
          <a:p>
            <a:pPr eaLnBrk="1" hangingPunct="1">
              <a:lnSpc>
                <a:spcPct val="140000"/>
              </a:lnSpc>
              <a:buClrTx/>
              <a:buSzTx/>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二叉树性质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4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具有</a:t>
            </a:r>
            <a:r>
              <a:rPr lang="zh-CN" altLang="en-US" sz="20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个结点的完全二叉树的深度为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4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证明</a:t>
            </a:r>
            <a:b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设完全二叉树的深度为</a:t>
            </a:r>
            <a:r>
              <a:rPr lang="zh-CN" altLang="en-US" sz="20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b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则根据第二条性质得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baseline="30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n &lt;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baseline="30000"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b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log</a:t>
            </a:r>
            <a:r>
              <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 n &lt; k</a:t>
            </a:r>
            <a:b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因为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只能是整数，因此，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k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ClrTx/>
              <a:buSzTx/>
              <a:buFontTx/>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5604" name="Object 4"/>
          <p:cNvGraphicFramePr>
            <a:graphicFrameLocks noGrp="1" noChangeAspect="1"/>
          </p:cNvGraphicFramePr>
          <p:nvPr>
            <p:ph sz="quarter" idx="2"/>
          </p:nvPr>
        </p:nvGraphicFramePr>
        <p:xfrm>
          <a:off x="5433060" y="1781810"/>
          <a:ext cx="1149350" cy="534988"/>
        </p:xfrm>
        <a:graphic>
          <a:graphicData uri="http://schemas.openxmlformats.org/presentationml/2006/ole">
            <mc:AlternateContent xmlns:mc="http://schemas.openxmlformats.org/markup-compatibility/2006">
              <mc:Choice xmlns:v="urn:schemas-microsoft-com:vml" Requires="v">
                <p:oleObj spid="_x0000_s3092" name="" r:id="rId1" imgW="545465" imgH="254000" progId="Equation.DSMT4">
                  <p:embed/>
                </p:oleObj>
              </mc:Choice>
              <mc:Fallback>
                <p:oleObj name="" r:id="rId1" imgW="545465" imgH="254000" progId="Equation.DSMT4">
                  <p:embed/>
                  <p:pic>
                    <p:nvPicPr>
                      <p:cNvPr id="0" name="图片 3091"/>
                      <p:cNvPicPr/>
                      <p:nvPr/>
                    </p:nvPicPr>
                    <p:blipFill>
                      <a:blip r:embed="rId2"/>
                      <a:srcRect/>
                      <a:stretch>
                        <a:fillRect/>
                      </a:stretch>
                    </p:blipFill>
                    <p:spPr>
                      <a:xfrm>
                        <a:off x="5433060" y="1781810"/>
                        <a:ext cx="1149350" cy="534988"/>
                      </a:xfrm>
                      <a:prstGeom prst="rect">
                        <a:avLst/>
                      </a:prstGeom>
                      <a:noFill/>
                      <a:ln w="38100">
                        <a:miter/>
                      </a:ln>
                    </p:spPr>
                  </p:pic>
                </p:oleObj>
              </mc:Fallback>
            </mc:AlternateContent>
          </a:graphicData>
        </a:graphic>
      </p:graphicFrame>
      <p:graphicFrame>
        <p:nvGraphicFramePr>
          <p:cNvPr id="25605" name="Object 6"/>
          <p:cNvGraphicFramePr>
            <a:graphicFrameLocks noGrp="1" noChangeAspect="1"/>
          </p:cNvGraphicFramePr>
          <p:nvPr>
            <p:ph sz="quarter" idx="3"/>
          </p:nvPr>
        </p:nvGraphicFramePr>
        <p:xfrm>
          <a:off x="4918075" y="3924300"/>
          <a:ext cx="1073150" cy="498475"/>
        </p:xfrm>
        <a:graphic>
          <a:graphicData uri="http://schemas.openxmlformats.org/presentationml/2006/ole">
            <mc:AlternateContent xmlns:mc="http://schemas.openxmlformats.org/markup-compatibility/2006">
              <mc:Choice xmlns:v="urn:schemas-microsoft-com:vml" Requires="v">
                <p:oleObj spid="_x0000_s3093" name="" r:id="rId3" imgW="545465" imgH="254000" progId="Equation.DSMT4">
                  <p:embed/>
                </p:oleObj>
              </mc:Choice>
              <mc:Fallback>
                <p:oleObj name="" r:id="rId3" imgW="545465" imgH="254000" progId="Equation.DSMT4">
                  <p:embed/>
                  <p:pic>
                    <p:nvPicPr>
                      <p:cNvPr id="0" name="图片 3092"/>
                      <p:cNvPicPr/>
                      <p:nvPr/>
                    </p:nvPicPr>
                    <p:blipFill>
                      <a:blip r:embed="rId2"/>
                      <a:srcRect/>
                      <a:stretch>
                        <a:fillRect/>
                      </a:stretch>
                    </p:blipFill>
                    <p:spPr>
                      <a:xfrm>
                        <a:off x="4918075" y="3924300"/>
                        <a:ext cx="1073150" cy="498475"/>
                      </a:xfrm>
                      <a:prstGeom prst="rect">
                        <a:avLst/>
                      </a:prstGeom>
                      <a:noFill/>
                      <a:ln w="38100">
                        <a:miter/>
                      </a:ln>
                    </p:spPr>
                  </p:pic>
                </p:oleObj>
              </mc:Fallback>
            </mc:AlternateContent>
          </a:graphicData>
        </a:graphic>
      </p:graphicFrame>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4.2.3 二叉树的性质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7" name="Rectangle 3"/>
          <p:cNvSpPr>
            <a:spLocks noGrp="1"/>
          </p:cNvSpPr>
          <p:nvPr>
            <p:ph idx="1"/>
          </p:nvPr>
        </p:nvSpPr>
        <p:spPr>
          <a:xfrm>
            <a:off x="348615" y="1207770"/>
            <a:ext cx="11005185" cy="4969510"/>
          </a:xfrm>
        </p:spPr>
        <p:txBody>
          <a:bodyPr vert="horz" wrap="square" lIns="91440" tIns="45720" rIns="91440" bIns="45720" anchor="t" anchorCtr="0"/>
          <a:p>
            <a:pPr eaLnBrk="1" hangingPunct="1">
              <a:lnSpc>
                <a:spcPct val="18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二叉树性质</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5</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914400" lvl="1" indent="-457200" eaLnBrk="1" hangingPunct="1">
              <a:lnSpc>
                <a:spcPct val="18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若对含</a:t>
            </a:r>
            <a:r>
              <a:rPr lang="zh-CN" altLang="en-US" sz="20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个结点的完全二叉树从上到下且从左至右进行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至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n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的编号，则对完全二叉树中任意一个编号为</a:t>
            </a:r>
            <a:r>
              <a:rPr lang="zh-CN" altLang="en-US" sz="20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的结点：</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314450" lvl="2" indent="-457200" eaLnBrk="1" hangingPunct="1">
              <a:lnSpc>
                <a:spcPct val="180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若</a:t>
            </a:r>
            <a:r>
              <a:rPr lang="zh-CN" altLang="en-US" sz="1800" b="1"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，则该结点是二叉树的根，无双亲，否则</a:t>
            </a:r>
            <a:r>
              <a:rPr lang="zh-CN" altLang="zh-CN" sz="1800" dirty="0">
                <a:latin typeface="微软雅黑" panose="020B0503020204020204" pitchFamily="34" charset="-122"/>
                <a:ea typeface="微软雅黑" panose="020B0503020204020204" pitchFamily="34" charset="-122"/>
                <a:cs typeface="微软雅黑" panose="020B0503020204020204" pitchFamily="34" charset="-122"/>
              </a:rPr>
              <a:t>若</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1800" i="1"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zh-CN" sz="18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，编号为</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 的结点为其双亲结点；</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1314450" lvl="2" indent="-457200" eaLnBrk="1" hangingPunct="1">
              <a:lnSpc>
                <a:spcPct val="180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若</a:t>
            </a:r>
            <a:r>
              <a:rPr lang="zh-CN" altLang="en-US" sz="18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1800" i="1" dirty="0">
                <a:latin typeface="微软雅黑" panose="020B0503020204020204" pitchFamily="34" charset="-122"/>
                <a:ea typeface="微软雅黑" panose="020B0503020204020204" pitchFamily="34" charset="-122"/>
                <a:cs typeface="微软雅黑" panose="020B0503020204020204" pitchFamily="34" charset="-122"/>
              </a:rPr>
              <a:t>i&gt;n</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，则该结点无左孩子结点，否则，编号为</a:t>
            </a:r>
            <a:r>
              <a:rPr lang="zh-CN" altLang="en-US" sz="1800" i="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18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的结点为其左孩子结点；</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1314450" lvl="2" indent="-457200" eaLnBrk="1" hangingPunct="1">
              <a:lnSpc>
                <a:spcPct val="180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若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18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1800" i="1" dirty="0">
                <a:latin typeface="微软雅黑" panose="020B0503020204020204" pitchFamily="34" charset="-122"/>
                <a:ea typeface="微软雅黑" panose="020B0503020204020204" pitchFamily="34" charset="-122"/>
                <a:cs typeface="微软雅黑" panose="020B0503020204020204" pitchFamily="34" charset="-122"/>
              </a:rPr>
              <a:t>&gt;n</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，则该结点无右孩子结点，否则，编号为</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18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的结点为其右孩子结点。</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4.2.3 二叉树的性质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1" name="Rectangle 3"/>
          <p:cNvSpPr>
            <a:spLocks noGrp="1"/>
          </p:cNvSpPr>
          <p:nvPr>
            <p:ph type="body" idx="4294967295"/>
          </p:nvPr>
        </p:nvSpPr>
        <p:spPr>
          <a:xfrm>
            <a:off x="342265" y="1223645"/>
            <a:ext cx="10888980" cy="4948555"/>
          </a:xfrm>
        </p:spPr>
        <p:txBody>
          <a:bodyPr vert="horz" wrap="square" lIns="91440" tIns="45720" rIns="91440" bIns="45720" anchor="t" anchorCtr="0">
            <a:normAutofit fontScale="80000"/>
          </a:bodyPr>
          <a:p>
            <a:pPr eaLnBrk="1" hangingPunct="1">
              <a:lnSpc>
                <a:spcPct val="140000"/>
              </a:lnSpc>
              <a:buNone/>
            </a:pPr>
            <a:r>
              <a:rPr lang="zh-CN" altLang="en-US" sz="3000" dirty="0">
                <a:latin typeface="微软雅黑" panose="020B0503020204020204" pitchFamily="34" charset="-122"/>
                <a:ea typeface="微软雅黑" panose="020B0503020204020204" pitchFamily="34" charset="-122"/>
                <a:cs typeface="微软雅黑" panose="020B0503020204020204" pitchFamily="34" charset="-122"/>
              </a:rPr>
              <a:t>用归纳法证明如下：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50000"/>
              </a:lnSpc>
              <a:buFont typeface="+mj-ea"/>
              <a:buAutoNum type="circleNumDbPlain"/>
            </a:pP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当</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时，由完全二叉树的定义及编号规则可知，</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结点是二叉树的根，其左孩子若存在编号是</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即</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，右孩子若存在编号是</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即</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，性质成立。 </a:t>
            </a:r>
            <a:endParaRPr lang="zh-CN" altLang="en-US" sz="2500"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50000"/>
              </a:lnSpc>
              <a:buFont typeface="+mj-ea"/>
              <a:buAutoNum type="circleNumDbPlain"/>
            </a:pP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设编号为</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的结点其左孩子若存在编号是</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，右孩子若存在编号是</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 +1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性质成立。 </a:t>
            </a:r>
            <a:endParaRPr lang="zh-CN" altLang="en-US" sz="2500" dirty="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150000"/>
              </a:lnSpc>
              <a:buFont typeface="+mj-ea"/>
              <a:buAutoNum type="circleNumDbPlain"/>
            </a:pP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由完全二叉树的定义及编号规则可知，对于第</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个结点，其左孩子若存在，编号必为编号为</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的那个结点的左孩子位序加</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，即</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-1)+2=2</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；右孩子若存在，编号必为编号为</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的那个结点的右孩子位序加</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，即</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 +1+2=2 </a:t>
            </a:r>
            <a:r>
              <a:rPr lang="en-US" altLang="zh-CN" sz="2500" i="1" dirty="0">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5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，故②和③成立。 </a:t>
            </a:r>
            <a:endParaRPr lang="zh-CN" altLang="en-US" sz="25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buNone/>
            </a:pPr>
            <a:r>
              <a:rPr lang="zh-CN" altLang="en-US" sz="2500" dirty="0">
                <a:latin typeface="微软雅黑" panose="020B0503020204020204" pitchFamily="34" charset="-122"/>
                <a:ea typeface="微软雅黑" panose="020B0503020204020204" pitchFamily="34" charset="-122"/>
                <a:cs typeface="微软雅黑" panose="020B0503020204020204" pitchFamily="34" charset="-122"/>
              </a:rPr>
              <a:t>性质得证。</a:t>
            </a:r>
            <a:endParaRPr lang="zh-CN" altLang="en-US" sz="25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4.2.3 二叉树的性质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Rectangle 3"/>
          <p:cNvSpPr>
            <a:spLocks noGrp="1"/>
          </p:cNvSpPr>
          <p:nvPr>
            <p:ph idx="1"/>
          </p:nvPr>
        </p:nvSpPr>
        <p:spPr>
          <a:xfrm>
            <a:off x="355600" y="1041400"/>
            <a:ext cx="11181715" cy="3454400"/>
          </a:xfrm>
        </p:spPr>
        <p:txBody>
          <a:bodyPr vert="horz" wrap="square" lIns="91440" tIns="45720" rIns="91440" bIns="45720" anchor="t" anchorCtr="0"/>
          <a:p>
            <a:pPr eaLnBrk="1" hangingPunct="1">
              <a:lnSpc>
                <a:spcPct val="14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顺序存储结构</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fontAlgn="auto">
              <a:lnSpc>
                <a:spcPct val="140000"/>
              </a:lnSpc>
              <a:buNone/>
              <a:extLst>
                <a:ext uri="{35155182-B16C-46BC-9424-99874614C6A1}">
                  <wpsdc:marlchars xmlns:wpsdc="http://www.wps.cn/officeDocument/2017/drawingmlCustomData" val="200" checksum="2975741746"/>
                </a:ext>
              </a:extLst>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顺序存储结构就是用一组地址连续的存储单元来存储二叉树的结点</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40000"/>
              </a:lnSpc>
              <a:spcBef>
                <a:spcPct val="50000"/>
              </a:spcBef>
              <a:buNone/>
            </a:pPr>
            <a:endParaRPr lang="zh-CN" altLang="en-US"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40000"/>
              </a:lnSpc>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412" name="Rectangle 4"/>
          <p:cNvSpPr>
            <a:spLocks noChangeArrowheads="1"/>
          </p:cNvSpPr>
          <p:nvPr/>
        </p:nvSpPr>
        <p:spPr bwMode="auto">
          <a:xfrm>
            <a:off x="984885" y="2639060"/>
            <a:ext cx="7454900" cy="2514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const MAXSIZE=100; // 暂定二叉树中结点数的最大值为100</a:t>
            </a:r>
            <a:endPar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SqBiTree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 *base; </a:t>
            </a: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//存储空间基址</a:t>
            </a:r>
            <a:endPar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nodeNum; </a:t>
            </a: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//二叉树中结点数 </a:t>
            </a:r>
            <a:endPar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4.2.4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二叉树的存储结构</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Rectangle 3"/>
          <p:cNvSpPr>
            <a:spLocks noGrp="1"/>
          </p:cNvSpPr>
          <p:nvPr>
            <p:ph type="body" idx="4294967295"/>
          </p:nvPr>
        </p:nvSpPr>
        <p:spPr>
          <a:xfrm>
            <a:off x="591820" y="1095375"/>
            <a:ext cx="10863580" cy="3400425"/>
          </a:xfrm>
        </p:spPr>
        <p:txBody>
          <a:bodyPr vert="horz" wrap="square" lIns="91440" tIns="45720" rIns="91440" bIns="45720" anchor="t" anchorCtr="0"/>
          <a:p>
            <a:pPr marL="0" indent="0" eaLnBrk="1" hangingPunct="1">
              <a:lnSpc>
                <a:spcPct val="140000"/>
              </a:lnSpc>
              <a:buNone/>
            </a:pPr>
            <a:r>
              <a:rPr lang="zh-CN" altLang="en-US" dirty="0"/>
              <a:t>  </a:t>
            </a:r>
            <a:r>
              <a:rPr lang="en-US" altLang="zh-CN" dirty="0"/>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由于二叉树是一个层次结构，因此，在存储结构中应表达结点之间的逻辑关系。如何把它保存在数组中呢？下面分两种情况加以说明。</a:t>
            </a:r>
            <a:r>
              <a:rPr lang="zh-CN" altLang="en-US" sz="24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40000"/>
              </a:lnSpc>
              <a:spcBef>
                <a:spcPct val="50000"/>
              </a:spcBef>
              <a:buNone/>
            </a:pPr>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完全二叉树</a:t>
            </a:r>
            <a:endPar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40000"/>
              </a:lnSpc>
              <a:spcBef>
                <a:spcPct val="50000"/>
              </a:spcBef>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对于完全二叉树，可将结点</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按层序编号</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，然后依次存放在数组中。</a:t>
            </a:r>
            <a:r>
              <a:rPr lang="zh-CN" altLang="en-US" sz="2000" b="1" dirty="0">
                <a:solidFill>
                  <a:srgbClr val="800080"/>
                </a:solidFill>
              </a:rPr>
              <a:t> </a:t>
            </a:r>
            <a:endParaRPr lang="zh-CN" altLang="en-US" sz="2000" b="1" dirty="0">
              <a:solidFill>
                <a:srgbClr val="800080"/>
              </a:solidFill>
            </a:endParaRPr>
          </a:p>
          <a:p>
            <a:pPr marL="0" indent="0" eaLnBrk="1" hangingPunct="1">
              <a:spcBef>
                <a:spcPct val="50000"/>
              </a:spcBef>
              <a:buNone/>
            </a:pPr>
            <a:endParaRPr lang="zh-CN" altLang="en-US" sz="2000" b="1" dirty="0">
              <a:solidFill>
                <a:srgbClr val="800080"/>
              </a:solidFill>
            </a:endParaRPr>
          </a:p>
          <a:p>
            <a:pPr marL="0" indent="0" eaLnBrk="1" hangingPunct="1">
              <a:buNone/>
            </a:pPr>
            <a:endParaRPr lang="zh-CN" altLang="en-US" sz="2000" dirty="0"/>
          </a:p>
        </p:txBody>
      </p:sp>
      <p:grpSp>
        <p:nvGrpSpPr>
          <p:cNvPr id="2" name="Group 5"/>
          <p:cNvGrpSpPr/>
          <p:nvPr>
            <p:custDataLst>
              <p:tags r:id="rId1"/>
            </p:custDataLst>
          </p:nvPr>
        </p:nvGrpSpPr>
        <p:grpSpPr>
          <a:xfrm>
            <a:off x="7924800" y="3505200"/>
            <a:ext cx="2865120" cy="2798445"/>
            <a:chOff x="4272" y="2304"/>
            <a:chExt cx="1228" cy="1248"/>
          </a:xfrm>
        </p:grpSpPr>
        <p:sp>
          <p:nvSpPr>
            <p:cNvPr id="29739" name="Oval 6"/>
            <p:cNvSpPr/>
            <p:nvPr>
              <p:custDataLst>
                <p:tags r:id="rId2"/>
              </p:custDataLst>
            </p:nvPr>
          </p:nvSpPr>
          <p:spPr>
            <a:xfrm>
              <a:off x="4272" y="3238"/>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r</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29740" name="Oval 7"/>
            <p:cNvSpPr/>
            <p:nvPr>
              <p:custDataLst>
                <p:tags r:id="rId3"/>
              </p:custDataLst>
            </p:nvPr>
          </p:nvSpPr>
          <p:spPr>
            <a:xfrm>
              <a:off x="4656" y="3248"/>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t</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29741" name="Oval 8"/>
            <p:cNvSpPr/>
            <p:nvPr>
              <p:custDataLst>
                <p:tags r:id="rId4"/>
              </p:custDataLst>
            </p:nvPr>
          </p:nvSpPr>
          <p:spPr>
            <a:xfrm>
              <a:off x="4848" y="2304"/>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a</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29742" name="Oval 9"/>
            <p:cNvSpPr/>
            <p:nvPr>
              <p:custDataLst>
                <p:tags r:id="rId5"/>
              </p:custDataLst>
            </p:nvPr>
          </p:nvSpPr>
          <p:spPr>
            <a:xfrm>
              <a:off x="5184" y="2747"/>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e</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29743" name="Line 10"/>
            <p:cNvSpPr/>
            <p:nvPr>
              <p:custDataLst>
                <p:tags r:id="rId6"/>
              </p:custDataLst>
            </p:nvPr>
          </p:nvSpPr>
          <p:spPr>
            <a:xfrm flipH="1">
              <a:off x="4704" y="2550"/>
              <a:ext cx="192" cy="197"/>
            </a:xfrm>
            <a:prstGeom prst="line">
              <a:avLst/>
            </a:prstGeom>
            <a:ln w="9525" cap="flat" cmpd="sng">
              <a:solidFill>
                <a:srgbClr val="000000"/>
              </a:solidFill>
              <a:prstDash val="solid"/>
              <a:headEnd type="none" w="med" len="med"/>
              <a:tailEnd type="none" w="med" len="med"/>
            </a:ln>
          </p:spPr>
        </p:sp>
        <p:sp>
          <p:nvSpPr>
            <p:cNvPr id="29744" name="Line 11"/>
            <p:cNvSpPr/>
            <p:nvPr>
              <p:custDataLst>
                <p:tags r:id="rId7"/>
              </p:custDataLst>
            </p:nvPr>
          </p:nvSpPr>
          <p:spPr>
            <a:xfrm>
              <a:off x="5136" y="2550"/>
              <a:ext cx="144" cy="197"/>
            </a:xfrm>
            <a:prstGeom prst="line">
              <a:avLst/>
            </a:prstGeom>
            <a:ln w="9525" cap="flat" cmpd="sng">
              <a:solidFill>
                <a:srgbClr val="000000"/>
              </a:solidFill>
              <a:prstDash val="solid"/>
              <a:headEnd type="none" w="med" len="med"/>
              <a:tailEnd type="none" w="med" len="med"/>
            </a:ln>
          </p:spPr>
        </p:sp>
        <p:sp>
          <p:nvSpPr>
            <p:cNvPr id="29745" name="Oval 12"/>
            <p:cNvSpPr/>
            <p:nvPr>
              <p:custDataLst>
                <p:tags r:id="rId8"/>
              </p:custDataLst>
            </p:nvPr>
          </p:nvSpPr>
          <p:spPr>
            <a:xfrm>
              <a:off x="4512" y="2747"/>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c</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29746" name="Line 13"/>
            <p:cNvSpPr/>
            <p:nvPr>
              <p:custDataLst>
                <p:tags r:id="rId9"/>
              </p:custDataLst>
            </p:nvPr>
          </p:nvSpPr>
          <p:spPr>
            <a:xfrm flipH="1">
              <a:off x="4464" y="3051"/>
              <a:ext cx="144" cy="197"/>
            </a:xfrm>
            <a:prstGeom prst="line">
              <a:avLst/>
            </a:prstGeom>
            <a:ln w="9525" cap="flat" cmpd="sng">
              <a:solidFill>
                <a:srgbClr val="000000"/>
              </a:solidFill>
              <a:prstDash val="solid"/>
              <a:headEnd type="none" w="med" len="med"/>
              <a:tailEnd type="none" w="med" len="med"/>
            </a:ln>
          </p:spPr>
        </p:sp>
        <p:sp>
          <p:nvSpPr>
            <p:cNvPr id="29747" name="Line 14"/>
            <p:cNvSpPr/>
            <p:nvPr>
              <p:custDataLst>
                <p:tags r:id="rId10"/>
              </p:custDataLst>
            </p:nvPr>
          </p:nvSpPr>
          <p:spPr>
            <a:xfrm>
              <a:off x="4704" y="3051"/>
              <a:ext cx="96" cy="197"/>
            </a:xfrm>
            <a:prstGeom prst="line">
              <a:avLst/>
            </a:prstGeom>
            <a:ln w="9525" cap="flat" cmpd="sng">
              <a:solidFill>
                <a:srgbClr val="000000"/>
              </a:solidFill>
              <a:prstDash val="solid"/>
              <a:headEnd type="none" w="med" len="med"/>
              <a:tailEnd type="none" w="med" len="med"/>
            </a:ln>
          </p:spPr>
        </p:sp>
      </p:grpSp>
      <p:sp>
        <p:nvSpPr>
          <p:cNvPr id="154639" name="Text Box 15"/>
          <p:cNvSpPr txBox="1"/>
          <p:nvPr>
            <p:custDataLst>
              <p:tags r:id="rId11"/>
            </p:custDataLst>
          </p:nvPr>
        </p:nvSpPr>
        <p:spPr>
          <a:xfrm>
            <a:off x="8801100" y="3584575"/>
            <a:ext cx="190500" cy="30734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1</a:t>
            </a:r>
            <a:endParaRPr lang="en-US" altLang="zh-CN" sz="2000" b="1" dirty="0">
              <a:solidFill>
                <a:srgbClr val="C00000"/>
              </a:solidFill>
              <a:latin typeface="Arial" panose="020B0604020202020204" pitchFamily="34" charset="0"/>
              <a:ea typeface="宋体" panose="02010600030101010101" pitchFamily="2" charset="-122"/>
            </a:endParaRPr>
          </a:p>
        </p:txBody>
      </p:sp>
      <p:sp>
        <p:nvSpPr>
          <p:cNvPr id="154640" name="Text Box 16"/>
          <p:cNvSpPr txBox="1"/>
          <p:nvPr>
            <p:custDataLst>
              <p:tags r:id="rId12"/>
            </p:custDataLst>
          </p:nvPr>
        </p:nvSpPr>
        <p:spPr>
          <a:xfrm>
            <a:off x="8191500" y="4286250"/>
            <a:ext cx="190500" cy="30734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2</a:t>
            </a:r>
            <a:endParaRPr lang="en-US" altLang="zh-CN" sz="2000" b="1" dirty="0">
              <a:solidFill>
                <a:srgbClr val="C00000"/>
              </a:solidFill>
              <a:latin typeface="Arial" panose="020B0604020202020204" pitchFamily="34" charset="0"/>
              <a:ea typeface="宋体" panose="02010600030101010101" pitchFamily="2" charset="-122"/>
            </a:endParaRPr>
          </a:p>
        </p:txBody>
      </p:sp>
      <p:sp>
        <p:nvSpPr>
          <p:cNvPr id="154641" name="Text Box 17"/>
          <p:cNvSpPr txBox="1"/>
          <p:nvPr>
            <p:custDataLst>
              <p:tags r:id="rId13"/>
            </p:custDataLst>
          </p:nvPr>
        </p:nvSpPr>
        <p:spPr>
          <a:xfrm>
            <a:off x="9486900" y="4286250"/>
            <a:ext cx="190500" cy="30734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3</a:t>
            </a:r>
            <a:endParaRPr lang="en-US" altLang="zh-CN" sz="2000" b="1" dirty="0">
              <a:solidFill>
                <a:srgbClr val="C00000"/>
              </a:solidFill>
              <a:latin typeface="Arial" panose="020B0604020202020204" pitchFamily="34" charset="0"/>
              <a:ea typeface="宋体" panose="02010600030101010101" pitchFamily="2" charset="-122"/>
            </a:endParaRPr>
          </a:p>
        </p:txBody>
      </p:sp>
      <p:sp>
        <p:nvSpPr>
          <p:cNvPr id="154642" name="Text Box 18"/>
          <p:cNvSpPr txBox="1"/>
          <p:nvPr>
            <p:custDataLst>
              <p:tags r:id="rId14"/>
            </p:custDataLst>
          </p:nvPr>
        </p:nvSpPr>
        <p:spPr>
          <a:xfrm>
            <a:off x="8001000" y="5029200"/>
            <a:ext cx="190500" cy="30734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4</a:t>
            </a:r>
            <a:endParaRPr lang="en-US" altLang="zh-CN" sz="2000" b="1" dirty="0">
              <a:solidFill>
                <a:srgbClr val="C00000"/>
              </a:solidFill>
              <a:latin typeface="Arial" panose="020B0604020202020204" pitchFamily="34" charset="0"/>
              <a:ea typeface="宋体" panose="02010600030101010101" pitchFamily="2" charset="-122"/>
            </a:endParaRPr>
          </a:p>
        </p:txBody>
      </p:sp>
      <p:sp>
        <p:nvSpPr>
          <p:cNvPr id="154643" name="Text Box 19"/>
          <p:cNvSpPr txBox="1"/>
          <p:nvPr>
            <p:custDataLst>
              <p:tags r:id="rId15"/>
            </p:custDataLst>
          </p:nvPr>
        </p:nvSpPr>
        <p:spPr>
          <a:xfrm>
            <a:off x="9144000" y="5067300"/>
            <a:ext cx="190500" cy="30734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5</a:t>
            </a:r>
            <a:endParaRPr lang="en-US" altLang="zh-CN" sz="2000" b="1" dirty="0">
              <a:solidFill>
                <a:srgbClr val="C00000"/>
              </a:solidFill>
              <a:latin typeface="Arial" panose="020B0604020202020204" pitchFamily="34" charset="0"/>
              <a:ea typeface="宋体" panose="02010600030101010101" pitchFamily="2" charset="-122"/>
            </a:endParaRPr>
          </a:p>
        </p:txBody>
      </p:sp>
      <p:graphicFrame>
        <p:nvGraphicFramePr>
          <p:cNvPr id="154691" name="Group 67"/>
          <p:cNvGraphicFramePr>
            <a:graphicFrameLocks noGrp="1"/>
          </p:cNvGraphicFramePr>
          <p:nvPr/>
        </p:nvGraphicFramePr>
        <p:xfrm>
          <a:off x="1161415" y="4556760"/>
          <a:ext cx="5257800" cy="914401"/>
        </p:xfrm>
        <a:graphic>
          <a:graphicData uri="http://schemas.openxmlformats.org/drawingml/2006/table">
            <a:tbl>
              <a:tblPr/>
              <a:tblGrid>
                <a:gridCol w="800100"/>
                <a:gridCol w="495300"/>
                <a:gridCol w="495300"/>
                <a:gridCol w="495300"/>
                <a:gridCol w="495300"/>
                <a:gridCol w="495300"/>
                <a:gridCol w="495300"/>
                <a:gridCol w="525780"/>
                <a:gridCol w="464820"/>
                <a:gridCol w="495300"/>
              </a:tblGrid>
              <a:tr h="455613">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下标</a:t>
                      </a:r>
                      <a:endPar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2</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5</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r>
              <a:tr h="4587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rPr>
                        <a:t>a</a:t>
                      </a:r>
                      <a:endPar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rPr>
                        <a:t>c</a:t>
                      </a:r>
                      <a:endPar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rPr>
                        <a:t>e</a:t>
                      </a:r>
                      <a:endPar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rPr>
                        <a:t>r</a:t>
                      </a:r>
                      <a:endPar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rPr>
                        <a:t>t</a:t>
                      </a:r>
                      <a:endParaRPr kumimoji="0" lang="en-US" altLang="zh-CN" sz="24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rgbClr val="800080"/>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4.2.4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二叉树的存储结构</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54639"/>
                                        </p:tgtEl>
                                        <p:attrNameLst>
                                          <p:attrName>style.visibility</p:attrName>
                                        </p:attrNameLst>
                                      </p:cBhvr>
                                      <p:to>
                                        <p:strVal val="visible"/>
                                      </p:to>
                                    </p:set>
                                    <p:animEffect transition="in" filter="wipe(left)">
                                      <p:cBhvr>
                                        <p:cTn id="13" dur="500"/>
                                        <p:tgtEl>
                                          <p:spTgt spid="154639"/>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54640"/>
                                        </p:tgtEl>
                                        <p:attrNameLst>
                                          <p:attrName>style.visibility</p:attrName>
                                        </p:attrNameLst>
                                      </p:cBhvr>
                                      <p:to>
                                        <p:strVal val="visible"/>
                                      </p:to>
                                    </p:set>
                                    <p:animEffect transition="in" filter="wipe(left)">
                                      <p:cBhvr>
                                        <p:cTn id="17" dur="500"/>
                                        <p:tgtEl>
                                          <p:spTgt spid="154640"/>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54641"/>
                                        </p:tgtEl>
                                        <p:attrNameLst>
                                          <p:attrName>style.visibility</p:attrName>
                                        </p:attrNameLst>
                                      </p:cBhvr>
                                      <p:to>
                                        <p:strVal val="visible"/>
                                      </p:to>
                                    </p:set>
                                    <p:animEffect transition="in" filter="wipe(left)">
                                      <p:cBhvr>
                                        <p:cTn id="21" dur="500"/>
                                        <p:tgtEl>
                                          <p:spTgt spid="154641"/>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154642"/>
                                        </p:tgtEl>
                                        <p:attrNameLst>
                                          <p:attrName>style.visibility</p:attrName>
                                        </p:attrNameLst>
                                      </p:cBhvr>
                                      <p:to>
                                        <p:strVal val="visible"/>
                                      </p:to>
                                    </p:set>
                                    <p:animEffect transition="in" filter="wipe(left)">
                                      <p:cBhvr>
                                        <p:cTn id="25" dur="500"/>
                                        <p:tgtEl>
                                          <p:spTgt spid="154642"/>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154643"/>
                                        </p:tgtEl>
                                        <p:attrNameLst>
                                          <p:attrName>style.visibility</p:attrName>
                                        </p:attrNameLst>
                                      </p:cBhvr>
                                      <p:to>
                                        <p:strVal val="visible"/>
                                      </p:to>
                                    </p:set>
                                    <p:animEffect transition="in" filter="wipe(left)">
                                      <p:cBhvr>
                                        <p:cTn id="29" dur="500"/>
                                        <p:tgtEl>
                                          <p:spTgt spid="154643"/>
                                        </p:tgtEl>
                                      </p:cBhvr>
                                    </p:animEffect>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154691"/>
                                        </p:tgtEl>
                                        <p:attrNameLst>
                                          <p:attrName>style.visibility</p:attrName>
                                        </p:attrNameLst>
                                      </p:cBhvr>
                                      <p:to>
                                        <p:strVal val="visible"/>
                                      </p:to>
                                    </p:set>
                                    <p:animEffect transition="in" filter="wipe(left)">
                                      <p:cBhvr>
                                        <p:cTn id="33" dur="500"/>
                                        <p:tgtEl>
                                          <p:spTgt spid="154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9" grpId="0"/>
      <p:bldP spid="154640" grpId="0"/>
      <p:bldP spid="154641" grpId="0"/>
      <p:bldP spid="154642" grpId="0"/>
      <p:bldP spid="15464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Rectangle 3"/>
          <p:cNvSpPr>
            <a:spLocks noGrp="1"/>
          </p:cNvSpPr>
          <p:nvPr>
            <p:ph type="body" idx="4294967295"/>
          </p:nvPr>
        </p:nvSpPr>
        <p:spPr>
          <a:xfrm>
            <a:off x="455295" y="1050290"/>
            <a:ext cx="10717530" cy="5461000"/>
          </a:xfrm>
        </p:spPr>
        <p:txBody>
          <a:bodyPr vert="horz" wrap="square" lIns="91440" tIns="45720" rIns="91440" bIns="45720" anchor="t" anchorCtr="0"/>
          <a:p>
            <a:pPr eaLnBrk="1" hangingPunct="1">
              <a:lnSpc>
                <a:spcPct val="100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）一般二叉树</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00000"/>
              </a:lnSpc>
              <a:spcBef>
                <a:spcPct val="5000"/>
              </a:spcBef>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首先</a:t>
            </a: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将它与同深度的满二叉树作比照</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00000"/>
              </a:lnSpc>
              <a:spcBef>
                <a:spcPct val="5000"/>
              </a:spcBef>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然后按结点在满二叉树中的位置，将其存储在一维数组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00000"/>
              </a:lnSpc>
              <a:spcBef>
                <a:spcPct val="5000"/>
              </a:spcBef>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的相应分量中；</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00000"/>
              </a:lnSpc>
              <a:spcBef>
                <a:spcPct val="5000"/>
              </a:spcBef>
              <a:buFont typeface="Wingdings" panose="05000000000000000000" pitchFamily="2" charset="2"/>
              <a:buNone/>
            </a:pPr>
            <a:r>
              <a:rPr lang="en-US" altLang="zh-CN"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对于不存在的结点，其相应数组分量置为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Font typeface="Wingdings" panose="05000000000000000000" pitchFamily="2" charset="2"/>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0724" name="Group 5"/>
          <p:cNvGrpSpPr/>
          <p:nvPr/>
        </p:nvGrpSpPr>
        <p:grpSpPr>
          <a:xfrm>
            <a:off x="8566150" y="2667000"/>
            <a:ext cx="1568450" cy="1966913"/>
            <a:chOff x="2112" y="1680"/>
            <a:chExt cx="988" cy="1239"/>
          </a:xfrm>
        </p:grpSpPr>
        <p:sp>
          <p:nvSpPr>
            <p:cNvPr id="30769" name="Oval 6"/>
            <p:cNvSpPr/>
            <p:nvPr/>
          </p:nvSpPr>
          <p:spPr>
            <a:xfrm>
              <a:off x="2592" y="2614"/>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R</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30770" name="Oval 7"/>
            <p:cNvSpPr/>
            <p:nvPr/>
          </p:nvSpPr>
          <p:spPr>
            <a:xfrm>
              <a:off x="2448" y="1680"/>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A</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30771" name="Oval 8"/>
            <p:cNvSpPr/>
            <p:nvPr/>
          </p:nvSpPr>
          <p:spPr>
            <a:xfrm>
              <a:off x="2784" y="2123"/>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B</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30772" name="Line 9"/>
            <p:cNvSpPr/>
            <p:nvPr/>
          </p:nvSpPr>
          <p:spPr>
            <a:xfrm flipH="1">
              <a:off x="2304" y="1926"/>
              <a:ext cx="192" cy="197"/>
            </a:xfrm>
            <a:prstGeom prst="line">
              <a:avLst/>
            </a:prstGeom>
            <a:ln w="9525" cap="flat" cmpd="sng">
              <a:solidFill>
                <a:srgbClr val="000000"/>
              </a:solidFill>
              <a:prstDash val="solid"/>
              <a:headEnd type="none" w="med" len="med"/>
              <a:tailEnd type="none" w="med" len="med"/>
            </a:ln>
          </p:spPr>
        </p:sp>
        <p:sp>
          <p:nvSpPr>
            <p:cNvPr id="30773" name="Line 10"/>
            <p:cNvSpPr/>
            <p:nvPr/>
          </p:nvSpPr>
          <p:spPr>
            <a:xfrm>
              <a:off x="2736" y="1926"/>
              <a:ext cx="144" cy="197"/>
            </a:xfrm>
            <a:prstGeom prst="line">
              <a:avLst/>
            </a:prstGeom>
            <a:ln w="9525" cap="flat" cmpd="sng">
              <a:solidFill>
                <a:srgbClr val="000000"/>
              </a:solidFill>
              <a:prstDash val="solid"/>
              <a:headEnd type="none" w="med" len="med"/>
              <a:tailEnd type="none" w="med" len="med"/>
            </a:ln>
          </p:spPr>
        </p:sp>
        <p:sp>
          <p:nvSpPr>
            <p:cNvPr id="30774" name="Oval 11"/>
            <p:cNvSpPr/>
            <p:nvPr/>
          </p:nvSpPr>
          <p:spPr>
            <a:xfrm>
              <a:off x="2112" y="2123"/>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W</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30775" name="Line 12"/>
            <p:cNvSpPr/>
            <p:nvPr/>
          </p:nvSpPr>
          <p:spPr>
            <a:xfrm flipH="1">
              <a:off x="2784" y="2427"/>
              <a:ext cx="144" cy="197"/>
            </a:xfrm>
            <a:prstGeom prst="line">
              <a:avLst/>
            </a:prstGeom>
            <a:ln w="9525" cap="flat" cmpd="sng">
              <a:solidFill>
                <a:srgbClr val="000000"/>
              </a:solidFill>
              <a:prstDash val="solid"/>
              <a:headEnd type="none" w="med" len="med"/>
              <a:tailEnd type="none" w="med" len="med"/>
            </a:ln>
          </p:spPr>
        </p:sp>
      </p:grpSp>
      <p:sp>
        <p:nvSpPr>
          <p:cNvPr id="153613" name="Text Box 13"/>
          <p:cNvSpPr txBox="1"/>
          <p:nvPr/>
        </p:nvSpPr>
        <p:spPr>
          <a:xfrm>
            <a:off x="8795385" y="2743200"/>
            <a:ext cx="272415" cy="307340"/>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1</a:t>
            </a:r>
            <a:endParaRPr lang="en-US" altLang="zh-CN" sz="2000" b="1" dirty="0">
              <a:solidFill>
                <a:srgbClr val="C00000"/>
              </a:solidFill>
              <a:latin typeface="Arial" panose="020B0604020202020204" pitchFamily="34" charset="0"/>
              <a:ea typeface="宋体" panose="02010600030101010101" pitchFamily="2" charset="-122"/>
            </a:endParaRPr>
          </a:p>
        </p:txBody>
      </p:sp>
      <p:sp>
        <p:nvSpPr>
          <p:cNvPr id="153614" name="Text Box 14"/>
          <p:cNvSpPr txBox="1"/>
          <p:nvPr/>
        </p:nvSpPr>
        <p:spPr>
          <a:xfrm>
            <a:off x="8566150" y="3124200"/>
            <a:ext cx="152400" cy="30734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2</a:t>
            </a:r>
            <a:endParaRPr lang="en-US" altLang="zh-CN" sz="2000" b="1" dirty="0">
              <a:solidFill>
                <a:srgbClr val="C00000"/>
              </a:solidFill>
              <a:latin typeface="Arial" panose="020B0604020202020204" pitchFamily="34" charset="0"/>
              <a:ea typeface="宋体" panose="02010600030101010101" pitchFamily="2" charset="-122"/>
            </a:endParaRPr>
          </a:p>
        </p:txBody>
      </p:sp>
      <p:sp>
        <p:nvSpPr>
          <p:cNvPr id="153615" name="Text Box 15"/>
          <p:cNvSpPr txBox="1"/>
          <p:nvPr/>
        </p:nvSpPr>
        <p:spPr>
          <a:xfrm>
            <a:off x="9937750" y="3124200"/>
            <a:ext cx="152400" cy="30734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3</a:t>
            </a:r>
            <a:endParaRPr lang="en-US" altLang="zh-CN" sz="2000" b="1" dirty="0">
              <a:solidFill>
                <a:srgbClr val="C00000"/>
              </a:solidFill>
              <a:latin typeface="Arial" panose="020B0604020202020204" pitchFamily="34" charset="0"/>
              <a:ea typeface="宋体" panose="02010600030101010101" pitchFamily="2" charset="-122"/>
            </a:endParaRPr>
          </a:p>
        </p:txBody>
      </p:sp>
      <p:sp>
        <p:nvSpPr>
          <p:cNvPr id="153616" name="Text Box 16"/>
          <p:cNvSpPr txBox="1"/>
          <p:nvPr/>
        </p:nvSpPr>
        <p:spPr>
          <a:xfrm>
            <a:off x="9404350" y="3886200"/>
            <a:ext cx="152400" cy="30734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000" b="1" dirty="0">
                <a:solidFill>
                  <a:srgbClr val="C00000"/>
                </a:solidFill>
                <a:latin typeface="Arial" panose="020B0604020202020204" pitchFamily="34" charset="0"/>
                <a:ea typeface="宋体" panose="02010600030101010101" pitchFamily="2" charset="-122"/>
              </a:rPr>
              <a:t>6</a:t>
            </a:r>
            <a:endParaRPr lang="en-US" altLang="zh-CN" sz="2000" b="1" dirty="0">
              <a:solidFill>
                <a:srgbClr val="C00000"/>
              </a:solidFill>
              <a:latin typeface="Arial" panose="020B0604020202020204" pitchFamily="34" charset="0"/>
              <a:ea typeface="宋体" panose="02010600030101010101" pitchFamily="2" charset="-122"/>
            </a:endParaRPr>
          </a:p>
        </p:txBody>
      </p:sp>
      <p:graphicFrame>
        <p:nvGraphicFramePr>
          <p:cNvPr id="153617" name="Group 17"/>
          <p:cNvGraphicFramePr>
            <a:graphicFrameLocks noGrp="1"/>
          </p:cNvGraphicFramePr>
          <p:nvPr/>
        </p:nvGraphicFramePr>
        <p:xfrm>
          <a:off x="2771775" y="3203575"/>
          <a:ext cx="4762500" cy="911226"/>
        </p:xfrm>
        <a:graphic>
          <a:graphicData uri="http://schemas.openxmlformats.org/drawingml/2006/table">
            <a:tbl>
              <a:tblPr/>
              <a:tblGrid>
                <a:gridCol w="800100"/>
                <a:gridCol w="495300"/>
                <a:gridCol w="495300"/>
                <a:gridCol w="495300"/>
                <a:gridCol w="495300"/>
                <a:gridCol w="495300"/>
                <a:gridCol w="495300"/>
                <a:gridCol w="495300"/>
                <a:gridCol w="495300"/>
              </a:tblGrid>
              <a:tr h="455613">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下标</a:t>
                      </a:r>
                      <a:endParaRPr kumimoji="0" lang="zh-CN" altLang="en-US"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0</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1</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2</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3</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4</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5</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6</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rPr>
                        <a:t>7</a:t>
                      </a:r>
                      <a:endParaRPr kumimoji="0" lang="en-US" altLang="zh-CN" sz="1800" b="1" i="0" u="none" strike="noStrike" cap="none" normalizeH="0" baseline="0" smtClean="0">
                        <a:ln>
                          <a:noFill/>
                        </a:ln>
                        <a:solidFill>
                          <a:srgbClr val="000000"/>
                        </a:solidFill>
                        <a:effectLst/>
                        <a:latin typeface="Times New Roman" panose="02020603050405020304" pitchFamily="18" charset="0"/>
                        <a:ea typeface="楷体_GB2312" panose="02010609030101010101" pitchFamily="49" charset="-122"/>
                      </a:endParaRP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r>
              <a:tr h="455613">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3660" name="Text Box 60"/>
          <p:cNvSpPr txBox="1"/>
          <p:nvPr/>
        </p:nvSpPr>
        <p:spPr>
          <a:xfrm>
            <a:off x="4229100" y="3657600"/>
            <a:ext cx="228600" cy="46037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A</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53661" name="Text Box 61"/>
          <p:cNvSpPr txBox="1"/>
          <p:nvPr/>
        </p:nvSpPr>
        <p:spPr>
          <a:xfrm>
            <a:off x="4762500" y="3657600"/>
            <a:ext cx="228600" cy="46037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W</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53662" name="Text Box 62"/>
          <p:cNvSpPr txBox="1"/>
          <p:nvPr/>
        </p:nvSpPr>
        <p:spPr>
          <a:xfrm>
            <a:off x="5219700" y="3657600"/>
            <a:ext cx="228600" cy="46037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B</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53663" name="Text Box 63"/>
          <p:cNvSpPr txBox="1"/>
          <p:nvPr/>
        </p:nvSpPr>
        <p:spPr>
          <a:xfrm>
            <a:off x="6743700" y="3657600"/>
            <a:ext cx="228600" cy="46037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R</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53664" name="Text Box 64"/>
          <p:cNvSpPr txBox="1"/>
          <p:nvPr/>
        </p:nvSpPr>
        <p:spPr>
          <a:xfrm>
            <a:off x="5753100" y="3657600"/>
            <a:ext cx="228600" cy="46037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7030A0"/>
                </a:solidFill>
                <a:latin typeface="Arial" panose="020B0604020202020204" pitchFamily="34" charset="0"/>
                <a:ea typeface="宋体" panose="02010600030101010101" pitchFamily="2" charset="-122"/>
              </a:rPr>
              <a:t>0</a:t>
            </a:r>
            <a:endParaRPr lang="en-US" altLang="zh-CN" b="1" dirty="0">
              <a:solidFill>
                <a:srgbClr val="7030A0"/>
              </a:solidFill>
              <a:latin typeface="Arial" panose="020B0604020202020204" pitchFamily="34" charset="0"/>
              <a:ea typeface="宋体" panose="02010600030101010101" pitchFamily="2" charset="-122"/>
            </a:endParaRPr>
          </a:p>
        </p:txBody>
      </p:sp>
      <p:sp>
        <p:nvSpPr>
          <p:cNvPr id="153665" name="Text Box 65"/>
          <p:cNvSpPr txBox="1"/>
          <p:nvPr/>
        </p:nvSpPr>
        <p:spPr>
          <a:xfrm>
            <a:off x="6210300" y="3657600"/>
            <a:ext cx="228600" cy="46037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7030A0"/>
                </a:solidFill>
                <a:latin typeface="Arial" panose="020B0604020202020204" pitchFamily="34" charset="0"/>
                <a:ea typeface="宋体" panose="02010600030101010101" pitchFamily="2" charset="-122"/>
              </a:rPr>
              <a:t>0</a:t>
            </a:r>
            <a:endParaRPr lang="en-US" altLang="zh-CN" b="1" dirty="0">
              <a:solidFill>
                <a:srgbClr val="7030A0"/>
              </a:solidFill>
              <a:latin typeface="Arial" panose="020B0604020202020204" pitchFamily="34" charset="0"/>
              <a:ea typeface="宋体" panose="02010600030101010101" pitchFamily="2" charset="-122"/>
            </a:endParaRPr>
          </a:p>
        </p:txBody>
      </p:sp>
      <p:sp>
        <p:nvSpPr>
          <p:cNvPr id="153666" name="Text Box 66"/>
          <p:cNvSpPr txBox="1"/>
          <p:nvPr/>
        </p:nvSpPr>
        <p:spPr>
          <a:xfrm>
            <a:off x="7200900" y="3657600"/>
            <a:ext cx="228600" cy="460375"/>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7030A0"/>
                </a:solidFill>
                <a:latin typeface="Arial" panose="020B0604020202020204" pitchFamily="34" charset="0"/>
                <a:ea typeface="宋体" panose="02010600030101010101" pitchFamily="2" charset="-122"/>
              </a:rPr>
              <a:t>0</a:t>
            </a:r>
            <a:endParaRPr lang="en-US" altLang="zh-CN" b="1" dirty="0">
              <a:solidFill>
                <a:srgbClr val="7030A0"/>
              </a:solidFill>
              <a:latin typeface="Arial" panose="020B0604020202020204" pitchFamily="34" charset="0"/>
              <a:ea typeface="宋体" panose="02010600030101010101" pitchFamily="2" charset="-122"/>
            </a:endParaRPr>
          </a:p>
        </p:txBody>
      </p:sp>
      <p:sp>
        <p:nvSpPr>
          <p:cNvPr id="153667" name="Rectangle 67"/>
          <p:cNvSpPr/>
          <p:nvPr/>
        </p:nvSpPr>
        <p:spPr>
          <a:xfrm>
            <a:off x="692150" y="4201160"/>
            <a:ext cx="7673340" cy="461645"/>
          </a:xfrm>
          <a:prstGeom prst="rect">
            <a:avLst/>
          </a:prstGeom>
          <a:noFill/>
          <a:ln w="3175">
            <a:noFill/>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l" eaLnBrk="1" hangingPunct="1">
              <a:spcBef>
                <a:spcPct val="0"/>
              </a:spcBef>
              <a:buNone/>
            </a:pPr>
            <a:r>
              <a:rPr lang="zh-CN" altLang="en-US" b="1" dirty="0">
                <a:solidFill>
                  <a:srgbClr val="C00000"/>
                </a:solidFill>
                <a:latin typeface="微软雅黑" panose="020B0503020204020204" pitchFamily="34" charset="-122"/>
                <a:ea typeface="微软雅黑" panose="020B0503020204020204" pitchFamily="34" charset="-122"/>
              </a:rPr>
              <a:t>关于二叉树的顺序存储结构，注意以下几点：</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53669" name="Text Box 69"/>
          <p:cNvSpPr txBox="1"/>
          <p:nvPr/>
        </p:nvSpPr>
        <p:spPr>
          <a:xfrm>
            <a:off x="808355" y="5367020"/>
            <a:ext cx="9693910" cy="1144270"/>
          </a:xfrm>
          <a:prstGeom prst="rect">
            <a:avLst/>
          </a:prstGeom>
          <a:noFill/>
          <a:ln w="9525">
            <a:noFill/>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65125" lvl="0" indent="-365125" eaLnBrk="1" hangingPunct="1">
              <a:lnSpc>
                <a:spcPct val="110000"/>
              </a:lnSpc>
              <a:spcBef>
                <a:spcPct val="50000"/>
              </a:spcBef>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该方案适合于存储完全二叉树。但是，对一般的二叉树其存储效率不高。特别地，对于深度为</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的右单支树，需长度为</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aseline="30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h-1</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的数组来存储，而且数组中仅有</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h</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个非零元。</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3670" name="Text Box 70"/>
          <p:cNvSpPr txBox="1"/>
          <p:nvPr/>
        </p:nvSpPr>
        <p:spPr>
          <a:xfrm>
            <a:off x="770890" y="4857115"/>
            <a:ext cx="964247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65125" lvl="0" indent="-365125" eaLnBrk="1" hangingPunct="1">
              <a:spcBef>
                <a:spcPct val="50000"/>
              </a:spcBef>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结点之间的关系通过下标计算即可得到，因此容易访问结点</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的双亲、左右孩子。</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4.2.4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二叉树的存储结构</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13"/>
                                        </p:tgtEl>
                                        <p:attrNameLst>
                                          <p:attrName>style.visibility</p:attrName>
                                        </p:attrNameLst>
                                      </p:cBhvr>
                                      <p:to>
                                        <p:strVal val="visible"/>
                                      </p:to>
                                    </p:set>
                                    <p:animEffect transition="in" filter="wipe(left)">
                                      <p:cBhvr>
                                        <p:cTn id="7" dur="500"/>
                                        <p:tgtEl>
                                          <p:spTgt spid="1536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3614"/>
                                        </p:tgtEl>
                                        <p:attrNameLst>
                                          <p:attrName>style.visibility</p:attrName>
                                        </p:attrNameLst>
                                      </p:cBhvr>
                                      <p:to>
                                        <p:strVal val="visible"/>
                                      </p:to>
                                    </p:set>
                                    <p:animEffect transition="in" filter="wipe(left)">
                                      <p:cBhvr>
                                        <p:cTn id="11" dur="500"/>
                                        <p:tgtEl>
                                          <p:spTgt spid="15361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3615"/>
                                        </p:tgtEl>
                                        <p:attrNameLst>
                                          <p:attrName>style.visibility</p:attrName>
                                        </p:attrNameLst>
                                      </p:cBhvr>
                                      <p:to>
                                        <p:strVal val="visible"/>
                                      </p:to>
                                    </p:set>
                                    <p:animEffect transition="in" filter="wipe(left)">
                                      <p:cBhvr>
                                        <p:cTn id="15" dur="500"/>
                                        <p:tgtEl>
                                          <p:spTgt spid="1536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53616"/>
                                        </p:tgtEl>
                                        <p:attrNameLst>
                                          <p:attrName>style.visibility</p:attrName>
                                        </p:attrNameLst>
                                      </p:cBhvr>
                                      <p:to>
                                        <p:strVal val="visible"/>
                                      </p:to>
                                    </p:set>
                                    <p:animEffect transition="in" filter="wipe(left)">
                                      <p:cBhvr>
                                        <p:cTn id="19" dur="500"/>
                                        <p:tgtEl>
                                          <p:spTgt spid="15361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3660"/>
                                        </p:tgtEl>
                                        <p:attrNameLst>
                                          <p:attrName>style.visibility</p:attrName>
                                        </p:attrNameLst>
                                      </p:cBhvr>
                                      <p:to>
                                        <p:strVal val="visible"/>
                                      </p:to>
                                    </p:set>
                                    <p:animEffect transition="in" filter="wipe(left)">
                                      <p:cBhvr>
                                        <p:cTn id="24" dur="500"/>
                                        <p:tgtEl>
                                          <p:spTgt spid="153660"/>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153661"/>
                                        </p:tgtEl>
                                        <p:attrNameLst>
                                          <p:attrName>style.visibility</p:attrName>
                                        </p:attrNameLst>
                                      </p:cBhvr>
                                      <p:to>
                                        <p:strVal val="visible"/>
                                      </p:to>
                                    </p:set>
                                    <p:animEffect transition="in" filter="wipe(left)">
                                      <p:cBhvr>
                                        <p:cTn id="28" dur="500"/>
                                        <p:tgtEl>
                                          <p:spTgt spid="153661"/>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153662"/>
                                        </p:tgtEl>
                                        <p:attrNameLst>
                                          <p:attrName>style.visibility</p:attrName>
                                        </p:attrNameLst>
                                      </p:cBhvr>
                                      <p:to>
                                        <p:strVal val="visible"/>
                                      </p:to>
                                    </p:set>
                                    <p:animEffect transition="in" filter="wipe(left)">
                                      <p:cBhvr>
                                        <p:cTn id="32" dur="500"/>
                                        <p:tgtEl>
                                          <p:spTgt spid="153662"/>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153663"/>
                                        </p:tgtEl>
                                        <p:attrNameLst>
                                          <p:attrName>style.visibility</p:attrName>
                                        </p:attrNameLst>
                                      </p:cBhvr>
                                      <p:to>
                                        <p:strVal val="visible"/>
                                      </p:to>
                                    </p:set>
                                    <p:animEffect transition="in" filter="wipe(left)">
                                      <p:cBhvr>
                                        <p:cTn id="36" dur="500"/>
                                        <p:tgtEl>
                                          <p:spTgt spid="15366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3664"/>
                                        </p:tgtEl>
                                        <p:attrNameLst>
                                          <p:attrName>style.visibility</p:attrName>
                                        </p:attrNameLst>
                                      </p:cBhvr>
                                      <p:to>
                                        <p:strVal val="visible"/>
                                      </p:to>
                                    </p:set>
                                    <p:animEffect transition="in" filter="wipe(left)">
                                      <p:cBhvr>
                                        <p:cTn id="41" dur="500"/>
                                        <p:tgtEl>
                                          <p:spTgt spid="153664"/>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53665"/>
                                        </p:tgtEl>
                                        <p:attrNameLst>
                                          <p:attrName>style.visibility</p:attrName>
                                        </p:attrNameLst>
                                      </p:cBhvr>
                                      <p:to>
                                        <p:strVal val="visible"/>
                                      </p:to>
                                    </p:set>
                                    <p:animEffect transition="in" filter="wipe(left)">
                                      <p:cBhvr>
                                        <p:cTn id="45" dur="500"/>
                                        <p:tgtEl>
                                          <p:spTgt spid="153665"/>
                                        </p:tgtEl>
                                      </p:cBhvr>
                                    </p:animEffect>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153666"/>
                                        </p:tgtEl>
                                        <p:attrNameLst>
                                          <p:attrName>style.visibility</p:attrName>
                                        </p:attrNameLst>
                                      </p:cBhvr>
                                      <p:to>
                                        <p:strVal val="visible"/>
                                      </p:to>
                                    </p:set>
                                    <p:animEffect transition="in" filter="wipe(left)">
                                      <p:cBhvr>
                                        <p:cTn id="49" dur="500"/>
                                        <p:tgtEl>
                                          <p:spTgt spid="153666"/>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5366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8" presetClass="entr" presetSubtype="6" fill="hold" grpId="0" nodeType="clickEffect">
                                  <p:stCondLst>
                                    <p:cond delay="0"/>
                                  </p:stCondLst>
                                  <p:childTnLst>
                                    <p:set>
                                      <p:cBhvr>
                                        <p:cTn id="57" dur="1" fill="hold">
                                          <p:stCondLst>
                                            <p:cond delay="0"/>
                                          </p:stCondLst>
                                        </p:cTn>
                                        <p:tgtEl>
                                          <p:spTgt spid="153670"/>
                                        </p:tgtEl>
                                        <p:attrNameLst>
                                          <p:attrName>style.visibility</p:attrName>
                                        </p:attrNameLst>
                                      </p:cBhvr>
                                      <p:to>
                                        <p:strVal val="visible"/>
                                      </p:to>
                                    </p:set>
                                    <p:animEffect transition="in" filter="strips(downRight)">
                                      <p:cBhvr>
                                        <p:cTn id="58" dur="1000"/>
                                        <p:tgtEl>
                                          <p:spTgt spid="153670"/>
                                        </p:tgtEl>
                                      </p:cBhvr>
                                    </p:animEffect>
                                  </p:childTnLst>
                                </p:cTn>
                              </p:par>
                            </p:childTnLst>
                          </p:cTn>
                        </p:par>
                      </p:childTnLst>
                    </p:cTn>
                  </p:par>
                  <p:par>
                    <p:cTn id="59" fill="hold">
                      <p:stCondLst>
                        <p:cond delay="indefinite"/>
                      </p:stCondLst>
                      <p:childTnLst>
                        <p:par>
                          <p:cTn id="60" fill="hold">
                            <p:stCondLst>
                              <p:cond delay="0"/>
                            </p:stCondLst>
                            <p:childTnLst>
                              <p:par>
                                <p:cTn id="61" presetID="18" presetClass="entr" presetSubtype="6" fill="hold" grpId="0" nodeType="clickEffect">
                                  <p:stCondLst>
                                    <p:cond delay="0"/>
                                  </p:stCondLst>
                                  <p:childTnLst>
                                    <p:set>
                                      <p:cBhvr>
                                        <p:cTn id="62" dur="1" fill="hold">
                                          <p:stCondLst>
                                            <p:cond delay="0"/>
                                          </p:stCondLst>
                                        </p:cTn>
                                        <p:tgtEl>
                                          <p:spTgt spid="153669"/>
                                        </p:tgtEl>
                                        <p:attrNameLst>
                                          <p:attrName>style.visibility</p:attrName>
                                        </p:attrNameLst>
                                      </p:cBhvr>
                                      <p:to>
                                        <p:strVal val="visible"/>
                                      </p:to>
                                    </p:set>
                                    <p:animEffect transition="in" filter="strips(downRight)">
                                      <p:cBhvr>
                                        <p:cTn id="63" dur="1000"/>
                                        <p:tgtEl>
                                          <p:spTgt spid="153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13" grpId="0"/>
      <p:bldP spid="153614" grpId="0"/>
      <p:bldP spid="153615" grpId="0"/>
      <p:bldP spid="153616" grpId="0"/>
      <p:bldP spid="153660" grpId="0"/>
      <p:bldP spid="153661" grpId="0"/>
      <p:bldP spid="153662" grpId="0"/>
      <p:bldP spid="153663" grpId="0"/>
      <p:bldP spid="153664" grpId="0"/>
      <p:bldP spid="153665" grpId="0"/>
      <p:bldP spid="153666" grpId="0"/>
      <p:bldP spid="153667" grpId="0"/>
      <p:bldP spid="153669" grpId="0"/>
      <p:bldP spid="15367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7" name="Rectangle 65"/>
          <p:cNvSpPr/>
          <p:nvPr/>
        </p:nvSpPr>
        <p:spPr>
          <a:xfrm>
            <a:off x="5942965" y="25774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31748" name="Object 64"/>
          <p:cNvGraphicFramePr>
            <a:graphicFrameLocks noChangeAspect="1"/>
          </p:cNvGraphicFramePr>
          <p:nvPr/>
        </p:nvGraphicFramePr>
        <p:xfrm>
          <a:off x="2446020" y="1151255"/>
          <a:ext cx="6481445" cy="3044825"/>
        </p:xfrm>
        <a:graphic>
          <a:graphicData uri="http://schemas.openxmlformats.org/presentationml/2006/ole">
            <mc:AlternateContent xmlns:mc="http://schemas.openxmlformats.org/markup-compatibility/2006">
              <mc:Choice xmlns:v="urn:schemas-microsoft-com:vml" Requires="v">
                <p:oleObj spid="_x0000_s3096" name="" r:id="rId1" imgW="3771900" imgH="1778000" progId="Visio.Drawing.11">
                  <p:embed/>
                </p:oleObj>
              </mc:Choice>
              <mc:Fallback>
                <p:oleObj name="" r:id="rId1" imgW="3771900" imgH="1778000" progId="Visio.Drawing.11">
                  <p:embed/>
                  <p:pic>
                    <p:nvPicPr>
                      <p:cNvPr id="0" name="图片 3095"/>
                      <p:cNvPicPr/>
                      <p:nvPr/>
                    </p:nvPicPr>
                    <p:blipFill>
                      <a:blip r:embed="rId2"/>
                      <a:stretch>
                        <a:fillRect/>
                      </a:stretch>
                    </p:blipFill>
                    <p:spPr>
                      <a:xfrm>
                        <a:off x="2446020" y="1151255"/>
                        <a:ext cx="6481445" cy="3044825"/>
                      </a:xfrm>
                      <a:prstGeom prst="rect">
                        <a:avLst/>
                      </a:prstGeom>
                      <a:noFill/>
                      <a:ln w="38100">
                        <a:noFill/>
                        <a:miter/>
                      </a:ln>
                    </p:spPr>
                  </p:pic>
                </p:oleObj>
              </mc:Fallback>
            </mc:AlternateContent>
          </a:graphicData>
        </a:graphic>
      </p:graphicFrame>
      <p:sp>
        <p:nvSpPr>
          <p:cNvPr id="31749" name="Rectangle 67"/>
          <p:cNvSpPr/>
          <p:nvPr/>
        </p:nvSpPr>
        <p:spPr>
          <a:xfrm>
            <a:off x="5942965" y="29584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31750" name="Object 66"/>
          <p:cNvGraphicFramePr>
            <a:graphicFrameLocks noChangeAspect="1"/>
          </p:cNvGraphicFramePr>
          <p:nvPr/>
        </p:nvGraphicFramePr>
        <p:xfrm>
          <a:off x="2076450" y="4076700"/>
          <a:ext cx="7600950" cy="1191260"/>
        </p:xfrm>
        <a:graphic>
          <a:graphicData uri="http://schemas.openxmlformats.org/presentationml/2006/ole">
            <mc:AlternateContent xmlns:mc="http://schemas.openxmlformats.org/markup-compatibility/2006">
              <mc:Choice xmlns:v="urn:schemas-microsoft-com:vml" Requires="v">
                <p:oleObj spid="_x0000_s3094" name="" r:id="rId3" imgW="4876800" imgH="774700" progId="Visio.Drawing.11">
                  <p:embed/>
                </p:oleObj>
              </mc:Choice>
              <mc:Fallback>
                <p:oleObj name="" r:id="rId3" imgW="4876800" imgH="774700" progId="Visio.Drawing.11">
                  <p:embed/>
                  <p:pic>
                    <p:nvPicPr>
                      <p:cNvPr id="0" name="图片 3093"/>
                      <p:cNvPicPr/>
                      <p:nvPr/>
                    </p:nvPicPr>
                    <p:blipFill>
                      <a:blip r:embed="rId4"/>
                      <a:stretch>
                        <a:fillRect/>
                      </a:stretch>
                    </p:blipFill>
                    <p:spPr>
                      <a:xfrm>
                        <a:off x="2076450" y="4076700"/>
                        <a:ext cx="7600950" cy="1191260"/>
                      </a:xfrm>
                      <a:prstGeom prst="rect">
                        <a:avLst/>
                      </a:prstGeom>
                      <a:noFill/>
                      <a:ln w="38100">
                        <a:noFill/>
                        <a:miter/>
                      </a:ln>
                    </p:spPr>
                  </p:pic>
                </p:oleObj>
              </mc:Fallback>
            </mc:AlternateContent>
          </a:graphicData>
        </a:graphic>
      </p:graphicFrame>
      <p:sp>
        <p:nvSpPr>
          <p:cNvPr id="31751" name="Rectangle 69"/>
          <p:cNvSpPr/>
          <p:nvPr/>
        </p:nvSpPr>
        <p:spPr>
          <a:xfrm>
            <a:off x="5942965" y="29584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31752" name="Object 68"/>
          <p:cNvGraphicFramePr>
            <a:graphicFrameLocks noChangeAspect="1"/>
          </p:cNvGraphicFramePr>
          <p:nvPr/>
        </p:nvGraphicFramePr>
        <p:xfrm>
          <a:off x="2076450" y="5194300"/>
          <a:ext cx="7600950" cy="1204595"/>
        </p:xfrm>
        <a:graphic>
          <a:graphicData uri="http://schemas.openxmlformats.org/presentationml/2006/ole">
            <mc:AlternateContent xmlns:mc="http://schemas.openxmlformats.org/markup-compatibility/2006">
              <mc:Choice xmlns:v="urn:schemas-microsoft-com:vml" Requires="v">
                <p:oleObj spid="_x0000_s3095" name="" r:id="rId5" imgW="4876800" imgH="774700" progId="Visio.Drawing.11">
                  <p:embed/>
                </p:oleObj>
              </mc:Choice>
              <mc:Fallback>
                <p:oleObj name="" r:id="rId5" imgW="4876800" imgH="774700" progId="Visio.Drawing.11">
                  <p:embed/>
                  <p:pic>
                    <p:nvPicPr>
                      <p:cNvPr id="0" name="图片 3094"/>
                      <p:cNvPicPr/>
                      <p:nvPr/>
                    </p:nvPicPr>
                    <p:blipFill>
                      <a:blip r:embed="rId6"/>
                      <a:stretch>
                        <a:fillRect/>
                      </a:stretch>
                    </p:blipFill>
                    <p:spPr>
                      <a:xfrm>
                        <a:off x="2076450" y="5194300"/>
                        <a:ext cx="7600950" cy="1204595"/>
                      </a:xfrm>
                      <a:prstGeom prst="rect">
                        <a:avLst/>
                      </a:prstGeom>
                      <a:noFill/>
                      <a:ln w="38100">
                        <a:noFill/>
                        <a:miter/>
                      </a:ln>
                    </p:spPr>
                  </p:pic>
                </p:oleObj>
              </mc:Fallback>
            </mc:AlternateContent>
          </a:graphicData>
        </a:graphic>
      </p:graphicFrame>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二叉树的存储结构（顺序存储）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Rectangle 3"/>
          <p:cNvSpPr>
            <a:spLocks noGrp="1"/>
          </p:cNvSpPr>
          <p:nvPr>
            <p:ph idx="1"/>
          </p:nvPr>
        </p:nvSpPr>
        <p:spPr>
          <a:xfrm>
            <a:off x="354965" y="1169035"/>
            <a:ext cx="10709275" cy="4467225"/>
          </a:xfrm>
        </p:spPr>
        <p:txBody>
          <a:bodyPr vert="horz" wrap="square" lIns="91440" tIns="45720" rIns="91440" bIns="45720" anchor="t" anchorCtr="0"/>
          <a:p>
            <a:pPr eaLnBrk="1" hangingPunct="1">
              <a:lnSpc>
                <a:spcPct val="13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rPr>
              <a:t>特点：</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rPr>
              <a:t>实现：按满二叉树的结点层次编号，依次存放二叉树中的数据元素；</a:t>
            </a:r>
            <a:endParaRPr lang="zh-CN" altLang="en-US" sz="2000" dirty="0">
              <a:latin typeface="微软雅黑" panose="020B0503020204020204" pitchFamily="34" charset="-122"/>
              <a:ea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rPr>
              <a:t>结点间关系蕴含在其存储位置中（主要是双亲结点、左右孩子结点位置的查找）；</a:t>
            </a:r>
            <a:endParaRPr lang="en-US" altLang="zh-CN" sz="2000" dirty="0">
              <a:latin typeface="微软雅黑" panose="020B0503020204020204" pitchFamily="34" charset="-122"/>
              <a:ea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rPr>
              <a:t>浪费空间，适于存满二叉树和完全二叉树。</a:t>
            </a:r>
            <a:endParaRPr lang="zh-CN" altLang="en-US" sz="2000" dirty="0">
              <a:latin typeface="微软雅黑" panose="020B0503020204020204" pitchFamily="34" charset="-122"/>
              <a:ea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二叉树的存储结构（顺序存储）</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Rectangle 3"/>
          <p:cNvSpPr>
            <a:spLocks noGrp="1"/>
          </p:cNvSpPr>
          <p:nvPr>
            <p:ph idx="1"/>
          </p:nvPr>
        </p:nvSpPr>
        <p:spPr>
          <a:xfrm>
            <a:off x="448310" y="1162050"/>
            <a:ext cx="10905490" cy="5015230"/>
          </a:xfrm>
        </p:spPr>
        <p:txBody>
          <a:bodyPr vert="horz" wrap="square" lIns="91440" tIns="45720" rIns="91440" bIns="45720" anchor="t" anchorCtr="0"/>
          <a:p>
            <a:pPr eaLnBrk="1" hangingPunct="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二叉树的链式存储结构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二叉链表</a:t>
            </a:r>
            <a:endPar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None/>
            </a:pPr>
            <a:endParaRPr lang="zh-CN" altLang="en-US" sz="2400" dirty="0"/>
          </a:p>
          <a:p>
            <a:pPr eaLnBrk="1" hangingPunct="1">
              <a:buNone/>
            </a:pPr>
            <a:endParaRPr lang="zh-CN" altLang="en-US" sz="2400" dirty="0"/>
          </a:p>
        </p:txBody>
      </p:sp>
      <p:sp>
        <p:nvSpPr>
          <p:cNvPr id="20484" name="Rectangle 5"/>
          <p:cNvSpPr>
            <a:spLocks noChangeArrowheads="1"/>
          </p:cNvSpPr>
          <p:nvPr/>
        </p:nvSpPr>
        <p:spPr bwMode="auto">
          <a:xfrm>
            <a:off x="1242695" y="1904365"/>
            <a:ext cx="6090285" cy="236283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BTnode.h，二叉链表结点结构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BTnode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 Data;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BTnode&lt;ElemType&gt; *Lchild , *Rchild ;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797" name="矩形 9"/>
          <p:cNvSpPr/>
          <p:nvPr/>
        </p:nvSpPr>
        <p:spPr>
          <a:xfrm>
            <a:off x="2133600" y="4474845"/>
            <a:ext cx="914400" cy="533400"/>
          </a:xfrm>
          <a:prstGeom prst="rect">
            <a:avLst/>
          </a:prstGeom>
          <a:solidFill>
            <a:schemeClr val="accent6">
              <a:lumMod val="20000"/>
              <a:lumOff val="80000"/>
            </a:schemeClr>
          </a:solidFill>
          <a:ln w="317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solidFill>
                  <a:srgbClr val="000066"/>
                </a:solidFill>
                <a:latin typeface="Times New Roman" panose="02020603050405020304" pitchFamily="18" charset="0"/>
                <a:cs typeface="Times New Roman" panose="02020603050405020304" pitchFamily="18" charset="0"/>
              </a:rPr>
              <a:t>lchild</a:t>
            </a:r>
            <a:endParaRPr lang="en-US" altLang="zh-CN" sz="2000" dirty="0">
              <a:solidFill>
                <a:srgbClr val="000066"/>
              </a:solidFill>
              <a:latin typeface="Times New Roman" panose="02020603050405020304" pitchFamily="18" charset="0"/>
              <a:cs typeface="Times New Roman" panose="02020603050405020304" pitchFamily="18" charset="0"/>
            </a:endParaRPr>
          </a:p>
        </p:txBody>
      </p:sp>
      <p:sp>
        <p:nvSpPr>
          <p:cNvPr id="33798" name="矩形 10"/>
          <p:cNvSpPr/>
          <p:nvPr/>
        </p:nvSpPr>
        <p:spPr>
          <a:xfrm>
            <a:off x="3048000" y="4474845"/>
            <a:ext cx="914400" cy="533400"/>
          </a:xfrm>
          <a:prstGeom prst="rect">
            <a:avLst/>
          </a:prstGeom>
          <a:solidFill>
            <a:schemeClr val="accent6">
              <a:lumMod val="20000"/>
              <a:lumOff val="80000"/>
            </a:schemeClr>
          </a:solidFill>
          <a:ln w="317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solidFill>
                  <a:srgbClr val="000066"/>
                </a:solidFill>
                <a:latin typeface="Times New Roman" panose="02020603050405020304" pitchFamily="18" charset="0"/>
                <a:cs typeface="Times New Roman" panose="02020603050405020304" pitchFamily="18" charset="0"/>
              </a:rPr>
              <a:t>data</a:t>
            </a:r>
            <a:endParaRPr lang="zh-CN" altLang="en-US" sz="2000" dirty="0">
              <a:solidFill>
                <a:srgbClr val="000066"/>
              </a:solidFill>
              <a:latin typeface="Times New Roman" panose="02020603050405020304" pitchFamily="18" charset="0"/>
              <a:cs typeface="Times New Roman" panose="02020603050405020304" pitchFamily="18" charset="0"/>
            </a:endParaRPr>
          </a:p>
        </p:txBody>
      </p:sp>
      <p:sp>
        <p:nvSpPr>
          <p:cNvPr id="33799" name="矩形 11"/>
          <p:cNvSpPr/>
          <p:nvPr/>
        </p:nvSpPr>
        <p:spPr>
          <a:xfrm>
            <a:off x="3962400" y="4474845"/>
            <a:ext cx="914400" cy="533400"/>
          </a:xfrm>
          <a:prstGeom prst="rect">
            <a:avLst/>
          </a:prstGeom>
          <a:solidFill>
            <a:schemeClr val="accent6">
              <a:lumMod val="20000"/>
              <a:lumOff val="80000"/>
            </a:schemeClr>
          </a:solidFill>
          <a:ln w="317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solidFill>
                  <a:srgbClr val="000066"/>
                </a:solidFill>
                <a:latin typeface="Times New Roman" panose="02020603050405020304" pitchFamily="18" charset="0"/>
                <a:cs typeface="Times New Roman" panose="02020603050405020304" pitchFamily="18" charset="0"/>
              </a:rPr>
              <a:t>rchild</a:t>
            </a:r>
            <a:endParaRPr lang="en-US" altLang="zh-CN" sz="2000" dirty="0">
              <a:solidFill>
                <a:srgbClr val="000066"/>
              </a:solidFill>
              <a:latin typeface="Times New Roman" panose="02020603050405020304" pitchFamily="18" charset="0"/>
              <a:cs typeface="Times New Roman" panose="02020603050405020304" pitchFamily="18" charset="0"/>
            </a:endParaRPr>
          </a:p>
        </p:txBody>
      </p:sp>
      <p:sp>
        <p:nvSpPr>
          <p:cNvPr id="26633" name="Rectangle 9"/>
          <p:cNvSpPr/>
          <p:nvPr/>
        </p:nvSpPr>
        <p:spPr>
          <a:xfrm>
            <a:off x="1242695" y="5119370"/>
            <a:ext cx="4846320" cy="1259205"/>
          </a:xfrm>
          <a:prstGeom prst="rect">
            <a:avLst/>
          </a:prstGeom>
          <a:solidFill>
            <a:schemeClr val="accent1">
              <a:lumMod val="20000"/>
              <a:lumOff val="80000"/>
            </a:schemeClr>
          </a:solidFill>
          <a:ln w="9525" cap="flat" cmpd="sng">
            <a:solidFill>
              <a:schemeClr val="tx1"/>
            </a:solidFill>
            <a:prstDash val="solid"/>
            <a:miter/>
            <a:headEnd type="none" w="med" len="med"/>
            <a:tailEnd type="none" w="med" len="med"/>
          </a:ln>
        </p:spPr>
        <p:txBody>
          <a:bodyPr anchor="ctr" anchorCtr="0">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defTabSz="914400" eaLnBrk="1" hangingPunct="1">
              <a:lnSpc>
                <a:spcPct val="90000"/>
              </a:lnSpc>
              <a:spcBef>
                <a:spcPct val="35000"/>
              </a:spcBef>
              <a:buFont typeface="Wingdings" panose="05000000000000000000" pitchFamily="2" charset="2"/>
              <a:buChar char="Ø"/>
              <a:tabLst>
                <a:tab pos="266700" algn="l"/>
              </a:tabLst>
            </a:pP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数据域：用来存储数据元素的值；</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defTabSz="914400" eaLnBrk="1" hangingPunct="1">
              <a:lnSpc>
                <a:spcPct val="90000"/>
              </a:lnSpc>
              <a:spcBef>
                <a:spcPct val="35000"/>
              </a:spcBef>
              <a:buFont typeface="Wingdings" panose="05000000000000000000" pitchFamily="2" charset="2"/>
              <a:buChar char="Ø"/>
              <a:tabLst>
                <a:tab pos="266700" algn="l"/>
              </a:tabLst>
            </a:pP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左指针域：存放的是其左孩子结点的地址；</a:t>
            </a:r>
            <a:endPar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defTabSz="914400" eaLnBrk="1" hangingPunct="1">
              <a:lnSpc>
                <a:spcPct val="90000"/>
              </a:lnSpc>
              <a:spcBef>
                <a:spcPct val="35000"/>
              </a:spcBef>
              <a:buFont typeface="Wingdings" panose="05000000000000000000" pitchFamily="2" charset="2"/>
              <a:buChar char="Ø"/>
              <a:tabLst>
                <a:tab pos="266700" algn="l"/>
              </a:tabLst>
            </a:pP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右指针域：存放的是其右孩子结点的地址</a:t>
            </a:r>
            <a:r>
              <a:rPr lang="zh-CN" altLang="en-US" sz="1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634" name="Rectangle 10"/>
          <p:cNvSpPr/>
          <p:nvPr/>
        </p:nvSpPr>
        <p:spPr>
          <a:xfrm>
            <a:off x="8383905" y="2057400"/>
            <a:ext cx="2209800" cy="2529205"/>
          </a:xfrm>
          <a:prstGeom prst="rect">
            <a:avLst/>
          </a:prstGeom>
          <a:solidFill>
            <a:schemeClr val="accent1">
              <a:lumMod val="20000"/>
              <a:lumOff val="80000"/>
            </a:schemeClr>
          </a:solidFill>
          <a:ln w="3175" cap="flat" cmpd="sng">
            <a:solidFill>
              <a:schemeClr val="tx1"/>
            </a:solidFill>
            <a:prstDash val="solid"/>
            <a:miter/>
            <a:headEnd type="none" w="med" len="med"/>
            <a:tailEnd type="none" w="med" len="med"/>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457200" eaLnBrk="1" hangingPunct="1">
              <a:lnSpc>
                <a:spcPct val="110000"/>
              </a:lnSpc>
              <a:spcBef>
                <a:spcPts val="0"/>
              </a:spcBef>
              <a:buNone/>
            </a:pPr>
            <a:r>
              <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正是由于每个结点中含有两个指针，所以这种链式结构被称为</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二叉链表</a:t>
            </a:r>
            <a:r>
              <a:rPr lang="zh-CN" altLang="en-US" sz="18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457200" eaLnBrk="1" hangingPunct="1">
              <a:lnSpc>
                <a:spcPct val="110000"/>
              </a:lnSpc>
              <a:spcBef>
                <a:spcPts val="0"/>
              </a:spcBef>
              <a:buNone/>
            </a:pPr>
            <a:r>
              <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另外，在二叉链表中，链表的头指针</a:t>
            </a:r>
            <a:r>
              <a:rPr lang="en-US" altLang="zh-CN"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指向根结点。</a:t>
            </a:r>
            <a:endPar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4.2.4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二叉树的存储结构</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634"/>
                                        </p:tgtEl>
                                        <p:attrNameLst>
                                          <p:attrName>style.visibility</p:attrName>
                                        </p:attrNameLst>
                                      </p:cBhvr>
                                      <p:to>
                                        <p:strVal val="visible"/>
                                      </p:to>
                                    </p:set>
                                    <p:anim calcmode="lin" valueType="num">
                                      <p:cBhvr additive="base">
                                        <p:cTn id="7" dur="500" fill="hold"/>
                                        <p:tgtEl>
                                          <p:spTgt spid="26634"/>
                                        </p:tgtEl>
                                        <p:attrNameLst>
                                          <p:attrName>ppt_x</p:attrName>
                                        </p:attrNameLst>
                                      </p:cBhvr>
                                      <p:tavLst>
                                        <p:tav tm="0">
                                          <p:val>
                                            <p:strVal val="1+#ppt_w/2"/>
                                          </p:val>
                                        </p:tav>
                                        <p:tav tm="100000">
                                          <p:val>
                                            <p:strVal val="#ppt_x"/>
                                          </p:val>
                                        </p:tav>
                                      </p:tavLst>
                                    </p:anim>
                                    <p:anim calcmode="lin" valueType="num">
                                      <p:cBhvr additive="base">
                                        <p:cTn id="8" dur="500" fill="hold"/>
                                        <p:tgtEl>
                                          <p:spTgt spid="266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6633"/>
                                        </p:tgtEl>
                                        <p:attrNameLst>
                                          <p:attrName>style.visibility</p:attrName>
                                        </p:attrNameLst>
                                      </p:cBhvr>
                                      <p:to>
                                        <p:strVal val="visible"/>
                                      </p:to>
                                    </p:set>
                                    <p:animEffect transition="in" filter="slide(fromBottom)">
                                      <p:cBhvr>
                                        <p:cTn id="13" dur="500"/>
                                        <p:tgtEl>
                                          <p:spTgt spid="26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3" grpId="0" bldLvl="0" animBg="1"/>
      <p:bldP spid="26634"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819" name="Group 4"/>
          <p:cNvGrpSpPr/>
          <p:nvPr/>
        </p:nvGrpSpPr>
        <p:grpSpPr>
          <a:xfrm>
            <a:off x="1592580" y="1520825"/>
            <a:ext cx="2112645" cy="2917190"/>
            <a:chOff x="703" y="2015"/>
            <a:chExt cx="1022" cy="1672"/>
          </a:xfrm>
        </p:grpSpPr>
        <p:sp>
          <p:nvSpPr>
            <p:cNvPr id="34861" name="Oval 5"/>
            <p:cNvSpPr/>
            <p:nvPr/>
          </p:nvSpPr>
          <p:spPr>
            <a:xfrm>
              <a:off x="1222" y="2015"/>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a:t>
              </a:r>
              <a:endParaRPr lang="en-US" altLang="zh-CN" sz="2000" i="1" dirty="0">
                <a:ea typeface="宋体" panose="02010600030101010101" pitchFamily="2" charset="-122"/>
              </a:endParaRPr>
            </a:p>
          </p:txBody>
        </p:sp>
        <p:sp>
          <p:nvSpPr>
            <p:cNvPr id="34862" name="Oval 6"/>
            <p:cNvSpPr/>
            <p:nvPr/>
          </p:nvSpPr>
          <p:spPr>
            <a:xfrm>
              <a:off x="974" y="2367"/>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B</a:t>
              </a:r>
              <a:endParaRPr lang="en-US" altLang="zh-CN" sz="2000" i="1" dirty="0">
                <a:ea typeface="宋体" panose="02010600030101010101" pitchFamily="2" charset="-122"/>
              </a:endParaRPr>
            </a:p>
          </p:txBody>
        </p:sp>
        <p:sp>
          <p:nvSpPr>
            <p:cNvPr id="34863" name="Oval 7"/>
            <p:cNvSpPr/>
            <p:nvPr/>
          </p:nvSpPr>
          <p:spPr>
            <a:xfrm>
              <a:off x="703" y="2729"/>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C</a:t>
              </a:r>
              <a:endParaRPr lang="en-US" altLang="zh-CN" sz="2000" i="1" dirty="0">
                <a:ea typeface="宋体" panose="02010600030101010101" pitchFamily="2" charset="-122"/>
              </a:endParaRPr>
            </a:p>
          </p:txBody>
        </p:sp>
        <p:sp>
          <p:nvSpPr>
            <p:cNvPr id="34864" name="Oval 8"/>
            <p:cNvSpPr/>
            <p:nvPr/>
          </p:nvSpPr>
          <p:spPr>
            <a:xfrm>
              <a:off x="1215" y="2729"/>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D</a:t>
              </a:r>
              <a:endParaRPr lang="en-US" altLang="zh-CN" sz="2000" i="1" dirty="0">
                <a:ea typeface="宋体" panose="02010600030101010101" pitchFamily="2" charset="-122"/>
              </a:endParaRPr>
            </a:p>
          </p:txBody>
        </p:sp>
        <p:sp>
          <p:nvSpPr>
            <p:cNvPr id="34865" name="Oval 9"/>
            <p:cNvSpPr/>
            <p:nvPr/>
          </p:nvSpPr>
          <p:spPr>
            <a:xfrm>
              <a:off x="1015" y="3051"/>
              <a:ext cx="255" cy="23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E</a:t>
              </a:r>
              <a:endParaRPr lang="en-US" altLang="zh-CN" sz="2000" i="1" dirty="0">
                <a:ea typeface="宋体" panose="02010600030101010101" pitchFamily="2" charset="-122"/>
              </a:endParaRPr>
            </a:p>
          </p:txBody>
        </p:sp>
        <p:sp>
          <p:nvSpPr>
            <p:cNvPr id="34866" name="Oval 10"/>
            <p:cNvSpPr/>
            <p:nvPr/>
          </p:nvSpPr>
          <p:spPr>
            <a:xfrm>
              <a:off x="1470" y="3051"/>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F</a:t>
              </a:r>
              <a:endParaRPr lang="en-US" altLang="zh-CN" sz="2000" i="1" dirty="0">
                <a:ea typeface="宋体" panose="02010600030101010101" pitchFamily="2" charset="-122"/>
              </a:endParaRPr>
            </a:p>
          </p:txBody>
        </p:sp>
        <p:sp>
          <p:nvSpPr>
            <p:cNvPr id="34867" name="Oval 11"/>
            <p:cNvSpPr/>
            <p:nvPr/>
          </p:nvSpPr>
          <p:spPr>
            <a:xfrm>
              <a:off x="1225" y="3463"/>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G</a:t>
              </a:r>
              <a:endParaRPr lang="en-US" altLang="zh-CN" sz="2000" i="1" dirty="0">
                <a:ea typeface="宋体" panose="02010600030101010101" pitchFamily="2" charset="-122"/>
              </a:endParaRPr>
            </a:p>
          </p:txBody>
        </p:sp>
        <p:sp>
          <p:nvSpPr>
            <p:cNvPr id="34868" name="Line 12"/>
            <p:cNvSpPr/>
            <p:nvPr/>
          </p:nvSpPr>
          <p:spPr>
            <a:xfrm flipH="1">
              <a:off x="1156" y="2200"/>
              <a:ext cx="111" cy="190"/>
            </a:xfrm>
            <a:prstGeom prst="line">
              <a:avLst/>
            </a:prstGeom>
            <a:ln w="9525" cap="flat" cmpd="sng">
              <a:solidFill>
                <a:schemeClr val="tx1"/>
              </a:solidFill>
              <a:prstDash val="solid"/>
              <a:headEnd type="none" w="med" len="med"/>
              <a:tailEnd type="none" w="med" len="med"/>
            </a:ln>
          </p:spPr>
        </p:sp>
        <p:sp>
          <p:nvSpPr>
            <p:cNvPr id="34869" name="Line 13"/>
            <p:cNvSpPr/>
            <p:nvPr/>
          </p:nvSpPr>
          <p:spPr>
            <a:xfrm flipH="1">
              <a:off x="911" y="2566"/>
              <a:ext cx="122" cy="189"/>
            </a:xfrm>
            <a:prstGeom prst="line">
              <a:avLst/>
            </a:prstGeom>
            <a:ln w="9525" cap="flat" cmpd="sng">
              <a:solidFill>
                <a:schemeClr val="tx1"/>
              </a:solidFill>
              <a:prstDash val="solid"/>
              <a:headEnd type="none" w="med" len="med"/>
              <a:tailEnd type="none" w="med" len="med"/>
            </a:ln>
          </p:spPr>
        </p:sp>
        <p:sp>
          <p:nvSpPr>
            <p:cNvPr id="34870" name="Line 14"/>
            <p:cNvSpPr/>
            <p:nvPr/>
          </p:nvSpPr>
          <p:spPr>
            <a:xfrm>
              <a:off x="1189" y="2566"/>
              <a:ext cx="133" cy="189"/>
            </a:xfrm>
            <a:prstGeom prst="line">
              <a:avLst/>
            </a:prstGeom>
            <a:ln w="9525" cap="flat" cmpd="sng">
              <a:solidFill>
                <a:schemeClr val="tx1"/>
              </a:solidFill>
              <a:prstDash val="solid"/>
              <a:headEnd type="none" w="med" len="med"/>
              <a:tailEnd type="none" w="med" len="med"/>
            </a:ln>
          </p:spPr>
        </p:sp>
        <p:sp>
          <p:nvSpPr>
            <p:cNvPr id="34871" name="Line 15"/>
            <p:cNvSpPr/>
            <p:nvPr/>
          </p:nvSpPr>
          <p:spPr>
            <a:xfrm flipH="1">
              <a:off x="1211" y="2955"/>
              <a:ext cx="78" cy="145"/>
            </a:xfrm>
            <a:prstGeom prst="line">
              <a:avLst/>
            </a:prstGeom>
            <a:ln w="9525" cap="flat" cmpd="sng">
              <a:solidFill>
                <a:schemeClr val="tx1"/>
              </a:solidFill>
              <a:prstDash val="solid"/>
              <a:headEnd type="none" w="med" len="med"/>
              <a:tailEnd type="none" w="med" len="med"/>
            </a:ln>
          </p:spPr>
        </p:sp>
        <p:sp>
          <p:nvSpPr>
            <p:cNvPr id="34872" name="Line 16"/>
            <p:cNvSpPr/>
            <p:nvPr/>
          </p:nvSpPr>
          <p:spPr>
            <a:xfrm>
              <a:off x="1411" y="2933"/>
              <a:ext cx="112" cy="145"/>
            </a:xfrm>
            <a:prstGeom prst="line">
              <a:avLst/>
            </a:prstGeom>
            <a:ln w="9525" cap="flat" cmpd="sng">
              <a:solidFill>
                <a:schemeClr val="tx1"/>
              </a:solidFill>
              <a:prstDash val="solid"/>
              <a:headEnd type="none" w="med" len="med"/>
              <a:tailEnd type="none" w="med" len="med"/>
            </a:ln>
          </p:spPr>
        </p:sp>
        <p:sp>
          <p:nvSpPr>
            <p:cNvPr id="34873" name="Line 17"/>
            <p:cNvSpPr/>
            <p:nvPr/>
          </p:nvSpPr>
          <p:spPr>
            <a:xfrm>
              <a:off x="1178" y="3277"/>
              <a:ext cx="133" cy="189"/>
            </a:xfrm>
            <a:prstGeom prst="line">
              <a:avLst/>
            </a:prstGeom>
            <a:ln w="9525" cap="flat" cmpd="sng">
              <a:solidFill>
                <a:schemeClr val="tx1"/>
              </a:solidFill>
              <a:prstDash val="solid"/>
              <a:headEnd type="none" w="med" len="med"/>
              <a:tailEnd type="none" w="med" len="med"/>
            </a:ln>
          </p:spPr>
        </p:sp>
      </p:grpSp>
      <p:sp>
        <p:nvSpPr>
          <p:cNvPr id="34820" name="Rectangle 20"/>
          <p:cNvSpPr/>
          <p:nvPr/>
        </p:nvSpPr>
        <p:spPr>
          <a:xfrm>
            <a:off x="6880225" y="1616075"/>
            <a:ext cx="1235075" cy="4064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a:t>
            </a:r>
            <a:endParaRPr lang="en-US" altLang="zh-CN" sz="2000" i="1" dirty="0">
              <a:ea typeface="宋体" panose="02010600030101010101" pitchFamily="2" charset="-122"/>
            </a:endParaRPr>
          </a:p>
        </p:txBody>
      </p:sp>
      <p:sp>
        <p:nvSpPr>
          <p:cNvPr id="34821" name="Line 21"/>
          <p:cNvSpPr/>
          <p:nvPr/>
        </p:nvSpPr>
        <p:spPr>
          <a:xfrm>
            <a:off x="7251700" y="1616075"/>
            <a:ext cx="0" cy="406400"/>
          </a:xfrm>
          <a:prstGeom prst="line">
            <a:avLst/>
          </a:prstGeom>
          <a:ln w="9525" cap="flat" cmpd="sng">
            <a:solidFill>
              <a:schemeClr val="tx1"/>
            </a:solidFill>
            <a:prstDash val="solid"/>
            <a:headEnd type="none" w="med" len="med"/>
            <a:tailEnd type="none" w="med" len="med"/>
          </a:ln>
        </p:spPr>
      </p:sp>
      <p:sp>
        <p:nvSpPr>
          <p:cNvPr id="34822" name="Line 22"/>
          <p:cNvSpPr/>
          <p:nvPr/>
        </p:nvSpPr>
        <p:spPr>
          <a:xfrm>
            <a:off x="7693025" y="1616075"/>
            <a:ext cx="0" cy="406400"/>
          </a:xfrm>
          <a:prstGeom prst="line">
            <a:avLst/>
          </a:prstGeom>
          <a:ln w="9525" cap="flat" cmpd="sng">
            <a:solidFill>
              <a:schemeClr val="tx1"/>
            </a:solidFill>
            <a:prstDash val="solid"/>
            <a:headEnd type="none" w="med" len="med"/>
            <a:tailEnd type="none" w="med" len="med"/>
          </a:ln>
        </p:spPr>
      </p:sp>
      <p:sp>
        <p:nvSpPr>
          <p:cNvPr id="34823" name="Rectangle 24"/>
          <p:cNvSpPr/>
          <p:nvPr/>
        </p:nvSpPr>
        <p:spPr>
          <a:xfrm>
            <a:off x="6119813" y="2263775"/>
            <a:ext cx="1235075" cy="4064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B</a:t>
            </a:r>
            <a:endParaRPr lang="en-US" altLang="zh-CN" sz="2000" i="1" dirty="0">
              <a:ea typeface="宋体" panose="02010600030101010101" pitchFamily="2" charset="-122"/>
            </a:endParaRPr>
          </a:p>
        </p:txBody>
      </p:sp>
      <p:sp>
        <p:nvSpPr>
          <p:cNvPr id="34824" name="Line 25"/>
          <p:cNvSpPr/>
          <p:nvPr/>
        </p:nvSpPr>
        <p:spPr>
          <a:xfrm>
            <a:off x="6505575" y="2263775"/>
            <a:ext cx="0" cy="406400"/>
          </a:xfrm>
          <a:prstGeom prst="line">
            <a:avLst/>
          </a:prstGeom>
          <a:ln w="9525" cap="flat" cmpd="sng">
            <a:solidFill>
              <a:schemeClr val="tx1"/>
            </a:solidFill>
            <a:prstDash val="solid"/>
            <a:headEnd type="none" w="med" len="med"/>
            <a:tailEnd type="none" w="med" len="med"/>
          </a:ln>
        </p:spPr>
      </p:sp>
      <p:sp>
        <p:nvSpPr>
          <p:cNvPr id="34825" name="Line 26"/>
          <p:cNvSpPr/>
          <p:nvPr/>
        </p:nvSpPr>
        <p:spPr>
          <a:xfrm>
            <a:off x="6946900" y="2263775"/>
            <a:ext cx="0" cy="406400"/>
          </a:xfrm>
          <a:prstGeom prst="line">
            <a:avLst/>
          </a:prstGeom>
          <a:ln w="9525" cap="flat" cmpd="sng">
            <a:solidFill>
              <a:schemeClr val="tx1"/>
            </a:solidFill>
            <a:prstDash val="solid"/>
            <a:headEnd type="none" w="med" len="med"/>
            <a:tailEnd type="none" w="med" len="med"/>
          </a:ln>
        </p:spPr>
      </p:sp>
      <p:sp>
        <p:nvSpPr>
          <p:cNvPr id="34826" name="Rectangle 28"/>
          <p:cNvSpPr/>
          <p:nvPr/>
        </p:nvSpPr>
        <p:spPr>
          <a:xfrm>
            <a:off x="5676900" y="3057525"/>
            <a:ext cx="1235075" cy="4064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C</a:t>
            </a:r>
            <a:endParaRPr lang="en-US" altLang="zh-CN" sz="2000" i="1" dirty="0">
              <a:ea typeface="宋体" panose="02010600030101010101" pitchFamily="2" charset="-122"/>
            </a:endParaRPr>
          </a:p>
        </p:txBody>
      </p:sp>
      <p:sp>
        <p:nvSpPr>
          <p:cNvPr id="34827" name="Line 29"/>
          <p:cNvSpPr/>
          <p:nvPr/>
        </p:nvSpPr>
        <p:spPr>
          <a:xfrm>
            <a:off x="6048375" y="3057525"/>
            <a:ext cx="0" cy="406400"/>
          </a:xfrm>
          <a:prstGeom prst="line">
            <a:avLst/>
          </a:prstGeom>
          <a:ln w="9525" cap="flat" cmpd="sng">
            <a:solidFill>
              <a:schemeClr val="tx1"/>
            </a:solidFill>
            <a:prstDash val="solid"/>
            <a:headEnd type="none" w="med" len="med"/>
            <a:tailEnd type="none" w="med" len="med"/>
          </a:ln>
        </p:spPr>
      </p:sp>
      <p:sp>
        <p:nvSpPr>
          <p:cNvPr id="34828" name="Line 30"/>
          <p:cNvSpPr/>
          <p:nvPr/>
        </p:nvSpPr>
        <p:spPr>
          <a:xfrm>
            <a:off x="6503988" y="3057525"/>
            <a:ext cx="0" cy="406400"/>
          </a:xfrm>
          <a:prstGeom prst="line">
            <a:avLst/>
          </a:prstGeom>
          <a:ln w="9525" cap="flat" cmpd="sng">
            <a:solidFill>
              <a:schemeClr val="tx1"/>
            </a:solidFill>
            <a:prstDash val="solid"/>
            <a:headEnd type="none" w="med" len="med"/>
            <a:tailEnd type="none" w="med" len="med"/>
          </a:ln>
        </p:spPr>
      </p:sp>
      <p:sp>
        <p:nvSpPr>
          <p:cNvPr id="34829" name="Rectangle 32"/>
          <p:cNvSpPr/>
          <p:nvPr/>
        </p:nvSpPr>
        <p:spPr>
          <a:xfrm>
            <a:off x="7210425" y="3055938"/>
            <a:ext cx="1235075" cy="4064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D</a:t>
            </a:r>
            <a:endParaRPr lang="en-US" altLang="zh-CN" sz="2000" i="1" dirty="0">
              <a:ea typeface="宋体" panose="02010600030101010101" pitchFamily="2" charset="-122"/>
            </a:endParaRPr>
          </a:p>
        </p:txBody>
      </p:sp>
      <p:sp>
        <p:nvSpPr>
          <p:cNvPr id="34830" name="Line 33"/>
          <p:cNvSpPr/>
          <p:nvPr/>
        </p:nvSpPr>
        <p:spPr>
          <a:xfrm>
            <a:off x="7581900" y="3055938"/>
            <a:ext cx="0" cy="406400"/>
          </a:xfrm>
          <a:prstGeom prst="line">
            <a:avLst/>
          </a:prstGeom>
          <a:ln w="9525" cap="flat" cmpd="sng">
            <a:solidFill>
              <a:schemeClr val="tx1"/>
            </a:solidFill>
            <a:prstDash val="solid"/>
            <a:headEnd type="none" w="med" len="med"/>
            <a:tailEnd type="none" w="med" len="med"/>
          </a:ln>
        </p:spPr>
      </p:sp>
      <p:sp>
        <p:nvSpPr>
          <p:cNvPr id="34831" name="Line 34"/>
          <p:cNvSpPr/>
          <p:nvPr/>
        </p:nvSpPr>
        <p:spPr>
          <a:xfrm>
            <a:off x="8023225" y="3055938"/>
            <a:ext cx="0" cy="406400"/>
          </a:xfrm>
          <a:prstGeom prst="line">
            <a:avLst/>
          </a:prstGeom>
          <a:ln w="9525" cap="flat" cmpd="sng">
            <a:solidFill>
              <a:schemeClr val="tx1"/>
            </a:solidFill>
            <a:prstDash val="solid"/>
            <a:headEnd type="none" w="med" len="med"/>
            <a:tailEnd type="none" w="med" len="med"/>
          </a:ln>
        </p:spPr>
      </p:sp>
      <p:sp>
        <p:nvSpPr>
          <p:cNvPr id="34832" name="Rectangle 36"/>
          <p:cNvSpPr/>
          <p:nvPr/>
        </p:nvSpPr>
        <p:spPr>
          <a:xfrm>
            <a:off x="6503988" y="3865563"/>
            <a:ext cx="1235075" cy="4064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E</a:t>
            </a:r>
            <a:endParaRPr lang="en-US" altLang="zh-CN" sz="2000" i="1" dirty="0">
              <a:ea typeface="宋体" panose="02010600030101010101" pitchFamily="2" charset="-122"/>
            </a:endParaRPr>
          </a:p>
        </p:txBody>
      </p:sp>
      <p:sp>
        <p:nvSpPr>
          <p:cNvPr id="34833" name="Line 37"/>
          <p:cNvSpPr/>
          <p:nvPr/>
        </p:nvSpPr>
        <p:spPr>
          <a:xfrm>
            <a:off x="6875463" y="3865563"/>
            <a:ext cx="0" cy="406400"/>
          </a:xfrm>
          <a:prstGeom prst="line">
            <a:avLst/>
          </a:prstGeom>
          <a:ln w="9525" cap="flat" cmpd="sng">
            <a:solidFill>
              <a:schemeClr val="tx1"/>
            </a:solidFill>
            <a:prstDash val="solid"/>
            <a:headEnd type="none" w="med" len="med"/>
            <a:tailEnd type="none" w="med" len="med"/>
          </a:ln>
        </p:spPr>
      </p:sp>
      <p:sp>
        <p:nvSpPr>
          <p:cNvPr id="34834" name="Line 38"/>
          <p:cNvSpPr/>
          <p:nvPr/>
        </p:nvSpPr>
        <p:spPr>
          <a:xfrm>
            <a:off x="7316788" y="3865563"/>
            <a:ext cx="0" cy="406400"/>
          </a:xfrm>
          <a:prstGeom prst="line">
            <a:avLst/>
          </a:prstGeom>
          <a:ln w="9525" cap="flat" cmpd="sng">
            <a:solidFill>
              <a:schemeClr val="tx1"/>
            </a:solidFill>
            <a:prstDash val="solid"/>
            <a:headEnd type="none" w="med" len="med"/>
            <a:tailEnd type="none" w="med" len="med"/>
          </a:ln>
        </p:spPr>
      </p:sp>
      <p:sp>
        <p:nvSpPr>
          <p:cNvPr id="34835" name="Rectangle 40"/>
          <p:cNvSpPr/>
          <p:nvPr/>
        </p:nvSpPr>
        <p:spPr>
          <a:xfrm>
            <a:off x="7985125" y="3849688"/>
            <a:ext cx="1235075" cy="4064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F</a:t>
            </a:r>
            <a:endParaRPr lang="en-US" altLang="zh-CN" sz="2000" i="1" dirty="0">
              <a:ea typeface="宋体" panose="02010600030101010101" pitchFamily="2" charset="-122"/>
            </a:endParaRPr>
          </a:p>
        </p:txBody>
      </p:sp>
      <p:sp>
        <p:nvSpPr>
          <p:cNvPr id="34836" name="Line 41"/>
          <p:cNvSpPr/>
          <p:nvPr/>
        </p:nvSpPr>
        <p:spPr>
          <a:xfrm>
            <a:off x="8356600" y="3849688"/>
            <a:ext cx="0" cy="406400"/>
          </a:xfrm>
          <a:prstGeom prst="line">
            <a:avLst/>
          </a:prstGeom>
          <a:ln w="9525" cap="flat" cmpd="sng">
            <a:solidFill>
              <a:schemeClr val="tx1"/>
            </a:solidFill>
            <a:prstDash val="solid"/>
            <a:headEnd type="none" w="med" len="med"/>
            <a:tailEnd type="none" w="med" len="med"/>
          </a:ln>
        </p:spPr>
      </p:sp>
      <p:sp>
        <p:nvSpPr>
          <p:cNvPr id="34837" name="Line 42"/>
          <p:cNvSpPr/>
          <p:nvPr/>
        </p:nvSpPr>
        <p:spPr>
          <a:xfrm>
            <a:off x="8797925" y="3849688"/>
            <a:ext cx="0" cy="406400"/>
          </a:xfrm>
          <a:prstGeom prst="line">
            <a:avLst/>
          </a:prstGeom>
          <a:ln w="9525" cap="flat" cmpd="sng">
            <a:solidFill>
              <a:schemeClr val="tx1"/>
            </a:solidFill>
            <a:prstDash val="solid"/>
            <a:headEnd type="none" w="med" len="med"/>
            <a:tailEnd type="none" w="med" len="med"/>
          </a:ln>
        </p:spPr>
      </p:sp>
      <p:sp>
        <p:nvSpPr>
          <p:cNvPr id="34838" name="Rectangle 44"/>
          <p:cNvSpPr/>
          <p:nvPr/>
        </p:nvSpPr>
        <p:spPr>
          <a:xfrm>
            <a:off x="7227888" y="4622800"/>
            <a:ext cx="1235075" cy="4064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G</a:t>
            </a:r>
            <a:endParaRPr lang="en-US" altLang="zh-CN" sz="2000" i="1" dirty="0">
              <a:ea typeface="宋体" panose="02010600030101010101" pitchFamily="2" charset="-122"/>
            </a:endParaRPr>
          </a:p>
        </p:txBody>
      </p:sp>
      <p:sp>
        <p:nvSpPr>
          <p:cNvPr id="34839" name="Line 45"/>
          <p:cNvSpPr/>
          <p:nvPr/>
        </p:nvSpPr>
        <p:spPr>
          <a:xfrm>
            <a:off x="7599363" y="4622800"/>
            <a:ext cx="0" cy="406400"/>
          </a:xfrm>
          <a:prstGeom prst="line">
            <a:avLst/>
          </a:prstGeom>
          <a:ln w="9525" cap="flat" cmpd="sng">
            <a:solidFill>
              <a:schemeClr val="tx1"/>
            </a:solidFill>
            <a:prstDash val="solid"/>
            <a:headEnd type="none" w="med" len="med"/>
            <a:tailEnd type="none" w="med" len="med"/>
          </a:ln>
        </p:spPr>
      </p:sp>
      <p:sp>
        <p:nvSpPr>
          <p:cNvPr id="34840" name="Line 46"/>
          <p:cNvSpPr/>
          <p:nvPr/>
        </p:nvSpPr>
        <p:spPr>
          <a:xfrm>
            <a:off x="8040688" y="4622800"/>
            <a:ext cx="0" cy="406400"/>
          </a:xfrm>
          <a:prstGeom prst="line">
            <a:avLst/>
          </a:prstGeom>
          <a:ln w="9525" cap="flat" cmpd="sng">
            <a:solidFill>
              <a:schemeClr val="tx1"/>
            </a:solidFill>
            <a:prstDash val="solid"/>
            <a:headEnd type="none" w="med" len="med"/>
            <a:tailEnd type="none" w="med" len="med"/>
          </a:ln>
        </p:spPr>
      </p:sp>
      <p:sp>
        <p:nvSpPr>
          <p:cNvPr id="34841" name="Line 47"/>
          <p:cNvSpPr/>
          <p:nvPr/>
        </p:nvSpPr>
        <p:spPr>
          <a:xfrm flipH="1">
            <a:off x="6792913" y="1900238"/>
            <a:ext cx="228600" cy="369887"/>
          </a:xfrm>
          <a:prstGeom prst="line">
            <a:avLst/>
          </a:prstGeom>
          <a:ln w="9525" cap="flat" cmpd="sng">
            <a:solidFill>
              <a:srgbClr val="0000FF"/>
            </a:solidFill>
            <a:prstDash val="solid"/>
            <a:headEnd type="none" w="med" len="med"/>
            <a:tailEnd type="triangle" w="med" len="med"/>
          </a:ln>
        </p:spPr>
      </p:sp>
      <p:sp>
        <p:nvSpPr>
          <p:cNvPr id="34842" name="Line 48"/>
          <p:cNvSpPr/>
          <p:nvPr/>
        </p:nvSpPr>
        <p:spPr>
          <a:xfrm flipH="1">
            <a:off x="6143625" y="2587625"/>
            <a:ext cx="176213" cy="476250"/>
          </a:xfrm>
          <a:prstGeom prst="line">
            <a:avLst/>
          </a:prstGeom>
          <a:ln w="9525" cap="flat" cmpd="sng">
            <a:solidFill>
              <a:srgbClr val="0000FF"/>
            </a:solidFill>
            <a:prstDash val="solid"/>
            <a:headEnd type="none" w="med" len="med"/>
            <a:tailEnd type="triangle" w="med" len="med"/>
          </a:ln>
        </p:spPr>
      </p:sp>
      <p:sp>
        <p:nvSpPr>
          <p:cNvPr id="34843" name="Line 49"/>
          <p:cNvSpPr/>
          <p:nvPr/>
        </p:nvSpPr>
        <p:spPr>
          <a:xfrm>
            <a:off x="7216775" y="2535238"/>
            <a:ext cx="511175" cy="528637"/>
          </a:xfrm>
          <a:prstGeom prst="line">
            <a:avLst/>
          </a:prstGeom>
          <a:ln w="9525" cap="flat" cmpd="sng">
            <a:solidFill>
              <a:srgbClr val="0000FF"/>
            </a:solidFill>
            <a:prstDash val="solid"/>
            <a:headEnd type="none" w="med" len="med"/>
            <a:tailEnd type="triangle" w="med" len="med"/>
          </a:ln>
        </p:spPr>
      </p:sp>
      <p:sp>
        <p:nvSpPr>
          <p:cNvPr id="34844" name="Line 50"/>
          <p:cNvSpPr/>
          <p:nvPr/>
        </p:nvSpPr>
        <p:spPr>
          <a:xfrm flipH="1">
            <a:off x="7110413" y="3294063"/>
            <a:ext cx="282575" cy="563562"/>
          </a:xfrm>
          <a:prstGeom prst="line">
            <a:avLst/>
          </a:prstGeom>
          <a:ln w="9525" cap="flat" cmpd="sng">
            <a:solidFill>
              <a:srgbClr val="0000FF"/>
            </a:solidFill>
            <a:prstDash val="solid"/>
            <a:headEnd type="none" w="med" len="med"/>
            <a:tailEnd type="triangle" w="med" len="med"/>
          </a:ln>
        </p:spPr>
      </p:sp>
      <p:sp>
        <p:nvSpPr>
          <p:cNvPr id="34845" name="Line 51"/>
          <p:cNvSpPr/>
          <p:nvPr/>
        </p:nvSpPr>
        <p:spPr>
          <a:xfrm>
            <a:off x="8221663" y="3294063"/>
            <a:ext cx="317500" cy="563562"/>
          </a:xfrm>
          <a:prstGeom prst="line">
            <a:avLst/>
          </a:prstGeom>
          <a:ln w="9525" cap="flat" cmpd="sng">
            <a:solidFill>
              <a:srgbClr val="0000FF"/>
            </a:solidFill>
            <a:prstDash val="solid"/>
            <a:headEnd type="none" w="med" len="med"/>
            <a:tailEnd type="triangle" w="med" len="med"/>
          </a:ln>
        </p:spPr>
      </p:sp>
      <p:sp>
        <p:nvSpPr>
          <p:cNvPr id="34846" name="Line 52"/>
          <p:cNvSpPr/>
          <p:nvPr/>
        </p:nvSpPr>
        <p:spPr>
          <a:xfrm>
            <a:off x="7480300" y="4175125"/>
            <a:ext cx="317500" cy="458788"/>
          </a:xfrm>
          <a:prstGeom prst="line">
            <a:avLst/>
          </a:prstGeom>
          <a:ln w="9525" cap="flat" cmpd="sng">
            <a:solidFill>
              <a:srgbClr val="0000FF"/>
            </a:solidFill>
            <a:prstDash val="solid"/>
            <a:headEnd type="none" w="med" len="med"/>
            <a:tailEnd type="triangle" w="med" len="med"/>
          </a:ln>
        </p:spPr>
      </p:sp>
      <p:grpSp>
        <p:nvGrpSpPr>
          <p:cNvPr id="34847" name="Group 53"/>
          <p:cNvGrpSpPr/>
          <p:nvPr/>
        </p:nvGrpSpPr>
        <p:grpSpPr>
          <a:xfrm>
            <a:off x="7113905" y="1106805"/>
            <a:ext cx="334645" cy="512445"/>
            <a:chOff x="3445" y="1362"/>
            <a:chExt cx="211" cy="449"/>
          </a:xfrm>
        </p:grpSpPr>
        <p:sp>
          <p:nvSpPr>
            <p:cNvPr id="34859" name="Freeform 54"/>
            <p:cNvSpPr/>
            <p:nvPr/>
          </p:nvSpPr>
          <p:spPr>
            <a:xfrm>
              <a:off x="3445" y="1362"/>
              <a:ext cx="72" cy="233"/>
            </a:xfrm>
            <a:custGeom>
              <a:avLst/>
              <a:gdLst>
                <a:gd name="txL" fmla="*/ 0 w 94"/>
                <a:gd name="txT" fmla="*/ 0 h 233"/>
                <a:gd name="txR" fmla="*/ 94 w 94"/>
                <a:gd name="txB" fmla="*/ 233 h 233"/>
              </a:gdLst>
              <a:ahLst/>
              <a:cxnLst>
                <a:cxn ang="0">
                  <a:pos x="2" y="0"/>
                </a:cxn>
                <a:cxn ang="0">
                  <a:pos x="2" y="83"/>
                </a:cxn>
                <a:cxn ang="0">
                  <a:pos x="0" y="174"/>
                </a:cxn>
              </a:cxnLst>
              <a:rect l="txL" t="txT" r="txR" b="txB"/>
              <a:pathLst>
                <a:path w="94" h="233">
                  <a:moveTo>
                    <a:pt x="33" y="0"/>
                  </a:moveTo>
                  <a:cubicBezTo>
                    <a:pt x="63" y="36"/>
                    <a:pt x="94" y="72"/>
                    <a:pt x="89" y="111"/>
                  </a:cubicBezTo>
                  <a:cubicBezTo>
                    <a:pt x="84" y="150"/>
                    <a:pt x="19" y="218"/>
                    <a:pt x="0" y="233"/>
                  </a:cubicBezTo>
                </a:path>
              </a:pathLst>
            </a:custGeom>
            <a:no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34860" name="Line 55"/>
            <p:cNvSpPr/>
            <p:nvPr/>
          </p:nvSpPr>
          <p:spPr>
            <a:xfrm>
              <a:off x="3456" y="1589"/>
              <a:ext cx="200" cy="222"/>
            </a:xfrm>
            <a:prstGeom prst="line">
              <a:avLst/>
            </a:prstGeom>
            <a:ln w="9525" cap="flat" cmpd="sng">
              <a:solidFill>
                <a:srgbClr val="0000FF"/>
              </a:solidFill>
              <a:prstDash val="solid"/>
              <a:headEnd type="none" w="med" len="med"/>
              <a:tailEnd type="triangle" w="med" len="med"/>
            </a:ln>
          </p:spPr>
        </p:sp>
      </p:grpSp>
      <p:sp>
        <p:nvSpPr>
          <p:cNvPr id="34848" name="Text Box 56"/>
          <p:cNvSpPr txBox="1"/>
          <p:nvPr/>
        </p:nvSpPr>
        <p:spPr>
          <a:xfrm>
            <a:off x="7720966" y="163099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4849" name="Text Box 57"/>
          <p:cNvSpPr txBox="1"/>
          <p:nvPr/>
        </p:nvSpPr>
        <p:spPr>
          <a:xfrm>
            <a:off x="5700078" y="30597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4850" name="Text Box 58"/>
          <p:cNvSpPr txBox="1"/>
          <p:nvPr/>
        </p:nvSpPr>
        <p:spPr>
          <a:xfrm>
            <a:off x="6571616" y="30597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4851" name="Text Box 59"/>
          <p:cNvSpPr txBox="1"/>
          <p:nvPr/>
        </p:nvSpPr>
        <p:spPr>
          <a:xfrm>
            <a:off x="6552566" y="387889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4852" name="Text Box 60"/>
          <p:cNvSpPr txBox="1"/>
          <p:nvPr/>
        </p:nvSpPr>
        <p:spPr>
          <a:xfrm>
            <a:off x="8019416" y="38598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4853" name="Text Box 61"/>
          <p:cNvSpPr txBox="1"/>
          <p:nvPr/>
        </p:nvSpPr>
        <p:spPr>
          <a:xfrm>
            <a:off x="8857616" y="38598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4854" name="Text Box 62"/>
          <p:cNvSpPr txBox="1"/>
          <p:nvPr/>
        </p:nvSpPr>
        <p:spPr>
          <a:xfrm>
            <a:off x="7262178" y="46599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4855" name="Text Box 63"/>
          <p:cNvSpPr txBox="1"/>
          <p:nvPr/>
        </p:nvSpPr>
        <p:spPr>
          <a:xfrm>
            <a:off x="8100378" y="464089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4856" name="Text Box 65"/>
          <p:cNvSpPr txBox="1"/>
          <p:nvPr/>
        </p:nvSpPr>
        <p:spPr>
          <a:xfrm>
            <a:off x="984250" y="4968875"/>
            <a:ext cx="10077450" cy="9036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0000"/>
              </a:lnSpc>
              <a:spcBef>
                <a:spcPct val="50000"/>
              </a:spcBef>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在二叉链表中有些结点的指针域为空。在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个结点的二叉链表中，可以证明有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n+1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个空指针域。</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如何计算？</a:t>
            </a:r>
            <a:endPar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857" name="TextBox 74"/>
          <p:cNvSpPr txBox="1"/>
          <p:nvPr/>
        </p:nvSpPr>
        <p:spPr>
          <a:xfrm>
            <a:off x="6358890" y="911225"/>
            <a:ext cx="857885" cy="19558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latin typeface="Consolas" panose="020B0609020204030204" pitchFamily="49" charset="0"/>
              </a:rPr>
              <a:t>Root</a:t>
            </a:r>
            <a:endParaRPr lang="zh-CN" altLang="en-US" sz="1800" dirty="0">
              <a:latin typeface="Consolas" panose="020B0609020204030204" pitchFamily="49" charset="0"/>
            </a:endParaRPr>
          </a:p>
        </p:txBody>
      </p:sp>
      <p:sp>
        <p:nvSpPr>
          <p:cNvPr id="27707" name="Text Box 59"/>
          <p:cNvSpPr txBox="1"/>
          <p:nvPr/>
        </p:nvSpPr>
        <p:spPr>
          <a:xfrm>
            <a:off x="1592580" y="5922010"/>
            <a:ext cx="6629400" cy="461645"/>
          </a:xfrm>
          <a:prstGeom prst="rect">
            <a:avLst/>
          </a:prstGeom>
          <a:solidFill>
            <a:schemeClr val="accent6"/>
          </a:solidFill>
          <a:ln w="3175" cap="flat" cmpd="sng">
            <a:solidFill>
              <a:schemeClr val="tx1"/>
            </a:solidFill>
            <a:prstDash val="solid"/>
            <a:miter/>
            <a:headEnd type="none" w="med" len="med"/>
            <a:tailEnd type="none" w="med" len="med"/>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chemeClr val="tx1"/>
                </a:solidFill>
                <a:latin typeface="Consolas" panose="020B0609020204030204" pitchFamily="49" charset="0"/>
              </a:rPr>
              <a:t>指针链总数</a:t>
            </a:r>
            <a:r>
              <a:rPr lang="en-US" altLang="zh-CN" b="1" dirty="0">
                <a:solidFill>
                  <a:schemeClr val="tx1"/>
                </a:solidFill>
                <a:latin typeface="Consolas" panose="020B0609020204030204" pitchFamily="49" charset="0"/>
              </a:rPr>
              <a:t>-</a:t>
            </a:r>
            <a:r>
              <a:rPr lang="zh-CN" altLang="en-US" b="1" dirty="0">
                <a:solidFill>
                  <a:schemeClr val="tx1"/>
                </a:solidFill>
                <a:latin typeface="Consolas" panose="020B0609020204030204" pitchFamily="49" charset="0"/>
              </a:rPr>
              <a:t>已占用指针链数目，即 </a:t>
            </a:r>
            <a:r>
              <a:rPr lang="en-US" altLang="zh-CN" b="1" dirty="0">
                <a:solidFill>
                  <a:schemeClr val="tx1"/>
                </a:solidFill>
                <a:latin typeface="Consolas" panose="020B0609020204030204" pitchFamily="49" charset="0"/>
              </a:rPr>
              <a:t>2n-</a:t>
            </a:r>
            <a:r>
              <a:rPr lang="zh-CN" altLang="en-US" b="1" dirty="0">
                <a:solidFill>
                  <a:schemeClr val="tx1"/>
                </a:solidFill>
                <a:latin typeface="Consolas" panose="020B0609020204030204" pitchFamily="49" charset="0"/>
              </a:rPr>
              <a:t>（</a:t>
            </a:r>
            <a:r>
              <a:rPr lang="en-US" altLang="zh-CN" b="1" dirty="0">
                <a:solidFill>
                  <a:schemeClr val="tx1"/>
                </a:solidFill>
                <a:latin typeface="Consolas" panose="020B0609020204030204" pitchFamily="49" charset="0"/>
              </a:rPr>
              <a:t>n-1</a:t>
            </a:r>
            <a:r>
              <a:rPr lang="zh-CN" altLang="en-US" b="1" dirty="0">
                <a:solidFill>
                  <a:schemeClr val="tx1"/>
                </a:solidFill>
                <a:latin typeface="Consolas" panose="020B0609020204030204" pitchFamily="49" charset="0"/>
              </a:rPr>
              <a:t>）</a:t>
            </a:r>
            <a:endParaRPr lang="zh-CN" altLang="en-US" b="1" dirty="0">
              <a:solidFill>
                <a:schemeClr val="tx1"/>
              </a:solidFill>
              <a:latin typeface="Consolas" panose="020B0609020204030204" pitchFamily="49" charset="0"/>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latin typeface="微软雅黑" panose="020B0503020204020204" pitchFamily="34" charset="-122"/>
                <a:ea typeface="微软雅黑" panose="020B0503020204020204" pitchFamily="34" charset="-122"/>
                <a:sym typeface="+mn-ea"/>
              </a:rPr>
              <a:t>二叉链表例</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707"/>
                                        </p:tgtEl>
                                        <p:attrNameLst>
                                          <p:attrName>style.visibility</p:attrName>
                                        </p:attrNameLst>
                                      </p:cBhvr>
                                      <p:to>
                                        <p:strVal val="visible"/>
                                      </p:to>
                                    </p:set>
                                    <p:anim calcmode="lin" valueType="num">
                                      <p:cBhvr additive="base">
                                        <p:cTn id="7" dur="500" fill="hold"/>
                                        <p:tgtEl>
                                          <p:spTgt spid="27707"/>
                                        </p:tgtEl>
                                        <p:attrNameLst>
                                          <p:attrName>ppt_x</p:attrName>
                                        </p:attrNameLst>
                                      </p:cBhvr>
                                      <p:tavLst>
                                        <p:tav tm="0">
                                          <p:val>
                                            <p:strVal val="#ppt_x"/>
                                          </p:val>
                                        </p:tav>
                                        <p:tav tm="100000">
                                          <p:val>
                                            <p:strVal val="#ppt_x"/>
                                          </p:val>
                                        </p:tav>
                                      </p:tavLst>
                                    </p:anim>
                                    <p:anim calcmode="lin" valueType="num">
                                      <p:cBhvr additive="base">
                                        <p:cTn id="8" dur="500" fill="hold"/>
                                        <p:tgtEl>
                                          <p:spTgt spid="277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7"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5843" name="Group 4"/>
          <p:cNvGrpSpPr/>
          <p:nvPr/>
        </p:nvGrpSpPr>
        <p:grpSpPr>
          <a:xfrm>
            <a:off x="3606165" y="3962400"/>
            <a:ext cx="4013835" cy="2289175"/>
            <a:chOff x="2208" y="528"/>
            <a:chExt cx="2208" cy="1442"/>
          </a:xfrm>
        </p:grpSpPr>
        <p:sp>
          <p:nvSpPr>
            <p:cNvPr id="35847" name="Rectangle 5"/>
            <p:cNvSpPr/>
            <p:nvPr/>
          </p:nvSpPr>
          <p:spPr>
            <a:xfrm>
              <a:off x="3168" y="816"/>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35848" name="Line 6"/>
            <p:cNvSpPr/>
            <p:nvPr/>
          </p:nvSpPr>
          <p:spPr>
            <a:xfrm>
              <a:off x="3360" y="816"/>
              <a:ext cx="0" cy="240"/>
            </a:xfrm>
            <a:prstGeom prst="line">
              <a:avLst/>
            </a:prstGeom>
            <a:ln w="9525" cap="flat" cmpd="sng">
              <a:solidFill>
                <a:srgbClr val="000000"/>
              </a:solidFill>
              <a:prstDash val="solid"/>
              <a:headEnd type="none" w="med" len="med"/>
              <a:tailEnd type="none" w="med" len="med"/>
            </a:ln>
          </p:spPr>
        </p:sp>
        <p:sp>
          <p:nvSpPr>
            <p:cNvPr id="35849" name="Line 7"/>
            <p:cNvSpPr/>
            <p:nvPr/>
          </p:nvSpPr>
          <p:spPr>
            <a:xfrm>
              <a:off x="3648" y="816"/>
              <a:ext cx="0" cy="240"/>
            </a:xfrm>
            <a:prstGeom prst="line">
              <a:avLst/>
            </a:prstGeom>
            <a:ln w="9525" cap="flat" cmpd="sng">
              <a:solidFill>
                <a:srgbClr val="000000"/>
              </a:solidFill>
              <a:prstDash val="solid"/>
              <a:headEnd type="none" w="med" len="med"/>
              <a:tailEnd type="none" w="med" len="med"/>
            </a:ln>
          </p:spPr>
        </p:sp>
        <p:sp>
          <p:nvSpPr>
            <p:cNvPr id="35850" name="Rectangle 8"/>
            <p:cNvSpPr/>
            <p:nvPr/>
          </p:nvSpPr>
          <p:spPr>
            <a:xfrm>
              <a:off x="2592" y="1248"/>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chemeClr val="accent1"/>
                  </a:solidFill>
                  <a:latin typeface="Courier New" panose="02070309020205020404" pitchFamily="49" charset="0"/>
                  <a:ea typeface="宋体" panose="02010600030101010101" pitchFamily="2" charset="-122"/>
                </a:rPr>
                <a:t>*</a:t>
              </a:r>
              <a:endParaRPr lang="zh-CN" altLang="en-US" b="1" dirty="0">
                <a:solidFill>
                  <a:schemeClr val="accent1"/>
                </a:solidFill>
                <a:latin typeface="Courier New" panose="02070309020205020404" pitchFamily="49" charset="0"/>
                <a:ea typeface="宋体" panose="02010600030101010101" pitchFamily="2" charset="-122"/>
              </a:endParaRPr>
            </a:p>
          </p:txBody>
        </p:sp>
        <p:sp>
          <p:nvSpPr>
            <p:cNvPr id="35851" name="Line 9"/>
            <p:cNvSpPr/>
            <p:nvPr/>
          </p:nvSpPr>
          <p:spPr>
            <a:xfrm>
              <a:off x="2784" y="1248"/>
              <a:ext cx="0" cy="240"/>
            </a:xfrm>
            <a:prstGeom prst="line">
              <a:avLst/>
            </a:prstGeom>
            <a:ln w="9525" cap="flat" cmpd="sng">
              <a:solidFill>
                <a:srgbClr val="000000"/>
              </a:solidFill>
              <a:prstDash val="solid"/>
              <a:headEnd type="none" w="med" len="med"/>
              <a:tailEnd type="none" w="med" len="med"/>
            </a:ln>
          </p:spPr>
        </p:sp>
        <p:sp>
          <p:nvSpPr>
            <p:cNvPr id="35852" name="Line 10"/>
            <p:cNvSpPr/>
            <p:nvPr/>
          </p:nvSpPr>
          <p:spPr>
            <a:xfrm>
              <a:off x="3072" y="1248"/>
              <a:ext cx="0" cy="240"/>
            </a:xfrm>
            <a:prstGeom prst="line">
              <a:avLst/>
            </a:prstGeom>
            <a:ln w="9525" cap="flat" cmpd="sng">
              <a:solidFill>
                <a:srgbClr val="000000"/>
              </a:solidFill>
              <a:prstDash val="solid"/>
              <a:headEnd type="none" w="med" len="med"/>
              <a:tailEnd type="none" w="med" len="med"/>
            </a:ln>
          </p:spPr>
        </p:sp>
        <p:sp>
          <p:nvSpPr>
            <p:cNvPr id="35853" name="Rectangle 11"/>
            <p:cNvSpPr/>
            <p:nvPr/>
          </p:nvSpPr>
          <p:spPr>
            <a:xfrm>
              <a:off x="3744" y="1248"/>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c</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35854" name="Line 12"/>
            <p:cNvSpPr/>
            <p:nvPr/>
          </p:nvSpPr>
          <p:spPr>
            <a:xfrm>
              <a:off x="3936" y="1248"/>
              <a:ext cx="0" cy="240"/>
            </a:xfrm>
            <a:prstGeom prst="line">
              <a:avLst/>
            </a:prstGeom>
            <a:ln w="9525" cap="flat" cmpd="sng">
              <a:solidFill>
                <a:srgbClr val="000000"/>
              </a:solidFill>
              <a:prstDash val="solid"/>
              <a:headEnd type="none" w="med" len="med"/>
              <a:tailEnd type="none" w="med" len="med"/>
            </a:ln>
          </p:spPr>
        </p:sp>
        <p:sp>
          <p:nvSpPr>
            <p:cNvPr id="35855" name="Line 13"/>
            <p:cNvSpPr/>
            <p:nvPr/>
          </p:nvSpPr>
          <p:spPr>
            <a:xfrm>
              <a:off x="4224" y="1248"/>
              <a:ext cx="0" cy="240"/>
            </a:xfrm>
            <a:prstGeom prst="line">
              <a:avLst/>
            </a:prstGeom>
            <a:ln w="9525" cap="flat" cmpd="sng">
              <a:solidFill>
                <a:srgbClr val="000000"/>
              </a:solidFill>
              <a:prstDash val="solid"/>
              <a:headEnd type="none" w="med" len="med"/>
              <a:tailEnd type="none" w="med" len="med"/>
            </a:ln>
          </p:spPr>
        </p:sp>
        <p:sp>
          <p:nvSpPr>
            <p:cNvPr id="35856" name="Rectangle 14"/>
            <p:cNvSpPr/>
            <p:nvPr/>
          </p:nvSpPr>
          <p:spPr>
            <a:xfrm>
              <a:off x="2208" y="1728"/>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a</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35857" name="Line 15"/>
            <p:cNvSpPr/>
            <p:nvPr/>
          </p:nvSpPr>
          <p:spPr>
            <a:xfrm>
              <a:off x="2400" y="1728"/>
              <a:ext cx="0" cy="240"/>
            </a:xfrm>
            <a:prstGeom prst="line">
              <a:avLst/>
            </a:prstGeom>
            <a:ln w="9525" cap="flat" cmpd="sng">
              <a:solidFill>
                <a:srgbClr val="000000"/>
              </a:solidFill>
              <a:prstDash val="solid"/>
              <a:headEnd type="none" w="med" len="med"/>
              <a:tailEnd type="none" w="med" len="med"/>
            </a:ln>
          </p:spPr>
        </p:sp>
        <p:sp>
          <p:nvSpPr>
            <p:cNvPr id="35858" name="Line 16"/>
            <p:cNvSpPr/>
            <p:nvPr/>
          </p:nvSpPr>
          <p:spPr>
            <a:xfrm>
              <a:off x="2688" y="1728"/>
              <a:ext cx="0" cy="240"/>
            </a:xfrm>
            <a:prstGeom prst="line">
              <a:avLst/>
            </a:prstGeom>
            <a:ln w="9525" cap="flat" cmpd="sng">
              <a:solidFill>
                <a:srgbClr val="000000"/>
              </a:solidFill>
              <a:prstDash val="solid"/>
              <a:headEnd type="none" w="med" len="med"/>
              <a:tailEnd type="none" w="med" len="med"/>
            </a:ln>
          </p:spPr>
        </p:sp>
        <p:sp>
          <p:nvSpPr>
            <p:cNvPr id="35859" name="Line 17"/>
            <p:cNvSpPr/>
            <p:nvPr/>
          </p:nvSpPr>
          <p:spPr>
            <a:xfrm>
              <a:off x="3504" y="576"/>
              <a:ext cx="0" cy="240"/>
            </a:xfrm>
            <a:prstGeom prst="line">
              <a:avLst/>
            </a:prstGeom>
            <a:ln w="28575" cap="flat" cmpd="sng">
              <a:solidFill>
                <a:srgbClr val="000000"/>
              </a:solidFill>
              <a:prstDash val="solid"/>
              <a:headEnd type="none" w="med" len="med"/>
              <a:tailEnd type="triangle" w="med" len="med"/>
            </a:ln>
          </p:spPr>
        </p:sp>
        <p:sp>
          <p:nvSpPr>
            <p:cNvPr id="35860" name="Text Box 18"/>
            <p:cNvSpPr txBox="1"/>
            <p:nvPr/>
          </p:nvSpPr>
          <p:spPr>
            <a:xfrm>
              <a:off x="3552" y="528"/>
              <a:ext cx="192" cy="29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latin typeface="Arial" panose="020B0604020202020204" pitchFamily="34" charset="0"/>
                  <a:ea typeface="宋体" panose="02010600030101010101" pitchFamily="2" charset="-122"/>
                </a:rPr>
                <a:t>T</a:t>
              </a:r>
              <a:endParaRPr lang="en-US" altLang="zh-CN" b="1" dirty="0">
                <a:latin typeface="Arial" panose="020B0604020202020204" pitchFamily="34" charset="0"/>
                <a:ea typeface="宋体" panose="02010600030101010101" pitchFamily="2" charset="-122"/>
              </a:endParaRPr>
            </a:p>
          </p:txBody>
        </p:sp>
        <p:sp>
          <p:nvSpPr>
            <p:cNvPr id="35861" name="Line 19"/>
            <p:cNvSpPr/>
            <p:nvPr/>
          </p:nvSpPr>
          <p:spPr>
            <a:xfrm flipH="1">
              <a:off x="2928" y="960"/>
              <a:ext cx="336" cy="288"/>
            </a:xfrm>
            <a:prstGeom prst="line">
              <a:avLst/>
            </a:prstGeom>
            <a:ln w="19050" cap="flat" cmpd="sng">
              <a:solidFill>
                <a:srgbClr val="000000"/>
              </a:solidFill>
              <a:prstDash val="solid"/>
              <a:headEnd type="oval" w="med" len="med"/>
              <a:tailEnd type="triangle" w="med" len="med"/>
            </a:ln>
          </p:spPr>
        </p:sp>
        <p:sp>
          <p:nvSpPr>
            <p:cNvPr id="35862" name="Line 20"/>
            <p:cNvSpPr/>
            <p:nvPr/>
          </p:nvSpPr>
          <p:spPr>
            <a:xfrm>
              <a:off x="3744" y="960"/>
              <a:ext cx="336" cy="288"/>
            </a:xfrm>
            <a:prstGeom prst="line">
              <a:avLst/>
            </a:prstGeom>
            <a:ln w="19050" cap="flat" cmpd="sng">
              <a:solidFill>
                <a:srgbClr val="000000"/>
              </a:solidFill>
              <a:prstDash val="solid"/>
              <a:headEnd type="oval" w="med" len="med"/>
              <a:tailEnd type="triangle" w="med" len="med"/>
            </a:ln>
          </p:spPr>
        </p:sp>
        <p:sp>
          <p:nvSpPr>
            <p:cNvPr id="35863" name="Line 21"/>
            <p:cNvSpPr/>
            <p:nvPr/>
          </p:nvSpPr>
          <p:spPr>
            <a:xfrm flipH="1">
              <a:off x="2544" y="1392"/>
              <a:ext cx="144" cy="336"/>
            </a:xfrm>
            <a:prstGeom prst="line">
              <a:avLst/>
            </a:prstGeom>
            <a:ln w="19050" cap="flat" cmpd="sng">
              <a:solidFill>
                <a:srgbClr val="000000"/>
              </a:solidFill>
              <a:prstDash val="solid"/>
              <a:headEnd type="oval" w="med" len="med"/>
              <a:tailEnd type="triangle" w="med" len="med"/>
            </a:ln>
          </p:spPr>
        </p:sp>
        <p:sp>
          <p:nvSpPr>
            <p:cNvPr id="35864" name="Rectangle 22"/>
            <p:cNvSpPr/>
            <p:nvPr/>
          </p:nvSpPr>
          <p:spPr>
            <a:xfrm>
              <a:off x="3744" y="1200"/>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chemeClr val="accent1"/>
                  </a:solidFill>
                  <a:latin typeface="Courier New" panose="02070309020205020404" pitchFamily="49" charset="0"/>
                  <a:ea typeface="宋体" panose="02010600030101010101" pitchFamily="2" charset="-122"/>
                </a:rPr>
                <a:t>∧</a:t>
              </a:r>
              <a:endParaRPr lang="zh-CN" altLang="en-US" b="1" dirty="0">
                <a:solidFill>
                  <a:schemeClr val="accent1"/>
                </a:solidFill>
                <a:latin typeface="Courier New" panose="02070309020205020404" pitchFamily="49" charset="0"/>
                <a:ea typeface="宋体" panose="02010600030101010101" pitchFamily="2" charset="-122"/>
              </a:endParaRPr>
            </a:p>
          </p:txBody>
        </p:sp>
        <p:sp>
          <p:nvSpPr>
            <p:cNvPr id="35865" name="Rectangle 23"/>
            <p:cNvSpPr/>
            <p:nvPr/>
          </p:nvSpPr>
          <p:spPr>
            <a:xfrm>
              <a:off x="4224" y="1200"/>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chemeClr val="accent1"/>
                  </a:solidFill>
                  <a:latin typeface="Courier New" panose="02070309020205020404" pitchFamily="49" charset="0"/>
                  <a:ea typeface="宋体" panose="02010600030101010101" pitchFamily="2" charset="-122"/>
                </a:rPr>
                <a:t>∧</a:t>
              </a:r>
              <a:endParaRPr lang="zh-CN" altLang="en-US" b="1" dirty="0">
                <a:solidFill>
                  <a:schemeClr val="accent1"/>
                </a:solidFill>
                <a:latin typeface="Courier New" panose="02070309020205020404" pitchFamily="49" charset="0"/>
                <a:ea typeface="宋体" panose="02010600030101010101" pitchFamily="2" charset="-122"/>
              </a:endParaRPr>
            </a:p>
          </p:txBody>
        </p:sp>
        <p:sp>
          <p:nvSpPr>
            <p:cNvPr id="35866" name="Rectangle 24"/>
            <p:cNvSpPr/>
            <p:nvPr/>
          </p:nvSpPr>
          <p:spPr>
            <a:xfrm>
              <a:off x="2208" y="1680"/>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chemeClr val="accent1"/>
                  </a:solidFill>
                  <a:latin typeface="Courier New" panose="02070309020205020404" pitchFamily="49" charset="0"/>
                  <a:ea typeface="宋体" panose="02010600030101010101" pitchFamily="2" charset="-122"/>
                </a:rPr>
                <a:t>∧</a:t>
              </a:r>
              <a:endParaRPr lang="zh-CN" altLang="en-US" b="1" dirty="0">
                <a:solidFill>
                  <a:schemeClr val="accent1"/>
                </a:solidFill>
                <a:latin typeface="Courier New" panose="02070309020205020404" pitchFamily="49" charset="0"/>
                <a:ea typeface="宋体" panose="02010600030101010101" pitchFamily="2" charset="-122"/>
              </a:endParaRPr>
            </a:p>
          </p:txBody>
        </p:sp>
        <p:sp>
          <p:nvSpPr>
            <p:cNvPr id="35867" name="Rectangle 25"/>
            <p:cNvSpPr/>
            <p:nvPr/>
          </p:nvSpPr>
          <p:spPr>
            <a:xfrm>
              <a:off x="2688" y="1680"/>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chemeClr val="accent1"/>
                  </a:solidFill>
                  <a:latin typeface="Courier New" panose="02070309020205020404" pitchFamily="49" charset="0"/>
                  <a:ea typeface="宋体" panose="02010600030101010101" pitchFamily="2" charset="-122"/>
                </a:rPr>
                <a:t>∧</a:t>
              </a:r>
              <a:endParaRPr lang="zh-CN" altLang="en-US" b="1" dirty="0">
                <a:solidFill>
                  <a:schemeClr val="accent1"/>
                </a:solidFill>
                <a:latin typeface="Courier New" panose="02070309020205020404" pitchFamily="49" charset="0"/>
                <a:ea typeface="宋体" panose="02010600030101010101" pitchFamily="2" charset="-122"/>
              </a:endParaRPr>
            </a:p>
          </p:txBody>
        </p:sp>
        <p:sp>
          <p:nvSpPr>
            <p:cNvPr id="35868" name="Rectangle 26"/>
            <p:cNvSpPr/>
            <p:nvPr/>
          </p:nvSpPr>
          <p:spPr>
            <a:xfrm>
              <a:off x="3072" y="1728"/>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b</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35869" name="Line 27"/>
            <p:cNvSpPr/>
            <p:nvPr/>
          </p:nvSpPr>
          <p:spPr>
            <a:xfrm>
              <a:off x="3264" y="1728"/>
              <a:ext cx="0" cy="240"/>
            </a:xfrm>
            <a:prstGeom prst="line">
              <a:avLst/>
            </a:prstGeom>
            <a:ln w="9525" cap="flat" cmpd="sng">
              <a:solidFill>
                <a:srgbClr val="000000"/>
              </a:solidFill>
              <a:prstDash val="solid"/>
              <a:headEnd type="none" w="med" len="med"/>
              <a:tailEnd type="none" w="med" len="med"/>
            </a:ln>
          </p:spPr>
        </p:sp>
        <p:sp>
          <p:nvSpPr>
            <p:cNvPr id="35870" name="Line 28"/>
            <p:cNvSpPr/>
            <p:nvPr/>
          </p:nvSpPr>
          <p:spPr>
            <a:xfrm>
              <a:off x="3552" y="1728"/>
              <a:ext cx="0" cy="240"/>
            </a:xfrm>
            <a:prstGeom prst="line">
              <a:avLst/>
            </a:prstGeom>
            <a:ln w="9525" cap="flat" cmpd="sng">
              <a:solidFill>
                <a:srgbClr val="000000"/>
              </a:solidFill>
              <a:prstDash val="solid"/>
              <a:headEnd type="none" w="med" len="med"/>
              <a:tailEnd type="none" w="med" len="med"/>
            </a:ln>
          </p:spPr>
        </p:sp>
        <p:sp>
          <p:nvSpPr>
            <p:cNvPr id="35871" name="Line 29"/>
            <p:cNvSpPr/>
            <p:nvPr/>
          </p:nvSpPr>
          <p:spPr>
            <a:xfrm>
              <a:off x="3168" y="1392"/>
              <a:ext cx="240" cy="336"/>
            </a:xfrm>
            <a:prstGeom prst="line">
              <a:avLst/>
            </a:prstGeom>
            <a:ln w="19050" cap="flat" cmpd="sng">
              <a:solidFill>
                <a:srgbClr val="000000"/>
              </a:solidFill>
              <a:prstDash val="solid"/>
              <a:headEnd type="oval" w="med" len="med"/>
              <a:tailEnd type="triangle" w="med" len="med"/>
            </a:ln>
          </p:spPr>
        </p:sp>
        <p:sp>
          <p:nvSpPr>
            <p:cNvPr id="35872" name="Rectangle 30"/>
            <p:cNvSpPr/>
            <p:nvPr/>
          </p:nvSpPr>
          <p:spPr>
            <a:xfrm>
              <a:off x="3072" y="1680"/>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chemeClr val="accent1"/>
                  </a:solidFill>
                  <a:latin typeface="Courier New" panose="02070309020205020404" pitchFamily="49" charset="0"/>
                  <a:ea typeface="宋体" panose="02010600030101010101" pitchFamily="2" charset="-122"/>
                </a:rPr>
                <a:t>∧</a:t>
              </a:r>
              <a:endParaRPr lang="zh-CN" altLang="en-US" b="1" dirty="0">
                <a:solidFill>
                  <a:schemeClr val="accent1"/>
                </a:solidFill>
                <a:latin typeface="Courier New" panose="02070309020205020404" pitchFamily="49" charset="0"/>
                <a:ea typeface="宋体" panose="02010600030101010101" pitchFamily="2" charset="-122"/>
              </a:endParaRPr>
            </a:p>
          </p:txBody>
        </p:sp>
        <p:sp>
          <p:nvSpPr>
            <p:cNvPr id="35873" name="Rectangle 31"/>
            <p:cNvSpPr/>
            <p:nvPr/>
          </p:nvSpPr>
          <p:spPr>
            <a:xfrm>
              <a:off x="3552" y="1680"/>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solidFill>
                    <a:schemeClr val="accent1"/>
                  </a:solidFill>
                  <a:latin typeface="Courier New" panose="02070309020205020404" pitchFamily="49" charset="0"/>
                  <a:ea typeface="宋体" panose="02010600030101010101" pitchFamily="2" charset="-122"/>
                </a:rPr>
                <a:t>∧</a:t>
              </a:r>
              <a:endParaRPr lang="zh-CN" altLang="en-US" b="1" dirty="0">
                <a:solidFill>
                  <a:schemeClr val="accent1"/>
                </a:solidFill>
                <a:latin typeface="Courier New" panose="02070309020205020404" pitchFamily="49" charset="0"/>
                <a:ea typeface="宋体" panose="02010600030101010101" pitchFamily="2" charset="-122"/>
              </a:endParaRPr>
            </a:p>
          </p:txBody>
        </p:sp>
      </p:grpSp>
      <p:sp>
        <p:nvSpPr>
          <p:cNvPr id="35844" name="Text Box 32"/>
          <p:cNvSpPr txBox="1"/>
          <p:nvPr/>
        </p:nvSpPr>
        <p:spPr>
          <a:xfrm>
            <a:off x="276860" y="1026795"/>
            <a:ext cx="11041380" cy="3164840"/>
          </a:xfrm>
          <a:prstGeom prst="rect">
            <a:avLst/>
          </a:prstGeom>
          <a:noFill/>
          <a:ln w="9525">
            <a:noFill/>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274955" lvl="0" indent="-274955" eaLnBrk="1" hangingPunct="1">
              <a:lnSpc>
                <a:spcPct val="105000"/>
              </a:lnSpc>
              <a:spcBef>
                <a:spcPct val="35000"/>
              </a:spcBef>
              <a:buNone/>
            </a:pPr>
            <a:r>
              <a:rPr lang="zh-CN" altLang="en-US" sz="2800" b="1" dirty="0">
                <a:latin typeface="楷体_GB2312" panose="02010609030101010101" pitchFamily="49" charset="-122"/>
              </a:rPr>
              <a:t> </a:t>
            </a:r>
            <a:r>
              <a:rPr lang="zh-CN" altLang="en-US" b="1" dirty="0">
                <a:latin typeface="楷体_GB2312" panose="02010609030101010101" pitchFamily="49" charset="-122"/>
              </a:rPr>
              <a: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在二叉链表</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中</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a:p>
            <a:pPr marL="274955" lvl="0" indent="-274955" eaLnBrk="1" hangingPunct="1">
              <a:lnSpc>
                <a:spcPct val="145000"/>
              </a:lnSpc>
              <a:spcBef>
                <a:spcPct val="350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指向某结点，则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p-&gt;data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表示该结点的值，</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p-&gt;lchild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指向左孩子，</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p-&gt;rchild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指向右孩子。</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274955" lvl="0" indent="-274955" eaLnBrk="1" hangingPunct="1">
              <a:lnSpc>
                <a:spcPct val="145000"/>
              </a:lnSpc>
              <a:spcBef>
                <a:spcPct val="35000"/>
              </a:spcBef>
              <a:buFont typeface="Wingdings" panose="05000000000000000000" pitchFamily="2" charset="2"/>
              <a:buChar char="Ø"/>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T-&gt;data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表示根结点的值；</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274955" lvl="0" indent="-274955" eaLnBrk="1" hangingPunct="1">
              <a:lnSpc>
                <a:spcPct val="145000"/>
              </a:lnSpc>
              <a:spcBef>
                <a:spcPct val="35000"/>
              </a:spcBef>
              <a:buFont typeface="Wingdings" panose="05000000000000000000" pitchFamily="2" charset="2"/>
              <a:buChar char="Ø"/>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T-&gt;lchild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是根结点的左子树的头指针，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T-&gt;rchild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是根结点的右子树的头指针；</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274955" lvl="0" indent="-274955" eaLnBrk="1" hangingPunct="1">
              <a:lnSpc>
                <a:spcPct val="145000"/>
              </a:lnSpc>
              <a:spcBef>
                <a:spcPct val="35000"/>
              </a:spcBef>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若已知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指向某结点，无法直接获得该结点的双亲结点。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845" name="Line 33"/>
          <p:cNvSpPr/>
          <p:nvPr/>
        </p:nvSpPr>
        <p:spPr>
          <a:xfrm>
            <a:off x="4218305" y="4707255"/>
            <a:ext cx="609600" cy="390525"/>
          </a:xfrm>
          <a:prstGeom prst="line">
            <a:avLst/>
          </a:prstGeom>
          <a:ln w="38100" cap="flat" cmpd="sng">
            <a:solidFill>
              <a:schemeClr val="accent1"/>
            </a:solidFill>
            <a:prstDash val="solid"/>
            <a:headEnd type="none" w="med" len="med"/>
            <a:tailEnd type="triangle" w="med" len="med"/>
          </a:ln>
        </p:spPr>
      </p:sp>
      <p:sp>
        <p:nvSpPr>
          <p:cNvPr id="35846" name="Text Box 34"/>
          <p:cNvSpPr txBox="1"/>
          <p:nvPr/>
        </p:nvSpPr>
        <p:spPr>
          <a:xfrm>
            <a:off x="3606165" y="4356100"/>
            <a:ext cx="737235" cy="596900"/>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Arial" panose="020B0604020202020204" pitchFamily="34" charset="0"/>
                <a:ea typeface="宋体" panose="02010600030101010101" pitchFamily="2" charset="-122"/>
              </a:rPr>
              <a:t>p</a:t>
            </a:r>
            <a:endParaRPr lang="en-US" altLang="zh-CN" b="1" dirty="0">
              <a:solidFill>
                <a:schemeClr val="accent1"/>
              </a:solidFill>
              <a:latin typeface="Arial" panose="020B0604020202020204" pitchFamily="34" charset="0"/>
              <a:ea typeface="宋体" panose="02010600030101010101" pitchFamily="2"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4.2.4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二叉树的存储结构</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Rectangle 3"/>
          <p:cNvSpPr>
            <a:spLocks noGrp="1"/>
          </p:cNvSpPr>
          <p:nvPr>
            <p:ph idx="1"/>
          </p:nvPr>
        </p:nvSpPr>
        <p:spPr>
          <a:xfrm>
            <a:off x="502285" y="1144905"/>
            <a:ext cx="10851515" cy="5032375"/>
          </a:xfrm>
        </p:spPr>
        <p:txBody>
          <a:bodyPr vert="horz" wrap="square" lIns="91440" tIns="45720" rIns="91440" bIns="45720" anchor="t" anchorCtr="0"/>
          <a:p>
            <a:pPr eaLnBrk="1" hangingPunct="1"/>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二叉树的链式存储结构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三叉链表</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556" name="Rectangle 4"/>
          <p:cNvSpPr>
            <a:spLocks noChangeArrowheads="1"/>
          </p:cNvSpPr>
          <p:nvPr/>
        </p:nvSpPr>
        <p:spPr bwMode="auto">
          <a:xfrm>
            <a:off x="1315720" y="1828800"/>
            <a:ext cx="8077200" cy="2362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template &lt;class 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struct BTnode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ElemType Data;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BTnode&lt;ElemType&gt;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l</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child,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r</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child;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BTnode&lt;ElemType&gt;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parent;</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p:txBody>
      </p:sp>
      <p:grpSp>
        <p:nvGrpSpPr>
          <p:cNvPr id="36869" name="Group 11"/>
          <p:cNvGrpSpPr/>
          <p:nvPr/>
        </p:nvGrpSpPr>
        <p:grpSpPr>
          <a:xfrm>
            <a:off x="4191000" y="4419600"/>
            <a:ext cx="3657600" cy="533400"/>
            <a:chOff x="1680" y="2928"/>
            <a:chExt cx="2304" cy="336"/>
          </a:xfrm>
          <a:solidFill>
            <a:schemeClr val="accent6">
              <a:lumMod val="20000"/>
              <a:lumOff val="80000"/>
            </a:schemeClr>
          </a:solidFill>
        </p:grpSpPr>
        <p:sp>
          <p:nvSpPr>
            <p:cNvPr id="36871" name="矩形 10"/>
            <p:cNvSpPr/>
            <p:nvPr/>
          </p:nvSpPr>
          <p:spPr>
            <a:xfrm>
              <a:off x="1680" y="2928"/>
              <a:ext cx="576" cy="336"/>
            </a:xfrm>
            <a:prstGeom prst="rect">
              <a:avLst/>
            </a:prstGeom>
            <a:grpFill/>
            <a:ln w="317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solidFill>
                    <a:srgbClr val="000066"/>
                  </a:solidFill>
                  <a:latin typeface="Times New Roman" panose="02020603050405020304" pitchFamily="18" charset="0"/>
                  <a:cs typeface="Times New Roman" panose="02020603050405020304" pitchFamily="18" charset="0"/>
                </a:rPr>
                <a:t>lchild</a:t>
              </a:r>
              <a:endParaRPr lang="zh-CN" altLang="en-US" sz="2000" dirty="0">
                <a:solidFill>
                  <a:srgbClr val="000066"/>
                </a:solidFill>
                <a:latin typeface="Times New Roman" panose="02020603050405020304" pitchFamily="18" charset="0"/>
                <a:cs typeface="Times New Roman" panose="02020603050405020304" pitchFamily="18" charset="0"/>
              </a:endParaRPr>
            </a:p>
          </p:txBody>
        </p:sp>
        <p:sp>
          <p:nvSpPr>
            <p:cNvPr id="36872" name="矩形 11"/>
            <p:cNvSpPr/>
            <p:nvPr/>
          </p:nvSpPr>
          <p:spPr>
            <a:xfrm>
              <a:off x="2256" y="2928"/>
              <a:ext cx="576" cy="336"/>
            </a:xfrm>
            <a:prstGeom prst="rect">
              <a:avLst/>
            </a:prstGeom>
            <a:grpFill/>
            <a:ln w="317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solidFill>
                    <a:srgbClr val="000066"/>
                  </a:solidFill>
                  <a:latin typeface="Times New Roman" panose="02020603050405020304" pitchFamily="18" charset="0"/>
                  <a:cs typeface="Times New Roman" panose="02020603050405020304" pitchFamily="18" charset="0"/>
                </a:rPr>
                <a:t>data</a:t>
              </a:r>
              <a:endParaRPr lang="en-US" altLang="zh-CN" sz="2000" dirty="0">
                <a:solidFill>
                  <a:srgbClr val="000066"/>
                </a:solidFill>
                <a:latin typeface="Times New Roman" panose="02020603050405020304" pitchFamily="18" charset="0"/>
                <a:cs typeface="Times New Roman" panose="02020603050405020304" pitchFamily="18" charset="0"/>
              </a:endParaRPr>
            </a:p>
          </p:txBody>
        </p:sp>
        <p:sp>
          <p:nvSpPr>
            <p:cNvPr id="36873" name="矩形 12"/>
            <p:cNvSpPr/>
            <p:nvPr/>
          </p:nvSpPr>
          <p:spPr>
            <a:xfrm>
              <a:off x="3408" y="2928"/>
              <a:ext cx="576" cy="336"/>
            </a:xfrm>
            <a:prstGeom prst="rect">
              <a:avLst/>
            </a:prstGeom>
            <a:grpFill/>
            <a:ln w="317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solidFill>
                    <a:srgbClr val="000066"/>
                  </a:solidFill>
                  <a:latin typeface="Times New Roman" panose="02020603050405020304" pitchFamily="18" charset="0"/>
                  <a:cs typeface="Times New Roman" panose="02020603050405020304" pitchFamily="18" charset="0"/>
                </a:rPr>
                <a:t>rchild</a:t>
              </a:r>
              <a:endParaRPr lang="en-US" altLang="zh-CN" sz="2000" dirty="0">
                <a:solidFill>
                  <a:srgbClr val="000066"/>
                </a:solidFill>
                <a:latin typeface="Times New Roman" panose="02020603050405020304" pitchFamily="18" charset="0"/>
                <a:cs typeface="Times New Roman" panose="02020603050405020304" pitchFamily="18" charset="0"/>
              </a:endParaRPr>
            </a:p>
          </p:txBody>
        </p:sp>
        <p:sp>
          <p:nvSpPr>
            <p:cNvPr id="36874" name="矩形 16"/>
            <p:cNvSpPr/>
            <p:nvPr/>
          </p:nvSpPr>
          <p:spPr>
            <a:xfrm>
              <a:off x="2832" y="2928"/>
              <a:ext cx="576" cy="336"/>
            </a:xfrm>
            <a:prstGeom prst="rect">
              <a:avLst/>
            </a:prstGeom>
            <a:grpFill/>
            <a:ln w="317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solidFill>
                    <a:srgbClr val="000066"/>
                  </a:solidFill>
                  <a:latin typeface="Times New Roman" panose="02020603050405020304" pitchFamily="18" charset="0"/>
                  <a:cs typeface="Times New Roman" panose="02020603050405020304" pitchFamily="18" charset="0"/>
                </a:rPr>
                <a:t>parent</a:t>
              </a:r>
              <a:endParaRPr lang="en-US" altLang="zh-CN" sz="2000" dirty="0">
                <a:solidFill>
                  <a:srgbClr val="000066"/>
                </a:solidFill>
                <a:latin typeface="Times New Roman" panose="02020603050405020304" pitchFamily="18" charset="0"/>
                <a:cs typeface="Times New Roman" panose="02020603050405020304" pitchFamily="18" charset="0"/>
              </a:endParaRPr>
            </a:p>
          </p:txBody>
        </p:sp>
      </p:grpSp>
      <p:sp>
        <p:nvSpPr>
          <p:cNvPr id="36870" name="Rectangle 10"/>
          <p:cNvSpPr/>
          <p:nvPr/>
        </p:nvSpPr>
        <p:spPr>
          <a:xfrm>
            <a:off x="1019810" y="5219700"/>
            <a:ext cx="9163050" cy="831215"/>
          </a:xfrm>
          <a:prstGeom prst="rect">
            <a:avLst/>
          </a:prstGeom>
          <a:noFill/>
          <a:ln w="3175">
            <a:noFill/>
          </a:ln>
        </p:spPr>
        <p:txBody>
          <a:bodyPr wrap="squar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0000"/>
              </a:lnSpc>
              <a:spcBef>
                <a:spcPct val="0"/>
              </a:spcBef>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如果用三叉链表来表示一棵二叉树</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可以容易查找到某个结点的双亲。选用怎样的存储结构，与你准备进行的操作有关。</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4.2.4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二叉树的存储结构</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Rectangle 3"/>
          <p:cNvSpPr>
            <a:spLocks noGrp="1"/>
          </p:cNvSpPr>
          <p:nvPr>
            <p:ph idx="1"/>
          </p:nvPr>
        </p:nvSpPr>
        <p:spPr>
          <a:xfrm>
            <a:off x="420370" y="1253490"/>
            <a:ext cx="10933430" cy="4923790"/>
          </a:xfrm>
        </p:spPr>
        <p:txBody>
          <a:bodyPr vert="horz" wrap="square" lIns="91440" tIns="45720" rIns="91440" bIns="45720" anchor="t" anchorCtr="0"/>
          <a:p>
            <a:pPr eaLnBrk="1" hangingPunct="1">
              <a:buNone/>
            </a:pPr>
            <a:r>
              <a:rPr lang="en-US" altLang="zh-CN" i="1" dirty="0"/>
              <a:t>                                   </a:t>
            </a:r>
            <a:r>
              <a:rPr lang="en-US" altLang="zh-CN" i="1" dirty="0">
                <a:sym typeface="+mn-ea"/>
              </a:rPr>
              <a:t>root</a:t>
            </a:r>
            <a:endParaRPr lang="en-US" altLang="zh-CN" i="1" dirty="0"/>
          </a:p>
          <a:p>
            <a:pPr eaLnBrk="1" hangingPunct="1">
              <a:buNone/>
            </a:pPr>
            <a:r>
              <a:rPr lang="en-US" altLang="zh-CN" i="1" dirty="0"/>
              <a:t>                       </a:t>
            </a:r>
            <a:endParaRPr lang="en-US" altLang="zh-CN" i="1" dirty="0"/>
          </a:p>
        </p:txBody>
      </p:sp>
      <p:grpSp>
        <p:nvGrpSpPr>
          <p:cNvPr id="37892" name="Group 4"/>
          <p:cNvGrpSpPr/>
          <p:nvPr/>
        </p:nvGrpSpPr>
        <p:grpSpPr>
          <a:xfrm>
            <a:off x="1908175" y="1758315"/>
            <a:ext cx="1958340" cy="3370580"/>
            <a:chOff x="703" y="2015"/>
            <a:chExt cx="1022" cy="1672"/>
          </a:xfrm>
        </p:grpSpPr>
        <p:sp>
          <p:nvSpPr>
            <p:cNvPr id="37953" name="Oval 5"/>
            <p:cNvSpPr/>
            <p:nvPr/>
          </p:nvSpPr>
          <p:spPr>
            <a:xfrm>
              <a:off x="1222" y="2015"/>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a:t>
              </a:r>
              <a:endParaRPr lang="en-US" altLang="zh-CN" sz="2000" i="1" dirty="0">
                <a:ea typeface="宋体" panose="02010600030101010101" pitchFamily="2" charset="-122"/>
              </a:endParaRPr>
            </a:p>
          </p:txBody>
        </p:sp>
        <p:sp>
          <p:nvSpPr>
            <p:cNvPr id="37954" name="Oval 6"/>
            <p:cNvSpPr/>
            <p:nvPr/>
          </p:nvSpPr>
          <p:spPr>
            <a:xfrm>
              <a:off x="974" y="2367"/>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B</a:t>
              </a:r>
              <a:endParaRPr lang="en-US" altLang="zh-CN" sz="2000" i="1" dirty="0">
                <a:ea typeface="宋体" panose="02010600030101010101" pitchFamily="2" charset="-122"/>
              </a:endParaRPr>
            </a:p>
          </p:txBody>
        </p:sp>
        <p:sp>
          <p:nvSpPr>
            <p:cNvPr id="37955" name="Oval 7"/>
            <p:cNvSpPr/>
            <p:nvPr/>
          </p:nvSpPr>
          <p:spPr>
            <a:xfrm>
              <a:off x="703" y="2729"/>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C</a:t>
              </a:r>
              <a:endParaRPr lang="en-US" altLang="zh-CN" sz="2000" i="1" dirty="0">
                <a:ea typeface="宋体" panose="02010600030101010101" pitchFamily="2" charset="-122"/>
              </a:endParaRPr>
            </a:p>
          </p:txBody>
        </p:sp>
        <p:sp>
          <p:nvSpPr>
            <p:cNvPr id="37956" name="Oval 8"/>
            <p:cNvSpPr/>
            <p:nvPr/>
          </p:nvSpPr>
          <p:spPr>
            <a:xfrm>
              <a:off x="1215" y="2729"/>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D</a:t>
              </a:r>
              <a:endParaRPr lang="en-US" altLang="zh-CN" sz="2000" i="1" dirty="0">
                <a:ea typeface="宋体" panose="02010600030101010101" pitchFamily="2" charset="-122"/>
              </a:endParaRPr>
            </a:p>
          </p:txBody>
        </p:sp>
        <p:sp>
          <p:nvSpPr>
            <p:cNvPr id="37957" name="Oval 9"/>
            <p:cNvSpPr/>
            <p:nvPr/>
          </p:nvSpPr>
          <p:spPr>
            <a:xfrm>
              <a:off x="1015" y="3051"/>
              <a:ext cx="255" cy="23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E</a:t>
              </a:r>
              <a:endParaRPr lang="en-US" altLang="zh-CN" sz="2000" i="1" dirty="0">
                <a:ea typeface="宋体" panose="02010600030101010101" pitchFamily="2" charset="-122"/>
              </a:endParaRPr>
            </a:p>
          </p:txBody>
        </p:sp>
        <p:sp>
          <p:nvSpPr>
            <p:cNvPr id="37958" name="Oval 10"/>
            <p:cNvSpPr/>
            <p:nvPr/>
          </p:nvSpPr>
          <p:spPr>
            <a:xfrm>
              <a:off x="1470" y="3051"/>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F</a:t>
              </a:r>
              <a:endParaRPr lang="en-US" altLang="zh-CN" sz="2000" i="1" dirty="0">
                <a:ea typeface="宋体" panose="02010600030101010101" pitchFamily="2" charset="-122"/>
              </a:endParaRPr>
            </a:p>
          </p:txBody>
        </p:sp>
        <p:sp>
          <p:nvSpPr>
            <p:cNvPr id="37959" name="Oval 11"/>
            <p:cNvSpPr/>
            <p:nvPr/>
          </p:nvSpPr>
          <p:spPr>
            <a:xfrm>
              <a:off x="1225" y="3463"/>
              <a:ext cx="255" cy="224"/>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G</a:t>
              </a:r>
              <a:endParaRPr lang="en-US" altLang="zh-CN" sz="2000" i="1" dirty="0">
                <a:ea typeface="宋体" panose="02010600030101010101" pitchFamily="2" charset="-122"/>
              </a:endParaRPr>
            </a:p>
          </p:txBody>
        </p:sp>
        <p:sp>
          <p:nvSpPr>
            <p:cNvPr id="37960" name="Line 12"/>
            <p:cNvSpPr/>
            <p:nvPr/>
          </p:nvSpPr>
          <p:spPr>
            <a:xfrm flipH="1">
              <a:off x="1156" y="2200"/>
              <a:ext cx="111" cy="190"/>
            </a:xfrm>
            <a:prstGeom prst="line">
              <a:avLst/>
            </a:prstGeom>
            <a:ln w="9525" cap="flat" cmpd="sng">
              <a:solidFill>
                <a:schemeClr val="tx1"/>
              </a:solidFill>
              <a:prstDash val="solid"/>
              <a:headEnd type="none" w="med" len="med"/>
              <a:tailEnd type="none" w="med" len="med"/>
            </a:ln>
          </p:spPr>
        </p:sp>
        <p:sp>
          <p:nvSpPr>
            <p:cNvPr id="37961" name="Line 13"/>
            <p:cNvSpPr/>
            <p:nvPr/>
          </p:nvSpPr>
          <p:spPr>
            <a:xfrm flipH="1">
              <a:off x="911" y="2566"/>
              <a:ext cx="122" cy="189"/>
            </a:xfrm>
            <a:prstGeom prst="line">
              <a:avLst/>
            </a:prstGeom>
            <a:ln w="9525" cap="flat" cmpd="sng">
              <a:solidFill>
                <a:schemeClr val="tx1"/>
              </a:solidFill>
              <a:prstDash val="solid"/>
              <a:headEnd type="none" w="med" len="med"/>
              <a:tailEnd type="none" w="med" len="med"/>
            </a:ln>
          </p:spPr>
        </p:sp>
        <p:sp>
          <p:nvSpPr>
            <p:cNvPr id="37962" name="Line 14"/>
            <p:cNvSpPr/>
            <p:nvPr/>
          </p:nvSpPr>
          <p:spPr>
            <a:xfrm>
              <a:off x="1189" y="2566"/>
              <a:ext cx="133" cy="189"/>
            </a:xfrm>
            <a:prstGeom prst="line">
              <a:avLst/>
            </a:prstGeom>
            <a:ln w="9525" cap="flat" cmpd="sng">
              <a:solidFill>
                <a:schemeClr val="tx1"/>
              </a:solidFill>
              <a:prstDash val="solid"/>
              <a:headEnd type="none" w="med" len="med"/>
              <a:tailEnd type="none" w="med" len="med"/>
            </a:ln>
          </p:spPr>
        </p:sp>
        <p:sp>
          <p:nvSpPr>
            <p:cNvPr id="37963" name="Line 15"/>
            <p:cNvSpPr/>
            <p:nvPr/>
          </p:nvSpPr>
          <p:spPr>
            <a:xfrm flipH="1">
              <a:off x="1211" y="2955"/>
              <a:ext cx="78" cy="145"/>
            </a:xfrm>
            <a:prstGeom prst="line">
              <a:avLst/>
            </a:prstGeom>
            <a:ln w="9525" cap="flat" cmpd="sng">
              <a:solidFill>
                <a:schemeClr val="tx1"/>
              </a:solidFill>
              <a:prstDash val="solid"/>
              <a:headEnd type="none" w="med" len="med"/>
              <a:tailEnd type="none" w="med" len="med"/>
            </a:ln>
          </p:spPr>
        </p:sp>
        <p:sp>
          <p:nvSpPr>
            <p:cNvPr id="37964" name="Line 16"/>
            <p:cNvSpPr/>
            <p:nvPr/>
          </p:nvSpPr>
          <p:spPr>
            <a:xfrm>
              <a:off x="1411" y="2933"/>
              <a:ext cx="112" cy="145"/>
            </a:xfrm>
            <a:prstGeom prst="line">
              <a:avLst/>
            </a:prstGeom>
            <a:ln w="9525" cap="flat" cmpd="sng">
              <a:solidFill>
                <a:schemeClr val="tx1"/>
              </a:solidFill>
              <a:prstDash val="solid"/>
              <a:headEnd type="none" w="med" len="med"/>
              <a:tailEnd type="none" w="med" len="med"/>
            </a:ln>
          </p:spPr>
        </p:sp>
        <p:sp>
          <p:nvSpPr>
            <p:cNvPr id="37965" name="Line 17"/>
            <p:cNvSpPr/>
            <p:nvPr/>
          </p:nvSpPr>
          <p:spPr>
            <a:xfrm>
              <a:off x="1178" y="3277"/>
              <a:ext cx="133" cy="189"/>
            </a:xfrm>
            <a:prstGeom prst="line">
              <a:avLst/>
            </a:prstGeom>
            <a:ln w="9525" cap="flat" cmpd="sng">
              <a:solidFill>
                <a:schemeClr val="tx1"/>
              </a:solidFill>
              <a:prstDash val="solid"/>
              <a:headEnd type="none" w="med" len="med"/>
              <a:tailEnd type="none" w="med" len="med"/>
            </a:ln>
          </p:spPr>
        </p:sp>
      </p:grpSp>
      <p:grpSp>
        <p:nvGrpSpPr>
          <p:cNvPr id="37893" name="Group 18"/>
          <p:cNvGrpSpPr/>
          <p:nvPr/>
        </p:nvGrpSpPr>
        <p:grpSpPr>
          <a:xfrm>
            <a:off x="4899025" y="2327275"/>
            <a:ext cx="5081588" cy="3576638"/>
            <a:chOff x="2307" y="1809"/>
            <a:chExt cx="3201" cy="2253"/>
          </a:xfrm>
        </p:grpSpPr>
        <p:grpSp>
          <p:nvGrpSpPr>
            <p:cNvPr id="37918" name="Group 19"/>
            <p:cNvGrpSpPr/>
            <p:nvPr/>
          </p:nvGrpSpPr>
          <p:grpSpPr>
            <a:xfrm>
              <a:off x="3289" y="1809"/>
              <a:ext cx="1134" cy="257"/>
              <a:chOff x="3289" y="1809"/>
              <a:chExt cx="1134" cy="257"/>
            </a:xfrm>
          </p:grpSpPr>
          <p:sp>
            <p:nvSpPr>
              <p:cNvPr id="37949" name="Rectangle 20"/>
              <p:cNvSpPr/>
              <p:nvPr/>
            </p:nvSpPr>
            <p:spPr>
              <a:xfrm>
                <a:off x="3289" y="1809"/>
                <a:ext cx="1134" cy="25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zh-CN" altLang="en-US" sz="2000" i="1" dirty="0">
                    <a:ea typeface="宋体" panose="02010600030101010101" pitchFamily="2" charset="-122"/>
                  </a:rPr>
                  <a:t>        </a:t>
                </a:r>
                <a:r>
                  <a:rPr lang="en-US" altLang="zh-CN" sz="2000" i="1" dirty="0">
                    <a:ea typeface="宋体" panose="02010600030101010101" pitchFamily="2" charset="-122"/>
                  </a:rPr>
                  <a:t>A</a:t>
                </a:r>
                <a:endParaRPr lang="en-US" altLang="zh-CN" sz="2000" i="1" dirty="0">
                  <a:ea typeface="宋体" panose="02010600030101010101" pitchFamily="2" charset="-122"/>
                </a:endParaRPr>
              </a:p>
            </p:txBody>
          </p:sp>
          <p:sp>
            <p:nvSpPr>
              <p:cNvPr id="37950" name="Line 21"/>
              <p:cNvSpPr/>
              <p:nvPr/>
            </p:nvSpPr>
            <p:spPr>
              <a:xfrm>
                <a:off x="3563" y="1809"/>
                <a:ext cx="0" cy="256"/>
              </a:xfrm>
              <a:prstGeom prst="line">
                <a:avLst/>
              </a:prstGeom>
              <a:ln w="9525" cap="flat" cmpd="sng">
                <a:solidFill>
                  <a:schemeClr val="tx1"/>
                </a:solidFill>
                <a:prstDash val="solid"/>
                <a:headEnd type="none" w="med" len="med"/>
                <a:tailEnd type="none" w="med" len="med"/>
              </a:ln>
            </p:spPr>
          </p:sp>
          <p:sp>
            <p:nvSpPr>
              <p:cNvPr id="37951" name="Line 22"/>
              <p:cNvSpPr/>
              <p:nvPr/>
            </p:nvSpPr>
            <p:spPr>
              <a:xfrm>
                <a:off x="3848" y="1820"/>
                <a:ext cx="0" cy="234"/>
              </a:xfrm>
              <a:prstGeom prst="line">
                <a:avLst/>
              </a:prstGeom>
              <a:ln w="9525" cap="flat" cmpd="sng">
                <a:solidFill>
                  <a:schemeClr val="tx1"/>
                </a:solidFill>
                <a:prstDash val="solid"/>
                <a:headEnd type="none" w="med" len="med"/>
                <a:tailEnd type="none" w="med" len="med"/>
              </a:ln>
            </p:spPr>
          </p:sp>
          <p:sp>
            <p:nvSpPr>
              <p:cNvPr id="37952" name="Line 23"/>
              <p:cNvSpPr/>
              <p:nvPr/>
            </p:nvSpPr>
            <p:spPr>
              <a:xfrm>
                <a:off x="4134" y="1811"/>
                <a:ext cx="0" cy="255"/>
              </a:xfrm>
              <a:prstGeom prst="line">
                <a:avLst/>
              </a:prstGeom>
              <a:ln w="9525" cap="flat" cmpd="sng">
                <a:solidFill>
                  <a:schemeClr val="tx1"/>
                </a:solidFill>
                <a:prstDash val="solid"/>
                <a:headEnd type="none" w="med" len="med"/>
                <a:tailEnd type="none" w="med" len="med"/>
              </a:ln>
            </p:spPr>
          </p:sp>
        </p:grpSp>
        <p:grpSp>
          <p:nvGrpSpPr>
            <p:cNvPr id="37919" name="Group 24"/>
            <p:cNvGrpSpPr/>
            <p:nvPr/>
          </p:nvGrpSpPr>
          <p:grpSpPr>
            <a:xfrm>
              <a:off x="2651" y="2284"/>
              <a:ext cx="1134" cy="257"/>
              <a:chOff x="3289" y="1809"/>
              <a:chExt cx="1134" cy="257"/>
            </a:xfrm>
          </p:grpSpPr>
          <p:sp>
            <p:nvSpPr>
              <p:cNvPr id="37945" name="Rectangle 25"/>
              <p:cNvSpPr/>
              <p:nvPr/>
            </p:nvSpPr>
            <p:spPr>
              <a:xfrm>
                <a:off x="3289" y="1809"/>
                <a:ext cx="1134" cy="25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2000" i="1" dirty="0">
                    <a:ea typeface="宋体" panose="02010600030101010101" pitchFamily="2" charset="-122"/>
                  </a:rPr>
                  <a:t>       </a:t>
                </a:r>
                <a:r>
                  <a:rPr lang="en-US" altLang="zh-CN" sz="2000" i="1" dirty="0">
                    <a:ea typeface="宋体" panose="02010600030101010101" pitchFamily="2" charset="-122"/>
                  </a:rPr>
                  <a:t>B              </a:t>
                </a:r>
                <a:endParaRPr lang="en-US" altLang="zh-CN" sz="2000" i="1" dirty="0">
                  <a:ea typeface="宋体" panose="02010600030101010101" pitchFamily="2" charset="-122"/>
                </a:endParaRPr>
              </a:p>
            </p:txBody>
          </p:sp>
          <p:sp>
            <p:nvSpPr>
              <p:cNvPr id="37946" name="Line 26"/>
              <p:cNvSpPr/>
              <p:nvPr/>
            </p:nvSpPr>
            <p:spPr>
              <a:xfrm>
                <a:off x="3563" y="1809"/>
                <a:ext cx="0" cy="256"/>
              </a:xfrm>
              <a:prstGeom prst="line">
                <a:avLst/>
              </a:prstGeom>
              <a:ln w="9525" cap="flat" cmpd="sng">
                <a:solidFill>
                  <a:schemeClr val="tx1"/>
                </a:solidFill>
                <a:prstDash val="solid"/>
                <a:headEnd type="none" w="med" len="med"/>
                <a:tailEnd type="none" w="med" len="med"/>
              </a:ln>
            </p:spPr>
          </p:sp>
          <p:sp>
            <p:nvSpPr>
              <p:cNvPr id="37947" name="Line 27"/>
              <p:cNvSpPr/>
              <p:nvPr/>
            </p:nvSpPr>
            <p:spPr>
              <a:xfrm>
                <a:off x="3848" y="1820"/>
                <a:ext cx="0" cy="234"/>
              </a:xfrm>
              <a:prstGeom prst="line">
                <a:avLst/>
              </a:prstGeom>
              <a:ln w="9525" cap="flat" cmpd="sng">
                <a:solidFill>
                  <a:schemeClr val="tx1"/>
                </a:solidFill>
                <a:prstDash val="solid"/>
                <a:headEnd type="none" w="med" len="med"/>
                <a:tailEnd type="none" w="med" len="med"/>
              </a:ln>
            </p:spPr>
          </p:sp>
          <p:sp>
            <p:nvSpPr>
              <p:cNvPr id="37948" name="Line 28"/>
              <p:cNvSpPr/>
              <p:nvPr/>
            </p:nvSpPr>
            <p:spPr>
              <a:xfrm>
                <a:off x="4134" y="1811"/>
                <a:ext cx="0" cy="255"/>
              </a:xfrm>
              <a:prstGeom prst="line">
                <a:avLst/>
              </a:prstGeom>
              <a:ln w="9525" cap="flat" cmpd="sng">
                <a:solidFill>
                  <a:schemeClr val="tx1"/>
                </a:solidFill>
                <a:prstDash val="solid"/>
                <a:headEnd type="none" w="med" len="med"/>
                <a:tailEnd type="none" w="med" len="med"/>
              </a:ln>
            </p:spPr>
          </p:sp>
        </p:grpSp>
        <p:grpSp>
          <p:nvGrpSpPr>
            <p:cNvPr id="37920" name="Group 29"/>
            <p:cNvGrpSpPr/>
            <p:nvPr/>
          </p:nvGrpSpPr>
          <p:grpSpPr>
            <a:xfrm>
              <a:off x="2307" y="2772"/>
              <a:ext cx="1134" cy="257"/>
              <a:chOff x="3289" y="1809"/>
              <a:chExt cx="1134" cy="257"/>
            </a:xfrm>
          </p:grpSpPr>
          <p:sp>
            <p:nvSpPr>
              <p:cNvPr id="37941" name="Rectangle 30"/>
              <p:cNvSpPr/>
              <p:nvPr/>
            </p:nvSpPr>
            <p:spPr>
              <a:xfrm>
                <a:off x="3289" y="1809"/>
                <a:ext cx="1134" cy="25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2000" i="1" dirty="0">
                    <a:ea typeface="宋体" panose="02010600030101010101" pitchFamily="2" charset="-122"/>
                  </a:rPr>
                  <a:t>        </a:t>
                </a:r>
                <a:r>
                  <a:rPr lang="en-US" altLang="zh-CN" sz="2000" i="1" dirty="0">
                    <a:ea typeface="宋体" panose="02010600030101010101" pitchFamily="2" charset="-122"/>
                  </a:rPr>
                  <a:t>C               </a:t>
                </a:r>
                <a:endParaRPr lang="en-US" altLang="zh-CN" sz="2000" i="1" dirty="0">
                  <a:ea typeface="宋体" panose="02010600030101010101" pitchFamily="2" charset="-122"/>
                </a:endParaRPr>
              </a:p>
            </p:txBody>
          </p:sp>
          <p:sp>
            <p:nvSpPr>
              <p:cNvPr id="37942" name="Line 31"/>
              <p:cNvSpPr/>
              <p:nvPr/>
            </p:nvSpPr>
            <p:spPr>
              <a:xfrm>
                <a:off x="3563" y="1809"/>
                <a:ext cx="0" cy="256"/>
              </a:xfrm>
              <a:prstGeom prst="line">
                <a:avLst/>
              </a:prstGeom>
              <a:ln w="9525" cap="flat" cmpd="sng">
                <a:solidFill>
                  <a:schemeClr val="tx1"/>
                </a:solidFill>
                <a:prstDash val="solid"/>
                <a:headEnd type="none" w="med" len="med"/>
                <a:tailEnd type="none" w="med" len="med"/>
              </a:ln>
            </p:spPr>
          </p:sp>
          <p:sp>
            <p:nvSpPr>
              <p:cNvPr id="37943" name="Line 32"/>
              <p:cNvSpPr/>
              <p:nvPr/>
            </p:nvSpPr>
            <p:spPr>
              <a:xfrm>
                <a:off x="3848" y="1820"/>
                <a:ext cx="0" cy="234"/>
              </a:xfrm>
              <a:prstGeom prst="line">
                <a:avLst/>
              </a:prstGeom>
              <a:ln w="9525" cap="flat" cmpd="sng">
                <a:solidFill>
                  <a:schemeClr val="tx1"/>
                </a:solidFill>
                <a:prstDash val="solid"/>
                <a:headEnd type="none" w="med" len="med"/>
                <a:tailEnd type="none" w="med" len="med"/>
              </a:ln>
            </p:spPr>
          </p:sp>
          <p:sp>
            <p:nvSpPr>
              <p:cNvPr id="37944" name="Line 33"/>
              <p:cNvSpPr/>
              <p:nvPr/>
            </p:nvSpPr>
            <p:spPr>
              <a:xfrm>
                <a:off x="4134" y="1811"/>
                <a:ext cx="0" cy="255"/>
              </a:xfrm>
              <a:prstGeom prst="line">
                <a:avLst/>
              </a:prstGeom>
              <a:ln w="9525" cap="flat" cmpd="sng">
                <a:solidFill>
                  <a:schemeClr val="tx1"/>
                </a:solidFill>
                <a:prstDash val="solid"/>
                <a:headEnd type="none" w="med" len="med"/>
                <a:tailEnd type="none" w="med" len="med"/>
              </a:ln>
            </p:spPr>
          </p:sp>
        </p:grpSp>
        <p:grpSp>
          <p:nvGrpSpPr>
            <p:cNvPr id="37921" name="Group 34"/>
            <p:cNvGrpSpPr/>
            <p:nvPr/>
          </p:nvGrpSpPr>
          <p:grpSpPr>
            <a:xfrm>
              <a:off x="3752" y="2750"/>
              <a:ext cx="1134" cy="257"/>
              <a:chOff x="3289" y="1809"/>
              <a:chExt cx="1134" cy="257"/>
            </a:xfrm>
          </p:grpSpPr>
          <p:sp>
            <p:nvSpPr>
              <p:cNvPr id="37937" name="Rectangle 35"/>
              <p:cNvSpPr/>
              <p:nvPr/>
            </p:nvSpPr>
            <p:spPr>
              <a:xfrm>
                <a:off x="3289" y="1809"/>
                <a:ext cx="1134" cy="25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zh-CN" altLang="en-US" sz="2000" i="1" dirty="0">
                    <a:ea typeface="宋体" panose="02010600030101010101" pitchFamily="2" charset="-122"/>
                  </a:rPr>
                  <a:t>        </a:t>
                </a:r>
                <a:r>
                  <a:rPr lang="en-US" altLang="zh-CN" sz="2000" i="1" dirty="0">
                    <a:ea typeface="宋体" panose="02010600030101010101" pitchFamily="2" charset="-122"/>
                  </a:rPr>
                  <a:t>D</a:t>
                </a:r>
                <a:endParaRPr lang="en-US" altLang="zh-CN" sz="2000" i="1" dirty="0">
                  <a:ea typeface="宋体" panose="02010600030101010101" pitchFamily="2" charset="-122"/>
                </a:endParaRPr>
              </a:p>
            </p:txBody>
          </p:sp>
          <p:sp>
            <p:nvSpPr>
              <p:cNvPr id="37938" name="Line 36"/>
              <p:cNvSpPr/>
              <p:nvPr/>
            </p:nvSpPr>
            <p:spPr>
              <a:xfrm>
                <a:off x="3563" y="1809"/>
                <a:ext cx="0" cy="256"/>
              </a:xfrm>
              <a:prstGeom prst="line">
                <a:avLst/>
              </a:prstGeom>
              <a:ln w="9525" cap="flat" cmpd="sng">
                <a:solidFill>
                  <a:schemeClr val="tx1"/>
                </a:solidFill>
                <a:prstDash val="solid"/>
                <a:headEnd type="none" w="med" len="med"/>
                <a:tailEnd type="none" w="med" len="med"/>
              </a:ln>
            </p:spPr>
          </p:sp>
          <p:sp>
            <p:nvSpPr>
              <p:cNvPr id="37939" name="Line 37"/>
              <p:cNvSpPr/>
              <p:nvPr/>
            </p:nvSpPr>
            <p:spPr>
              <a:xfrm>
                <a:off x="3848" y="1820"/>
                <a:ext cx="0" cy="234"/>
              </a:xfrm>
              <a:prstGeom prst="line">
                <a:avLst/>
              </a:prstGeom>
              <a:ln w="9525" cap="flat" cmpd="sng">
                <a:solidFill>
                  <a:schemeClr val="tx1"/>
                </a:solidFill>
                <a:prstDash val="solid"/>
                <a:headEnd type="none" w="med" len="med"/>
                <a:tailEnd type="none" w="med" len="med"/>
              </a:ln>
            </p:spPr>
          </p:sp>
          <p:sp>
            <p:nvSpPr>
              <p:cNvPr id="37940" name="Line 38"/>
              <p:cNvSpPr/>
              <p:nvPr/>
            </p:nvSpPr>
            <p:spPr>
              <a:xfrm>
                <a:off x="4134" y="1811"/>
                <a:ext cx="0" cy="255"/>
              </a:xfrm>
              <a:prstGeom prst="line">
                <a:avLst/>
              </a:prstGeom>
              <a:ln w="9525" cap="flat" cmpd="sng">
                <a:solidFill>
                  <a:schemeClr val="tx1"/>
                </a:solidFill>
                <a:prstDash val="solid"/>
                <a:headEnd type="none" w="med" len="med"/>
                <a:tailEnd type="none" w="med" len="med"/>
              </a:ln>
            </p:spPr>
          </p:sp>
        </p:grpSp>
        <p:grpSp>
          <p:nvGrpSpPr>
            <p:cNvPr id="37922" name="Group 39"/>
            <p:cNvGrpSpPr/>
            <p:nvPr/>
          </p:nvGrpSpPr>
          <p:grpSpPr>
            <a:xfrm>
              <a:off x="3041" y="3272"/>
              <a:ext cx="1134" cy="257"/>
              <a:chOff x="3289" y="1809"/>
              <a:chExt cx="1134" cy="257"/>
            </a:xfrm>
          </p:grpSpPr>
          <p:sp>
            <p:nvSpPr>
              <p:cNvPr id="37933" name="Rectangle 40"/>
              <p:cNvSpPr/>
              <p:nvPr/>
            </p:nvSpPr>
            <p:spPr>
              <a:xfrm>
                <a:off x="3289" y="1809"/>
                <a:ext cx="1134" cy="25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sz="2000" i="1" dirty="0">
                    <a:ea typeface="宋体" panose="02010600030101010101" pitchFamily="2" charset="-122"/>
                  </a:rPr>
                  <a:t>  </a:t>
                </a:r>
                <a:r>
                  <a:rPr lang="en-US" altLang="zh-CN" sz="2000" i="1" dirty="0">
                    <a:ea typeface="宋体" panose="02010600030101010101" pitchFamily="2" charset="-122"/>
                  </a:rPr>
                  <a:t>E         </a:t>
                </a:r>
                <a:endParaRPr lang="en-US" altLang="zh-CN" sz="2000" i="1" dirty="0">
                  <a:ea typeface="宋体" panose="02010600030101010101" pitchFamily="2" charset="-122"/>
                </a:endParaRPr>
              </a:p>
            </p:txBody>
          </p:sp>
          <p:sp>
            <p:nvSpPr>
              <p:cNvPr id="37934" name="Line 41"/>
              <p:cNvSpPr/>
              <p:nvPr/>
            </p:nvSpPr>
            <p:spPr>
              <a:xfrm>
                <a:off x="3563" y="1809"/>
                <a:ext cx="0" cy="256"/>
              </a:xfrm>
              <a:prstGeom prst="line">
                <a:avLst/>
              </a:prstGeom>
              <a:ln w="9525" cap="flat" cmpd="sng">
                <a:solidFill>
                  <a:schemeClr val="tx1"/>
                </a:solidFill>
                <a:prstDash val="solid"/>
                <a:headEnd type="none" w="med" len="med"/>
                <a:tailEnd type="none" w="med" len="med"/>
              </a:ln>
            </p:spPr>
          </p:sp>
          <p:sp>
            <p:nvSpPr>
              <p:cNvPr id="37935" name="Line 42"/>
              <p:cNvSpPr/>
              <p:nvPr/>
            </p:nvSpPr>
            <p:spPr>
              <a:xfrm>
                <a:off x="3848" y="1820"/>
                <a:ext cx="0" cy="234"/>
              </a:xfrm>
              <a:prstGeom prst="line">
                <a:avLst/>
              </a:prstGeom>
              <a:ln w="9525" cap="flat" cmpd="sng">
                <a:solidFill>
                  <a:schemeClr val="tx1"/>
                </a:solidFill>
                <a:prstDash val="solid"/>
                <a:headEnd type="none" w="med" len="med"/>
                <a:tailEnd type="none" w="med" len="med"/>
              </a:ln>
            </p:spPr>
          </p:sp>
          <p:sp>
            <p:nvSpPr>
              <p:cNvPr id="37936" name="Line 43"/>
              <p:cNvSpPr/>
              <p:nvPr/>
            </p:nvSpPr>
            <p:spPr>
              <a:xfrm>
                <a:off x="4134" y="1811"/>
                <a:ext cx="0" cy="255"/>
              </a:xfrm>
              <a:prstGeom prst="line">
                <a:avLst/>
              </a:prstGeom>
              <a:ln w="9525" cap="flat" cmpd="sng">
                <a:solidFill>
                  <a:schemeClr val="tx1"/>
                </a:solidFill>
                <a:prstDash val="solid"/>
                <a:headEnd type="none" w="med" len="med"/>
                <a:tailEnd type="none" w="med" len="med"/>
              </a:ln>
            </p:spPr>
          </p:sp>
        </p:grpSp>
        <p:grpSp>
          <p:nvGrpSpPr>
            <p:cNvPr id="37923" name="Group 44"/>
            <p:cNvGrpSpPr/>
            <p:nvPr/>
          </p:nvGrpSpPr>
          <p:grpSpPr>
            <a:xfrm>
              <a:off x="4374" y="3261"/>
              <a:ext cx="1134" cy="257"/>
              <a:chOff x="3289" y="1809"/>
              <a:chExt cx="1134" cy="257"/>
            </a:xfrm>
          </p:grpSpPr>
          <p:sp>
            <p:nvSpPr>
              <p:cNvPr id="37929" name="Rectangle 45"/>
              <p:cNvSpPr/>
              <p:nvPr/>
            </p:nvSpPr>
            <p:spPr>
              <a:xfrm>
                <a:off x="3289" y="1809"/>
                <a:ext cx="1134" cy="25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zh-CN" altLang="en-US" sz="2000" i="1" dirty="0">
                    <a:ea typeface="宋体" panose="02010600030101010101" pitchFamily="2" charset="-122"/>
                  </a:rPr>
                  <a:t>        </a:t>
                </a:r>
                <a:r>
                  <a:rPr lang="en-US" altLang="zh-CN" sz="2000" i="1" dirty="0">
                    <a:ea typeface="宋体" panose="02010600030101010101" pitchFamily="2" charset="-122"/>
                  </a:rPr>
                  <a:t>F</a:t>
                </a:r>
                <a:endParaRPr lang="en-US" altLang="zh-CN" sz="2000" i="1" dirty="0">
                  <a:ea typeface="宋体" panose="02010600030101010101" pitchFamily="2" charset="-122"/>
                </a:endParaRPr>
              </a:p>
            </p:txBody>
          </p:sp>
          <p:sp>
            <p:nvSpPr>
              <p:cNvPr id="37930" name="Line 46"/>
              <p:cNvSpPr/>
              <p:nvPr/>
            </p:nvSpPr>
            <p:spPr>
              <a:xfrm>
                <a:off x="3563" y="1809"/>
                <a:ext cx="0" cy="256"/>
              </a:xfrm>
              <a:prstGeom prst="line">
                <a:avLst/>
              </a:prstGeom>
              <a:ln w="9525" cap="flat" cmpd="sng">
                <a:solidFill>
                  <a:schemeClr val="tx1"/>
                </a:solidFill>
                <a:prstDash val="solid"/>
                <a:headEnd type="none" w="med" len="med"/>
                <a:tailEnd type="none" w="med" len="med"/>
              </a:ln>
            </p:spPr>
          </p:sp>
          <p:sp>
            <p:nvSpPr>
              <p:cNvPr id="37931" name="Line 47"/>
              <p:cNvSpPr/>
              <p:nvPr/>
            </p:nvSpPr>
            <p:spPr>
              <a:xfrm>
                <a:off x="3848" y="1820"/>
                <a:ext cx="0" cy="234"/>
              </a:xfrm>
              <a:prstGeom prst="line">
                <a:avLst/>
              </a:prstGeom>
              <a:ln w="9525" cap="flat" cmpd="sng">
                <a:solidFill>
                  <a:schemeClr val="tx1"/>
                </a:solidFill>
                <a:prstDash val="solid"/>
                <a:headEnd type="none" w="med" len="med"/>
                <a:tailEnd type="none" w="med" len="med"/>
              </a:ln>
            </p:spPr>
          </p:sp>
          <p:sp>
            <p:nvSpPr>
              <p:cNvPr id="37932" name="Line 48"/>
              <p:cNvSpPr/>
              <p:nvPr/>
            </p:nvSpPr>
            <p:spPr>
              <a:xfrm>
                <a:off x="4134" y="1811"/>
                <a:ext cx="0" cy="255"/>
              </a:xfrm>
              <a:prstGeom prst="line">
                <a:avLst/>
              </a:prstGeom>
              <a:ln w="9525" cap="flat" cmpd="sng">
                <a:solidFill>
                  <a:schemeClr val="tx1"/>
                </a:solidFill>
                <a:prstDash val="solid"/>
                <a:headEnd type="none" w="med" len="med"/>
                <a:tailEnd type="none" w="med" len="med"/>
              </a:ln>
            </p:spPr>
          </p:sp>
        </p:grpSp>
        <p:grpSp>
          <p:nvGrpSpPr>
            <p:cNvPr id="37924" name="Group 49"/>
            <p:cNvGrpSpPr/>
            <p:nvPr/>
          </p:nvGrpSpPr>
          <p:grpSpPr>
            <a:xfrm>
              <a:off x="3751" y="3805"/>
              <a:ext cx="1134" cy="257"/>
              <a:chOff x="3289" y="1809"/>
              <a:chExt cx="1134" cy="257"/>
            </a:xfrm>
          </p:grpSpPr>
          <p:sp>
            <p:nvSpPr>
              <p:cNvPr id="37925" name="Rectangle 50"/>
              <p:cNvSpPr/>
              <p:nvPr/>
            </p:nvSpPr>
            <p:spPr>
              <a:xfrm>
                <a:off x="3289" y="1809"/>
                <a:ext cx="1134" cy="256"/>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zh-CN" altLang="en-US" sz="2000" i="1" dirty="0">
                    <a:ea typeface="宋体" panose="02010600030101010101" pitchFamily="2" charset="-122"/>
                  </a:rPr>
                  <a:t>        </a:t>
                </a:r>
                <a:r>
                  <a:rPr lang="en-US" altLang="zh-CN" sz="2000" i="1" dirty="0">
                    <a:ea typeface="宋体" panose="02010600030101010101" pitchFamily="2" charset="-122"/>
                  </a:rPr>
                  <a:t>G</a:t>
                </a:r>
                <a:endParaRPr lang="en-US" altLang="zh-CN" sz="2000" i="1" dirty="0">
                  <a:ea typeface="宋体" panose="02010600030101010101" pitchFamily="2" charset="-122"/>
                </a:endParaRPr>
              </a:p>
            </p:txBody>
          </p:sp>
          <p:sp>
            <p:nvSpPr>
              <p:cNvPr id="37926" name="Line 51"/>
              <p:cNvSpPr/>
              <p:nvPr/>
            </p:nvSpPr>
            <p:spPr>
              <a:xfrm>
                <a:off x="3563" y="1809"/>
                <a:ext cx="0" cy="256"/>
              </a:xfrm>
              <a:prstGeom prst="line">
                <a:avLst/>
              </a:prstGeom>
              <a:ln w="9525" cap="flat" cmpd="sng">
                <a:solidFill>
                  <a:schemeClr val="tx1"/>
                </a:solidFill>
                <a:prstDash val="solid"/>
                <a:headEnd type="none" w="med" len="med"/>
                <a:tailEnd type="none" w="med" len="med"/>
              </a:ln>
            </p:spPr>
          </p:sp>
          <p:sp>
            <p:nvSpPr>
              <p:cNvPr id="37927" name="Line 52"/>
              <p:cNvSpPr/>
              <p:nvPr/>
            </p:nvSpPr>
            <p:spPr>
              <a:xfrm>
                <a:off x="3848" y="1820"/>
                <a:ext cx="0" cy="234"/>
              </a:xfrm>
              <a:prstGeom prst="line">
                <a:avLst/>
              </a:prstGeom>
              <a:ln w="9525" cap="flat" cmpd="sng">
                <a:solidFill>
                  <a:schemeClr val="tx1"/>
                </a:solidFill>
                <a:prstDash val="solid"/>
                <a:headEnd type="none" w="med" len="med"/>
                <a:tailEnd type="none" w="med" len="med"/>
              </a:ln>
            </p:spPr>
          </p:sp>
          <p:sp>
            <p:nvSpPr>
              <p:cNvPr id="37928" name="Line 53"/>
              <p:cNvSpPr/>
              <p:nvPr/>
            </p:nvSpPr>
            <p:spPr>
              <a:xfrm>
                <a:off x="4134" y="1811"/>
                <a:ext cx="0" cy="255"/>
              </a:xfrm>
              <a:prstGeom prst="line">
                <a:avLst/>
              </a:prstGeom>
              <a:ln w="9525" cap="flat" cmpd="sng">
                <a:solidFill>
                  <a:schemeClr val="tx1"/>
                </a:solidFill>
                <a:prstDash val="solid"/>
                <a:headEnd type="none" w="med" len="med"/>
                <a:tailEnd type="none" w="med" len="med"/>
              </a:ln>
            </p:spPr>
          </p:sp>
        </p:grpSp>
      </p:grpSp>
      <p:sp>
        <p:nvSpPr>
          <p:cNvPr id="37894" name="Line 54"/>
          <p:cNvSpPr/>
          <p:nvPr/>
        </p:nvSpPr>
        <p:spPr>
          <a:xfrm flipH="1">
            <a:off x="6229350" y="2647950"/>
            <a:ext cx="441325" cy="441325"/>
          </a:xfrm>
          <a:prstGeom prst="line">
            <a:avLst/>
          </a:prstGeom>
          <a:ln w="9525" cap="flat" cmpd="sng">
            <a:solidFill>
              <a:schemeClr val="accent1"/>
            </a:solidFill>
            <a:prstDash val="solid"/>
            <a:headEnd type="none" w="med" len="med"/>
            <a:tailEnd type="triangle" w="med" len="med"/>
          </a:ln>
        </p:spPr>
      </p:sp>
      <p:sp>
        <p:nvSpPr>
          <p:cNvPr id="37895" name="Line 55"/>
          <p:cNvSpPr/>
          <p:nvPr/>
        </p:nvSpPr>
        <p:spPr>
          <a:xfrm flipH="1">
            <a:off x="5435600" y="3424238"/>
            <a:ext cx="263525" cy="441325"/>
          </a:xfrm>
          <a:prstGeom prst="line">
            <a:avLst/>
          </a:prstGeom>
          <a:ln w="9525" cap="flat" cmpd="sng">
            <a:solidFill>
              <a:schemeClr val="accent1"/>
            </a:solidFill>
            <a:prstDash val="solid"/>
            <a:headEnd type="none" w="med" len="med"/>
            <a:tailEnd type="triangle" w="med" len="med"/>
          </a:ln>
        </p:spPr>
      </p:sp>
      <p:sp>
        <p:nvSpPr>
          <p:cNvPr id="37896" name="Line 56"/>
          <p:cNvSpPr/>
          <p:nvPr/>
        </p:nvSpPr>
        <p:spPr>
          <a:xfrm flipH="1">
            <a:off x="6688138" y="4111625"/>
            <a:ext cx="741362" cy="546100"/>
          </a:xfrm>
          <a:prstGeom prst="line">
            <a:avLst/>
          </a:prstGeom>
          <a:ln w="9525" cap="flat" cmpd="sng">
            <a:solidFill>
              <a:schemeClr val="accent1"/>
            </a:solidFill>
            <a:prstDash val="solid"/>
            <a:headEnd type="none" w="med" len="med"/>
            <a:tailEnd type="triangle" w="med" len="med"/>
          </a:ln>
        </p:spPr>
      </p:sp>
      <p:sp>
        <p:nvSpPr>
          <p:cNvPr id="37897" name="Line 57"/>
          <p:cNvSpPr/>
          <p:nvPr/>
        </p:nvSpPr>
        <p:spPr>
          <a:xfrm>
            <a:off x="7023100" y="3352800"/>
            <a:ext cx="741363" cy="476250"/>
          </a:xfrm>
          <a:prstGeom prst="line">
            <a:avLst/>
          </a:prstGeom>
          <a:ln w="9525" cap="flat" cmpd="sng">
            <a:solidFill>
              <a:schemeClr val="accent1"/>
            </a:solidFill>
            <a:prstDash val="solid"/>
            <a:headEnd type="none" w="med" len="med"/>
            <a:tailEnd type="triangle" w="med" len="med"/>
          </a:ln>
        </p:spPr>
      </p:sp>
      <p:sp>
        <p:nvSpPr>
          <p:cNvPr id="37898" name="Line 58"/>
          <p:cNvSpPr/>
          <p:nvPr/>
        </p:nvSpPr>
        <p:spPr>
          <a:xfrm>
            <a:off x="8751888" y="4076700"/>
            <a:ext cx="228600" cy="563563"/>
          </a:xfrm>
          <a:prstGeom prst="line">
            <a:avLst/>
          </a:prstGeom>
          <a:ln w="9525" cap="flat" cmpd="sng">
            <a:solidFill>
              <a:schemeClr val="accent1"/>
            </a:solidFill>
            <a:prstDash val="solid"/>
            <a:headEnd type="none" w="med" len="med"/>
            <a:tailEnd type="triangle" w="med" len="med"/>
          </a:ln>
        </p:spPr>
      </p:sp>
      <p:sp>
        <p:nvSpPr>
          <p:cNvPr id="37899" name="Line 59"/>
          <p:cNvSpPr/>
          <p:nvPr/>
        </p:nvSpPr>
        <p:spPr>
          <a:xfrm>
            <a:off x="7675563" y="4905375"/>
            <a:ext cx="334962" cy="582613"/>
          </a:xfrm>
          <a:prstGeom prst="line">
            <a:avLst/>
          </a:prstGeom>
          <a:ln w="9525" cap="flat" cmpd="sng">
            <a:solidFill>
              <a:schemeClr val="accent1"/>
            </a:solidFill>
            <a:prstDash val="solid"/>
            <a:headEnd type="none" w="med" len="med"/>
            <a:tailEnd type="triangle" w="med" len="med"/>
          </a:ln>
        </p:spPr>
      </p:sp>
      <p:sp>
        <p:nvSpPr>
          <p:cNvPr id="37900" name="Line 60"/>
          <p:cNvSpPr/>
          <p:nvPr/>
        </p:nvSpPr>
        <p:spPr>
          <a:xfrm flipV="1">
            <a:off x="6599238" y="2717800"/>
            <a:ext cx="458787" cy="458788"/>
          </a:xfrm>
          <a:prstGeom prst="line">
            <a:avLst/>
          </a:prstGeom>
          <a:ln w="9525" cap="flat" cmpd="sng">
            <a:solidFill>
              <a:srgbClr val="C00000"/>
            </a:solidFill>
            <a:prstDash val="dash"/>
            <a:headEnd type="none" w="med" len="med"/>
            <a:tailEnd type="triangle" w="med" len="med"/>
          </a:ln>
        </p:spPr>
      </p:sp>
      <p:sp>
        <p:nvSpPr>
          <p:cNvPr id="37901" name="Line 61"/>
          <p:cNvSpPr/>
          <p:nvPr/>
        </p:nvSpPr>
        <p:spPr>
          <a:xfrm flipV="1">
            <a:off x="5946775" y="3494088"/>
            <a:ext cx="247650" cy="458787"/>
          </a:xfrm>
          <a:prstGeom prst="line">
            <a:avLst/>
          </a:prstGeom>
          <a:ln w="9525" cap="flat" cmpd="sng">
            <a:solidFill>
              <a:srgbClr val="C00000"/>
            </a:solidFill>
            <a:prstDash val="dash"/>
            <a:headEnd type="none" w="med" len="med"/>
            <a:tailEnd type="triangle" w="med" len="med"/>
          </a:ln>
        </p:spPr>
      </p:sp>
      <p:sp>
        <p:nvSpPr>
          <p:cNvPr id="37902" name="Line 62"/>
          <p:cNvSpPr/>
          <p:nvPr/>
        </p:nvSpPr>
        <p:spPr>
          <a:xfrm flipH="1" flipV="1">
            <a:off x="7251700" y="3352800"/>
            <a:ext cx="1041400" cy="565150"/>
          </a:xfrm>
          <a:prstGeom prst="line">
            <a:avLst/>
          </a:prstGeom>
          <a:ln w="9525" cap="flat" cmpd="sng">
            <a:solidFill>
              <a:srgbClr val="C00000"/>
            </a:solidFill>
            <a:prstDash val="dash"/>
            <a:headEnd type="none" w="med" len="med"/>
            <a:tailEnd type="triangle" w="med" len="med"/>
          </a:ln>
        </p:spPr>
      </p:sp>
      <p:sp>
        <p:nvSpPr>
          <p:cNvPr id="37903" name="Line 63"/>
          <p:cNvSpPr/>
          <p:nvPr/>
        </p:nvSpPr>
        <p:spPr>
          <a:xfrm flipV="1">
            <a:off x="7181850" y="4235450"/>
            <a:ext cx="511175" cy="528638"/>
          </a:xfrm>
          <a:prstGeom prst="line">
            <a:avLst/>
          </a:prstGeom>
          <a:ln w="9525" cap="flat" cmpd="sng">
            <a:solidFill>
              <a:srgbClr val="C00000"/>
            </a:solidFill>
            <a:prstDash val="dash"/>
            <a:headEnd type="none" w="med" len="med"/>
            <a:tailEnd type="triangle" w="med" len="med"/>
          </a:ln>
        </p:spPr>
      </p:sp>
      <p:sp>
        <p:nvSpPr>
          <p:cNvPr id="37904" name="Line 64"/>
          <p:cNvSpPr/>
          <p:nvPr/>
        </p:nvSpPr>
        <p:spPr>
          <a:xfrm flipH="1" flipV="1">
            <a:off x="7869238" y="4870450"/>
            <a:ext cx="423862" cy="687388"/>
          </a:xfrm>
          <a:prstGeom prst="line">
            <a:avLst/>
          </a:prstGeom>
          <a:ln w="9525" cap="flat" cmpd="sng">
            <a:solidFill>
              <a:srgbClr val="C00000"/>
            </a:solidFill>
            <a:prstDash val="dash"/>
            <a:headEnd type="none" w="med" len="med"/>
            <a:tailEnd type="triangle" w="med" len="med"/>
          </a:ln>
        </p:spPr>
      </p:sp>
      <p:sp>
        <p:nvSpPr>
          <p:cNvPr id="37905" name="Line 65"/>
          <p:cNvSpPr/>
          <p:nvPr/>
        </p:nvSpPr>
        <p:spPr>
          <a:xfrm flipH="1" flipV="1">
            <a:off x="8999538" y="4076700"/>
            <a:ext cx="352425" cy="635000"/>
          </a:xfrm>
          <a:prstGeom prst="line">
            <a:avLst/>
          </a:prstGeom>
          <a:ln w="9525" cap="flat" cmpd="sng">
            <a:solidFill>
              <a:srgbClr val="C00000"/>
            </a:solidFill>
            <a:prstDash val="dash"/>
            <a:headEnd type="none" w="med" len="med"/>
            <a:tailEnd type="triangle" w="med" len="med"/>
          </a:ln>
        </p:spPr>
      </p:sp>
      <p:grpSp>
        <p:nvGrpSpPr>
          <p:cNvPr id="37906" name="Group 66"/>
          <p:cNvGrpSpPr/>
          <p:nvPr/>
        </p:nvGrpSpPr>
        <p:grpSpPr>
          <a:xfrm>
            <a:off x="7251700" y="1757363"/>
            <a:ext cx="336550" cy="573087"/>
            <a:chOff x="3789" y="1450"/>
            <a:chExt cx="212" cy="361"/>
          </a:xfrm>
        </p:grpSpPr>
        <p:sp>
          <p:nvSpPr>
            <p:cNvPr id="37916" name="Freeform 67"/>
            <p:cNvSpPr/>
            <p:nvPr/>
          </p:nvSpPr>
          <p:spPr>
            <a:xfrm>
              <a:off x="3807" y="1450"/>
              <a:ext cx="116" cy="233"/>
            </a:xfrm>
            <a:custGeom>
              <a:avLst/>
              <a:gdLst>
                <a:gd name="txL" fmla="*/ 0 w 152"/>
                <a:gd name="txT" fmla="*/ 0 h 155"/>
                <a:gd name="txR" fmla="*/ 152 w 152"/>
                <a:gd name="txB" fmla="*/ 155 h 155"/>
              </a:gdLst>
              <a:ahLst/>
              <a:cxnLst>
                <a:cxn ang="0">
                  <a:pos x="2" y="0"/>
                </a:cxn>
                <a:cxn ang="0">
                  <a:pos x="2" y="37674"/>
                </a:cxn>
                <a:cxn ang="0">
                  <a:pos x="0" y="105290"/>
                </a:cxn>
              </a:cxnLst>
              <a:rect l="txL" t="txT" r="txR" b="txB"/>
              <a:pathLst>
                <a:path w="152" h="155">
                  <a:moveTo>
                    <a:pt x="45" y="0"/>
                  </a:moveTo>
                  <a:cubicBezTo>
                    <a:pt x="98" y="14"/>
                    <a:pt x="152" y="29"/>
                    <a:pt x="145" y="55"/>
                  </a:cubicBezTo>
                  <a:cubicBezTo>
                    <a:pt x="138" y="81"/>
                    <a:pt x="24" y="138"/>
                    <a:pt x="0" y="155"/>
                  </a:cubicBezTo>
                </a:path>
              </a:pathLst>
            </a:custGeom>
            <a:noFill/>
            <a:ln w="9525" cap="flat" cmpd="sng">
              <a:solidFill>
                <a:srgbClr val="015B9F">
                  <a:alpha val="100000"/>
                </a:srgbClr>
              </a:solidFill>
              <a:prstDash val="solid"/>
              <a:round/>
              <a:headEnd type="none" w="med" len="med"/>
              <a:tailEnd type="none" w="med" len="med"/>
            </a:ln>
          </p:spPr>
          <p:txBody>
            <a:bodyPr/>
            <a:p>
              <a:endParaRPr lang="zh-CN" altLang="en-US"/>
            </a:p>
          </p:txBody>
        </p:sp>
        <p:sp>
          <p:nvSpPr>
            <p:cNvPr id="37917" name="Line 68"/>
            <p:cNvSpPr/>
            <p:nvPr/>
          </p:nvSpPr>
          <p:spPr>
            <a:xfrm>
              <a:off x="3789" y="1644"/>
              <a:ext cx="212" cy="167"/>
            </a:xfrm>
            <a:prstGeom prst="line">
              <a:avLst/>
            </a:prstGeom>
            <a:ln w="9525" cap="flat" cmpd="sng">
              <a:solidFill>
                <a:srgbClr val="015B9F"/>
              </a:solidFill>
              <a:prstDash val="solid"/>
              <a:headEnd type="none" w="med" len="med"/>
              <a:tailEnd type="triangle" w="med" len="med"/>
            </a:ln>
          </p:spPr>
        </p:sp>
      </p:grpSp>
      <p:sp>
        <p:nvSpPr>
          <p:cNvPr id="37907" name="Text Box 70"/>
          <p:cNvSpPr txBox="1"/>
          <p:nvPr/>
        </p:nvSpPr>
        <p:spPr>
          <a:xfrm>
            <a:off x="7864634" y="23231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7908" name="Text Box 71"/>
          <p:cNvSpPr txBox="1"/>
          <p:nvPr/>
        </p:nvSpPr>
        <p:spPr>
          <a:xfrm>
            <a:off x="4988084" y="38852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7909" name="Text Box 72"/>
          <p:cNvSpPr txBox="1"/>
          <p:nvPr/>
        </p:nvSpPr>
        <p:spPr>
          <a:xfrm>
            <a:off x="6321584" y="386619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7910" name="Text Box 73"/>
          <p:cNvSpPr txBox="1"/>
          <p:nvPr/>
        </p:nvSpPr>
        <p:spPr>
          <a:xfrm>
            <a:off x="6092984" y="466629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7911" name="Text Box 74"/>
          <p:cNvSpPr txBox="1"/>
          <p:nvPr/>
        </p:nvSpPr>
        <p:spPr>
          <a:xfrm>
            <a:off x="8188484" y="466629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7912" name="Text Box 75"/>
          <p:cNvSpPr txBox="1"/>
          <p:nvPr/>
        </p:nvSpPr>
        <p:spPr>
          <a:xfrm>
            <a:off x="9598184" y="46472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7913" name="Text Box 76"/>
          <p:cNvSpPr txBox="1"/>
          <p:nvPr/>
        </p:nvSpPr>
        <p:spPr>
          <a:xfrm>
            <a:off x="7235984" y="55235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7914" name="Text Box 77"/>
          <p:cNvSpPr txBox="1"/>
          <p:nvPr/>
        </p:nvSpPr>
        <p:spPr>
          <a:xfrm>
            <a:off x="8607584" y="5485448"/>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37915" name="Text Box 70"/>
          <p:cNvSpPr txBox="1"/>
          <p:nvPr/>
        </p:nvSpPr>
        <p:spPr>
          <a:xfrm>
            <a:off x="7389178" y="2308860"/>
            <a:ext cx="309245" cy="39878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t>
            </a:r>
            <a:endParaRPr lang="en-US" altLang="zh-CN" sz="2000" i="1" dirty="0">
              <a:ea typeface="宋体" panose="02010600030101010101" pitchFamily="2"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latin typeface="微软雅黑" panose="020B0503020204020204" pitchFamily="34" charset="-122"/>
                <a:ea typeface="微软雅黑" panose="020B0503020204020204" pitchFamily="34" charset="-122"/>
                <a:cs typeface="微软雅黑" panose="020B0503020204020204" pitchFamily="34" charset="-122"/>
                <a:sym typeface="+mn-ea"/>
              </a:rPr>
              <a:t>三叉链表例 </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Rectangle 3"/>
          <p:cNvSpPr>
            <a:spLocks noGrp="1"/>
          </p:cNvSpPr>
          <p:nvPr>
            <p:ph type="body" idx="4294967295"/>
          </p:nvPr>
        </p:nvSpPr>
        <p:spPr>
          <a:xfrm>
            <a:off x="448310" y="1035685"/>
            <a:ext cx="10905490" cy="5141595"/>
          </a:xfrm>
        </p:spPr>
        <p:txBody>
          <a:bodyPr vert="horz" wrap="square" lIns="91440" tIns="45720" rIns="91440" bIns="45720" anchor="t" anchorCtr="0"/>
          <a:p>
            <a:pPr eaLnBrk="1" hangingPunct="1"/>
            <a:r>
              <a:rPr lang="zh-CN" altLang="en-US" sz="2400" dirty="0">
                <a:latin typeface="微软雅黑" panose="020B0503020204020204" pitchFamily="34" charset="-122"/>
                <a:ea typeface="微软雅黑" panose="020B0503020204020204" pitchFamily="34" charset="-122"/>
              </a:rPr>
              <a:t>二叉链表类模板</a:t>
            </a:r>
            <a:endParaRPr lang="zh-CN" altLang="en-US" sz="2400" dirty="0">
              <a:latin typeface="微软雅黑" panose="020B0503020204020204" pitchFamily="34" charset="-122"/>
              <a:ea typeface="微软雅黑" panose="020B0503020204020204" pitchFamily="34" charset="-122"/>
            </a:endParaRPr>
          </a:p>
          <a:p>
            <a:pPr eaLnBrk="1" hangingPunct="1">
              <a:buNone/>
            </a:pPr>
            <a:endParaRPr lang="zh-CN" altLang="en-US" dirty="0">
              <a:latin typeface="微软雅黑" panose="020B0503020204020204" pitchFamily="34" charset="-122"/>
              <a:ea typeface="微软雅黑" panose="020B0503020204020204" pitchFamily="34" charset="-122"/>
            </a:endParaRPr>
          </a:p>
          <a:p>
            <a:pPr eaLnBrk="1" hangingPunct="1">
              <a:buNone/>
            </a:pPr>
            <a:endParaRPr lang="zh-CN" altLang="en-US" dirty="0">
              <a:latin typeface="微软雅黑" panose="020B0503020204020204" pitchFamily="34" charset="-122"/>
              <a:ea typeface="微软雅黑" panose="020B0503020204020204" pitchFamily="34" charset="-122"/>
            </a:endParaRPr>
          </a:p>
        </p:txBody>
      </p:sp>
      <p:sp>
        <p:nvSpPr>
          <p:cNvPr id="23556" name="Rectangle 4"/>
          <p:cNvSpPr>
            <a:spLocks noChangeArrowheads="1"/>
          </p:cNvSpPr>
          <p:nvPr/>
        </p:nvSpPr>
        <p:spPr bwMode="auto">
          <a:xfrm>
            <a:off x="797560" y="1518285"/>
            <a:ext cx="9413240" cy="476504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//BinaryTree.h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#ifndef __BINARYTREE_H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#define __BINARYTREE_H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#include</a:t>
            </a:r>
            <a:r>
              <a:rPr kumimoji="0" lang="en-US" altLang="zh-CN" sz="1800" b="0"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&lt;stack&gt;</a:t>
            </a:r>
            <a:r>
              <a:rPr kumimoji="0" lang="en-US" altLang="zh-CN" sz="1800" b="0"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进行函数非递归实现时需要借用栈结构</a:t>
            </a:r>
            <a:endParaRPr kumimoji="0" lang="zh-CN" altLang="en-US" sz="180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#include </a:t>
            </a:r>
            <a:r>
              <a:rPr kumimoji="0" lang="en-US" altLang="zh-CN" sz="1800" b="1"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&lt;queue&gt;</a:t>
            </a:r>
            <a:r>
              <a:rPr kumimoji="0" lang="en-US" altLang="zh-CN" sz="1800" b="0"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进行函数非递归实现时需要借用队列结构</a:t>
            </a:r>
            <a:endParaRPr kumimoji="0" lang="en-US" altLang="zh-CN" sz="180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#include</a:t>
            </a:r>
            <a:r>
              <a:rPr kumimoji="0" lang="en-US" altLang="zh-CN" sz="1800" b="0"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"BTnode.h"</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using namespace std;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template&lt;class ElemType&gt;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二叉链表类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class </a:t>
            </a:r>
            <a:r>
              <a:rPr kumimoji="0" lang="en-US" altLang="zh-CN" sz="1800" b="1"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BinaryTree</a:t>
            </a:r>
            <a:r>
              <a:rPr kumimoji="0" lang="en-US" altLang="zh-CN"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public: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BinaryTree():m_root(NULL){} //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构造函数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BinaryTree(const BinaryTree &amp;rhs)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拷贝构造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m_root=_Copy (rhs.m_root);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4.2.5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二叉链表类的定义 </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9" name="Rectangle 3"/>
          <p:cNvSpPr>
            <a:spLocks noGrp="1"/>
          </p:cNvSpPr>
          <p:nvPr>
            <p:ph type="body" idx="4294967295"/>
          </p:nvPr>
        </p:nvSpPr>
        <p:spPr>
          <a:xfrm>
            <a:off x="175895" y="967740"/>
            <a:ext cx="11177905" cy="5209540"/>
          </a:xfrm>
        </p:spPr>
        <p:txBody>
          <a:bodyPr vert="horz" wrap="square" lIns="91440" tIns="45720" rIns="91440" bIns="45720" anchor="t" anchorCtr="0"/>
          <a:p>
            <a:pPr eaLnBrk="1" hangingPunct="1"/>
            <a:r>
              <a:rPr lang="zh-CN" altLang="en-US" sz="2400" dirty="0">
                <a:latin typeface="微软雅黑" panose="020B0503020204020204" pitchFamily="34" charset="-122"/>
                <a:ea typeface="微软雅黑" panose="020B0503020204020204" pitchFamily="34" charset="-122"/>
              </a:rPr>
              <a:t>二叉链表类模板</a:t>
            </a:r>
            <a:endParaRPr lang="zh-CN" altLang="en-US" sz="2400" dirty="0">
              <a:latin typeface="微软雅黑" panose="020B0503020204020204" pitchFamily="34" charset="-122"/>
              <a:ea typeface="微软雅黑" panose="020B0503020204020204" pitchFamily="34" charset="-122"/>
            </a:endParaRPr>
          </a:p>
          <a:p>
            <a:pPr eaLnBrk="1" hangingPunct="1">
              <a:buNone/>
            </a:pPr>
            <a:endParaRPr lang="zh-CN" altLang="en-US" dirty="0">
              <a:latin typeface="微软雅黑" panose="020B0503020204020204" pitchFamily="34" charset="-122"/>
              <a:ea typeface="微软雅黑" panose="020B0503020204020204" pitchFamily="34" charset="-122"/>
            </a:endParaRPr>
          </a:p>
          <a:p>
            <a:pPr eaLnBrk="1" hangingPunct="1">
              <a:buNone/>
            </a:pPr>
            <a:endParaRPr lang="zh-CN" altLang="en-US" dirty="0">
              <a:latin typeface="微软雅黑" panose="020B0503020204020204" pitchFamily="34" charset="-122"/>
              <a:ea typeface="微软雅黑" panose="020B0503020204020204" pitchFamily="34" charset="-122"/>
            </a:endParaRPr>
          </a:p>
        </p:txBody>
      </p:sp>
      <p:sp>
        <p:nvSpPr>
          <p:cNvPr id="23556" name="Rectangle 4"/>
          <p:cNvSpPr>
            <a:spLocks noChangeArrowheads="1"/>
          </p:cNvSpPr>
          <p:nvPr/>
        </p:nvSpPr>
        <p:spPr bwMode="auto">
          <a:xfrm>
            <a:off x="614045" y="1410970"/>
            <a:ext cx="9484995" cy="476631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BinaryTree&amp; operator=(const BinaryTree &amp;rhs)//</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赋值重载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if(&amp;rhs==this)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*this;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_Destroy(m_root);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m_root=_Copy( rhs.m_root);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*this;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~BinaryTree()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析构函数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_Destroy(m_root);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按以先序次序输入结点值的方式建立二叉树的接口函数</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Create1(ElemType ch[],const ElemType &amp;endChar);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以二叉树的先序和中序次序建立二叉树的接口函数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Create2(ElemType ch1[],ElemType ch2[],int);</a:t>
            </a:r>
            <a:r>
              <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rgbClr val="FFFFFF"/>
                </a:solidFill>
                <a:effectLst/>
                <a:uLnTx/>
                <a:uFillTx/>
                <a:latin typeface="Consolas" panose="020B0609020204030204" pitchFamily="49" charset="0"/>
                <a:ea typeface="楷体_GB2312" panose="02010609030101010101" pitchFamily="49" charset="-122"/>
                <a:cs typeface="+mn-cs"/>
              </a:rPr>
              <a:t>	</a:t>
            </a:r>
            <a:endParaRPr kumimoji="0" lang="en-US" altLang="zh-CN" sz="1800" b="0" i="0" u="none" strike="noStrike" kern="1200" cap="none" spc="0" normalizeH="0" baseline="0" noProof="0">
              <a:ln>
                <a:noFill/>
              </a:ln>
              <a:solidFill>
                <a:srgbClr val="FFFFFF"/>
              </a:solidFill>
              <a:effectLst/>
              <a:uLnTx/>
              <a:uFillTx/>
              <a:latin typeface="Consolas" panose="020B0609020204030204" pitchFamily="49" charset="0"/>
              <a:ea typeface="楷体_GB2312" panose="02010609030101010101" pitchFamily="49" charset="-122"/>
              <a:cs typeface="+mn-cs"/>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4.2.5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二叉链表类的定义 </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alpha val="97000"/>
          </a:schemeClr>
        </a:solidFill>
        <a:effectLst/>
      </p:bgPr>
    </p:bg>
    <p:spTree>
      <p:nvGrpSpPr>
        <p:cNvPr id="1" name=""/>
        <p:cNvGrpSpPr/>
        <p:nvPr/>
      </p:nvGrpSpPr>
      <p:grpSpPr/>
      <p:sp>
        <p:nvSpPr>
          <p:cNvPr id="40963" name="Rectangle 3"/>
          <p:cNvSpPr>
            <a:spLocks noGrp="1"/>
          </p:cNvSpPr>
          <p:nvPr>
            <p:ph type="body" idx="4294967295"/>
          </p:nvPr>
        </p:nvSpPr>
        <p:spPr>
          <a:xfrm>
            <a:off x="337820" y="1013460"/>
            <a:ext cx="11015980" cy="5163820"/>
          </a:xfrm>
        </p:spPr>
        <p:txBody>
          <a:bodyPr vert="horz" wrap="square" lIns="91440" tIns="45720" rIns="91440" bIns="45720" anchor="t" anchorCtr="0"/>
          <a:p>
            <a:pPr eaLnBrk="1" hangingPunct="1"/>
            <a:r>
              <a:rPr lang="zh-CN" altLang="en-US" sz="2400" dirty="0">
                <a:latin typeface="微软雅黑" panose="020B0503020204020204" pitchFamily="34" charset="-122"/>
                <a:ea typeface="微软雅黑" panose="020B0503020204020204" pitchFamily="34" charset="-122"/>
              </a:rPr>
              <a:t>二叉链表类模板</a:t>
            </a:r>
            <a:endParaRPr lang="zh-CN" altLang="en-US" sz="2400" dirty="0">
              <a:latin typeface="微软雅黑" panose="020B0503020204020204" pitchFamily="34" charset="-122"/>
              <a:ea typeface="微软雅黑" panose="020B0503020204020204" pitchFamily="34" charset="-122"/>
            </a:endParaRPr>
          </a:p>
          <a:p>
            <a:pPr eaLnBrk="1" hangingPunct="1">
              <a:buNone/>
            </a:pPr>
            <a:endParaRPr lang="zh-CN" altLang="en-US" dirty="0">
              <a:latin typeface="微软雅黑" panose="020B0503020204020204" pitchFamily="34" charset="-122"/>
              <a:ea typeface="微软雅黑" panose="020B0503020204020204" pitchFamily="34" charset="-122"/>
            </a:endParaRPr>
          </a:p>
          <a:p>
            <a:pPr eaLnBrk="1" hangingPunct="1">
              <a:buNone/>
            </a:pPr>
            <a:endParaRPr lang="zh-CN" altLang="en-US" dirty="0">
              <a:latin typeface="微软雅黑" panose="020B0503020204020204" pitchFamily="34" charset="-122"/>
              <a:ea typeface="微软雅黑" panose="020B0503020204020204" pitchFamily="34" charset="-122"/>
            </a:endParaRPr>
          </a:p>
        </p:txBody>
      </p:sp>
      <p:sp>
        <p:nvSpPr>
          <p:cNvPr id="23556" name="Rectangle 4"/>
          <p:cNvSpPr>
            <a:spLocks noChangeArrowheads="1"/>
          </p:cNvSpPr>
          <p:nvPr/>
        </p:nvSpPr>
        <p:spPr bwMode="auto">
          <a:xfrm>
            <a:off x="558165" y="1452880"/>
            <a:ext cx="9933940" cy="47244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先序递归遍历二叉树的接口函数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PreorderTraverse (void (*visit)(const ElemType &amp;));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先序非递归遍历二叉树的接口函数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PreorderTraverseNonRecursive (void (*visit)(const ElemType &amp;));</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中序递归遍历二叉树的接口函数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InorderTraverse (void (*visit)(const ElemType &amp;));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中序非递归遍历二叉树的接口函数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InorderTraverseNonRecursive (void (*visit)(const ElemType &amp;));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后序递归遍历二叉树的接口函数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PostorderTraverse (void (*visit)(const ElemType &amp;));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后序非递归遍历二叉树的接口函数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PostorderTraverseNonRecursive (void (*visit)(const ElemType &amp;));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层次遍历二叉树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LevelTraverse (void (*visit)(const ElemType &amp;e));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4.2.5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二叉链表类的定义 </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7" name="Rectangle 3"/>
          <p:cNvSpPr>
            <a:spLocks noGrp="1"/>
          </p:cNvSpPr>
          <p:nvPr>
            <p:ph idx="1"/>
          </p:nvPr>
        </p:nvSpPr>
        <p:spPr>
          <a:xfrm>
            <a:off x="207010" y="1108075"/>
            <a:ext cx="11146790" cy="5069205"/>
          </a:xfrm>
        </p:spPr>
        <p:txBody>
          <a:bodyPr vert="horz" wrap="square" lIns="91440" tIns="45720" rIns="91440" bIns="45720" anchor="t" anchorCtr="0">
            <a:normAutofit/>
          </a:bodyPr>
          <a:p>
            <a:pPr eaLnBrk="1" hangingPunct="1">
              <a:lnSpc>
                <a:spcPct val="145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问题的提出</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4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顺着某一条搜索路径巡访二叉树中的结点，使得每个结点均被访问一次，而且仅被访问一次。</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45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“访问”的含义可以很广，如：输出结点的信息等。</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45000"/>
              </a:lnSpc>
              <a:buFont typeface="Wingdings" panose="05000000000000000000" charset="0"/>
              <a:buChar char="Ø"/>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“遍历”是任何类型均有的操作，对线性结构而言，只有一条搜索路径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因为每个结点均只有一个后继</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，故不需要另加讨论。而二叉树是非线性结构，（遍历是将非线性结构线性化的过程），每个结点有两个后继，则存在如何遍历，即按什么样的搜索路径遍历的问题</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eaLnBrk="1" hangingPunct="1">
              <a:lnSpc>
                <a:spcPct val="115000"/>
              </a:lnSpc>
              <a:buFont typeface="Wingdings" panose="05000000000000000000" charset="0"/>
              <a:buNone/>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4.2.6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a:t>
            </a:r>
            <a:r>
              <a:rPr lang="zh-CN"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递归遍历</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8" name="组合 7"/>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11" name="文本框 10"/>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6066" y="10351"/>
                <a:ext cx="428" cy="319"/>
                <a:chOff x="1180190" y="6561344"/>
                <a:chExt cx="271682" cy="202424"/>
              </a:xfrm>
            </p:grpSpPr>
            <p:sp>
              <p:nvSpPr>
                <p:cNvPr id="13" name="燕尾形 1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4" name="燕尾形 1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Rectangle 3"/>
          <p:cNvSpPr>
            <a:spLocks noGrp="1"/>
          </p:cNvSpPr>
          <p:nvPr>
            <p:ph idx="1"/>
          </p:nvPr>
        </p:nvSpPr>
        <p:spPr>
          <a:xfrm>
            <a:off x="427355" y="937260"/>
            <a:ext cx="10517505" cy="5420995"/>
          </a:xfrm>
        </p:spPr>
        <p:txBody>
          <a:bodyPr vert="horz" wrap="square" lIns="91440" tIns="45720" rIns="91440" bIns="45720" anchor="t" anchorCtr="0">
            <a:normAutofit fontScale="90000"/>
          </a:bodyPr>
          <a:p>
            <a:pPr eaLnBrk="1" hangingPunct="1">
              <a:lnSpc>
                <a:spcPct val="100000"/>
              </a:lnSpc>
            </a:pP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从下图中可以看到，二叉树是由根结点（</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）、左子树（</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）及右子树（</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）三部分组成。</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0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0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0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0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0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0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10000"/>
              </a:lnSpc>
            </a:pP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由这三部分的组合可得到以下的搜索路径：</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DLR</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LDR</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LRD</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DRL</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RDL</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20" i="1" dirty="0">
                <a:latin typeface="Times New Roman" panose="02020603050405020304" pitchFamily="18" charset="0"/>
                <a:ea typeface="微软雅黑" panose="020B0503020204020204" pitchFamily="34" charset="-122"/>
                <a:cs typeface="Times New Roman" panose="02020603050405020304" pitchFamily="18" charset="0"/>
              </a:rPr>
              <a:t>RLD</a:t>
            </a:r>
            <a:r>
              <a:rPr lang="zh-CN" altLang="en-US" sz="2220" i="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20" i="1"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10000"/>
              </a:lnSpc>
            </a:pPr>
            <a:r>
              <a:rPr lang="zh-CN" altLang="en-US" sz="222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先左后右</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的搜索方式是最常用的遍历二叉树的方法。</a:t>
            </a:r>
            <a:endParaRPr lang="zh-CN" altLang="en-US" sz="222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10000"/>
              </a:lnSpc>
            </a:pP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本章只讨论</a:t>
            </a:r>
            <a:r>
              <a:rPr lang="en-US" altLang="zh-CN" sz="2220" dirty="0">
                <a:latin typeface="Times New Roman" panose="02020603050405020304" pitchFamily="18" charset="0"/>
                <a:ea typeface="微软雅黑" panose="020B0503020204020204" pitchFamily="34" charset="-122"/>
                <a:cs typeface="Times New Roman" panose="02020603050405020304" pitchFamily="18" charset="0"/>
              </a:rPr>
              <a:t>DLR</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20" dirty="0">
                <a:latin typeface="Times New Roman" panose="02020603050405020304" pitchFamily="18" charset="0"/>
                <a:ea typeface="微软雅黑" panose="020B0503020204020204" pitchFamily="34" charset="-122"/>
                <a:cs typeface="Times New Roman" panose="02020603050405020304" pitchFamily="18" charset="0"/>
              </a:rPr>
              <a:t>LDR</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20" dirty="0">
                <a:latin typeface="Times New Roman" panose="02020603050405020304" pitchFamily="18" charset="0"/>
                <a:ea typeface="微软雅黑" panose="020B0503020204020204" pitchFamily="34" charset="-122"/>
                <a:cs typeface="Times New Roman" panose="02020603050405020304" pitchFamily="18" charset="0"/>
              </a:rPr>
              <a:t>LRD</a:t>
            </a:r>
            <a:r>
              <a:rPr lang="zh-CN" altLang="en-US" sz="2220" dirty="0">
                <a:latin typeface="Times New Roman" panose="02020603050405020304" pitchFamily="18" charset="0"/>
                <a:ea typeface="微软雅黑" panose="020B0503020204020204" pitchFamily="34" charset="-122"/>
                <a:cs typeface="Times New Roman" panose="02020603050405020304" pitchFamily="18" charset="0"/>
              </a:rPr>
              <a:t>三种遍历方式</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3012" name="Picture 5"/>
          <p:cNvPicPr>
            <a:picLocks noChangeAspect="1"/>
          </p:cNvPicPr>
          <p:nvPr/>
        </p:nvPicPr>
        <p:blipFill>
          <a:blip r:embed="rId1"/>
          <a:stretch>
            <a:fillRect/>
          </a:stretch>
        </p:blipFill>
        <p:spPr>
          <a:xfrm>
            <a:off x="2087245" y="1893570"/>
            <a:ext cx="3740150" cy="2324100"/>
          </a:xfrm>
          <a:prstGeom prst="rect">
            <a:avLst/>
          </a:prstGeom>
          <a:noFill/>
          <a:ln w="3175">
            <a:noFill/>
          </a:ln>
        </p:spPr>
      </p:pic>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4.2.6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a:t>
            </a:r>
            <a:r>
              <a:rPr lang="zh-CN"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递归遍历</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819">
                                            <p:txEl>
                                              <p:charRg st="47" end="91"/>
                                            </p:txEl>
                                          </p:spTgt>
                                        </p:tgtEl>
                                        <p:attrNameLst>
                                          <p:attrName>style.visibility</p:attrName>
                                        </p:attrNameLst>
                                      </p:cBhvr>
                                      <p:to>
                                        <p:strVal val="visible"/>
                                      </p:to>
                                    </p:set>
                                    <p:animEffect transition="in" filter="wipe(left)">
                                      <p:cBhvr>
                                        <p:cTn id="7" dur="500"/>
                                        <p:tgtEl>
                                          <p:spTgt spid="34819">
                                            <p:txEl>
                                              <p:charRg st="47" end="9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819">
                                            <p:txEl>
                                              <p:charRg st="91" end="115"/>
                                            </p:txEl>
                                          </p:spTgt>
                                        </p:tgtEl>
                                        <p:attrNameLst>
                                          <p:attrName>style.visibility</p:attrName>
                                        </p:attrNameLst>
                                      </p:cBhvr>
                                      <p:to>
                                        <p:strVal val="visible"/>
                                      </p:to>
                                    </p:set>
                                    <p:animEffect transition="in" filter="wipe(left)">
                                      <p:cBhvr>
                                        <p:cTn id="12" dur="500"/>
                                        <p:tgtEl>
                                          <p:spTgt spid="34819">
                                            <p:txEl>
                                              <p:charRg st="91" end="115"/>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4819">
                                            <p:txEl>
                                              <p:charRg st="115" end="140"/>
                                            </p:txEl>
                                          </p:spTgt>
                                        </p:tgtEl>
                                        <p:attrNameLst>
                                          <p:attrName>style.visibility</p:attrName>
                                        </p:attrNameLst>
                                      </p:cBhvr>
                                      <p:to>
                                        <p:strVal val="visible"/>
                                      </p:to>
                                    </p:set>
                                    <p:animEffect transition="in" filter="wipe(left)">
                                      <p:cBhvr>
                                        <p:cTn id="15" dur="500"/>
                                        <p:tgtEl>
                                          <p:spTgt spid="34819">
                                            <p:txEl>
                                              <p:charRg st="115" end="14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Rectangle 3"/>
          <p:cNvSpPr>
            <a:spLocks noGrp="1"/>
          </p:cNvSpPr>
          <p:nvPr>
            <p:ph idx="1"/>
          </p:nvPr>
        </p:nvSpPr>
        <p:spPr>
          <a:xfrm>
            <a:off x="266700" y="998855"/>
            <a:ext cx="11087100" cy="5178425"/>
          </a:xfrm>
        </p:spPr>
        <p:txBody>
          <a:bodyPr vert="horz" wrap="square" lIns="91440" tIns="45720" rIns="91440" bIns="45720" anchor="t" anchorCtr="0"/>
          <a:p>
            <a:pPr eaLnBrk="1" hangingPunct="1">
              <a:lnSpc>
                <a:spcPct val="120000"/>
              </a:lnSpc>
              <a:buFont typeface="Wingdings" panose="05000000000000000000" charset="0"/>
              <a:buChar char="Ø"/>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先序遍历二叉树（</a:t>
            </a:r>
            <a:r>
              <a:rPr lang="zh-CN" altLang="zh-CN" sz="2400" i="1" dirty="0">
                <a:latin typeface="Times New Roman" panose="02020603050405020304" pitchFamily="18" charset="0"/>
                <a:ea typeface="微软雅黑" panose="020B0503020204020204" pitchFamily="34" charset="-122"/>
                <a:cs typeface="Times New Roman" panose="02020603050405020304" pitchFamily="18" charset="0"/>
              </a:rPr>
              <a:t>DLR</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2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若二叉树为空树，则空操作；否则</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访问根结点</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先序遍历左子树</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先序遍历右子树。</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2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先序遍历右图得到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p>
          <a:p>
            <a:pPr lvl="1" eaLnBrk="1" hangingPunct="1">
              <a:lnSpc>
                <a:spcPct val="120000"/>
              </a:lnSpc>
              <a:buNone/>
            </a:pPr>
            <a:r>
              <a:rPr lang="en-US" altLang="zh-CN" dirty="0"/>
              <a:t>       </a:t>
            </a:r>
            <a:r>
              <a:rPr lang="en-US" altLang="zh-CN" dirty="0">
                <a:latin typeface="Times New Roman" panose="02020603050405020304" pitchFamily="18" charset="0"/>
                <a:cs typeface="Times New Roman" panose="02020603050405020304" pitchFamily="18" charset="0"/>
              </a:rPr>
              <a:t>a b d e g h c f</a:t>
            </a:r>
            <a:endParaRPr lang="zh-CN" altLang="en-US" dirty="0">
              <a:latin typeface="Times New Roman" panose="02020603050405020304" pitchFamily="18" charset="0"/>
              <a:cs typeface="Times New Roman" panose="02020603050405020304" pitchFamily="18" charset="0"/>
            </a:endParaRPr>
          </a:p>
          <a:p>
            <a:pPr lvl="1" eaLnBrk="1" hangingPunct="1">
              <a:buNone/>
            </a:pPr>
            <a:endParaRPr lang="en-US" altLang="zh-CN" dirty="0">
              <a:latin typeface="Times New Roman" panose="02020603050405020304" pitchFamily="18" charset="0"/>
              <a:cs typeface="Times New Roman" panose="02020603050405020304" pitchFamily="18" charset="0"/>
            </a:endParaRPr>
          </a:p>
        </p:txBody>
      </p:sp>
      <p:sp>
        <p:nvSpPr>
          <p:cNvPr id="44036" name="Rectangle 11"/>
          <p:cNvSpPr/>
          <p:nvPr/>
        </p:nvSpPr>
        <p:spPr>
          <a:xfrm>
            <a:off x="5942965" y="237744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44037" name="Object 10"/>
          <p:cNvGraphicFramePr>
            <a:graphicFrameLocks noChangeAspect="1"/>
          </p:cNvGraphicFramePr>
          <p:nvPr/>
        </p:nvGraphicFramePr>
        <p:xfrm>
          <a:off x="4987925" y="2747010"/>
          <a:ext cx="2454275" cy="3124200"/>
        </p:xfrm>
        <a:graphic>
          <a:graphicData uri="http://schemas.openxmlformats.org/presentationml/2006/ole">
            <mc:AlternateContent xmlns:mc="http://schemas.openxmlformats.org/markup-compatibility/2006">
              <mc:Choice xmlns:v="urn:schemas-microsoft-com:vml" Requires="v">
                <p:oleObj spid="_x0000_s3078" name="" r:id="rId1" imgW="1828800" imgH="2336800" progId="Visio.Drawing.11">
                  <p:embed/>
                </p:oleObj>
              </mc:Choice>
              <mc:Fallback>
                <p:oleObj name="" r:id="rId1" imgW="1828800" imgH="2336800" progId="Visio.Drawing.11">
                  <p:embed/>
                  <p:pic>
                    <p:nvPicPr>
                      <p:cNvPr id="0" name="图片 3077"/>
                      <p:cNvPicPr/>
                      <p:nvPr/>
                    </p:nvPicPr>
                    <p:blipFill>
                      <a:blip r:embed="rId2"/>
                      <a:stretch>
                        <a:fillRect/>
                      </a:stretch>
                    </p:blipFill>
                    <p:spPr>
                      <a:xfrm>
                        <a:off x="4987925" y="2747010"/>
                        <a:ext cx="2454275" cy="3124200"/>
                      </a:xfrm>
                      <a:prstGeom prst="rect">
                        <a:avLst/>
                      </a:prstGeom>
                      <a:noFill/>
                      <a:ln w="38100">
                        <a:noFill/>
                        <a:miter/>
                      </a:ln>
                    </p:spPr>
                  </p:pic>
                </p:oleObj>
              </mc:Fallback>
            </mc:AlternateContent>
          </a:graphicData>
        </a:graphic>
      </p:graphicFrame>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4.2.6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a:t>
            </a:r>
            <a:r>
              <a:rPr lang="zh-CN"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递归遍历</a:t>
            </a: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5" name="组合 4"/>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6066" y="10351"/>
                <a:ext cx="428" cy="319"/>
                <a:chOff x="1180190" y="6561344"/>
                <a:chExt cx="271682" cy="202424"/>
              </a:xfrm>
            </p:grpSpPr>
            <p:sp>
              <p:nvSpPr>
                <p:cNvPr id="8" name="燕尾形 7"/>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48">
                                            <p:txEl>
                                              <p:charRg st="64" end="87"/>
                                            </p:txEl>
                                          </p:spTgt>
                                        </p:tgtEl>
                                        <p:attrNameLst>
                                          <p:attrName>style.visibility</p:attrName>
                                        </p:attrNameLst>
                                      </p:cBhvr>
                                      <p:to>
                                        <p:strVal val="visible"/>
                                      </p:to>
                                    </p:set>
                                    <p:animEffect transition="in" filter="fade">
                                      <p:cBhvr>
                                        <p:cTn id="7" dur="1000"/>
                                        <p:tgtEl>
                                          <p:spTgt spid="6148">
                                            <p:txEl>
                                              <p:charRg st="64" end="87"/>
                                            </p:txEl>
                                          </p:spTgt>
                                        </p:tgtEl>
                                      </p:cBhvr>
                                    </p:animEffect>
                                    <p:anim calcmode="lin" valueType="num">
                                      <p:cBhvr>
                                        <p:cTn id="8" dur="1000" fill="hold"/>
                                        <p:tgtEl>
                                          <p:spTgt spid="6148">
                                            <p:txEl>
                                              <p:charRg st="64" end="87"/>
                                            </p:txEl>
                                          </p:spTgt>
                                        </p:tgtEl>
                                        <p:attrNameLst>
                                          <p:attrName>ppt_x</p:attrName>
                                        </p:attrNameLst>
                                      </p:cBhvr>
                                      <p:tavLst>
                                        <p:tav tm="0">
                                          <p:val>
                                            <p:strVal val="#ppt_x"/>
                                          </p:val>
                                        </p:tav>
                                        <p:tav tm="100000">
                                          <p:val>
                                            <p:strVal val="#ppt_x"/>
                                          </p:val>
                                        </p:tav>
                                      </p:tavLst>
                                    </p:anim>
                                    <p:anim calcmode="lin" valueType="num">
                                      <p:cBhvr>
                                        <p:cTn id="9" dur="1000" fill="hold"/>
                                        <p:tgtEl>
                                          <p:spTgt spid="6148">
                                            <p:txEl>
                                              <p:charRg st="64" end="8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5" name="Text Box 3"/>
          <p:cNvSpPr txBox="1"/>
          <p:nvPr/>
        </p:nvSpPr>
        <p:spPr>
          <a:xfrm>
            <a:off x="488950" y="1576705"/>
            <a:ext cx="4235450" cy="152971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30000"/>
              </a:lnSpc>
              <a:spcBef>
                <a:spcPct val="50000"/>
              </a:spcBef>
              <a:buNone/>
            </a:pPr>
            <a:r>
              <a:rPr lang="zh-CN" altLang="en-US" dirty="0">
                <a:solidFill>
                  <a:schemeClr val="tx1"/>
                </a:solidFill>
                <a:latin typeface="楷体_GB2312" panose="02010609030101010101" pitchFamily="49" charset="-122"/>
              </a:rPr>
              <a:t>    </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如果用</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visit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函数来表示对每个结点的访问操作，则基于二叉链表的先序遍历算法如下：</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1796" name="Rectangle 4"/>
          <p:cNvSpPr/>
          <p:nvPr/>
        </p:nvSpPr>
        <p:spPr>
          <a:xfrm>
            <a:off x="939800" y="3434715"/>
            <a:ext cx="8534400" cy="203009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80000"/>
              </a:lnSpc>
              <a:spcBef>
                <a:spcPct val="30000"/>
              </a:spcBef>
              <a:buNone/>
            </a:pPr>
            <a:r>
              <a:rPr lang="en-US" altLang="zh-CN" sz="2000" dirty="0">
                <a:solidFill>
                  <a:srgbClr val="000000"/>
                </a:solidFill>
                <a:latin typeface="Times New Roman" panose="02020603050405020304" pitchFamily="18" charset="0"/>
                <a:cs typeface="Times New Roman" panose="02020603050405020304" pitchFamily="18" charset="0"/>
              </a:rPr>
              <a:t>void PreOrderTraverse(BiTree T){</a:t>
            </a:r>
            <a:endParaRPr lang="en-US" altLang="zh-CN" sz="200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sz="2000" dirty="0">
                <a:solidFill>
                  <a:srgbClr val="000000"/>
                </a:solidFill>
                <a:latin typeface="Times New Roman" panose="02020603050405020304" pitchFamily="18" charset="0"/>
                <a:cs typeface="Times New Roman" panose="02020603050405020304" pitchFamily="18" charset="0"/>
              </a:rPr>
              <a:t>  if(T==NULL)return; 	                     </a:t>
            </a:r>
            <a:r>
              <a:rPr lang="en-US" altLang="zh-CN" sz="2000" dirty="0">
                <a:solidFill>
                  <a:schemeClr val="accent1"/>
                </a:solidFill>
                <a:latin typeface="Times New Roman" panose="02020603050405020304" pitchFamily="18" charset="0"/>
                <a:cs typeface="Times New Roman" panose="02020603050405020304" pitchFamily="18" charset="0"/>
              </a:rPr>
              <a:t>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空树，空操作。</a:t>
            </a:r>
            <a:r>
              <a:rPr lang="zh-CN" altLang="en-US"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visit(T-&gt;data);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访问根结点</a:t>
            </a:r>
            <a:endParaRPr lang="zh-CN" altLang="en-US" sz="2000" dirty="0">
              <a:solidFill>
                <a:schemeClr val="accent1"/>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PreOrderTraverse(T-&gt;lchild);         </a:t>
            </a:r>
            <a:r>
              <a:rPr lang="en-US" altLang="zh-CN" sz="2000" dirty="0">
                <a:solidFill>
                  <a:schemeClr val="accent1"/>
                </a:solidFill>
                <a:latin typeface="Times New Roman" panose="02020603050405020304" pitchFamily="18" charset="0"/>
                <a:cs typeface="Times New Roman" panose="02020603050405020304" pitchFamily="18" charset="0"/>
              </a:rPr>
              <a:t>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先序遍历左子树</a:t>
            </a:r>
            <a:endPar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PreOrderTraverse(T-&gt;rchild);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先序遍历右子树</a:t>
            </a:r>
            <a:endPar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eaLnBrk="1" hangingPunct="1">
              <a:lnSpc>
                <a:spcPct val="80000"/>
              </a:lnSpc>
              <a:spcBef>
                <a:spcPct val="30000"/>
              </a:spcBef>
              <a:buNone/>
            </a:pPr>
            <a:r>
              <a:rPr lang="en-US" altLang="zh-CN" sz="2000" dirty="0">
                <a:solidFill>
                  <a:schemeClr val="tx1"/>
                </a:solidFill>
                <a:latin typeface="Times New Roman" panose="02020603050405020304" pitchFamily="18" charset="0"/>
                <a:cs typeface="Times New Roman" panose="02020603050405020304" pitchFamily="18" charset="0"/>
              </a:rPr>
              <a:t>} //PreOrderTraverse</a:t>
            </a:r>
            <a:endParaRPr lang="en-US" altLang="zh-CN" sz="2000" dirty="0">
              <a:solidFill>
                <a:schemeClr val="tx1"/>
              </a:solidFill>
              <a:latin typeface="Times New Roman" panose="02020603050405020304" pitchFamily="18" charset="0"/>
              <a:cs typeface="Times New Roman" panose="02020603050405020304" pitchFamily="18" charset="0"/>
            </a:endParaRPr>
          </a:p>
        </p:txBody>
      </p:sp>
      <p:sp>
        <p:nvSpPr>
          <p:cNvPr id="161797" name="Text Box 5"/>
          <p:cNvSpPr txBox="1"/>
          <p:nvPr/>
        </p:nvSpPr>
        <p:spPr>
          <a:xfrm>
            <a:off x="697230" y="5486400"/>
            <a:ext cx="9589770"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先序遍历二叉树，并写出它的先序序列。</a:t>
            </a:r>
            <a:endPar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062" name="Text Box 6"/>
          <p:cNvSpPr txBox="1"/>
          <p:nvPr/>
        </p:nvSpPr>
        <p:spPr>
          <a:xfrm>
            <a:off x="262890" y="987425"/>
            <a:ext cx="382016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b="1" dirty="0">
                <a:solidFill>
                  <a:srgbClr val="000000"/>
                </a:solidFill>
                <a:latin typeface="黑体" panose="02010609060101010101" charset="-122"/>
                <a:ea typeface="黑体" panose="02010609060101010101" charset="-122"/>
              </a:rPr>
              <a:t>2</a:t>
            </a:r>
            <a:r>
              <a:rPr lang="zh-CN" altLang="en-US" b="1" dirty="0">
                <a:solidFill>
                  <a:srgbClr val="000000"/>
                </a:solidFill>
                <a:latin typeface="黑体" panose="02010609060101010101" charset="-122"/>
                <a:ea typeface="黑体" panose="02010609060101010101" charset="-122"/>
              </a:rPr>
              <a:t>．算法 </a:t>
            </a:r>
            <a:endParaRPr lang="zh-CN" altLang="en-US" b="1" dirty="0">
              <a:solidFill>
                <a:srgbClr val="000000"/>
              </a:solidFill>
              <a:latin typeface="黑体" panose="02010609060101010101" charset="-122"/>
              <a:ea typeface="黑体" panose="02010609060101010101" charset="-122"/>
            </a:endParaRPr>
          </a:p>
        </p:txBody>
      </p:sp>
      <p:sp>
        <p:nvSpPr>
          <p:cNvPr id="45063" name="Text Box 7"/>
          <p:cNvSpPr txBox="1"/>
          <p:nvPr/>
        </p:nvSpPr>
        <p:spPr>
          <a:xfrm>
            <a:off x="6248400" y="1143000"/>
            <a:ext cx="4191000" cy="2078990"/>
          </a:xfrm>
          <a:prstGeom prst="rect">
            <a:avLst/>
          </a:prstGeom>
          <a:noFill/>
          <a:ln w="9525" cap="flat" cmpd="sng">
            <a:solidFill>
              <a:schemeClr val="hlink"/>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如果二叉树为空，则空操作；</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否则</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⑴ 访问根结点，</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⑵ 先序遍历左子树，</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⑶ 先序遍历右子树。</a:t>
            </a:r>
            <a:r>
              <a:rPr lang="zh-CN" altLang="en-US"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Group 8"/>
          <p:cNvGrpSpPr/>
          <p:nvPr/>
        </p:nvGrpSpPr>
        <p:grpSpPr>
          <a:xfrm>
            <a:off x="3581400" y="990600"/>
            <a:ext cx="1524000" cy="2000250"/>
            <a:chOff x="2400" y="1536"/>
            <a:chExt cx="960" cy="1260"/>
          </a:xfrm>
        </p:grpSpPr>
        <p:sp>
          <p:nvSpPr>
            <p:cNvPr id="45066" name="Oval 9"/>
            <p:cNvSpPr/>
            <p:nvPr/>
          </p:nvSpPr>
          <p:spPr>
            <a:xfrm>
              <a:off x="2948" y="249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D</a:t>
              </a:r>
              <a:endParaRPr lang="en-US" altLang="zh-CN" b="1" dirty="0">
                <a:solidFill>
                  <a:schemeClr val="accent1"/>
                </a:solidFill>
                <a:latin typeface="楷体_GB2312" panose="02010609030101010101" pitchFamily="49" charset="-122"/>
              </a:endParaRPr>
            </a:p>
          </p:txBody>
        </p:sp>
        <p:sp>
          <p:nvSpPr>
            <p:cNvPr id="45067" name="Oval 10"/>
            <p:cNvSpPr/>
            <p:nvPr/>
          </p:nvSpPr>
          <p:spPr>
            <a:xfrm>
              <a:off x="2736" y="1536"/>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A</a:t>
              </a:r>
              <a:endParaRPr lang="en-US" altLang="zh-CN" b="1" dirty="0">
                <a:solidFill>
                  <a:schemeClr val="accent1"/>
                </a:solidFill>
                <a:latin typeface="楷体_GB2312" panose="02010609030101010101" pitchFamily="49" charset="-122"/>
              </a:endParaRPr>
            </a:p>
          </p:txBody>
        </p:sp>
        <p:sp>
          <p:nvSpPr>
            <p:cNvPr id="45068" name="Oval 11"/>
            <p:cNvSpPr/>
            <p:nvPr/>
          </p:nvSpPr>
          <p:spPr>
            <a:xfrm>
              <a:off x="3044" y="197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C</a:t>
              </a:r>
              <a:endParaRPr lang="en-US" altLang="zh-CN" b="1" dirty="0">
                <a:solidFill>
                  <a:schemeClr val="accent1"/>
                </a:solidFill>
                <a:latin typeface="楷体_GB2312" panose="02010609030101010101" pitchFamily="49" charset="-122"/>
              </a:endParaRPr>
            </a:p>
          </p:txBody>
        </p:sp>
        <p:sp>
          <p:nvSpPr>
            <p:cNvPr id="45069" name="Line 12"/>
            <p:cNvSpPr/>
            <p:nvPr/>
          </p:nvSpPr>
          <p:spPr>
            <a:xfrm flipH="1">
              <a:off x="2592" y="1824"/>
              <a:ext cx="220" cy="144"/>
            </a:xfrm>
            <a:prstGeom prst="line">
              <a:avLst/>
            </a:prstGeom>
            <a:ln w="9525" cap="flat" cmpd="sng">
              <a:solidFill>
                <a:srgbClr val="000000"/>
              </a:solidFill>
              <a:prstDash val="solid"/>
              <a:headEnd type="none" w="med" len="med"/>
              <a:tailEnd type="none" w="med" len="med"/>
            </a:ln>
          </p:spPr>
        </p:sp>
        <p:sp>
          <p:nvSpPr>
            <p:cNvPr id="45070" name="Line 13"/>
            <p:cNvSpPr/>
            <p:nvPr/>
          </p:nvSpPr>
          <p:spPr>
            <a:xfrm>
              <a:off x="2956" y="1824"/>
              <a:ext cx="260" cy="144"/>
            </a:xfrm>
            <a:prstGeom prst="line">
              <a:avLst/>
            </a:prstGeom>
            <a:ln w="9525" cap="flat" cmpd="sng">
              <a:solidFill>
                <a:srgbClr val="000000"/>
              </a:solidFill>
              <a:prstDash val="solid"/>
              <a:headEnd type="none" w="med" len="med"/>
              <a:tailEnd type="none" w="med" len="med"/>
            </a:ln>
          </p:spPr>
        </p:sp>
        <p:sp>
          <p:nvSpPr>
            <p:cNvPr id="45071" name="Oval 14"/>
            <p:cNvSpPr/>
            <p:nvPr/>
          </p:nvSpPr>
          <p:spPr>
            <a:xfrm>
              <a:off x="2400" y="197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B</a:t>
              </a:r>
              <a:endParaRPr lang="en-US" altLang="zh-CN" b="1" dirty="0">
                <a:solidFill>
                  <a:schemeClr val="accent1"/>
                </a:solidFill>
                <a:latin typeface="楷体_GB2312" panose="02010609030101010101" pitchFamily="49" charset="-122"/>
              </a:endParaRPr>
            </a:p>
          </p:txBody>
        </p:sp>
        <p:sp>
          <p:nvSpPr>
            <p:cNvPr id="45072" name="Line 15"/>
            <p:cNvSpPr/>
            <p:nvPr/>
          </p:nvSpPr>
          <p:spPr>
            <a:xfrm flipH="1">
              <a:off x="3120" y="2299"/>
              <a:ext cx="96" cy="197"/>
            </a:xfrm>
            <a:prstGeom prst="line">
              <a:avLst/>
            </a:prstGeom>
            <a:ln w="9525" cap="flat" cmpd="sng">
              <a:solidFill>
                <a:srgbClr val="000000"/>
              </a:solidFill>
              <a:prstDash val="solid"/>
              <a:headEnd type="none" w="med" len="med"/>
              <a:tailEnd type="none" w="med" len="med"/>
            </a:ln>
          </p:spPr>
        </p:sp>
        <p:sp>
          <p:nvSpPr>
            <p:cNvPr id="45073" name="Oval 16"/>
            <p:cNvSpPr/>
            <p:nvPr/>
          </p:nvSpPr>
          <p:spPr>
            <a:xfrm>
              <a:off x="2564" y="249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E</a:t>
              </a:r>
              <a:endParaRPr lang="en-US" altLang="zh-CN" b="1" dirty="0">
                <a:solidFill>
                  <a:schemeClr val="accent1"/>
                </a:solidFill>
                <a:latin typeface="楷体_GB2312" panose="02010609030101010101" pitchFamily="49" charset="-122"/>
              </a:endParaRPr>
            </a:p>
          </p:txBody>
        </p:sp>
        <p:sp>
          <p:nvSpPr>
            <p:cNvPr id="45074" name="Line 17"/>
            <p:cNvSpPr/>
            <p:nvPr/>
          </p:nvSpPr>
          <p:spPr>
            <a:xfrm>
              <a:off x="2592" y="2256"/>
              <a:ext cx="96" cy="240"/>
            </a:xfrm>
            <a:prstGeom prst="line">
              <a:avLst/>
            </a:prstGeom>
            <a:ln w="9525" cap="flat" cmpd="sng">
              <a:solidFill>
                <a:srgbClr val="000000"/>
              </a:solidFill>
              <a:prstDash val="solid"/>
              <a:headEnd type="none" w="med" len="med"/>
              <a:tailEnd type="none" w="med" len="med"/>
            </a:ln>
          </p:spPr>
        </p:sp>
      </p:grpSp>
      <p:sp>
        <p:nvSpPr>
          <p:cNvPr id="161810" name="Rectangle 18"/>
          <p:cNvSpPr/>
          <p:nvPr/>
        </p:nvSpPr>
        <p:spPr>
          <a:xfrm>
            <a:off x="1202690" y="5942330"/>
            <a:ext cx="8093710" cy="460375"/>
          </a:xfrm>
          <a:prstGeom prst="rect">
            <a:avLst/>
          </a:prstGeom>
          <a:noFill/>
          <a:ln w="9525">
            <a:noFill/>
          </a:ln>
        </p:spPr>
        <p:txBody>
          <a:bodyPr wrap="squar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其先序序列为</a:t>
            </a:r>
            <a:r>
              <a:rPr lang="zh-CN" altLang="en-US"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 B E C D </a:t>
            </a:r>
            <a:endPar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mn-ea"/>
              </a:rPr>
              <a:t>（一）、先序遍历二叉树</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5" name="组合 4"/>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6066" y="10351"/>
                <a:ext cx="428" cy="319"/>
                <a:chOff x="1180190" y="6561344"/>
                <a:chExt cx="271682" cy="202424"/>
              </a:xfrm>
            </p:grpSpPr>
            <p:sp>
              <p:nvSpPr>
                <p:cNvPr id="8" name="燕尾形 7"/>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6"/>
                                        </p:tgtEl>
                                        <p:attrNameLst>
                                          <p:attrName>style.visibility</p:attrName>
                                        </p:attrNameLst>
                                      </p:cBhvr>
                                      <p:to>
                                        <p:strVal val="visible"/>
                                      </p:to>
                                    </p:set>
                                    <p:animEffect transition="in" filter="wipe(left)">
                                      <p:cBhvr>
                                        <p:cTn id="7" dur="500"/>
                                        <p:tgtEl>
                                          <p:spTgt spid="1617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61797"/>
                                        </p:tgtEl>
                                        <p:attrNameLst>
                                          <p:attrName>style.visibility</p:attrName>
                                        </p:attrNameLst>
                                      </p:cBhvr>
                                      <p:to>
                                        <p:strVal val="visible"/>
                                      </p:to>
                                    </p:set>
                                    <p:anim calcmode="lin" valueType="num">
                                      <p:cBhvr additive="base">
                                        <p:cTn id="12" dur="1000" fill="hold"/>
                                        <p:tgtEl>
                                          <p:spTgt spid="161797"/>
                                        </p:tgtEl>
                                        <p:attrNameLst>
                                          <p:attrName>ppt_x</p:attrName>
                                        </p:attrNameLst>
                                      </p:cBhvr>
                                      <p:tavLst>
                                        <p:tav tm="0">
                                          <p:val>
                                            <p:strVal val="0-#ppt_w/2"/>
                                          </p:val>
                                        </p:tav>
                                        <p:tav tm="100000">
                                          <p:val>
                                            <p:strVal val="#ppt_x"/>
                                          </p:val>
                                        </p:tav>
                                      </p:tavLst>
                                    </p:anim>
                                    <p:anim calcmode="lin" valueType="num">
                                      <p:cBhvr additive="base">
                                        <p:cTn id="13" dur="1000" fill="hold"/>
                                        <p:tgtEl>
                                          <p:spTgt spid="16179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9" presetClass="exit" presetSubtype="0" fill="hold" grpId="0" nodeType="afterEffect">
                                  <p:stCondLst>
                                    <p:cond delay="0"/>
                                  </p:stCondLst>
                                  <p:childTnLst>
                                    <p:animEffect transition="out" filter="dissolve">
                                      <p:cBhvr>
                                        <p:cTn id="16" dur="500"/>
                                        <p:tgtEl>
                                          <p:spTgt spid="161795"/>
                                        </p:tgtEl>
                                      </p:cBhvr>
                                    </p:animEffect>
                                    <p:set>
                                      <p:cBhvr>
                                        <p:cTn id="17" dur="1" fill="hold">
                                          <p:stCondLst>
                                            <p:cond delay="499"/>
                                          </p:stCondLst>
                                        </p:cTn>
                                        <p:tgtEl>
                                          <p:spTgt spid="161795"/>
                                        </p:tgtEl>
                                        <p:attrNameLst>
                                          <p:attrName>style.visibility</p:attrName>
                                        </p:attrNameLst>
                                      </p:cBhvr>
                                      <p:to>
                                        <p:strVal val="hidden"/>
                                      </p:to>
                                    </p:set>
                                  </p:childTnLst>
                                </p:cTn>
                              </p:par>
                            </p:childTnLst>
                          </p:cTn>
                        </p:par>
                        <p:par>
                          <p:cTn id="18" fill="hold">
                            <p:stCondLst>
                              <p:cond delay="1500"/>
                            </p:stCondLst>
                            <p:childTnLst>
                              <p:par>
                                <p:cTn id="19" presetID="2" presetClass="entr" presetSubtype="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1+#ppt_w/2"/>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61810"/>
                                        </p:tgtEl>
                                        <p:attrNameLst>
                                          <p:attrName>style.visibility</p:attrName>
                                        </p:attrNameLst>
                                      </p:cBhvr>
                                      <p:to>
                                        <p:strVal val="visible"/>
                                      </p:to>
                                    </p:set>
                                    <p:animEffect transition="in" filter="slide(fromBottom)">
                                      <p:cBhvr>
                                        <p:cTn id="27" dur="500"/>
                                        <p:tgtEl>
                                          <p:spTgt spid="161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p:bldP spid="161796" grpId="0"/>
      <p:bldP spid="161797" grpId="0"/>
      <p:bldP spid="1618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4"/>
          <p:cNvSpPr>
            <a:spLocks noChangeArrowheads="1"/>
          </p:cNvSpPr>
          <p:nvPr/>
        </p:nvSpPr>
        <p:spPr bwMode="auto">
          <a:xfrm>
            <a:off x="603885" y="972820"/>
            <a:ext cx="10728325" cy="534162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先序递归遍历二叉树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BinaryTree&lt;ElemType&gt; ::_PreorderTraverse (BTNode&lt;ElemType&gt;*T,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void(*visit)(const ElemType &amp;e))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visit(T-&gt;data);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_PreorderTraverse(T-&gt;lchild,visit);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_PreorderTraverse(Tt-&gt;rchild,visit);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//先序递归遍历二叉树的接口函数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BinaryTree &lt;ElemType&gt;::PreorderTraverse(</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(*visit)(const ElemType &amp;e))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_PreorderTraverse(m_root, visit);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4.2.6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a:t>
            </a:r>
            <a:r>
              <a:rPr lang="zh-CN"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递归遍历</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3" name="组合 2"/>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Rectangle 3"/>
          <p:cNvSpPr>
            <a:spLocks noGrp="1"/>
          </p:cNvSpPr>
          <p:nvPr>
            <p:ph type="body" idx="4294967295"/>
          </p:nvPr>
        </p:nvSpPr>
        <p:spPr>
          <a:xfrm>
            <a:off x="429260" y="1108710"/>
            <a:ext cx="10924540" cy="5068570"/>
          </a:xfrm>
        </p:spPr>
        <p:txBody>
          <a:bodyPr vert="horz" wrap="square" lIns="91440" tIns="45720" rIns="91440" bIns="45720" anchor="t" anchorCtr="0"/>
          <a:p>
            <a:pPr eaLnBrk="1" hangingPunct="1">
              <a:lnSpc>
                <a:spcPct val="13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中</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序遍历二叉树</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i="1" dirty="0">
                <a:latin typeface="Times New Roman" panose="02020603050405020304" pitchFamily="18" charset="0"/>
                <a:ea typeface="微软雅黑" panose="020B0503020204020204" pitchFamily="34" charset="-122"/>
                <a:cs typeface="Times New Roman" panose="02020603050405020304" pitchFamily="18" charset="0"/>
              </a:rPr>
              <a:t>LDR</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3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若二叉树为空树，则空操作；否则，</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3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中序遍历左子树</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3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访问根结点</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3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中序遍历右子树。</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3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中序遍历右图得到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d b g h e a f c</a:t>
            </a:r>
            <a:endParaRPr lang="zh-CN" altLang="en-US" dirty="0">
              <a:latin typeface="Times New Roman" panose="02020603050405020304" pitchFamily="18" charset="0"/>
              <a:cs typeface="Times New Roman" panose="02020603050405020304" pitchFamily="18" charset="0"/>
            </a:endParaRPr>
          </a:p>
          <a:p>
            <a:pPr lvl="1" eaLnBrk="1" hangingPunct="1">
              <a:buNone/>
            </a:pPr>
            <a:endParaRPr lang="en-US" altLang="zh-CN" dirty="0">
              <a:latin typeface="Times New Roman" panose="02020603050405020304" pitchFamily="18" charset="0"/>
              <a:cs typeface="Times New Roman" panose="02020603050405020304" pitchFamily="18" charset="0"/>
            </a:endParaRPr>
          </a:p>
        </p:txBody>
      </p:sp>
      <p:graphicFrame>
        <p:nvGraphicFramePr>
          <p:cNvPr id="47108" name="Object 5"/>
          <p:cNvGraphicFramePr>
            <a:graphicFrameLocks noChangeAspect="1"/>
          </p:cNvGraphicFramePr>
          <p:nvPr/>
        </p:nvGraphicFramePr>
        <p:xfrm>
          <a:off x="5321935" y="2208530"/>
          <a:ext cx="3117850" cy="3968750"/>
        </p:xfrm>
        <a:graphic>
          <a:graphicData uri="http://schemas.openxmlformats.org/presentationml/2006/ole">
            <mc:AlternateContent xmlns:mc="http://schemas.openxmlformats.org/markup-compatibility/2006">
              <mc:Choice xmlns:v="urn:schemas-microsoft-com:vml" Requires="v">
                <p:oleObj spid="_x0000_s3080" name="" r:id="rId1" imgW="1828800" imgH="2336800" progId="Visio.Drawing.11">
                  <p:embed/>
                </p:oleObj>
              </mc:Choice>
              <mc:Fallback>
                <p:oleObj name="" r:id="rId1" imgW="1828800" imgH="2336800" progId="Visio.Drawing.11">
                  <p:embed/>
                  <p:pic>
                    <p:nvPicPr>
                      <p:cNvPr id="0" name="图片 3079"/>
                      <p:cNvPicPr/>
                      <p:nvPr/>
                    </p:nvPicPr>
                    <p:blipFill>
                      <a:blip r:embed="rId2"/>
                      <a:stretch>
                        <a:fillRect/>
                      </a:stretch>
                    </p:blipFill>
                    <p:spPr>
                      <a:xfrm>
                        <a:off x="5321935" y="2208530"/>
                        <a:ext cx="3117850" cy="3968750"/>
                      </a:xfrm>
                      <a:prstGeom prst="rect">
                        <a:avLst/>
                      </a:prstGeom>
                      <a:noFill/>
                      <a:ln w="38100">
                        <a:noFill/>
                        <a:miter/>
                      </a:ln>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4.2.6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a:t>
            </a:r>
            <a:r>
              <a:rPr lang="zh-CN"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递归遍历</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172">
                                            <p:txEl>
                                              <p:charRg st="64" end="87"/>
                                            </p:txEl>
                                          </p:spTgt>
                                        </p:tgtEl>
                                        <p:attrNameLst>
                                          <p:attrName>style.visibility</p:attrName>
                                        </p:attrNameLst>
                                      </p:cBhvr>
                                      <p:to>
                                        <p:strVal val="visible"/>
                                      </p:to>
                                    </p:set>
                                    <p:animEffect transition="in" filter="fade">
                                      <p:cBhvr>
                                        <p:cTn id="7" dur="1000"/>
                                        <p:tgtEl>
                                          <p:spTgt spid="7172">
                                            <p:txEl>
                                              <p:charRg st="64" end="87"/>
                                            </p:txEl>
                                          </p:spTgt>
                                        </p:tgtEl>
                                      </p:cBhvr>
                                    </p:animEffect>
                                    <p:anim calcmode="lin" valueType="num">
                                      <p:cBhvr>
                                        <p:cTn id="8" dur="1000" fill="hold"/>
                                        <p:tgtEl>
                                          <p:spTgt spid="7172">
                                            <p:txEl>
                                              <p:charRg st="64" end="87"/>
                                            </p:txEl>
                                          </p:spTgt>
                                        </p:tgtEl>
                                        <p:attrNameLst>
                                          <p:attrName>ppt_x</p:attrName>
                                        </p:attrNameLst>
                                      </p:cBhvr>
                                      <p:tavLst>
                                        <p:tav tm="0">
                                          <p:val>
                                            <p:strVal val="#ppt_x"/>
                                          </p:val>
                                        </p:tav>
                                        <p:tav tm="100000">
                                          <p:val>
                                            <p:strVal val="#ppt_x"/>
                                          </p:val>
                                        </p:tav>
                                      </p:tavLst>
                                    </p:anim>
                                    <p:anim calcmode="lin" valueType="num">
                                      <p:cBhvr>
                                        <p:cTn id="9" dur="1000" fill="hold"/>
                                        <p:tgtEl>
                                          <p:spTgt spid="7172">
                                            <p:txEl>
                                              <p:charRg st="64" end="8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1" name="Rectangle 3"/>
          <p:cNvSpPr>
            <a:spLocks noGrp="1"/>
          </p:cNvSpPr>
          <p:nvPr>
            <p:ph idx="1"/>
          </p:nvPr>
        </p:nvSpPr>
        <p:spPr>
          <a:xfrm>
            <a:off x="417830" y="1169035"/>
            <a:ext cx="11374755" cy="5302885"/>
          </a:xfrm>
        </p:spPr>
        <p:txBody>
          <a:bodyPr vert="horz" wrap="square" lIns="91440" tIns="45720" rIns="91440" bIns="45720" anchor="t" anchorCtr="0">
            <a:normAutofit/>
          </a:bodyPr>
          <a:p>
            <a:pPr>
              <a:lnSpc>
                <a:spcPct val="120000"/>
              </a:lnSpc>
              <a:buNone/>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关于二叉树的中序遍历，有以下结论：</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buNone/>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对任意一棵二叉树，</a:t>
            </a: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⑴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其左子树的所有结点先于根结点被访问，在中序序列中位于根结点的前面；</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其右子树的所有结点后于根结点被访问，在中序序列中位于根结点的后面。</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⑵</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第一个被访问的结点是最左的结点，即中序序列中第一</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个结点是最左的结点；</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最后一个被访问的结点是最右的结点，即中序序列中最后一个结点是最右的结点。</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⑶</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在访问了左子树上最右的结点后紧跟着就访问根结点；</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在访问了根结点后紧跟着就访问右子树上最左的结点。</a:t>
            </a:r>
            <a:endParaRPr lang="zh-CN"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4.2.6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a:t>
            </a:r>
            <a:r>
              <a:rPr lang="zh-CN"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递归遍历</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5" name="Text Box 3"/>
          <p:cNvSpPr txBox="1"/>
          <p:nvPr/>
        </p:nvSpPr>
        <p:spPr>
          <a:xfrm>
            <a:off x="745490" y="1721485"/>
            <a:ext cx="4843145" cy="14204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0000"/>
              </a:lnSpc>
              <a:spcBef>
                <a:spcPct val="50000"/>
              </a:spcBef>
              <a:buNone/>
            </a:pP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如果用</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visit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函数来表示对每个结点的访问操作，则基于二叉链表的中序遍历算法如下：</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0772" name="Rectangle 4"/>
          <p:cNvSpPr/>
          <p:nvPr/>
        </p:nvSpPr>
        <p:spPr>
          <a:xfrm>
            <a:off x="872490" y="3302635"/>
            <a:ext cx="9769475" cy="20300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80000"/>
              </a:lnSpc>
              <a:spcBef>
                <a:spcPct val="30000"/>
              </a:spcBef>
              <a:buNone/>
            </a:pPr>
            <a:r>
              <a:rPr lang="en-US" altLang="zh-CN" sz="2000" dirty="0">
                <a:solidFill>
                  <a:srgbClr val="000000"/>
                </a:solidFill>
                <a:latin typeface="Times New Roman" panose="02020603050405020304" pitchFamily="18" charset="0"/>
                <a:cs typeface="Times New Roman" panose="02020603050405020304" pitchFamily="18" charset="0"/>
              </a:rPr>
              <a:t>void InOrderTraverse(BiTree T){</a:t>
            </a:r>
            <a:endParaRPr lang="en-US" altLang="zh-CN" sz="200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sz="2000" dirty="0">
                <a:solidFill>
                  <a:srgbClr val="000000"/>
                </a:solidFill>
                <a:latin typeface="Times New Roman" panose="02020603050405020304" pitchFamily="18" charset="0"/>
                <a:cs typeface="Times New Roman" panose="02020603050405020304" pitchFamily="18" charset="0"/>
              </a:rPr>
              <a:t>  if(T==NULL)return; 	                   </a:t>
            </a:r>
            <a:r>
              <a:rPr lang="en-US" altLang="zh-CN" sz="2000" dirty="0">
                <a:solidFill>
                  <a:schemeClr val="accent1"/>
                </a:solidFill>
                <a:latin typeface="Times New Roman" panose="02020603050405020304" pitchFamily="18" charset="0"/>
                <a:cs typeface="Times New Roman" panose="02020603050405020304" pitchFamily="18" charset="0"/>
              </a:rPr>
              <a:t>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空树，空操作。</a:t>
            </a:r>
            <a:r>
              <a:rPr lang="zh-CN" altLang="en-US" sz="2000" dirty="0">
                <a:solidFill>
                  <a:srgbClr val="000000"/>
                </a:solidFill>
                <a:latin typeface="Times New Roman" panose="02020603050405020304" pitchFamily="18" charset="0"/>
                <a:cs typeface="Times New Roman" panose="02020603050405020304" pitchFamily="18" charset="0"/>
              </a:rPr>
              <a:t> 		</a:t>
            </a:r>
            <a:endParaRPr lang="zh-CN" altLang="en-US" sz="200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InOrderTraverse(T-&gt;lchild);          </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中序遍历左子树</a:t>
            </a:r>
            <a:endParaRPr lang="zh-CN" altLang="en-US" sz="200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visit(T-&gt;data);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访问根结点</a:t>
            </a:r>
            <a:endParaRPr lang="zh-CN" altLang="en-US" sz="2000" dirty="0">
              <a:solidFill>
                <a:schemeClr val="accent1"/>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InOrderTraverse(T-&gt;rchild);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中序遍历右子树</a:t>
            </a:r>
            <a:endParaRPr lang="zh-CN" altLang="en-US" sz="200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eaLnBrk="1" hangingPunct="1">
              <a:lnSpc>
                <a:spcPct val="80000"/>
              </a:lnSpc>
              <a:spcBef>
                <a:spcPct val="30000"/>
              </a:spcBef>
              <a:buNone/>
            </a:pPr>
            <a:r>
              <a:rPr lang="en-US" altLang="zh-CN" sz="2000" dirty="0">
                <a:solidFill>
                  <a:srgbClr val="000000"/>
                </a:solidFill>
                <a:latin typeface="Times New Roman" panose="02020603050405020304" pitchFamily="18" charset="0"/>
                <a:cs typeface="Times New Roman" panose="02020603050405020304" pitchFamily="18" charset="0"/>
              </a:rPr>
              <a:t>} //InOrderTraverse</a:t>
            </a:r>
            <a:endParaRPr lang="en-US" altLang="zh-CN" sz="2000" dirty="0">
              <a:solidFill>
                <a:srgbClr val="000000"/>
              </a:solidFill>
              <a:latin typeface="Times New Roman" panose="02020603050405020304" pitchFamily="18" charset="0"/>
              <a:cs typeface="Times New Roman" panose="02020603050405020304" pitchFamily="18" charset="0"/>
            </a:endParaRPr>
          </a:p>
        </p:txBody>
      </p:sp>
      <p:sp>
        <p:nvSpPr>
          <p:cNvPr id="49157" name="Text Box 5"/>
          <p:cNvSpPr txBox="1"/>
          <p:nvPr/>
        </p:nvSpPr>
        <p:spPr>
          <a:xfrm>
            <a:off x="676275" y="1222375"/>
            <a:ext cx="20574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 </a:t>
            </a:r>
            <a:endPar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158" name="Text Box 6"/>
          <p:cNvSpPr txBox="1"/>
          <p:nvPr/>
        </p:nvSpPr>
        <p:spPr>
          <a:xfrm>
            <a:off x="6248400" y="1419225"/>
            <a:ext cx="4554220" cy="2102485"/>
          </a:xfrm>
          <a:prstGeom prst="rect">
            <a:avLst/>
          </a:prstGeom>
          <a:noFill/>
          <a:ln w="9525" cap="flat" cmpd="sng">
            <a:solidFill>
              <a:schemeClr val="hlink"/>
            </a:solidFill>
            <a:prstDash val="dash"/>
            <a:miter/>
            <a:headEnd type="none" w="med" len="med"/>
            <a:tailEnd type="none" w="med" len="med"/>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如果二叉树为空，则空操作；</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否则</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⑴ 中序遍历左子树，</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⑵ 访问根结点，</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⑶ 中序遍历右子树。</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Group 7"/>
          <p:cNvGrpSpPr/>
          <p:nvPr/>
        </p:nvGrpSpPr>
        <p:grpSpPr>
          <a:xfrm>
            <a:off x="8991600" y="3638550"/>
            <a:ext cx="1524000" cy="2000250"/>
            <a:chOff x="2400" y="1536"/>
            <a:chExt cx="960" cy="1260"/>
          </a:xfrm>
        </p:grpSpPr>
        <p:sp>
          <p:nvSpPr>
            <p:cNvPr id="49162" name="Oval 8"/>
            <p:cNvSpPr/>
            <p:nvPr/>
          </p:nvSpPr>
          <p:spPr>
            <a:xfrm>
              <a:off x="2948" y="249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D</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49163" name="Oval 9"/>
            <p:cNvSpPr/>
            <p:nvPr/>
          </p:nvSpPr>
          <p:spPr>
            <a:xfrm>
              <a:off x="2736" y="1536"/>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A</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49164" name="Oval 10"/>
            <p:cNvSpPr/>
            <p:nvPr/>
          </p:nvSpPr>
          <p:spPr>
            <a:xfrm>
              <a:off x="3044" y="197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C</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49165" name="Line 11"/>
            <p:cNvSpPr/>
            <p:nvPr/>
          </p:nvSpPr>
          <p:spPr>
            <a:xfrm flipH="1">
              <a:off x="2592" y="1824"/>
              <a:ext cx="220" cy="144"/>
            </a:xfrm>
            <a:prstGeom prst="line">
              <a:avLst/>
            </a:prstGeom>
            <a:ln w="9525" cap="flat" cmpd="sng">
              <a:solidFill>
                <a:srgbClr val="000000"/>
              </a:solidFill>
              <a:prstDash val="solid"/>
              <a:headEnd type="none" w="med" len="med"/>
              <a:tailEnd type="none" w="med" len="med"/>
            </a:ln>
          </p:spPr>
        </p:sp>
        <p:sp>
          <p:nvSpPr>
            <p:cNvPr id="49166" name="Line 12"/>
            <p:cNvSpPr/>
            <p:nvPr/>
          </p:nvSpPr>
          <p:spPr>
            <a:xfrm>
              <a:off x="2956" y="1824"/>
              <a:ext cx="260" cy="144"/>
            </a:xfrm>
            <a:prstGeom prst="line">
              <a:avLst/>
            </a:prstGeom>
            <a:ln w="9525" cap="flat" cmpd="sng">
              <a:solidFill>
                <a:srgbClr val="000000"/>
              </a:solidFill>
              <a:prstDash val="solid"/>
              <a:headEnd type="none" w="med" len="med"/>
              <a:tailEnd type="none" w="med" len="med"/>
            </a:ln>
          </p:spPr>
        </p:sp>
        <p:sp>
          <p:nvSpPr>
            <p:cNvPr id="49167" name="Oval 13"/>
            <p:cNvSpPr/>
            <p:nvPr/>
          </p:nvSpPr>
          <p:spPr>
            <a:xfrm>
              <a:off x="2400" y="197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B</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49168" name="Line 14"/>
            <p:cNvSpPr/>
            <p:nvPr/>
          </p:nvSpPr>
          <p:spPr>
            <a:xfrm flipH="1">
              <a:off x="3120" y="2299"/>
              <a:ext cx="96" cy="197"/>
            </a:xfrm>
            <a:prstGeom prst="line">
              <a:avLst/>
            </a:prstGeom>
            <a:ln w="9525" cap="flat" cmpd="sng">
              <a:solidFill>
                <a:srgbClr val="000000"/>
              </a:solidFill>
              <a:prstDash val="solid"/>
              <a:headEnd type="none" w="med" len="med"/>
              <a:tailEnd type="none" w="med" len="med"/>
            </a:ln>
          </p:spPr>
        </p:sp>
        <p:sp>
          <p:nvSpPr>
            <p:cNvPr id="49169" name="Oval 15"/>
            <p:cNvSpPr/>
            <p:nvPr/>
          </p:nvSpPr>
          <p:spPr>
            <a:xfrm>
              <a:off x="2564" y="249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ea typeface="宋体" panose="02010600030101010101" pitchFamily="2" charset="-122"/>
                </a:rPr>
                <a:t>E</a:t>
              </a:r>
              <a:endParaRPr lang="en-US" altLang="zh-CN" b="1" dirty="0">
                <a:solidFill>
                  <a:schemeClr val="accent1"/>
                </a:solidFill>
                <a:latin typeface="Courier New" panose="02070309020205020404" pitchFamily="49" charset="0"/>
                <a:ea typeface="宋体" panose="02010600030101010101" pitchFamily="2" charset="-122"/>
              </a:endParaRPr>
            </a:p>
          </p:txBody>
        </p:sp>
        <p:sp>
          <p:nvSpPr>
            <p:cNvPr id="49170" name="Line 16"/>
            <p:cNvSpPr/>
            <p:nvPr/>
          </p:nvSpPr>
          <p:spPr>
            <a:xfrm>
              <a:off x="2592" y="2256"/>
              <a:ext cx="96" cy="240"/>
            </a:xfrm>
            <a:prstGeom prst="line">
              <a:avLst/>
            </a:prstGeom>
            <a:ln w="9525" cap="flat" cmpd="sng">
              <a:solidFill>
                <a:srgbClr val="000000"/>
              </a:solidFill>
              <a:prstDash val="solid"/>
              <a:headEnd type="none" w="med" len="med"/>
              <a:tailEnd type="none" w="med" len="med"/>
            </a:ln>
          </p:spPr>
        </p:sp>
      </p:grpSp>
      <p:sp>
        <p:nvSpPr>
          <p:cNvPr id="160785" name="Text Box 17"/>
          <p:cNvSpPr txBox="1"/>
          <p:nvPr/>
        </p:nvSpPr>
        <p:spPr>
          <a:xfrm>
            <a:off x="1228725" y="5499100"/>
            <a:ext cx="791527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中序遍历二叉树，并写出它的中序序列</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0786" name="Rectangle 18"/>
          <p:cNvSpPr/>
          <p:nvPr/>
        </p:nvSpPr>
        <p:spPr>
          <a:xfrm>
            <a:off x="1547495" y="5942330"/>
            <a:ext cx="8129905" cy="460375"/>
          </a:xfrm>
          <a:prstGeom prst="rect">
            <a:avLst/>
          </a:prstGeom>
          <a:noFill/>
          <a:ln w="9525">
            <a:noFill/>
          </a:ln>
        </p:spPr>
        <p:txBody>
          <a:bodyPr wrap="squar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其中序序列为：</a:t>
            </a:r>
            <a:r>
              <a:rPr lang="zh-CN" altLang="en-US"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 E A D C</a:t>
            </a:r>
            <a:endPar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mn-ea"/>
              </a:rPr>
              <a:t>（二）中序遍历二叉树</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6" name="组合 5"/>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6066" y="10351"/>
                <a:ext cx="428" cy="319"/>
                <a:chOff x="1180190" y="6561344"/>
                <a:chExt cx="271682" cy="202424"/>
              </a:xfrm>
            </p:grpSpPr>
            <p:sp>
              <p:nvSpPr>
                <p:cNvPr id="11" name="燕尾形 10"/>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0"/>
                                  </p:iterate>
                                  <p:childTnLst>
                                    <p:set>
                                      <p:cBhvr>
                                        <p:cTn id="6" dur="1" fill="hold">
                                          <p:stCondLst>
                                            <p:cond delay="0"/>
                                          </p:stCondLst>
                                        </p:cTn>
                                        <p:tgtEl>
                                          <p:spTgt spid="160772"/>
                                        </p:tgtEl>
                                        <p:attrNameLst>
                                          <p:attrName>style.visibility</p:attrName>
                                        </p:attrNameLst>
                                      </p:cBhvr>
                                      <p:to>
                                        <p:strVal val="visible"/>
                                      </p:to>
                                    </p:set>
                                    <p:animEffect transition="in" filter="wipe(left)">
                                      <p:cBhvr>
                                        <p:cTn id="7" dur="500"/>
                                        <p:tgtEl>
                                          <p:spTgt spid="16077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60785"/>
                                        </p:tgtEl>
                                        <p:attrNameLst>
                                          <p:attrName>style.visibility</p:attrName>
                                        </p:attrNameLst>
                                      </p:cBhvr>
                                      <p:to>
                                        <p:strVal val="visible"/>
                                      </p:to>
                                    </p:set>
                                    <p:anim calcmode="lin" valueType="num">
                                      <p:cBhvr additive="base">
                                        <p:cTn id="12" dur="1000" fill="hold"/>
                                        <p:tgtEl>
                                          <p:spTgt spid="160785"/>
                                        </p:tgtEl>
                                        <p:attrNameLst>
                                          <p:attrName>ppt_x</p:attrName>
                                        </p:attrNameLst>
                                      </p:cBhvr>
                                      <p:tavLst>
                                        <p:tav tm="0">
                                          <p:val>
                                            <p:strVal val="0-#ppt_w/2"/>
                                          </p:val>
                                        </p:tav>
                                        <p:tav tm="100000">
                                          <p:val>
                                            <p:strVal val="#ppt_x"/>
                                          </p:val>
                                        </p:tav>
                                      </p:tavLst>
                                    </p:anim>
                                    <p:anim calcmode="lin" valueType="num">
                                      <p:cBhvr additive="base">
                                        <p:cTn id="13" dur="1000" fill="hold"/>
                                        <p:tgtEl>
                                          <p:spTgt spid="16078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6"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60786"/>
                                        </p:tgtEl>
                                        <p:attrNameLst>
                                          <p:attrName>style.visibility</p:attrName>
                                        </p:attrNameLst>
                                      </p:cBhvr>
                                      <p:to>
                                        <p:strVal val="visible"/>
                                      </p:to>
                                    </p:set>
                                    <p:animEffect transition="in" filter="slide(fromBottom)">
                                      <p:cBhvr>
                                        <p:cTn id="23" dur="500"/>
                                        <p:tgtEl>
                                          <p:spTgt spid="160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p:bldP spid="160785" grpId="0"/>
      <p:bldP spid="16078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Rectangle 3"/>
          <p:cNvSpPr>
            <a:spLocks noGrp="1"/>
          </p:cNvSpPr>
          <p:nvPr>
            <p:ph type="body" idx="4294967295"/>
          </p:nvPr>
        </p:nvSpPr>
        <p:spPr>
          <a:xfrm>
            <a:off x="538480" y="1189355"/>
            <a:ext cx="10815320" cy="4987925"/>
          </a:xfrm>
        </p:spPr>
        <p:txBody>
          <a:bodyPr vert="horz" wrap="square" lIns="91440" tIns="45720" rIns="91440" bIns="45720" anchor="t" anchorCtr="0"/>
          <a:p>
            <a:pPr eaLnBrk="1" hangingPunct="1">
              <a:lnSpc>
                <a:spcPct val="11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后</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序遍历二叉树</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i="1" dirty="0">
                <a:latin typeface="Times New Roman" panose="02020603050405020304" pitchFamily="18" charset="0"/>
                <a:ea typeface="微软雅黑" panose="020B0503020204020204" pitchFamily="34" charset="-122"/>
                <a:cs typeface="Times New Roman" panose="02020603050405020304" pitchFamily="18" charset="0"/>
              </a:rPr>
              <a:t>LRD</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1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若二叉树为空树，则空操作；否则</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1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后序遍历左子树</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1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后序遍历右子树</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1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访问根结点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1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后序遍历右图得到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1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d h g e b f c a</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buNone/>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0180" name="Object 5"/>
          <p:cNvGraphicFramePr>
            <a:graphicFrameLocks noChangeAspect="1"/>
          </p:cNvGraphicFramePr>
          <p:nvPr/>
        </p:nvGraphicFramePr>
        <p:xfrm>
          <a:off x="6248400" y="2341880"/>
          <a:ext cx="2944495" cy="3747770"/>
        </p:xfrm>
        <a:graphic>
          <a:graphicData uri="http://schemas.openxmlformats.org/presentationml/2006/ole">
            <mc:AlternateContent xmlns:mc="http://schemas.openxmlformats.org/markup-compatibility/2006">
              <mc:Choice xmlns:v="urn:schemas-microsoft-com:vml" Requires="v">
                <p:oleObj spid="_x0000_s3079" name="" r:id="rId1" imgW="1828800" imgH="2336800" progId="Visio.Drawing.11">
                  <p:embed/>
                </p:oleObj>
              </mc:Choice>
              <mc:Fallback>
                <p:oleObj name="" r:id="rId1" imgW="1828800" imgH="2336800" progId="Visio.Drawing.11">
                  <p:embed/>
                  <p:pic>
                    <p:nvPicPr>
                      <p:cNvPr id="0" name="图片 3078"/>
                      <p:cNvPicPr/>
                      <p:nvPr/>
                    </p:nvPicPr>
                    <p:blipFill>
                      <a:blip r:embed="rId2"/>
                      <a:stretch>
                        <a:fillRect/>
                      </a:stretch>
                    </p:blipFill>
                    <p:spPr>
                      <a:xfrm>
                        <a:off x="6248400" y="2341880"/>
                        <a:ext cx="2944495" cy="3747770"/>
                      </a:xfrm>
                      <a:prstGeom prst="rect">
                        <a:avLst/>
                      </a:prstGeom>
                      <a:noFill/>
                      <a:ln w="38100">
                        <a:noFill/>
                        <a:miter/>
                      </a:ln>
                    </p:spPr>
                  </p:pic>
                </p:oleObj>
              </mc:Fallback>
            </mc:AlternateContent>
          </a:graphicData>
        </a:graphic>
      </p:graphicFrame>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4.2.6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a:t>
            </a:r>
            <a:r>
              <a:rPr lang="zh-CN"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递归遍历</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6">
                                            <p:txEl>
                                              <p:charRg st="63" end="86"/>
                                            </p:txEl>
                                          </p:spTgt>
                                        </p:tgtEl>
                                        <p:attrNameLst>
                                          <p:attrName>style.visibility</p:attrName>
                                        </p:attrNameLst>
                                      </p:cBhvr>
                                      <p:to>
                                        <p:strVal val="visible"/>
                                      </p:to>
                                    </p:set>
                                    <p:animEffect transition="in" filter="fade">
                                      <p:cBhvr>
                                        <p:cTn id="7" dur="1000"/>
                                        <p:tgtEl>
                                          <p:spTgt spid="8196">
                                            <p:txEl>
                                              <p:charRg st="63" end="86"/>
                                            </p:txEl>
                                          </p:spTgt>
                                        </p:tgtEl>
                                      </p:cBhvr>
                                    </p:animEffect>
                                    <p:anim calcmode="lin" valueType="num">
                                      <p:cBhvr>
                                        <p:cTn id="8" dur="1000" fill="hold"/>
                                        <p:tgtEl>
                                          <p:spTgt spid="8196">
                                            <p:txEl>
                                              <p:charRg st="63" end="86"/>
                                            </p:txEl>
                                          </p:spTgt>
                                        </p:tgtEl>
                                        <p:attrNameLst>
                                          <p:attrName>ppt_x</p:attrName>
                                        </p:attrNameLst>
                                      </p:cBhvr>
                                      <p:tavLst>
                                        <p:tav tm="0">
                                          <p:val>
                                            <p:strVal val="#ppt_x"/>
                                          </p:val>
                                        </p:tav>
                                        <p:tav tm="100000">
                                          <p:val>
                                            <p:strVal val="#ppt_x"/>
                                          </p:val>
                                        </p:tav>
                                      </p:tavLst>
                                    </p:anim>
                                    <p:anim calcmode="lin" valueType="num">
                                      <p:cBhvr>
                                        <p:cTn id="9" dur="1000" fill="hold"/>
                                        <p:tgtEl>
                                          <p:spTgt spid="8196">
                                            <p:txEl>
                                              <p:charRg st="63" end="8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9" name="Text Box 3"/>
          <p:cNvSpPr txBox="1"/>
          <p:nvPr/>
        </p:nvSpPr>
        <p:spPr>
          <a:xfrm>
            <a:off x="345440" y="1473200"/>
            <a:ext cx="5407025" cy="145351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20000"/>
              </a:lnSpc>
              <a:spcBef>
                <a:spcPct val="50000"/>
              </a:spcBef>
              <a:buNone/>
            </a:pP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如果用</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visit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函数来表示对每个结点的访问操作，则基于二叉链表的后序遍历算法如下：</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2820" name="Rectangle 4"/>
          <p:cNvSpPr/>
          <p:nvPr/>
        </p:nvSpPr>
        <p:spPr>
          <a:xfrm>
            <a:off x="652145" y="3162300"/>
            <a:ext cx="9787255" cy="20300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80000"/>
              </a:lnSpc>
              <a:spcBef>
                <a:spcPct val="30000"/>
              </a:spcBef>
              <a:buNone/>
            </a:pP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void PostOrderTraverse(BiTree T){</a:t>
            </a:r>
            <a:endPar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eaLnBrk="1" hangingPunct="1">
              <a:lnSpc>
                <a:spcPct val="80000"/>
              </a:lnSpc>
              <a:spcBef>
                <a:spcPct val="30000"/>
              </a:spcBef>
              <a:buNone/>
            </a:pP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if(T==NULL)return;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空树，空操作。 </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PostOrderTraverse(T-&gt;lchild);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后序遍历左子树</a:t>
            </a:r>
            <a:endParaRPr lang="zh-CN" altLang="en-US" sz="200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PostOrderTraverse(T-&gt;rchild);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后序遍历右子树</a:t>
            </a:r>
            <a:endPar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eaLnBrk="1" hangingPunct="1">
              <a:lnSpc>
                <a:spcPct val="80000"/>
              </a:lnSpc>
              <a:spcBef>
                <a:spcPct val="30000"/>
              </a:spcBef>
              <a:buNone/>
            </a:pP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visit(T-&gt;data);		                 </a:t>
            </a:r>
            <a:r>
              <a:rPr lang="en-US" altLang="zh-CN"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访问根结点</a:t>
            </a:r>
            <a:endPar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0" indent="0" eaLnBrk="1" hangingPunct="1">
              <a:lnSpc>
                <a:spcPct val="80000"/>
              </a:lnSpc>
              <a:spcBef>
                <a:spcPct val="30000"/>
              </a:spcBef>
              <a:buNone/>
            </a:pP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//PostOrderTraverse</a:t>
            </a:r>
            <a:endPar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2821" name="Text Box 5"/>
          <p:cNvSpPr txBox="1"/>
          <p:nvPr/>
        </p:nvSpPr>
        <p:spPr>
          <a:xfrm>
            <a:off x="833755" y="5486400"/>
            <a:ext cx="9453245"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后序遍历二叉树，并写出它的后序序列</a:t>
            </a:r>
            <a:r>
              <a:rPr lang="zh-CN" alt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206" name="Text Box 6"/>
          <p:cNvSpPr txBox="1"/>
          <p:nvPr/>
        </p:nvSpPr>
        <p:spPr>
          <a:xfrm>
            <a:off x="200025" y="915670"/>
            <a:ext cx="3883025" cy="70675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．算法 </a:t>
            </a:r>
            <a:endPar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207" name="Text Box 7"/>
          <p:cNvSpPr txBox="1"/>
          <p:nvPr/>
        </p:nvSpPr>
        <p:spPr>
          <a:xfrm>
            <a:off x="6248400" y="1123950"/>
            <a:ext cx="4599305" cy="2106930"/>
          </a:xfrm>
          <a:prstGeom prst="rect">
            <a:avLst/>
          </a:prstGeom>
          <a:noFill/>
          <a:ln w="9525" cap="flat" cmpd="sng">
            <a:solidFill>
              <a:schemeClr val="hlink"/>
            </a:solidFill>
            <a:prstDash val="dash"/>
            <a:miter/>
            <a:headEnd type="none" w="med" len="med"/>
            <a:tailEnd type="none" w="med" len="med"/>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如果二叉树为空，则空操作；</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否则</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⑴ 后序遍历左子树，</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⑵ 后序遍历右子树，</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eaLnBrk="1" hangingPunct="1">
              <a:lnSpc>
                <a:spcPct val="100000"/>
              </a:lnSpc>
              <a:spcBef>
                <a:spcPct val="30000"/>
              </a:spcBef>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⑶ 访问根结点。</a:t>
            </a:r>
            <a:r>
              <a:rPr lang="zh-CN" altLang="en-US"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 name="Group 8"/>
          <p:cNvGrpSpPr/>
          <p:nvPr/>
        </p:nvGrpSpPr>
        <p:grpSpPr>
          <a:xfrm>
            <a:off x="3581400" y="990600"/>
            <a:ext cx="1524000" cy="2000250"/>
            <a:chOff x="2400" y="1536"/>
            <a:chExt cx="960" cy="1260"/>
          </a:xfrm>
        </p:grpSpPr>
        <p:sp>
          <p:nvSpPr>
            <p:cNvPr id="51210" name="Oval 9"/>
            <p:cNvSpPr/>
            <p:nvPr/>
          </p:nvSpPr>
          <p:spPr>
            <a:xfrm>
              <a:off x="2948" y="249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D</a:t>
              </a:r>
              <a:endParaRPr lang="en-US" altLang="zh-CN" b="1" dirty="0">
                <a:solidFill>
                  <a:schemeClr val="accent1"/>
                </a:solidFill>
                <a:latin typeface="楷体_GB2312" panose="02010609030101010101" pitchFamily="49" charset="-122"/>
              </a:endParaRPr>
            </a:p>
          </p:txBody>
        </p:sp>
        <p:sp>
          <p:nvSpPr>
            <p:cNvPr id="51211" name="Oval 10"/>
            <p:cNvSpPr/>
            <p:nvPr/>
          </p:nvSpPr>
          <p:spPr>
            <a:xfrm>
              <a:off x="2736" y="1536"/>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A</a:t>
              </a:r>
              <a:endParaRPr lang="en-US" altLang="zh-CN" b="1" dirty="0">
                <a:solidFill>
                  <a:schemeClr val="accent1"/>
                </a:solidFill>
                <a:latin typeface="楷体_GB2312" panose="02010609030101010101" pitchFamily="49" charset="-122"/>
              </a:endParaRPr>
            </a:p>
          </p:txBody>
        </p:sp>
        <p:sp>
          <p:nvSpPr>
            <p:cNvPr id="51212" name="Oval 11"/>
            <p:cNvSpPr/>
            <p:nvPr/>
          </p:nvSpPr>
          <p:spPr>
            <a:xfrm>
              <a:off x="3044" y="197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C</a:t>
              </a:r>
              <a:endParaRPr lang="en-US" altLang="zh-CN" b="1" dirty="0">
                <a:solidFill>
                  <a:schemeClr val="accent1"/>
                </a:solidFill>
                <a:latin typeface="楷体_GB2312" panose="02010609030101010101" pitchFamily="49" charset="-122"/>
              </a:endParaRPr>
            </a:p>
          </p:txBody>
        </p:sp>
        <p:sp>
          <p:nvSpPr>
            <p:cNvPr id="51213" name="Line 12"/>
            <p:cNvSpPr/>
            <p:nvPr/>
          </p:nvSpPr>
          <p:spPr>
            <a:xfrm flipH="1">
              <a:off x="2592" y="1824"/>
              <a:ext cx="220" cy="144"/>
            </a:xfrm>
            <a:prstGeom prst="line">
              <a:avLst/>
            </a:prstGeom>
            <a:ln w="9525" cap="flat" cmpd="sng">
              <a:solidFill>
                <a:srgbClr val="000000"/>
              </a:solidFill>
              <a:prstDash val="solid"/>
              <a:headEnd type="none" w="med" len="med"/>
              <a:tailEnd type="none" w="med" len="med"/>
            </a:ln>
          </p:spPr>
        </p:sp>
        <p:sp>
          <p:nvSpPr>
            <p:cNvPr id="51214" name="Line 13"/>
            <p:cNvSpPr/>
            <p:nvPr/>
          </p:nvSpPr>
          <p:spPr>
            <a:xfrm>
              <a:off x="2956" y="1824"/>
              <a:ext cx="260" cy="144"/>
            </a:xfrm>
            <a:prstGeom prst="line">
              <a:avLst/>
            </a:prstGeom>
            <a:ln w="9525" cap="flat" cmpd="sng">
              <a:solidFill>
                <a:srgbClr val="000000"/>
              </a:solidFill>
              <a:prstDash val="solid"/>
              <a:headEnd type="none" w="med" len="med"/>
              <a:tailEnd type="none" w="med" len="med"/>
            </a:ln>
          </p:spPr>
        </p:sp>
        <p:sp>
          <p:nvSpPr>
            <p:cNvPr id="51215" name="Oval 14"/>
            <p:cNvSpPr/>
            <p:nvPr/>
          </p:nvSpPr>
          <p:spPr>
            <a:xfrm>
              <a:off x="2400" y="197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B</a:t>
              </a:r>
              <a:endParaRPr lang="en-US" altLang="zh-CN" b="1" dirty="0">
                <a:solidFill>
                  <a:schemeClr val="accent1"/>
                </a:solidFill>
                <a:latin typeface="楷体_GB2312" panose="02010609030101010101" pitchFamily="49" charset="-122"/>
              </a:endParaRPr>
            </a:p>
          </p:txBody>
        </p:sp>
        <p:sp>
          <p:nvSpPr>
            <p:cNvPr id="51216" name="Line 15"/>
            <p:cNvSpPr/>
            <p:nvPr/>
          </p:nvSpPr>
          <p:spPr>
            <a:xfrm flipH="1">
              <a:off x="3120" y="2299"/>
              <a:ext cx="96" cy="197"/>
            </a:xfrm>
            <a:prstGeom prst="line">
              <a:avLst/>
            </a:prstGeom>
            <a:ln w="9525" cap="flat" cmpd="sng">
              <a:solidFill>
                <a:srgbClr val="000000"/>
              </a:solidFill>
              <a:prstDash val="solid"/>
              <a:headEnd type="none" w="med" len="med"/>
              <a:tailEnd type="none" w="med" len="med"/>
            </a:ln>
          </p:spPr>
        </p:sp>
        <p:sp>
          <p:nvSpPr>
            <p:cNvPr id="51217" name="Oval 16"/>
            <p:cNvSpPr/>
            <p:nvPr/>
          </p:nvSpPr>
          <p:spPr>
            <a:xfrm>
              <a:off x="2564" y="249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E</a:t>
              </a:r>
              <a:endParaRPr lang="en-US" altLang="zh-CN" b="1" dirty="0">
                <a:solidFill>
                  <a:schemeClr val="accent1"/>
                </a:solidFill>
                <a:latin typeface="楷体_GB2312" panose="02010609030101010101" pitchFamily="49" charset="-122"/>
              </a:endParaRPr>
            </a:p>
          </p:txBody>
        </p:sp>
        <p:sp>
          <p:nvSpPr>
            <p:cNvPr id="51218" name="Line 17"/>
            <p:cNvSpPr/>
            <p:nvPr/>
          </p:nvSpPr>
          <p:spPr>
            <a:xfrm>
              <a:off x="2592" y="2256"/>
              <a:ext cx="96" cy="240"/>
            </a:xfrm>
            <a:prstGeom prst="line">
              <a:avLst/>
            </a:prstGeom>
            <a:ln w="9525" cap="flat" cmpd="sng">
              <a:solidFill>
                <a:srgbClr val="000000"/>
              </a:solidFill>
              <a:prstDash val="solid"/>
              <a:headEnd type="none" w="med" len="med"/>
              <a:tailEnd type="none" w="med" len="med"/>
            </a:ln>
          </p:spPr>
        </p:sp>
      </p:grpSp>
      <p:sp>
        <p:nvSpPr>
          <p:cNvPr id="162834" name="Rectangle 18"/>
          <p:cNvSpPr/>
          <p:nvPr/>
        </p:nvSpPr>
        <p:spPr>
          <a:xfrm>
            <a:off x="1202690" y="5942330"/>
            <a:ext cx="7255510" cy="460375"/>
          </a:xfrm>
          <a:prstGeom prst="rect">
            <a:avLst/>
          </a:prstGeom>
          <a:noFill/>
          <a:ln w="9525">
            <a:noFill/>
          </a:ln>
        </p:spPr>
        <p:txBody>
          <a:bodyPr wrap="squar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其</a:t>
            </a:r>
            <a:r>
              <a:rPr lang="zh-CN"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后</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序序列为：</a:t>
            </a:r>
            <a:r>
              <a:rPr lang="zh-CN" altLang="en-US"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80008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b="1" dirty="0">
                <a:solidFill>
                  <a:srgbClr val="80008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 D C A</a:t>
            </a:r>
            <a:endPar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mn-ea"/>
              </a:rPr>
              <a:t>（三）后序遍历二叉树</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6066" y="10351"/>
                <a:ext cx="428" cy="319"/>
                <a:chOff x="1180190" y="6561344"/>
                <a:chExt cx="271682" cy="202424"/>
              </a:xfrm>
            </p:grpSpPr>
            <p:sp>
              <p:nvSpPr>
                <p:cNvPr id="8" name="燕尾形 7"/>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20"/>
                                        </p:tgtEl>
                                        <p:attrNameLst>
                                          <p:attrName>style.visibility</p:attrName>
                                        </p:attrNameLst>
                                      </p:cBhvr>
                                      <p:to>
                                        <p:strVal val="visible"/>
                                      </p:to>
                                    </p:set>
                                    <p:animEffect transition="in" filter="wipe(left)">
                                      <p:cBhvr>
                                        <p:cTn id="7" dur="500"/>
                                        <p:tgtEl>
                                          <p:spTgt spid="16282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62821"/>
                                        </p:tgtEl>
                                        <p:attrNameLst>
                                          <p:attrName>style.visibility</p:attrName>
                                        </p:attrNameLst>
                                      </p:cBhvr>
                                      <p:to>
                                        <p:strVal val="visible"/>
                                      </p:to>
                                    </p:set>
                                    <p:anim calcmode="lin" valueType="num">
                                      <p:cBhvr additive="base">
                                        <p:cTn id="12" dur="1000" fill="hold"/>
                                        <p:tgtEl>
                                          <p:spTgt spid="162821"/>
                                        </p:tgtEl>
                                        <p:attrNameLst>
                                          <p:attrName>ppt_x</p:attrName>
                                        </p:attrNameLst>
                                      </p:cBhvr>
                                      <p:tavLst>
                                        <p:tav tm="0">
                                          <p:val>
                                            <p:strVal val="0-#ppt_w/2"/>
                                          </p:val>
                                        </p:tav>
                                        <p:tav tm="100000">
                                          <p:val>
                                            <p:strVal val="#ppt_x"/>
                                          </p:val>
                                        </p:tav>
                                      </p:tavLst>
                                    </p:anim>
                                    <p:anim calcmode="lin" valueType="num">
                                      <p:cBhvr additive="base">
                                        <p:cTn id="13" dur="1000" fill="hold"/>
                                        <p:tgtEl>
                                          <p:spTgt spid="162821"/>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9" presetClass="exit" presetSubtype="0" fill="hold" grpId="0" nodeType="afterEffect">
                                  <p:stCondLst>
                                    <p:cond delay="0"/>
                                  </p:stCondLst>
                                  <p:childTnLst>
                                    <p:animEffect transition="out" filter="dissolve">
                                      <p:cBhvr>
                                        <p:cTn id="16" dur="500"/>
                                        <p:tgtEl>
                                          <p:spTgt spid="162819"/>
                                        </p:tgtEl>
                                      </p:cBhvr>
                                    </p:animEffect>
                                    <p:set>
                                      <p:cBhvr>
                                        <p:cTn id="17" dur="1" fill="hold">
                                          <p:stCondLst>
                                            <p:cond delay="499"/>
                                          </p:stCondLst>
                                        </p:cTn>
                                        <p:tgtEl>
                                          <p:spTgt spid="162819"/>
                                        </p:tgtEl>
                                        <p:attrNameLst>
                                          <p:attrName>style.visibility</p:attrName>
                                        </p:attrNameLst>
                                      </p:cBhvr>
                                      <p:to>
                                        <p:strVal val="hidden"/>
                                      </p:to>
                                    </p:set>
                                  </p:childTnLst>
                                </p:cTn>
                              </p:par>
                            </p:childTnLst>
                          </p:cTn>
                        </p:par>
                        <p:par>
                          <p:cTn id="18" fill="hold">
                            <p:stCondLst>
                              <p:cond delay="1500"/>
                            </p:stCondLst>
                            <p:childTnLst>
                              <p:par>
                                <p:cTn id="19" presetID="2" presetClass="entr" presetSubtype="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1+#ppt_w/2"/>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62834"/>
                                        </p:tgtEl>
                                        <p:attrNameLst>
                                          <p:attrName>style.visibility</p:attrName>
                                        </p:attrNameLst>
                                      </p:cBhvr>
                                      <p:to>
                                        <p:strVal val="visible"/>
                                      </p:to>
                                    </p:set>
                                    <p:animEffect transition="in" filter="slide(fromBottom)">
                                      <p:cBhvr>
                                        <p:cTn id="27" dur="500"/>
                                        <p:tgtEl>
                                          <p:spTgt spid="162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p:bldP spid="162820" grpId="0"/>
      <p:bldP spid="162821" grpId="0"/>
      <p:bldP spid="1628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8" name="Rectangle 13"/>
          <p:cNvSpPr/>
          <p:nvPr/>
        </p:nvSpPr>
        <p:spPr>
          <a:xfrm>
            <a:off x="250190" y="977900"/>
            <a:ext cx="10138410" cy="687070"/>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sz="22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我们知道，对一棵二叉树进行某种遍历可得到一个遍历序列；现在反过来，由二叉树的某一遍历序列能否唯一确定该二叉树呢？</a:t>
            </a:r>
            <a:endPar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3854" name="Rectangle 14"/>
          <p:cNvSpPr/>
          <p:nvPr/>
        </p:nvSpPr>
        <p:spPr>
          <a:xfrm>
            <a:off x="767080" y="1786255"/>
            <a:ext cx="6211570" cy="423545"/>
          </a:xfrm>
          <a:prstGeom prst="rect">
            <a:avLst/>
          </a:prstGeom>
          <a:noFill/>
          <a:ln w="9525">
            <a:noFill/>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80000"/>
              </a:lnSpc>
              <a:spcBef>
                <a:spcPct val="30000"/>
              </a:spcBef>
              <a:buNone/>
            </a:pPr>
            <a:r>
              <a:rPr lang="zh-CN" altLang="en-US" sz="2000" b="1" dirty="0">
                <a:solidFill>
                  <a:srgbClr val="C00000"/>
                </a:solidFill>
                <a:latin typeface="微软雅黑" panose="020B0503020204020204" pitchFamily="34" charset="-122"/>
                <a:ea typeface="微软雅黑" panose="020B0503020204020204" pitchFamily="34" charset="-122"/>
              </a:rPr>
              <a:t>答案是不能。</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3" name="Group 15"/>
          <p:cNvGrpSpPr/>
          <p:nvPr/>
        </p:nvGrpSpPr>
        <p:grpSpPr>
          <a:xfrm>
            <a:off x="8794750" y="1589088"/>
            <a:ext cx="1143000" cy="1966912"/>
            <a:chOff x="4848" y="921"/>
            <a:chExt cx="720" cy="1239"/>
          </a:xfrm>
        </p:grpSpPr>
        <p:sp>
          <p:nvSpPr>
            <p:cNvPr id="52263" name="Oval 16"/>
            <p:cNvSpPr/>
            <p:nvPr/>
          </p:nvSpPr>
          <p:spPr>
            <a:xfrm>
              <a:off x="5252" y="1855"/>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C</a:t>
              </a:r>
              <a:endParaRPr lang="en-US" altLang="zh-CN" b="1" dirty="0">
                <a:solidFill>
                  <a:schemeClr val="accent1"/>
                </a:solidFill>
                <a:latin typeface="楷体_GB2312" panose="02010609030101010101" pitchFamily="49" charset="-122"/>
              </a:endParaRPr>
            </a:p>
          </p:txBody>
        </p:sp>
        <p:sp>
          <p:nvSpPr>
            <p:cNvPr id="52264" name="Oval 17"/>
            <p:cNvSpPr/>
            <p:nvPr/>
          </p:nvSpPr>
          <p:spPr>
            <a:xfrm>
              <a:off x="4848" y="921"/>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A</a:t>
              </a:r>
              <a:endParaRPr lang="en-US" altLang="zh-CN" b="1" dirty="0">
                <a:solidFill>
                  <a:schemeClr val="accent1"/>
                </a:solidFill>
                <a:latin typeface="楷体_GB2312" panose="02010609030101010101" pitchFamily="49" charset="-122"/>
              </a:endParaRPr>
            </a:p>
          </p:txBody>
        </p:sp>
        <p:sp>
          <p:nvSpPr>
            <p:cNvPr id="52265" name="Line 18"/>
            <p:cNvSpPr/>
            <p:nvPr/>
          </p:nvSpPr>
          <p:spPr>
            <a:xfrm>
              <a:off x="5040" y="1200"/>
              <a:ext cx="96" cy="144"/>
            </a:xfrm>
            <a:prstGeom prst="line">
              <a:avLst/>
            </a:prstGeom>
            <a:ln w="9525" cap="flat" cmpd="sng">
              <a:solidFill>
                <a:srgbClr val="000000"/>
              </a:solidFill>
              <a:prstDash val="solid"/>
              <a:headEnd type="none" w="med" len="med"/>
              <a:tailEnd type="none" w="med" len="med"/>
            </a:ln>
          </p:spPr>
        </p:sp>
        <p:sp>
          <p:nvSpPr>
            <p:cNvPr id="52266" name="Oval 19"/>
            <p:cNvSpPr/>
            <p:nvPr/>
          </p:nvSpPr>
          <p:spPr>
            <a:xfrm>
              <a:off x="5032" y="1364"/>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B</a:t>
              </a:r>
              <a:endParaRPr lang="en-US" altLang="zh-CN" b="1" dirty="0">
                <a:solidFill>
                  <a:schemeClr val="accent1"/>
                </a:solidFill>
                <a:latin typeface="楷体_GB2312" panose="02010609030101010101" pitchFamily="49" charset="-122"/>
              </a:endParaRPr>
            </a:p>
          </p:txBody>
        </p:sp>
        <p:sp>
          <p:nvSpPr>
            <p:cNvPr id="52267" name="Line 20"/>
            <p:cNvSpPr/>
            <p:nvPr/>
          </p:nvSpPr>
          <p:spPr>
            <a:xfrm>
              <a:off x="5232" y="1632"/>
              <a:ext cx="144" cy="240"/>
            </a:xfrm>
            <a:prstGeom prst="line">
              <a:avLst/>
            </a:prstGeom>
            <a:ln w="9525" cap="flat" cmpd="sng">
              <a:solidFill>
                <a:srgbClr val="000000"/>
              </a:solidFill>
              <a:prstDash val="solid"/>
              <a:headEnd type="none" w="med" len="med"/>
              <a:tailEnd type="none" w="med" len="med"/>
            </a:ln>
          </p:spPr>
        </p:sp>
      </p:grpSp>
      <p:grpSp>
        <p:nvGrpSpPr>
          <p:cNvPr id="4" name="Group 21"/>
          <p:cNvGrpSpPr/>
          <p:nvPr/>
        </p:nvGrpSpPr>
        <p:grpSpPr>
          <a:xfrm>
            <a:off x="9004300" y="4368800"/>
            <a:ext cx="1701800" cy="2008188"/>
            <a:chOff x="4188" y="2832"/>
            <a:chExt cx="1072" cy="1265"/>
          </a:xfrm>
        </p:grpSpPr>
        <p:sp>
          <p:nvSpPr>
            <p:cNvPr id="52254" name="Oval 22"/>
            <p:cNvSpPr/>
            <p:nvPr/>
          </p:nvSpPr>
          <p:spPr>
            <a:xfrm>
              <a:off x="4388" y="3792"/>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D</a:t>
              </a:r>
              <a:endParaRPr lang="en-US" altLang="zh-CN" b="1" dirty="0">
                <a:solidFill>
                  <a:schemeClr val="accent1"/>
                </a:solidFill>
                <a:latin typeface="楷体_GB2312" panose="02010609030101010101" pitchFamily="49" charset="-122"/>
              </a:endParaRPr>
            </a:p>
          </p:txBody>
        </p:sp>
        <p:sp>
          <p:nvSpPr>
            <p:cNvPr id="52255" name="Oval 23"/>
            <p:cNvSpPr/>
            <p:nvPr/>
          </p:nvSpPr>
          <p:spPr>
            <a:xfrm>
              <a:off x="4456" y="2832"/>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A</a:t>
              </a:r>
              <a:endParaRPr lang="en-US" altLang="zh-CN" b="1" dirty="0">
                <a:solidFill>
                  <a:schemeClr val="accent1"/>
                </a:solidFill>
                <a:latin typeface="楷体_GB2312" panose="02010609030101010101" pitchFamily="49" charset="-122"/>
              </a:endParaRPr>
            </a:p>
          </p:txBody>
        </p:sp>
        <p:sp>
          <p:nvSpPr>
            <p:cNvPr id="52256" name="Oval 24"/>
            <p:cNvSpPr/>
            <p:nvPr/>
          </p:nvSpPr>
          <p:spPr>
            <a:xfrm>
              <a:off x="4676" y="3275"/>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C</a:t>
              </a:r>
              <a:endParaRPr lang="en-US" altLang="zh-CN" b="1" dirty="0">
                <a:solidFill>
                  <a:schemeClr val="accent1"/>
                </a:solidFill>
                <a:latin typeface="楷体_GB2312" panose="02010609030101010101" pitchFamily="49" charset="-122"/>
              </a:endParaRPr>
            </a:p>
          </p:txBody>
        </p:sp>
        <p:sp>
          <p:nvSpPr>
            <p:cNvPr id="52257" name="Line 25"/>
            <p:cNvSpPr/>
            <p:nvPr/>
          </p:nvSpPr>
          <p:spPr>
            <a:xfrm flipH="1">
              <a:off x="4436" y="3120"/>
              <a:ext cx="96" cy="144"/>
            </a:xfrm>
            <a:prstGeom prst="line">
              <a:avLst/>
            </a:prstGeom>
            <a:ln w="9525" cap="flat" cmpd="sng">
              <a:solidFill>
                <a:srgbClr val="000000"/>
              </a:solidFill>
              <a:prstDash val="solid"/>
              <a:headEnd type="none" w="med" len="med"/>
              <a:tailEnd type="none" w="med" len="med"/>
            </a:ln>
          </p:spPr>
        </p:sp>
        <p:sp>
          <p:nvSpPr>
            <p:cNvPr id="52258" name="Line 26"/>
            <p:cNvSpPr/>
            <p:nvPr/>
          </p:nvSpPr>
          <p:spPr>
            <a:xfrm>
              <a:off x="4676" y="3120"/>
              <a:ext cx="96" cy="144"/>
            </a:xfrm>
            <a:prstGeom prst="line">
              <a:avLst/>
            </a:prstGeom>
            <a:ln w="9525" cap="flat" cmpd="sng">
              <a:solidFill>
                <a:srgbClr val="000000"/>
              </a:solidFill>
              <a:prstDash val="solid"/>
              <a:headEnd type="none" w="med" len="med"/>
              <a:tailEnd type="none" w="med" len="med"/>
            </a:ln>
          </p:spPr>
        </p:sp>
        <p:sp>
          <p:nvSpPr>
            <p:cNvPr id="52259" name="Oval 27"/>
            <p:cNvSpPr/>
            <p:nvPr/>
          </p:nvSpPr>
          <p:spPr>
            <a:xfrm>
              <a:off x="4188" y="3275"/>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B</a:t>
              </a:r>
              <a:endParaRPr lang="en-US" altLang="zh-CN" b="1" dirty="0">
                <a:solidFill>
                  <a:schemeClr val="accent1"/>
                </a:solidFill>
                <a:latin typeface="楷体_GB2312" panose="02010609030101010101" pitchFamily="49" charset="-122"/>
              </a:endParaRPr>
            </a:p>
          </p:txBody>
        </p:sp>
        <p:sp>
          <p:nvSpPr>
            <p:cNvPr id="52260" name="Line 28"/>
            <p:cNvSpPr/>
            <p:nvPr/>
          </p:nvSpPr>
          <p:spPr>
            <a:xfrm>
              <a:off x="4360" y="3579"/>
              <a:ext cx="152" cy="213"/>
            </a:xfrm>
            <a:prstGeom prst="line">
              <a:avLst/>
            </a:prstGeom>
            <a:ln w="9525" cap="flat" cmpd="sng">
              <a:solidFill>
                <a:srgbClr val="000000"/>
              </a:solidFill>
              <a:prstDash val="solid"/>
              <a:headEnd type="none" w="med" len="med"/>
              <a:tailEnd type="none" w="med" len="med"/>
            </a:ln>
          </p:spPr>
        </p:sp>
        <p:sp>
          <p:nvSpPr>
            <p:cNvPr id="52261" name="Oval 29"/>
            <p:cNvSpPr/>
            <p:nvPr/>
          </p:nvSpPr>
          <p:spPr>
            <a:xfrm>
              <a:off x="4944" y="3792"/>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E</a:t>
              </a:r>
              <a:endParaRPr lang="en-US" altLang="zh-CN" b="1" dirty="0">
                <a:solidFill>
                  <a:schemeClr val="accent1"/>
                </a:solidFill>
                <a:latin typeface="楷体_GB2312" panose="02010609030101010101" pitchFamily="49" charset="-122"/>
              </a:endParaRPr>
            </a:p>
          </p:txBody>
        </p:sp>
        <p:sp>
          <p:nvSpPr>
            <p:cNvPr id="52262" name="Line 30"/>
            <p:cNvSpPr/>
            <p:nvPr/>
          </p:nvSpPr>
          <p:spPr>
            <a:xfrm>
              <a:off x="4896" y="3552"/>
              <a:ext cx="192" cy="240"/>
            </a:xfrm>
            <a:prstGeom prst="line">
              <a:avLst/>
            </a:prstGeom>
            <a:ln w="9525" cap="flat" cmpd="sng">
              <a:solidFill>
                <a:srgbClr val="000000"/>
              </a:solidFill>
              <a:prstDash val="solid"/>
              <a:headEnd type="none" w="med" len="med"/>
              <a:tailEnd type="none" w="med" len="med"/>
            </a:ln>
          </p:spPr>
        </p:sp>
      </p:grpSp>
      <p:grpSp>
        <p:nvGrpSpPr>
          <p:cNvPr id="5" name="Group 31"/>
          <p:cNvGrpSpPr/>
          <p:nvPr/>
        </p:nvGrpSpPr>
        <p:grpSpPr>
          <a:xfrm>
            <a:off x="6584950" y="1752283"/>
            <a:ext cx="1276350" cy="1185862"/>
            <a:chOff x="4044" y="1056"/>
            <a:chExt cx="804" cy="747"/>
          </a:xfrm>
        </p:grpSpPr>
        <p:sp>
          <p:nvSpPr>
            <p:cNvPr id="52249" name="Oval 32"/>
            <p:cNvSpPr/>
            <p:nvPr/>
          </p:nvSpPr>
          <p:spPr>
            <a:xfrm>
              <a:off x="4312" y="1056"/>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A</a:t>
              </a:r>
              <a:endParaRPr lang="en-US" altLang="zh-CN" b="1" dirty="0">
                <a:solidFill>
                  <a:schemeClr val="accent1"/>
                </a:solidFill>
                <a:latin typeface="楷体_GB2312" panose="02010609030101010101" pitchFamily="49" charset="-122"/>
              </a:endParaRPr>
            </a:p>
          </p:txBody>
        </p:sp>
        <p:sp>
          <p:nvSpPr>
            <p:cNvPr id="52250" name="Oval 33"/>
            <p:cNvSpPr/>
            <p:nvPr/>
          </p:nvSpPr>
          <p:spPr>
            <a:xfrm>
              <a:off x="4532" y="149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C</a:t>
              </a:r>
              <a:endParaRPr lang="en-US" altLang="zh-CN" b="1" dirty="0">
                <a:solidFill>
                  <a:schemeClr val="accent1"/>
                </a:solidFill>
                <a:latin typeface="楷体_GB2312" panose="02010609030101010101" pitchFamily="49" charset="-122"/>
              </a:endParaRPr>
            </a:p>
          </p:txBody>
        </p:sp>
        <p:sp>
          <p:nvSpPr>
            <p:cNvPr id="52251" name="Line 34"/>
            <p:cNvSpPr/>
            <p:nvPr/>
          </p:nvSpPr>
          <p:spPr>
            <a:xfrm flipH="1">
              <a:off x="4292" y="1344"/>
              <a:ext cx="96" cy="144"/>
            </a:xfrm>
            <a:prstGeom prst="line">
              <a:avLst/>
            </a:prstGeom>
            <a:ln w="9525" cap="flat" cmpd="sng">
              <a:solidFill>
                <a:srgbClr val="000000"/>
              </a:solidFill>
              <a:prstDash val="solid"/>
              <a:headEnd type="none" w="med" len="med"/>
              <a:tailEnd type="none" w="med" len="med"/>
            </a:ln>
          </p:spPr>
        </p:sp>
        <p:sp>
          <p:nvSpPr>
            <p:cNvPr id="52252" name="Line 35"/>
            <p:cNvSpPr/>
            <p:nvPr/>
          </p:nvSpPr>
          <p:spPr>
            <a:xfrm>
              <a:off x="4532" y="1344"/>
              <a:ext cx="96" cy="144"/>
            </a:xfrm>
            <a:prstGeom prst="line">
              <a:avLst/>
            </a:prstGeom>
            <a:ln w="9525" cap="flat" cmpd="sng">
              <a:solidFill>
                <a:srgbClr val="000000"/>
              </a:solidFill>
              <a:prstDash val="solid"/>
              <a:headEnd type="none" w="med" len="med"/>
              <a:tailEnd type="none" w="med" len="med"/>
            </a:ln>
          </p:spPr>
        </p:sp>
        <p:sp>
          <p:nvSpPr>
            <p:cNvPr id="52253" name="Oval 36"/>
            <p:cNvSpPr/>
            <p:nvPr/>
          </p:nvSpPr>
          <p:spPr>
            <a:xfrm>
              <a:off x="4044" y="149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B</a:t>
              </a:r>
              <a:endParaRPr lang="en-US" altLang="zh-CN" b="1" dirty="0">
                <a:solidFill>
                  <a:schemeClr val="accent1"/>
                </a:solidFill>
                <a:latin typeface="楷体_GB2312" panose="02010609030101010101" pitchFamily="49" charset="-122"/>
              </a:endParaRPr>
            </a:p>
          </p:txBody>
        </p:sp>
      </p:grpSp>
      <p:sp>
        <p:nvSpPr>
          <p:cNvPr id="163877" name="Text Box 37"/>
          <p:cNvSpPr txBox="1"/>
          <p:nvPr/>
        </p:nvSpPr>
        <p:spPr>
          <a:xfrm>
            <a:off x="600710" y="2496820"/>
            <a:ext cx="5715000" cy="73723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进一步地，由二叉树的某两种遍历序列能否唯一确定该二叉树呢？</a:t>
            </a:r>
            <a:r>
              <a:rPr lang="zh-CN" altLang="en-US" sz="2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3878" name="Text Box 38"/>
          <p:cNvSpPr txBox="1"/>
          <p:nvPr/>
        </p:nvSpPr>
        <p:spPr>
          <a:xfrm>
            <a:off x="673735" y="3265170"/>
            <a:ext cx="4983480" cy="7067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Font typeface="Wingdings" panose="05000000000000000000" pitchFamily="2" charset="2"/>
              <a:buChar char="Ø"/>
            </a:pPr>
            <a:r>
              <a:rPr lang="zh-CN" altLang="en-US" sz="2000" b="1" dirty="0">
                <a:solidFill>
                  <a:schemeClr val="accent1"/>
                </a:solidFill>
                <a:latin typeface="微软雅黑" panose="020B0503020204020204" pitchFamily="34" charset="-122"/>
                <a:ea typeface="微软雅黑" panose="020B0503020204020204" pitchFamily="34" charset="-122"/>
              </a:rPr>
              <a:t>由中序与先序或者由中序与后序可唯一确定该二叉树。</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163879" name="Text Box 39"/>
          <p:cNvSpPr txBox="1"/>
          <p:nvPr/>
        </p:nvSpPr>
        <p:spPr>
          <a:xfrm>
            <a:off x="1117600" y="3942715"/>
            <a:ext cx="4539615" cy="1147445"/>
          </a:xfrm>
          <a:prstGeom prst="rect">
            <a:avLst/>
          </a:prstGeom>
          <a:noFill/>
          <a:ln w="9525">
            <a:noFill/>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80000"/>
              </a:lnSpc>
              <a:spcBef>
                <a:spcPct val="35000"/>
              </a:spcBef>
              <a:buNone/>
            </a:pPr>
            <a:r>
              <a:rPr lang="zh-CN" altLang="en-US" sz="22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例如，若已知某二叉树的</a:t>
            </a:r>
            <a:endPar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80000"/>
              </a:lnSpc>
              <a:spcBef>
                <a:spcPct val="35000"/>
              </a:spcBef>
              <a:buNone/>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先序序列：</a:t>
            </a:r>
            <a:r>
              <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ABDCE</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80000"/>
              </a:lnSpc>
              <a:spcBef>
                <a:spcPct val="35000"/>
              </a:spcBef>
              <a:buNone/>
            </a:pP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中序序列：</a:t>
            </a:r>
            <a:r>
              <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BDAEC </a:t>
            </a:r>
            <a:endPar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3880" name="Text Box 40"/>
          <p:cNvSpPr txBox="1"/>
          <p:nvPr/>
        </p:nvSpPr>
        <p:spPr>
          <a:xfrm>
            <a:off x="600710" y="5090160"/>
            <a:ext cx="6714490" cy="515620"/>
          </a:xfrm>
          <a:prstGeom prst="rect">
            <a:avLst/>
          </a:prstGeom>
          <a:noFill/>
          <a:ln w="9525">
            <a:noFill/>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Font typeface="Wingdings" panose="05000000000000000000" pitchFamily="2" charset="2"/>
              <a:buChar char="Ø"/>
            </a:pPr>
            <a:r>
              <a:rPr lang="zh-CN" altLang="en-US" sz="2000" b="1" dirty="0">
                <a:solidFill>
                  <a:schemeClr val="accent1"/>
                </a:solidFill>
                <a:latin typeface="微软雅黑" panose="020B0503020204020204" pitchFamily="34" charset="-122"/>
                <a:ea typeface="微软雅黑" panose="020B0503020204020204" pitchFamily="34" charset="-122"/>
              </a:rPr>
              <a:t>由先序与后序不能唯一确定该二叉树。</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163881" name="Text Box 41"/>
          <p:cNvSpPr txBox="1"/>
          <p:nvPr/>
        </p:nvSpPr>
        <p:spPr>
          <a:xfrm>
            <a:off x="1273175" y="5441950"/>
            <a:ext cx="4658360" cy="9086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70000"/>
              </a:lnSpc>
              <a:spcBef>
                <a:spcPct val="35000"/>
              </a:spcBef>
              <a:buNone/>
            </a:pPr>
            <a:r>
              <a:rPr lang="zh-CN" altLang="en-US" sz="22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例如，二者的</a:t>
            </a:r>
            <a:endPar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70000"/>
              </a:lnSpc>
              <a:spcBef>
                <a:spcPct val="35000"/>
              </a:spcBef>
              <a:buNone/>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先序序列：</a:t>
            </a:r>
            <a:r>
              <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ABDCE</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70000"/>
              </a:lnSpc>
              <a:spcBef>
                <a:spcPct val="35000"/>
              </a:spcBef>
              <a:buNone/>
            </a:pP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后序序列：</a:t>
            </a:r>
            <a:r>
              <a:rPr lang="en-US" altLang="en-US"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DBECA</a:t>
            </a:r>
            <a:r>
              <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6" name="Group 42"/>
          <p:cNvGrpSpPr/>
          <p:nvPr/>
        </p:nvGrpSpPr>
        <p:grpSpPr>
          <a:xfrm>
            <a:off x="6216650" y="2847340"/>
            <a:ext cx="1981200" cy="2000250"/>
            <a:chOff x="672" y="1296"/>
            <a:chExt cx="1248" cy="1260"/>
          </a:xfrm>
        </p:grpSpPr>
        <p:sp>
          <p:nvSpPr>
            <p:cNvPr id="52240" name="Oval 43"/>
            <p:cNvSpPr/>
            <p:nvPr/>
          </p:nvSpPr>
          <p:spPr>
            <a:xfrm>
              <a:off x="1440" y="225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E</a:t>
              </a:r>
              <a:endParaRPr lang="en-US" altLang="zh-CN" b="1" dirty="0">
                <a:solidFill>
                  <a:schemeClr val="accent1"/>
                </a:solidFill>
                <a:latin typeface="楷体_GB2312" panose="02010609030101010101" pitchFamily="49" charset="-122"/>
              </a:endParaRPr>
            </a:p>
          </p:txBody>
        </p:sp>
        <p:sp>
          <p:nvSpPr>
            <p:cNvPr id="52241" name="Oval 44"/>
            <p:cNvSpPr/>
            <p:nvPr/>
          </p:nvSpPr>
          <p:spPr>
            <a:xfrm>
              <a:off x="1152" y="1296"/>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A</a:t>
              </a:r>
              <a:endParaRPr lang="en-US" altLang="zh-CN" b="1" dirty="0">
                <a:solidFill>
                  <a:schemeClr val="accent1"/>
                </a:solidFill>
                <a:latin typeface="楷体_GB2312" panose="02010609030101010101" pitchFamily="49" charset="-122"/>
              </a:endParaRPr>
            </a:p>
          </p:txBody>
        </p:sp>
        <p:sp>
          <p:nvSpPr>
            <p:cNvPr id="52242" name="Oval 45"/>
            <p:cNvSpPr/>
            <p:nvPr/>
          </p:nvSpPr>
          <p:spPr>
            <a:xfrm>
              <a:off x="1604" y="173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C</a:t>
              </a:r>
              <a:endParaRPr lang="en-US" altLang="zh-CN" b="1" dirty="0">
                <a:solidFill>
                  <a:schemeClr val="accent1"/>
                </a:solidFill>
                <a:latin typeface="楷体_GB2312" panose="02010609030101010101" pitchFamily="49" charset="-122"/>
              </a:endParaRPr>
            </a:p>
          </p:txBody>
        </p:sp>
        <p:sp>
          <p:nvSpPr>
            <p:cNvPr id="52243" name="Line 46"/>
            <p:cNvSpPr/>
            <p:nvPr/>
          </p:nvSpPr>
          <p:spPr>
            <a:xfrm flipH="1">
              <a:off x="864" y="1584"/>
              <a:ext cx="364" cy="144"/>
            </a:xfrm>
            <a:prstGeom prst="line">
              <a:avLst/>
            </a:prstGeom>
            <a:ln w="9525" cap="flat" cmpd="sng">
              <a:solidFill>
                <a:srgbClr val="000000"/>
              </a:solidFill>
              <a:prstDash val="solid"/>
              <a:headEnd type="none" w="med" len="med"/>
              <a:tailEnd type="none" w="med" len="med"/>
            </a:ln>
          </p:spPr>
        </p:sp>
        <p:sp>
          <p:nvSpPr>
            <p:cNvPr id="52244" name="Line 47"/>
            <p:cNvSpPr/>
            <p:nvPr/>
          </p:nvSpPr>
          <p:spPr>
            <a:xfrm>
              <a:off x="1392" y="1584"/>
              <a:ext cx="336" cy="144"/>
            </a:xfrm>
            <a:prstGeom prst="line">
              <a:avLst/>
            </a:prstGeom>
            <a:ln w="9525" cap="flat" cmpd="sng">
              <a:solidFill>
                <a:srgbClr val="000000"/>
              </a:solidFill>
              <a:prstDash val="solid"/>
              <a:headEnd type="none" w="med" len="med"/>
              <a:tailEnd type="none" w="med" len="med"/>
            </a:ln>
          </p:spPr>
        </p:sp>
        <p:sp>
          <p:nvSpPr>
            <p:cNvPr id="52245" name="Oval 48"/>
            <p:cNvSpPr/>
            <p:nvPr/>
          </p:nvSpPr>
          <p:spPr>
            <a:xfrm>
              <a:off x="672" y="173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B</a:t>
              </a:r>
              <a:endParaRPr lang="en-US" altLang="zh-CN" b="1" dirty="0">
                <a:solidFill>
                  <a:schemeClr val="accent1"/>
                </a:solidFill>
                <a:latin typeface="楷体_GB2312" panose="02010609030101010101" pitchFamily="49" charset="-122"/>
              </a:endParaRPr>
            </a:p>
          </p:txBody>
        </p:sp>
        <p:sp>
          <p:nvSpPr>
            <p:cNvPr id="52246" name="Line 49"/>
            <p:cNvSpPr/>
            <p:nvPr/>
          </p:nvSpPr>
          <p:spPr>
            <a:xfrm flipH="1">
              <a:off x="1632" y="2059"/>
              <a:ext cx="96" cy="197"/>
            </a:xfrm>
            <a:prstGeom prst="line">
              <a:avLst/>
            </a:prstGeom>
            <a:ln w="9525" cap="flat" cmpd="sng">
              <a:solidFill>
                <a:srgbClr val="000000"/>
              </a:solidFill>
              <a:prstDash val="solid"/>
              <a:headEnd type="none" w="med" len="med"/>
              <a:tailEnd type="none" w="med" len="med"/>
            </a:ln>
          </p:spPr>
        </p:sp>
        <p:sp>
          <p:nvSpPr>
            <p:cNvPr id="52247" name="Oval 50"/>
            <p:cNvSpPr/>
            <p:nvPr/>
          </p:nvSpPr>
          <p:spPr>
            <a:xfrm>
              <a:off x="864" y="225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D</a:t>
              </a:r>
              <a:endParaRPr lang="en-US" altLang="zh-CN" b="1" dirty="0">
                <a:solidFill>
                  <a:schemeClr val="accent1"/>
                </a:solidFill>
                <a:latin typeface="楷体_GB2312" panose="02010609030101010101" pitchFamily="49" charset="-122"/>
              </a:endParaRPr>
            </a:p>
          </p:txBody>
        </p:sp>
        <p:sp>
          <p:nvSpPr>
            <p:cNvPr id="52248" name="Line 51"/>
            <p:cNvSpPr/>
            <p:nvPr/>
          </p:nvSpPr>
          <p:spPr>
            <a:xfrm>
              <a:off x="864" y="2016"/>
              <a:ext cx="96" cy="240"/>
            </a:xfrm>
            <a:prstGeom prst="line">
              <a:avLst/>
            </a:prstGeom>
            <a:ln w="9525" cap="flat" cmpd="sng">
              <a:solidFill>
                <a:srgbClr val="000000"/>
              </a:solidFill>
              <a:prstDash val="solid"/>
              <a:headEnd type="none" w="med" len="med"/>
              <a:tailEnd type="none" w="med" len="med"/>
            </a:ln>
          </p:spPr>
        </p:sp>
      </p:grpSp>
      <p:sp>
        <p:nvSpPr>
          <p:cNvPr id="163893" name="Rectangle 53"/>
          <p:cNvSpPr/>
          <p:nvPr/>
        </p:nvSpPr>
        <p:spPr>
          <a:xfrm>
            <a:off x="1450658" y="2133283"/>
            <a:ext cx="2934970" cy="313690"/>
          </a:xfrm>
          <a:prstGeom prst="rect">
            <a:avLst/>
          </a:prstGeom>
          <a:noFill/>
          <a:ln w="3175">
            <a:noFill/>
          </a:ln>
        </p:spPr>
        <p:txBody>
          <a:bodyPr wrap="non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lnSpc>
                <a:spcPct val="80000"/>
              </a:lnSpc>
              <a:spcBef>
                <a:spcPct val="30000"/>
              </a:spcBef>
              <a:buNone/>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例如，先序序列均为：</a:t>
            </a:r>
            <a:r>
              <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ABC</a:t>
            </a:r>
            <a:endPar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课堂练习</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11" name="组合 10"/>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12" name="文本框 11"/>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6066" y="10351"/>
                <a:ext cx="428" cy="319"/>
                <a:chOff x="1180190" y="6561344"/>
                <a:chExt cx="271682" cy="202424"/>
              </a:xfrm>
            </p:grpSpPr>
            <p:sp>
              <p:nvSpPr>
                <p:cNvPr id="14" name="燕尾形 13"/>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grpSp>
        <p:nvGrpSpPr>
          <p:cNvPr id="17" name="Group 3"/>
          <p:cNvGrpSpPr/>
          <p:nvPr/>
        </p:nvGrpSpPr>
        <p:grpSpPr>
          <a:xfrm>
            <a:off x="7391400" y="4437380"/>
            <a:ext cx="1612900" cy="2000250"/>
            <a:chOff x="3064" y="2832"/>
            <a:chExt cx="1016" cy="1260"/>
          </a:xfrm>
        </p:grpSpPr>
        <p:sp>
          <p:nvSpPr>
            <p:cNvPr id="18" name="Oval 4"/>
            <p:cNvSpPr/>
            <p:nvPr/>
          </p:nvSpPr>
          <p:spPr>
            <a:xfrm>
              <a:off x="3064" y="3766"/>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D</a:t>
              </a:r>
              <a:endParaRPr lang="en-US" altLang="zh-CN" b="1" dirty="0">
                <a:solidFill>
                  <a:schemeClr val="accent1"/>
                </a:solidFill>
                <a:latin typeface="楷体_GB2312" panose="02010609030101010101" pitchFamily="49" charset="-122"/>
              </a:endParaRPr>
            </a:p>
          </p:txBody>
        </p:sp>
        <p:sp>
          <p:nvSpPr>
            <p:cNvPr id="19" name="Oval 5"/>
            <p:cNvSpPr/>
            <p:nvPr/>
          </p:nvSpPr>
          <p:spPr>
            <a:xfrm>
              <a:off x="3544" y="2832"/>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A</a:t>
              </a:r>
              <a:endParaRPr lang="en-US" altLang="zh-CN" b="1" dirty="0">
                <a:solidFill>
                  <a:schemeClr val="accent1"/>
                </a:solidFill>
                <a:latin typeface="楷体_GB2312" panose="02010609030101010101" pitchFamily="49" charset="-122"/>
              </a:endParaRPr>
            </a:p>
          </p:txBody>
        </p:sp>
        <p:sp>
          <p:nvSpPr>
            <p:cNvPr id="20" name="Oval 6"/>
            <p:cNvSpPr/>
            <p:nvPr/>
          </p:nvSpPr>
          <p:spPr>
            <a:xfrm>
              <a:off x="3764" y="3275"/>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C</a:t>
              </a:r>
              <a:endParaRPr lang="en-US" altLang="zh-CN" b="1" dirty="0">
                <a:solidFill>
                  <a:schemeClr val="accent1"/>
                </a:solidFill>
                <a:latin typeface="楷体_GB2312" panose="02010609030101010101" pitchFamily="49" charset="-122"/>
              </a:endParaRPr>
            </a:p>
          </p:txBody>
        </p:sp>
        <p:sp>
          <p:nvSpPr>
            <p:cNvPr id="21" name="Line 7"/>
            <p:cNvSpPr/>
            <p:nvPr/>
          </p:nvSpPr>
          <p:spPr>
            <a:xfrm flipH="1">
              <a:off x="3524" y="3120"/>
              <a:ext cx="96" cy="144"/>
            </a:xfrm>
            <a:prstGeom prst="line">
              <a:avLst/>
            </a:prstGeom>
            <a:ln w="9525" cap="flat" cmpd="sng">
              <a:solidFill>
                <a:srgbClr val="000000"/>
              </a:solidFill>
              <a:prstDash val="solid"/>
              <a:headEnd type="none" w="med" len="med"/>
              <a:tailEnd type="none" w="med" len="med"/>
            </a:ln>
          </p:spPr>
        </p:sp>
        <p:sp>
          <p:nvSpPr>
            <p:cNvPr id="22" name="Line 8"/>
            <p:cNvSpPr/>
            <p:nvPr/>
          </p:nvSpPr>
          <p:spPr>
            <a:xfrm>
              <a:off x="3764" y="3120"/>
              <a:ext cx="96" cy="144"/>
            </a:xfrm>
            <a:prstGeom prst="line">
              <a:avLst/>
            </a:prstGeom>
            <a:ln w="9525" cap="flat" cmpd="sng">
              <a:solidFill>
                <a:srgbClr val="000000"/>
              </a:solidFill>
              <a:prstDash val="solid"/>
              <a:headEnd type="none" w="med" len="med"/>
              <a:tailEnd type="none" w="med" len="med"/>
            </a:ln>
          </p:spPr>
        </p:sp>
        <p:sp>
          <p:nvSpPr>
            <p:cNvPr id="23" name="Oval 9"/>
            <p:cNvSpPr/>
            <p:nvPr/>
          </p:nvSpPr>
          <p:spPr>
            <a:xfrm>
              <a:off x="3276" y="3275"/>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B</a:t>
              </a:r>
              <a:endParaRPr lang="en-US" altLang="zh-CN" b="1" dirty="0">
                <a:solidFill>
                  <a:schemeClr val="accent1"/>
                </a:solidFill>
                <a:latin typeface="楷体_GB2312" panose="02010609030101010101" pitchFamily="49" charset="-122"/>
              </a:endParaRPr>
            </a:p>
          </p:txBody>
        </p:sp>
        <p:sp>
          <p:nvSpPr>
            <p:cNvPr id="24" name="Line 10"/>
            <p:cNvSpPr/>
            <p:nvPr/>
          </p:nvSpPr>
          <p:spPr>
            <a:xfrm flipH="1">
              <a:off x="3256" y="3579"/>
              <a:ext cx="144" cy="197"/>
            </a:xfrm>
            <a:prstGeom prst="line">
              <a:avLst/>
            </a:prstGeom>
            <a:ln w="9525" cap="flat" cmpd="sng">
              <a:solidFill>
                <a:srgbClr val="000000"/>
              </a:solidFill>
              <a:prstDash val="solid"/>
              <a:headEnd type="none" w="med" len="med"/>
              <a:tailEnd type="none" w="med" len="med"/>
            </a:ln>
          </p:spPr>
        </p:sp>
        <p:sp>
          <p:nvSpPr>
            <p:cNvPr id="25" name="Oval 11"/>
            <p:cNvSpPr/>
            <p:nvPr/>
          </p:nvSpPr>
          <p:spPr>
            <a:xfrm>
              <a:off x="3496" y="3787"/>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E</a:t>
              </a:r>
              <a:endParaRPr lang="en-US" altLang="zh-CN" b="1" dirty="0">
                <a:solidFill>
                  <a:schemeClr val="accent1"/>
                </a:solidFill>
                <a:latin typeface="楷体_GB2312" panose="02010609030101010101" pitchFamily="49" charset="-122"/>
              </a:endParaRPr>
            </a:p>
          </p:txBody>
        </p:sp>
        <p:sp>
          <p:nvSpPr>
            <p:cNvPr id="26" name="Line 12"/>
            <p:cNvSpPr/>
            <p:nvPr/>
          </p:nvSpPr>
          <p:spPr>
            <a:xfrm flipH="1">
              <a:off x="3688" y="3552"/>
              <a:ext cx="152" cy="240"/>
            </a:xfrm>
            <a:prstGeom prst="line">
              <a:avLst/>
            </a:prstGeom>
            <a:ln w="9525" cap="flat" cmpd="sng">
              <a:solidFill>
                <a:srgbClr val="000000"/>
              </a:solidFill>
              <a:prstDash val="soli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54">
                                            <p:txEl>
                                              <p:charRg st="0" end="7"/>
                                            </p:txEl>
                                          </p:spTgt>
                                        </p:tgtEl>
                                        <p:attrNameLst>
                                          <p:attrName>style.visibility</p:attrName>
                                        </p:attrNameLst>
                                      </p:cBhvr>
                                      <p:to>
                                        <p:strVal val="visible"/>
                                      </p:to>
                                    </p:set>
                                    <p:animEffect transition="in" filter="fade">
                                      <p:cBhvr>
                                        <p:cTn id="7" dur="2000"/>
                                        <p:tgtEl>
                                          <p:spTgt spid="163854">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93"/>
                                        </p:tgtEl>
                                        <p:attrNameLst>
                                          <p:attrName>style.visibility</p:attrName>
                                        </p:attrNameLst>
                                      </p:cBhvr>
                                      <p:to>
                                        <p:strVal val="visible"/>
                                      </p:to>
                                    </p:set>
                                    <p:animEffect transition="in" filter="wipe(left)">
                                      <p:cBhvr>
                                        <p:cTn id="12" dur="500"/>
                                        <p:tgtEl>
                                          <p:spTgt spid="1638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up)">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63877"/>
                                        </p:tgtEl>
                                        <p:attrNameLst>
                                          <p:attrName>style.visibility</p:attrName>
                                        </p:attrNameLst>
                                      </p:cBhvr>
                                      <p:to>
                                        <p:strVal val="visible"/>
                                      </p:to>
                                    </p:set>
                                    <p:animEffect transition="in" filter="strips(downRight)">
                                      <p:cBhvr>
                                        <p:cTn id="26" dur="1000"/>
                                        <p:tgtEl>
                                          <p:spTgt spid="16387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6" fill="hold" grpId="0" nodeType="clickEffect">
                                  <p:stCondLst>
                                    <p:cond delay="0"/>
                                  </p:stCondLst>
                                  <p:childTnLst>
                                    <p:set>
                                      <p:cBhvr>
                                        <p:cTn id="30" dur="1" fill="hold">
                                          <p:stCondLst>
                                            <p:cond delay="0"/>
                                          </p:stCondLst>
                                        </p:cTn>
                                        <p:tgtEl>
                                          <p:spTgt spid="163878"/>
                                        </p:tgtEl>
                                        <p:attrNameLst>
                                          <p:attrName>style.visibility</p:attrName>
                                        </p:attrNameLst>
                                      </p:cBhvr>
                                      <p:to>
                                        <p:strVal val="visible"/>
                                      </p:to>
                                    </p:set>
                                    <p:anim calcmode="lin" valueType="num">
                                      <p:cBhvr additive="base">
                                        <p:cTn id="31" dur="500" fill="hold"/>
                                        <p:tgtEl>
                                          <p:spTgt spid="163878"/>
                                        </p:tgtEl>
                                        <p:attrNameLst>
                                          <p:attrName>ppt_x</p:attrName>
                                        </p:attrNameLst>
                                      </p:cBhvr>
                                      <p:tavLst>
                                        <p:tav tm="0">
                                          <p:val>
                                            <p:strVal val="1+#ppt_w/2"/>
                                          </p:val>
                                        </p:tav>
                                        <p:tav tm="100000">
                                          <p:val>
                                            <p:strVal val="#ppt_x"/>
                                          </p:val>
                                        </p:tav>
                                      </p:tavLst>
                                    </p:anim>
                                    <p:anim calcmode="lin" valueType="num">
                                      <p:cBhvr additive="base">
                                        <p:cTn id="32" dur="500" fill="hold"/>
                                        <p:tgtEl>
                                          <p:spTgt spid="16387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63879"/>
                                        </p:tgtEl>
                                        <p:attrNameLst>
                                          <p:attrName>style.visibility</p:attrName>
                                        </p:attrNameLst>
                                      </p:cBhvr>
                                      <p:to>
                                        <p:strVal val="visible"/>
                                      </p:to>
                                    </p:set>
                                    <p:animEffect transition="in" filter="slide(fromBottom)">
                                      <p:cBhvr>
                                        <p:cTn id="37" dur="500"/>
                                        <p:tgtEl>
                                          <p:spTgt spid="16387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up)">
                                      <p:cBhvr>
                                        <p:cTn id="42" dur="1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6" fill="hold" grpId="0" nodeType="clickEffect">
                                  <p:stCondLst>
                                    <p:cond delay="0"/>
                                  </p:stCondLst>
                                  <p:childTnLst>
                                    <p:set>
                                      <p:cBhvr>
                                        <p:cTn id="46" dur="1" fill="hold">
                                          <p:stCondLst>
                                            <p:cond delay="0"/>
                                          </p:stCondLst>
                                        </p:cTn>
                                        <p:tgtEl>
                                          <p:spTgt spid="163880"/>
                                        </p:tgtEl>
                                        <p:attrNameLst>
                                          <p:attrName>style.visibility</p:attrName>
                                        </p:attrNameLst>
                                      </p:cBhvr>
                                      <p:to>
                                        <p:strVal val="visible"/>
                                      </p:to>
                                    </p:set>
                                    <p:anim calcmode="lin" valueType="num">
                                      <p:cBhvr additive="base">
                                        <p:cTn id="47" dur="500" fill="hold"/>
                                        <p:tgtEl>
                                          <p:spTgt spid="163880"/>
                                        </p:tgtEl>
                                        <p:attrNameLst>
                                          <p:attrName>ppt_x</p:attrName>
                                        </p:attrNameLst>
                                      </p:cBhvr>
                                      <p:tavLst>
                                        <p:tav tm="0">
                                          <p:val>
                                            <p:strVal val="1+#ppt_w/2"/>
                                          </p:val>
                                        </p:tav>
                                        <p:tav tm="100000">
                                          <p:val>
                                            <p:strVal val="#ppt_x"/>
                                          </p:val>
                                        </p:tav>
                                      </p:tavLst>
                                    </p:anim>
                                    <p:anim calcmode="lin" valueType="num">
                                      <p:cBhvr additive="base">
                                        <p:cTn id="48" dur="500" fill="hold"/>
                                        <p:tgtEl>
                                          <p:spTgt spid="163880"/>
                                        </p:tgtEl>
                                        <p:attrNameLst>
                                          <p:attrName>ppt_y</p:attrName>
                                        </p:attrNameLst>
                                      </p:cBhvr>
                                      <p:tavLst>
                                        <p:tav tm="0">
                                          <p:val>
                                            <p:strVal val="1+#ppt_h/2"/>
                                          </p:val>
                                        </p:tav>
                                        <p:tav tm="100000">
                                          <p:val>
                                            <p:strVal val="#ppt_y"/>
                                          </p:val>
                                        </p:tav>
                                      </p:tavLst>
                                    </p:anim>
                                  </p:childTnLst>
                                </p:cTn>
                              </p:par>
                            </p:childTnLst>
                          </p:cTn>
                        </p:par>
                        <p:par>
                          <p:cTn id="49" fill="hold">
                            <p:stCondLst>
                              <p:cond delay="500"/>
                            </p:stCondLst>
                            <p:childTnLst>
                              <p:par>
                                <p:cTn id="50" presetID="12" presetClass="entr" presetSubtype="4" fill="hold" grpId="0" nodeType="afterEffect">
                                  <p:stCondLst>
                                    <p:cond delay="0"/>
                                  </p:stCondLst>
                                  <p:childTnLst>
                                    <p:set>
                                      <p:cBhvr>
                                        <p:cTn id="51" dur="1" fill="hold">
                                          <p:stCondLst>
                                            <p:cond delay="0"/>
                                          </p:stCondLst>
                                        </p:cTn>
                                        <p:tgtEl>
                                          <p:spTgt spid="163881"/>
                                        </p:tgtEl>
                                        <p:attrNameLst>
                                          <p:attrName>style.visibility</p:attrName>
                                        </p:attrNameLst>
                                      </p:cBhvr>
                                      <p:to>
                                        <p:strVal val="visible"/>
                                      </p:to>
                                    </p:set>
                                    <p:animEffect transition="in" filter="slide(fromBottom)">
                                      <p:cBhvr>
                                        <p:cTn id="52" dur="500"/>
                                        <p:tgtEl>
                                          <p:spTgt spid="163881"/>
                                        </p:tgtEl>
                                      </p:cBhvr>
                                    </p:animEffect>
                                  </p:childTnLst>
                                </p:cTn>
                              </p:par>
                            </p:childTnLst>
                          </p:cTn>
                        </p:par>
                        <p:par>
                          <p:cTn id="53" fill="hold">
                            <p:stCondLst>
                              <p:cond delay="1000"/>
                            </p:stCondLst>
                            <p:childTnLst>
                              <p:par>
                                <p:cTn id="54" presetID="22" presetClass="entr" presetSubtype="1" fill="hold" nodeType="after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wipe(up)">
                                      <p:cBhvr>
                                        <p:cTn id="56" dur="500"/>
                                        <p:tgtEl>
                                          <p:spTgt spid="4"/>
                                        </p:tgtEl>
                                      </p:cBhvr>
                                    </p:animEffect>
                                  </p:childTnLst>
                                </p:cTn>
                              </p:par>
                            </p:childTnLst>
                          </p:cTn>
                        </p:par>
                        <p:par>
                          <p:cTn id="57" fill="hold">
                            <p:stCondLst>
                              <p:cond delay="1500"/>
                            </p:stCondLst>
                            <p:childTnLst>
                              <p:par>
                                <p:cTn id="58" presetID="22" presetClass="entr" presetSubtype="1" fill="hold" nodeType="after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up)">
                                      <p:cBhvr>
                                        <p:cTn id="6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54" grpId="0" build="allAtOnce"/>
      <p:bldP spid="163877" grpId="0"/>
      <p:bldP spid="163878" grpId="0"/>
      <p:bldP spid="163879" grpId="0"/>
      <p:bldP spid="163880" grpId="0"/>
      <p:bldP spid="163881" grpId="0"/>
      <p:bldP spid="16389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1" name="Rectangle 3"/>
          <p:cNvSpPr/>
          <p:nvPr/>
        </p:nvSpPr>
        <p:spPr>
          <a:xfrm>
            <a:off x="85725" y="904240"/>
            <a:ext cx="10871835" cy="1305560"/>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遍历操作非常重要，它是实现二叉树的其他操作的基础。例如，查找二叉树中满足某个条件的所有结点的操作就可以利用遍历操作来完成。</a:t>
            </a:r>
            <a:endParaRPr lang="zh-CN" altLang="en-US" sz="2000" b="1" dirty="0">
              <a:latin typeface="微软雅黑" panose="020B0503020204020204" pitchFamily="34" charset="-122"/>
              <a:ea typeface="微软雅黑" panose="020B0503020204020204" pitchFamily="34" charset="-122"/>
            </a:endParaRPr>
          </a:p>
        </p:txBody>
      </p:sp>
      <p:sp>
        <p:nvSpPr>
          <p:cNvPr id="164868" name="Text Box 4"/>
          <p:cNvSpPr txBox="1"/>
          <p:nvPr/>
        </p:nvSpPr>
        <p:spPr>
          <a:xfrm>
            <a:off x="960755" y="3111500"/>
            <a:ext cx="6019800" cy="261683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85000"/>
              </a:lnSpc>
              <a:spcBef>
                <a:spcPct val="35000"/>
              </a:spcBef>
              <a:buNone/>
            </a:pPr>
            <a:r>
              <a:rPr lang="en-US" altLang="zh-CN" dirty="0">
                <a:solidFill>
                  <a:srgbClr val="000000"/>
                </a:solidFill>
                <a:latin typeface="Times New Roman" panose="02020603050405020304" pitchFamily="18" charset="0"/>
                <a:cs typeface="Times New Roman" panose="02020603050405020304" pitchFamily="18" charset="0"/>
              </a:rPr>
              <a:t>void FindNodes(BiTree T){</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5000"/>
              </a:lnSpc>
              <a:spcBef>
                <a:spcPct val="35000"/>
              </a:spcBef>
              <a:buNone/>
            </a:pPr>
            <a:r>
              <a:rPr lang="en-US" altLang="zh-CN" dirty="0">
                <a:solidFill>
                  <a:srgbClr val="000000"/>
                </a:solidFill>
                <a:latin typeface="Times New Roman" panose="02020603050405020304" pitchFamily="18" charset="0"/>
                <a:cs typeface="Times New Roman" panose="02020603050405020304" pitchFamily="18" charset="0"/>
              </a:rPr>
              <a:t>	if(T==NULL)return;</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5000"/>
              </a:lnSpc>
              <a:spcBef>
                <a:spcPct val="35000"/>
              </a:spcBef>
              <a:buNone/>
            </a:pPr>
            <a:r>
              <a:rPr lang="en-US" altLang="zh-CN" dirty="0">
                <a:solidFill>
                  <a:srgbClr val="000000"/>
                </a:solidFill>
                <a:latin typeface="Times New Roman" panose="02020603050405020304" pitchFamily="18" charset="0"/>
                <a:cs typeface="Times New Roman" panose="02020603050405020304" pitchFamily="18" charset="0"/>
              </a:rPr>
              <a:t>	if(T-&gt;data&gt;=100)printf(T-&gt;data);</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5000"/>
              </a:lnSpc>
              <a:spcBef>
                <a:spcPct val="35000"/>
              </a:spcBef>
              <a:buNone/>
            </a:pPr>
            <a:r>
              <a:rPr lang="en-US" altLang="zh-CN" dirty="0">
                <a:solidFill>
                  <a:srgbClr val="000000"/>
                </a:solidFill>
                <a:latin typeface="Times New Roman" panose="02020603050405020304" pitchFamily="18" charset="0"/>
                <a:cs typeface="Times New Roman" panose="02020603050405020304" pitchFamily="18" charset="0"/>
              </a:rPr>
              <a:t>	FindNodes(T-&gt;lchild);</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5000"/>
              </a:lnSpc>
              <a:spcBef>
                <a:spcPct val="35000"/>
              </a:spcBef>
              <a:buNone/>
            </a:pPr>
            <a:r>
              <a:rPr lang="en-US" altLang="zh-CN" dirty="0">
                <a:solidFill>
                  <a:srgbClr val="000000"/>
                </a:solidFill>
                <a:latin typeface="Times New Roman" panose="02020603050405020304" pitchFamily="18" charset="0"/>
                <a:cs typeface="Times New Roman" panose="02020603050405020304" pitchFamily="18" charset="0"/>
              </a:rPr>
              <a:t>	FindNodes(T-&gt;rchild);</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5000"/>
              </a:lnSpc>
              <a:spcBef>
                <a:spcPct val="35000"/>
              </a:spcBef>
              <a:buNone/>
            </a:pPr>
            <a:r>
              <a:rPr lang="en-US" altLang="zh-CN" dirty="0">
                <a:solidFill>
                  <a:srgbClr val="000000"/>
                </a:solidFill>
                <a:latin typeface="Times New Roman" panose="02020603050405020304" pitchFamily="18" charset="0"/>
                <a:cs typeface="Times New Roman" panose="02020603050405020304" pitchFamily="18" charset="0"/>
              </a:rPr>
              <a:t>} //FindNodes</a:t>
            </a:r>
            <a:endParaRPr lang="en-US" altLang="zh-CN" dirty="0">
              <a:solidFill>
                <a:srgbClr val="000000"/>
              </a:solidFill>
              <a:latin typeface="Times New Roman" panose="02020603050405020304" pitchFamily="18" charset="0"/>
              <a:cs typeface="Times New Roman" panose="02020603050405020304" pitchFamily="18" charset="0"/>
            </a:endParaRPr>
          </a:p>
        </p:txBody>
      </p:sp>
      <p:sp>
        <p:nvSpPr>
          <p:cNvPr id="164869" name="Rectangle 5"/>
          <p:cNvSpPr/>
          <p:nvPr/>
        </p:nvSpPr>
        <p:spPr>
          <a:xfrm>
            <a:off x="960755" y="4254500"/>
            <a:ext cx="6705600" cy="2412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80000"/>
              </a:lnSpc>
              <a:spcBef>
                <a:spcPct val="30000"/>
              </a:spcBef>
              <a:buNone/>
            </a:pPr>
            <a:r>
              <a:rPr lang="en-US" altLang="zh-CN" dirty="0">
                <a:solidFill>
                  <a:srgbClr val="000000"/>
                </a:solidFill>
                <a:latin typeface="Times New Roman" panose="02020603050405020304" pitchFamily="18" charset="0"/>
                <a:cs typeface="Times New Roman" panose="02020603050405020304" pitchFamily="18" charset="0"/>
              </a:rPr>
              <a:t>void PreOrderTraverse(BiTree T){</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dirty="0">
                <a:solidFill>
                  <a:srgbClr val="000000"/>
                </a:solidFill>
                <a:latin typeface="Times New Roman" panose="02020603050405020304" pitchFamily="18" charset="0"/>
                <a:cs typeface="Times New Roman" panose="02020603050405020304" pitchFamily="18" charset="0"/>
              </a:rPr>
              <a:t>	if(T==NULL)return; 	</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dirty="0">
                <a:solidFill>
                  <a:srgbClr val="000000"/>
                </a:solidFill>
                <a:latin typeface="Times New Roman" panose="02020603050405020304" pitchFamily="18" charset="0"/>
                <a:cs typeface="Times New Roman" panose="02020603050405020304" pitchFamily="18" charset="0"/>
              </a:rPr>
              <a:t>	visit(T-&gt;data);</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dirty="0">
                <a:solidFill>
                  <a:srgbClr val="000000"/>
                </a:solidFill>
                <a:latin typeface="Times New Roman" panose="02020603050405020304" pitchFamily="18" charset="0"/>
                <a:cs typeface="Times New Roman" panose="02020603050405020304" pitchFamily="18" charset="0"/>
              </a:rPr>
              <a:t>	PreOrderTraverse(T-&gt;lchild);</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dirty="0">
                <a:solidFill>
                  <a:srgbClr val="000000"/>
                </a:solidFill>
                <a:latin typeface="Times New Roman" panose="02020603050405020304" pitchFamily="18" charset="0"/>
                <a:cs typeface="Times New Roman" panose="02020603050405020304" pitchFamily="18" charset="0"/>
              </a:rPr>
              <a:t> 	PreOrderTraverse(T-&gt;rchild);</a:t>
            </a:r>
            <a:endParaRPr lang="en-US" altLang="zh-CN"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dirty="0">
                <a:solidFill>
                  <a:srgbClr val="000000"/>
                </a:solidFill>
                <a:latin typeface="Times New Roman" panose="02020603050405020304" pitchFamily="18" charset="0"/>
                <a:cs typeface="Times New Roman" panose="02020603050405020304" pitchFamily="18" charset="0"/>
              </a:rPr>
              <a:t>} //PreOrderTraverse</a:t>
            </a:r>
            <a:endParaRPr lang="en-US" altLang="zh-CN" dirty="0">
              <a:solidFill>
                <a:srgbClr val="000000"/>
              </a:solidFill>
              <a:latin typeface="Times New Roman" panose="02020603050405020304" pitchFamily="18" charset="0"/>
              <a:cs typeface="Times New Roman" panose="02020603050405020304" pitchFamily="18" charset="0"/>
            </a:endParaRPr>
          </a:p>
        </p:txBody>
      </p:sp>
      <p:sp>
        <p:nvSpPr>
          <p:cNvPr id="164870" name="Rectangle 6"/>
          <p:cNvSpPr/>
          <p:nvPr/>
        </p:nvSpPr>
        <p:spPr>
          <a:xfrm>
            <a:off x="906145" y="2964180"/>
            <a:ext cx="5715000" cy="1196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80000"/>
              </a:lnSpc>
              <a:spcBef>
                <a:spcPct val="30000"/>
              </a:spcBef>
              <a:buNone/>
            </a:pPr>
            <a:r>
              <a:rPr lang="en-US" altLang="zh-CN" dirty="0">
                <a:solidFill>
                  <a:srgbClr val="C00000"/>
                </a:solidFill>
                <a:latin typeface="Times New Roman" panose="02020603050405020304" pitchFamily="18" charset="0"/>
                <a:cs typeface="Times New Roman" panose="02020603050405020304" pitchFamily="18" charset="0"/>
              </a:rPr>
              <a:t>void visit(ElemType e){</a:t>
            </a:r>
            <a:endParaRPr lang="en-US" altLang="zh-CN" dirty="0">
              <a:solidFill>
                <a:srgbClr val="C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dirty="0">
                <a:solidFill>
                  <a:srgbClr val="C00000"/>
                </a:solidFill>
                <a:latin typeface="Times New Roman" panose="02020603050405020304" pitchFamily="18" charset="0"/>
                <a:cs typeface="Times New Roman" panose="02020603050405020304" pitchFamily="18" charset="0"/>
              </a:rPr>
              <a:t>	if(e&gt;=100)printf(e);</a:t>
            </a:r>
            <a:endParaRPr lang="en-US" altLang="zh-CN" dirty="0">
              <a:solidFill>
                <a:srgbClr val="C00000"/>
              </a:solidFill>
              <a:latin typeface="Times New Roman" panose="02020603050405020304" pitchFamily="18" charset="0"/>
              <a:cs typeface="Times New Roman" panose="02020603050405020304" pitchFamily="18" charset="0"/>
            </a:endParaRPr>
          </a:p>
          <a:p>
            <a:pPr marL="0" lvl="0" indent="0" eaLnBrk="1" hangingPunct="1">
              <a:lnSpc>
                <a:spcPct val="80000"/>
              </a:lnSpc>
              <a:spcBef>
                <a:spcPct val="30000"/>
              </a:spcBef>
              <a:buNone/>
            </a:pPr>
            <a:r>
              <a:rPr lang="en-US" altLang="zh-CN" dirty="0">
                <a:solidFill>
                  <a:srgbClr val="C00000"/>
                </a:solidFill>
                <a:latin typeface="Times New Roman" panose="02020603050405020304" pitchFamily="18" charset="0"/>
                <a:cs typeface="Times New Roman" panose="02020603050405020304" pitchFamily="18" charset="0"/>
              </a:rPr>
              <a:t>} </a:t>
            </a:r>
            <a:endParaRPr lang="en-US" altLang="zh-CN" dirty="0">
              <a:solidFill>
                <a:srgbClr val="C00000"/>
              </a:solidFill>
              <a:latin typeface="Times New Roman" panose="02020603050405020304" pitchFamily="18" charset="0"/>
              <a:cs typeface="Times New Roman" panose="02020603050405020304" pitchFamily="18" charset="0"/>
            </a:endParaRPr>
          </a:p>
        </p:txBody>
      </p:sp>
      <p:grpSp>
        <p:nvGrpSpPr>
          <p:cNvPr id="2" name="Group 7"/>
          <p:cNvGrpSpPr/>
          <p:nvPr/>
        </p:nvGrpSpPr>
        <p:grpSpPr>
          <a:xfrm>
            <a:off x="8915400" y="1752600"/>
            <a:ext cx="1524000" cy="2000250"/>
            <a:chOff x="2400" y="1536"/>
            <a:chExt cx="960" cy="1260"/>
          </a:xfrm>
        </p:grpSpPr>
        <p:sp>
          <p:nvSpPr>
            <p:cNvPr id="53257" name="Oval 8"/>
            <p:cNvSpPr/>
            <p:nvPr/>
          </p:nvSpPr>
          <p:spPr>
            <a:xfrm>
              <a:off x="2948" y="249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200" b="1" dirty="0">
                  <a:solidFill>
                    <a:schemeClr val="accent1"/>
                  </a:solidFill>
                  <a:latin typeface="楷体_GB2312" panose="02010609030101010101" pitchFamily="49" charset="-122"/>
                </a:rPr>
                <a:t>315</a:t>
              </a:r>
              <a:endParaRPr lang="en-US" altLang="zh-CN" sz="2200" b="1" dirty="0">
                <a:solidFill>
                  <a:schemeClr val="accent1"/>
                </a:solidFill>
                <a:latin typeface="楷体_GB2312" panose="02010609030101010101" pitchFamily="49" charset="-122"/>
              </a:endParaRPr>
            </a:p>
          </p:txBody>
        </p:sp>
        <p:sp>
          <p:nvSpPr>
            <p:cNvPr id="53258" name="Oval 9"/>
            <p:cNvSpPr/>
            <p:nvPr/>
          </p:nvSpPr>
          <p:spPr>
            <a:xfrm>
              <a:off x="2736" y="1536"/>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200" b="1" dirty="0">
                  <a:solidFill>
                    <a:schemeClr val="accent1"/>
                  </a:solidFill>
                  <a:latin typeface="楷体_GB2312" panose="02010609030101010101" pitchFamily="49" charset="-122"/>
                </a:rPr>
                <a:t>108</a:t>
              </a:r>
              <a:endParaRPr lang="en-US" altLang="zh-CN" sz="2200" b="1" dirty="0">
                <a:solidFill>
                  <a:schemeClr val="accent1"/>
                </a:solidFill>
                <a:latin typeface="楷体_GB2312" panose="02010609030101010101" pitchFamily="49" charset="-122"/>
              </a:endParaRPr>
            </a:p>
          </p:txBody>
        </p:sp>
        <p:sp>
          <p:nvSpPr>
            <p:cNvPr id="53259" name="Oval 10"/>
            <p:cNvSpPr/>
            <p:nvPr/>
          </p:nvSpPr>
          <p:spPr>
            <a:xfrm>
              <a:off x="3044" y="197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2200" b="1" dirty="0">
                  <a:solidFill>
                    <a:schemeClr val="accent1"/>
                  </a:solidFill>
                  <a:latin typeface="楷体_GB2312" panose="02010609030101010101" pitchFamily="49" charset="-122"/>
                </a:rPr>
                <a:t>220</a:t>
              </a:r>
              <a:endParaRPr lang="en-US" altLang="zh-CN" sz="2200" b="1" dirty="0">
                <a:solidFill>
                  <a:schemeClr val="accent1"/>
                </a:solidFill>
                <a:latin typeface="楷体_GB2312" panose="02010609030101010101" pitchFamily="49" charset="-122"/>
              </a:endParaRPr>
            </a:p>
          </p:txBody>
        </p:sp>
        <p:sp>
          <p:nvSpPr>
            <p:cNvPr id="53260" name="Line 11"/>
            <p:cNvSpPr/>
            <p:nvPr/>
          </p:nvSpPr>
          <p:spPr>
            <a:xfrm flipH="1">
              <a:off x="2592" y="1824"/>
              <a:ext cx="220" cy="144"/>
            </a:xfrm>
            <a:prstGeom prst="line">
              <a:avLst/>
            </a:prstGeom>
            <a:ln w="9525" cap="flat" cmpd="sng">
              <a:solidFill>
                <a:srgbClr val="000000"/>
              </a:solidFill>
              <a:prstDash val="solid"/>
              <a:headEnd type="none" w="med" len="med"/>
              <a:tailEnd type="none" w="med" len="med"/>
            </a:ln>
          </p:spPr>
        </p:sp>
        <p:sp>
          <p:nvSpPr>
            <p:cNvPr id="53261" name="Line 12"/>
            <p:cNvSpPr/>
            <p:nvPr/>
          </p:nvSpPr>
          <p:spPr>
            <a:xfrm>
              <a:off x="2956" y="1824"/>
              <a:ext cx="260" cy="144"/>
            </a:xfrm>
            <a:prstGeom prst="line">
              <a:avLst/>
            </a:prstGeom>
            <a:ln w="9525" cap="flat" cmpd="sng">
              <a:solidFill>
                <a:srgbClr val="000000"/>
              </a:solidFill>
              <a:prstDash val="solid"/>
              <a:headEnd type="none" w="med" len="med"/>
              <a:tailEnd type="none" w="med" len="med"/>
            </a:ln>
          </p:spPr>
        </p:sp>
        <p:sp>
          <p:nvSpPr>
            <p:cNvPr id="53262" name="Oval 13"/>
            <p:cNvSpPr/>
            <p:nvPr/>
          </p:nvSpPr>
          <p:spPr>
            <a:xfrm>
              <a:off x="2400" y="1979"/>
              <a:ext cx="316" cy="304"/>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65</a:t>
              </a:r>
              <a:endParaRPr lang="en-US" altLang="zh-CN" b="1" dirty="0">
                <a:solidFill>
                  <a:schemeClr val="accent1"/>
                </a:solidFill>
                <a:latin typeface="楷体_GB2312" panose="02010609030101010101" pitchFamily="49" charset="-122"/>
              </a:endParaRPr>
            </a:p>
          </p:txBody>
        </p:sp>
        <p:sp>
          <p:nvSpPr>
            <p:cNvPr id="53263" name="Line 14"/>
            <p:cNvSpPr/>
            <p:nvPr/>
          </p:nvSpPr>
          <p:spPr>
            <a:xfrm flipH="1">
              <a:off x="3120" y="2299"/>
              <a:ext cx="96" cy="197"/>
            </a:xfrm>
            <a:prstGeom prst="line">
              <a:avLst/>
            </a:prstGeom>
            <a:ln w="9525" cap="flat" cmpd="sng">
              <a:solidFill>
                <a:srgbClr val="000000"/>
              </a:solidFill>
              <a:prstDash val="solid"/>
              <a:headEnd type="none" w="med" len="med"/>
              <a:tailEnd type="none" w="med" len="med"/>
            </a:ln>
          </p:spPr>
        </p:sp>
        <p:sp>
          <p:nvSpPr>
            <p:cNvPr id="53264" name="Oval 15"/>
            <p:cNvSpPr/>
            <p:nvPr/>
          </p:nvSpPr>
          <p:spPr>
            <a:xfrm>
              <a:off x="2564" y="2491"/>
              <a:ext cx="316" cy="305"/>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楷体_GB2312" panose="02010609030101010101" pitchFamily="49" charset="-122"/>
                </a:rPr>
                <a:t>23</a:t>
              </a:r>
              <a:endParaRPr lang="en-US" altLang="zh-CN" b="1" dirty="0">
                <a:solidFill>
                  <a:schemeClr val="accent1"/>
                </a:solidFill>
                <a:latin typeface="楷体_GB2312" panose="02010609030101010101" pitchFamily="49" charset="-122"/>
              </a:endParaRPr>
            </a:p>
          </p:txBody>
        </p:sp>
        <p:sp>
          <p:nvSpPr>
            <p:cNvPr id="53265" name="Line 16"/>
            <p:cNvSpPr/>
            <p:nvPr/>
          </p:nvSpPr>
          <p:spPr>
            <a:xfrm>
              <a:off x="2592" y="2256"/>
              <a:ext cx="96" cy="240"/>
            </a:xfrm>
            <a:prstGeom prst="line">
              <a:avLst/>
            </a:prstGeom>
            <a:ln w="9525" cap="flat" cmpd="sng">
              <a:solidFill>
                <a:srgbClr val="000000"/>
              </a:solidFill>
              <a:prstDash val="solid"/>
              <a:headEnd type="none" w="med" len="med"/>
              <a:tailEnd type="none" w="med" len="med"/>
            </a:ln>
          </p:spPr>
        </p:sp>
      </p:grpSp>
      <p:sp>
        <p:nvSpPr>
          <p:cNvPr id="164881" name="Text Box 17"/>
          <p:cNvSpPr txBox="1"/>
          <p:nvPr/>
        </p:nvSpPr>
        <p:spPr>
          <a:xfrm>
            <a:off x="292100" y="1905000"/>
            <a:ext cx="8623300" cy="104521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例如，若在右边二叉树中查找值≥</a:t>
            </a:r>
            <a:r>
              <a:rPr lang="en-US" altLang="zh-CN"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的所有结点</a:t>
            </a:r>
            <a:r>
              <a:rPr lang="en-US" altLang="zh-CN"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可借助于遍历操作</a:t>
            </a:r>
            <a:r>
              <a:rPr lang="en-US" altLang="zh-CN"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比如先序</a:t>
            </a:r>
            <a:r>
              <a:rPr lang="en-US" altLang="zh-CN"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来完成。在遍历操作中，</a:t>
            </a:r>
            <a:r>
              <a:rPr lang="en-US" altLang="zh-CN"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visit</a:t>
            </a: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函数代表对结点的访问，可定义</a:t>
            </a:r>
            <a:r>
              <a:rPr lang="en-US" altLang="zh-CN"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visit</a:t>
            </a: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函数如下</a:t>
            </a:r>
            <a:r>
              <a:rPr lang="zh-CN" altLang="en-US" sz="2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课堂练习</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64881"/>
                                        </p:tgtEl>
                                        <p:attrNameLst>
                                          <p:attrName>style.visibility</p:attrName>
                                        </p:attrNameLst>
                                      </p:cBhvr>
                                      <p:to>
                                        <p:strVal val="visible"/>
                                      </p:to>
                                    </p:set>
                                    <p:animEffect transition="in" filter="slide(fromBottom)">
                                      <p:cBhvr>
                                        <p:cTn id="7" dur="500"/>
                                        <p:tgtEl>
                                          <p:spTgt spid="16488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1000"/>
                                        <p:tgtEl>
                                          <p:spTgt spid="2"/>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164869"/>
                                        </p:tgtEl>
                                        <p:attrNameLst>
                                          <p:attrName>style.visibility</p:attrName>
                                        </p:attrNameLst>
                                      </p:cBhvr>
                                      <p:to>
                                        <p:strVal val="visible"/>
                                      </p:to>
                                    </p:set>
                                    <p:animEffect transition="in" filter="slide(fromBottom)">
                                      <p:cBhvr>
                                        <p:cTn id="15" dur="500"/>
                                        <p:tgtEl>
                                          <p:spTgt spid="164869"/>
                                        </p:tgtEl>
                                      </p:cBhvr>
                                    </p:animEffec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164870"/>
                                        </p:tgtEl>
                                        <p:attrNameLst>
                                          <p:attrName>style.visibility</p:attrName>
                                        </p:attrNameLst>
                                      </p:cBhvr>
                                      <p:to>
                                        <p:strVal val="visible"/>
                                      </p:to>
                                    </p:set>
                                    <p:anim calcmode="discrete" valueType="clr">
                                      <p:cBhvr override="childStyle">
                                        <p:cTn id="20" dur="80"/>
                                        <p:tgtEl>
                                          <p:spTgt spid="164870"/>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164870"/>
                                        </p:tgtEl>
                                        <p:attrNameLst>
                                          <p:attrName>fillcolor</p:attrName>
                                        </p:attrNameLst>
                                      </p:cBhvr>
                                      <p:tavLst>
                                        <p:tav tm="0">
                                          <p:val>
                                            <p:clrVal>
                                              <a:schemeClr val="accent2"/>
                                            </p:clrVal>
                                          </p:val>
                                        </p:tav>
                                        <p:tav tm="50000">
                                          <p:val>
                                            <p:clrVal>
                                              <a:schemeClr val="hlink"/>
                                            </p:clrVal>
                                          </p:val>
                                        </p:tav>
                                      </p:tavLst>
                                    </p:anim>
                                    <p:set>
                                      <p:cBhvr>
                                        <p:cTn id="22" dur="80"/>
                                        <p:tgtEl>
                                          <p:spTgt spid="164870"/>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1" nodeType="clickEffect">
                                  <p:stCondLst>
                                    <p:cond delay="0"/>
                                  </p:stCondLst>
                                  <p:iterate type="lt">
                                    <p:tmPct val="0"/>
                                  </p:iterate>
                                  <p:childTnLst>
                                    <p:animEffect transition="out" filter="dissolve">
                                      <p:cBhvr>
                                        <p:cTn id="26" dur="500"/>
                                        <p:tgtEl>
                                          <p:spTgt spid="164870"/>
                                        </p:tgtEl>
                                      </p:cBhvr>
                                    </p:animEffect>
                                    <p:set>
                                      <p:cBhvr>
                                        <p:cTn id="27" dur="1" fill="hold">
                                          <p:stCondLst>
                                            <p:cond delay="499"/>
                                          </p:stCondLst>
                                        </p:cTn>
                                        <p:tgtEl>
                                          <p:spTgt spid="164870"/>
                                        </p:tgtEl>
                                        <p:attrNameLst>
                                          <p:attrName>style.visibility</p:attrName>
                                        </p:attrNameLst>
                                      </p:cBhvr>
                                      <p:to>
                                        <p:strVal val="hidden"/>
                                      </p:to>
                                    </p:set>
                                  </p:childTnLst>
                                </p:cTn>
                              </p:par>
                              <p:par>
                                <p:cTn id="28" presetID="9" presetClass="exit" presetSubtype="0" fill="hold" grpId="1" nodeType="withEffect">
                                  <p:stCondLst>
                                    <p:cond delay="0"/>
                                  </p:stCondLst>
                                  <p:childTnLst>
                                    <p:animEffect transition="out" filter="dissolve">
                                      <p:cBhvr>
                                        <p:cTn id="29" dur="500"/>
                                        <p:tgtEl>
                                          <p:spTgt spid="164869"/>
                                        </p:tgtEl>
                                      </p:cBhvr>
                                    </p:animEffect>
                                    <p:set>
                                      <p:cBhvr>
                                        <p:cTn id="30" dur="1" fill="hold">
                                          <p:stCondLst>
                                            <p:cond delay="499"/>
                                          </p:stCondLst>
                                        </p:cTn>
                                        <p:tgtEl>
                                          <p:spTgt spid="164869"/>
                                        </p:tgtEl>
                                        <p:attrNameLst>
                                          <p:attrName>style.visibility</p:attrName>
                                        </p:attrNameLst>
                                      </p:cBhvr>
                                      <p:to>
                                        <p:strVal val="hidden"/>
                                      </p:to>
                                    </p:set>
                                  </p:childTnLst>
                                </p:cTn>
                              </p:par>
                            </p:childTnLst>
                          </p:cTn>
                        </p:par>
                        <p:par>
                          <p:cTn id="31" fill="hold">
                            <p:stCondLst>
                              <p:cond delay="500"/>
                            </p:stCondLst>
                            <p:childTnLst>
                              <p:par>
                                <p:cTn id="32" presetID="27" presetClass="entr" presetSubtype="0" fill="hold" grpId="0" nodeType="afterEffect">
                                  <p:stCondLst>
                                    <p:cond delay="0"/>
                                  </p:stCondLst>
                                  <p:iterate type="lt">
                                    <p:tmPct val="50000"/>
                                  </p:iterate>
                                  <p:childTnLst>
                                    <p:set>
                                      <p:cBhvr>
                                        <p:cTn id="33" dur="1" fill="hold">
                                          <p:stCondLst>
                                            <p:cond delay="0"/>
                                          </p:stCondLst>
                                        </p:cTn>
                                        <p:tgtEl>
                                          <p:spTgt spid="164868"/>
                                        </p:tgtEl>
                                        <p:attrNameLst>
                                          <p:attrName>style.visibility</p:attrName>
                                        </p:attrNameLst>
                                      </p:cBhvr>
                                      <p:to>
                                        <p:strVal val="visible"/>
                                      </p:to>
                                    </p:set>
                                    <p:anim calcmode="discrete" valueType="clr">
                                      <p:cBhvr override="childStyle">
                                        <p:cTn id="34" dur="80"/>
                                        <p:tgtEl>
                                          <p:spTgt spid="164868"/>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164868"/>
                                        </p:tgtEl>
                                        <p:attrNameLst>
                                          <p:attrName>fillcolor</p:attrName>
                                        </p:attrNameLst>
                                      </p:cBhvr>
                                      <p:tavLst>
                                        <p:tav tm="0">
                                          <p:val>
                                            <p:clrVal>
                                              <a:schemeClr val="accent2"/>
                                            </p:clrVal>
                                          </p:val>
                                        </p:tav>
                                        <p:tav tm="50000">
                                          <p:val>
                                            <p:clrVal>
                                              <a:schemeClr val="hlink"/>
                                            </p:clrVal>
                                          </p:val>
                                        </p:tav>
                                      </p:tavLst>
                                    </p:anim>
                                    <p:set>
                                      <p:cBhvr>
                                        <p:cTn id="36" dur="80"/>
                                        <p:tgtEl>
                                          <p:spTgt spid="16486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p:bldP spid="164869" grpId="0"/>
      <p:bldP spid="164869" grpId="1"/>
      <p:bldP spid="164870" grpId="0"/>
      <p:bldP spid="164870" grpId="1"/>
      <p:bldP spid="16488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5" name="Rectangle 3"/>
          <p:cNvSpPr/>
          <p:nvPr/>
        </p:nvSpPr>
        <p:spPr>
          <a:xfrm>
            <a:off x="318770" y="847725"/>
            <a:ext cx="1004443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微软雅黑" panose="020B0503020204020204" pitchFamily="34" charset="-122"/>
                <a:ea typeface="微软雅黑" panose="020B0503020204020204" pitchFamily="34" charset="-122"/>
              </a:rPr>
              <a:t>写出求二叉树中结点个数的算法。</a:t>
            </a:r>
            <a:endParaRPr lang="zh-CN" altLang="en-US" b="1" dirty="0">
              <a:solidFill>
                <a:srgbClr val="000000"/>
              </a:solidFill>
              <a:latin typeface="微软雅黑" panose="020B0503020204020204" pitchFamily="34" charset="-122"/>
              <a:ea typeface="微软雅黑" panose="020B0503020204020204" pitchFamily="34" charset="-122"/>
            </a:endParaRPr>
          </a:p>
        </p:txBody>
      </p:sp>
      <p:sp>
        <p:nvSpPr>
          <p:cNvPr id="165892" name="Text Box 4"/>
          <p:cNvSpPr txBox="1"/>
          <p:nvPr/>
        </p:nvSpPr>
        <p:spPr>
          <a:xfrm>
            <a:off x="321945" y="1318895"/>
            <a:ext cx="8386445" cy="9531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40000"/>
              </a:lnSpc>
              <a:spcBef>
                <a:spcPct val="35000"/>
              </a:spcBef>
              <a:buNone/>
            </a:pPr>
            <a:r>
              <a:rPr lang="en-US" altLang="zh-CN" sz="2000" b="1"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由于一棵二叉树可以看成是由根结点、左子树及右子树组成，因此，只要求得了左右子树中结点的个数，就容易求得二叉树中结点个数。</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grpSp>
        <p:nvGrpSpPr>
          <p:cNvPr id="2" name="Group 5"/>
          <p:cNvGrpSpPr/>
          <p:nvPr/>
        </p:nvGrpSpPr>
        <p:grpSpPr>
          <a:xfrm>
            <a:off x="8947150" y="979805"/>
            <a:ext cx="1492250" cy="1600200"/>
            <a:chOff x="4532" y="1824"/>
            <a:chExt cx="940" cy="1008"/>
          </a:xfrm>
        </p:grpSpPr>
        <p:sp>
          <p:nvSpPr>
            <p:cNvPr id="54280" name="Oval 6"/>
            <p:cNvSpPr/>
            <p:nvPr/>
          </p:nvSpPr>
          <p:spPr>
            <a:xfrm>
              <a:off x="4820" y="1824"/>
              <a:ext cx="316" cy="297"/>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楷体_GB2312" panose="02010609030101010101" pitchFamily="49" charset="-122"/>
                </a:rPr>
                <a:t>A</a:t>
              </a:r>
              <a:endParaRPr lang="en-US" altLang="zh-CN" b="1" dirty="0">
                <a:solidFill>
                  <a:srgbClr val="000000"/>
                </a:solidFill>
                <a:latin typeface="楷体_GB2312" panose="02010609030101010101" pitchFamily="49" charset="-122"/>
              </a:endParaRPr>
            </a:p>
          </p:txBody>
        </p:sp>
        <p:sp>
          <p:nvSpPr>
            <p:cNvPr id="54281" name="Line 7"/>
            <p:cNvSpPr/>
            <p:nvPr/>
          </p:nvSpPr>
          <p:spPr>
            <a:xfrm flipH="1">
              <a:off x="4820" y="2112"/>
              <a:ext cx="96" cy="144"/>
            </a:xfrm>
            <a:prstGeom prst="line">
              <a:avLst/>
            </a:prstGeom>
            <a:ln w="9525" cap="flat" cmpd="sng">
              <a:solidFill>
                <a:srgbClr val="000000"/>
              </a:solidFill>
              <a:prstDash val="solid"/>
              <a:headEnd type="none" w="med" len="med"/>
              <a:tailEnd type="none" w="med" len="med"/>
            </a:ln>
          </p:spPr>
        </p:sp>
        <p:sp>
          <p:nvSpPr>
            <p:cNvPr id="54282" name="Oval 8"/>
            <p:cNvSpPr/>
            <p:nvPr/>
          </p:nvSpPr>
          <p:spPr>
            <a:xfrm rot="1831899">
              <a:off x="4532" y="2208"/>
              <a:ext cx="336" cy="624"/>
            </a:xfrm>
            <a:prstGeom prst="ellipse">
              <a:avLst/>
            </a:prstGeom>
            <a:no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54283" name="Line 9"/>
            <p:cNvSpPr/>
            <p:nvPr/>
          </p:nvSpPr>
          <p:spPr>
            <a:xfrm>
              <a:off x="5088" y="2112"/>
              <a:ext cx="96" cy="144"/>
            </a:xfrm>
            <a:prstGeom prst="line">
              <a:avLst/>
            </a:prstGeom>
            <a:ln w="9525" cap="flat" cmpd="sng">
              <a:solidFill>
                <a:srgbClr val="000000"/>
              </a:solidFill>
              <a:prstDash val="solid"/>
              <a:headEnd type="none" w="med" len="med"/>
              <a:tailEnd type="none" w="med" len="med"/>
            </a:ln>
          </p:spPr>
        </p:sp>
        <p:sp>
          <p:nvSpPr>
            <p:cNvPr id="54284" name="Oval 10"/>
            <p:cNvSpPr/>
            <p:nvPr/>
          </p:nvSpPr>
          <p:spPr>
            <a:xfrm rot="-1296566">
              <a:off x="5136" y="2208"/>
              <a:ext cx="336" cy="624"/>
            </a:xfrm>
            <a:prstGeom prst="ellipse">
              <a:avLst/>
            </a:prstGeom>
            <a:no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pSp>
      <p:sp>
        <p:nvSpPr>
          <p:cNvPr id="165899" name="Text Box 11"/>
          <p:cNvSpPr txBox="1"/>
          <p:nvPr/>
        </p:nvSpPr>
        <p:spPr>
          <a:xfrm>
            <a:off x="600710" y="2463800"/>
            <a:ext cx="9991090" cy="166370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90000"/>
              </a:lnSpc>
              <a:spcBef>
                <a:spcPct val="35000"/>
              </a:spcBef>
              <a:buNone/>
            </a:pPr>
            <a:r>
              <a:rPr lang="en-US" altLang="zh-CN" sz="2200" dirty="0">
                <a:solidFill>
                  <a:srgbClr val="000000"/>
                </a:solidFill>
                <a:latin typeface="Times New Roman" panose="02020603050405020304" pitchFamily="18" charset="0"/>
                <a:cs typeface="Times New Roman" panose="02020603050405020304" pitchFamily="18" charset="0"/>
              </a:rPr>
              <a:t>int  GetCount(BiTree T){</a:t>
            </a:r>
            <a:endParaRPr lang="en-US" altLang="zh-CN" sz="220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90000"/>
              </a:lnSpc>
              <a:spcBef>
                <a:spcPct val="35000"/>
              </a:spcBef>
              <a:buNone/>
            </a:pPr>
            <a:r>
              <a:rPr lang="en-US" altLang="zh-CN" sz="2200" dirty="0">
                <a:solidFill>
                  <a:srgbClr val="000000"/>
                </a:solidFill>
                <a:latin typeface="Times New Roman" panose="02020603050405020304" pitchFamily="18" charset="0"/>
                <a:cs typeface="Times New Roman" panose="02020603050405020304" pitchFamily="18" charset="0"/>
              </a:rPr>
              <a:t>       if(T==NULL)return 0;</a:t>
            </a:r>
            <a:endParaRPr lang="en-US" altLang="zh-CN" sz="220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90000"/>
              </a:lnSpc>
              <a:spcBef>
                <a:spcPct val="35000"/>
              </a:spcBef>
              <a:buNone/>
            </a:pPr>
            <a:r>
              <a:rPr lang="en-US" altLang="zh-CN" sz="2200" dirty="0">
                <a:solidFill>
                  <a:srgbClr val="000000"/>
                </a:solidFill>
                <a:latin typeface="Times New Roman" panose="02020603050405020304" pitchFamily="18" charset="0"/>
                <a:cs typeface="Times New Roman" panose="02020603050405020304" pitchFamily="18" charset="0"/>
              </a:rPr>
              <a:t>       return </a:t>
            </a:r>
            <a:r>
              <a:rPr lang="en-US" altLang="zh-CN" sz="2200" dirty="0">
                <a:solidFill>
                  <a:srgbClr val="C00000"/>
                </a:solidFill>
                <a:latin typeface="Times New Roman" panose="02020603050405020304" pitchFamily="18" charset="0"/>
                <a:cs typeface="Times New Roman" panose="02020603050405020304" pitchFamily="18" charset="0"/>
              </a:rPr>
              <a:t>GetCount(T-&gt;lchild)+ GetCount(T-&gt;lchild)+1</a:t>
            </a:r>
            <a:r>
              <a:rPr lang="en-US" altLang="zh-CN" sz="2200" dirty="0">
                <a:solidFill>
                  <a:srgbClr val="000000"/>
                </a:solidFill>
                <a:latin typeface="Times New Roman" panose="02020603050405020304" pitchFamily="18" charset="0"/>
                <a:cs typeface="Times New Roman" panose="02020603050405020304" pitchFamily="18" charset="0"/>
              </a:rPr>
              <a:t>;</a:t>
            </a:r>
            <a:endParaRPr lang="en-US" altLang="zh-CN" sz="220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90000"/>
              </a:lnSpc>
              <a:spcBef>
                <a:spcPct val="35000"/>
              </a:spcBef>
              <a:buNone/>
            </a:pPr>
            <a:r>
              <a:rPr lang="en-US" altLang="zh-CN" sz="2200" dirty="0">
                <a:solidFill>
                  <a:srgbClr val="000000"/>
                </a:solidFill>
                <a:latin typeface="Times New Roman" panose="02020603050405020304" pitchFamily="18" charset="0"/>
                <a:cs typeface="Times New Roman" panose="02020603050405020304" pitchFamily="18" charset="0"/>
              </a:rPr>
              <a:t>}//GetCount</a:t>
            </a:r>
            <a:endParaRPr lang="en-US" altLang="zh-CN" sz="2200" dirty="0">
              <a:solidFill>
                <a:srgbClr val="000000"/>
              </a:solidFill>
              <a:latin typeface="Times New Roman" panose="02020603050405020304" pitchFamily="18" charset="0"/>
              <a:cs typeface="Times New Roman" panose="02020603050405020304" pitchFamily="18" charset="0"/>
            </a:endParaRPr>
          </a:p>
        </p:txBody>
      </p:sp>
      <p:sp>
        <p:nvSpPr>
          <p:cNvPr id="165900" name="Text Box 12"/>
          <p:cNvSpPr txBox="1"/>
          <p:nvPr/>
        </p:nvSpPr>
        <p:spPr>
          <a:xfrm>
            <a:off x="601345" y="4456430"/>
            <a:ext cx="9685655" cy="165354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90000"/>
              </a:lnSpc>
              <a:spcBef>
                <a:spcPct val="35000"/>
              </a:spcBef>
              <a:buNone/>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按照类似的思路，可以编写：</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90000"/>
              </a:lnSpc>
              <a:spcBef>
                <a:spcPct val="35000"/>
              </a:spcBef>
              <a:buFont typeface="Wingdings" panose="05000000000000000000"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求二叉树中叶子结点个数的算法；</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90000"/>
              </a:lnSpc>
              <a:spcBef>
                <a:spcPct val="35000"/>
              </a:spcBef>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复制一棵二叉树的算法；</a:t>
            </a:r>
            <a:endPar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eaLnBrk="1" hangingPunct="1">
              <a:lnSpc>
                <a:spcPct val="90000"/>
              </a:lnSpc>
              <a:spcBef>
                <a:spcPct val="35000"/>
              </a:spcBef>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求二叉树高度的算法</a:t>
            </a:r>
            <a:r>
              <a:rPr lang="zh-CN" altLang="en-US"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课堂练习</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animEffect transition="in" filter="strips(downRight)">
                                      <p:cBhvr>
                                        <p:cTn id="7" dur="500"/>
                                        <p:tgtEl>
                                          <p:spTgt spid="16589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7" presetClass="entr" presetSubtype="0" fill="hold" grpId="0" nodeType="clickEffect">
                                  <p:stCondLst>
                                    <p:cond delay="0"/>
                                  </p:stCondLst>
                                  <p:iterate type="lt">
                                    <p:tmPct val="50000"/>
                                  </p:iterate>
                                  <p:childTnLst>
                                    <p:set>
                                      <p:cBhvr>
                                        <p:cTn id="15" dur="1" fill="hold">
                                          <p:stCondLst>
                                            <p:cond delay="0"/>
                                          </p:stCondLst>
                                        </p:cTn>
                                        <p:tgtEl>
                                          <p:spTgt spid="165899"/>
                                        </p:tgtEl>
                                        <p:attrNameLst>
                                          <p:attrName>style.visibility</p:attrName>
                                        </p:attrNameLst>
                                      </p:cBhvr>
                                      <p:to>
                                        <p:strVal val="visible"/>
                                      </p:to>
                                    </p:set>
                                    <p:anim calcmode="discrete" valueType="clr">
                                      <p:cBhvr override="childStyle">
                                        <p:cTn id="16" dur="80"/>
                                        <p:tgtEl>
                                          <p:spTgt spid="165899"/>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165899"/>
                                        </p:tgtEl>
                                        <p:attrNameLst>
                                          <p:attrName>fillcolor</p:attrName>
                                        </p:attrNameLst>
                                      </p:cBhvr>
                                      <p:tavLst>
                                        <p:tav tm="0">
                                          <p:val>
                                            <p:clrVal>
                                              <a:schemeClr val="accent2"/>
                                            </p:clrVal>
                                          </p:val>
                                        </p:tav>
                                        <p:tav tm="50000">
                                          <p:val>
                                            <p:clrVal>
                                              <a:schemeClr val="hlink"/>
                                            </p:clrVal>
                                          </p:val>
                                        </p:tav>
                                      </p:tavLst>
                                    </p:anim>
                                    <p:set>
                                      <p:cBhvr>
                                        <p:cTn id="18" dur="80"/>
                                        <p:tgtEl>
                                          <p:spTgt spid="165899"/>
                                        </p:tgtEl>
                                        <p:attrNameLst>
                                          <p:attrName>fill.type</p:attrName>
                                        </p:attrNameLst>
                                      </p:cBhvr>
                                      <p:to>
                                        <p:strVal val="solid"/>
                                      </p:to>
                                    </p:set>
                                  </p:childTnLst>
                                </p:cTn>
                              </p:par>
                            </p:childTnLst>
                          </p:cTn>
                        </p:par>
                        <p:par>
                          <p:cTn id="19" fill="hold">
                            <p:stCondLst>
                              <p:cond delay="4799"/>
                            </p:stCondLst>
                            <p:childTnLst>
                              <p:par>
                                <p:cTn id="20" presetID="12" presetClass="entr" presetSubtype="4" fill="hold" grpId="0" nodeType="afterEffect">
                                  <p:stCondLst>
                                    <p:cond delay="2000"/>
                                  </p:stCondLst>
                                  <p:childTnLst>
                                    <p:set>
                                      <p:cBhvr>
                                        <p:cTn id="21" dur="1" fill="hold">
                                          <p:stCondLst>
                                            <p:cond delay="0"/>
                                          </p:stCondLst>
                                        </p:cTn>
                                        <p:tgtEl>
                                          <p:spTgt spid="165900"/>
                                        </p:tgtEl>
                                        <p:attrNameLst>
                                          <p:attrName>style.visibility</p:attrName>
                                        </p:attrNameLst>
                                      </p:cBhvr>
                                      <p:to>
                                        <p:strVal val="visible"/>
                                      </p:to>
                                    </p:set>
                                    <p:animEffect transition="in" filter="slide(fromBottom)">
                                      <p:cBhvr>
                                        <p:cTn id="22" dur="500"/>
                                        <p:tgtEl>
                                          <p:spTgt spid="165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p:bldP spid="165899" grpId="0"/>
      <p:bldP spid="16590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Rectangle 3"/>
          <p:cNvSpPr>
            <a:spLocks noGrp="1"/>
          </p:cNvSpPr>
          <p:nvPr>
            <p:ph type="body" idx="4294967295"/>
          </p:nvPr>
        </p:nvSpPr>
        <p:spPr>
          <a:xfrm>
            <a:off x="452120" y="1096645"/>
            <a:ext cx="10526395" cy="4985385"/>
          </a:xfrm>
        </p:spPr>
        <p:txBody>
          <a:bodyPr vert="horz" wrap="square" lIns="91440" tIns="45720" rIns="91440" bIns="45720" anchor="t" anchorCtr="0">
            <a:normAutofit lnSpcReduction="10000"/>
          </a:bodyPr>
          <a:p>
            <a:pPr eaLnBrk="1" hangingPunct="1">
              <a:lnSpc>
                <a:spcPct val="13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建立二叉树</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对教材</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P114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4.9</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所示的二叉树进行先序遍历，得到一个变通的遍历结果：</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30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 b d # # e g # h # # # c f # #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建立二叉链表的存储结构，利用先序遍历思想，以变通的遍历结果作为输入数据，执行以下操作：</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若当前输入数据为特殊字符，则当前二叉树根结点为空，否则：</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生成根结点，当前数据写入根结点数据域</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建立左子树</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None/>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建立右子树</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t>  </a:t>
            </a:r>
            <a:endParaRPr lang="en-US" altLang="zh-CN" sz="1800" dirty="0"/>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4.2.7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几个二叉树基本操作的例子</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燕尾形 1"/>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3" name="Rectangle 3"/>
          <p:cNvSpPr>
            <a:spLocks noGrp="1"/>
          </p:cNvSpPr>
          <p:nvPr>
            <p:ph type="body" idx="4294967295"/>
          </p:nvPr>
        </p:nvSpPr>
        <p:spPr>
          <a:xfrm>
            <a:off x="509270" y="1059180"/>
            <a:ext cx="9701530" cy="4732020"/>
          </a:xfrm>
        </p:spPr>
        <p:txBody>
          <a:bodyPr vert="horz" wrap="square" lIns="91440" tIns="45720" rIns="91440" bIns="45720" anchor="t" anchorCtr="0"/>
          <a:p>
            <a:pPr eaLnBrk="1" hangingPunct="1"/>
            <a:r>
              <a:rPr lang="zh-CN" altLang="en-US" sz="2400" dirty="0">
                <a:latin typeface="微软雅黑" panose="020B0503020204020204" pitchFamily="34" charset="-122"/>
                <a:ea typeface="微软雅黑" panose="020B0503020204020204" pitchFamily="34" charset="-122"/>
              </a:rPr>
              <a:t>建立二叉树</a:t>
            </a:r>
            <a:endParaRPr lang="en-US" altLang="zh-CN" sz="2400" dirty="0">
              <a:latin typeface="微软雅黑" panose="020B0503020204020204" pitchFamily="34" charset="-122"/>
              <a:ea typeface="微软雅黑" panose="020B0503020204020204" pitchFamily="34" charset="-122"/>
            </a:endParaRPr>
          </a:p>
          <a:p>
            <a:pPr lvl="1" eaLnBrk="1" hangingPunct="1"/>
            <a:endParaRPr lang="en-US" altLang="zh-CN" sz="2400" dirty="0">
              <a:latin typeface="微软雅黑" panose="020B0503020204020204" pitchFamily="34" charset="-122"/>
              <a:ea typeface="微软雅黑" panose="020B0503020204020204" pitchFamily="34" charset="-122"/>
            </a:endParaRPr>
          </a:p>
        </p:txBody>
      </p:sp>
      <p:sp>
        <p:nvSpPr>
          <p:cNvPr id="5" name="Rectangle 4"/>
          <p:cNvSpPr>
            <a:spLocks noChangeArrowheads="1"/>
          </p:cNvSpPr>
          <p:nvPr/>
        </p:nvSpPr>
        <p:spPr bwMode="auto">
          <a:xfrm>
            <a:off x="690245" y="1588135"/>
            <a:ext cx="9073515" cy="451358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按先序次序输入结点值的方式建立二叉树</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a:t>
            </a:r>
            <a:r>
              <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template&lt;class 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BinaryTree&lt;ElemType&gt;::_Create1(BTNode&lt;ElemType&gt; * &amp;T,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ElemType ch[],const ElemType &amp;c,int &amp;i)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if(ch[i]==c) //c</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为特殊数据</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用以标示空指针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T=NULL;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else{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T=new BTNode&lt;ElemType&gt;;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T-&gt;data=ch[i];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_Create1(T-&gt;lchild,ch,c,++i);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_Create1(T-&gt;rchild,ch,c,++i);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4.2.7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几个二叉树基本操作的例子</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7" name="Rectangle 3"/>
          <p:cNvSpPr>
            <a:spLocks noGrp="1"/>
          </p:cNvSpPr>
          <p:nvPr>
            <p:ph type="body" idx="4294967295"/>
          </p:nvPr>
        </p:nvSpPr>
        <p:spPr>
          <a:xfrm>
            <a:off x="509270" y="1033780"/>
            <a:ext cx="10781665" cy="4651375"/>
          </a:xfrm>
        </p:spPr>
        <p:txBody>
          <a:bodyPr vert="horz" wrap="square" lIns="91440" tIns="45720" rIns="91440" bIns="45720" anchor="t" anchorCtr="0"/>
          <a:p>
            <a:pPr eaLnBrk="1" hangingPunct="1">
              <a:lnSpc>
                <a:spcPct val="150000"/>
              </a:lnSpc>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销毁二叉树</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nSpc>
                <a:spcPct val="15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如果二叉树为空则结束，否则：</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algn="l">
              <a:lnSpc>
                <a:spcPct val="150000"/>
              </a:lnSpc>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（1）销毁左子树。</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gn="l">
              <a:lnSpc>
                <a:spcPct val="15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（2）销毁右子树。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gn="l">
              <a:lnSpc>
                <a:spcPct val="15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（3）释放根结点。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显</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然，这是一个递归的过程，借助了后序遍历的思想</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4.2.7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几个二叉树基本操作的例子</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1" name="Rectangle 3"/>
          <p:cNvSpPr>
            <a:spLocks noGrp="1"/>
          </p:cNvSpPr>
          <p:nvPr>
            <p:ph type="body" idx="4294967295"/>
          </p:nvPr>
        </p:nvSpPr>
        <p:spPr>
          <a:xfrm>
            <a:off x="482600" y="1132205"/>
            <a:ext cx="9728200" cy="4658995"/>
          </a:xfrm>
        </p:spPr>
        <p:txBody>
          <a:bodyPr vert="horz" wrap="square" lIns="91440" tIns="45720" rIns="91440" bIns="45720" anchor="t" anchorCtr="0"/>
          <a:p>
            <a:pPr eaLnBrk="1" hangingPunct="1"/>
            <a:r>
              <a:rPr lang="zh-CN" altLang="zh-CN" sz="2400" dirty="0">
                <a:latin typeface="微软雅黑" panose="020B0503020204020204" pitchFamily="34" charset="-122"/>
                <a:ea typeface="微软雅黑" panose="020B0503020204020204" pitchFamily="34" charset="-122"/>
              </a:rPr>
              <a:t>销毁</a:t>
            </a:r>
            <a:r>
              <a:rPr lang="zh-CN" altLang="en-US" sz="2400" dirty="0">
                <a:latin typeface="微软雅黑" panose="020B0503020204020204" pitchFamily="34" charset="-122"/>
                <a:ea typeface="微软雅黑" panose="020B0503020204020204" pitchFamily="34" charset="-122"/>
              </a:rPr>
              <a:t>二叉树</a:t>
            </a:r>
            <a:endParaRPr lang="en-US" altLang="zh-CN" sz="2400" dirty="0">
              <a:latin typeface="微软雅黑" panose="020B0503020204020204" pitchFamily="34" charset="-122"/>
              <a:ea typeface="微软雅黑" panose="020B0503020204020204" pitchFamily="34" charset="-122"/>
            </a:endParaRPr>
          </a:p>
          <a:p>
            <a:pPr lvl="1" eaLnBrk="1" hangingPunct="1"/>
            <a:endParaRPr lang="en-US" altLang="zh-CN" sz="2400" dirty="0">
              <a:latin typeface="微软雅黑" panose="020B0503020204020204" pitchFamily="34" charset="-122"/>
              <a:ea typeface="微软雅黑" panose="020B0503020204020204" pitchFamily="34" charset="-122"/>
            </a:endParaRPr>
          </a:p>
        </p:txBody>
      </p:sp>
      <p:sp>
        <p:nvSpPr>
          <p:cNvPr id="5" name="Rectangle 4"/>
          <p:cNvSpPr>
            <a:spLocks noChangeArrowheads="1"/>
          </p:cNvSpPr>
          <p:nvPr/>
        </p:nvSpPr>
        <p:spPr bwMode="auto">
          <a:xfrm>
            <a:off x="482600" y="1717040"/>
            <a:ext cx="9476105" cy="391477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销毁二叉链表形式的二叉树</a:t>
            </a:r>
            <a:r>
              <a:rPr kumimoji="0" lang="en-US" altLang="zh-CN"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 </a:t>
            </a:r>
            <a:endParaRPr kumimoji="0" lang="en-US" altLang="zh-CN"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template &lt;class 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void BinaryTree&lt;ElemType&gt;::_Destroy(BTNode&lt;ElemType&gt;* &amp;T)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if(T){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_Destroy(T-&gt;lchild);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_Destroy(T-&gt;rchild);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delete 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T=NULL;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4.2.7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几个二叉树基本操作的例子</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Rectangle 3"/>
          <p:cNvSpPr>
            <a:spLocks noGrp="1"/>
          </p:cNvSpPr>
          <p:nvPr>
            <p:ph type="body" idx="4294967295"/>
          </p:nvPr>
        </p:nvSpPr>
        <p:spPr>
          <a:xfrm>
            <a:off x="516255" y="1087120"/>
            <a:ext cx="10706735" cy="4465955"/>
          </a:xfrm>
        </p:spPr>
        <p:txBody>
          <a:bodyPr vert="horz" wrap="square" lIns="91440" tIns="45720" rIns="91440" bIns="45720" anchor="t" anchorCtr="0"/>
          <a:p>
            <a:pPr eaLnBrk="1" hangingPunct="1">
              <a:lnSpc>
                <a:spcPct val="150000"/>
              </a:lnSpc>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求二叉树深度的算法 </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nSpc>
                <a:spcPct val="15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如果二叉树为空则深度为0，否则：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（1）求二叉树左子树的深度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（2）求二叉树右子树的深度</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（3）二叉树的深度是左、右深度大的那棵子树的深度</a:t>
            </a:r>
            <a:r>
              <a:rPr lang="zh-CN"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加1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这也是一个递归的过程，可借助后序遍历思想实现。</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4.2.7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几个二叉树基本操作的例子</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燕尾形 1"/>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9" name="Rectangle 3"/>
          <p:cNvSpPr>
            <a:spLocks noGrp="1"/>
          </p:cNvSpPr>
          <p:nvPr>
            <p:ph type="body" idx="4294967295"/>
          </p:nvPr>
        </p:nvSpPr>
        <p:spPr>
          <a:xfrm>
            <a:off x="537210" y="1104900"/>
            <a:ext cx="9673590" cy="4686300"/>
          </a:xfrm>
        </p:spPr>
        <p:txBody>
          <a:bodyPr vert="horz" wrap="square" lIns="91440" tIns="45720" rIns="91440" bIns="45720" anchor="t" anchorCtr="0"/>
          <a:p>
            <a:pPr eaLnBrk="1" hangingPunct="1"/>
            <a:r>
              <a:rPr lang="zh-CN" altLang="zh-CN" sz="2400" dirty="0">
                <a:latin typeface="微软雅黑" panose="020B0503020204020204" pitchFamily="34" charset="-122"/>
                <a:ea typeface="微软雅黑" panose="020B0503020204020204" pitchFamily="34" charset="-122"/>
              </a:rPr>
              <a:t>求二叉树深度的算法</a:t>
            </a:r>
            <a:endParaRPr lang="en-US" altLang="zh-CN" sz="2400" dirty="0">
              <a:latin typeface="微软雅黑" panose="020B0503020204020204" pitchFamily="34" charset="-122"/>
              <a:ea typeface="微软雅黑" panose="020B0503020204020204" pitchFamily="34" charset="-122"/>
            </a:endParaRPr>
          </a:p>
          <a:p>
            <a:pPr lvl="1" eaLnBrk="1" hangingPunct="1"/>
            <a:endParaRPr lang="en-US" altLang="zh-CN" sz="2400" dirty="0">
              <a:latin typeface="微软雅黑" panose="020B0503020204020204" pitchFamily="34" charset="-122"/>
              <a:ea typeface="微软雅黑" panose="020B0503020204020204" pitchFamily="34" charset="-122"/>
            </a:endParaRPr>
          </a:p>
        </p:txBody>
      </p:sp>
      <p:sp>
        <p:nvSpPr>
          <p:cNvPr id="5" name="Rectangle 4"/>
          <p:cNvSpPr>
            <a:spLocks noChangeArrowheads="1"/>
          </p:cNvSpPr>
          <p:nvPr/>
        </p:nvSpPr>
        <p:spPr bwMode="auto">
          <a:xfrm>
            <a:off x="709930" y="1813560"/>
            <a:ext cx="10146030" cy="366903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求二叉树的深度</a:t>
            </a:r>
            <a:r>
              <a:rPr kumimoji="0" lang="zh-CN"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BinaryTree&lt;ElemType&gt;::_Depth(BTNode&lt;ElemType&gt;* T)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if(!T)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0;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h1,h2;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h1=_Depth(T-&gt;lchild);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h2=_Depth(T-&gt;rchild);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h1&gt;h2</a:t>
            </a:r>
            <a:r>
              <a:rPr kumimoji="0" lang="en-US" altLang="zh-CN"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h1+1</a:t>
            </a:r>
            <a:r>
              <a:rPr kumimoji="0" lang="en-US" altLang="zh-CN"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h2+1;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4.2.7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几个二叉树基本操作的例子</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a:spLocks noChangeArrowheads="1"/>
          </p:cNvSpPr>
          <p:nvPr/>
        </p:nvSpPr>
        <p:spPr bwMode="auto">
          <a:xfrm>
            <a:off x="591820" y="934720"/>
            <a:ext cx="9736455" cy="582104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中序遍历二叉树的非递归算法(利用栈)</a:t>
            </a:r>
            <a:endParaRPr kumimoji="0" lang="en-US" altLang="zh-CN"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算法思想见</a:t>
            </a:r>
            <a:r>
              <a:rPr kumimoji="0" lang="en-US" altLang="zh-CN"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P119</a:t>
            </a:r>
            <a:r>
              <a:rPr kumimoji="0" lang="en-US" altLang="en-US"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BinaryTree&lt;ElemType&gt; ::InorderTraverseNonRecursive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(*visit)(constElemType &amp;e))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stack&lt;BTNode&lt;ElemType&gt; *&gt; S;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S.push(m_root); //根指针进栈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while(!S.empty()) {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BTNode&lt;ElemType&gt; *p;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p=S.top ();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while(p){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p=p-&gt;lchild;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S.push(p); // </a:t>
            </a:r>
            <a:r>
              <a:rPr kumimoji="0" lang="zh-CN"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向左走到尽头 </a:t>
            </a:r>
            <a:endParaRPr kumimoji="0" lang="zh-CN"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S.pop(); // 空指针退栈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if(!S.empty()){ // 访问结点,向右一步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p=S.top ();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S.pop();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visit(p-&gt;data);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S.push(p-&gt;rchild);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4.2.8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二叉树的非递归遍历 </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7" name="Rectangle 7"/>
          <p:cNvSpPr/>
          <p:nvPr/>
        </p:nvSpPr>
        <p:spPr>
          <a:xfrm>
            <a:off x="5942965" y="1334453"/>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62468" name="Object 6"/>
          <p:cNvGraphicFramePr>
            <a:graphicFrameLocks noChangeAspect="1"/>
          </p:cNvGraphicFramePr>
          <p:nvPr/>
        </p:nvGraphicFramePr>
        <p:xfrm>
          <a:off x="1029970" y="832485"/>
          <a:ext cx="9475470" cy="6093460"/>
        </p:xfrm>
        <a:graphic>
          <a:graphicData uri="http://schemas.openxmlformats.org/presentationml/2006/ole">
            <mc:AlternateContent xmlns:mc="http://schemas.openxmlformats.org/markup-compatibility/2006">
              <mc:Choice xmlns:v="urn:schemas-microsoft-com:vml" Requires="v">
                <p:oleObj spid="_x0000_s3077" name="" r:id="rId1" imgW="7175500" imgH="5105400" progId="Visio.Drawing.11">
                  <p:embed/>
                </p:oleObj>
              </mc:Choice>
              <mc:Fallback>
                <p:oleObj name="" r:id="rId1" imgW="7175500" imgH="5105400" progId="Visio.Drawing.11">
                  <p:embed/>
                  <p:pic>
                    <p:nvPicPr>
                      <p:cNvPr id="0" name="图片 3076"/>
                      <p:cNvPicPr/>
                      <p:nvPr/>
                    </p:nvPicPr>
                    <p:blipFill>
                      <a:blip r:embed="rId2"/>
                      <a:stretch>
                        <a:fillRect/>
                      </a:stretch>
                    </p:blipFill>
                    <p:spPr>
                      <a:xfrm>
                        <a:off x="1029970" y="832485"/>
                        <a:ext cx="9475470" cy="6093460"/>
                      </a:xfrm>
                      <a:prstGeom prst="rect">
                        <a:avLst/>
                      </a:prstGeom>
                      <a:noFill/>
                      <a:ln w="38100">
                        <a:noFill/>
                        <a:miter/>
                      </a:ln>
                    </p:spPr>
                  </p:pic>
                </p:oleObj>
              </mc:Fallback>
            </mc:AlternateContent>
          </a:graphicData>
        </a:graphic>
      </p:graphicFrame>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中序非递归遍历二叉树时栈的变化示例 </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a:spLocks noChangeArrowheads="1"/>
          </p:cNvSpPr>
          <p:nvPr/>
        </p:nvSpPr>
        <p:spPr bwMode="auto">
          <a:xfrm>
            <a:off x="668020" y="975995"/>
            <a:ext cx="9954260" cy="534479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en-US"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层次遍历二叉树的非递归算法(利用队列) </a:t>
            </a:r>
            <a:endParaRPr kumimoji="0" lang="en-US" altLang="en-US"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BinaryTree&lt;ElemType&gt; ::LevelTraverse(</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(*visit)(const ElemType &amp;e))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queue&lt;BTNode&lt;ElemType&gt; *&gt; Q;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if(m_root)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Q.push(m_root); // 根指针进队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while(!Q.empty()) {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BTNode&lt;ElemType&gt; *p;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p=Q.front (); // 取队头指针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Q.pop ();//出队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visit(p-&gt;data); // 访问队头指针所指元素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if(p-&gt;lchild)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Q.push (p-&gt;lchild); // 非空的左孩子指针进队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if(p-&gt;rchild)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Q.push(p-&gt;rchild); // 非空的右孩子指针进队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3492" name="Rectangle 3"/>
          <p:cNvSpPr/>
          <p:nvPr/>
        </p:nvSpPr>
        <p:spPr>
          <a:xfrm>
            <a:off x="1981200" y="1295400"/>
            <a:ext cx="8229600" cy="4495800"/>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buNone/>
            </a:pPr>
            <a:endParaRPr lang="en-US" altLang="zh-CN" dirty="0"/>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4.2.8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二叉树的非递归遍历 </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a:spLocks noChangeArrowheads="1"/>
          </p:cNvSpPr>
          <p:nvPr/>
        </p:nvSpPr>
        <p:spPr bwMode="auto">
          <a:xfrm>
            <a:off x="621665" y="1295400"/>
            <a:ext cx="10545445" cy="459994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返回二叉树</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中元素值为</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的结点的指针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BinaryTree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_Locate(</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bt,const</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&amp;e)</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-&gt;data == e)</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*q;</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q = _Locate(</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 (q)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q;</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q = _Locate(</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q;</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4516" name="Rectangle 3"/>
          <p:cNvSpPr/>
          <p:nvPr/>
        </p:nvSpPr>
        <p:spPr>
          <a:xfrm>
            <a:off x="1981200" y="1295400"/>
            <a:ext cx="8229600" cy="4495800"/>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buNone/>
            </a:pPr>
            <a:endParaRPr lang="en-US" altLang="zh-CN" dirty="0"/>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4.2.9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其他部分成员函数的实现 </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6066" y="10351"/>
                <a:ext cx="428" cy="319"/>
                <a:chOff x="1180190" y="6561344"/>
                <a:chExt cx="271682" cy="202424"/>
              </a:xfrm>
            </p:grpSpPr>
            <p:sp>
              <p:nvSpPr>
                <p:cNvPr id="11" name="燕尾形 10"/>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a:spLocks noChangeArrowheads="1"/>
          </p:cNvSpPr>
          <p:nvPr/>
        </p:nvSpPr>
        <p:spPr bwMode="auto">
          <a:xfrm>
            <a:off x="707390" y="1483360"/>
            <a:ext cx="10046335" cy="411988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//返回二叉树T中结点的左兄弟结点指针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BTNode&lt;ElemType&gt;* BinaryTree&lt;ElemType&gt;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::LeftSibling (BTNode&lt;ElemType&gt; *p)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BTNode&lt;ElemType&gt; *father;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father=Parent (p);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if(father &amp;&amp; father-&gt;rchild==p )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father-&gt;lchild;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NULL;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5540" name="Rectangle 3"/>
          <p:cNvSpPr/>
          <p:nvPr/>
        </p:nvSpPr>
        <p:spPr>
          <a:xfrm>
            <a:off x="1981200" y="1295400"/>
            <a:ext cx="8229600" cy="4495800"/>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buNone/>
            </a:pPr>
            <a:endParaRPr lang="en-US" altLang="zh-CN" dirty="0"/>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4.2.9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其他部分成员函数的实现 </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a:spLocks noChangeArrowheads="1"/>
          </p:cNvSpPr>
          <p:nvPr/>
        </p:nvSpPr>
        <p:spPr bwMode="auto">
          <a:xfrm>
            <a:off x="617220" y="1249680"/>
            <a:ext cx="10218420" cy="491744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返回二叉树T中</a:t>
            </a:r>
            <a:r>
              <a:rPr kumimoji="0" lang="en-US" altLang="en-US" sz="1800" b="1" i="0" u="none" strike="noStrike" kern="1200" cap="none" spc="0" normalizeH="0" baseline="0" noProof="0" dirty="0" err="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元素值为e的结点</a:t>
            </a:r>
            <a:r>
              <a:rPr kumimoji="0" lang="en-US" altLang="en-US" sz="18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zh-CN" altLang="en-US" sz="18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指针指向值为</a:t>
            </a:r>
            <a:r>
              <a:rPr kumimoji="0" lang="en-US" altLang="zh-CN" sz="18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a:t>
            </a:r>
            <a:r>
              <a:rPr kumimoji="0" lang="zh-CN" altLang="en-US" sz="18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的结点</a:t>
            </a:r>
            <a:r>
              <a:rPr kumimoji="0" lang="en-US" altLang="en-US" sz="1800" b="1"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的双亲结点指针</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BinaryTree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::_Parent(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T,BTNode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r>
              <a:rPr kumimoji="0" lang="en-US" alt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if(T==NULL || T==p)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NULL;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if(T-&gt;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 || T-&gt;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T;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*q;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q=_Parent (T-&gt;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 </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左分支走到尽头</a:t>
            </a:r>
            <a:endParaRPr kumimoji="0" lang="en-US"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if(q)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q;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 =_Parent (T-&gt;</a:t>
            </a:r>
            <a:r>
              <a:rPr kumimoji="0" lang="en-US" altLang="en-US"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rchild,p</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从最近的不为空的右分支开始查找</a:t>
            </a:r>
            <a:endParaRPr kumimoji="0" lang="en-US" altLang="zh-CN" sz="18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q; </a:t>
            </a:r>
            <a:endPar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6564" name="Rectangle 3"/>
          <p:cNvSpPr/>
          <p:nvPr/>
        </p:nvSpPr>
        <p:spPr>
          <a:xfrm>
            <a:off x="2059940" y="1295400"/>
            <a:ext cx="8229600" cy="4495800"/>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buNone/>
            </a:pPr>
            <a:endParaRPr lang="en-US" altLang="zh-CN" dirty="0"/>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4.2.9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其他部分成员函数的实现 </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a:spLocks noChangeArrowheads="1"/>
          </p:cNvSpPr>
          <p:nvPr/>
        </p:nvSpPr>
        <p:spPr bwMode="auto">
          <a:xfrm>
            <a:off x="631825" y="1295400"/>
            <a:ext cx="10490835" cy="417449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复制一棵子树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BTNode&lt;ElemType&gt;* BinaryTree&lt;ElemType&gt;::_Copy( BTNode&lt;ElemType&gt;* 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if(T==NULL)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NULL;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BTNode&lt;ElemType&gt; *p;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p=new BTNode&lt;ElemType&gt;;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p-&gt;data=T-&gt;data;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p-&gt;lchild=_Copy(T-&gt;lchild);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p-&gt;rchild=_Copy(T-&gt;rchild);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p;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7588" name="Rectangle 3"/>
          <p:cNvSpPr/>
          <p:nvPr/>
        </p:nvSpPr>
        <p:spPr>
          <a:xfrm>
            <a:off x="1905000" y="1295400"/>
            <a:ext cx="8229600" cy="4495800"/>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buNone/>
            </a:pPr>
            <a:endParaRPr lang="en-US" altLang="zh-CN" dirty="0"/>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4.2.9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其他部分成员函数的实现 </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4"/>
          <p:cNvSpPr>
            <a:spLocks noChangeArrowheads="1"/>
          </p:cNvSpPr>
          <p:nvPr/>
        </p:nvSpPr>
        <p:spPr bwMode="auto">
          <a:xfrm>
            <a:off x="538480" y="914400"/>
            <a:ext cx="10536555" cy="546735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设</a:t>
            </a:r>
            <a:r>
              <a:rPr kumimoji="0" lang="zh-CN" altLang="en-US"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置</a:t>
            </a:r>
            <a:r>
              <a:rPr kumimoji="0" lang="en-US" altLang="en-US"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条件插入</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初始条件：二叉树m_T存在</a:t>
            </a:r>
            <a:r>
              <a:rPr kumimoji="0" lang="en-US" altLang="en-US"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en-US" sz="1800" b="1"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e是m_T中某个结点</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,LR为0或1,以复制对象的方式获</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得的非空二叉树s与m_T不相交且右子树为空。操作结果：根据LR为0或1,插入s</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5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为T中e结点的左或右子树 e结点的原有左或右子树则成为s的右子树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bool BinaryTree&lt;ElemType&gt;::InsertChild(BTNode&lt;ElemType&gt; *</a:t>
            </a:r>
            <a:r>
              <a:rPr kumimoji="0" lang="en-US" altLang="en-US" sz="1800" b="1"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const int &amp;LR,BinaryTree&lt;char&gt; &amp;r)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BTNode&lt;ElemType&gt;</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*q,*s;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if(p){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q=r.Root(); //取对象根结点指针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s=_Copy(q); //对象复制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 (LR==0) {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s-&gt;rchild=p-&gt;lchild;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p-&gt;lchild=s;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else{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s-&gt;rchild=p-&gt;rchild;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p-&gt;rchild=s;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true;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false;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8612" name="Rectangle 3"/>
          <p:cNvSpPr/>
          <p:nvPr/>
        </p:nvSpPr>
        <p:spPr>
          <a:xfrm>
            <a:off x="1905000" y="1295400"/>
            <a:ext cx="8229600" cy="4495800"/>
          </a:xfrm>
          <a:prstGeom prst="rect">
            <a:avLst/>
          </a:prstGeom>
          <a:noFill/>
          <a:ln w="9525">
            <a:noFill/>
          </a:ln>
        </p:spPr>
        <p:txBody>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42900" lvl="0" indent="-342900" eaLnBrk="1" hangingPunct="1">
              <a:buNone/>
            </a:pPr>
            <a:endParaRPr lang="en-US" altLang="zh-CN" dirty="0"/>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4.2.9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其他部分成员函数的实现 </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5" name="内容占位符 2"/>
          <p:cNvSpPr>
            <a:spLocks noGrp="1"/>
          </p:cNvSpPr>
          <p:nvPr>
            <p:ph idx="1"/>
          </p:nvPr>
        </p:nvSpPr>
        <p:spPr>
          <a:xfrm>
            <a:off x="313055" y="1196340"/>
            <a:ext cx="7239000" cy="1447800"/>
          </a:xfrm>
        </p:spPr>
        <p:txBody>
          <a:bodyPr vert="horz" wrap="square" lIns="91440" tIns="45720" rIns="91440" bIns="45720" anchor="t" anchorCtr="0"/>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更多的类模版函数见</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BinaryTree.h</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Times New Roman" panose="02020603050405020304" pitchFamily="18" charset="0"/>
                <a:cs typeface="Times New Roman" panose="02020603050405020304" pitchFamily="18" charset="0"/>
                <a:sym typeface="+mn-ea"/>
              </a:rPr>
              <a:t>More…</a:t>
            </a:r>
            <a:endParaRPr lang="en-US" altLang="zh-CN" sz="3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Rectangle 3"/>
          <p:cNvSpPr>
            <a:spLocks noGrp="1"/>
          </p:cNvSpPr>
          <p:nvPr>
            <p:ph idx="1"/>
          </p:nvPr>
        </p:nvSpPr>
        <p:spPr>
          <a:xfrm>
            <a:off x="361315" y="1068070"/>
            <a:ext cx="10924540" cy="5275580"/>
          </a:xfrm>
        </p:spPr>
        <p:txBody>
          <a:bodyPr vert="horz" wrap="square" lIns="91440" tIns="45720" rIns="91440" bIns="45720" anchor="t" anchorCtr="0"/>
          <a:p>
            <a:pPr eaLnBrk="1" hangingPunct="1">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遍历二叉树的结果是，求得结点的一个线性序列。</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200000"/>
              </a:lnSpc>
            </a:pPr>
            <a:r>
              <a:rPr lang="zh-CN" altLang="pt-BR" sz="2000" dirty="0">
                <a:latin typeface="微软雅黑" panose="020B0503020204020204" pitchFamily="34" charset="-122"/>
                <a:ea typeface="微软雅黑" panose="020B0503020204020204" pitchFamily="34" charset="-122"/>
                <a:cs typeface="微软雅黑" panose="020B0503020204020204" pitchFamily="34" charset="-122"/>
              </a:rPr>
              <a:t>先序序列</a:t>
            </a:r>
            <a:r>
              <a:rPr lang="pt-BR"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pt-BR"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中序序列</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50000"/>
              </a:lnSpc>
            </a:pPr>
            <a:r>
              <a:rPr lang="zh-CN" altLang="pt-BR" sz="2000" dirty="0">
                <a:latin typeface="微软雅黑" panose="020B0503020204020204" pitchFamily="34" charset="-122"/>
                <a:ea typeface="微软雅黑" panose="020B0503020204020204" pitchFamily="34" charset="-122"/>
                <a:cs typeface="微软雅黑" panose="020B0503020204020204" pitchFamily="34" charset="-122"/>
              </a:rPr>
              <a:t>后序序列</a:t>
            </a:r>
            <a:r>
              <a:rPr lang="pt-BR"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i="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0660" name="Line 13"/>
          <p:cNvSpPr/>
          <p:nvPr/>
        </p:nvSpPr>
        <p:spPr>
          <a:xfrm flipH="1">
            <a:off x="3352800" y="3352800"/>
            <a:ext cx="1981200" cy="533400"/>
          </a:xfrm>
          <a:prstGeom prst="line">
            <a:avLst/>
          </a:prstGeom>
          <a:ln w="38100" cap="sq" cmpd="sng">
            <a:solidFill>
              <a:schemeClr val="tx1"/>
            </a:solidFill>
            <a:prstDash val="solid"/>
            <a:headEnd type="none" w="sm" len="sm"/>
            <a:tailEnd type="none" w="sm" len="sm"/>
          </a:ln>
        </p:spPr>
      </p:sp>
      <p:sp>
        <p:nvSpPr>
          <p:cNvPr id="70661" name="Line 14"/>
          <p:cNvSpPr/>
          <p:nvPr/>
        </p:nvSpPr>
        <p:spPr>
          <a:xfrm>
            <a:off x="3581400" y="4038600"/>
            <a:ext cx="1219200" cy="609600"/>
          </a:xfrm>
          <a:prstGeom prst="line">
            <a:avLst/>
          </a:prstGeom>
          <a:ln w="38100" cap="sq" cmpd="sng">
            <a:solidFill>
              <a:schemeClr val="tx1"/>
            </a:solidFill>
            <a:prstDash val="solid"/>
            <a:headEnd type="none" w="sm" len="sm"/>
            <a:tailEnd type="none" w="sm" len="sm"/>
          </a:ln>
        </p:spPr>
      </p:sp>
      <p:sp>
        <p:nvSpPr>
          <p:cNvPr id="70662" name="Line 15"/>
          <p:cNvSpPr/>
          <p:nvPr/>
        </p:nvSpPr>
        <p:spPr>
          <a:xfrm flipH="1">
            <a:off x="4114800" y="4800600"/>
            <a:ext cx="457200" cy="685800"/>
          </a:xfrm>
          <a:prstGeom prst="line">
            <a:avLst/>
          </a:prstGeom>
          <a:ln w="38100" cap="sq" cmpd="sng">
            <a:solidFill>
              <a:schemeClr val="tx1"/>
            </a:solidFill>
            <a:prstDash val="solid"/>
            <a:headEnd type="none" w="sm" len="sm"/>
            <a:tailEnd type="none" w="sm" len="sm"/>
          </a:ln>
        </p:spPr>
      </p:sp>
      <p:sp>
        <p:nvSpPr>
          <p:cNvPr id="70663" name="Line 16"/>
          <p:cNvSpPr/>
          <p:nvPr/>
        </p:nvSpPr>
        <p:spPr>
          <a:xfrm>
            <a:off x="5791200" y="3352800"/>
            <a:ext cx="1295400" cy="533400"/>
          </a:xfrm>
          <a:prstGeom prst="line">
            <a:avLst/>
          </a:prstGeom>
          <a:ln w="38100" cap="sq" cmpd="sng">
            <a:solidFill>
              <a:schemeClr val="tx1"/>
            </a:solidFill>
            <a:prstDash val="solid"/>
            <a:headEnd type="none" w="sm" len="sm"/>
            <a:tailEnd type="none" w="sm" len="sm"/>
          </a:ln>
        </p:spPr>
      </p:sp>
      <p:sp>
        <p:nvSpPr>
          <p:cNvPr id="70664" name="Line 17"/>
          <p:cNvSpPr/>
          <p:nvPr/>
        </p:nvSpPr>
        <p:spPr>
          <a:xfrm flipH="1">
            <a:off x="6400800" y="4191000"/>
            <a:ext cx="457200" cy="457200"/>
          </a:xfrm>
          <a:prstGeom prst="line">
            <a:avLst/>
          </a:prstGeom>
          <a:ln w="38100" cap="sq" cmpd="sng">
            <a:solidFill>
              <a:schemeClr val="tx1"/>
            </a:solidFill>
            <a:prstDash val="solid"/>
            <a:headEnd type="none" w="sm" len="sm"/>
            <a:tailEnd type="none" w="sm" len="sm"/>
          </a:ln>
        </p:spPr>
      </p:sp>
      <p:sp>
        <p:nvSpPr>
          <p:cNvPr id="70665" name="Line 18"/>
          <p:cNvSpPr/>
          <p:nvPr/>
        </p:nvSpPr>
        <p:spPr>
          <a:xfrm flipH="1">
            <a:off x="5715000" y="4800600"/>
            <a:ext cx="457200" cy="609600"/>
          </a:xfrm>
          <a:prstGeom prst="line">
            <a:avLst/>
          </a:prstGeom>
          <a:ln w="38100" cap="sq" cmpd="sng">
            <a:solidFill>
              <a:schemeClr val="tx1"/>
            </a:solidFill>
            <a:prstDash val="solid"/>
            <a:headEnd type="none" w="sm" len="sm"/>
            <a:tailEnd type="none" w="sm" len="sm"/>
          </a:ln>
        </p:spPr>
      </p:sp>
      <p:sp>
        <p:nvSpPr>
          <p:cNvPr id="70666" name="Line 19"/>
          <p:cNvSpPr/>
          <p:nvPr/>
        </p:nvSpPr>
        <p:spPr>
          <a:xfrm flipH="1">
            <a:off x="5181600" y="5562600"/>
            <a:ext cx="304800" cy="685800"/>
          </a:xfrm>
          <a:prstGeom prst="line">
            <a:avLst/>
          </a:prstGeom>
          <a:ln w="38100" cap="sq" cmpd="sng">
            <a:solidFill>
              <a:schemeClr val="tx1"/>
            </a:solidFill>
            <a:prstDash val="solid"/>
            <a:headEnd type="none" w="sm" len="sm"/>
            <a:tailEnd type="none" w="sm" len="sm"/>
          </a:ln>
        </p:spPr>
      </p:sp>
      <p:sp>
        <p:nvSpPr>
          <p:cNvPr id="70667" name="Line 20"/>
          <p:cNvSpPr/>
          <p:nvPr/>
        </p:nvSpPr>
        <p:spPr>
          <a:xfrm>
            <a:off x="5943600" y="5562600"/>
            <a:ext cx="304800" cy="685800"/>
          </a:xfrm>
          <a:prstGeom prst="line">
            <a:avLst/>
          </a:prstGeom>
          <a:ln w="38100" cap="sq" cmpd="sng">
            <a:solidFill>
              <a:schemeClr val="tx1"/>
            </a:solidFill>
            <a:prstDash val="solid"/>
            <a:headEnd type="none" w="sm" len="sm"/>
            <a:tailEnd type="none" w="sm" len="sm"/>
          </a:ln>
        </p:spPr>
      </p:sp>
      <p:sp>
        <p:nvSpPr>
          <p:cNvPr id="70668" name="Oval 4"/>
          <p:cNvSpPr/>
          <p:nvPr/>
        </p:nvSpPr>
        <p:spPr>
          <a:xfrm>
            <a:off x="5257800" y="3048000"/>
            <a:ext cx="533400" cy="5334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C00000"/>
                </a:solidFill>
                <a:ea typeface="宋体" panose="02010600030101010101" pitchFamily="2" charset="-122"/>
              </a:rPr>
              <a:t>A</a:t>
            </a:r>
            <a:endParaRPr lang="en-US" altLang="zh-CN" sz="3600" b="1" dirty="0">
              <a:solidFill>
                <a:srgbClr val="C00000"/>
              </a:solidFill>
              <a:ea typeface="宋体" panose="02010600030101010101" pitchFamily="2" charset="-122"/>
            </a:endParaRPr>
          </a:p>
        </p:txBody>
      </p:sp>
      <p:sp>
        <p:nvSpPr>
          <p:cNvPr id="70669" name="Oval 8"/>
          <p:cNvSpPr/>
          <p:nvPr/>
        </p:nvSpPr>
        <p:spPr>
          <a:xfrm>
            <a:off x="6858000" y="3810000"/>
            <a:ext cx="533400" cy="5334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333399"/>
                </a:solidFill>
                <a:ea typeface="宋体" panose="02010600030101010101" pitchFamily="2" charset="-122"/>
              </a:rPr>
              <a:t>E</a:t>
            </a:r>
            <a:endParaRPr lang="en-US" altLang="zh-CN" b="1" dirty="0">
              <a:solidFill>
                <a:srgbClr val="FFFFFF"/>
              </a:solidFill>
              <a:ea typeface="宋体" panose="02010600030101010101" pitchFamily="2" charset="-122"/>
            </a:endParaRPr>
          </a:p>
        </p:txBody>
      </p:sp>
      <p:sp>
        <p:nvSpPr>
          <p:cNvPr id="70670" name="Oval 9"/>
          <p:cNvSpPr/>
          <p:nvPr/>
        </p:nvSpPr>
        <p:spPr>
          <a:xfrm>
            <a:off x="6019800" y="4419600"/>
            <a:ext cx="533400" cy="5334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333399"/>
                </a:solidFill>
                <a:ea typeface="宋体" panose="02010600030101010101" pitchFamily="2" charset="-122"/>
              </a:rPr>
              <a:t>F</a:t>
            </a:r>
            <a:endParaRPr lang="en-US" altLang="zh-CN" b="1" dirty="0">
              <a:solidFill>
                <a:srgbClr val="FFFFFF"/>
              </a:solidFill>
              <a:ea typeface="宋体" panose="02010600030101010101" pitchFamily="2" charset="-122"/>
            </a:endParaRPr>
          </a:p>
        </p:txBody>
      </p:sp>
      <p:sp>
        <p:nvSpPr>
          <p:cNvPr id="70671" name="Oval 10"/>
          <p:cNvSpPr/>
          <p:nvPr/>
        </p:nvSpPr>
        <p:spPr>
          <a:xfrm>
            <a:off x="5410200" y="5257800"/>
            <a:ext cx="609600" cy="5334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333399"/>
                </a:solidFill>
                <a:ea typeface="宋体" panose="02010600030101010101" pitchFamily="2" charset="-122"/>
              </a:rPr>
              <a:t>G</a:t>
            </a:r>
            <a:endParaRPr lang="en-US" altLang="zh-CN" b="1" dirty="0">
              <a:solidFill>
                <a:srgbClr val="FFFFFF"/>
              </a:solidFill>
              <a:ea typeface="宋体" panose="02010600030101010101" pitchFamily="2" charset="-122"/>
            </a:endParaRPr>
          </a:p>
        </p:txBody>
      </p:sp>
      <p:sp>
        <p:nvSpPr>
          <p:cNvPr id="70672" name="Oval 12"/>
          <p:cNvSpPr/>
          <p:nvPr/>
        </p:nvSpPr>
        <p:spPr>
          <a:xfrm>
            <a:off x="6019800" y="6172200"/>
            <a:ext cx="533400" cy="4572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333399"/>
                </a:solidFill>
                <a:ea typeface="宋体" panose="02010600030101010101" pitchFamily="2" charset="-122"/>
              </a:rPr>
              <a:t>K</a:t>
            </a:r>
            <a:endParaRPr lang="en-US" altLang="zh-CN" b="1" dirty="0">
              <a:solidFill>
                <a:srgbClr val="FFFFFF"/>
              </a:solidFill>
              <a:ea typeface="宋体" panose="02010600030101010101" pitchFamily="2" charset="-122"/>
            </a:endParaRPr>
          </a:p>
        </p:txBody>
      </p:sp>
      <p:sp>
        <p:nvSpPr>
          <p:cNvPr id="70673" name="Oval 11"/>
          <p:cNvSpPr/>
          <p:nvPr/>
        </p:nvSpPr>
        <p:spPr>
          <a:xfrm>
            <a:off x="4876800" y="6172200"/>
            <a:ext cx="533400" cy="4572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333399"/>
                </a:solidFill>
                <a:ea typeface="宋体" panose="02010600030101010101" pitchFamily="2" charset="-122"/>
              </a:rPr>
              <a:t>H</a:t>
            </a:r>
            <a:endParaRPr lang="en-US" altLang="zh-CN" b="1" dirty="0">
              <a:solidFill>
                <a:srgbClr val="FFFFFF"/>
              </a:solidFill>
              <a:ea typeface="宋体" panose="02010600030101010101" pitchFamily="2" charset="-122"/>
            </a:endParaRPr>
          </a:p>
        </p:txBody>
      </p:sp>
      <p:sp>
        <p:nvSpPr>
          <p:cNvPr id="70674" name="Oval 6"/>
          <p:cNvSpPr/>
          <p:nvPr/>
        </p:nvSpPr>
        <p:spPr>
          <a:xfrm>
            <a:off x="4572000" y="4495800"/>
            <a:ext cx="533400" cy="5334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2060"/>
                </a:solidFill>
                <a:ea typeface="宋体" panose="02010600030101010101" pitchFamily="2" charset="-122"/>
              </a:rPr>
              <a:t>C</a:t>
            </a:r>
            <a:endParaRPr lang="en-US" altLang="zh-CN" b="1" dirty="0">
              <a:solidFill>
                <a:srgbClr val="002060"/>
              </a:solidFill>
              <a:ea typeface="宋体" panose="02010600030101010101" pitchFamily="2" charset="-122"/>
            </a:endParaRPr>
          </a:p>
        </p:txBody>
      </p:sp>
      <p:sp>
        <p:nvSpPr>
          <p:cNvPr id="70675" name="Oval 7"/>
          <p:cNvSpPr/>
          <p:nvPr/>
        </p:nvSpPr>
        <p:spPr>
          <a:xfrm>
            <a:off x="3733800" y="5486400"/>
            <a:ext cx="609600" cy="5334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2060"/>
                </a:solidFill>
                <a:ea typeface="宋体" panose="02010600030101010101" pitchFamily="2" charset="-122"/>
              </a:rPr>
              <a:t>D</a:t>
            </a:r>
            <a:endParaRPr lang="en-US" altLang="zh-CN" b="1" dirty="0">
              <a:solidFill>
                <a:srgbClr val="002060"/>
              </a:solidFill>
              <a:ea typeface="宋体" panose="02010600030101010101" pitchFamily="2" charset="-122"/>
            </a:endParaRPr>
          </a:p>
        </p:txBody>
      </p:sp>
      <p:sp>
        <p:nvSpPr>
          <p:cNvPr id="70676" name="Oval 5"/>
          <p:cNvSpPr/>
          <p:nvPr/>
        </p:nvSpPr>
        <p:spPr>
          <a:xfrm>
            <a:off x="2971800" y="3657600"/>
            <a:ext cx="609600" cy="609600"/>
          </a:xfrm>
          <a:prstGeom prst="ellipse">
            <a:avLst/>
          </a:prstGeom>
          <a:solidFill>
            <a:schemeClr val="accent1">
              <a:lumMod val="20000"/>
              <a:lumOff val="80000"/>
            </a:schemeClr>
          </a:solidFill>
          <a:ln w="12700" cap="sq" cmpd="sng">
            <a:solidFill>
              <a:schemeClr val="tx1"/>
            </a:solidFill>
            <a:prstDash val="solid"/>
            <a:headEnd type="none" w="sm" len="sm"/>
            <a:tailEnd type="none" w="sm" len="sm"/>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3600" b="1" dirty="0">
                <a:solidFill>
                  <a:srgbClr val="002060"/>
                </a:solidFill>
                <a:ea typeface="宋体" panose="02010600030101010101" pitchFamily="2" charset="-122"/>
              </a:rPr>
              <a:t>B</a:t>
            </a:r>
            <a:endParaRPr lang="en-US" altLang="zh-CN" b="1" dirty="0">
              <a:solidFill>
                <a:srgbClr val="002060"/>
              </a:solidFill>
              <a:ea typeface="宋体" panose="02010600030101010101" pitchFamily="2" charset="-122"/>
            </a:endParaRPr>
          </a:p>
        </p:txBody>
      </p:sp>
      <p:sp>
        <p:nvSpPr>
          <p:cNvPr id="2" name="TextBox 1"/>
          <p:cNvSpPr txBox="1"/>
          <p:nvPr/>
        </p:nvSpPr>
        <p:spPr>
          <a:xfrm>
            <a:off x="4267200" y="1747838"/>
            <a:ext cx="22529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1" indent="0" eaLnBrk="1" hangingPunct="1">
              <a:spcBef>
                <a:spcPct val="0"/>
              </a:spcBef>
              <a:buNone/>
            </a:pPr>
            <a:r>
              <a:rPr lang="pt-BR" altLang="zh-CN" sz="2000" b="1" i="1" dirty="0">
                <a:latin typeface="Times New Roman" panose="02020603050405020304" pitchFamily="18" charset="0"/>
                <a:cs typeface="Times New Roman" panose="02020603050405020304" pitchFamily="18" charset="0"/>
              </a:rPr>
              <a:t>A B C D E F G H K</a:t>
            </a:r>
            <a:endParaRPr lang="pt-BR" altLang="zh-CN" sz="2000" b="1" i="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241800" y="2205038"/>
            <a:ext cx="2289175"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pt-BR" altLang="zh-CN" sz="2000" b="1" dirty="0">
                <a:latin typeface="Times New Roman" panose="02020603050405020304" pitchFamily="18" charset="0"/>
                <a:cs typeface="Times New Roman" panose="02020603050405020304" pitchFamily="18" charset="0"/>
              </a:rPr>
              <a:t>B D C A H G K F E</a:t>
            </a:r>
            <a:endParaRPr lang="pt-BR" altLang="zh-CN" sz="20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229100" y="2662238"/>
            <a:ext cx="361950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1" indent="0" eaLnBrk="1" hangingPunct="1">
              <a:spcBef>
                <a:spcPct val="0"/>
              </a:spcBef>
              <a:buNone/>
            </a:pPr>
            <a:r>
              <a:rPr lang="pt-BR" altLang="zh-CN" sz="2000" b="1" i="1" dirty="0">
                <a:latin typeface="Times New Roman" panose="02020603050405020304" pitchFamily="18" charset="0"/>
                <a:cs typeface="Times New Roman" panose="02020603050405020304" pitchFamily="18" charset="0"/>
              </a:rPr>
              <a:t>D C B H K G F E A</a:t>
            </a:r>
            <a:endParaRPr lang="zh-CN" altLang="en-US" sz="2000" b="1" i="1" dirty="0">
              <a:latin typeface="Times New Roman" panose="02020603050405020304" pitchFamily="18" charset="0"/>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4.2.11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线索二叉树</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3" name="Rectangle 3"/>
          <p:cNvSpPr>
            <a:spLocks noGrp="1"/>
          </p:cNvSpPr>
          <p:nvPr>
            <p:ph idx="1"/>
          </p:nvPr>
        </p:nvSpPr>
        <p:spPr>
          <a:xfrm>
            <a:off x="483870" y="1290320"/>
            <a:ext cx="10869930" cy="4886960"/>
          </a:xfrm>
        </p:spPr>
        <p:txBody>
          <a:bodyPr vert="horz" wrap="square" lIns="91440" tIns="45720" rIns="91440" bIns="45720" anchor="t" anchorCtr="0"/>
          <a:p>
            <a:pPr eaLnBrk="1" hangingPunct="1">
              <a:lnSpc>
                <a:spcPct val="15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线索二叉树</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在二叉树的结点中，为了遍历方便，可以加入按某种遍历得到的线性序列中的“前驱</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”和“后继</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指针，称作“线索</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包含 “线索”</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的存储结构，称作 “线索链表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”，与其相应的二叉树，称作 “线索二叉树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对二叉树按某种遍历次序使其变为线索二叉树的过程称作“线索化</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endParaRPr lang="zh-CN" altLang="en-US" dirty="0"/>
          </a:p>
          <a:p>
            <a:pPr eaLnBrk="1" hangingPunct="1"/>
            <a:endParaRPr lang="zh-CN" altLang="en-US" dirty="0"/>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4.2.11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线索二叉树</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7" name="Rectangle 3"/>
          <p:cNvSpPr>
            <a:spLocks noGrp="1"/>
          </p:cNvSpPr>
          <p:nvPr>
            <p:ph idx="1"/>
          </p:nvPr>
        </p:nvSpPr>
        <p:spPr>
          <a:xfrm>
            <a:off x="275590" y="1026160"/>
            <a:ext cx="11078210" cy="5151120"/>
          </a:xfrm>
        </p:spPr>
        <p:txBody>
          <a:bodyPr vert="horz" wrap="square" lIns="91440" tIns="45720" rIns="91440" bIns="45720" anchor="t" anchorCtr="0">
            <a:normAutofit lnSpcReduction="20000"/>
          </a:bodyPr>
          <a:p>
            <a:pPr eaLnBrk="1" hangingPunct="1">
              <a:lnSpc>
                <a:spcPct val="190000"/>
              </a:lnSpc>
              <a:buFont typeface="Wingdings" panose="05000000000000000000" charset="0"/>
              <a:buChar char="Ø"/>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线索二叉树的约定</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90000"/>
              </a:lnSpc>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在二叉链表的结点中增加两个标志域</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ltag</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rtag</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，并作如下规定：</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lvl="2" eaLnBrk="1" hangingPunct="1">
              <a:lnSpc>
                <a:spcPct val="19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若该结点的左子树不空，则</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lchild</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域的指针指向其左子树，且左标志域</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ltag</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的值为</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marL="914400" lvl="2" indent="0" eaLnBrk="1" hangingPunct="1">
              <a:lnSpc>
                <a:spcPct val="190000"/>
              </a:lnSpc>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Link</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）”；否则，</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lchild</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域的指针指向其“前驱”，且左标志域</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ltag</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的值为</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marL="914400" lvl="2" indent="0" eaLnBrk="1" hangingPunct="1">
              <a:lnSpc>
                <a:spcPct val="190000"/>
              </a:lnSpc>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Thread</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2" eaLnBrk="1" hangingPunct="1">
              <a:lnSpc>
                <a:spcPct val="19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若该结点的右子树不空，则</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rchild</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域的指针指向其右子树，且右标志域</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rtag</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的值为</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marL="914400" lvl="2" indent="0" eaLnBrk="1" hangingPunct="1">
              <a:lnSpc>
                <a:spcPct val="190000"/>
              </a:lnSpc>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Link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）”；否则，</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rchild</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域的指针指向其“后继”，且右标志域</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rtag</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的值为</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marL="914400" lvl="2" indent="0" eaLnBrk="1" hangingPunct="1">
              <a:lnSpc>
                <a:spcPct val="190000"/>
              </a:lnSpc>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Thread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4.2.11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线索二叉树</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1" name="内容占位符 2"/>
          <p:cNvSpPr>
            <a:spLocks noGrp="1"/>
          </p:cNvSpPr>
          <p:nvPr>
            <p:ph idx="1"/>
          </p:nvPr>
        </p:nvSpPr>
        <p:spPr>
          <a:xfrm>
            <a:off x="457200" y="1017270"/>
            <a:ext cx="10896600" cy="5160010"/>
          </a:xfrm>
        </p:spPr>
        <p:txBody>
          <a:bodyPr vert="horz" wrap="square" lIns="91440" tIns="45720" rIns="91440" bIns="45720" anchor="t" anchorCtr="0"/>
          <a:p>
            <a:r>
              <a:rPr lang="zh-CN" altLang="en-US" sz="2400" dirty="0">
                <a:latin typeface="微软雅黑" panose="020B0503020204020204" pitchFamily="34" charset="-122"/>
                <a:ea typeface="微软雅黑" panose="020B0503020204020204" pitchFamily="34" charset="-122"/>
              </a:rPr>
              <a:t>线索二叉树的类型描述</a:t>
            </a:r>
            <a:endParaRPr lang="zh-CN" altLang="en-US" sz="2400" dirty="0">
              <a:latin typeface="微软雅黑" panose="020B0503020204020204" pitchFamily="34" charset="-122"/>
              <a:ea typeface="微软雅黑" panose="020B0503020204020204" pitchFamily="34" charset="-122"/>
            </a:endParaRPr>
          </a:p>
        </p:txBody>
      </p:sp>
      <p:sp>
        <p:nvSpPr>
          <p:cNvPr id="5" name="Rectangle 4"/>
          <p:cNvSpPr>
            <a:spLocks noChangeArrowheads="1"/>
          </p:cNvSpPr>
          <p:nvPr/>
        </p:nvSpPr>
        <p:spPr bwMode="auto">
          <a:xfrm>
            <a:off x="917575" y="1600200"/>
            <a:ext cx="9369425" cy="35814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1" i="0" u="none" strike="noStrike" kern="1200" cap="none" spc="0" normalizeH="0" baseline="0" noProof="0">
                <a:ln>
                  <a:noFill/>
                </a:ln>
                <a:solidFill>
                  <a:srgbClr val="C00000"/>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enum</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PointerTag { Link=0 ,Thread=1 };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template &lt;class ElemType&gt;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struct BiThrnode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ElemType data;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BiThrnode&lt;ElemType&gt;* Lchild;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BiThrnode&lt;ElemType&gt;* Rchild;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PointerTag Ltag, Rtag; </a:t>
            </a:r>
            <a:endPar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a:t>
            </a:r>
            <a:r>
              <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endParaRPr kumimoji="0" lang="en-US"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p:txBody>
      </p:sp>
      <p:pic>
        <p:nvPicPr>
          <p:cNvPr id="73733" name="Picture 6"/>
          <p:cNvPicPr>
            <a:picLocks noChangeAspect="1"/>
          </p:cNvPicPr>
          <p:nvPr/>
        </p:nvPicPr>
        <p:blipFill>
          <a:blip r:embed="rId1"/>
          <a:stretch>
            <a:fillRect/>
          </a:stretch>
        </p:blipFill>
        <p:spPr>
          <a:xfrm>
            <a:off x="2514600" y="5537200"/>
            <a:ext cx="6491288" cy="673100"/>
          </a:xfrm>
          <a:prstGeom prst="rect">
            <a:avLst/>
          </a:prstGeom>
          <a:noFill/>
          <a:ln w="3175">
            <a:noFill/>
          </a:ln>
        </p:spPr>
      </p:pic>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遍历二叉树和线索二叉树</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5" name="矩形 4"/>
          <p:cNvSpPr/>
          <p:nvPr/>
        </p:nvSpPr>
        <p:spPr>
          <a:xfrm>
            <a:off x="5334000" y="2895600"/>
            <a:ext cx="4572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56" name="矩形 9"/>
          <p:cNvSpPr/>
          <p:nvPr/>
        </p:nvSpPr>
        <p:spPr>
          <a:xfrm>
            <a:off x="4114800" y="4114800"/>
            <a:ext cx="4572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57" name="矩形 17"/>
          <p:cNvSpPr/>
          <p:nvPr/>
        </p:nvSpPr>
        <p:spPr>
          <a:xfrm>
            <a:off x="5410200" y="5410200"/>
            <a:ext cx="4572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cxnSp>
        <p:nvCxnSpPr>
          <p:cNvPr id="74758" name="直接箭头连接符 24"/>
          <p:cNvCxnSpPr/>
          <p:nvPr/>
        </p:nvCxnSpPr>
        <p:spPr>
          <a:xfrm rot="5400000">
            <a:off x="4191000" y="3276600"/>
            <a:ext cx="990600" cy="685800"/>
          </a:xfrm>
          <a:prstGeom prst="straightConnector1">
            <a:avLst/>
          </a:prstGeom>
          <a:ln w="3175" cap="flat" cmpd="sng">
            <a:solidFill>
              <a:schemeClr val="tx1"/>
            </a:solidFill>
            <a:prstDash val="solid"/>
            <a:headEnd type="none" w="med" len="med"/>
            <a:tailEnd type="triangle" w="med" len="med"/>
          </a:ln>
        </p:spPr>
      </p:cxnSp>
      <p:cxnSp>
        <p:nvCxnSpPr>
          <p:cNvPr id="74759" name="直接箭头连接符 26"/>
          <p:cNvCxnSpPr/>
          <p:nvPr/>
        </p:nvCxnSpPr>
        <p:spPr>
          <a:xfrm rot="-5400000" flipH="1">
            <a:off x="5981700" y="3314700"/>
            <a:ext cx="990600" cy="609600"/>
          </a:xfrm>
          <a:prstGeom prst="straightConnector1">
            <a:avLst/>
          </a:prstGeom>
          <a:ln w="3175" cap="flat" cmpd="sng">
            <a:solidFill>
              <a:schemeClr val="tx1"/>
            </a:solidFill>
            <a:prstDash val="solid"/>
            <a:headEnd type="none" w="med" len="med"/>
            <a:tailEnd type="triangle" w="med" len="med"/>
          </a:ln>
        </p:spPr>
      </p:cxnSp>
      <p:cxnSp>
        <p:nvCxnSpPr>
          <p:cNvPr id="74760" name="直接箭头连接符 29"/>
          <p:cNvCxnSpPr/>
          <p:nvPr/>
        </p:nvCxnSpPr>
        <p:spPr>
          <a:xfrm rot="5400000">
            <a:off x="5410200" y="4572000"/>
            <a:ext cx="1066800" cy="609600"/>
          </a:xfrm>
          <a:prstGeom prst="straightConnector1">
            <a:avLst/>
          </a:prstGeom>
          <a:ln w="3175" cap="flat" cmpd="sng">
            <a:solidFill>
              <a:schemeClr val="tx1"/>
            </a:solidFill>
            <a:prstDash val="solid"/>
            <a:headEnd type="none" w="med" len="med"/>
            <a:tailEnd type="triangle" w="med" len="med"/>
          </a:ln>
        </p:spPr>
      </p:cxnSp>
      <p:cxnSp>
        <p:nvCxnSpPr>
          <p:cNvPr id="74761" name="直接箭头连接符 31"/>
          <p:cNvCxnSpPr/>
          <p:nvPr/>
        </p:nvCxnSpPr>
        <p:spPr>
          <a:xfrm rot="-5400000" flipH="1">
            <a:off x="7124700" y="4533900"/>
            <a:ext cx="1066800" cy="685800"/>
          </a:xfrm>
          <a:prstGeom prst="straightConnector1">
            <a:avLst/>
          </a:prstGeom>
          <a:ln w="3175" cap="flat" cmpd="sng">
            <a:solidFill>
              <a:schemeClr val="tx1"/>
            </a:solidFill>
            <a:prstDash val="solid"/>
            <a:headEnd type="none" w="med" len="med"/>
            <a:tailEnd type="triangle" w="med" len="med"/>
          </a:ln>
        </p:spPr>
      </p:cxnSp>
      <p:sp>
        <p:nvSpPr>
          <p:cNvPr id="39" name="任意多边形 38"/>
          <p:cNvSpPr/>
          <p:nvPr/>
        </p:nvSpPr>
        <p:spPr bwMode="auto">
          <a:xfrm>
            <a:off x="4876800" y="3365500"/>
            <a:ext cx="571500" cy="1054100"/>
          </a:xfrm>
          <a:custGeom>
            <a:avLst/>
            <a:gdLst>
              <a:gd name="connsiteX0" fmla="*/ 0 w 647700"/>
              <a:gd name="connsiteY0" fmla="*/ 1003300 h 1003300"/>
              <a:gd name="connsiteX1" fmla="*/ 495300 w 647700"/>
              <a:gd name="connsiteY1" fmla="*/ 736600 h 1003300"/>
              <a:gd name="connsiteX2" fmla="*/ 647700 w 647700"/>
              <a:gd name="connsiteY2" fmla="*/ 0 h 1003300"/>
            </a:gdLst>
            <a:ahLst/>
            <a:cxnLst>
              <a:cxn ang="0">
                <a:pos x="connsiteX0" y="connsiteY0"/>
              </a:cxn>
              <a:cxn ang="0">
                <a:pos x="connsiteX1" y="connsiteY1"/>
              </a:cxn>
              <a:cxn ang="0">
                <a:pos x="connsiteX2" y="connsiteY2"/>
              </a:cxn>
            </a:cxnLst>
            <a:rect l="l" t="t" r="r" b="b"/>
            <a:pathLst>
              <a:path w="647700" h="1003300">
                <a:moveTo>
                  <a:pt x="0" y="1003300"/>
                </a:moveTo>
                <a:cubicBezTo>
                  <a:pt x="193675" y="953558"/>
                  <a:pt x="387350" y="903817"/>
                  <a:pt x="495300" y="736600"/>
                </a:cubicBezTo>
                <a:cubicBezTo>
                  <a:pt x="603250" y="569383"/>
                  <a:pt x="625475" y="284691"/>
                  <a:pt x="647700" y="0"/>
                </a:cubicBezTo>
              </a:path>
            </a:pathLst>
          </a:custGeom>
          <a:noFill/>
          <a:ln w="3175" cap="flat" cmpd="sng" algn="ctr">
            <a:solidFill>
              <a:schemeClr val="accent6"/>
            </a:solidFill>
            <a:prstDash val="solid"/>
            <a:round/>
            <a:headEnd type="none" w="med" len="med"/>
            <a:tailEnd type="triangle" w="med" len="me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Consolas" panose="020B0609020204030204" pitchFamily="49" charset="0"/>
              <a:ea typeface="楷体_GB2312" panose="02010609030101010101" pitchFamily="49" charset="-122"/>
              <a:cs typeface="+mn-cs"/>
            </a:endParaRPr>
          </a:p>
        </p:txBody>
      </p:sp>
      <p:sp>
        <p:nvSpPr>
          <p:cNvPr id="41" name="任意多边形 40"/>
          <p:cNvSpPr/>
          <p:nvPr/>
        </p:nvSpPr>
        <p:spPr bwMode="auto">
          <a:xfrm>
            <a:off x="5105400" y="3378200"/>
            <a:ext cx="685800" cy="2260600"/>
          </a:xfrm>
          <a:custGeom>
            <a:avLst/>
            <a:gdLst>
              <a:gd name="connsiteX0" fmla="*/ 0 w 554567"/>
              <a:gd name="connsiteY0" fmla="*/ 2273300 h 2273300"/>
              <a:gd name="connsiteX1" fmla="*/ 444500 w 554567"/>
              <a:gd name="connsiteY1" fmla="*/ 1346200 h 2273300"/>
              <a:gd name="connsiteX2" fmla="*/ 546100 w 554567"/>
              <a:gd name="connsiteY2" fmla="*/ 635000 h 2273300"/>
              <a:gd name="connsiteX3" fmla="*/ 495300 w 554567"/>
              <a:gd name="connsiteY3" fmla="*/ 0 h 2273300"/>
            </a:gdLst>
            <a:ahLst/>
            <a:cxnLst>
              <a:cxn ang="0">
                <a:pos x="connsiteX0" y="connsiteY0"/>
              </a:cxn>
              <a:cxn ang="0">
                <a:pos x="connsiteX1" y="connsiteY1"/>
              </a:cxn>
              <a:cxn ang="0">
                <a:pos x="connsiteX2" y="connsiteY2"/>
              </a:cxn>
              <a:cxn ang="0">
                <a:pos x="connsiteX3" y="connsiteY3"/>
              </a:cxn>
            </a:cxnLst>
            <a:rect l="l" t="t" r="r" b="b"/>
            <a:pathLst>
              <a:path w="554567" h="2273300">
                <a:moveTo>
                  <a:pt x="0" y="2273300"/>
                </a:moveTo>
                <a:cubicBezTo>
                  <a:pt x="176741" y="1946275"/>
                  <a:pt x="353483" y="1619250"/>
                  <a:pt x="444500" y="1346200"/>
                </a:cubicBezTo>
                <a:cubicBezTo>
                  <a:pt x="535517" y="1073150"/>
                  <a:pt x="537633" y="859367"/>
                  <a:pt x="546100" y="635000"/>
                </a:cubicBezTo>
                <a:cubicBezTo>
                  <a:pt x="554567" y="410633"/>
                  <a:pt x="524933" y="205316"/>
                  <a:pt x="495300" y="0"/>
                </a:cubicBezTo>
              </a:path>
            </a:pathLst>
          </a:custGeom>
          <a:noFill/>
          <a:ln w="3175" cap="flat" cmpd="sng" algn="ctr">
            <a:solidFill>
              <a:schemeClr val="accent6"/>
            </a:solidFill>
            <a:prstDash val="solid"/>
            <a:round/>
            <a:headEnd type="none" w="med" len="med"/>
            <a:tailEnd type="triangle" w="med" len="me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Consolas" panose="020B0609020204030204" pitchFamily="49" charset="0"/>
              <a:ea typeface="楷体_GB2312" panose="02010609030101010101" pitchFamily="49" charset="-122"/>
              <a:cs typeface="+mn-cs"/>
            </a:endParaRPr>
          </a:p>
        </p:txBody>
      </p:sp>
      <p:sp>
        <p:nvSpPr>
          <p:cNvPr id="42" name="任意多边形 41"/>
          <p:cNvSpPr/>
          <p:nvPr/>
        </p:nvSpPr>
        <p:spPr bwMode="auto">
          <a:xfrm>
            <a:off x="6172200" y="4584700"/>
            <a:ext cx="533400" cy="1054100"/>
          </a:xfrm>
          <a:custGeom>
            <a:avLst/>
            <a:gdLst>
              <a:gd name="connsiteX0" fmla="*/ 0 w 596900"/>
              <a:gd name="connsiteY0" fmla="*/ 1066800 h 1066800"/>
              <a:gd name="connsiteX1" fmla="*/ 495300 w 596900"/>
              <a:gd name="connsiteY1" fmla="*/ 698500 h 1066800"/>
              <a:gd name="connsiteX2" fmla="*/ 596900 w 596900"/>
              <a:gd name="connsiteY2" fmla="*/ 0 h 1066800"/>
            </a:gdLst>
            <a:ahLst/>
            <a:cxnLst>
              <a:cxn ang="0">
                <a:pos x="connsiteX0" y="connsiteY0"/>
              </a:cxn>
              <a:cxn ang="0">
                <a:pos x="connsiteX1" y="connsiteY1"/>
              </a:cxn>
              <a:cxn ang="0">
                <a:pos x="connsiteX2" y="connsiteY2"/>
              </a:cxn>
            </a:cxnLst>
            <a:rect l="l" t="t" r="r" b="b"/>
            <a:pathLst>
              <a:path w="596900" h="1066800">
                <a:moveTo>
                  <a:pt x="0" y="1066800"/>
                </a:moveTo>
                <a:cubicBezTo>
                  <a:pt x="197908" y="971550"/>
                  <a:pt x="395817" y="876300"/>
                  <a:pt x="495300" y="698500"/>
                </a:cubicBezTo>
                <a:cubicBezTo>
                  <a:pt x="594783" y="520700"/>
                  <a:pt x="595841" y="260350"/>
                  <a:pt x="596900" y="0"/>
                </a:cubicBezTo>
              </a:path>
            </a:pathLst>
          </a:custGeom>
          <a:noFill/>
          <a:ln w="3175" cap="flat" cmpd="sng" algn="ctr">
            <a:solidFill>
              <a:schemeClr val="accent6"/>
            </a:solidFill>
            <a:prstDash val="solid"/>
            <a:round/>
            <a:headEnd type="none" w="med" len="med"/>
            <a:tailEnd type="triangle" w="med" len="me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Consolas" panose="020B0609020204030204" pitchFamily="49" charset="0"/>
              <a:ea typeface="楷体_GB2312" panose="02010609030101010101" pitchFamily="49" charset="-122"/>
              <a:cs typeface="+mn-cs"/>
            </a:endParaRPr>
          </a:p>
        </p:txBody>
      </p:sp>
      <p:sp>
        <p:nvSpPr>
          <p:cNvPr id="43" name="任意多边形 42"/>
          <p:cNvSpPr/>
          <p:nvPr/>
        </p:nvSpPr>
        <p:spPr bwMode="auto">
          <a:xfrm>
            <a:off x="6870700" y="4584700"/>
            <a:ext cx="596900" cy="1054100"/>
          </a:xfrm>
          <a:custGeom>
            <a:avLst/>
            <a:gdLst>
              <a:gd name="connsiteX0" fmla="*/ 685800 w 685800"/>
              <a:gd name="connsiteY0" fmla="*/ 1066800 h 1066800"/>
              <a:gd name="connsiteX1" fmla="*/ 215900 w 685800"/>
              <a:gd name="connsiteY1" fmla="*/ 762000 h 1066800"/>
              <a:gd name="connsiteX2" fmla="*/ 0 w 685800"/>
              <a:gd name="connsiteY2" fmla="*/ 0 h 1066800"/>
            </a:gdLst>
            <a:ahLst/>
            <a:cxnLst>
              <a:cxn ang="0">
                <a:pos x="connsiteX0" y="connsiteY0"/>
              </a:cxn>
              <a:cxn ang="0">
                <a:pos x="connsiteX1" y="connsiteY1"/>
              </a:cxn>
              <a:cxn ang="0">
                <a:pos x="connsiteX2" y="connsiteY2"/>
              </a:cxn>
            </a:cxnLst>
            <a:rect l="l" t="t" r="r" b="b"/>
            <a:pathLst>
              <a:path w="685800" h="1066800">
                <a:moveTo>
                  <a:pt x="685800" y="1066800"/>
                </a:moveTo>
                <a:cubicBezTo>
                  <a:pt x="508000" y="1003300"/>
                  <a:pt x="330200" y="939800"/>
                  <a:pt x="215900" y="762000"/>
                </a:cubicBezTo>
                <a:cubicBezTo>
                  <a:pt x="101600" y="584200"/>
                  <a:pt x="50800" y="292100"/>
                  <a:pt x="0" y="0"/>
                </a:cubicBezTo>
              </a:path>
            </a:pathLst>
          </a:custGeom>
          <a:noFill/>
          <a:ln w="3175" cap="flat" cmpd="sng" algn="ctr">
            <a:solidFill>
              <a:schemeClr val="accent6"/>
            </a:solidFill>
            <a:prstDash val="solid"/>
            <a:round/>
            <a:headEnd type="none" w="med" len="med"/>
            <a:tailEnd type="triangle" w="med" len="me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FFFFFF"/>
              </a:solidFill>
              <a:effectLst/>
              <a:uLnTx/>
              <a:uFillTx/>
              <a:latin typeface="Consolas" panose="020B0609020204030204" pitchFamily="49" charset="0"/>
              <a:ea typeface="楷体_GB2312" panose="02010609030101010101" pitchFamily="49" charset="-122"/>
              <a:cs typeface="+mn-cs"/>
            </a:endParaRPr>
          </a:p>
        </p:txBody>
      </p:sp>
      <p:sp>
        <p:nvSpPr>
          <p:cNvPr id="74766" name="矩形 44"/>
          <p:cNvSpPr/>
          <p:nvPr/>
        </p:nvSpPr>
        <p:spPr>
          <a:xfrm>
            <a:off x="5105400" y="1981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0</a:t>
            </a:r>
            <a:endParaRPr lang="zh-CN" altLang="en-US" sz="2000" dirty="0">
              <a:ea typeface="宋体" panose="02010600030101010101" pitchFamily="2" charset="-122"/>
            </a:endParaRPr>
          </a:p>
        </p:txBody>
      </p:sp>
      <p:sp>
        <p:nvSpPr>
          <p:cNvPr id="46" name="矩形 45"/>
          <p:cNvSpPr/>
          <p:nvPr/>
        </p:nvSpPr>
        <p:spPr bwMode="auto">
          <a:xfrm>
            <a:off x="5334000" y="1981200"/>
            <a:ext cx="457200" cy="457200"/>
          </a:xfrm>
          <a:prstGeom prst="rect">
            <a:avLst/>
          </a:prstGeom>
          <a:solidFill>
            <a:schemeClr val="bg2">
              <a:lumMod val="20000"/>
              <a:lumOff val="80000"/>
            </a:schemeClr>
          </a:solidFill>
          <a:ln w="9525">
            <a:solidFill>
              <a:schemeClr val="tx1"/>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768" name="任意多边形 48"/>
          <p:cNvSpPr/>
          <p:nvPr/>
        </p:nvSpPr>
        <p:spPr>
          <a:xfrm>
            <a:off x="3733800" y="2311400"/>
            <a:ext cx="1143000" cy="2108200"/>
          </a:xfrm>
          <a:custGeom>
            <a:avLst/>
            <a:gdLst>
              <a:gd name="txL" fmla="*/ 0 w 990600"/>
              <a:gd name="txT" fmla="*/ 0 h 2044700"/>
              <a:gd name="txR" fmla="*/ 990600 w 990600"/>
              <a:gd name="txB" fmla="*/ 2044700 h 2044700"/>
            </a:gdLst>
            <a:ahLst/>
            <a:cxnLst>
              <a:cxn ang="0">
                <a:pos x="0" y="2862423"/>
              </a:cxn>
              <a:cxn ang="0">
                <a:pos x="1348509" y="960070"/>
              </a:cxn>
              <a:cxn ang="0">
                <a:pos x="4781069" y="0"/>
              </a:cxn>
            </a:cxnLst>
            <a:rect l="txL" t="txT" r="txR" b="txB"/>
            <a:pathLst>
              <a:path w="990600" h="2044700">
                <a:moveTo>
                  <a:pt x="0" y="2044700"/>
                </a:moveTo>
                <a:cubicBezTo>
                  <a:pt x="57150" y="1535641"/>
                  <a:pt x="114300" y="1026583"/>
                  <a:pt x="279400" y="685800"/>
                </a:cubicBezTo>
                <a:cubicBezTo>
                  <a:pt x="444500" y="345017"/>
                  <a:pt x="861483" y="175683"/>
                  <a:pt x="990600" y="0"/>
                </a:cubicBezTo>
              </a:path>
            </a:pathLst>
          </a:custGeom>
          <a:noFill/>
          <a:ln w="28575" cap="flat" cmpd="sng">
            <a:solidFill>
              <a:srgbClr val="3333FF">
                <a:alpha val="100000"/>
              </a:srgbClr>
            </a:solidFill>
            <a:prstDash val="solid"/>
            <a:round/>
            <a:headEnd type="none" w="med" len="med"/>
            <a:tailEnd type="triangle" w="med" len="med"/>
          </a:ln>
        </p:spPr>
        <p:txBody>
          <a:bodyPr/>
          <a:p>
            <a:endParaRPr lang="zh-CN" altLang="en-US"/>
          </a:p>
        </p:txBody>
      </p:sp>
      <p:sp>
        <p:nvSpPr>
          <p:cNvPr id="74769" name="任意多边形 49"/>
          <p:cNvSpPr/>
          <p:nvPr/>
        </p:nvSpPr>
        <p:spPr>
          <a:xfrm>
            <a:off x="6248400" y="2286000"/>
            <a:ext cx="2743200" cy="3365500"/>
          </a:xfrm>
          <a:custGeom>
            <a:avLst/>
            <a:gdLst>
              <a:gd name="txL" fmla="*/ 0 w 2669117"/>
              <a:gd name="txT" fmla="*/ 0 h 3302000"/>
              <a:gd name="txR" fmla="*/ 2669117 w 2669117"/>
              <a:gd name="txB" fmla="*/ 3302000 h 3302000"/>
            </a:gdLst>
            <a:ahLst/>
            <a:cxnLst>
              <a:cxn ang="0">
                <a:pos x="3003519" y="4071689"/>
              </a:cxn>
              <a:cxn ang="0">
                <a:pos x="3106498" y="1941884"/>
              </a:cxn>
              <a:cxn ang="0">
                <a:pos x="0" y="0"/>
              </a:cxn>
            </a:cxnLst>
            <a:rect l="txL" t="txT" r="txR" b="txB"/>
            <a:pathLst>
              <a:path w="2669117" h="3302000">
                <a:moveTo>
                  <a:pt x="2222500" y="3302000"/>
                </a:moveTo>
                <a:cubicBezTo>
                  <a:pt x="2445808" y="2713566"/>
                  <a:pt x="2669117" y="2125133"/>
                  <a:pt x="2298700" y="1574800"/>
                </a:cubicBezTo>
                <a:cubicBezTo>
                  <a:pt x="1928283" y="1024467"/>
                  <a:pt x="964141" y="512233"/>
                  <a:pt x="0" y="0"/>
                </a:cubicBezTo>
              </a:path>
            </a:pathLst>
          </a:custGeom>
          <a:noFill/>
          <a:ln w="28575" cap="flat" cmpd="sng">
            <a:solidFill>
              <a:srgbClr val="3333FF">
                <a:alpha val="100000"/>
              </a:srgbClr>
            </a:solidFill>
            <a:prstDash val="solid"/>
            <a:round/>
            <a:headEnd type="none" w="med" len="med"/>
            <a:tailEnd type="triangle" w="med" len="med"/>
          </a:ln>
        </p:spPr>
        <p:txBody>
          <a:bodyPr/>
          <a:p>
            <a:endParaRPr lang="zh-CN" altLang="en-US"/>
          </a:p>
        </p:txBody>
      </p:sp>
      <p:cxnSp>
        <p:nvCxnSpPr>
          <p:cNvPr id="74770" name="直接箭头连接符 51"/>
          <p:cNvCxnSpPr>
            <a:endCxn id="74755" idx="0"/>
          </p:cNvCxnSpPr>
          <p:nvPr/>
        </p:nvCxnSpPr>
        <p:spPr>
          <a:xfrm rot="-5400000" flipH="1">
            <a:off x="4953000" y="2286000"/>
            <a:ext cx="685800" cy="533400"/>
          </a:xfrm>
          <a:prstGeom prst="straightConnector1">
            <a:avLst/>
          </a:prstGeom>
          <a:ln w="28575" cap="flat" cmpd="sng">
            <a:solidFill>
              <a:srgbClr val="3333FF"/>
            </a:solidFill>
            <a:prstDash val="solid"/>
            <a:headEnd type="none" w="med" len="med"/>
            <a:tailEnd type="triangle" w="med" len="med"/>
          </a:ln>
        </p:spPr>
      </p:cxnSp>
      <p:sp>
        <p:nvSpPr>
          <p:cNvPr id="74771" name="矩形 52"/>
          <p:cNvSpPr/>
          <p:nvPr/>
        </p:nvSpPr>
        <p:spPr>
          <a:xfrm>
            <a:off x="5791200" y="1981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1</a:t>
            </a:r>
            <a:endParaRPr lang="zh-CN" altLang="en-US" sz="2000" dirty="0">
              <a:ea typeface="宋体" panose="02010600030101010101" pitchFamily="2" charset="-122"/>
            </a:endParaRPr>
          </a:p>
        </p:txBody>
      </p:sp>
      <p:sp>
        <p:nvSpPr>
          <p:cNvPr id="74772" name="矩形 53"/>
          <p:cNvSpPr/>
          <p:nvPr/>
        </p:nvSpPr>
        <p:spPr>
          <a:xfrm>
            <a:off x="6019800" y="1981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73" name="矩形 54"/>
          <p:cNvSpPr/>
          <p:nvPr/>
        </p:nvSpPr>
        <p:spPr>
          <a:xfrm>
            <a:off x="4876800" y="1981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74" name="矩形 58"/>
          <p:cNvSpPr/>
          <p:nvPr/>
        </p:nvSpPr>
        <p:spPr>
          <a:xfrm>
            <a:off x="5105400" y="28956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0</a:t>
            </a:r>
            <a:endParaRPr lang="zh-CN" altLang="en-US" sz="2000" dirty="0">
              <a:ea typeface="宋体" panose="02010600030101010101" pitchFamily="2" charset="-122"/>
            </a:endParaRPr>
          </a:p>
        </p:txBody>
      </p:sp>
      <p:sp>
        <p:nvSpPr>
          <p:cNvPr id="74775" name="矩形 59"/>
          <p:cNvSpPr/>
          <p:nvPr/>
        </p:nvSpPr>
        <p:spPr>
          <a:xfrm>
            <a:off x="4876800" y="28956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76" name="矩形 60"/>
          <p:cNvSpPr/>
          <p:nvPr/>
        </p:nvSpPr>
        <p:spPr>
          <a:xfrm>
            <a:off x="6019800" y="28956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77" name="矩形 61"/>
          <p:cNvSpPr/>
          <p:nvPr/>
        </p:nvSpPr>
        <p:spPr>
          <a:xfrm>
            <a:off x="5791200" y="28956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0</a:t>
            </a:r>
            <a:endParaRPr lang="zh-CN" altLang="en-US" sz="2000" dirty="0">
              <a:ea typeface="宋体" panose="02010600030101010101" pitchFamily="2" charset="-122"/>
            </a:endParaRPr>
          </a:p>
        </p:txBody>
      </p:sp>
      <p:sp>
        <p:nvSpPr>
          <p:cNvPr id="74778" name="矩形 66"/>
          <p:cNvSpPr/>
          <p:nvPr/>
        </p:nvSpPr>
        <p:spPr>
          <a:xfrm>
            <a:off x="3886200" y="41148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1</a:t>
            </a:r>
            <a:endParaRPr lang="zh-CN" altLang="en-US" sz="2000" dirty="0">
              <a:ea typeface="宋体" panose="02010600030101010101" pitchFamily="2" charset="-122"/>
            </a:endParaRPr>
          </a:p>
        </p:txBody>
      </p:sp>
      <p:sp>
        <p:nvSpPr>
          <p:cNvPr id="74779" name="矩形 67"/>
          <p:cNvSpPr/>
          <p:nvPr/>
        </p:nvSpPr>
        <p:spPr>
          <a:xfrm>
            <a:off x="3657600" y="41148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80" name="矩形 68"/>
          <p:cNvSpPr/>
          <p:nvPr/>
        </p:nvSpPr>
        <p:spPr>
          <a:xfrm>
            <a:off x="4800600" y="41148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81" name="矩形 69"/>
          <p:cNvSpPr/>
          <p:nvPr/>
        </p:nvSpPr>
        <p:spPr>
          <a:xfrm>
            <a:off x="4572000" y="41148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1</a:t>
            </a:r>
            <a:endParaRPr lang="zh-CN" altLang="en-US" sz="2000" dirty="0">
              <a:ea typeface="宋体" panose="02010600030101010101" pitchFamily="2" charset="-122"/>
            </a:endParaRPr>
          </a:p>
        </p:txBody>
      </p:sp>
      <p:sp>
        <p:nvSpPr>
          <p:cNvPr id="74782" name="矩形 70"/>
          <p:cNvSpPr/>
          <p:nvPr/>
        </p:nvSpPr>
        <p:spPr>
          <a:xfrm>
            <a:off x="5181600" y="5410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1</a:t>
            </a:r>
            <a:endParaRPr lang="zh-CN" altLang="en-US" sz="2000" dirty="0">
              <a:ea typeface="宋体" panose="02010600030101010101" pitchFamily="2" charset="-122"/>
            </a:endParaRPr>
          </a:p>
        </p:txBody>
      </p:sp>
      <p:sp>
        <p:nvSpPr>
          <p:cNvPr id="74783" name="矩形 71"/>
          <p:cNvSpPr/>
          <p:nvPr/>
        </p:nvSpPr>
        <p:spPr>
          <a:xfrm>
            <a:off x="4953000" y="5410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84" name="矩形 72"/>
          <p:cNvSpPr/>
          <p:nvPr/>
        </p:nvSpPr>
        <p:spPr>
          <a:xfrm>
            <a:off x="6096000" y="5410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85" name="矩形 73"/>
          <p:cNvSpPr/>
          <p:nvPr/>
        </p:nvSpPr>
        <p:spPr>
          <a:xfrm>
            <a:off x="5867400" y="5410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1</a:t>
            </a:r>
            <a:endParaRPr lang="zh-CN" altLang="en-US" sz="2000" dirty="0">
              <a:ea typeface="宋体" panose="02010600030101010101" pitchFamily="2" charset="-122"/>
            </a:endParaRPr>
          </a:p>
        </p:txBody>
      </p:sp>
      <p:sp>
        <p:nvSpPr>
          <p:cNvPr id="74786" name="矩形 74"/>
          <p:cNvSpPr/>
          <p:nvPr/>
        </p:nvSpPr>
        <p:spPr>
          <a:xfrm>
            <a:off x="6553200" y="4114800"/>
            <a:ext cx="4572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87" name="矩形 75"/>
          <p:cNvSpPr/>
          <p:nvPr/>
        </p:nvSpPr>
        <p:spPr>
          <a:xfrm>
            <a:off x="6324600" y="41148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0</a:t>
            </a:r>
            <a:endParaRPr lang="zh-CN" altLang="en-US" sz="2000" dirty="0">
              <a:ea typeface="宋体" panose="02010600030101010101" pitchFamily="2" charset="-122"/>
            </a:endParaRPr>
          </a:p>
        </p:txBody>
      </p:sp>
      <p:sp>
        <p:nvSpPr>
          <p:cNvPr id="74788" name="矩形 76"/>
          <p:cNvSpPr/>
          <p:nvPr/>
        </p:nvSpPr>
        <p:spPr>
          <a:xfrm>
            <a:off x="6096000" y="41148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89" name="矩形 77"/>
          <p:cNvSpPr/>
          <p:nvPr/>
        </p:nvSpPr>
        <p:spPr>
          <a:xfrm>
            <a:off x="7239000" y="41148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90" name="矩形 78"/>
          <p:cNvSpPr/>
          <p:nvPr/>
        </p:nvSpPr>
        <p:spPr>
          <a:xfrm>
            <a:off x="7010400" y="41148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0</a:t>
            </a:r>
            <a:endParaRPr lang="zh-CN" altLang="en-US" sz="2000" dirty="0">
              <a:ea typeface="宋体" panose="02010600030101010101" pitchFamily="2" charset="-122"/>
            </a:endParaRPr>
          </a:p>
        </p:txBody>
      </p:sp>
      <p:sp>
        <p:nvSpPr>
          <p:cNvPr id="74791" name="矩形 81"/>
          <p:cNvSpPr/>
          <p:nvPr/>
        </p:nvSpPr>
        <p:spPr>
          <a:xfrm>
            <a:off x="7772400" y="5410200"/>
            <a:ext cx="4572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92" name="矩形 82"/>
          <p:cNvSpPr/>
          <p:nvPr/>
        </p:nvSpPr>
        <p:spPr>
          <a:xfrm>
            <a:off x="7543800" y="5410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1</a:t>
            </a:r>
            <a:endParaRPr lang="zh-CN" altLang="en-US" sz="2000" dirty="0">
              <a:ea typeface="宋体" panose="02010600030101010101" pitchFamily="2" charset="-122"/>
            </a:endParaRPr>
          </a:p>
        </p:txBody>
      </p:sp>
      <p:sp>
        <p:nvSpPr>
          <p:cNvPr id="74793" name="矩形 83"/>
          <p:cNvSpPr/>
          <p:nvPr/>
        </p:nvSpPr>
        <p:spPr>
          <a:xfrm>
            <a:off x="7315200" y="5410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94" name="矩形 84"/>
          <p:cNvSpPr/>
          <p:nvPr/>
        </p:nvSpPr>
        <p:spPr>
          <a:xfrm>
            <a:off x="8458200" y="5410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74795" name="矩形 85"/>
          <p:cNvSpPr/>
          <p:nvPr/>
        </p:nvSpPr>
        <p:spPr>
          <a:xfrm>
            <a:off x="8229600" y="5410200"/>
            <a:ext cx="228600" cy="4572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1</a:t>
            </a:r>
            <a:endParaRPr lang="zh-CN" altLang="en-US" sz="2000" dirty="0">
              <a:ea typeface="宋体" panose="02010600030101010101" pitchFamily="2" charset="-122"/>
            </a:endParaRPr>
          </a:p>
        </p:txBody>
      </p:sp>
      <p:sp>
        <p:nvSpPr>
          <p:cNvPr id="74796" name="任意多边形 87"/>
          <p:cNvSpPr/>
          <p:nvPr/>
        </p:nvSpPr>
        <p:spPr>
          <a:xfrm>
            <a:off x="6172200" y="2133600"/>
            <a:ext cx="2895600" cy="3441700"/>
          </a:xfrm>
          <a:custGeom>
            <a:avLst/>
            <a:gdLst>
              <a:gd name="txL" fmla="*/ 0 w 2870200"/>
              <a:gd name="txT" fmla="*/ 0 h 3429000"/>
              <a:gd name="txR" fmla="*/ 2870200 w 2870200"/>
              <a:gd name="txB" fmla="*/ 3429000 h 3429000"/>
            </a:gdLst>
            <a:ahLst/>
            <a:cxnLst>
              <a:cxn ang="0">
                <a:pos x="0" y="0"/>
              </a:cxn>
              <a:cxn ang="0">
                <a:pos x="811561" y="290996"/>
              </a:cxn>
              <a:cxn ang="0">
                <a:pos x="2686554" y="1441753"/>
              </a:cxn>
              <a:cxn ang="0">
                <a:pos x="3148303" y="2367650"/>
              </a:cxn>
              <a:cxn ang="0">
                <a:pos x="2770507" y="3571316"/>
              </a:cxn>
            </a:cxnLst>
            <a:rect l="txL" t="txT" r="txR" b="txB"/>
            <a:pathLst>
              <a:path w="2870200" h="3429000">
                <a:moveTo>
                  <a:pt x="0" y="0"/>
                </a:moveTo>
                <a:cubicBezTo>
                  <a:pt x="165100" y="24341"/>
                  <a:pt x="330200" y="48683"/>
                  <a:pt x="736600" y="279400"/>
                </a:cubicBezTo>
                <a:cubicBezTo>
                  <a:pt x="1143000" y="510117"/>
                  <a:pt x="2084917" y="1051983"/>
                  <a:pt x="2438400" y="1384300"/>
                </a:cubicBezTo>
                <a:cubicBezTo>
                  <a:pt x="2791883" y="1716617"/>
                  <a:pt x="2844800" y="1932517"/>
                  <a:pt x="2857500" y="2273300"/>
                </a:cubicBezTo>
                <a:cubicBezTo>
                  <a:pt x="2870200" y="2614083"/>
                  <a:pt x="2573867" y="3238500"/>
                  <a:pt x="2514600" y="3429000"/>
                </a:cubicBezTo>
              </a:path>
            </a:pathLst>
          </a:custGeom>
          <a:noFill/>
          <a:ln w="28575" cap="flat" cmpd="sng">
            <a:solidFill>
              <a:srgbClr val="3333FF">
                <a:alpha val="100000"/>
              </a:srgbClr>
            </a:solidFill>
            <a:prstDash val="solid"/>
            <a:round/>
            <a:headEnd type="none" w="med" len="med"/>
            <a:tailEnd type="triangle" w="med" len="med"/>
          </a:ln>
        </p:spPr>
        <p:txBody>
          <a:bodyPr/>
          <a:p>
            <a:endParaRPr lang="zh-CN" altLang="en-US"/>
          </a:p>
        </p:txBody>
      </p:sp>
      <p:sp>
        <p:nvSpPr>
          <p:cNvPr id="89" name="圆角矩形标注 88"/>
          <p:cNvSpPr/>
          <p:nvPr/>
        </p:nvSpPr>
        <p:spPr bwMode="auto">
          <a:xfrm>
            <a:off x="5715000" y="1371600"/>
            <a:ext cx="1066800" cy="381000"/>
          </a:xfrm>
          <a:prstGeom prst="wedgeRoundRectCallout">
            <a:avLst>
              <a:gd name="adj1" fmla="val -20833"/>
              <a:gd name="adj2" fmla="val 81944"/>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头结点</a:t>
            </a:r>
            <a:endParaRPr kumimoji="1" lang="zh-CN" altLang="en-US" sz="18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sp>
        <p:nvSpPr>
          <p:cNvPr id="90" name="圆角矩形标注 89"/>
          <p:cNvSpPr/>
          <p:nvPr/>
        </p:nvSpPr>
        <p:spPr bwMode="auto">
          <a:xfrm>
            <a:off x="3505200" y="2895600"/>
            <a:ext cx="1066800" cy="381000"/>
          </a:xfrm>
          <a:prstGeom prst="wedgeRoundRectCallout">
            <a:avLst>
              <a:gd name="adj1" fmla="val 64881"/>
              <a:gd name="adj2" fmla="val 18611"/>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根结点</a:t>
            </a:r>
            <a:endParaRPr kumimoji="1" lang="zh-CN" altLang="en-US" sz="18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sp>
        <p:nvSpPr>
          <p:cNvPr id="74799" name="矩形 58"/>
          <p:cNvSpPr/>
          <p:nvPr/>
        </p:nvSpPr>
        <p:spPr>
          <a:xfrm>
            <a:off x="5448300" y="2895600"/>
            <a:ext cx="228600" cy="4572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A</a:t>
            </a:r>
            <a:endParaRPr lang="zh-CN" altLang="en-US" sz="2000" dirty="0">
              <a:ea typeface="宋体" panose="02010600030101010101" pitchFamily="2" charset="-122"/>
            </a:endParaRPr>
          </a:p>
        </p:txBody>
      </p:sp>
      <p:sp>
        <p:nvSpPr>
          <p:cNvPr id="74800" name="矩形 58"/>
          <p:cNvSpPr/>
          <p:nvPr/>
        </p:nvSpPr>
        <p:spPr>
          <a:xfrm>
            <a:off x="4254500" y="4114800"/>
            <a:ext cx="228600" cy="4572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B</a:t>
            </a:r>
            <a:endParaRPr lang="zh-CN" altLang="en-US" sz="2000" dirty="0">
              <a:ea typeface="宋体" panose="02010600030101010101" pitchFamily="2" charset="-122"/>
            </a:endParaRPr>
          </a:p>
        </p:txBody>
      </p:sp>
      <p:sp>
        <p:nvSpPr>
          <p:cNvPr id="74801" name="矩形 58"/>
          <p:cNvSpPr/>
          <p:nvPr/>
        </p:nvSpPr>
        <p:spPr>
          <a:xfrm>
            <a:off x="6667500" y="4114800"/>
            <a:ext cx="228600" cy="4572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C</a:t>
            </a:r>
            <a:endParaRPr lang="zh-CN" altLang="en-US" sz="2000" dirty="0">
              <a:ea typeface="宋体" panose="02010600030101010101" pitchFamily="2" charset="-122"/>
            </a:endParaRPr>
          </a:p>
        </p:txBody>
      </p:sp>
      <p:sp>
        <p:nvSpPr>
          <p:cNvPr id="74802" name="矩形 58"/>
          <p:cNvSpPr/>
          <p:nvPr/>
        </p:nvSpPr>
        <p:spPr>
          <a:xfrm>
            <a:off x="5524500" y="5410200"/>
            <a:ext cx="228600" cy="4572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D</a:t>
            </a:r>
            <a:endParaRPr lang="zh-CN" altLang="en-US" sz="2000" dirty="0">
              <a:ea typeface="宋体" panose="02010600030101010101" pitchFamily="2" charset="-122"/>
            </a:endParaRPr>
          </a:p>
        </p:txBody>
      </p:sp>
      <p:sp>
        <p:nvSpPr>
          <p:cNvPr id="74803" name="矩形 58"/>
          <p:cNvSpPr/>
          <p:nvPr/>
        </p:nvSpPr>
        <p:spPr>
          <a:xfrm>
            <a:off x="7899400" y="5410200"/>
            <a:ext cx="228600" cy="4572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E</a:t>
            </a:r>
            <a:endParaRPr lang="zh-CN" altLang="en-US" sz="2000" dirty="0">
              <a:ea typeface="宋体" panose="02010600030101010101" pitchFamily="2" charset="-122"/>
            </a:endParaRPr>
          </a:p>
        </p:txBody>
      </p:sp>
      <p:sp>
        <p:nvSpPr>
          <p:cNvPr id="74804" name="Text Box 53"/>
          <p:cNvSpPr txBox="1"/>
          <p:nvPr/>
        </p:nvSpPr>
        <p:spPr>
          <a:xfrm>
            <a:off x="4343400" y="6172200"/>
            <a:ext cx="3429000" cy="461645"/>
          </a:xfrm>
          <a:prstGeom prst="rect">
            <a:avLst/>
          </a:prstGeom>
          <a:noFill/>
          <a:ln w="3175">
            <a:noFill/>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latin typeface="微软雅黑" panose="020B0503020204020204" pitchFamily="34" charset="-122"/>
                <a:ea typeface="微软雅黑" panose="020B0503020204020204" pitchFamily="34" charset="-122"/>
              </a:rPr>
              <a:t>中序线索二叉树示例</a:t>
            </a:r>
            <a:endParaRPr lang="zh-CN" altLang="en-US" b="1" dirty="0">
              <a:latin typeface="微软雅黑" panose="020B0503020204020204" pitchFamily="34" charset="-122"/>
              <a:ea typeface="微软雅黑" panose="020B0503020204020204" pitchFamily="34" charset="-122"/>
            </a:endParaRPr>
          </a:p>
        </p:txBody>
      </p:sp>
      <p:sp>
        <p:nvSpPr>
          <p:cNvPr id="74805" name="Text Box 54"/>
          <p:cNvSpPr txBox="1"/>
          <p:nvPr/>
        </p:nvSpPr>
        <p:spPr>
          <a:xfrm>
            <a:off x="1905000" y="5502275"/>
            <a:ext cx="2438400" cy="831215"/>
          </a:xfrm>
          <a:prstGeom prst="rect">
            <a:avLst/>
          </a:prstGeom>
          <a:noFill/>
          <a:ln w="3175">
            <a:noFill/>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zh-CN" altLang="en-US" b="1" dirty="0">
                <a:latin typeface="微软雅黑" panose="020B0503020204020204" pitchFamily="34" charset="-122"/>
                <a:ea typeface="微软雅黑" panose="020B0503020204020204" pitchFamily="34" charset="-122"/>
              </a:rPr>
              <a:t>中序遍历序列：</a:t>
            </a:r>
            <a:r>
              <a:rPr lang="en-US" altLang="zh-CN" b="1" dirty="0">
                <a:solidFill>
                  <a:srgbClr val="C00000"/>
                </a:solidFill>
                <a:latin typeface="Times New Roman" panose="02020603050405020304" pitchFamily="18" charset="0"/>
                <a:cs typeface="Times New Roman" panose="02020603050405020304" pitchFamily="18" charset="0"/>
              </a:rPr>
              <a:t>BADCE</a:t>
            </a:r>
            <a:endParaRPr lang="en-US" altLang="zh-CN" b="1" dirty="0">
              <a:solidFill>
                <a:srgbClr val="C00000"/>
              </a:solidFill>
              <a:latin typeface="Times New Roman" panose="02020603050405020304" pitchFamily="18" charset="0"/>
              <a:cs typeface="Times New Roman" panose="02020603050405020304" pitchFamily="18" charset="0"/>
            </a:endParaRPr>
          </a:p>
        </p:txBody>
      </p:sp>
      <p:sp>
        <p:nvSpPr>
          <p:cNvPr id="74806" name="TextBox 1"/>
          <p:cNvSpPr txBox="1"/>
          <p:nvPr/>
        </p:nvSpPr>
        <p:spPr>
          <a:xfrm>
            <a:off x="4800600" y="1295400"/>
            <a:ext cx="6477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latin typeface="Consolas" panose="020B0609020204030204" pitchFamily="49" charset="0"/>
              </a:rPr>
              <a:t>m_T</a:t>
            </a:r>
            <a:endParaRPr lang="zh-CN" altLang="en-US" sz="1800" dirty="0">
              <a:latin typeface="Consolas" panose="020B0609020204030204" pitchFamily="49" charset="0"/>
            </a:endParaRPr>
          </a:p>
        </p:txBody>
      </p:sp>
      <p:cxnSp>
        <p:nvCxnSpPr>
          <p:cNvPr id="74807" name="直接箭头连接符 3"/>
          <p:cNvCxnSpPr>
            <a:stCxn id="74806" idx="2"/>
            <a:endCxn id="46" idx="0"/>
          </p:cNvCxnSpPr>
          <p:nvPr/>
        </p:nvCxnSpPr>
        <p:spPr>
          <a:xfrm>
            <a:off x="6648450" y="1663383"/>
            <a:ext cx="438150" cy="317500"/>
          </a:xfrm>
          <a:prstGeom prst="straightConnector1">
            <a:avLst/>
          </a:prstGeom>
          <a:ln w="3175" cap="flat" cmpd="sng">
            <a:solidFill>
              <a:schemeClr val="tx1"/>
            </a:solidFill>
            <a:prstDash val="solid"/>
            <a:headEnd type="none" w="med" len="med"/>
            <a:tailEnd type="arrow" w="med" len="med"/>
          </a:ln>
        </p:spPr>
      </p:cxnSp>
      <p:sp>
        <p:nvSpPr>
          <p:cNvPr id="58" name="圆角矩形标注 57"/>
          <p:cNvSpPr/>
          <p:nvPr/>
        </p:nvSpPr>
        <p:spPr bwMode="auto">
          <a:xfrm>
            <a:off x="3721100" y="1111250"/>
            <a:ext cx="1066800" cy="381000"/>
          </a:xfrm>
          <a:prstGeom prst="wedgeRoundRectCallout">
            <a:avLst>
              <a:gd name="adj1" fmla="val 62500"/>
              <a:gd name="adj2" fmla="val 71944"/>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rPr>
              <a:t>头指针</a:t>
            </a:r>
            <a:endParaRPr kumimoji="1" lang="zh-CN" altLang="en-US" sz="1800" b="0"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latin typeface="微软雅黑" panose="020B0503020204020204" pitchFamily="34" charset="-122"/>
                <a:ea typeface="微软雅黑" panose="020B0503020204020204" pitchFamily="34" charset="-122"/>
                <a:sym typeface="+mn-ea"/>
              </a:rPr>
              <a:t>中序线索二叉树的结构</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9" name="Rectangle 3"/>
          <p:cNvSpPr>
            <a:spLocks noGrp="1"/>
          </p:cNvSpPr>
          <p:nvPr>
            <p:ph idx="1"/>
          </p:nvPr>
        </p:nvSpPr>
        <p:spPr>
          <a:xfrm>
            <a:off x="584200" y="1217295"/>
            <a:ext cx="10769600" cy="5041900"/>
          </a:xfrm>
        </p:spPr>
        <p:txBody>
          <a:bodyPr vert="horz" wrap="square" lIns="91440" tIns="45720" rIns="91440" bIns="45720" anchor="t" anchorCtr="0"/>
          <a:p>
            <a:pPr eaLnBrk="1" hangingPunct="1">
              <a:lnSpc>
                <a:spcPct val="12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由于在线索链表中添加了遍历中得到的“前驱”和“后继”的信息，从而简化了遍历的算法。</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0000"/>
              </a:lnSpc>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0000"/>
              </a:lnSpc>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线索二叉树中序遍历的关键问题</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2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中序遍历的第一个结点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左子树上处于“最左下”（没有左子树）的结点。</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20000"/>
              </a:lnSpc>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在中序线索化链表中结点的后继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若无右子树，则为后继线索所指结点；否则为对其右子树进行中序遍历时访问的第一个结点。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9876" name="Rectangle 4"/>
          <p:cNvSpPr>
            <a:spLocks noChangeArrowheads="1"/>
          </p:cNvSpPr>
          <p:nvPr/>
        </p:nvSpPr>
        <p:spPr bwMode="auto">
          <a:xfrm>
            <a:off x="758825" y="1896745"/>
            <a:ext cx="5867400" cy="838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rgbClr val="000066"/>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for (p = </a:t>
            </a:r>
            <a:r>
              <a:rPr kumimoji="0" lang="en-US" altLang="en-US" sz="1800" b="0" i="0" u="none" strike="noStrike" kern="1200" cap="none" spc="0" normalizeH="0" baseline="0" noProof="0" dirty="0" err="1">
                <a:ln>
                  <a:noFill/>
                </a:ln>
                <a:solidFill>
                  <a:srgbClr val="000066"/>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firstNode</a:t>
            </a:r>
            <a:r>
              <a:rPr kumimoji="0" lang="en-US" altLang="en-US" sz="1800" b="0" i="0" u="none" strike="noStrike" kern="1200" cap="none" spc="0" normalizeH="0" baseline="0" noProof="0" dirty="0">
                <a:ln>
                  <a:noFill/>
                </a:ln>
                <a:solidFill>
                  <a:srgbClr val="000066"/>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(T); p; p = </a:t>
            </a:r>
            <a:r>
              <a:rPr kumimoji="0" lang="en-US" altLang="en-US" sz="1800" b="0" i="0" u="none" strike="noStrike" kern="1200" cap="none" spc="0" normalizeH="0" baseline="0" noProof="0" dirty="0" err="1">
                <a:ln>
                  <a:noFill/>
                </a:ln>
                <a:solidFill>
                  <a:srgbClr val="000066"/>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Succ</a:t>
            </a:r>
            <a:r>
              <a:rPr kumimoji="0" lang="en-US" altLang="en-US" sz="1800" b="0" i="0" u="none" strike="noStrike" kern="1200" cap="none" spc="0" normalizeH="0" baseline="0" noProof="0" dirty="0">
                <a:ln>
                  <a:noFill/>
                </a:ln>
                <a:solidFill>
                  <a:srgbClr val="000066"/>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(p))</a:t>
            </a:r>
            <a:endParaRPr kumimoji="0" lang="en-US" altLang="en-US" sz="1800" b="0" i="0" u="none" strike="noStrike" kern="1200" cap="none" spc="0" normalizeH="0" baseline="0" noProof="0" dirty="0">
              <a:ln>
                <a:noFill/>
              </a:ln>
              <a:solidFill>
                <a:srgbClr val="000066"/>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800" b="0" i="0" u="none" strike="noStrike" kern="1200" cap="none" spc="0" normalizeH="0" baseline="0" noProof="0" dirty="0">
                <a:ln>
                  <a:noFill/>
                </a:ln>
                <a:solidFill>
                  <a:srgbClr val="000066"/>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Visit(p);</a:t>
            </a:r>
            <a:endParaRPr kumimoji="0" lang="en-US" altLang="en-US" sz="1800" b="0" i="0" u="none" strike="noStrike" kern="1200" cap="none" spc="0" normalizeH="0" baseline="0" noProof="0" dirty="0">
              <a:ln>
                <a:noFill/>
              </a:ln>
              <a:solidFill>
                <a:srgbClr val="000066"/>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4.2.11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线索二叉树</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3" name="内容占位符 2"/>
          <p:cNvSpPr>
            <a:spLocks noGrp="1"/>
          </p:cNvSpPr>
          <p:nvPr>
            <p:ph idx="1"/>
          </p:nvPr>
        </p:nvSpPr>
        <p:spPr>
          <a:xfrm>
            <a:off x="365760" y="1080770"/>
            <a:ext cx="10988040" cy="5096510"/>
          </a:xfrm>
        </p:spPr>
        <p:txBody>
          <a:bodyPr vert="horz" wrap="square" lIns="91440" tIns="45720" rIns="91440" bIns="45720" anchor="t" anchorCtr="0"/>
          <a:p>
            <a:r>
              <a:rPr lang="zh-CN" altLang="en-US" sz="2400" dirty="0">
                <a:latin typeface="微软雅黑" panose="020B0503020204020204" pitchFamily="34" charset="-122"/>
                <a:ea typeface="微软雅黑" panose="020B0503020204020204" pitchFamily="34" charset="-122"/>
              </a:rPr>
              <a:t>中序遍历线索二叉树的算法</a:t>
            </a:r>
            <a:endParaRPr lang="zh-CN" altLang="en-US" sz="2400" dirty="0">
              <a:latin typeface="微软雅黑" panose="020B0503020204020204" pitchFamily="34" charset="-122"/>
              <a:ea typeface="微软雅黑" panose="020B0503020204020204" pitchFamily="34" charset="-122"/>
            </a:endParaRPr>
          </a:p>
        </p:txBody>
      </p:sp>
      <p:sp>
        <p:nvSpPr>
          <p:cNvPr id="5" name="Rectangle 4"/>
          <p:cNvSpPr>
            <a:spLocks noChangeArrowheads="1"/>
          </p:cNvSpPr>
          <p:nvPr/>
        </p:nvSpPr>
        <p:spPr bwMode="auto">
          <a:xfrm>
            <a:off x="718185" y="1618615"/>
            <a:ext cx="9645015" cy="471043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BinaryThrTree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Traverse_InOrderBiThrTree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void (*visit)(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const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&amp;e))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BiThrnode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p;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m_T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p</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指向根结点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while(p!=</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m_T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空树或遍历结束时，</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while(p-&gt;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ltag</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==Link)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找到最左下结点</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visit(p-&gt;data);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此时，该中序访问其右子树上的结点了</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while(</a:t>
            </a:r>
            <a:r>
              <a:rPr kumimoji="0" lang="en-US" altLang="zh-CN" sz="18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p-&gt;</a:t>
            </a:r>
            <a:r>
              <a:rPr kumimoji="0" lang="en-US" altLang="zh-CN" sz="1800" b="1" i="0" u="none" strike="noStrike" kern="1200" cap="none" spc="0" normalizeH="0" baseline="0" noProof="0" dirty="0" err="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rtag</a:t>
            </a:r>
            <a:r>
              <a:rPr kumimoji="0" lang="en-US" altLang="zh-CN" sz="18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==Thread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&amp;&amp;</a:t>
            </a:r>
            <a:r>
              <a:rPr kumimoji="0" lang="en-US" altLang="zh-CN" sz="18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p-&gt;</a:t>
            </a:r>
            <a:r>
              <a:rPr kumimoji="0" lang="en-US" altLang="zh-CN" sz="1800" b="1" i="0" u="none" strike="noStrike" kern="1200" cap="none" spc="0" normalizeH="0" baseline="0" noProof="0" dirty="0" err="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zh-CN" sz="18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dirty="0" err="1">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m_T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指向其后继结点</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visit(p-&gt;data);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访问后继结点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4.2.11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线索二叉树</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7" name="Rectangle 3"/>
          <p:cNvSpPr>
            <a:spLocks noGrp="1"/>
          </p:cNvSpPr>
          <p:nvPr>
            <p:ph idx="1"/>
          </p:nvPr>
        </p:nvSpPr>
        <p:spPr>
          <a:xfrm>
            <a:off x="330200" y="1126490"/>
            <a:ext cx="11023600" cy="5050790"/>
          </a:xfrm>
        </p:spPr>
        <p:txBody>
          <a:bodyPr vert="horz" wrap="square" lIns="91440" tIns="45720" rIns="91440" bIns="45720" anchor="t" anchorCtr="0">
            <a:normAutofit lnSpcReduction="10000"/>
          </a:bodyPr>
          <a:p>
            <a:pPr eaLnBrk="1" hangingPunct="1">
              <a:lnSpc>
                <a:spcPct val="12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建立线索链表的方法</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lvl="1" eaLnBrk="1" hangingPunct="1">
              <a:lnSpc>
                <a:spcPct val="16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在中序遍历过程中修改结点的左、右指针域，以保存当前访问结点的“前驱”和“后继”信息。</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6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遍历过程中，附设指针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pre,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并始终保持指针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pre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指向当前访问的指针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所指结点的前驱。</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6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结点没有左子树，则令其左指针指向它的前驱（</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pre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所指结点）并将其左标志改为</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60000"/>
              </a:lnSpc>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Thread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6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pre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结点没有右子树，则令它的右指针指向它的后继（</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所指结点）并将其右标志改为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Thread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）。在访问下一结点前</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pre=p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再移至下一访问结点。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4.2.11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线索二叉树</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20" name="Rectangle 4"/>
          <p:cNvSpPr>
            <a:spLocks noChangeArrowheads="1"/>
          </p:cNvSpPr>
          <p:nvPr/>
        </p:nvSpPr>
        <p:spPr bwMode="auto">
          <a:xfrm>
            <a:off x="566420" y="1361440"/>
            <a:ext cx="10547985" cy="413512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中序线索化二叉树</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T,Thrt</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指向头结点</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Ltag.Rtag</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初始值均为</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Link</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BinaryThrTree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&gt;::_</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InOrderThreading</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BiThrnode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&amp;T)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BiThrnode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*pre</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BiThrnode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=new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BiThrnode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建头结点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Ltag</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=Link;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头结点左指针初始化为指针，指向根结点</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a:t>
            </a:r>
            <a:endPar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Rtag</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=Thread;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头结点右指针初始化为线索</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头结点的右指针回指 </a:t>
            </a:r>
            <a:endPar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latin typeface="微软雅黑" panose="020B0503020204020204" pitchFamily="34" charset="-122"/>
                <a:ea typeface="微软雅黑" panose="020B0503020204020204" pitchFamily="34" charset="-122"/>
                <a:sym typeface="+mn-ea"/>
              </a:rPr>
              <a:t>中序遍历进行中序线索化</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燕尾形 1"/>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20" name="Rectangle 4"/>
          <p:cNvSpPr>
            <a:spLocks noChangeArrowheads="1"/>
          </p:cNvSpPr>
          <p:nvPr/>
        </p:nvSpPr>
        <p:spPr bwMode="auto">
          <a:xfrm>
            <a:off x="567690" y="1256030"/>
            <a:ext cx="10899140" cy="463740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中序线索化二叉树</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续</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指向头结点</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Ltag.Rtag</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初始值均为</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Link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if(!T) //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若二叉树空，则左指针回指 </a:t>
            </a:r>
            <a:endPar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else{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pre=</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_Threading(T, pre); //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中序遍历的方式线索化二叉树 </a:t>
            </a:r>
            <a:endPar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pre-&gt;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pre-&gt;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Rtag</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=Thread; // </a:t>
            </a:r>
            <a:r>
              <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最后一个结点线索化 </a:t>
            </a:r>
            <a:endParaRPr kumimoji="0" lang="zh-CN" altLang="en-US"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=pre;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a:t>
            </a:r>
            <a:r>
              <a:rPr kumimoji="0" lang="en-US" altLang="zh-CN"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Thrt</a:t>
            </a: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latin typeface="微软雅黑" panose="020B0503020204020204" pitchFamily="34" charset="-122"/>
                <a:ea typeface="微软雅黑" panose="020B0503020204020204" pitchFamily="34" charset="-122"/>
                <a:sym typeface="+mn-ea"/>
              </a:rPr>
              <a:t>中序遍历进行中序线索化</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燕尾形 1"/>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20" name="Rectangle 4"/>
          <p:cNvSpPr>
            <a:spLocks noChangeArrowheads="1"/>
          </p:cNvSpPr>
          <p:nvPr/>
        </p:nvSpPr>
        <p:spPr bwMode="auto">
          <a:xfrm>
            <a:off x="536575" y="857885"/>
            <a:ext cx="10580370" cy="557911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中序遍历的方式线索化二叉树</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对整棵二叉树的结点进行访问，围绕</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指针和</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pre</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指针进行中序穿线</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BinaryThrTree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::_Threading(</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BiThrnode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&amp;p,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BiThrnode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 &amp;pre)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if(p){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_Threading(p-&gt;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pre);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递归左子树线索化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没有左孩子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Ltag</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=Thread;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前驱线索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=pre;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左孩子指针指向前驱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if(!pre-&gt;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前驱没有右孩子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pre-&gt;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Rtag</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=Thread;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后继线索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pre-&gt;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前驱右孩子指针指向后继</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当前结点</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pre=p;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保持</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pre</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指向</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的前驱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Threading(p-&gt;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Rchild,pre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递归右子树线索化 </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latin typeface="微软雅黑" panose="020B0503020204020204" pitchFamily="34" charset="-122"/>
                <a:ea typeface="微软雅黑" panose="020B0503020204020204" pitchFamily="34" charset="-122"/>
                <a:sym typeface="+mn-ea"/>
              </a:rPr>
              <a:t>中序遍历进行中序线索化的算法</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0" name="组合 9"/>
          <p:cNvGrpSpPr/>
          <p:nvPr/>
        </p:nvGrpSpPr>
        <p:grpSpPr>
          <a:xfrm>
            <a:off x="0" y="6437630"/>
            <a:ext cx="12192000" cy="420370"/>
            <a:chOff x="0" y="10138"/>
            <a:chExt cx="19200" cy="662"/>
          </a:xfrm>
        </p:grpSpPr>
        <p:grpSp>
          <p:nvGrpSpPr>
            <p:cNvPr id="101" name="组合 100"/>
            <p:cNvGrpSpPr/>
            <p:nvPr/>
          </p:nvGrpSpPr>
          <p:grpSpPr>
            <a:xfrm>
              <a:off x="581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0" y="10138"/>
              <a:ext cx="19200" cy="662"/>
              <a:chOff x="0" y="10138"/>
              <a:chExt cx="19200" cy="662"/>
            </a:xfrm>
          </p:grpSpPr>
          <p:grpSp>
            <p:nvGrpSpPr>
              <p:cNvPr id="4" name="组合 3"/>
              <p:cNvGrpSpPr/>
              <p:nvPr/>
            </p:nvGrpSpPr>
            <p:grpSpPr>
              <a:xfrm>
                <a:off x="0" y="10138"/>
                <a:ext cx="19200" cy="662"/>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813" y="10220"/>
                  <a:ext cx="3216"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II. 二叉树</a:t>
                  </a:r>
                  <a:endParaRPr lang="en-US" altLang="zh-CN" dirty="0" smtClean="0">
                    <a:solidFill>
                      <a:schemeClr val="accent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066" y="10351"/>
                <a:ext cx="428" cy="319"/>
                <a:chOff x="1180190" y="6561344"/>
                <a:chExt cx="271682" cy="202424"/>
              </a:xfrm>
            </p:grpSpPr>
            <p:sp>
              <p:nvSpPr>
                <p:cNvPr id="6" name="燕尾形 5"/>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燕尾形 1"/>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3" name="Rectangle 3"/>
          <p:cNvSpPr>
            <a:spLocks noGrp="1"/>
          </p:cNvSpPr>
          <p:nvPr>
            <p:ph idx="1"/>
          </p:nvPr>
        </p:nvSpPr>
        <p:spPr>
          <a:xfrm>
            <a:off x="485775" y="1034415"/>
            <a:ext cx="9505315" cy="5104130"/>
          </a:xfrm>
        </p:spPr>
        <p:txBody>
          <a:bodyPr vert="horz" wrap="square" lIns="91440" tIns="45720" rIns="91440" bIns="45720" anchor="t" anchorCtr="0"/>
          <a:p>
            <a:pPr eaLnBrk="1" hangingPunct="1">
              <a:lnSpc>
                <a:spcPct val="90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4.3.1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树的存储结构</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0000"/>
              </a:lnSpc>
              <a:buFont typeface="Wingdings" panose="05000000000000000000" charset="0"/>
              <a:buChar char="Ø"/>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树的链式存储结构：三种实现方案</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914400" lvl="1" indent="-457200" eaLnBrk="1" hangingPunct="1">
              <a:lnSpc>
                <a:spcPct val="120000"/>
              </a:lnSpc>
              <a:buFont typeface="+mj-ea"/>
              <a:buAutoNum type="circleNumDbPlai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依据树的度设立指向孩子结点的指针个数</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914400" lvl="1" indent="-457200" eaLnBrk="1" hangingPunct="1">
              <a:lnSpc>
                <a:spcPct val="120000"/>
              </a:lnSpc>
              <a:buFont typeface="+mj-ea"/>
              <a:buAutoNum type="circleNumDbPlain"/>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依据结点的度设立指向孩子结点的指针个数</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marL="914400" lvl="1" indent="-457200" eaLnBrk="1" hangingPunct="1">
              <a:lnSpc>
                <a:spcPct val="120000"/>
              </a:lnSpc>
              <a:buFont typeface="+mj-ea"/>
              <a:buAutoNum type="circleNumDbPlain"/>
            </a:pP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孩子</a:t>
            </a:r>
            <a:r>
              <a:rPr lang="en-US" altLang="zh-CN" sz="18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兄弟表示法</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（树的二叉链表结构）</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二个链域分别指向该结点的第一个孩子和下一个兄弟。</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2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特点：找孩子容易，找兄弟容易。同样适用于森林</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endParaRPr lang="zh-CN" altLang="en-US" dirty="0"/>
          </a:p>
          <a:p>
            <a:pPr lvl="1" eaLnBrk="1" hangingPunct="1">
              <a:buNone/>
            </a:pPr>
            <a:endParaRPr lang="zh-CN" altLang="en-US" dirty="0"/>
          </a:p>
        </p:txBody>
      </p:sp>
      <p:sp>
        <p:nvSpPr>
          <p:cNvPr id="98310" name="Rectangle 6"/>
          <p:cNvSpPr>
            <a:spLocks noChangeArrowheads="1"/>
          </p:cNvSpPr>
          <p:nvPr/>
        </p:nvSpPr>
        <p:spPr bwMode="auto">
          <a:xfrm>
            <a:off x="2564130" y="4015740"/>
            <a:ext cx="6248400" cy="2362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模板形式定义的结点结构</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TreeNode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ElemType data;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TreeNode &lt;ElemType&gt;* firstchild;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TreeNode &lt;ElemType&gt;* nextsibling;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4.3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树和森林的再讨论</a:t>
            </a:r>
            <a:endPar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2" name="Oval 4"/>
          <p:cNvSpPr>
            <a:spLocks noChangeArrowheads="1"/>
          </p:cNvSpPr>
          <p:nvPr/>
        </p:nvSpPr>
        <p:spPr bwMode="auto">
          <a:xfrm>
            <a:off x="2930525" y="137160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a</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99334" name="Oval 6"/>
          <p:cNvSpPr>
            <a:spLocks noChangeArrowheads="1"/>
          </p:cNvSpPr>
          <p:nvPr/>
        </p:nvSpPr>
        <p:spPr bwMode="auto">
          <a:xfrm>
            <a:off x="2930525" y="228600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c</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99335" name="Oval 7"/>
          <p:cNvSpPr>
            <a:spLocks noChangeArrowheads="1"/>
          </p:cNvSpPr>
          <p:nvPr/>
        </p:nvSpPr>
        <p:spPr bwMode="auto">
          <a:xfrm>
            <a:off x="1939925" y="228600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b</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99336" name="Oval 8"/>
          <p:cNvSpPr>
            <a:spLocks noChangeArrowheads="1"/>
          </p:cNvSpPr>
          <p:nvPr/>
        </p:nvSpPr>
        <p:spPr bwMode="auto">
          <a:xfrm>
            <a:off x="3921125" y="228600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d</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99337" name="Oval 9"/>
          <p:cNvSpPr>
            <a:spLocks noChangeArrowheads="1"/>
          </p:cNvSpPr>
          <p:nvPr/>
        </p:nvSpPr>
        <p:spPr bwMode="auto">
          <a:xfrm>
            <a:off x="2286000" y="304800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e</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99338" name="Oval 10"/>
          <p:cNvSpPr>
            <a:spLocks noChangeArrowheads="1"/>
          </p:cNvSpPr>
          <p:nvPr/>
        </p:nvSpPr>
        <p:spPr bwMode="auto">
          <a:xfrm>
            <a:off x="3581400" y="304800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f</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99339" name="Oval 11"/>
          <p:cNvSpPr>
            <a:spLocks noChangeArrowheads="1"/>
          </p:cNvSpPr>
          <p:nvPr/>
        </p:nvSpPr>
        <p:spPr bwMode="auto">
          <a:xfrm>
            <a:off x="3581400" y="388620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g</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202814" name="Oval 62"/>
          <p:cNvSpPr>
            <a:spLocks noChangeArrowheads="1"/>
          </p:cNvSpPr>
          <p:nvPr/>
        </p:nvSpPr>
        <p:spPr bwMode="auto">
          <a:xfrm>
            <a:off x="5257800" y="391795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a</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202815" name="Oval 63"/>
          <p:cNvSpPr>
            <a:spLocks noChangeArrowheads="1"/>
          </p:cNvSpPr>
          <p:nvPr/>
        </p:nvSpPr>
        <p:spPr bwMode="auto">
          <a:xfrm>
            <a:off x="5410200" y="483235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c</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202816" name="Oval 64"/>
          <p:cNvSpPr>
            <a:spLocks noChangeArrowheads="1"/>
          </p:cNvSpPr>
          <p:nvPr/>
        </p:nvSpPr>
        <p:spPr bwMode="auto">
          <a:xfrm>
            <a:off x="4343400" y="437515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b</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202817" name="Oval 65"/>
          <p:cNvSpPr>
            <a:spLocks noChangeArrowheads="1"/>
          </p:cNvSpPr>
          <p:nvPr/>
        </p:nvSpPr>
        <p:spPr bwMode="auto">
          <a:xfrm>
            <a:off x="6477000" y="536575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d</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202818" name="Oval 66"/>
          <p:cNvSpPr>
            <a:spLocks noChangeArrowheads="1"/>
          </p:cNvSpPr>
          <p:nvPr/>
        </p:nvSpPr>
        <p:spPr bwMode="auto">
          <a:xfrm>
            <a:off x="4648200" y="536575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e</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202819" name="Oval 67"/>
          <p:cNvSpPr>
            <a:spLocks noChangeArrowheads="1"/>
          </p:cNvSpPr>
          <p:nvPr/>
        </p:nvSpPr>
        <p:spPr bwMode="auto">
          <a:xfrm>
            <a:off x="5715000" y="582295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f</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202820" name="Line 68"/>
          <p:cNvSpPr>
            <a:spLocks noChangeShapeType="1"/>
          </p:cNvSpPr>
          <p:nvPr/>
        </p:nvSpPr>
        <p:spPr bwMode="auto">
          <a:xfrm>
            <a:off x="4800600" y="4679950"/>
            <a:ext cx="609600" cy="304800"/>
          </a:xfrm>
          <a:prstGeom prst="lin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mj-lt"/>
              <a:ea typeface="楷体_GB2312" panose="02010609030101010101" pitchFamily="49" charset="-122"/>
              <a:cs typeface="+mn-cs"/>
            </a:endParaRPr>
          </a:p>
        </p:txBody>
      </p:sp>
      <p:sp>
        <p:nvSpPr>
          <p:cNvPr id="202821" name="Line 69"/>
          <p:cNvSpPr>
            <a:spLocks noChangeShapeType="1"/>
          </p:cNvSpPr>
          <p:nvPr/>
        </p:nvSpPr>
        <p:spPr bwMode="auto">
          <a:xfrm>
            <a:off x="5867400" y="5137150"/>
            <a:ext cx="685800" cy="304800"/>
          </a:xfrm>
          <a:prstGeom prst="lin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mj-lt"/>
              <a:ea typeface="楷体_GB2312" panose="02010609030101010101" pitchFamily="49" charset="-122"/>
              <a:cs typeface="+mn-cs"/>
            </a:endParaRPr>
          </a:p>
        </p:txBody>
      </p:sp>
      <p:sp>
        <p:nvSpPr>
          <p:cNvPr id="202822" name="Line 70"/>
          <p:cNvSpPr>
            <a:spLocks noChangeShapeType="1"/>
          </p:cNvSpPr>
          <p:nvPr/>
        </p:nvSpPr>
        <p:spPr bwMode="auto">
          <a:xfrm>
            <a:off x="5105400" y="5670550"/>
            <a:ext cx="609600" cy="304800"/>
          </a:xfrm>
          <a:prstGeom prst="lin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mj-lt"/>
              <a:ea typeface="楷体_GB2312" panose="02010609030101010101" pitchFamily="49" charset="-122"/>
              <a:cs typeface="+mn-cs"/>
            </a:endParaRPr>
          </a:p>
        </p:txBody>
      </p:sp>
      <p:sp>
        <p:nvSpPr>
          <p:cNvPr id="202823" name="Line 71"/>
          <p:cNvSpPr>
            <a:spLocks noChangeShapeType="1"/>
          </p:cNvSpPr>
          <p:nvPr/>
        </p:nvSpPr>
        <p:spPr bwMode="auto">
          <a:xfrm flipH="1">
            <a:off x="5029200" y="5137150"/>
            <a:ext cx="381000" cy="304800"/>
          </a:xfrm>
          <a:prstGeom prst="lin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mj-lt"/>
              <a:ea typeface="楷体_GB2312" panose="02010609030101010101" pitchFamily="49" charset="-122"/>
              <a:cs typeface="+mn-cs"/>
            </a:endParaRPr>
          </a:p>
        </p:txBody>
      </p:sp>
      <p:sp>
        <p:nvSpPr>
          <p:cNvPr id="202824" name="Line 72"/>
          <p:cNvSpPr>
            <a:spLocks noChangeShapeType="1"/>
          </p:cNvSpPr>
          <p:nvPr/>
        </p:nvSpPr>
        <p:spPr bwMode="auto">
          <a:xfrm flipH="1">
            <a:off x="4724400" y="4222750"/>
            <a:ext cx="533400" cy="228600"/>
          </a:xfrm>
          <a:prstGeom prst="lin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mj-lt"/>
              <a:ea typeface="楷体_GB2312" panose="02010609030101010101" pitchFamily="49" charset="-122"/>
              <a:cs typeface="+mn-cs"/>
            </a:endParaRPr>
          </a:p>
        </p:txBody>
      </p:sp>
      <p:sp>
        <p:nvSpPr>
          <p:cNvPr id="202833" name="Oval 81"/>
          <p:cNvSpPr>
            <a:spLocks noChangeArrowheads="1"/>
          </p:cNvSpPr>
          <p:nvPr/>
        </p:nvSpPr>
        <p:spPr bwMode="auto">
          <a:xfrm>
            <a:off x="4953000" y="6356350"/>
            <a:ext cx="457200" cy="457200"/>
          </a:xfrm>
          <a:prstGeom prst="ellips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rPr>
              <a:t>g</a:t>
            </a:r>
            <a:endParaRPr kumimoji="0" lang="zh-CN" altLang="en-US" sz="1800" b="0" i="1" u="none" strike="noStrike" kern="1200" cap="none" spc="0" normalizeH="0" baseline="0" noProof="0" dirty="0">
              <a:ln>
                <a:noFill/>
              </a:ln>
              <a:solidFill>
                <a:schemeClr val="tx1"/>
              </a:solidFill>
              <a:effectLst/>
              <a:uLnTx/>
              <a:uFillTx/>
              <a:latin typeface="+mj-lt"/>
              <a:ea typeface="楷体_GB2312" panose="02010609030101010101" pitchFamily="49" charset="-122"/>
              <a:cs typeface="+mn-cs"/>
            </a:endParaRPr>
          </a:p>
        </p:txBody>
      </p:sp>
      <p:sp>
        <p:nvSpPr>
          <p:cNvPr id="202834" name="Line 82"/>
          <p:cNvSpPr>
            <a:spLocks noChangeShapeType="1"/>
          </p:cNvSpPr>
          <p:nvPr/>
        </p:nvSpPr>
        <p:spPr bwMode="auto">
          <a:xfrm flipH="1">
            <a:off x="5334000" y="6127750"/>
            <a:ext cx="381000" cy="304800"/>
          </a:xfrm>
          <a:prstGeom prst="line">
            <a:avLst/>
          </a:prstGeom>
          <a:noFill/>
          <a:ln w="12700" cap="sq">
            <a:solidFill>
              <a:schemeClr val="tx1"/>
            </a:solidFill>
            <a:round/>
            <a:headEnd type="none" w="sm" len="sm"/>
            <a:tailEnd type="none" w="sm" len="sm"/>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1" u="none" strike="noStrike" kern="1200" cap="none" spc="0" normalizeH="0" baseline="0" noProof="0">
              <a:ln>
                <a:noFill/>
              </a:ln>
              <a:solidFill>
                <a:schemeClr val="tx1"/>
              </a:solidFill>
              <a:effectLst/>
              <a:uLnTx/>
              <a:uFillTx/>
              <a:latin typeface="+mj-lt"/>
              <a:ea typeface="楷体_GB2312" panose="02010609030101010101" pitchFamily="49" charset="-122"/>
              <a:cs typeface="+mn-cs"/>
            </a:endParaRPr>
          </a:p>
        </p:txBody>
      </p:sp>
      <p:cxnSp>
        <p:nvCxnSpPr>
          <p:cNvPr id="82967" name="AutoShape 83"/>
          <p:cNvCxnSpPr>
            <a:endCxn id="202814" idx="0"/>
          </p:cNvCxnSpPr>
          <p:nvPr/>
        </p:nvCxnSpPr>
        <p:spPr>
          <a:xfrm>
            <a:off x="4800600" y="3689350"/>
            <a:ext cx="685800" cy="228600"/>
          </a:xfrm>
          <a:prstGeom prst="curvedConnector2">
            <a:avLst/>
          </a:prstGeom>
          <a:ln w="12700" cap="sq" cmpd="sng">
            <a:solidFill>
              <a:srgbClr val="0000FF"/>
            </a:solidFill>
            <a:prstDash val="solid"/>
            <a:headEnd type="none" w="sm" len="sm"/>
            <a:tailEnd type="triangle" w="med" len="lg"/>
          </a:ln>
        </p:spPr>
      </p:cxnSp>
      <p:cxnSp>
        <p:nvCxnSpPr>
          <p:cNvPr id="82968" name="直接连接符 84"/>
          <p:cNvCxnSpPr>
            <a:stCxn id="99332" idx="4"/>
            <a:endCxn id="99334" idx="0"/>
          </p:cNvCxnSpPr>
          <p:nvPr/>
        </p:nvCxnSpPr>
        <p:spPr>
          <a:xfrm rot="5400000">
            <a:off x="2930525" y="2057400"/>
            <a:ext cx="457200" cy="0"/>
          </a:xfrm>
          <a:prstGeom prst="line">
            <a:avLst/>
          </a:prstGeom>
          <a:ln w="3175" cap="flat" cmpd="sng">
            <a:solidFill>
              <a:schemeClr val="tx1"/>
            </a:solidFill>
            <a:prstDash val="solid"/>
            <a:headEnd type="none" w="med" len="med"/>
            <a:tailEnd type="none" w="med" len="med"/>
          </a:ln>
        </p:spPr>
      </p:cxnSp>
      <p:cxnSp>
        <p:nvCxnSpPr>
          <p:cNvPr id="82969" name="直接连接符 86"/>
          <p:cNvCxnSpPr>
            <a:stCxn id="99332" idx="3"/>
            <a:endCxn id="99335" idx="7"/>
          </p:cNvCxnSpPr>
          <p:nvPr/>
        </p:nvCxnSpPr>
        <p:spPr>
          <a:xfrm rot="5400000">
            <a:off x="2366963" y="1722438"/>
            <a:ext cx="590550" cy="668337"/>
          </a:xfrm>
          <a:prstGeom prst="line">
            <a:avLst/>
          </a:prstGeom>
          <a:ln w="3175" cap="flat" cmpd="sng">
            <a:solidFill>
              <a:schemeClr val="tx1"/>
            </a:solidFill>
            <a:prstDash val="solid"/>
            <a:headEnd type="none" w="med" len="med"/>
            <a:tailEnd type="none" w="med" len="med"/>
          </a:ln>
        </p:spPr>
      </p:cxnSp>
      <p:cxnSp>
        <p:nvCxnSpPr>
          <p:cNvPr id="82970" name="直接连接符 88"/>
          <p:cNvCxnSpPr>
            <a:stCxn id="99332" idx="5"/>
            <a:endCxn id="99336" idx="1"/>
          </p:cNvCxnSpPr>
          <p:nvPr/>
        </p:nvCxnSpPr>
        <p:spPr>
          <a:xfrm rot="-5400000" flipH="1">
            <a:off x="3357563" y="1722438"/>
            <a:ext cx="590550" cy="668337"/>
          </a:xfrm>
          <a:prstGeom prst="line">
            <a:avLst/>
          </a:prstGeom>
          <a:ln w="3175" cap="flat" cmpd="sng">
            <a:solidFill>
              <a:schemeClr val="tx1"/>
            </a:solidFill>
            <a:prstDash val="solid"/>
            <a:headEnd type="none" w="med" len="med"/>
            <a:tailEnd type="none" w="med" len="med"/>
          </a:ln>
        </p:spPr>
      </p:cxnSp>
      <p:cxnSp>
        <p:nvCxnSpPr>
          <p:cNvPr id="82971" name="直接连接符 90"/>
          <p:cNvCxnSpPr>
            <a:stCxn id="99334" idx="3"/>
            <a:endCxn id="99337" idx="7"/>
          </p:cNvCxnSpPr>
          <p:nvPr/>
        </p:nvCxnSpPr>
        <p:spPr>
          <a:xfrm rot="5400000">
            <a:off x="2617788" y="2735263"/>
            <a:ext cx="438150" cy="320675"/>
          </a:xfrm>
          <a:prstGeom prst="line">
            <a:avLst/>
          </a:prstGeom>
          <a:ln w="3175" cap="flat" cmpd="sng">
            <a:solidFill>
              <a:schemeClr val="tx1"/>
            </a:solidFill>
            <a:prstDash val="solid"/>
            <a:headEnd type="none" w="med" len="med"/>
            <a:tailEnd type="none" w="med" len="med"/>
          </a:ln>
        </p:spPr>
      </p:cxnSp>
      <p:cxnSp>
        <p:nvCxnSpPr>
          <p:cNvPr id="82972" name="直接连接符 92"/>
          <p:cNvCxnSpPr>
            <a:stCxn id="99334" idx="5"/>
            <a:endCxn id="99338" idx="1"/>
          </p:cNvCxnSpPr>
          <p:nvPr/>
        </p:nvCxnSpPr>
        <p:spPr>
          <a:xfrm rot="-5400000" flipH="1">
            <a:off x="3263900" y="2730500"/>
            <a:ext cx="438150" cy="328613"/>
          </a:xfrm>
          <a:prstGeom prst="line">
            <a:avLst/>
          </a:prstGeom>
          <a:ln w="3175" cap="flat" cmpd="sng">
            <a:solidFill>
              <a:schemeClr val="tx1"/>
            </a:solidFill>
            <a:prstDash val="solid"/>
            <a:headEnd type="none" w="med" len="med"/>
            <a:tailEnd type="none" w="med" len="med"/>
          </a:ln>
        </p:spPr>
      </p:cxnSp>
      <p:cxnSp>
        <p:nvCxnSpPr>
          <p:cNvPr id="82973" name="直接连接符 94"/>
          <p:cNvCxnSpPr>
            <a:stCxn id="99338" idx="4"/>
            <a:endCxn id="99339" idx="0"/>
          </p:cNvCxnSpPr>
          <p:nvPr/>
        </p:nvCxnSpPr>
        <p:spPr>
          <a:xfrm rot="5400000">
            <a:off x="3619500" y="3695700"/>
            <a:ext cx="381000" cy="0"/>
          </a:xfrm>
          <a:prstGeom prst="line">
            <a:avLst/>
          </a:prstGeom>
          <a:ln w="3175" cap="flat" cmpd="sng">
            <a:solidFill>
              <a:schemeClr val="tx1"/>
            </a:solidFill>
            <a:prstDash val="solid"/>
            <a:headEnd type="none" w="med" len="med"/>
            <a:tailEnd type="none" w="med" len="med"/>
          </a:ln>
        </p:spPr>
      </p:cxnSp>
      <p:grpSp>
        <p:nvGrpSpPr>
          <p:cNvPr id="82974" name="组合 98"/>
          <p:cNvGrpSpPr/>
          <p:nvPr/>
        </p:nvGrpSpPr>
        <p:grpSpPr>
          <a:xfrm>
            <a:off x="7848600" y="1447800"/>
            <a:ext cx="914400" cy="381000"/>
            <a:chOff x="6324600" y="1447800"/>
            <a:chExt cx="914400" cy="381000"/>
          </a:xfrm>
        </p:grpSpPr>
        <p:sp>
          <p:nvSpPr>
            <p:cNvPr id="83006" name="矩形 95"/>
            <p:cNvSpPr/>
            <p:nvPr/>
          </p:nvSpPr>
          <p:spPr>
            <a:xfrm>
              <a:off x="63246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83007" name="矩形 96"/>
            <p:cNvSpPr/>
            <p:nvPr/>
          </p:nvSpPr>
          <p:spPr>
            <a:xfrm>
              <a:off x="66294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a:t>
              </a:r>
              <a:endParaRPr lang="zh-CN" altLang="en-US" sz="2000" i="1" dirty="0">
                <a:ea typeface="宋体" panose="02010600030101010101" pitchFamily="2" charset="-122"/>
              </a:endParaRPr>
            </a:p>
          </p:txBody>
        </p:sp>
        <p:sp>
          <p:nvSpPr>
            <p:cNvPr id="83008" name="矩形 97"/>
            <p:cNvSpPr/>
            <p:nvPr/>
          </p:nvSpPr>
          <p:spPr>
            <a:xfrm>
              <a:off x="69342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a:t>
              </a:r>
              <a:endParaRPr lang="zh-CN" altLang="en-US" sz="2000" dirty="0">
                <a:ea typeface="宋体" panose="02010600030101010101" pitchFamily="2" charset="-122"/>
              </a:endParaRPr>
            </a:p>
          </p:txBody>
        </p:sp>
      </p:grpSp>
      <p:grpSp>
        <p:nvGrpSpPr>
          <p:cNvPr id="82975" name="组合 99"/>
          <p:cNvGrpSpPr/>
          <p:nvPr/>
        </p:nvGrpSpPr>
        <p:grpSpPr>
          <a:xfrm>
            <a:off x="6858000" y="2286000"/>
            <a:ext cx="914400" cy="381000"/>
            <a:chOff x="6324600" y="1447800"/>
            <a:chExt cx="914400" cy="381000"/>
          </a:xfrm>
        </p:grpSpPr>
        <p:sp>
          <p:nvSpPr>
            <p:cNvPr id="83003" name="矩形 100"/>
            <p:cNvSpPr/>
            <p:nvPr/>
          </p:nvSpPr>
          <p:spPr>
            <a:xfrm>
              <a:off x="63246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a:t>
              </a:r>
              <a:endParaRPr lang="zh-CN" altLang="en-US" sz="2000" dirty="0">
                <a:ea typeface="宋体" panose="02010600030101010101" pitchFamily="2" charset="-122"/>
              </a:endParaRPr>
            </a:p>
          </p:txBody>
        </p:sp>
        <p:sp>
          <p:nvSpPr>
            <p:cNvPr id="83004" name="矩形 101"/>
            <p:cNvSpPr/>
            <p:nvPr/>
          </p:nvSpPr>
          <p:spPr>
            <a:xfrm>
              <a:off x="66294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b</a:t>
              </a:r>
              <a:endParaRPr lang="zh-CN" altLang="en-US" sz="2000" i="1" dirty="0">
                <a:ea typeface="宋体" panose="02010600030101010101" pitchFamily="2" charset="-122"/>
              </a:endParaRPr>
            </a:p>
          </p:txBody>
        </p:sp>
        <p:sp>
          <p:nvSpPr>
            <p:cNvPr id="83005" name="矩形 102"/>
            <p:cNvSpPr/>
            <p:nvPr/>
          </p:nvSpPr>
          <p:spPr>
            <a:xfrm>
              <a:off x="69342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grpSp>
      <p:grpSp>
        <p:nvGrpSpPr>
          <p:cNvPr id="82976" name="组合 103"/>
          <p:cNvGrpSpPr/>
          <p:nvPr/>
        </p:nvGrpSpPr>
        <p:grpSpPr>
          <a:xfrm>
            <a:off x="8229600" y="2971800"/>
            <a:ext cx="914400" cy="381000"/>
            <a:chOff x="6324600" y="1447800"/>
            <a:chExt cx="914400" cy="381000"/>
          </a:xfrm>
        </p:grpSpPr>
        <p:sp>
          <p:nvSpPr>
            <p:cNvPr id="83000" name="矩形 104"/>
            <p:cNvSpPr/>
            <p:nvPr/>
          </p:nvSpPr>
          <p:spPr>
            <a:xfrm>
              <a:off x="63246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83001" name="矩形 105"/>
            <p:cNvSpPr/>
            <p:nvPr/>
          </p:nvSpPr>
          <p:spPr>
            <a:xfrm>
              <a:off x="66294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c</a:t>
              </a:r>
              <a:endParaRPr lang="zh-CN" altLang="en-US" sz="2000" i="1" dirty="0">
                <a:ea typeface="宋体" panose="02010600030101010101" pitchFamily="2" charset="-122"/>
              </a:endParaRPr>
            </a:p>
          </p:txBody>
        </p:sp>
        <p:sp>
          <p:nvSpPr>
            <p:cNvPr id="83002" name="矩形 106"/>
            <p:cNvSpPr/>
            <p:nvPr/>
          </p:nvSpPr>
          <p:spPr>
            <a:xfrm>
              <a:off x="69342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grpSp>
      <p:grpSp>
        <p:nvGrpSpPr>
          <p:cNvPr id="82977" name="组合 107"/>
          <p:cNvGrpSpPr/>
          <p:nvPr/>
        </p:nvGrpSpPr>
        <p:grpSpPr>
          <a:xfrm>
            <a:off x="9372600" y="3886200"/>
            <a:ext cx="914400" cy="381000"/>
            <a:chOff x="6324600" y="1447800"/>
            <a:chExt cx="914400" cy="381000"/>
          </a:xfrm>
        </p:grpSpPr>
        <p:sp>
          <p:nvSpPr>
            <p:cNvPr id="82997" name="矩形 108"/>
            <p:cNvSpPr/>
            <p:nvPr/>
          </p:nvSpPr>
          <p:spPr>
            <a:xfrm>
              <a:off x="63246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82998" name="矩形 109"/>
            <p:cNvSpPr/>
            <p:nvPr/>
          </p:nvSpPr>
          <p:spPr>
            <a:xfrm>
              <a:off x="66294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d</a:t>
              </a:r>
              <a:endParaRPr lang="zh-CN" altLang="en-US" sz="2000" i="1" dirty="0">
                <a:ea typeface="宋体" panose="02010600030101010101" pitchFamily="2" charset="-122"/>
              </a:endParaRPr>
            </a:p>
          </p:txBody>
        </p:sp>
        <p:sp>
          <p:nvSpPr>
            <p:cNvPr id="82999" name="矩形 110"/>
            <p:cNvSpPr/>
            <p:nvPr/>
          </p:nvSpPr>
          <p:spPr>
            <a:xfrm>
              <a:off x="69342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a:t>
              </a:r>
              <a:endParaRPr lang="zh-CN" altLang="en-US" sz="2000" dirty="0">
                <a:ea typeface="宋体" panose="02010600030101010101" pitchFamily="2" charset="-122"/>
              </a:endParaRPr>
            </a:p>
          </p:txBody>
        </p:sp>
      </p:grpSp>
      <p:grpSp>
        <p:nvGrpSpPr>
          <p:cNvPr id="82978" name="组合 111"/>
          <p:cNvGrpSpPr/>
          <p:nvPr/>
        </p:nvGrpSpPr>
        <p:grpSpPr>
          <a:xfrm>
            <a:off x="7010400" y="3886200"/>
            <a:ext cx="914400" cy="381000"/>
            <a:chOff x="6324600" y="1447800"/>
            <a:chExt cx="914400" cy="381000"/>
          </a:xfrm>
        </p:grpSpPr>
        <p:sp>
          <p:nvSpPr>
            <p:cNvPr id="82994" name="矩形 112"/>
            <p:cNvSpPr/>
            <p:nvPr/>
          </p:nvSpPr>
          <p:spPr>
            <a:xfrm>
              <a:off x="63246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a:t>
              </a:r>
              <a:endParaRPr lang="zh-CN" altLang="en-US" sz="2000" dirty="0">
                <a:ea typeface="宋体" panose="02010600030101010101" pitchFamily="2" charset="-122"/>
              </a:endParaRPr>
            </a:p>
          </p:txBody>
        </p:sp>
        <p:sp>
          <p:nvSpPr>
            <p:cNvPr id="82995" name="矩形 113"/>
            <p:cNvSpPr/>
            <p:nvPr/>
          </p:nvSpPr>
          <p:spPr>
            <a:xfrm>
              <a:off x="66294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e</a:t>
              </a:r>
              <a:endParaRPr lang="zh-CN" altLang="en-US" sz="2000" i="1" dirty="0">
                <a:ea typeface="宋体" panose="02010600030101010101" pitchFamily="2" charset="-122"/>
              </a:endParaRPr>
            </a:p>
          </p:txBody>
        </p:sp>
        <p:sp>
          <p:nvSpPr>
            <p:cNvPr id="82996" name="矩形 114"/>
            <p:cNvSpPr/>
            <p:nvPr/>
          </p:nvSpPr>
          <p:spPr>
            <a:xfrm>
              <a:off x="69342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grpSp>
      <p:grpSp>
        <p:nvGrpSpPr>
          <p:cNvPr id="82979" name="组合 115"/>
          <p:cNvGrpSpPr/>
          <p:nvPr/>
        </p:nvGrpSpPr>
        <p:grpSpPr>
          <a:xfrm>
            <a:off x="8153400" y="4648200"/>
            <a:ext cx="914400" cy="381000"/>
            <a:chOff x="6324600" y="1447800"/>
            <a:chExt cx="914400" cy="381000"/>
          </a:xfrm>
        </p:grpSpPr>
        <p:sp>
          <p:nvSpPr>
            <p:cNvPr id="82991" name="矩形 116"/>
            <p:cNvSpPr/>
            <p:nvPr/>
          </p:nvSpPr>
          <p:spPr>
            <a:xfrm>
              <a:off x="63246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2000" dirty="0">
                <a:ea typeface="宋体" panose="02010600030101010101" pitchFamily="2" charset="-122"/>
              </a:endParaRPr>
            </a:p>
          </p:txBody>
        </p:sp>
        <p:sp>
          <p:nvSpPr>
            <p:cNvPr id="82992" name="矩形 117"/>
            <p:cNvSpPr/>
            <p:nvPr/>
          </p:nvSpPr>
          <p:spPr>
            <a:xfrm>
              <a:off x="66294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f</a:t>
              </a:r>
              <a:endParaRPr lang="zh-CN" altLang="en-US" sz="2000" i="1" dirty="0">
                <a:ea typeface="宋体" panose="02010600030101010101" pitchFamily="2" charset="-122"/>
              </a:endParaRPr>
            </a:p>
          </p:txBody>
        </p:sp>
        <p:sp>
          <p:nvSpPr>
            <p:cNvPr id="82993" name="矩形 118"/>
            <p:cNvSpPr/>
            <p:nvPr/>
          </p:nvSpPr>
          <p:spPr>
            <a:xfrm>
              <a:off x="69342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a:t>
              </a:r>
              <a:endParaRPr lang="zh-CN" altLang="en-US" sz="2000" dirty="0">
                <a:ea typeface="宋体" panose="02010600030101010101" pitchFamily="2" charset="-122"/>
              </a:endParaRPr>
            </a:p>
          </p:txBody>
        </p:sp>
      </p:grpSp>
      <p:grpSp>
        <p:nvGrpSpPr>
          <p:cNvPr id="82980" name="组合 119"/>
          <p:cNvGrpSpPr/>
          <p:nvPr/>
        </p:nvGrpSpPr>
        <p:grpSpPr>
          <a:xfrm>
            <a:off x="7467600" y="5486400"/>
            <a:ext cx="914400" cy="381000"/>
            <a:chOff x="6324600" y="1447800"/>
            <a:chExt cx="914400" cy="381000"/>
          </a:xfrm>
        </p:grpSpPr>
        <p:sp>
          <p:nvSpPr>
            <p:cNvPr id="82988" name="矩形 120"/>
            <p:cNvSpPr/>
            <p:nvPr/>
          </p:nvSpPr>
          <p:spPr>
            <a:xfrm>
              <a:off x="63246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a:t>
              </a:r>
              <a:endParaRPr lang="zh-CN" altLang="en-US" sz="2000" dirty="0">
                <a:ea typeface="宋体" panose="02010600030101010101" pitchFamily="2" charset="-122"/>
              </a:endParaRPr>
            </a:p>
          </p:txBody>
        </p:sp>
        <p:sp>
          <p:nvSpPr>
            <p:cNvPr id="82989" name="矩形 121"/>
            <p:cNvSpPr/>
            <p:nvPr/>
          </p:nvSpPr>
          <p:spPr>
            <a:xfrm>
              <a:off x="66294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g</a:t>
              </a:r>
              <a:endParaRPr lang="zh-CN" altLang="en-US" sz="2000" i="1" dirty="0">
                <a:ea typeface="宋体" panose="02010600030101010101" pitchFamily="2" charset="-122"/>
              </a:endParaRPr>
            </a:p>
          </p:txBody>
        </p:sp>
        <p:sp>
          <p:nvSpPr>
            <p:cNvPr id="82990" name="矩形 122"/>
            <p:cNvSpPr/>
            <p:nvPr/>
          </p:nvSpPr>
          <p:spPr>
            <a:xfrm>
              <a:off x="6934200" y="1447800"/>
              <a:ext cx="304800" cy="381000"/>
            </a:xfrm>
            <a:prstGeom prst="rect">
              <a:avLst/>
            </a:prstGeom>
            <a:no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dirty="0">
                  <a:ea typeface="宋体" panose="02010600030101010101" pitchFamily="2" charset="-122"/>
                </a:rPr>
                <a:t>^</a:t>
              </a:r>
              <a:endParaRPr lang="zh-CN" altLang="en-US" sz="2000" dirty="0">
                <a:ea typeface="宋体" panose="02010600030101010101" pitchFamily="2" charset="-122"/>
              </a:endParaRPr>
            </a:p>
          </p:txBody>
        </p:sp>
      </p:grpSp>
      <p:cxnSp>
        <p:nvCxnSpPr>
          <p:cNvPr id="82981" name="直接箭头连接符 124"/>
          <p:cNvCxnSpPr>
            <a:endCxn id="83004" idx="0"/>
          </p:cNvCxnSpPr>
          <p:nvPr/>
        </p:nvCxnSpPr>
        <p:spPr>
          <a:xfrm rot="-10800000" flipV="1">
            <a:off x="7315200" y="1676400"/>
            <a:ext cx="685800" cy="609600"/>
          </a:xfrm>
          <a:prstGeom prst="straightConnector1">
            <a:avLst/>
          </a:prstGeom>
          <a:ln w="3175" cap="flat" cmpd="sng">
            <a:solidFill>
              <a:schemeClr val="tx1"/>
            </a:solidFill>
            <a:prstDash val="solid"/>
            <a:headEnd type="none" w="med" len="med"/>
            <a:tailEnd type="triangle" w="med" len="med"/>
          </a:ln>
        </p:spPr>
      </p:cxnSp>
      <p:cxnSp>
        <p:nvCxnSpPr>
          <p:cNvPr id="82982" name="直接箭头连接符 127"/>
          <p:cNvCxnSpPr>
            <a:endCxn id="83001" idx="0"/>
          </p:cNvCxnSpPr>
          <p:nvPr/>
        </p:nvCxnSpPr>
        <p:spPr>
          <a:xfrm>
            <a:off x="7620000" y="2438400"/>
            <a:ext cx="1066800" cy="533400"/>
          </a:xfrm>
          <a:prstGeom prst="straightConnector1">
            <a:avLst/>
          </a:prstGeom>
          <a:ln w="3175" cap="flat" cmpd="sng">
            <a:solidFill>
              <a:schemeClr val="tx1"/>
            </a:solidFill>
            <a:prstDash val="solid"/>
            <a:headEnd type="none" w="med" len="med"/>
            <a:tailEnd type="triangle" w="med" len="med"/>
          </a:ln>
        </p:spPr>
      </p:cxnSp>
      <p:cxnSp>
        <p:nvCxnSpPr>
          <p:cNvPr id="82983" name="直接箭头连接符 129"/>
          <p:cNvCxnSpPr>
            <a:endCxn id="82995" idx="0"/>
          </p:cNvCxnSpPr>
          <p:nvPr/>
        </p:nvCxnSpPr>
        <p:spPr>
          <a:xfrm rot="-10800000" flipV="1">
            <a:off x="7467600" y="3200400"/>
            <a:ext cx="914400" cy="685800"/>
          </a:xfrm>
          <a:prstGeom prst="straightConnector1">
            <a:avLst/>
          </a:prstGeom>
          <a:ln w="3175" cap="flat" cmpd="sng">
            <a:solidFill>
              <a:schemeClr val="tx1"/>
            </a:solidFill>
            <a:prstDash val="solid"/>
            <a:headEnd type="none" w="med" len="med"/>
            <a:tailEnd type="triangle" w="med" len="med"/>
          </a:ln>
        </p:spPr>
      </p:cxnSp>
      <p:cxnSp>
        <p:nvCxnSpPr>
          <p:cNvPr id="82984" name="直接箭头连接符 131"/>
          <p:cNvCxnSpPr>
            <a:endCxn id="82992" idx="0"/>
          </p:cNvCxnSpPr>
          <p:nvPr/>
        </p:nvCxnSpPr>
        <p:spPr>
          <a:xfrm>
            <a:off x="7772400" y="4038600"/>
            <a:ext cx="838200" cy="609600"/>
          </a:xfrm>
          <a:prstGeom prst="straightConnector1">
            <a:avLst/>
          </a:prstGeom>
          <a:ln w="3175" cap="flat" cmpd="sng">
            <a:solidFill>
              <a:schemeClr val="tx1"/>
            </a:solidFill>
            <a:prstDash val="solid"/>
            <a:headEnd type="none" w="med" len="med"/>
            <a:tailEnd type="triangle" w="med" len="med"/>
          </a:ln>
        </p:spPr>
      </p:cxnSp>
      <p:cxnSp>
        <p:nvCxnSpPr>
          <p:cNvPr id="82985" name="直接箭头连接符 133"/>
          <p:cNvCxnSpPr>
            <a:endCxn id="82989" idx="0"/>
          </p:cNvCxnSpPr>
          <p:nvPr/>
        </p:nvCxnSpPr>
        <p:spPr>
          <a:xfrm rot="5400000">
            <a:off x="7810500" y="4991100"/>
            <a:ext cx="609600" cy="381000"/>
          </a:xfrm>
          <a:prstGeom prst="straightConnector1">
            <a:avLst/>
          </a:prstGeom>
          <a:ln w="3175" cap="flat" cmpd="sng">
            <a:solidFill>
              <a:schemeClr val="tx1"/>
            </a:solidFill>
            <a:prstDash val="solid"/>
            <a:headEnd type="none" w="med" len="med"/>
            <a:tailEnd type="triangle" w="med" len="med"/>
          </a:ln>
        </p:spPr>
      </p:cxnSp>
      <p:cxnSp>
        <p:nvCxnSpPr>
          <p:cNvPr id="82986" name="直接箭头连接符 135"/>
          <p:cNvCxnSpPr>
            <a:endCxn id="82998" idx="0"/>
          </p:cNvCxnSpPr>
          <p:nvPr/>
        </p:nvCxnSpPr>
        <p:spPr>
          <a:xfrm>
            <a:off x="8991600" y="3200400"/>
            <a:ext cx="838200" cy="685800"/>
          </a:xfrm>
          <a:prstGeom prst="straightConnector1">
            <a:avLst/>
          </a:prstGeom>
          <a:ln w="3175" cap="flat" cmpd="sng">
            <a:solidFill>
              <a:schemeClr val="tx1"/>
            </a:solidFill>
            <a:prstDash val="solid"/>
            <a:headEnd type="none" w="med" len="med"/>
            <a:tailEnd type="triangle" w="med" len="med"/>
          </a:ln>
        </p:spPr>
      </p:cxnSp>
      <p:cxnSp>
        <p:nvCxnSpPr>
          <p:cNvPr id="82987" name="AutoShape 83"/>
          <p:cNvCxnSpPr/>
          <p:nvPr/>
        </p:nvCxnSpPr>
        <p:spPr>
          <a:xfrm>
            <a:off x="7315200" y="1219200"/>
            <a:ext cx="685800" cy="228600"/>
          </a:xfrm>
          <a:prstGeom prst="curvedConnector2">
            <a:avLst/>
          </a:prstGeom>
          <a:ln w="12700" cap="sq" cmpd="sng">
            <a:solidFill>
              <a:srgbClr val="0000FF"/>
            </a:solidFill>
            <a:prstDash val="solid"/>
            <a:headEnd type="none" w="sm" len="sm"/>
            <a:tailEnd type="triangle" w="med" len="lg"/>
          </a:ln>
        </p:spPr>
      </p:cxn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孩子兄弟表示法例 </a:t>
            </a:r>
            <a:endParaRPr lang="zh-CN" altLang="en-US" sz="3600" b="1" i="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
          <p:cNvGrpSpPr/>
          <p:nvPr/>
        </p:nvGrpSpPr>
        <p:grpSpPr>
          <a:xfrm>
            <a:off x="8058785" y="2971800"/>
            <a:ext cx="2776855" cy="2670175"/>
            <a:chOff x="3888" y="1920"/>
            <a:chExt cx="1680" cy="1682"/>
          </a:xfrm>
        </p:grpSpPr>
        <p:sp>
          <p:nvSpPr>
            <p:cNvPr id="83987" name="Rectangle 5"/>
            <p:cNvSpPr/>
            <p:nvPr/>
          </p:nvSpPr>
          <p:spPr>
            <a:xfrm>
              <a:off x="4464" y="2208"/>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A</a:t>
              </a:r>
              <a:endParaRPr lang="en-US" altLang="zh-CN" b="1" dirty="0">
                <a:solidFill>
                  <a:schemeClr val="accent1"/>
                </a:solidFill>
                <a:latin typeface="Consolas" panose="020B0609020204030204" pitchFamily="49" charset="0"/>
              </a:endParaRPr>
            </a:p>
          </p:txBody>
        </p:sp>
        <p:sp>
          <p:nvSpPr>
            <p:cNvPr id="83988" name="Line 6"/>
            <p:cNvSpPr/>
            <p:nvPr/>
          </p:nvSpPr>
          <p:spPr>
            <a:xfrm>
              <a:off x="4656" y="2208"/>
              <a:ext cx="0" cy="240"/>
            </a:xfrm>
            <a:prstGeom prst="line">
              <a:avLst/>
            </a:prstGeom>
            <a:ln w="9525" cap="flat" cmpd="sng">
              <a:solidFill>
                <a:srgbClr val="000000"/>
              </a:solidFill>
              <a:prstDash val="solid"/>
              <a:headEnd type="none" w="med" len="med"/>
              <a:tailEnd type="none" w="med" len="med"/>
            </a:ln>
          </p:spPr>
        </p:sp>
        <p:sp>
          <p:nvSpPr>
            <p:cNvPr id="83989" name="Line 7"/>
            <p:cNvSpPr/>
            <p:nvPr/>
          </p:nvSpPr>
          <p:spPr>
            <a:xfrm>
              <a:off x="4944" y="2208"/>
              <a:ext cx="0" cy="240"/>
            </a:xfrm>
            <a:prstGeom prst="line">
              <a:avLst/>
            </a:prstGeom>
            <a:ln w="9525" cap="flat" cmpd="sng">
              <a:solidFill>
                <a:srgbClr val="000000"/>
              </a:solidFill>
              <a:prstDash val="solid"/>
              <a:headEnd type="none" w="med" len="med"/>
              <a:tailEnd type="none" w="med" len="med"/>
            </a:ln>
          </p:spPr>
        </p:sp>
        <p:sp>
          <p:nvSpPr>
            <p:cNvPr id="83990" name="Rectangle 8"/>
            <p:cNvSpPr/>
            <p:nvPr/>
          </p:nvSpPr>
          <p:spPr>
            <a:xfrm>
              <a:off x="3888" y="2592"/>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B</a:t>
              </a:r>
              <a:endParaRPr lang="en-US" altLang="zh-CN" b="1" dirty="0">
                <a:solidFill>
                  <a:schemeClr val="accent1"/>
                </a:solidFill>
                <a:latin typeface="Consolas" panose="020B0609020204030204" pitchFamily="49" charset="0"/>
              </a:endParaRPr>
            </a:p>
          </p:txBody>
        </p:sp>
        <p:sp>
          <p:nvSpPr>
            <p:cNvPr id="83991" name="Line 9"/>
            <p:cNvSpPr/>
            <p:nvPr/>
          </p:nvSpPr>
          <p:spPr>
            <a:xfrm>
              <a:off x="4080" y="2592"/>
              <a:ext cx="0" cy="240"/>
            </a:xfrm>
            <a:prstGeom prst="line">
              <a:avLst/>
            </a:prstGeom>
            <a:ln w="9525" cap="flat" cmpd="sng">
              <a:solidFill>
                <a:srgbClr val="000000"/>
              </a:solidFill>
              <a:prstDash val="solid"/>
              <a:headEnd type="none" w="med" len="med"/>
              <a:tailEnd type="none" w="med" len="med"/>
            </a:ln>
          </p:spPr>
        </p:sp>
        <p:sp>
          <p:nvSpPr>
            <p:cNvPr id="83992" name="Line 10"/>
            <p:cNvSpPr/>
            <p:nvPr/>
          </p:nvSpPr>
          <p:spPr>
            <a:xfrm>
              <a:off x="4368" y="2592"/>
              <a:ext cx="0" cy="240"/>
            </a:xfrm>
            <a:prstGeom prst="line">
              <a:avLst/>
            </a:prstGeom>
            <a:ln w="9525" cap="flat" cmpd="sng">
              <a:solidFill>
                <a:srgbClr val="000000"/>
              </a:solidFill>
              <a:prstDash val="solid"/>
              <a:headEnd type="none" w="med" len="med"/>
              <a:tailEnd type="none" w="med" len="med"/>
            </a:ln>
          </p:spPr>
        </p:sp>
        <p:sp>
          <p:nvSpPr>
            <p:cNvPr id="83993" name="Line 11"/>
            <p:cNvSpPr/>
            <p:nvPr/>
          </p:nvSpPr>
          <p:spPr>
            <a:xfrm>
              <a:off x="4800" y="1968"/>
              <a:ext cx="0" cy="240"/>
            </a:xfrm>
            <a:prstGeom prst="line">
              <a:avLst/>
            </a:prstGeom>
            <a:ln w="28575" cap="flat" cmpd="sng">
              <a:solidFill>
                <a:srgbClr val="000000"/>
              </a:solidFill>
              <a:prstDash val="solid"/>
              <a:headEnd type="none" w="med" len="med"/>
              <a:tailEnd type="triangle" w="med" len="med"/>
            </a:ln>
          </p:spPr>
        </p:sp>
        <p:sp>
          <p:nvSpPr>
            <p:cNvPr id="83994" name="Text Box 12"/>
            <p:cNvSpPr txBox="1"/>
            <p:nvPr/>
          </p:nvSpPr>
          <p:spPr>
            <a:xfrm>
              <a:off x="4848" y="1920"/>
              <a:ext cx="192" cy="29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FFFFFF"/>
                  </a:solidFill>
                  <a:latin typeface="Consolas" panose="020B0609020204030204" pitchFamily="49" charset="0"/>
                </a:rPr>
                <a:t>T</a:t>
              </a:r>
              <a:endParaRPr lang="en-US" altLang="zh-CN" b="1" dirty="0">
                <a:solidFill>
                  <a:srgbClr val="FFFFFF"/>
                </a:solidFill>
                <a:latin typeface="Consolas" panose="020B0609020204030204" pitchFamily="49" charset="0"/>
              </a:endParaRPr>
            </a:p>
          </p:txBody>
        </p:sp>
        <p:sp>
          <p:nvSpPr>
            <p:cNvPr id="83995" name="Line 13"/>
            <p:cNvSpPr/>
            <p:nvPr/>
          </p:nvSpPr>
          <p:spPr>
            <a:xfrm flipH="1">
              <a:off x="4272" y="2352"/>
              <a:ext cx="288" cy="240"/>
            </a:xfrm>
            <a:prstGeom prst="line">
              <a:avLst/>
            </a:prstGeom>
            <a:ln w="19050" cap="flat" cmpd="sng">
              <a:solidFill>
                <a:srgbClr val="000000"/>
              </a:solidFill>
              <a:prstDash val="solid"/>
              <a:headEnd type="oval" w="med" len="med"/>
              <a:tailEnd type="triangle" w="med" len="med"/>
            </a:ln>
          </p:spPr>
        </p:sp>
        <p:sp>
          <p:nvSpPr>
            <p:cNvPr id="83996" name="Rectangle 14"/>
            <p:cNvSpPr/>
            <p:nvPr/>
          </p:nvSpPr>
          <p:spPr>
            <a:xfrm>
              <a:off x="4944" y="2160"/>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a:t>
              </a:r>
              <a:endParaRPr lang="en-US" altLang="zh-CN" b="1" dirty="0">
                <a:solidFill>
                  <a:schemeClr val="accent1"/>
                </a:solidFill>
                <a:latin typeface="Consolas" panose="020B0609020204030204" pitchFamily="49" charset="0"/>
              </a:endParaRPr>
            </a:p>
          </p:txBody>
        </p:sp>
        <p:sp>
          <p:nvSpPr>
            <p:cNvPr id="83997" name="Rectangle 15"/>
            <p:cNvSpPr/>
            <p:nvPr/>
          </p:nvSpPr>
          <p:spPr>
            <a:xfrm>
              <a:off x="4464" y="2976"/>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C</a:t>
              </a:r>
              <a:endParaRPr lang="en-US" altLang="zh-CN" b="1" dirty="0">
                <a:solidFill>
                  <a:schemeClr val="accent1"/>
                </a:solidFill>
                <a:latin typeface="Consolas" panose="020B0609020204030204" pitchFamily="49" charset="0"/>
              </a:endParaRPr>
            </a:p>
          </p:txBody>
        </p:sp>
        <p:sp>
          <p:nvSpPr>
            <p:cNvPr id="83998" name="Line 16"/>
            <p:cNvSpPr/>
            <p:nvPr/>
          </p:nvSpPr>
          <p:spPr>
            <a:xfrm>
              <a:off x="4656" y="2976"/>
              <a:ext cx="0" cy="240"/>
            </a:xfrm>
            <a:prstGeom prst="line">
              <a:avLst/>
            </a:prstGeom>
            <a:ln w="9525" cap="flat" cmpd="sng">
              <a:solidFill>
                <a:srgbClr val="000000"/>
              </a:solidFill>
              <a:prstDash val="solid"/>
              <a:headEnd type="none" w="med" len="med"/>
              <a:tailEnd type="none" w="med" len="med"/>
            </a:ln>
          </p:spPr>
        </p:sp>
        <p:sp>
          <p:nvSpPr>
            <p:cNvPr id="83999" name="Line 17"/>
            <p:cNvSpPr/>
            <p:nvPr/>
          </p:nvSpPr>
          <p:spPr>
            <a:xfrm>
              <a:off x="4944" y="2976"/>
              <a:ext cx="0" cy="240"/>
            </a:xfrm>
            <a:prstGeom prst="line">
              <a:avLst/>
            </a:prstGeom>
            <a:ln w="9525" cap="flat" cmpd="sng">
              <a:solidFill>
                <a:srgbClr val="000000"/>
              </a:solidFill>
              <a:prstDash val="solid"/>
              <a:headEnd type="none" w="med" len="med"/>
              <a:tailEnd type="none" w="med" len="med"/>
            </a:ln>
          </p:spPr>
        </p:sp>
        <p:sp>
          <p:nvSpPr>
            <p:cNvPr id="84000" name="Line 18"/>
            <p:cNvSpPr/>
            <p:nvPr/>
          </p:nvSpPr>
          <p:spPr>
            <a:xfrm>
              <a:off x="4464" y="2736"/>
              <a:ext cx="336" cy="240"/>
            </a:xfrm>
            <a:prstGeom prst="line">
              <a:avLst/>
            </a:prstGeom>
            <a:ln w="19050" cap="flat" cmpd="sng">
              <a:solidFill>
                <a:srgbClr val="000000"/>
              </a:solidFill>
              <a:prstDash val="solid"/>
              <a:headEnd type="oval" w="med" len="med"/>
              <a:tailEnd type="triangle" w="med" len="med"/>
            </a:ln>
          </p:spPr>
        </p:sp>
        <p:sp>
          <p:nvSpPr>
            <p:cNvPr id="84001" name="Rectangle 19"/>
            <p:cNvSpPr/>
            <p:nvPr/>
          </p:nvSpPr>
          <p:spPr>
            <a:xfrm>
              <a:off x="4464" y="3312"/>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a:t>
              </a:r>
              <a:endParaRPr lang="en-US" altLang="zh-CN" b="1" dirty="0">
                <a:solidFill>
                  <a:schemeClr val="accent1"/>
                </a:solidFill>
                <a:latin typeface="Consolas" panose="020B0609020204030204" pitchFamily="49" charset="0"/>
              </a:endParaRPr>
            </a:p>
          </p:txBody>
        </p:sp>
        <p:sp>
          <p:nvSpPr>
            <p:cNvPr id="84002" name="Rectangle 20"/>
            <p:cNvSpPr/>
            <p:nvPr/>
          </p:nvSpPr>
          <p:spPr>
            <a:xfrm>
              <a:off x="4896" y="3360"/>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E</a:t>
              </a:r>
              <a:endParaRPr lang="en-US" altLang="zh-CN" b="1" dirty="0">
                <a:solidFill>
                  <a:schemeClr val="accent1"/>
                </a:solidFill>
                <a:latin typeface="Consolas" panose="020B0609020204030204" pitchFamily="49" charset="0"/>
              </a:endParaRPr>
            </a:p>
          </p:txBody>
        </p:sp>
        <p:sp>
          <p:nvSpPr>
            <p:cNvPr id="84003" name="Line 21"/>
            <p:cNvSpPr/>
            <p:nvPr/>
          </p:nvSpPr>
          <p:spPr>
            <a:xfrm>
              <a:off x="5088" y="3360"/>
              <a:ext cx="0" cy="240"/>
            </a:xfrm>
            <a:prstGeom prst="line">
              <a:avLst/>
            </a:prstGeom>
            <a:ln w="9525" cap="flat" cmpd="sng">
              <a:solidFill>
                <a:srgbClr val="000000"/>
              </a:solidFill>
              <a:prstDash val="solid"/>
              <a:headEnd type="none" w="med" len="med"/>
              <a:tailEnd type="none" w="med" len="med"/>
            </a:ln>
          </p:spPr>
        </p:sp>
        <p:sp>
          <p:nvSpPr>
            <p:cNvPr id="84004" name="Line 22"/>
            <p:cNvSpPr/>
            <p:nvPr/>
          </p:nvSpPr>
          <p:spPr>
            <a:xfrm>
              <a:off x="5376" y="3360"/>
              <a:ext cx="0" cy="240"/>
            </a:xfrm>
            <a:prstGeom prst="line">
              <a:avLst/>
            </a:prstGeom>
            <a:ln w="9525" cap="flat" cmpd="sng">
              <a:solidFill>
                <a:srgbClr val="000000"/>
              </a:solidFill>
              <a:prstDash val="solid"/>
              <a:headEnd type="none" w="med" len="med"/>
              <a:tailEnd type="none" w="med" len="med"/>
            </a:ln>
          </p:spPr>
        </p:sp>
        <p:sp>
          <p:nvSpPr>
            <p:cNvPr id="84005" name="Line 23"/>
            <p:cNvSpPr/>
            <p:nvPr/>
          </p:nvSpPr>
          <p:spPr>
            <a:xfrm>
              <a:off x="5040" y="3072"/>
              <a:ext cx="240" cy="288"/>
            </a:xfrm>
            <a:prstGeom prst="line">
              <a:avLst/>
            </a:prstGeom>
            <a:ln w="19050" cap="flat" cmpd="sng">
              <a:solidFill>
                <a:srgbClr val="000000"/>
              </a:solidFill>
              <a:prstDash val="solid"/>
              <a:headEnd type="oval" w="med" len="med"/>
              <a:tailEnd type="triangle" w="med" len="med"/>
            </a:ln>
          </p:spPr>
        </p:sp>
        <p:sp>
          <p:nvSpPr>
            <p:cNvPr id="84006" name="Rectangle 24"/>
            <p:cNvSpPr/>
            <p:nvPr/>
          </p:nvSpPr>
          <p:spPr>
            <a:xfrm>
              <a:off x="5376" y="3312"/>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a:t>
              </a:r>
              <a:endParaRPr lang="en-US" altLang="zh-CN" b="1" dirty="0">
                <a:solidFill>
                  <a:schemeClr val="accent1"/>
                </a:solidFill>
                <a:latin typeface="Consolas" panose="020B0609020204030204" pitchFamily="49" charset="0"/>
              </a:endParaRPr>
            </a:p>
          </p:txBody>
        </p:sp>
        <p:sp>
          <p:nvSpPr>
            <p:cNvPr id="84007" name="Rectangle 25"/>
            <p:cNvSpPr/>
            <p:nvPr/>
          </p:nvSpPr>
          <p:spPr>
            <a:xfrm>
              <a:off x="4886" y="3312"/>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a:t>
              </a:r>
              <a:endParaRPr lang="en-US" altLang="zh-CN" b="1" dirty="0">
                <a:solidFill>
                  <a:schemeClr val="accent1"/>
                </a:solidFill>
                <a:latin typeface="Consolas" panose="020B0609020204030204" pitchFamily="49" charset="0"/>
              </a:endParaRPr>
            </a:p>
          </p:txBody>
        </p:sp>
        <p:sp>
          <p:nvSpPr>
            <p:cNvPr id="84008" name="Line 26"/>
            <p:cNvSpPr/>
            <p:nvPr/>
          </p:nvSpPr>
          <p:spPr>
            <a:xfrm flipH="1">
              <a:off x="4320" y="3072"/>
              <a:ext cx="240" cy="288"/>
            </a:xfrm>
            <a:prstGeom prst="line">
              <a:avLst/>
            </a:prstGeom>
            <a:ln w="19050" cap="flat" cmpd="sng">
              <a:solidFill>
                <a:srgbClr val="000000"/>
              </a:solidFill>
              <a:prstDash val="solid"/>
              <a:headEnd type="oval" w="med" len="med"/>
              <a:tailEnd type="triangle" w="med" len="med"/>
            </a:ln>
          </p:spPr>
        </p:sp>
        <p:sp>
          <p:nvSpPr>
            <p:cNvPr id="84009" name="Rectangle 27"/>
            <p:cNvSpPr/>
            <p:nvPr/>
          </p:nvSpPr>
          <p:spPr>
            <a:xfrm>
              <a:off x="3984" y="3360"/>
              <a:ext cx="672" cy="240"/>
            </a:xfrm>
            <a:prstGeom prst="rect">
              <a:avLst/>
            </a:prstGeom>
            <a:noFill/>
            <a:ln w="28575" cap="flat" cmpd="sng">
              <a:solidFill>
                <a:srgbClr val="0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D</a:t>
              </a:r>
              <a:endParaRPr lang="en-US" altLang="zh-CN" b="1" dirty="0">
                <a:solidFill>
                  <a:schemeClr val="accent1"/>
                </a:solidFill>
                <a:latin typeface="Courier New" panose="02070309020205020404" pitchFamily="49" charset="0"/>
              </a:endParaRPr>
            </a:p>
          </p:txBody>
        </p:sp>
        <p:sp>
          <p:nvSpPr>
            <p:cNvPr id="84010" name="Line 28"/>
            <p:cNvSpPr/>
            <p:nvPr/>
          </p:nvSpPr>
          <p:spPr>
            <a:xfrm>
              <a:off x="4176" y="3360"/>
              <a:ext cx="0" cy="240"/>
            </a:xfrm>
            <a:prstGeom prst="line">
              <a:avLst/>
            </a:prstGeom>
            <a:ln w="9525" cap="flat" cmpd="sng">
              <a:solidFill>
                <a:srgbClr val="000000"/>
              </a:solidFill>
              <a:prstDash val="solid"/>
              <a:headEnd type="none" w="med" len="med"/>
              <a:tailEnd type="none" w="med" len="med"/>
            </a:ln>
          </p:spPr>
        </p:sp>
        <p:sp>
          <p:nvSpPr>
            <p:cNvPr id="84011" name="Line 29"/>
            <p:cNvSpPr/>
            <p:nvPr/>
          </p:nvSpPr>
          <p:spPr>
            <a:xfrm>
              <a:off x="4464" y="3360"/>
              <a:ext cx="0" cy="240"/>
            </a:xfrm>
            <a:prstGeom prst="line">
              <a:avLst/>
            </a:prstGeom>
            <a:ln w="9525" cap="flat" cmpd="sng">
              <a:solidFill>
                <a:srgbClr val="000000"/>
              </a:solidFill>
              <a:prstDash val="solid"/>
              <a:headEnd type="none" w="med" len="med"/>
              <a:tailEnd type="none" w="med" len="med"/>
            </a:ln>
          </p:spPr>
        </p:sp>
        <p:sp>
          <p:nvSpPr>
            <p:cNvPr id="84012" name="Rectangle 30"/>
            <p:cNvSpPr/>
            <p:nvPr/>
          </p:nvSpPr>
          <p:spPr>
            <a:xfrm>
              <a:off x="3984" y="3312"/>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a:t>
              </a:r>
              <a:endParaRPr lang="en-US" altLang="zh-CN" b="1" dirty="0">
                <a:solidFill>
                  <a:schemeClr val="accent1"/>
                </a:solidFill>
                <a:latin typeface="Consolas" panose="020B0609020204030204" pitchFamily="49" charset="0"/>
              </a:endParaRPr>
            </a:p>
          </p:txBody>
        </p:sp>
        <p:sp>
          <p:nvSpPr>
            <p:cNvPr id="84013" name="Rectangle 31"/>
            <p:cNvSpPr/>
            <p:nvPr/>
          </p:nvSpPr>
          <p:spPr>
            <a:xfrm>
              <a:off x="3888" y="2544"/>
              <a:ext cx="154" cy="290"/>
            </a:xfrm>
            <a:prstGeom prst="rect">
              <a:avLst/>
            </a:prstGeom>
            <a:noFill/>
            <a:ln w="9525">
              <a:noFill/>
            </a:ln>
          </p:spPr>
          <p:txBody>
            <a:bodyPr lIns="0" rIns="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nsolas" panose="020B0609020204030204" pitchFamily="49" charset="0"/>
                </a:rPr>
                <a:t>∧</a:t>
              </a:r>
              <a:endParaRPr lang="en-US" altLang="zh-CN" b="1" dirty="0">
                <a:solidFill>
                  <a:schemeClr val="accent1"/>
                </a:solidFill>
                <a:latin typeface="Consolas" panose="020B0609020204030204" pitchFamily="49" charset="0"/>
              </a:endParaRPr>
            </a:p>
          </p:txBody>
        </p:sp>
      </p:grpSp>
      <p:grpSp>
        <p:nvGrpSpPr>
          <p:cNvPr id="83972" name="Group 32"/>
          <p:cNvGrpSpPr/>
          <p:nvPr/>
        </p:nvGrpSpPr>
        <p:grpSpPr>
          <a:xfrm>
            <a:off x="8145145" y="930275"/>
            <a:ext cx="2295525" cy="2171700"/>
            <a:chOff x="3766" y="336"/>
            <a:chExt cx="1446" cy="1368"/>
          </a:xfrm>
        </p:grpSpPr>
        <p:sp>
          <p:nvSpPr>
            <p:cNvPr id="83978" name="Oval 33"/>
            <p:cNvSpPr/>
            <p:nvPr/>
          </p:nvSpPr>
          <p:spPr>
            <a:xfrm>
              <a:off x="4368" y="1392"/>
              <a:ext cx="309" cy="312"/>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D</a:t>
              </a:r>
              <a:endParaRPr lang="en-US" altLang="zh-CN" b="1" dirty="0">
                <a:solidFill>
                  <a:schemeClr val="accent1"/>
                </a:solidFill>
                <a:latin typeface="Courier New" panose="02070309020205020404" pitchFamily="49" charset="0"/>
              </a:endParaRPr>
            </a:p>
          </p:txBody>
        </p:sp>
        <p:sp>
          <p:nvSpPr>
            <p:cNvPr id="83979" name="Oval 34"/>
            <p:cNvSpPr/>
            <p:nvPr/>
          </p:nvSpPr>
          <p:spPr>
            <a:xfrm>
              <a:off x="4348" y="336"/>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A</a:t>
              </a:r>
              <a:endParaRPr lang="en-US" altLang="zh-CN" b="1" dirty="0">
                <a:solidFill>
                  <a:schemeClr val="accent1"/>
                </a:solidFill>
                <a:latin typeface="Courier New" panose="02070309020205020404" pitchFamily="49" charset="0"/>
              </a:endParaRPr>
            </a:p>
          </p:txBody>
        </p:sp>
        <p:sp>
          <p:nvSpPr>
            <p:cNvPr id="83980" name="Oval 35"/>
            <p:cNvSpPr/>
            <p:nvPr/>
          </p:nvSpPr>
          <p:spPr>
            <a:xfrm>
              <a:off x="4356" y="86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C</a:t>
              </a:r>
              <a:endParaRPr lang="en-US" altLang="zh-CN" b="1" dirty="0">
                <a:solidFill>
                  <a:schemeClr val="accent1"/>
                </a:solidFill>
                <a:latin typeface="Courier New" panose="02070309020205020404" pitchFamily="49" charset="0"/>
              </a:endParaRPr>
            </a:p>
          </p:txBody>
        </p:sp>
        <p:sp>
          <p:nvSpPr>
            <p:cNvPr id="83981" name="Line 36"/>
            <p:cNvSpPr/>
            <p:nvPr/>
          </p:nvSpPr>
          <p:spPr>
            <a:xfrm flipH="1">
              <a:off x="3973" y="631"/>
              <a:ext cx="516" cy="245"/>
            </a:xfrm>
            <a:prstGeom prst="line">
              <a:avLst/>
            </a:prstGeom>
            <a:ln w="9525" cap="flat" cmpd="sng">
              <a:solidFill>
                <a:srgbClr val="000000"/>
              </a:solidFill>
              <a:prstDash val="solid"/>
              <a:headEnd type="none" w="med" len="med"/>
              <a:tailEnd type="none" w="med" len="med"/>
            </a:ln>
          </p:spPr>
        </p:sp>
        <p:sp>
          <p:nvSpPr>
            <p:cNvPr id="83982" name="Freeform 37"/>
            <p:cNvSpPr/>
            <p:nvPr/>
          </p:nvSpPr>
          <p:spPr>
            <a:xfrm>
              <a:off x="4489" y="650"/>
              <a:ext cx="1" cy="226"/>
            </a:xfrm>
            <a:custGeom>
              <a:avLst/>
              <a:gdLst>
                <a:gd name="txL" fmla="*/ 0 w 1"/>
                <a:gd name="txT" fmla="*/ 0 h 221"/>
                <a:gd name="txR" fmla="*/ 1 w 1"/>
                <a:gd name="txB" fmla="*/ 221 h 221"/>
              </a:gdLst>
              <a:ahLst/>
              <a:cxnLst>
                <a:cxn ang="0">
                  <a:pos x="0" y="0"/>
                </a:cxn>
                <a:cxn ang="0">
                  <a:pos x="0" y="258"/>
                </a:cxn>
              </a:cxnLst>
              <a:rect l="txL" t="txT" r="txR" b="txB"/>
              <a:pathLst>
                <a:path w="1" h="221">
                  <a:moveTo>
                    <a:pt x="0" y="0"/>
                  </a:moveTo>
                  <a:lnTo>
                    <a:pt x="0" y="221"/>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83983" name="Oval 38"/>
            <p:cNvSpPr/>
            <p:nvPr/>
          </p:nvSpPr>
          <p:spPr>
            <a:xfrm>
              <a:off x="3766" y="86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B</a:t>
              </a:r>
              <a:endParaRPr lang="en-US" altLang="zh-CN" b="1" dirty="0">
                <a:solidFill>
                  <a:schemeClr val="accent1"/>
                </a:solidFill>
                <a:latin typeface="Courier New" panose="02070309020205020404" pitchFamily="49" charset="0"/>
              </a:endParaRPr>
            </a:p>
          </p:txBody>
        </p:sp>
        <p:sp>
          <p:nvSpPr>
            <p:cNvPr id="83984" name="Oval 39"/>
            <p:cNvSpPr/>
            <p:nvPr/>
          </p:nvSpPr>
          <p:spPr>
            <a:xfrm>
              <a:off x="4903" y="86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E</a:t>
              </a:r>
              <a:endParaRPr lang="en-US" altLang="zh-CN" b="1" dirty="0">
                <a:solidFill>
                  <a:schemeClr val="accent1"/>
                </a:solidFill>
                <a:latin typeface="Courier New" panose="02070309020205020404" pitchFamily="49" charset="0"/>
              </a:endParaRPr>
            </a:p>
          </p:txBody>
        </p:sp>
        <p:sp>
          <p:nvSpPr>
            <p:cNvPr id="83985" name="Line 40"/>
            <p:cNvSpPr/>
            <p:nvPr/>
          </p:nvSpPr>
          <p:spPr>
            <a:xfrm>
              <a:off x="4489" y="631"/>
              <a:ext cx="516" cy="245"/>
            </a:xfrm>
            <a:prstGeom prst="line">
              <a:avLst/>
            </a:prstGeom>
            <a:ln w="9525" cap="flat" cmpd="sng">
              <a:solidFill>
                <a:srgbClr val="000000"/>
              </a:solidFill>
              <a:prstDash val="solid"/>
              <a:headEnd type="none" w="med" len="med"/>
              <a:tailEnd type="none" w="med" len="med"/>
            </a:ln>
          </p:spPr>
        </p:sp>
        <p:sp>
          <p:nvSpPr>
            <p:cNvPr id="83986" name="Line 41"/>
            <p:cNvSpPr/>
            <p:nvPr/>
          </p:nvSpPr>
          <p:spPr>
            <a:xfrm>
              <a:off x="4512" y="1152"/>
              <a:ext cx="0" cy="240"/>
            </a:xfrm>
            <a:prstGeom prst="line">
              <a:avLst/>
            </a:prstGeom>
            <a:ln w="9525" cap="flat" cmpd="sng">
              <a:solidFill>
                <a:srgbClr val="000000"/>
              </a:solidFill>
              <a:prstDash val="solid"/>
              <a:headEnd type="none" w="med" len="med"/>
              <a:tailEnd type="none" w="med" len="med"/>
            </a:ln>
          </p:spPr>
        </p:sp>
      </p:grpSp>
      <p:sp>
        <p:nvSpPr>
          <p:cNvPr id="177194" name="Text Box 42"/>
          <p:cNvSpPr txBox="1"/>
          <p:nvPr/>
        </p:nvSpPr>
        <p:spPr>
          <a:xfrm>
            <a:off x="585470" y="1122680"/>
            <a:ext cx="6958330" cy="854075"/>
          </a:xfrm>
          <a:prstGeom prst="rect">
            <a:avLst/>
          </a:prstGeom>
          <a:noFill/>
          <a:ln w="9525">
            <a:noFill/>
          </a:ln>
        </p:spPr>
        <p:txBody>
          <a:bodyPr>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sz="2200" b="1"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容易看出，一棵树的孩子兄弟表示法有以下特点</a:t>
            </a:r>
            <a:r>
              <a:rPr lang="zh-CN" altLang="en-US" sz="2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2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7195" name="Text Box 43"/>
          <p:cNvSpPr txBox="1"/>
          <p:nvPr/>
        </p:nvSpPr>
        <p:spPr>
          <a:xfrm>
            <a:off x="890270" y="1826260"/>
            <a:ext cx="6805930"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Font typeface="Wingdings" panose="05000000000000000000" pitchFamily="2" charset="2"/>
              <a:buChar char="Ø"/>
            </a:pPr>
            <a:r>
              <a:rPr lang="en-US" altLang="zh-CN" sz="2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根结点的 </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nextsibling </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域始终为空。</a:t>
            </a:r>
            <a:r>
              <a:rPr lang="zh-CN" altLang="en-US" sz="20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7196" name="Text Box 44"/>
          <p:cNvSpPr txBox="1"/>
          <p:nvPr/>
        </p:nvSpPr>
        <p:spPr>
          <a:xfrm>
            <a:off x="890270" y="2438400"/>
            <a:ext cx="7415530"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Font typeface="Wingdings" panose="05000000000000000000" pitchFamily="2" charset="2"/>
              <a:buChar char="Ø"/>
            </a:pPr>
            <a:r>
              <a:rPr lang="en-US" altLang="zh-CN" sz="2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在这种存储结构中，容易找到结点的孩子。</a:t>
            </a:r>
            <a:endPar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7197" name="Text Box 45"/>
          <p:cNvSpPr txBox="1"/>
          <p:nvPr/>
        </p:nvSpPr>
        <p:spPr>
          <a:xfrm>
            <a:off x="737235" y="2987675"/>
            <a:ext cx="7111365" cy="15220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50000"/>
              </a:lnSpc>
              <a:spcBef>
                <a:spcPct val="50000"/>
              </a:spcBef>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假若要找结点</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的第</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个孩子，只要先顺着结点</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 </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firstchild </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指针到达第</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个孩子结点，然后沿着 </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nextsibling </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指针连续走两步，就可找到</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的第</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个孩子。 </a:t>
            </a:r>
            <a:endPar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Text Box 79"/>
          <p:cNvSpPr txBox="1"/>
          <p:nvPr/>
        </p:nvSpPr>
        <p:spPr>
          <a:xfrm>
            <a:off x="889635" y="5257800"/>
            <a:ext cx="6654165"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注：树与右子树为空的二叉树之间可以相互转换</a:t>
            </a:r>
            <a:r>
              <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mn-ea"/>
              </a:rPr>
              <a:t>孩子兄弟表示法</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3" name="组合 12"/>
          <p:cNvGrpSpPr/>
          <p:nvPr/>
        </p:nvGrpSpPr>
        <p:grpSpPr>
          <a:xfrm>
            <a:off x="0" y="6437630"/>
            <a:ext cx="12192000" cy="420370"/>
            <a:chOff x="0" y="10138"/>
            <a:chExt cx="19200" cy="662"/>
          </a:xfrm>
        </p:grpSpPr>
        <p:sp>
          <p:nvSpPr>
            <p:cNvPr id="14" name="矩形 13"/>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15" name="组合 14"/>
            <p:cNvGrpSpPr/>
            <p:nvPr/>
          </p:nvGrpSpPr>
          <p:grpSpPr>
            <a:xfrm>
              <a:off x="619" y="10220"/>
              <a:ext cx="17227" cy="580"/>
              <a:chOff x="619" y="10220"/>
              <a:chExt cx="17227" cy="580"/>
            </a:xfrm>
          </p:grpSpPr>
          <p:sp>
            <p:nvSpPr>
              <p:cNvPr id="16" name="文本框 15"/>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9053" y="10327"/>
                <a:ext cx="428" cy="319"/>
                <a:chOff x="1180190" y="6561344"/>
                <a:chExt cx="271682" cy="202424"/>
              </a:xfrm>
            </p:grpSpPr>
            <p:sp>
              <p:nvSpPr>
                <p:cNvPr id="19" name="燕尾形 18"/>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0" name="燕尾形 19"/>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21" name="文本框 20"/>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par>
                          <p:cTn id="8" fill="hold">
                            <p:stCondLst>
                              <p:cond delay="1000"/>
                            </p:stCondLst>
                            <p:childTnLst>
                              <p:par>
                                <p:cTn id="9" presetID="2" presetClass="entr" presetSubtype="8" fill="hold" grpId="0" nodeType="afterEffect">
                                  <p:stCondLst>
                                    <p:cond delay="500"/>
                                  </p:stCondLst>
                                  <p:childTnLst>
                                    <p:set>
                                      <p:cBhvr>
                                        <p:cTn id="10" dur="1" fill="hold">
                                          <p:stCondLst>
                                            <p:cond delay="0"/>
                                          </p:stCondLst>
                                        </p:cTn>
                                        <p:tgtEl>
                                          <p:spTgt spid="177194"/>
                                        </p:tgtEl>
                                        <p:attrNameLst>
                                          <p:attrName>style.visibility</p:attrName>
                                        </p:attrNameLst>
                                      </p:cBhvr>
                                      <p:to>
                                        <p:strVal val="visible"/>
                                      </p:to>
                                    </p:set>
                                    <p:anim calcmode="lin" valueType="num">
                                      <p:cBhvr additive="base">
                                        <p:cTn id="11" dur="500" fill="hold"/>
                                        <p:tgtEl>
                                          <p:spTgt spid="177194"/>
                                        </p:tgtEl>
                                        <p:attrNameLst>
                                          <p:attrName>ppt_x</p:attrName>
                                        </p:attrNameLst>
                                      </p:cBhvr>
                                      <p:tavLst>
                                        <p:tav tm="0">
                                          <p:val>
                                            <p:strVal val="0-#ppt_w/2"/>
                                          </p:val>
                                        </p:tav>
                                        <p:tav tm="100000">
                                          <p:val>
                                            <p:strVal val="#ppt_x"/>
                                          </p:val>
                                        </p:tav>
                                      </p:tavLst>
                                    </p:anim>
                                    <p:anim calcmode="lin" valueType="num">
                                      <p:cBhvr additive="base">
                                        <p:cTn id="12" dur="500" fill="hold"/>
                                        <p:tgtEl>
                                          <p:spTgt spid="17719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6" fill="hold" grpId="0" nodeType="clickEffect">
                                  <p:stCondLst>
                                    <p:cond delay="0"/>
                                  </p:stCondLst>
                                  <p:childTnLst>
                                    <p:set>
                                      <p:cBhvr>
                                        <p:cTn id="16" dur="1" fill="hold">
                                          <p:stCondLst>
                                            <p:cond delay="0"/>
                                          </p:stCondLst>
                                        </p:cTn>
                                        <p:tgtEl>
                                          <p:spTgt spid="177195"/>
                                        </p:tgtEl>
                                        <p:attrNameLst>
                                          <p:attrName>style.visibility</p:attrName>
                                        </p:attrNameLst>
                                      </p:cBhvr>
                                      <p:to>
                                        <p:strVal val="visible"/>
                                      </p:to>
                                    </p:set>
                                    <p:anim calcmode="lin" valueType="num">
                                      <p:cBhvr additive="base">
                                        <p:cTn id="17" dur="500" fill="hold"/>
                                        <p:tgtEl>
                                          <p:spTgt spid="177195"/>
                                        </p:tgtEl>
                                        <p:attrNameLst>
                                          <p:attrName>ppt_x</p:attrName>
                                        </p:attrNameLst>
                                      </p:cBhvr>
                                      <p:tavLst>
                                        <p:tav tm="0">
                                          <p:val>
                                            <p:strVal val="1+#ppt_w/2"/>
                                          </p:val>
                                        </p:tav>
                                        <p:tav tm="100000">
                                          <p:val>
                                            <p:strVal val="#ppt_x"/>
                                          </p:val>
                                        </p:tav>
                                      </p:tavLst>
                                    </p:anim>
                                    <p:anim calcmode="lin" valueType="num">
                                      <p:cBhvr additive="base">
                                        <p:cTn id="18" dur="500" fill="hold"/>
                                        <p:tgtEl>
                                          <p:spTgt spid="17719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grpId="0" nodeType="clickEffect">
                                  <p:stCondLst>
                                    <p:cond delay="0"/>
                                  </p:stCondLst>
                                  <p:childTnLst>
                                    <p:set>
                                      <p:cBhvr>
                                        <p:cTn id="22" dur="1" fill="hold">
                                          <p:stCondLst>
                                            <p:cond delay="0"/>
                                          </p:stCondLst>
                                        </p:cTn>
                                        <p:tgtEl>
                                          <p:spTgt spid="177196"/>
                                        </p:tgtEl>
                                        <p:attrNameLst>
                                          <p:attrName>style.visibility</p:attrName>
                                        </p:attrNameLst>
                                      </p:cBhvr>
                                      <p:to>
                                        <p:strVal val="visible"/>
                                      </p:to>
                                    </p:set>
                                    <p:anim calcmode="lin" valueType="num">
                                      <p:cBhvr additive="base">
                                        <p:cTn id="23" dur="500" fill="hold"/>
                                        <p:tgtEl>
                                          <p:spTgt spid="177196"/>
                                        </p:tgtEl>
                                        <p:attrNameLst>
                                          <p:attrName>ppt_x</p:attrName>
                                        </p:attrNameLst>
                                      </p:cBhvr>
                                      <p:tavLst>
                                        <p:tav tm="0">
                                          <p:val>
                                            <p:strVal val="1+#ppt_w/2"/>
                                          </p:val>
                                        </p:tav>
                                        <p:tav tm="100000">
                                          <p:val>
                                            <p:strVal val="#ppt_x"/>
                                          </p:val>
                                        </p:tav>
                                      </p:tavLst>
                                    </p:anim>
                                    <p:anim calcmode="lin" valueType="num">
                                      <p:cBhvr additive="base">
                                        <p:cTn id="24" dur="500" fill="hold"/>
                                        <p:tgtEl>
                                          <p:spTgt spid="177196"/>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12" presetClass="entr" presetSubtype="4" fill="hold" grpId="0" nodeType="afterEffect">
                                  <p:stCondLst>
                                    <p:cond delay="0"/>
                                  </p:stCondLst>
                                  <p:childTnLst>
                                    <p:set>
                                      <p:cBhvr>
                                        <p:cTn id="27" dur="1" fill="hold">
                                          <p:stCondLst>
                                            <p:cond delay="0"/>
                                          </p:stCondLst>
                                        </p:cTn>
                                        <p:tgtEl>
                                          <p:spTgt spid="177197"/>
                                        </p:tgtEl>
                                        <p:attrNameLst>
                                          <p:attrName>style.visibility</p:attrName>
                                        </p:attrNameLst>
                                      </p:cBhvr>
                                      <p:to>
                                        <p:strVal val="visible"/>
                                      </p:to>
                                    </p:set>
                                    <p:animEffect transition="in" filter="slide(fromBottom)">
                                      <p:cBhvr>
                                        <p:cTn id="28" dur="500"/>
                                        <p:tgtEl>
                                          <p:spTgt spid="177197"/>
                                        </p:tgtEl>
                                      </p:cBhvr>
                                    </p:animEffect>
                                  </p:childTnLst>
                                </p:cTn>
                              </p:par>
                            </p:childTnLst>
                          </p:cTn>
                        </p:par>
                        <p:par>
                          <p:cTn id="29" fill="hold">
                            <p:stCondLst>
                              <p:cond delay="1000"/>
                            </p:stCondLst>
                            <p:childTnLst>
                              <p:par>
                                <p:cTn id="30" presetID="18" presetClass="entr" presetSubtype="6" fill="hold" grpId="0" nodeType="after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strips(downRight)">
                                      <p:cBhvr>
                                        <p:cTn id="32"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94" grpId="0"/>
      <p:bldP spid="177195" grpId="0"/>
      <p:bldP spid="177196" grpId="0"/>
      <p:bldP spid="177197" grpId="0"/>
      <p:bldP spid="4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4995" name="Group 3"/>
          <p:cNvGrpSpPr/>
          <p:nvPr/>
        </p:nvGrpSpPr>
        <p:grpSpPr>
          <a:xfrm>
            <a:off x="2214880" y="1905000"/>
            <a:ext cx="1666875" cy="1325563"/>
            <a:chOff x="363" y="1200"/>
            <a:chExt cx="1050" cy="835"/>
          </a:xfrm>
        </p:grpSpPr>
        <p:sp>
          <p:nvSpPr>
            <p:cNvPr id="85034" name="Oval 4"/>
            <p:cNvSpPr/>
            <p:nvPr/>
          </p:nvSpPr>
          <p:spPr>
            <a:xfrm>
              <a:off x="726" y="120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A</a:t>
              </a:r>
              <a:endParaRPr lang="en-US" altLang="zh-CN" b="1" dirty="0">
                <a:solidFill>
                  <a:schemeClr val="accent1"/>
                </a:solidFill>
                <a:latin typeface="Courier New" panose="02070309020205020404" pitchFamily="49" charset="0"/>
              </a:endParaRPr>
            </a:p>
          </p:txBody>
        </p:sp>
        <p:sp>
          <p:nvSpPr>
            <p:cNvPr id="85035" name="Oval 5"/>
            <p:cNvSpPr/>
            <p:nvPr/>
          </p:nvSpPr>
          <p:spPr>
            <a:xfrm>
              <a:off x="734" y="1724"/>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C</a:t>
              </a:r>
              <a:endParaRPr lang="en-US" altLang="zh-CN" b="1" dirty="0">
                <a:solidFill>
                  <a:schemeClr val="accent1"/>
                </a:solidFill>
                <a:latin typeface="Courier New" panose="02070309020205020404" pitchFamily="49" charset="0"/>
              </a:endParaRPr>
            </a:p>
          </p:txBody>
        </p:sp>
        <p:sp>
          <p:nvSpPr>
            <p:cNvPr id="85036" name="Line 6"/>
            <p:cNvSpPr/>
            <p:nvPr/>
          </p:nvSpPr>
          <p:spPr>
            <a:xfrm flipH="1">
              <a:off x="576" y="1495"/>
              <a:ext cx="291" cy="233"/>
            </a:xfrm>
            <a:prstGeom prst="line">
              <a:avLst/>
            </a:prstGeom>
            <a:ln w="9525" cap="flat" cmpd="sng">
              <a:solidFill>
                <a:srgbClr val="000000"/>
              </a:solidFill>
              <a:prstDash val="solid"/>
              <a:headEnd type="none" w="med" len="med"/>
              <a:tailEnd type="none" w="med" len="med"/>
            </a:ln>
          </p:spPr>
        </p:sp>
        <p:sp>
          <p:nvSpPr>
            <p:cNvPr id="85037" name="Freeform 7"/>
            <p:cNvSpPr/>
            <p:nvPr/>
          </p:nvSpPr>
          <p:spPr>
            <a:xfrm>
              <a:off x="867" y="1495"/>
              <a:ext cx="1" cy="226"/>
            </a:xfrm>
            <a:custGeom>
              <a:avLst/>
              <a:gdLst>
                <a:gd name="txL" fmla="*/ 0 w 1"/>
                <a:gd name="txT" fmla="*/ 0 h 221"/>
                <a:gd name="txR" fmla="*/ 1 w 1"/>
                <a:gd name="txB" fmla="*/ 221 h 221"/>
              </a:gdLst>
              <a:ahLst/>
              <a:cxnLst>
                <a:cxn ang="0">
                  <a:pos x="0" y="0"/>
                </a:cxn>
                <a:cxn ang="0">
                  <a:pos x="0" y="258"/>
                </a:cxn>
              </a:cxnLst>
              <a:rect l="txL" t="txT" r="txR" b="txB"/>
              <a:pathLst>
                <a:path w="1" h="221">
                  <a:moveTo>
                    <a:pt x="0" y="0"/>
                  </a:moveTo>
                  <a:lnTo>
                    <a:pt x="0" y="221"/>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85038" name="Oval 8"/>
            <p:cNvSpPr/>
            <p:nvPr/>
          </p:nvSpPr>
          <p:spPr>
            <a:xfrm>
              <a:off x="363" y="1724"/>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B</a:t>
              </a:r>
              <a:endParaRPr lang="en-US" altLang="zh-CN" b="1" dirty="0">
                <a:solidFill>
                  <a:schemeClr val="accent1"/>
                </a:solidFill>
                <a:latin typeface="Courier New" panose="02070309020205020404" pitchFamily="49" charset="0"/>
              </a:endParaRPr>
            </a:p>
          </p:txBody>
        </p:sp>
        <p:sp>
          <p:nvSpPr>
            <p:cNvPr id="85039" name="Oval 9"/>
            <p:cNvSpPr/>
            <p:nvPr/>
          </p:nvSpPr>
          <p:spPr>
            <a:xfrm>
              <a:off x="1104" y="1724"/>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D</a:t>
              </a:r>
              <a:endParaRPr lang="en-US" altLang="zh-CN" b="1" dirty="0">
                <a:solidFill>
                  <a:schemeClr val="accent1"/>
                </a:solidFill>
                <a:latin typeface="Courier New" panose="02070309020205020404" pitchFamily="49" charset="0"/>
              </a:endParaRPr>
            </a:p>
          </p:txBody>
        </p:sp>
        <p:sp>
          <p:nvSpPr>
            <p:cNvPr id="85040" name="Line 10"/>
            <p:cNvSpPr/>
            <p:nvPr/>
          </p:nvSpPr>
          <p:spPr>
            <a:xfrm>
              <a:off x="867" y="1495"/>
              <a:ext cx="333" cy="233"/>
            </a:xfrm>
            <a:prstGeom prst="line">
              <a:avLst/>
            </a:prstGeom>
            <a:ln w="9525" cap="flat" cmpd="sng">
              <a:solidFill>
                <a:srgbClr val="000000"/>
              </a:solidFill>
              <a:prstDash val="solid"/>
              <a:headEnd type="none" w="med" len="med"/>
              <a:tailEnd type="none" w="med" len="med"/>
            </a:ln>
          </p:spPr>
        </p:sp>
      </p:grpSp>
      <p:sp>
        <p:nvSpPr>
          <p:cNvPr id="84996" name="Text Box 11"/>
          <p:cNvSpPr txBox="1"/>
          <p:nvPr/>
        </p:nvSpPr>
        <p:spPr>
          <a:xfrm>
            <a:off x="457835" y="848360"/>
            <a:ext cx="10386060" cy="1018540"/>
          </a:xfrm>
          <a:prstGeom prst="rect">
            <a:avLst/>
          </a:prstGeom>
          <a:solidFill>
            <a:srgbClr val="FFFFFF"/>
          </a:solidFill>
          <a:ln w="9525">
            <a:noFill/>
          </a:ln>
        </p:spPr>
        <p:txBody>
          <a:bodyPr wrap="square">
            <a:no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lnSpc>
                <a:spcPct val="110000"/>
              </a:lnSpc>
              <a:spcBef>
                <a:spcPct val="50000"/>
              </a:spcBef>
              <a:buNone/>
            </a:pP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对于一个森林，如果把其他树的根结点看成是第一棵树根结点的兄弟，则同样可以用二叉链表来存储，也可以建立森林与二叉树之间的对应关系。</a:t>
            </a:r>
            <a:r>
              <a:rPr lang="zh-CN" altLang="en-US" sz="22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2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Group 12"/>
          <p:cNvGrpSpPr/>
          <p:nvPr/>
        </p:nvGrpSpPr>
        <p:grpSpPr>
          <a:xfrm>
            <a:off x="7739063" y="1524000"/>
            <a:ext cx="2700337" cy="3771900"/>
            <a:chOff x="3771" y="1200"/>
            <a:chExt cx="1701" cy="2376"/>
          </a:xfrm>
        </p:grpSpPr>
        <p:sp>
          <p:nvSpPr>
            <p:cNvPr id="85015" name="Oval 13"/>
            <p:cNvSpPr/>
            <p:nvPr/>
          </p:nvSpPr>
          <p:spPr>
            <a:xfrm>
              <a:off x="4848" y="3264"/>
              <a:ext cx="309" cy="312"/>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J</a:t>
              </a:r>
              <a:endParaRPr lang="en-US" altLang="zh-CN" b="1" dirty="0">
                <a:solidFill>
                  <a:srgbClr val="000000"/>
                </a:solidFill>
                <a:latin typeface="Courier New" panose="02070309020205020404" pitchFamily="49" charset="0"/>
              </a:endParaRPr>
            </a:p>
          </p:txBody>
        </p:sp>
        <p:sp>
          <p:nvSpPr>
            <p:cNvPr id="85016" name="Oval 14"/>
            <p:cNvSpPr/>
            <p:nvPr/>
          </p:nvSpPr>
          <p:spPr>
            <a:xfrm>
              <a:off x="4827" y="1584"/>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E</a:t>
              </a:r>
              <a:endParaRPr lang="en-US" altLang="zh-CN" b="1" dirty="0">
                <a:solidFill>
                  <a:srgbClr val="000000"/>
                </a:solidFill>
                <a:latin typeface="Courier New" panose="02070309020205020404" pitchFamily="49" charset="0"/>
              </a:endParaRPr>
            </a:p>
          </p:txBody>
        </p:sp>
        <p:sp>
          <p:nvSpPr>
            <p:cNvPr id="85017" name="Line 15"/>
            <p:cNvSpPr/>
            <p:nvPr/>
          </p:nvSpPr>
          <p:spPr>
            <a:xfrm>
              <a:off x="4992" y="2688"/>
              <a:ext cx="192" cy="192"/>
            </a:xfrm>
            <a:prstGeom prst="line">
              <a:avLst/>
            </a:prstGeom>
            <a:ln w="9525" cap="flat" cmpd="sng">
              <a:solidFill>
                <a:srgbClr val="000000"/>
              </a:solidFill>
              <a:prstDash val="solid"/>
              <a:headEnd type="none" w="med" len="med"/>
              <a:tailEnd type="none" w="med" len="med"/>
            </a:ln>
          </p:spPr>
        </p:sp>
        <p:sp>
          <p:nvSpPr>
            <p:cNvPr id="85018" name="Oval 16"/>
            <p:cNvSpPr/>
            <p:nvPr/>
          </p:nvSpPr>
          <p:spPr>
            <a:xfrm>
              <a:off x="5136" y="2832"/>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I</a:t>
              </a:r>
              <a:endParaRPr lang="en-US" altLang="zh-CN" b="1" dirty="0">
                <a:solidFill>
                  <a:srgbClr val="000000"/>
                </a:solidFill>
                <a:latin typeface="Courier New" panose="02070309020205020404" pitchFamily="49" charset="0"/>
              </a:endParaRPr>
            </a:p>
          </p:txBody>
        </p:sp>
        <p:sp>
          <p:nvSpPr>
            <p:cNvPr id="85019" name="Oval 17"/>
            <p:cNvSpPr/>
            <p:nvPr/>
          </p:nvSpPr>
          <p:spPr>
            <a:xfrm>
              <a:off x="5163" y="1968"/>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G</a:t>
              </a:r>
              <a:endParaRPr lang="en-US" altLang="zh-CN" b="1" dirty="0">
                <a:solidFill>
                  <a:srgbClr val="000000"/>
                </a:solidFill>
                <a:latin typeface="Courier New" panose="02070309020205020404" pitchFamily="49" charset="0"/>
              </a:endParaRPr>
            </a:p>
          </p:txBody>
        </p:sp>
        <p:sp>
          <p:nvSpPr>
            <p:cNvPr id="85020" name="Freeform 18"/>
            <p:cNvSpPr/>
            <p:nvPr/>
          </p:nvSpPr>
          <p:spPr>
            <a:xfrm>
              <a:off x="5088" y="1853"/>
              <a:ext cx="144" cy="144"/>
            </a:xfrm>
            <a:custGeom>
              <a:avLst/>
              <a:gdLst>
                <a:gd name="txL" fmla="*/ 0 w 144"/>
                <a:gd name="txT" fmla="*/ 0 h 144"/>
                <a:gd name="txR" fmla="*/ 144 w 144"/>
                <a:gd name="txB" fmla="*/ 144 h 144"/>
              </a:gdLst>
              <a:ahLst/>
              <a:cxnLst>
                <a:cxn ang="0">
                  <a:pos x="0" y="0"/>
                </a:cxn>
                <a:cxn ang="0">
                  <a:pos x="144" y="144"/>
                </a:cxn>
              </a:cxnLst>
              <a:rect l="txL" t="txT" r="txR" b="txB"/>
              <a:pathLst>
                <a:path w="144" h="144">
                  <a:moveTo>
                    <a:pt x="0" y="0"/>
                  </a:moveTo>
                  <a:lnTo>
                    <a:pt x="144" y="144"/>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85021" name="Line 19"/>
            <p:cNvSpPr/>
            <p:nvPr/>
          </p:nvSpPr>
          <p:spPr>
            <a:xfrm>
              <a:off x="4608" y="1440"/>
              <a:ext cx="288" cy="192"/>
            </a:xfrm>
            <a:prstGeom prst="line">
              <a:avLst/>
            </a:prstGeom>
            <a:ln w="9525" cap="flat" cmpd="sng">
              <a:solidFill>
                <a:srgbClr val="000000"/>
              </a:solidFill>
              <a:prstDash val="solid"/>
              <a:headEnd type="none" w="med" len="med"/>
              <a:tailEnd type="none" w="med" len="med"/>
            </a:ln>
          </p:spPr>
        </p:sp>
        <p:sp>
          <p:nvSpPr>
            <p:cNvPr id="85022" name="Line 20"/>
            <p:cNvSpPr/>
            <p:nvPr/>
          </p:nvSpPr>
          <p:spPr>
            <a:xfrm flipH="1">
              <a:off x="5088" y="3120"/>
              <a:ext cx="144" cy="144"/>
            </a:xfrm>
            <a:prstGeom prst="line">
              <a:avLst/>
            </a:prstGeom>
            <a:ln w="9525" cap="flat" cmpd="sng">
              <a:solidFill>
                <a:srgbClr val="000000"/>
              </a:solidFill>
              <a:prstDash val="solid"/>
              <a:headEnd type="none" w="med" len="med"/>
              <a:tailEnd type="none" w="med" len="med"/>
            </a:ln>
          </p:spPr>
        </p:sp>
        <p:sp>
          <p:nvSpPr>
            <p:cNvPr id="85023" name="Oval 21"/>
            <p:cNvSpPr/>
            <p:nvPr/>
          </p:nvSpPr>
          <p:spPr>
            <a:xfrm>
              <a:off x="4800" y="2400"/>
              <a:ext cx="309" cy="312"/>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H</a:t>
              </a:r>
              <a:endParaRPr lang="en-US" altLang="zh-CN" b="1" dirty="0">
                <a:solidFill>
                  <a:srgbClr val="000000"/>
                </a:solidFill>
                <a:latin typeface="Courier New" panose="02070309020205020404" pitchFamily="49" charset="0"/>
              </a:endParaRPr>
            </a:p>
          </p:txBody>
        </p:sp>
        <p:sp>
          <p:nvSpPr>
            <p:cNvPr id="85024" name="Oval 22"/>
            <p:cNvSpPr/>
            <p:nvPr/>
          </p:nvSpPr>
          <p:spPr>
            <a:xfrm>
              <a:off x="4320" y="120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A</a:t>
              </a:r>
              <a:endParaRPr lang="en-US" altLang="zh-CN" b="1" dirty="0">
                <a:solidFill>
                  <a:srgbClr val="000000"/>
                </a:solidFill>
                <a:latin typeface="Courier New" panose="02070309020205020404" pitchFamily="49" charset="0"/>
              </a:endParaRPr>
            </a:p>
          </p:txBody>
        </p:sp>
        <p:sp>
          <p:nvSpPr>
            <p:cNvPr id="85025" name="Oval 23"/>
            <p:cNvSpPr/>
            <p:nvPr/>
          </p:nvSpPr>
          <p:spPr>
            <a:xfrm>
              <a:off x="4011" y="1993"/>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C</a:t>
              </a:r>
              <a:endParaRPr lang="en-US" altLang="zh-CN" b="1" dirty="0">
                <a:solidFill>
                  <a:srgbClr val="000000"/>
                </a:solidFill>
                <a:latin typeface="Courier New" panose="02070309020205020404" pitchFamily="49" charset="0"/>
              </a:endParaRPr>
            </a:p>
          </p:txBody>
        </p:sp>
        <p:sp>
          <p:nvSpPr>
            <p:cNvPr id="85026" name="Line 24"/>
            <p:cNvSpPr/>
            <p:nvPr/>
          </p:nvSpPr>
          <p:spPr>
            <a:xfrm flipH="1">
              <a:off x="4032" y="1416"/>
              <a:ext cx="288" cy="168"/>
            </a:xfrm>
            <a:prstGeom prst="line">
              <a:avLst/>
            </a:prstGeom>
            <a:ln w="9525" cap="flat" cmpd="sng">
              <a:solidFill>
                <a:srgbClr val="000000"/>
              </a:solidFill>
              <a:prstDash val="solid"/>
              <a:headEnd type="none" w="med" len="med"/>
              <a:tailEnd type="none" w="med" len="med"/>
            </a:ln>
          </p:spPr>
        </p:sp>
        <p:sp>
          <p:nvSpPr>
            <p:cNvPr id="85027" name="Oval 25"/>
            <p:cNvSpPr/>
            <p:nvPr/>
          </p:nvSpPr>
          <p:spPr>
            <a:xfrm>
              <a:off x="3771" y="156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B</a:t>
              </a:r>
              <a:endParaRPr lang="en-US" altLang="zh-CN" b="1" dirty="0">
                <a:solidFill>
                  <a:srgbClr val="000000"/>
                </a:solidFill>
                <a:latin typeface="Courier New" panose="02070309020205020404" pitchFamily="49" charset="0"/>
              </a:endParaRPr>
            </a:p>
          </p:txBody>
        </p:sp>
        <p:sp>
          <p:nvSpPr>
            <p:cNvPr id="85028" name="Oval 26"/>
            <p:cNvSpPr/>
            <p:nvPr/>
          </p:nvSpPr>
          <p:spPr>
            <a:xfrm>
              <a:off x="4347" y="240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E</a:t>
              </a:r>
              <a:endParaRPr lang="en-US" altLang="zh-CN" b="1" dirty="0">
                <a:solidFill>
                  <a:srgbClr val="000000"/>
                </a:solidFill>
                <a:latin typeface="Courier New" panose="02070309020205020404" pitchFamily="49" charset="0"/>
              </a:endParaRPr>
            </a:p>
          </p:txBody>
        </p:sp>
        <p:sp>
          <p:nvSpPr>
            <p:cNvPr id="85029" name="Line 27"/>
            <p:cNvSpPr/>
            <p:nvPr/>
          </p:nvSpPr>
          <p:spPr>
            <a:xfrm>
              <a:off x="4272" y="2256"/>
              <a:ext cx="144" cy="192"/>
            </a:xfrm>
            <a:prstGeom prst="line">
              <a:avLst/>
            </a:prstGeom>
            <a:ln w="9525" cap="flat" cmpd="sng">
              <a:solidFill>
                <a:srgbClr val="000000"/>
              </a:solidFill>
              <a:prstDash val="solid"/>
              <a:headEnd type="none" w="med" len="med"/>
              <a:tailEnd type="none" w="med" len="med"/>
            </a:ln>
          </p:spPr>
        </p:sp>
        <p:sp>
          <p:nvSpPr>
            <p:cNvPr id="85030" name="Line 28"/>
            <p:cNvSpPr/>
            <p:nvPr/>
          </p:nvSpPr>
          <p:spPr>
            <a:xfrm>
              <a:off x="3963" y="1872"/>
              <a:ext cx="117" cy="144"/>
            </a:xfrm>
            <a:prstGeom prst="line">
              <a:avLst/>
            </a:prstGeom>
            <a:ln w="9525" cap="flat" cmpd="sng">
              <a:solidFill>
                <a:srgbClr val="000000"/>
              </a:solidFill>
              <a:prstDash val="solid"/>
              <a:headEnd type="none" w="med" len="med"/>
              <a:tailEnd type="none" w="med" len="med"/>
            </a:ln>
          </p:spPr>
        </p:sp>
        <p:sp>
          <p:nvSpPr>
            <p:cNvPr id="85031" name="Line 29"/>
            <p:cNvSpPr/>
            <p:nvPr/>
          </p:nvSpPr>
          <p:spPr>
            <a:xfrm flipH="1">
              <a:off x="5061" y="2280"/>
              <a:ext cx="144" cy="144"/>
            </a:xfrm>
            <a:prstGeom prst="line">
              <a:avLst/>
            </a:prstGeom>
            <a:ln w="9525" cap="flat" cmpd="sng">
              <a:solidFill>
                <a:srgbClr val="000000"/>
              </a:solidFill>
              <a:prstDash val="solid"/>
              <a:headEnd type="none" w="med" len="med"/>
              <a:tailEnd type="none" w="med" len="med"/>
            </a:ln>
          </p:spPr>
        </p:sp>
        <p:sp>
          <p:nvSpPr>
            <p:cNvPr id="85032" name="Oval 30"/>
            <p:cNvSpPr/>
            <p:nvPr/>
          </p:nvSpPr>
          <p:spPr>
            <a:xfrm>
              <a:off x="4464" y="1993"/>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rgbClr val="000000"/>
                  </a:solidFill>
                  <a:latin typeface="Courier New" panose="02070309020205020404" pitchFamily="49" charset="0"/>
                </a:rPr>
                <a:t>F</a:t>
              </a:r>
              <a:endParaRPr lang="en-US" altLang="zh-CN" b="1" dirty="0">
                <a:solidFill>
                  <a:srgbClr val="000000"/>
                </a:solidFill>
                <a:latin typeface="Courier New" panose="02070309020205020404" pitchFamily="49" charset="0"/>
              </a:endParaRPr>
            </a:p>
          </p:txBody>
        </p:sp>
        <p:sp>
          <p:nvSpPr>
            <p:cNvPr id="85033" name="Line 31"/>
            <p:cNvSpPr/>
            <p:nvPr/>
          </p:nvSpPr>
          <p:spPr>
            <a:xfrm flipH="1">
              <a:off x="4704" y="1850"/>
              <a:ext cx="144" cy="144"/>
            </a:xfrm>
            <a:prstGeom prst="line">
              <a:avLst/>
            </a:prstGeom>
            <a:ln w="9525" cap="flat" cmpd="sng">
              <a:solidFill>
                <a:srgbClr val="000000"/>
              </a:solidFill>
              <a:prstDash val="solid"/>
              <a:headEnd type="none" w="med" len="med"/>
              <a:tailEnd type="none" w="med" len="med"/>
            </a:ln>
          </p:spPr>
        </p:sp>
      </p:grpSp>
      <p:sp>
        <p:nvSpPr>
          <p:cNvPr id="179232" name="Text Box 32"/>
          <p:cNvSpPr txBox="1"/>
          <p:nvPr/>
        </p:nvSpPr>
        <p:spPr>
          <a:xfrm>
            <a:off x="777240" y="5715000"/>
            <a:ext cx="10773410" cy="7067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en-US" altLang="zh-CN"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反过来，给了一棵二叉树，按照这个规则也可以求出它所对应的森林。因此，森林与二叉树之间可以相互转换。</a:t>
            </a:r>
            <a:endParaRPr lang="zh-CN" altLang="en-US"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84999" name="Group 33"/>
          <p:cNvGrpSpPr/>
          <p:nvPr/>
        </p:nvGrpSpPr>
        <p:grpSpPr>
          <a:xfrm>
            <a:off x="4724400" y="1828800"/>
            <a:ext cx="503238" cy="1325563"/>
            <a:chOff x="1734" y="1200"/>
            <a:chExt cx="317" cy="835"/>
          </a:xfrm>
        </p:grpSpPr>
        <p:sp>
          <p:nvSpPr>
            <p:cNvPr id="85012" name="Oval 34"/>
            <p:cNvSpPr/>
            <p:nvPr/>
          </p:nvSpPr>
          <p:spPr>
            <a:xfrm>
              <a:off x="1734" y="120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E</a:t>
              </a:r>
              <a:endParaRPr lang="en-US" altLang="zh-CN" b="1" dirty="0">
                <a:solidFill>
                  <a:schemeClr val="accent1"/>
                </a:solidFill>
                <a:latin typeface="Courier New" panose="02070309020205020404" pitchFamily="49" charset="0"/>
              </a:endParaRPr>
            </a:p>
          </p:txBody>
        </p:sp>
        <p:sp>
          <p:nvSpPr>
            <p:cNvPr id="85013" name="Oval 35"/>
            <p:cNvSpPr/>
            <p:nvPr/>
          </p:nvSpPr>
          <p:spPr>
            <a:xfrm>
              <a:off x="1742" y="1724"/>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F</a:t>
              </a:r>
              <a:endParaRPr lang="en-US" altLang="zh-CN" b="1" dirty="0">
                <a:solidFill>
                  <a:schemeClr val="accent1"/>
                </a:solidFill>
                <a:latin typeface="Courier New" panose="02070309020205020404" pitchFamily="49" charset="0"/>
              </a:endParaRPr>
            </a:p>
          </p:txBody>
        </p:sp>
        <p:sp>
          <p:nvSpPr>
            <p:cNvPr id="85014" name="Freeform 36"/>
            <p:cNvSpPr/>
            <p:nvPr/>
          </p:nvSpPr>
          <p:spPr>
            <a:xfrm>
              <a:off x="1872" y="1488"/>
              <a:ext cx="1" cy="226"/>
            </a:xfrm>
            <a:custGeom>
              <a:avLst/>
              <a:gdLst>
                <a:gd name="txL" fmla="*/ 0 w 1"/>
                <a:gd name="txT" fmla="*/ 0 h 221"/>
                <a:gd name="txR" fmla="*/ 1 w 1"/>
                <a:gd name="txB" fmla="*/ 221 h 221"/>
              </a:gdLst>
              <a:ahLst/>
              <a:cxnLst>
                <a:cxn ang="0">
                  <a:pos x="0" y="0"/>
                </a:cxn>
                <a:cxn ang="0">
                  <a:pos x="0" y="258"/>
                </a:cxn>
              </a:cxnLst>
              <a:rect l="txL" t="txT" r="txR" b="txB"/>
              <a:pathLst>
                <a:path w="1" h="221">
                  <a:moveTo>
                    <a:pt x="0" y="0"/>
                  </a:moveTo>
                  <a:lnTo>
                    <a:pt x="0" y="221"/>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grpSp>
      <p:grpSp>
        <p:nvGrpSpPr>
          <p:cNvPr id="85000" name="Group 37"/>
          <p:cNvGrpSpPr/>
          <p:nvPr/>
        </p:nvGrpSpPr>
        <p:grpSpPr>
          <a:xfrm>
            <a:off x="6096000" y="1828800"/>
            <a:ext cx="1176338" cy="2171700"/>
            <a:chOff x="2880" y="1200"/>
            <a:chExt cx="741" cy="1368"/>
          </a:xfrm>
        </p:grpSpPr>
        <p:sp>
          <p:nvSpPr>
            <p:cNvPr id="85005" name="Oval 38"/>
            <p:cNvSpPr/>
            <p:nvPr/>
          </p:nvSpPr>
          <p:spPr>
            <a:xfrm>
              <a:off x="3312" y="2256"/>
              <a:ext cx="309" cy="312"/>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J</a:t>
              </a:r>
              <a:endParaRPr lang="en-US" altLang="zh-CN" b="1" dirty="0">
                <a:solidFill>
                  <a:schemeClr val="accent1"/>
                </a:solidFill>
                <a:latin typeface="Courier New" panose="02070309020205020404" pitchFamily="49" charset="0"/>
              </a:endParaRPr>
            </a:p>
          </p:txBody>
        </p:sp>
        <p:sp>
          <p:nvSpPr>
            <p:cNvPr id="85006" name="Oval 39"/>
            <p:cNvSpPr/>
            <p:nvPr/>
          </p:nvSpPr>
          <p:spPr>
            <a:xfrm>
              <a:off x="3051" y="1200"/>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G</a:t>
              </a:r>
              <a:endParaRPr lang="en-US" altLang="zh-CN" b="1" dirty="0">
                <a:solidFill>
                  <a:schemeClr val="accent1"/>
                </a:solidFill>
                <a:latin typeface="Courier New" panose="02070309020205020404" pitchFamily="49" charset="0"/>
              </a:endParaRPr>
            </a:p>
          </p:txBody>
        </p:sp>
        <p:sp>
          <p:nvSpPr>
            <p:cNvPr id="85007" name="Line 40"/>
            <p:cNvSpPr/>
            <p:nvPr/>
          </p:nvSpPr>
          <p:spPr>
            <a:xfrm flipH="1">
              <a:off x="3045" y="1488"/>
              <a:ext cx="144" cy="240"/>
            </a:xfrm>
            <a:prstGeom prst="line">
              <a:avLst/>
            </a:prstGeom>
            <a:ln w="9525" cap="flat" cmpd="sng">
              <a:solidFill>
                <a:srgbClr val="000000"/>
              </a:solidFill>
              <a:prstDash val="solid"/>
              <a:headEnd type="none" w="med" len="med"/>
              <a:tailEnd type="none" w="med" len="med"/>
            </a:ln>
          </p:spPr>
        </p:sp>
        <p:sp>
          <p:nvSpPr>
            <p:cNvPr id="85008" name="Oval 41"/>
            <p:cNvSpPr/>
            <p:nvPr/>
          </p:nvSpPr>
          <p:spPr>
            <a:xfrm>
              <a:off x="2880" y="1724"/>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H</a:t>
              </a:r>
              <a:endParaRPr lang="en-US" altLang="zh-CN" b="1" dirty="0">
                <a:solidFill>
                  <a:schemeClr val="accent1"/>
                </a:solidFill>
                <a:latin typeface="Courier New" panose="02070309020205020404" pitchFamily="49" charset="0"/>
              </a:endParaRPr>
            </a:p>
          </p:txBody>
        </p:sp>
        <p:sp>
          <p:nvSpPr>
            <p:cNvPr id="85009" name="Oval 42"/>
            <p:cNvSpPr/>
            <p:nvPr/>
          </p:nvSpPr>
          <p:spPr>
            <a:xfrm>
              <a:off x="3285" y="1728"/>
              <a:ext cx="309" cy="311"/>
            </a:xfrm>
            <a:prstGeom prst="ellipse">
              <a:avLst/>
            </a:prstGeom>
            <a:noFill/>
            <a:ln w="9525" cap="flat" cmpd="sng">
              <a:solidFill>
                <a:srgbClr val="000000"/>
              </a:solidFill>
              <a:prstDash val="solid"/>
              <a:headEnd type="none" w="med" len="med"/>
              <a:tailEnd type="none" w="med" len="med"/>
            </a:ln>
          </p:spPr>
          <p:txBody>
            <a:bodyPr wrap="none" lIns="0" tIns="0" rIns="0" bIns="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b="1" dirty="0">
                  <a:solidFill>
                    <a:schemeClr val="accent1"/>
                  </a:solidFill>
                  <a:latin typeface="Courier New" panose="02070309020205020404" pitchFamily="49" charset="0"/>
                </a:rPr>
                <a:t>I</a:t>
              </a:r>
              <a:endParaRPr lang="en-US" altLang="zh-CN" b="1" dirty="0">
                <a:solidFill>
                  <a:schemeClr val="accent1"/>
                </a:solidFill>
                <a:latin typeface="Courier New" panose="02070309020205020404" pitchFamily="49" charset="0"/>
              </a:endParaRPr>
            </a:p>
          </p:txBody>
        </p:sp>
        <p:sp>
          <p:nvSpPr>
            <p:cNvPr id="85010" name="Line 43"/>
            <p:cNvSpPr/>
            <p:nvPr/>
          </p:nvSpPr>
          <p:spPr>
            <a:xfrm>
              <a:off x="3285" y="1488"/>
              <a:ext cx="144" cy="240"/>
            </a:xfrm>
            <a:prstGeom prst="line">
              <a:avLst/>
            </a:prstGeom>
            <a:ln w="9525" cap="flat" cmpd="sng">
              <a:solidFill>
                <a:srgbClr val="000000"/>
              </a:solidFill>
              <a:prstDash val="solid"/>
              <a:headEnd type="none" w="med" len="med"/>
              <a:tailEnd type="none" w="med" len="med"/>
            </a:ln>
          </p:spPr>
        </p:sp>
        <p:sp>
          <p:nvSpPr>
            <p:cNvPr id="85011" name="Line 44"/>
            <p:cNvSpPr/>
            <p:nvPr/>
          </p:nvSpPr>
          <p:spPr>
            <a:xfrm>
              <a:off x="3456" y="2016"/>
              <a:ext cx="0" cy="240"/>
            </a:xfrm>
            <a:prstGeom prst="line">
              <a:avLst/>
            </a:prstGeom>
            <a:ln w="9525" cap="flat" cmpd="sng">
              <a:solidFill>
                <a:srgbClr val="000000"/>
              </a:solidFill>
              <a:prstDash val="solid"/>
              <a:headEnd type="none" w="med" len="med"/>
              <a:tailEnd type="none" w="med" len="med"/>
            </a:ln>
          </p:spPr>
        </p:sp>
      </p:grpSp>
      <p:sp>
        <p:nvSpPr>
          <p:cNvPr id="179245" name="Text Box 45"/>
          <p:cNvSpPr txBox="1"/>
          <p:nvPr/>
        </p:nvSpPr>
        <p:spPr>
          <a:xfrm>
            <a:off x="930910" y="3200400"/>
            <a:ext cx="6231890"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50000"/>
              </a:spcBef>
              <a:buNone/>
            </a:pPr>
            <a:r>
              <a:rPr lang="zh-CN" altLang="en-US" sz="20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森林所对应的二叉树有如下特点：</a:t>
            </a:r>
            <a:r>
              <a:rPr lang="zh-CN" altLang="en-US" sz="2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2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9246" name="Text Box 46"/>
          <p:cNvSpPr txBox="1"/>
          <p:nvPr/>
        </p:nvSpPr>
        <p:spPr>
          <a:xfrm>
            <a:off x="930910" y="3695065"/>
            <a:ext cx="5850890" cy="36830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54330" lvl="0" indent="-354330" eaLnBrk="1" hangingPunct="1">
              <a:spcBef>
                <a:spcPct val="50000"/>
              </a:spcBef>
              <a:buNone/>
            </a:pPr>
            <a:r>
              <a:rPr lang="en-US" altLang="zh-CN" sz="1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⑴ </a:t>
            </a:r>
            <a:r>
              <a:rPr lang="zh-CN" altLang="en-US" sz="1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二叉树的根结点是森林中第一棵树的根结点；</a:t>
            </a:r>
            <a:r>
              <a:rPr lang="zh-CN" altLang="en-US" sz="18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dirty="0">
              <a:solidFill>
                <a:srgbClr val="80008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9247" name="Text Box 47"/>
          <p:cNvSpPr txBox="1"/>
          <p:nvPr/>
        </p:nvSpPr>
        <p:spPr>
          <a:xfrm>
            <a:off x="930910" y="4267200"/>
            <a:ext cx="8441690"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65125" lvl="0" indent="-365125" eaLnBrk="1" hangingPunct="1">
              <a:spcBef>
                <a:spcPct val="50000"/>
              </a:spcBef>
              <a:buNone/>
            </a:pPr>
            <a:r>
              <a:rPr lang="en-US" altLang="zh-CN" sz="1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⑵ </a:t>
            </a:r>
            <a:r>
              <a:rPr lang="zh-CN" altLang="en-US" sz="1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二叉树的左子树是由第一棵树根结点的子树森林所对应的二叉树</a:t>
            </a:r>
            <a:r>
              <a:rPr lang="zh-CN" altLang="en-US" sz="2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9248" name="Text Box 48"/>
          <p:cNvSpPr txBox="1"/>
          <p:nvPr/>
        </p:nvSpPr>
        <p:spPr>
          <a:xfrm>
            <a:off x="931545" y="4953000"/>
            <a:ext cx="8398510" cy="36830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365125" lvl="0" indent="-365125" eaLnBrk="1" hangingPunct="1">
              <a:spcBef>
                <a:spcPct val="50000"/>
              </a:spcBef>
              <a:buNone/>
            </a:pPr>
            <a:r>
              <a:rPr lang="en-US" altLang="zh-CN" sz="1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⑶ </a:t>
            </a:r>
            <a:r>
              <a:rPr lang="zh-CN" altLang="en-US" sz="1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二叉树的右子树是由除第一棵树之外其余树组成的森林所对应的二叉树。</a:t>
            </a:r>
            <a:endParaRPr lang="zh-CN" altLang="en-US" sz="1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mn-ea"/>
              </a:rPr>
              <a:t>森林与二叉树的转换</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燕尾形 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par>
                          <p:cTn id="8" fill="hold">
                            <p:stCondLst>
                              <p:cond delay="1000"/>
                            </p:stCondLst>
                            <p:childTnLst>
                              <p:par>
                                <p:cTn id="9" presetID="2" presetClass="entr" presetSubtype="8" fill="hold" grpId="0" nodeType="afterEffect">
                                  <p:stCondLst>
                                    <p:cond delay="0"/>
                                  </p:stCondLst>
                                  <p:childTnLst>
                                    <p:set>
                                      <p:cBhvr>
                                        <p:cTn id="10" dur="1" fill="hold">
                                          <p:stCondLst>
                                            <p:cond delay="0"/>
                                          </p:stCondLst>
                                        </p:cTn>
                                        <p:tgtEl>
                                          <p:spTgt spid="179245"/>
                                        </p:tgtEl>
                                        <p:attrNameLst>
                                          <p:attrName>style.visibility</p:attrName>
                                        </p:attrNameLst>
                                      </p:cBhvr>
                                      <p:to>
                                        <p:strVal val="visible"/>
                                      </p:to>
                                    </p:set>
                                    <p:anim calcmode="lin" valueType="num">
                                      <p:cBhvr additive="base">
                                        <p:cTn id="11" dur="500" fill="hold"/>
                                        <p:tgtEl>
                                          <p:spTgt spid="179245"/>
                                        </p:tgtEl>
                                        <p:attrNameLst>
                                          <p:attrName>ppt_x</p:attrName>
                                        </p:attrNameLst>
                                      </p:cBhvr>
                                      <p:tavLst>
                                        <p:tav tm="0">
                                          <p:val>
                                            <p:strVal val="0-#ppt_w/2"/>
                                          </p:val>
                                        </p:tav>
                                        <p:tav tm="100000">
                                          <p:val>
                                            <p:strVal val="#ppt_x"/>
                                          </p:val>
                                        </p:tav>
                                      </p:tavLst>
                                    </p:anim>
                                    <p:anim calcmode="lin" valueType="num">
                                      <p:cBhvr additive="base">
                                        <p:cTn id="12" dur="500" fill="hold"/>
                                        <p:tgtEl>
                                          <p:spTgt spid="17924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6" fill="hold" grpId="0" nodeType="clickEffect">
                                  <p:stCondLst>
                                    <p:cond delay="0"/>
                                  </p:stCondLst>
                                  <p:childTnLst>
                                    <p:set>
                                      <p:cBhvr>
                                        <p:cTn id="16" dur="1" fill="hold">
                                          <p:stCondLst>
                                            <p:cond delay="0"/>
                                          </p:stCondLst>
                                        </p:cTn>
                                        <p:tgtEl>
                                          <p:spTgt spid="179246"/>
                                        </p:tgtEl>
                                        <p:attrNameLst>
                                          <p:attrName>style.visibility</p:attrName>
                                        </p:attrNameLst>
                                      </p:cBhvr>
                                      <p:to>
                                        <p:strVal val="visible"/>
                                      </p:to>
                                    </p:set>
                                    <p:anim calcmode="lin" valueType="num">
                                      <p:cBhvr additive="base">
                                        <p:cTn id="17" dur="500" fill="hold"/>
                                        <p:tgtEl>
                                          <p:spTgt spid="179246"/>
                                        </p:tgtEl>
                                        <p:attrNameLst>
                                          <p:attrName>ppt_x</p:attrName>
                                        </p:attrNameLst>
                                      </p:cBhvr>
                                      <p:tavLst>
                                        <p:tav tm="0">
                                          <p:val>
                                            <p:strVal val="1+#ppt_w/2"/>
                                          </p:val>
                                        </p:tav>
                                        <p:tav tm="100000">
                                          <p:val>
                                            <p:strVal val="#ppt_x"/>
                                          </p:val>
                                        </p:tav>
                                      </p:tavLst>
                                    </p:anim>
                                    <p:anim calcmode="lin" valueType="num">
                                      <p:cBhvr additive="base">
                                        <p:cTn id="18" dur="500" fill="hold"/>
                                        <p:tgtEl>
                                          <p:spTgt spid="17924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grpId="0" nodeType="clickEffect">
                                  <p:stCondLst>
                                    <p:cond delay="0"/>
                                  </p:stCondLst>
                                  <p:childTnLst>
                                    <p:set>
                                      <p:cBhvr>
                                        <p:cTn id="22" dur="1" fill="hold">
                                          <p:stCondLst>
                                            <p:cond delay="0"/>
                                          </p:stCondLst>
                                        </p:cTn>
                                        <p:tgtEl>
                                          <p:spTgt spid="179247"/>
                                        </p:tgtEl>
                                        <p:attrNameLst>
                                          <p:attrName>style.visibility</p:attrName>
                                        </p:attrNameLst>
                                      </p:cBhvr>
                                      <p:to>
                                        <p:strVal val="visible"/>
                                      </p:to>
                                    </p:set>
                                    <p:anim calcmode="lin" valueType="num">
                                      <p:cBhvr additive="base">
                                        <p:cTn id="23" dur="500" fill="hold"/>
                                        <p:tgtEl>
                                          <p:spTgt spid="179247"/>
                                        </p:tgtEl>
                                        <p:attrNameLst>
                                          <p:attrName>ppt_x</p:attrName>
                                        </p:attrNameLst>
                                      </p:cBhvr>
                                      <p:tavLst>
                                        <p:tav tm="0">
                                          <p:val>
                                            <p:strVal val="1+#ppt_w/2"/>
                                          </p:val>
                                        </p:tav>
                                        <p:tav tm="100000">
                                          <p:val>
                                            <p:strVal val="#ppt_x"/>
                                          </p:val>
                                        </p:tav>
                                      </p:tavLst>
                                    </p:anim>
                                    <p:anim calcmode="lin" valueType="num">
                                      <p:cBhvr additive="base">
                                        <p:cTn id="24" dur="500" fill="hold"/>
                                        <p:tgtEl>
                                          <p:spTgt spid="17924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6" fill="hold" grpId="0" nodeType="clickEffect">
                                  <p:stCondLst>
                                    <p:cond delay="0"/>
                                  </p:stCondLst>
                                  <p:childTnLst>
                                    <p:set>
                                      <p:cBhvr>
                                        <p:cTn id="28" dur="1" fill="hold">
                                          <p:stCondLst>
                                            <p:cond delay="0"/>
                                          </p:stCondLst>
                                        </p:cTn>
                                        <p:tgtEl>
                                          <p:spTgt spid="179248"/>
                                        </p:tgtEl>
                                        <p:attrNameLst>
                                          <p:attrName>style.visibility</p:attrName>
                                        </p:attrNameLst>
                                      </p:cBhvr>
                                      <p:to>
                                        <p:strVal val="visible"/>
                                      </p:to>
                                    </p:set>
                                    <p:anim calcmode="lin" valueType="num">
                                      <p:cBhvr additive="base">
                                        <p:cTn id="29" dur="500" fill="hold"/>
                                        <p:tgtEl>
                                          <p:spTgt spid="179248"/>
                                        </p:tgtEl>
                                        <p:attrNameLst>
                                          <p:attrName>ppt_x</p:attrName>
                                        </p:attrNameLst>
                                      </p:cBhvr>
                                      <p:tavLst>
                                        <p:tav tm="0">
                                          <p:val>
                                            <p:strVal val="1+#ppt_w/2"/>
                                          </p:val>
                                        </p:tav>
                                        <p:tav tm="100000">
                                          <p:val>
                                            <p:strVal val="#ppt_x"/>
                                          </p:val>
                                        </p:tav>
                                      </p:tavLst>
                                    </p:anim>
                                    <p:anim calcmode="lin" valueType="num">
                                      <p:cBhvr additive="base">
                                        <p:cTn id="30" dur="500" fill="hold"/>
                                        <p:tgtEl>
                                          <p:spTgt spid="179248"/>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18" presetClass="entr" presetSubtype="6" fill="hold" grpId="0" nodeType="afterEffect">
                                  <p:stCondLst>
                                    <p:cond delay="0"/>
                                  </p:stCondLst>
                                  <p:childTnLst>
                                    <p:set>
                                      <p:cBhvr>
                                        <p:cTn id="33" dur="1" fill="hold">
                                          <p:stCondLst>
                                            <p:cond delay="0"/>
                                          </p:stCondLst>
                                        </p:cTn>
                                        <p:tgtEl>
                                          <p:spTgt spid="179232"/>
                                        </p:tgtEl>
                                        <p:attrNameLst>
                                          <p:attrName>style.visibility</p:attrName>
                                        </p:attrNameLst>
                                      </p:cBhvr>
                                      <p:to>
                                        <p:strVal val="visible"/>
                                      </p:to>
                                    </p:set>
                                    <p:animEffect transition="in" filter="strips(downRight)">
                                      <p:cBhvr>
                                        <p:cTn id="34" dur="1000"/>
                                        <p:tgtEl>
                                          <p:spTgt spid="179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32" grpId="0"/>
      <p:bldP spid="179245" grpId="0"/>
      <p:bldP spid="179246" grpId="0"/>
      <p:bldP spid="179247" grpId="0"/>
      <p:bldP spid="17924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9" name="Rectangle 3"/>
          <p:cNvSpPr>
            <a:spLocks noGrp="1"/>
          </p:cNvSpPr>
          <p:nvPr>
            <p:ph type="body" idx="4294967295"/>
          </p:nvPr>
        </p:nvSpPr>
        <p:spPr>
          <a:xfrm>
            <a:off x="348615" y="1172210"/>
            <a:ext cx="11005185" cy="5005070"/>
          </a:xfrm>
        </p:spPr>
        <p:txBody>
          <a:bodyPr vert="horz" wrap="square" lIns="91440" tIns="45720" rIns="91440" bIns="45720" anchor="t" anchorCtr="0"/>
          <a:p>
            <a:pPr eaLnBrk="1" hangingPunct="1">
              <a:lnSpc>
                <a:spcPct val="19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静态树表包括：双亲表示法和孩子表示法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90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）双亲表示法</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nSpc>
                <a:spcPct val="210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所有的树中结点存储在一个地址连续的存储空间中，结点中除数据域外只设一个指向双亲的游标。</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210000"/>
              </a:lnSpc>
              <a:buNone/>
            </a:pPr>
            <a:endParaRPr lang="zh-CN" altLang="en-US" sz="2000" dirty="0"/>
          </a:p>
          <a:p>
            <a:pPr lvl="1">
              <a:lnSpc>
                <a:spcPct val="190000"/>
              </a:lnSpc>
            </a:pPr>
            <a:endParaRPr lang="zh-CN" altLang="en-US" dirty="0"/>
          </a:p>
          <a:p>
            <a:pPr lvl="1">
              <a:lnSpc>
                <a:spcPct val="190000"/>
              </a:lnSpc>
            </a:pPr>
            <a:endParaRPr lang="zh-CN" altLang="en-US" dirty="0"/>
          </a:p>
          <a:p>
            <a:pPr lvl="1" eaLnBrk="1" hangingPunct="1">
              <a:lnSpc>
                <a:spcPct val="190000"/>
              </a:lnSpc>
            </a:pPr>
            <a:endParaRPr lang="zh-CN" altLang="en-US" dirty="0"/>
          </a:p>
          <a:p>
            <a:pPr lvl="1" eaLnBrk="1" hangingPunct="1">
              <a:buNone/>
            </a:pPr>
            <a:endParaRPr lang="zh-CN" altLang="en-US" dirty="0"/>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4.3.1 </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树的存储结构</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3" name="Rectangle 67"/>
          <p:cNvSpPr/>
          <p:nvPr/>
        </p:nvSpPr>
        <p:spPr>
          <a:xfrm>
            <a:off x="5942965" y="2258378"/>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87044" name="Object 66"/>
          <p:cNvGraphicFramePr>
            <a:graphicFrameLocks noChangeAspect="1"/>
          </p:cNvGraphicFramePr>
          <p:nvPr/>
        </p:nvGraphicFramePr>
        <p:xfrm>
          <a:off x="831850" y="1295400"/>
          <a:ext cx="10160000" cy="5054600"/>
        </p:xfrm>
        <a:graphic>
          <a:graphicData uri="http://schemas.openxmlformats.org/presentationml/2006/ole">
            <mc:AlternateContent xmlns:mc="http://schemas.openxmlformats.org/markup-compatibility/2006">
              <mc:Choice xmlns:v="urn:schemas-microsoft-com:vml" Requires="v">
                <p:oleObj spid="_x0000_s3076" name="" r:id="rId1" imgW="5295900" imgH="2641600" progId="Visio.Drawing.11">
                  <p:embed/>
                </p:oleObj>
              </mc:Choice>
              <mc:Fallback>
                <p:oleObj name="" r:id="rId1" imgW="5295900" imgH="2641600" progId="Visio.Drawing.11">
                  <p:embed/>
                  <p:pic>
                    <p:nvPicPr>
                      <p:cNvPr id="0" name="图片 3075"/>
                      <p:cNvPicPr/>
                      <p:nvPr/>
                    </p:nvPicPr>
                    <p:blipFill>
                      <a:blip r:embed="rId2"/>
                      <a:stretch>
                        <a:fillRect/>
                      </a:stretch>
                    </p:blipFill>
                    <p:spPr>
                      <a:xfrm>
                        <a:off x="831850" y="1295400"/>
                        <a:ext cx="10160000" cy="5054600"/>
                      </a:xfrm>
                      <a:prstGeom prst="rect">
                        <a:avLst/>
                      </a:prstGeom>
                      <a:noFill/>
                      <a:ln w="38100">
                        <a:noFill/>
                        <a:miter/>
                      </a:ln>
                    </p:spPr>
                  </p:pic>
                </p:oleObj>
              </mc:Fallback>
            </mc:AlternateContent>
          </a:graphicData>
        </a:graphic>
      </p:graphicFrame>
      <p:sp>
        <p:nvSpPr>
          <p:cNvPr id="87045" name="Text Box 6"/>
          <p:cNvSpPr txBox="1"/>
          <p:nvPr/>
        </p:nvSpPr>
        <p:spPr>
          <a:xfrm>
            <a:off x="7239000" y="1371600"/>
            <a:ext cx="1219200" cy="369570"/>
          </a:xfrm>
          <a:prstGeom prst="rect">
            <a:avLst/>
          </a:prstGeom>
          <a:noFill/>
          <a:ln w="3175">
            <a:noFill/>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1800" b="1" dirty="0">
                <a:latin typeface="Consolas" panose="020B0609020204030204" pitchFamily="49" charset="0"/>
              </a:rPr>
              <a:t>nodes[]</a:t>
            </a:r>
            <a:endParaRPr lang="en-US" altLang="zh-CN" sz="1800" b="1" dirty="0">
              <a:latin typeface="Consolas" panose="020B0609020204030204" pitchFamily="49"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latin typeface="微软雅黑" panose="020B0503020204020204" pitchFamily="34" charset="-122"/>
                <a:ea typeface="微软雅黑" panose="020B0503020204020204" pitchFamily="34" charset="-122"/>
                <a:cs typeface="微软雅黑" panose="020B0503020204020204" pitchFamily="34" charset="-122"/>
                <a:sym typeface="+mn-ea"/>
              </a:rPr>
              <a:t>树的双亲表示法例 </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燕尾形 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7" name="Rectangle 3"/>
          <p:cNvSpPr>
            <a:spLocks noGrp="1"/>
          </p:cNvSpPr>
          <p:nvPr>
            <p:ph idx="1"/>
          </p:nvPr>
        </p:nvSpPr>
        <p:spPr>
          <a:xfrm>
            <a:off x="431800" y="1168400"/>
            <a:ext cx="2362200" cy="685800"/>
          </a:xfrm>
        </p:spPr>
        <p:txBody>
          <a:bodyPr vert="horz" wrap="square" lIns="91440" tIns="45720" rIns="91440" bIns="45720" anchor="t" anchorCtr="0"/>
          <a:p>
            <a:pPr eaLnBrk="1" hangingPunct="1">
              <a:buNone/>
            </a:pPr>
            <a:r>
              <a:rPr lang="zh-CN" altLang="en-US" sz="2400" b="1" dirty="0">
                <a:solidFill>
                  <a:schemeClr val="accent1"/>
                </a:solidFill>
                <a:latin typeface="微软雅黑" panose="020B0503020204020204" pitchFamily="34" charset="-122"/>
                <a:ea typeface="微软雅黑" panose="020B0503020204020204" pitchFamily="34" charset="-122"/>
              </a:rPr>
              <a:t>树的结构为</a:t>
            </a:r>
            <a:r>
              <a:rPr lang="zh-CN" altLang="en-US" sz="2400" b="1" dirty="0">
                <a:solidFill>
                  <a:schemeClr val="accent1"/>
                </a:solidFill>
              </a:rPr>
              <a:t>：</a:t>
            </a:r>
            <a:endParaRPr lang="zh-CN" altLang="en-US" sz="2400" b="1" dirty="0">
              <a:solidFill>
                <a:schemeClr val="accent1"/>
              </a:solidFill>
            </a:endParaRPr>
          </a:p>
        </p:txBody>
      </p:sp>
      <p:sp>
        <p:nvSpPr>
          <p:cNvPr id="95236" name="Rectangle 6"/>
          <p:cNvSpPr>
            <a:spLocks noChangeArrowheads="1"/>
          </p:cNvSpPr>
          <p:nvPr/>
        </p:nvSpPr>
        <p:spPr bwMode="auto">
          <a:xfrm>
            <a:off x="2895600" y="1782445"/>
            <a:ext cx="6553200" cy="1524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PTree</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PTNode</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nodes[MAX _SIZE];</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n, root;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为 结点个数、</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root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为根结点的位置</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1"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1"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8310" name="Rectangle 6"/>
          <p:cNvSpPr>
            <a:spLocks noChangeArrowheads="1"/>
          </p:cNvSpPr>
          <p:nvPr/>
        </p:nvSpPr>
        <p:spPr bwMode="auto">
          <a:xfrm>
            <a:off x="2933700" y="4053840"/>
            <a:ext cx="6553200" cy="2286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模板形式定义的结点结构</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ElemType&gt;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a:t>
            </a:r>
            <a:r>
              <a:rPr kumimoji="0" lang="en-US" altLang="zh-CN" sz="1800" b="1"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PTNode</a:t>
            </a:r>
            <a:r>
              <a:rPr kumimoji="0" lang="en-US" altLang="zh-CN" sz="1800" b="0"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ElemType data; //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结点的数据域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parent; //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结点的双亲游标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8070" name="Rectangle 8"/>
          <p:cNvSpPr/>
          <p:nvPr/>
        </p:nvSpPr>
        <p:spPr>
          <a:xfrm>
            <a:off x="415290" y="3549650"/>
            <a:ext cx="2480310" cy="461645"/>
          </a:xfrm>
          <a:prstGeom prst="rect">
            <a:avLst/>
          </a:prstGeom>
          <a:noFill/>
          <a:ln w="3175">
            <a:noFill/>
          </a:ln>
        </p:spPr>
        <p:txBody>
          <a:bodyPr wrap="non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zh-CN" altLang="en-US" b="1" dirty="0">
                <a:solidFill>
                  <a:schemeClr val="accent1"/>
                </a:solidFill>
                <a:latin typeface="微软雅黑" panose="020B0503020204020204" pitchFamily="34" charset="-122"/>
                <a:ea typeface="微软雅黑" panose="020B0503020204020204" pitchFamily="34" charset="-122"/>
              </a:rPr>
              <a:t>结点的结构为：</a:t>
            </a:r>
            <a:r>
              <a:rPr lang="zh-CN" altLang="en-US" b="1" dirty="0">
                <a:solidFill>
                  <a:srgbClr val="0000CC"/>
                </a:solidFill>
                <a:latin typeface="Consolas" panose="020B0609020204030204" pitchFamily="49" charset="0"/>
              </a:rPr>
              <a:t> </a:t>
            </a:r>
            <a:endParaRPr lang="zh-CN" altLang="en-US" b="1" dirty="0">
              <a:solidFill>
                <a:srgbClr val="0000CC"/>
              </a:solidFill>
              <a:latin typeface="Consolas" panose="020B0609020204030204" pitchFamily="49"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双亲表示法的结构</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燕尾形 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1" name="Rectangle 3"/>
          <p:cNvSpPr>
            <a:spLocks noGrp="1"/>
          </p:cNvSpPr>
          <p:nvPr>
            <p:ph idx="1"/>
          </p:nvPr>
        </p:nvSpPr>
        <p:spPr>
          <a:xfrm>
            <a:off x="393065" y="1079500"/>
            <a:ext cx="9446260" cy="4979035"/>
          </a:xfrm>
        </p:spPr>
        <p:txBody>
          <a:bodyPr vert="horz" wrap="square" lIns="91440" tIns="45720" rIns="91440" bIns="45720" anchor="t" anchorCtr="0"/>
          <a:p>
            <a:pPr eaLnBrk="1" hangingPunct="1">
              <a:lnSpc>
                <a:spcPct val="180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）孩子表示法</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8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实现：把每个结点的</a:t>
            </a:r>
            <a:r>
              <a:rPr lang="zh-CN" altLang="en-US" sz="2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孩子结点</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排列起来，看成是一个线性表，且以单链表作存储结构，</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个结点有</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个孩子链表；而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a:t>
            </a:r>
            <a:r>
              <a:rPr lang="zh-CN" altLang="en-US" sz="2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头指针</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又组成一个线性表，为便于查找，用顺序存储。</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8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特点：找孩子容易，找双亲难。</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8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4.3.1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树的存储结构</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燕尾形 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0115" name="Group 4"/>
          <p:cNvGrpSpPr/>
          <p:nvPr/>
        </p:nvGrpSpPr>
        <p:grpSpPr>
          <a:xfrm>
            <a:off x="1468755" y="1993900"/>
            <a:ext cx="2805430" cy="3113405"/>
            <a:chOff x="803" y="578"/>
            <a:chExt cx="1544" cy="1675"/>
          </a:xfrm>
        </p:grpSpPr>
        <p:sp>
          <p:nvSpPr>
            <p:cNvPr id="90189" name="Oval 5"/>
            <p:cNvSpPr/>
            <p:nvPr/>
          </p:nvSpPr>
          <p:spPr>
            <a:xfrm>
              <a:off x="1391" y="578"/>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a:t>
              </a:r>
              <a:endParaRPr lang="en-US" altLang="zh-CN" sz="2000" i="1" dirty="0">
                <a:ea typeface="宋体" panose="02010600030101010101" pitchFamily="2" charset="-122"/>
              </a:endParaRPr>
            </a:p>
          </p:txBody>
        </p:sp>
        <p:sp>
          <p:nvSpPr>
            <p:cNvPr id="90190" name="Oval 6"/>
            <p:cNvSpPr/>
            <p:nvPr/>
          </p:nvSpPr>
          <p:spPr>
            <a:xfrm>
              <a:off x="1088" y="968"/>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b</a:t>
              </a:r>
              <a:endParaRPr lang="en-US" altLang="zh-CN" sz="2000" i="1" dirty="0">
                <a:ea typeface="宋体" panose="02010600030101010101" pitchFamily="2" charset="-122"/>
              </a:endParaRPr>
            </a:p>
          </p:txBody>
        </p:sp>
        <p:sp>
          <p:nvSpPr>
            <p:cNvPr id="90191" name="Oval 7"/>
            <p:cNvSpPr/>
            <p:nvPr/>
          </p:nvSpPr>
          <p:spPr>
            <a:xfrm>
              <a:off x="1713" y="978"/>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c</a:t>
              </a:r>
              <a:endParaRPr lang="en-US" altLang="zh-CN" sz="2000" i="1" dirty="0">
                <a:ea typeface="宋体" panose="02010600030101010101" pitchFamily="2" charset="-122"/>
              </a:endParaRPr>
            </a:p>
          </p:txBody>
        </p:sp>
        <p:sp>
          <p:nvSpPr>
            <p:cNvPr id="90192" name="Oval 8"/>
            <p:cNvSpPr/>
            <p:nvPr/>
          </p:nvSpPr>
          <p:spPr>
            <a:xfrm>
              <a:off x="803" y="1419"/>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d</a:t>
              </a:r>
              <a:endParaRPr lang="en-US" altLang="zh-CN" sz="2000" i="1" dirty="0">
                <a:ea typeface="宋体" panose="02010600030101010101" pitchFamily="2" charset="-122"/>
              </a:endParaRPr>
            </a:p>
          </p:txBody>
        </p:sp>
        <p:sp>
          <p:nvSpPr>
            <p:cNvPr id="90193" name="Oval 9"/>
            <p:cNvSpPr/>
            <p:nvPr/>
          </p:nvSpPr>
          <p:spPr>
            <a:xfrm>
              <a:off x="1407" y="1419"/>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e</a:t>
              </a:r>
              <a:endParaRPr lang="en-US" altLang="zh-CN" sz="2000" i="1" dirty="0">
                <a:ea typeface="宋体" panose="02010600030101010101" pitchFamily="2" charset="-122"/>
              </a:endParaRPr>
            </a:p>
          </p:txBody>
        </p:sp>
        <p:sp>
          <p:nvSpPr>
            <p:cNvPr id="90194" name="Oval 10"/>
            <p:cNvSpPr/>
            <p:nvPr/>
          </p:nvSpPr>
          <p:spPr>
            <a:xfrm>
              <a:off x="2057" y="1409"/>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f</a:t>
              </a:r>
              <a:endParaRPr lang="en-US" altLang="zh-CN" sz="2000" i="1" dirty="0">
                <a:ea typeface="宋体" panose="02010600030101010101" pitchFamily="2" charset="-122"/>
              </a:endParaRPr>
            </a:p>
          </p:txBody>
        </p:sp>
        <p:sp>
          <p:nvSpPr>
            <p:cNvPr id="90195" name="Line 11"/>
            <p:cNvSpPr/>
            <p:nvPr/>
          </p:nvSpPr>
          <p:spPr>
            <a:xfrm flipH="1">
              <a:off x="1340" y="851"/>
              <a:ext cx="111" cy="189"/>
            </a:xfrm>
            <a:prstGeom prst="line">
              <a:avLst/>
            </a:prstGeom>
            <a:ln w="9525" cap="flat" cmpd="sng">
              <a:solidFill>
                <a:schemeClr val="tx1"/>
              </a:solidFill>
              <a:prstDash val="solid"/>
              <a:headEnd type="none" w="med" len="med"/>
              <a:tailEnd type="none" w="med" len="med"/>
            </a:ln>
          </p:spPr>
        </p:sp>
        <p:sp>
          <p:nvSpPr>
            <p:cNvPr id="90196" name="Line 12"/>
            <p:cNvSpPr/>
            <p:nvPr/>
          </p:nvSpPr>
          <p:spPr>
            <a:xfrm flipH="1">
              <a:off x="1028" y="1251"/>
              <a:ext cx="146" cy="211"/>
            </a:xfrm>
            <a:prstGeom prst="line">
              <a:avLst/>
            </a:prstGeom>
            <a:ln w="9525" cap="flat" cmpd="sng">
              <a:solidFill>
                <a:schemeClr val="tx1"/>
              </a:solidFill>
              <a:prstDash val="solid"/>
              <a:headEnd type="none" w="med" len="med"/>
              <a:tailEnd type="none" w="med" len="med"/>
            </a:ln>
          </p:spPr>
        </p:sp>
        <p:sp>
          <p:nvSpPr>
            <p:cNvPr id="90197" name="Line 13"/>
            <p:cNvSpPr/>
            <p:nvPr/>
          </p:nvSpPr>
          <p:spPr>
            <a:xfrm>
              <a:off x="1651" y="807"/>
              <a:ext cx="133" cy="188"/>
            </a:xfrm>
            <a:prstGeom prst="line">
              <a:avLst/>
            </a:prstGeom>
            <a:ln w="9525" cap="flat" cmpd="sng">
              <a:solidFill>
                <a:schemeClr val="tx1"/>
              </a:solidFill>
              <a:prstDash val="solid"/>
              <a:headEnd type="none" w="med" len="med"/>
              <a:tailEnd type="none" w="med" len="med"/>
            </a:ln>
          </p:spPr>
        </p:sp>
        <p:sp>
          <p:nvSpPr>
            <p:cNvPr id="90198" name="Line 14"/>
            <p:cNvSpPr/>
            <p:nvPr/>
          </p:nvSpPr>
          <p:spPr>
            <a:xfrm>
              <a:off x="1306" y="1229"/>
              <a:ext cx="178" cy="222"/>
            </a:xfrm>
            <a:prstGeom prst="line">
              <a:avLst/>
            </a:prstGeom>
            <a:ln w="9525" cap="flat" cmpd="sng">
              <a:solidFill>
                <a:schemeClr val="tx1"/>
              </a:solidFill>
              <a:prstDash val="solid"/>
              <a:headEnd type="none" w="med" len="med"/>
              <a:tailEnd type="none" w="med" len="med"/>
            </a:ln>
          </p:spPr>
        </p:sp>
        <p:sp>
          <p:nvSpPr>
            <p:cNvPr id="90199" name="Line 15"/>
            <p:cNvSpPr/>
            <p:nvPr/>
          </p:nvSpPr>
          <p:spPr>
            <a:xfrm>
              <a:off x="1940" y="1240"/>
              <a:ext cx="133" cy="211"/>
            </a:xfrm>
            <a:prstGeom prst="line">
              <a:avLst/>
            </a:prstGeom>
            <a:ln w="9525" cap="flat" cmpd="sng">
              <a:solidFill>
                <a:schemeClr val="tx1"/>
              </a:solidFill>
              <a:prstDash val="solid"/>
              <a:headEnd type="none" w="med" len="med"/>
              <a:tailEnd type="none" w="med" len="med"/>
            </a:ln>
          </p:spPr>
        </p:sp>
        <p:sp>
          <p:nvSpPr>
            <p:cNvPr id="90200" name="Oval 16"/>
            <p:cNvSpPr/>
            <p:nvPr/>
          </p:nvSpPr>
          <p:spPr>
            <a:xfrm>
              <a:off x="1431" y="1961"/>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h</a:t>
              </a:r>
              <a:endParaRPr lang="en-US" altLang="zh-CN" sz="2000" i="1" dirty="0">
                <a:ea typeface="宋体" panose="02010600030101010101" pitchFamily="2" charset="-122"/>
              </a:endParaRPr>
            </a:p>
          </p:txBody>
        </p:sp>
        <p:sp>
          <p:nvSpPr>
            <p:cNvPr id="90201" name="Oval 17"/>
            <p:cNvSpPr/>
            <p:nvPr/>
          </p:nvSpPr>
          <p:spPr>
            <a:xfrm>
              <a:off x="959" y="1961"/>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g</a:t>
              </a:r>
              <a:endParaRPr lang="en-US" altLang="zh-CN" sz="2000" i="1" dirty="0">
                <a:ea typeface="宋体" panose="02010600030101010101" pitchFamily="2" charset="-122"/>
              </a:endParaRPr>
            </a:p>
          </p:txBody>
        </p:sp>
        <p:sp>
          <p:nvSpPr>
            <p:cNvPr id="90202" name="Oval 18"/>
            <p:cNvSpPr/>
            <p:nvPr/>
          </p:nvSpPr>
          <p:spPr>
            <a:xfrm>
              <a:off x="1903" y="1961"/>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i</a:t>
              </a:r>
              <a:endParaRPr lang="en-US" altLang="zh-CN" sz="2000" i="1" dirty="0">
                <a:ea typeface="宋体" panose="02010600030101010101" pitchFamily="2" charset="-122"/>
              </a:endParaRPr>
            </a:p>
          </p:txBody>
        </p:sp>
        <p:sp>
          <p:nvSpPr>
            <p:cNvPr id="90203" name="Line 19"/>
            <p:cNvSpPr/>
            <p:nvPr/>
          </p:nvSpPr>
          <p:spPr>
            <a:xfrm>
              <a:off x="1567" y="1711"/>
              <a:ext cx="0" cy="278"/>
            </a:xfrm>
            <a:prstGeom prst="line">
              <a:avLst/>
            </a:prstGeom>
            <a:ln w="9525" cap="flat" cmpd="sng">
              <a:solidFill>
                <a:schemeClr val="tx1"/>
              </a:solidFill>
              <a:prstDash val="solid"/>
              <a:headEnd type="none" w="med" len="med"/>
              <a:tailEnd type="none" w="med" len="med"/>
            </a:ln>
          </p:spPr>
        </p:sp>
        <p:sp>
          <p:nvSpPr>
            <p:cNvPr id="90204" name="Line 20"/>
            <p:cNvSpPr/>
            <p:nvPr/>
          </p:nvSpPr>
          <p:spPr>
            <a:xfrm flipH="1">
              <a:off x="1189" y="1689"/>
              <a:ext cx="245" cy="311"/>
            </a:xfrm>
            <a:prstGeom prst="line">
              <a:avLst/>
            </a:prstGeom>
            <a:ln w="9525" cap="flat" cmpd="sng">
              <a:solidFill>
                <a:schemeClr val="tx1"/>
              </a:solidFill>
              <a:prstDash val="solid"/>
              <a:headEnd type="none" w="med" len="med"/>
              <a:tailEnd type="none" w="med" len="med"/>
            </a:ln>
          </p:spPr>
        </p:sp>
        <p:sp>
          <p:nvSpPr>
            <p:cNvPr id="90205" name="Line 21"/>
            <p:cNvSpPr/>
            <p:nvPr/>
          </p:nvSpPr>
          <p:spPr>
            <a:xfrm>
              <a:off x="1678" y="1667"/>
              <a:ext cx="344" cy="299"/>
            </a:xfrm>
            <a:prstGeom prst="line">
              <a:avLst/>
            </a:prstGeom>
            <a:ln w="9525" cap="flat" cmpd="sng">
              <a:solidFill>
                <a:schemeClr val="tx1"/>
              </a:solidFill>
              <a:prstDash val="solid"/>
              <a:headEnd type="none" w="med" len="med"/>
              <a:tailEnd type="none" w="med" len="med"/>
            </a:ln>
          </p:spPr>
        </p:sp>
      </p:grpSp>
      <p:graphicFrame>
        <p:nvGraphicFramePr>
          <p:cNvPr id="199702" name="Group 22"/>
          <p:cNvGraphicFramePr>
            <a:graphicFrameLocks noGrp="1"/>
          </p:cNvGraphicFramePr>
          <p:nvPr/>
        </p:nvGraphicFramePr>
        <p:xfrm>
          <a:off x="5562600" y="1524000"/>
          <a:ext cx="1447800" cy="4721229"/>
        </p:xfrm>
        <a:graphic>
          <a:graphicData uri="http://schemas.openxmlformats.org/drawingml/2006/table">
            <a:tbl>
              <a:tblPr/>
              <a:tblGrid>
                <a:gridCol w="723900"/>
                <a:gridCol w="723900"/>
              </a:tblGrid>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b</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c</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d</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e</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f</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g</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363">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h</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i</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0148" name="Text Box 54"/>
          <p:cNvSpPr txBox="1"/>
          <p:nvPr/>
        </p:nvSpPr>
        <p:spPr>
          <a:xfrm>
            <a:off x="4876800" y="16256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90149" name="Text Box 55"/>
          <p:cNvSpPr txBox="1"/>
          <p:nvPr/>
        </p:nvSpPr>
        <p:spPr>
          <a:xfrm>
            <a:off x="4876800" y="21590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90150" name="Text Box 56"/>
          <p:cNvSpPr txBox="1"/>
          <p:nvPr/>
        </p:nvSpPr>
        <p:spPr>
          <a:xfrm>
            <a:off x="4876800" y="53213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7</a:t>
            </a:r>
            <a:endParaRPr lang="en-US" altLang="zh-CN" sz="1800" dirty="0">
              <a:ea typeface="宋体" panose="02010600030101010101" pitchFamily="2" charset="-122"/>
            </a:endParaRPr>
          </a:p>
        </p:txBody>
      </p:sp>
      <p:sp>
        <p:nvSpPr>
          <p:cNvPr id="90151" name="Text Box 57"/>
          <p:cNvSpPr txBox="1"/>
          <p:nvPr/>
        </p:nvSpPr>
        <p:spPr>
          <a:xfrm>
            <a:off x="4876800" y="26924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2</a:t>
            </a:r>
            <a:endParaRPr lang="en-US" altLang="zh-CN" sz="1800" dirty="0">
              <a:ea typeface="宋体" panose="02010600030101010101" pitchFamily="2" charset="-122"/>
            </a:endParaRPr>
          </a:p>
        </p:txBody>
      </p:sp>
      <p:sp>
        <p:nvSpPr>
          <p:cNvPr id="90152" name="Text Box 58"/>
          <p:cNvSpPr txBox="1"/>
          <p:nvPr/>
        </p:nvSpPr>
        <p:spPr>
          <a:xfrm>
            <a:off x="4876800" y="48641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6</a:t>
            </a:r>
            <a:endParaRPr lang="en-US" altLang="zh-CN" sz="1800" dirty="0">
              <a:ea typeface="宋体" panose="02010600030101010101" pitchFamily="2" charset="-122"/>
            </a:endParaRPr>
          </a:p>
        </p:txBody>
      </p:sp>
      <p:sp>
        <p:nvSpPr>
          <p:cNvPr id="90153" name="Text Box 59"/>
          <p:cNvSpPr txBox="1"/>
          <p:nvPr/>
        </p:nvSpPr>
        <p:spPr>
          <a:xfrm>
            <a:off x="4876800" y="37973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4</a:t>
            </a:r>
            <a:endParaRPr lang="en-US" altLang="zh-CN" sz="1800" dirty="0">
              <a:ea typeface="宋体" panose="02010600030101010101" pitchFamily="2" charset="-122"/>
            </a:endParaRPr>
          </a:p>
        </p:txBody>
      </p:sp>
      <p:sp>
        <p:nvSpPr>
          <p:cNvPr id="90154" name="Text Box 60"/>
          <p:cNvSpPr txBox="1"/>
          <p:nvPr/>
        </p:nvSpPr>
        <p:spPr>
          <a:xfrm>
            <a:off x="4876800" y="43307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5</a:t>
            </a:r>
            <a:endParaRPr lang="en-US" altLang="zh-CN" sz="1800" dirty="0">
              <a:ea typeface="宋体" panose="02010600030101010101" pitchFamily="2" charset="-122"/>
            </a:endParaRPr>
          </a:p>
        </p:txBody>
      </p:sp>
      <p:sp>
        <p:nvSpPr>
          <p:cNvPr id="90155" name="Text Box 61"/>
          <p:cNvSpPr txBox="1"/>
          <p:nvPr/>
        </p:nvSpPr>
        <p:spPr>
          <a:xfrm>
            <a:off x="4876800" y="32131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3</a:t>
            </a:r>
            <a:endParaRPr lang="en-US" altLang="zh-CN" sz="1800" dirty="0">
              <a:ea typeface="宋体" panose="02010600030101010101" pitchFamily="2" charset="-122"/>
            </a:endParaRPr>
          </a:p>
        </p:txBody>
      </p:sp>
      <p:sp>
        <p:nvSpPr>
          <p:cNvPr id="90156" name="Text Box 62"/>
          <p:cNvSpPr txBox="1"/>
          <p:nvPr/>
        </p:nvSpPr>
        <p:spPr>
          <a:xfrm>
            <a:off x="4876800" y="57785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8</a:t>
            </a:r>
            <a:endParaRPr lang="en-US" altLang="zh-CN" sz="1800" dirty="0">
              <a:ea typeface="宋体" panose="02010600030101010101" pitchFamily="2" charset="-122"/>
            </a:endParaRPr>
          </a:p>
        </p:txBody>
      </p:sp>
      <p:sp>
        <p:nvSpPr>
          <p:cNvPr id="90157" name="Line 63"/>
          <p:cNvSpPr/>
          <p:nvPr/>
        </p:nvSpPr>
        <p:spPr>
          <a:xfrm>
            <a:off x="6705600" y="1828800"/>
            <a:ext cx="609600" cy="0"/>
          </a:xfrm>
          <a:prstGeom prst="line">
            <a:avLst/>
          </a:prstGeom>
          <a:ln w="9525" cap="flat" cmpd="sng">
            <a:solidFill>
              <a:schemeClr val="tx1"/>
            </a:solidFill>
            <a:prstDash val="solid"/>
            <a:headEnd type="none" w="med" len="med"/>
            <a:tailEnd type="triangle" w="med" len="med"/>
          </a:ln>
        </p:spPr>
      </p:sp>
      <p:grpSp>
        <p:nvGrpSpPr>
          <p:cNvPr id="90158" name="组合 58"/>
          <p:cNvGrpSpPr/>
          <p:nvPr/>
        </p:nvGrpSpPr>
        <p:grpSpPr>
          <a:xfrm>
            <a:off x="7315200" y="1676400"/>
            <a:ext cx="914400" cy="304800"/>
            <a:chOff x="5791200" y="2057400"/>
            <a:chExt cx="914400" cy="304800"/>
          </a:xfrm>
        </p:grpSpPr>
        <p:sp>
          <p:nvSpPr>
            <p:cNvPr id="90187" name="Rectangle 64"/>
            <p:cNvSpPr/>
            <p:nvPr/>
          </p:nvSpPr>
          <p:spPr>
            <a:xfrm>
              <a:off x="5791200" y="2057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90188" name="Rectangle 65"/>
            <p:cNvSpPr/>
            <p:nvPr/>
          </p:nvSpPr>
          <p:spPr>
            <a:xfrm>
              <a:off x="6248400" y="2057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1800" dirty="0">
                <a:ea typeface="宋体" panose="02010600030101010101" pitchFamily="2" charset="-122"/>
              </a:endParaRPr>
            </a:p>
          </p:txBody>
        </p:sp>
      </p:grpSp>
      <p:sp>
        <p:nvSpPr>
          <p:cNvPr id="90159" name="Rectangle 66"/>
          <p:cNvSpPr/>
          <p:nvPr/>
        </p:nvSpPr>
        <p:spPr>
          <a:xfrm>
            <a:off x="8839200" y="1676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90160" name="Rectangle 67"/>
          <p:cNvSpPr/>
          <p:nvPr/>
        </p:nvSpPr>
        <p:spPr>
          <a:xfrm>
            <a:off x="8382000" y="1676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2</a:t>
            </a:r>
            <a:endParaRPr lang="en-US" altLang="zh-CN" sz="1800" dirty="0">
              <a:ea typeface="宋体" panose="02010600030101010101" pitchFamily="2" charset="-122"/>
            </a:endParaRPr>
          </a:p>
        </p:txBody>
      </p:sp>
      <p:sp>
        <p:nvSpPr>
          <p:cNvPr id="90161" name="Line 70"/>
          <p:cNvSpPr/>
          <p:nvPr/>
        </p:nvSpPr>
        <p:spPr>
          <a:xfrm>
            <a:off x="8001000" y="1828800"/>
            <a:ext cx="381000" cy="0"/>
          </a:xfrm>
          <a:prstGeom prst="line">
            <a:avLst/>
          </a:prstGeom>
          <a:ln w="9525" cap="flat" cmpd="sng">
            <a:solidFill>
              <a:schemeClr val="tx1"/>
            </a:solidFill>
            <a:prstDash val="solid"/>
            <a:headEnd type="none" w="med" len="med"/>
            <a:tailEnd type="triangle" w="med" len="med"/>
          </a:ln>
        </p:spPr>
      </p:sp>
      <p:sp>
        <p:nvSpPr>
          <p:cNvPr id="90162" name="Rectangle 73"/>
          <p:cNvSpPr/>
          <p:nvPr/>
        </p:nvSpPr>
        <p:spPr>
          <a:xfrm>
            <a:off x="8382000" y="21717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4</a:t>
            </a:r>
            <a:endParaRPr lang="en-US" altLang="zh-CN" sz="1800" dirty="0">
              <a:ea typeface="宋体" panose="02010600030101010101" pitchFamily="2" charset="-122"/>
            </a:endParaRPr>
          </a:p>
        </p:txBody>
      </p:sp>
      <p:sp>
        <p:nvSpPr>
          <p:cNvPr id="90163" name="Rectangle 74"/>
          <p:cNvSpPr/>
          <p:nvPr/>
        </p:nvSpPr>
        <p:spPr>
          <a:xfrm>
            <a:off x="8839200" y="21717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90164" name="Line 75"/>
          <p:cNvSpPr/>
          <p:nvPr/>
        </p:nvSpPr>
        <p:spPr>
          <a:xfrm>
            <a:off x="8001000" y="2324100"/>
            <a:ext cx="381000" cy="0"/>
          </a:xfrm>
          <a:prstGeom prst="line">
            <a:avLst/>
          </a:prstGeom>
          <a:ln w="9525" cap="flat" cmpd="sng">
            <a:solidFill>
              <a:schemeClr val="tx1"/>
            </a:solidFill>
            <a:prstDash val="solid"/>
            <a:headEnd type="none" w="med" len="med"/>
            <a:tailEnd type="triangle" w="med" len="med"/>
          </a:ln>
        </p:spPr>
      </p:sp>
      <p:sp>
        <p:nvSpPr>
          <p:cNvPr id="90165" name="Rectangle 77"/>
          <p:cNvSpPr/>
          <p:nvPr/>
        </p:nvSpPr>
        <p:spPr>
          <a:xfrm>
            <a:off x="7772400" y="27178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90166" name="Rectangle 78"/>
          <p:cNvSpPr/>
          <p:nvPr/>
        </p:nvSpPr>
        <p:spPr>
          <a:xfrm>
            <a:off x="7315200" y="27178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5</a:t>
            </a:r>
            <a:endParaRPr lang="en-US" altLang="zh-CN" sz="1800" dirty="0">
              <a:ea typeface="宋体" panose="02010600030101010101" pitchFamily="2" charset="-122"/>
            </a:endParaRPr>
          </a:p>
        </p:txBody>
      </p:sp>
      <p:sp>
        <p:nvSpPr>
          <p:cNvPr id="90167" name="Rectangle 81"/>
          <p:cNvSpPr/>
          <p:nvPr/>
        </p:nvSpPr>
        <p:spPr>
          <a:xfrm>
            <a:off x="7315200" y="37719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6</a:t>
            </a:r>
            <a:endParaRPr lang="en-US" altLang="zh-CN" sz="1800" dirty="0">
              <a:ea typeface="宋体" panose="02010600030101010101" pitchFamily="2" charset="-122"/>
            </a:endParaRPr>
          </a:p>
        </p:txBody>
      </p:sp>
      <p:sp>
        <p:nvSpPr>
          <p:cNvPr id="90168" name="Rectangle 82"/>
          <p:cNvSpPr/>
          <p:nvPr/>
        </p:nvSpPr>
        <p:spPr>
          <a:xfrm>
            <a:off x="9601200" y="37719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8</a:t>
            </a:r>
            <a:endParaRPr lang="en-US" altLang="zh-CN" sz="1800" dirty="0">
              <a:ea typeface="宋体" panose="02010600030101010101" pitchFamily="2" charset="-122"/>
            </a:endParaRPr>
          </a:p>
        </p:txBody>
      </p:sp>
      <p:sp>
        <p:nvSpPr>
          <p:cNvPr id="90169" name="Rectangle 83"/>
          <p:cNvSpPr/>
          <p:nvPr/>
        </p:nvSpPr>
        <p:spPr>
          <a:xfrm>
            <a:off x="10058400" y="37719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90170" name="Rectangle 84"/>
          <p:cNvSpPr/>
          <p:nvPr/>
        </p:nvSpPr>
        <p:spPr>
          <a:xfrm>
            <a:off x="8915400" y="37719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1800" dirty="0">
              <a:ea typeface="宋体" panose="02010600030101010101" pitchFamily="2" charset="-122"/>
            </a:endParaRPr>
          </a:p>
        </p:txBody>
      </p:sp>
      <p:sp>
        <p:nvSpPr>
          <p:cNvPr id="90171" name="Rectangle 85"/>
          <p:cNvSpPr/>
          <p:nvPr/>
        </p:nvSpPr>
        <p:spPr>
          <a:xfrm>
            <a:off x="8458200" y="37719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7</a:t>
            </a:r>
            <a:endParaRPr lang="en-US" altLang="zh-CN" sz="1800" dirty="0">
              <a:ea typeface="宋体" panose="02010600030101010101" pitchFamily="2" charset="-122"/>
            </a:endParaRPr>
          </a:p>
        </p:txBody>
      </p:sp>
      <p:sp>
        <p:nvSpPr>
          <p:cNvPr id="90172" name="Rectangle 86"/>
          <p:cNvSpPr/>
          <p:nvPr/>
        </p:nvSpPr>
        <p:spPr>
          <a:xfrm>
            <a:off x="7772400" y="37719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1800" dirty="0">
              <a:ea typeface="宋体" panose="02010600030101010101" pitchFamily="2" charset="-122"/>
            </a:endParaRPr>
          </a:p>
        </p:txBody>
      </p:sp>
      <p:sp>
        <p:nvSpPr>
          <p:cNvPr id="90173" name="Line 87"/>
          <p:cNvSpPr/>
          <p:nvPr/>
        </p:nvSpPr>
        <p:spPr>
          <a:xfrm>
            <a:off x="8077200" y="3924300"/>
            <a:ext cx="381000" cy="0"/>
          </a:xfrm>
          <a:prstGeom prst="line">
            <a:avLst/>
          </a:prstGeom>
          <a:ln w="9525" cap="flat" cmpd="sng">
            <a:solidFill>
              <a:schemeClr val="tx1"/>
            </a:solidFill>
            <a:prstDash val="solid"/>
            <a:headEnd type="none" w="med" len="med"/>
            <a:tailEnd type="triangle" w="med" len="med"/>
          </a:ln>
        </p:spPr>
      </p:sp>
      <p:sp>
        <p:nvSpPr>
          <p:cNvPr id="90174" name="Line 88"/>
          <p:cNvSpPr/>
          <p:nvPr/>
        </p:nvSpPr>
        <p:spPr>
          <a:xfrm>
            <a:off x="9296400" y="3924300"/>
            <a:ext cx="304800" cy="0"/>
          </a:xfrm>
          <a:prstGeom prst="line">
            <a:avLst/>
          </a:prstGeom>
          <a:ln w="9525" cap="flat" cmpd="sng">
            <a:solidFill>
              <a:schemeClr val="tx1"/>
            </a:solidFill>
            <a:prstDash val="solid"/>
            <a:headEnd type="none" w="med" len="med"/>
            <a:tailEnd type="triangle" w="med" len="med"/>
          </a:ln>
        </p:spPr>
      </p:sp>
      <p:sp>
        <p:nvSpPr>
          <p:cNvPr id="90175" name="Line 89"/>
          <p:cNvSpPr/>
          <p:nvPr/>
        </p:nvSpPr>
        <p:spPr>
          <a:xfrm>
            <a:off x="4495800" y="1828800"/>
            <a:ext cx="762000" cy="0"/>
          </a:xfrm>
          <a:prstGeom prst="line">
            <a:avLst/>
          </a:prstGeom>
          <a:ln w="9525" cap="flat" cmpd="sng">
            <a:solidFill>
              <a:schemeClr val="tx1"/>
            </a:solidFill>
            <a:prstDash val="solid"/>
            <a:headEnd type="none" w="med" len="med"/>
            <a:tailEnd type="triangle" w="med" len="med"/>
          </a:ln>
        </p:spPr>
      </p:sp>
      <p:grpSp>
        <p:nvGrpSpPr>
          <p:cNvPr id="90176" name="组合 59"/>
          <p:cNvGrpSpPr/>
          <p:nvPr/>
        </p:nvGrpSpPr>
        <p:grpSpPr>
          <a:xfrm>
            <a:off x="7315200" y="2171700"/>
            <a:ext cx="914400" cy="304800"/>
            <a:chOff x="5791200" y="2057400"/>
            <a:chExt cx="914400" cy="304800"/>
          </a:xfrm>
        </p:grpSpPr>
        <p:sp>
          <p:nvSpPr>
            <p:cNvPr id="90185" name="Rectangle 64"/>
            <p:cNvSpPr/>
            <p:nvPr/>
          </p:nvSpPr>
          <p:spPr>
            <a:xfrm>
              <a:off x="5791200" y="2057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3</a:t>
              </a:r>
              <a:endParaRPr lang="en-US" altLang="zh-CN" sz="1800" dirty="0">
                <a:ea typeface="宋体" panose="02010600030101010101" pitchFamily="2" charset="-122"/>
              </a:endParaRPr>
            </a:p>
          </p:txBody>
        </p:sp>
        <p:sp>
          <p:nvSpPr>
            <p:cNvPr id="90186" name="Rectangle 65"/>
            <p:cNvSpPr/>
            <p:nvPr/>
          </p:nvSpPr>
          <p:spPr>
            <a:xfrm>
              <a:off x="6248400" y="2057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1800" dirty="0">
                <a:ea typeface="宋体" panose="02010600030101010101" pitchFamily="2" charset="-122"/>
              </a:endParaRPr>
            </a:p>
          </p:txBody>
        </p:sp>
      </p:grpSp>
      <p:sp>
        <p:nvSpPr>
          <p:cNvPr id="90177" name="Line 63"/>
          <p:cNvSpPr/>
          <p:nvPr/>
        </p:nvSpPr>
        <p:spPr>
          <a:xfrm>
            <a:off x="6705600" y="2324100"/>
            <a:ext cx="609600" cy="0"/>
          </a:xfrm>
          <a:prstGeom prst="line">
            <a:avLst/>
          </a:prstGeom>
          <a:ln w="9525" cap="flat" cmpd="sng">
            <a:solidFill>
              <a:schemeClr val="tx1"/>
            </a:solidFill>
            <a:prstDash val="solid"/>
            <a:headEnd type="none" w="med" len="med"/>
            <a:tailEnd type="triangle" w="med" len="med"/>
          </a:ln>
        </p:spPr>
      </p:sp>
      <p:sp>
        <p:nvSpPr>
          <p:cNvPr id="90178" name="Line 63"/>
          <p:cNvSpPr/>
          <p:nvPr/>
        </p:nvSpPr>
        <p:spPr>
          <a:xfrm>
            <a:off x="6705600" y="2857500"/>
            <a:ext cx="609600" cy="0"/>
          </a:xfrm>
          <a:prstGeom prst="line">
            <a:avLst/>
          </a:prstGeom>
          <a:ln w="9525" cap="flat" cmpd="sng">
            <a:solidFill>
              <a:schemeClr val="tx1"/>
            </a:solidFill>
            <a:prstDash val="solid"/>
            <a:headEnd type="none" w="med" len="med"/>
            <a:tailEnd type="triangle" w="med" len="med"/>
          </a:ln>
        </p:spPr>
      </p:sp>
      <p:sp>
        <p:nvSpPr>
          <p:cNvPr id="90179" name="Line 63"/>
          <p:cNvSpPr/>
          <p:nvPr/>
        </p:nvSpPr>
        <p:spPr>
          <a:xfrm>
            <a:off x="6705600" y="3924300"/>
            <a:ext cx="609600" cy="0"/>
          </a:xfrm>
          <a:prstGeom prst="line">
            <a:avLst/>
          </a:prstGeom>
          <a:ln w="9525" cap="flat" cmpd="sng">
            <a:solidFill>
              <a:schemeClr val="tx1"/>
            </a:solidFill>
            <a:prstDash val="solid"/>
            <a:headEnd type="none" w="med" len="med"/>
            <a:tailEnd type="triangle" w="med" len="med"/>
          </a:ln>
        </p:spPr>
      </p:sp>
      <p:sp>
        <p:nvSpPr>
          <p:cNvPr id="72" name="圆角矩形标注 71"/>
          <p:cNvSpPr/>
          <p:nvPr/>
        </p:nvSpPr>
        <p:spPr bwMode="auto">
          <a:xfrm>
            <a:off x="4343400" y="6172200"/>
            <a:ext cx="990600" cy="533400"/>
          </a:xfrm>
          <a:prstGeom prst="wedgeRoundRectCallout">
            <a:avLst>
              <a:gd name="adj1" fmla="val 68561"/>
              <a:gd name="adj2" fmla="val -58929"/>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data</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圆角矩形标注 72"/>
          <p:cNvSpPr/>
          <p:nvPr/>
        </p:nvSpPr>
        <p:spPr bwMode="auto">
          <a:xfrm>
            <a:off x="7239000" y="6172200"/>
            <a:ext cx="1066800" cy="533400"/>
          </a:xfrm>
          <a:prstGeom prst="wedgeRoundRectCallout">
            <a:avLst>
              <a:gd name="adj1" fmla="val -69318"/>
              <a:gd name="adj2" fmla="val -54167"/>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firstchild</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82" name="Text Box 92"/>
          <p:cNvSpPr txBox="1"/>
          <p:nvPr/>
        </p:nvSpPr>
        <p:spPr>
          <a:xfrm>
            <a:off x="3962400" y="1295400"/>
            <a:ext cx="1219200" cy="369570"/>
          </a:xfrm>
          <a:prstGeom prst="rect">
            <a:avLst/>
          </a:prstGeom>
          <a:noFill/>
          <a:ln w="3175">
            <a:noFill/>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50000"/>
              </a:spcBef>
              <a:buNone/>
            </a:pPr>
            <a:r>
              <a:rPr lang="en-US" altLang="zh-CN" sz="1800" b="1" dirty="0">
                <a:latin typeface="Times New Roman" panose="02020603050405020304" pitchFamily="18" charset="0"/>
                <a:cs typeface="Times New Roman" panose="02020603050405020304" pitchFamily="18" charset="0"/>
              </a:rPr>
              <a:t>nodes</a:t>
            </a:r>
            <a:r>
              <a:rPr lang="en-US" altLang="zh-CN" sz="1800" b="1" dirty="0">
                <a:latin typeface="Consolas" panose="020B0609020204030204" pitchFamily="49" charset="0"/>
              </a:rPr>
              <a:t>[]</a:t>
            </a:r>
            <a:endParaRPr lang="en-US" altLang="zh-CN" sz="1800" b="1" dirty="0">
              <a:latin typeface="Consolas" panose="020B0609020204030204" pitchFamily="49" charset="0"/>
            </a:endParaRPr>
          </a:p>
        </p:txBody>
      </p:sp>
      <p:sp>
        <p:nvSpPr>
          <p:cNvPr id="61" name="圆角矩形标注 60"/>
          <p:cNvSpPr/>
          <p:nvPr/>
        </p:nvSpPr>
        <p:spPr bwMode="auto">
          <a:xfrm>
            <a:off x="6781800" y="838200"/>
            <a:ext cx="990600" cy="533400"/>
          </a:xfrm>
          <a:prstGeom prst="wedgeRoundRectCallout">
            <a:avLst>
              <a:gd name="adj1" fmla="val 27535"/>
              <a:gd name="adj2" fmla="val 110119"/>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child</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 name="圆角矩形标注 61"/>
          <p:cNvSpPr/>
          <p:nvPr/>
        </p:nvSpPr>
        <p:spPr bwMode="auto">
          <a:xfrm>
            <a:off x="7924800" y="838200"/>
            <a:ext cx="990600" cy="533400"/>
          </a:xfrm>
          <a:prstGeom prst="wedgeRoundRectCallout">
            <a:avLst>
              <a:gd name="adj1" fmla="val -42978"/>
              <a:gd name="adj2" fmla="val 114881"/>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next</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i="1" dirty="0">
                <a:latin typeface="微软雅黑" panose="020B0503020204020204" pitchFamily="34" charset="-122"/>
                <a:ea typeface="微软雅黑" panose="020B0503020204020204" pitchFamily="34" charset="-122"/>
                <a:cs typeface="微软雅黑" panose="020B0503020204020204" pitchFamily="34" charset="-122"/>
                <a:sym typeface="+mn-ea"/>
              </a:rPr>
              <a:t>孩子表示法例 </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7" name="Rectangle 3"/>
          <p:cNvSpPr>
            <a:spLocks noGrp="1" noChangeArrowheads="1"/>
          </p:cNvSpPr>
          <p:nvPr>
            <p:ph idx="1"/>
          </p:nvPr>
        </p:nvSpPr>
        <p:spPr>
          <a:xfrm>
            <a:off x="459740" y="1143000"/>
            <a:ext cx="2362200" cy="2614295"/>
          </a:xfrm>
        </p:spPr>
        <p:txBody>
          <a:bodyPr vert="horz" wrap="square" lIns="91440" tIns="45720" rIns="91440" bIns="45720" numCol="1" anchor="t" anchorCtr="0" compatLnSpc="1"/>
          <a:lstStyle/>
          <a:p>
            <a:pPr marR="0" lvl="0" algn="l" defTabSz="914400" rtl="0" eaLnBrk="1" fontAlgn="base" latinLnBrk="0" hangingPunct="1">
              <a:lnSpc>
                <a:spcPct val="100000"/>
              </a:lnSpc>
              <a:spcBef>
                <a:spcPct val="20000"/>
              </a:spcBef>
              <a:spcAft>
                <a:spcPct val="0"/>
              </a:spcAft>
              <a:buClrTx/>
              <a:buSzTx/>
              <a:defRPr/>
            </a:pPr>
            <a:r>
              <a:rPr kumimoji="0" lang="zh-CN" altLang="en-US" sz="2400" b="1" i="0" u="none" strike="noStrike" kern="0" cap="none" spc="0" normalizeH="0" baseline="0" noProof="0" dirty="0" smtClean="0">
                <a:ln>
                  <a:noFill/>
                </a:ln>
                <a:solidFill>
                  <a:schemeClr val="accent1"/>
                </a:solidFill>
                <a:effectLst/>
                <a:uLnTx/>
                <a:uFillTx/>
                <a:latin typeface="微软雅黑" panose="020B0503020204020204" pitchFamily="34" charset="-122"/>
                <a:ea typeface="微软雅黑" panose="020B0503020204020204" pitchFamily="34" charset="-122"/>
                <a:cs typeface="+mn-cs"/>
              </a:rPr>
              <a:t>树的结构</a:t>
            </a:r>
            <a:endParaRPr kumimoji="0" lang="en-US" altLang="zh-CN" sz="2400" b="0" i="0" u="none" strike="noStrike" kern="0" cap="none" spc="0" normalizeH="0" baseline="0" noProof="0" dirty="0" smtClean="0">
              <a:ln>
                <a:noFill/>
              </a:ln>
              <a:solidFill>
                <a:schemeClr val="accent1"/>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1" i="0" u="none" strike="noStrike" kern="0" cap="none" spc="0" normalizeH="0" baseline="0" noProof="0" dirty="0" smtClean="0">
                <a:ln>
                  <a:noFill/>
                </a:ln>
                <a:solidFill>
                  <a:schemeClr val="accent1"/>
                </a:solidFill>
                <a:effectLst/>
                <a:uLnTx/>
                <a:uFillTx/>
                <a:latin typeface="微软雅黑" panose="020B0503020204020204" pitchFamily="34" charset="-122"/>
                <a:ea typeface="微软雅黑" panose="020B0503020204020204" pitchFamily="34" charset="-122"/>
                <a:cs typeface="+mn-cs"/>
              </a:rPr>
              <a:t>头结点结构</a:t>
            </a:r>
            <a:endParaRPr kumimoji="0" lang="zh-CN" altLang="en-US" sz="2400" b="1" i="0" u="none" strike="noStrike" kern="0" cap="none" spc="0" normalizeH="0" baseline="0" noProof="0" dirty="0" smtClean="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94214" name="Rectangle 6"/>
          <p:cNvSpPr>
            <a:spLocks noChangeArrowheads="1"/>
          </p:cNvSpPr>
          <p:nvPr/>
        </p:nvSpPr>
        <p:spPr bwMode="auto">
          <a:xfrm>
            <a:off x="3223895" y="3200400"/>
            <a:ext cx="6553200" cy="1752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template &lt;class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dirty="0" err="1">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CTNode</a:t>
            </a:r>
            <a:endParaRPr kumimoji="0" lang="en-US" altLang="zh-CN" sz="1800" b="1" i="0" u="none" strike="noStrike" kern="1200" cap="none" spc="0" normalizeH="0" baseline="0" noProof="0" dirty="0">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ElemType</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data;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结点的数据域</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dirty="0" err="1">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CLinkList</a:t>
            </a:r>
            <a:r>
              <a:rPr kumimoji="0" lang="en-US" altLang="zh-CN" sz="1800" b="0" i="0" u="none" strike="noStrike" kern="1200" cap="none" spc="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firstchild</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结点的孩子链表指针域</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3223895" y="1143000"/>
            <a:ext cx="7388860" cy="1524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struct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CTree</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zh-CN" sz="1800" b="1" i="0" u="none" strike="noStrike" kern="1200" cap="none" spc="0" normalizeH="0" baseline="0" noProof="0" dirty="0" err="1">
                <a:ln>
                  <a:noFill/>
                </a:ln>
                <a:solidFill>
                  <a:schemeClr val="accent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CTNode</a:t>
            </a:r>
            <a:r>
              <a:rPr kumimoji="0" lang="en-US" altLang="zh-CN" sz="1800" b="0" i="0" u="none" strike="noStrike" kern="1200" cap="none" spc="0" normalizeH="0" baseline="0" noProof="0" dirty="0">
                <a:ln>
                  <a:noFill/>
                </a:ln>
                <a:solidFill>
                  <a:schemeClr val="accent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nodes[MAX _SIZE];</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int</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n, root;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r>
              <a:rPr kumimoji="0"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a:t>
            </a:r>
            <a:r>
              <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 结点个数、</a:t>
            </a:r>
            <a:r>
              <a:rPr kumimoji="0"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root</a:t>
            </a:r>
            <a:r>
              <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为根结点的位置</a:t>
            </a:r>
            <a:endParaRPr kumimoji="0" lang="zh-CN" altLang="en-US"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a:t>
            </a:r>
            <a:r>
              <a:rPr kumimoji="0" lang="zh-CN" altLang="en-US" sz="1800" b="1" i="0" u="none" strike="noStrike" kern="1200" cap="none" spc="0" normalizeH="0" baseline="0" noProof="0" dirty="0">
                <a:ln>
                  <a:noFill/>
                </a:ln>
                <a:solidFill>
                  <a:srgbClr val="FFFFFF"/>
                </a:solidFill>
                <a:effectLst/>
                <a:uLnTx/>
                <a:uFillTx/>
                <a:latin typeface="Times New Roman" panose="02020603050405020304" pitchFamily="18" charset="0"/>
                <a:ea typeface="楷体_GB2312" panose="02010609030101010101" pitchFamily="49" charset="-122"/>
                <a:cs typeface="Times New Roman" panose="02020603050405020304" pitchFamily="18" charset="0"/>
              </a:rPr>
              <a:t> </a:t>
            </a:r>
            <a:endParaRPr kumimoji="0" lang="en-US" altLang="zh-CN" sz="1800" b="1" i="0" u="none" strike="noStrike" kern="1200" cap="none" spc="0" normalizeH="0" baseline="0" noProof="0" dirty="0">
              <a:ln>
                <a:noFill/>
              </a:ln>
              <a:solidFill>
                <a:srgbClr val="FFFFFF"/>
              </a:solidFill>
              <a:effectLst/>
              <a:uLnTx/>
              <a:uFillTx/>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6" name="Rectangle 6"/>
          <p:cNvSpPr>
            <a:spLocks noChangeArrowheads="1"/>
          </p:cNvSpPr>
          <p:nvPr/>
        </p:nvSpPr>
        <p:spPr bwMode="auto">
          <a:xfrm>
            <a:off x="3223895" y="5270818"/>
            <a:ext cx="6477000" cy="14478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a:t>
            </a:r>
            <a:r>
              <a:rPr kumimoji="0" lang="en-US" altLang="zh-CN" sz="1800" b="1" i="0" u="none" strike="noStrike" kern="1200" cap="none" spc="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CLinkList</a:t>
            </a:r>
            <a:endParaRPr kumimoji="0" lang="en-US" altLang="zh-CN" sz="1800" b="1" i="0" u="none" strike="noStrike" kern="1200" cap="none" spc="0" normalizeH="0" baseline="0" noProof="0">
              <a:ln>
                <a:noFill/>
              </a:ln>
              <a:solidFill>
                <a:srgbClr val="00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child;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孩子结点在向量中的位置</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CLinkList *next;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下一个孩子结点指针</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1143" name="Rectangle 7"/>
          <p:cNvSpPr/>
          <p:nvPr/>
        </p:nvSpPr>
        <p:spPr>
          <a:xfrm>
            <a:off x="471170" y="5183505"/>
            <a:ext cx="2350770" cy="461645"/>
          </a:xfrm>
          <a:prstGeom prst="rect">
            <a:avLst/>
          </a:prstGeom>
          <a:noFill/>
          <a:ln w="3175">
            <a:noFill/>
          </a:ln>
        </p:spPr>
        <p:txBody>
          <a:bodyPr wrap="none"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lvl="0" algn="ctr" eaLnBrk="1" hangingPunct="1"/>
            <a:r>
              <a:rPr lang="zh-CN" altLang="en-US" b="1" dirty="0">
                <a:solidFill>
                  <a:schemeClr val="accent1"/>
                </a:solidFill>
                <a:latin typeface="微软雅黑" panose="020B0503020204020204" pitchFamily="34" charset="-122"/>
                <a:ea typeface="微软雅黑" panose="020B0503020204020204" pitchFamily="34" charset="-122"/>
              </a:rPr>
              <a:t>孩子结点结构</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孩子表示法的结构</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2163" name="Group 4"/>
          <p:cNvGrpSpPr/>
          <p:nvPr/>
        </p:nvGrpSpPr>
        <p:grpSpPr>
          <a:xfrm>
            <a:off x="1209040" y="1524000"/>
            <a:ext cx="3377565" cy="3370580"/>
            <a:chOff x="803" y="578"/>
            <a:chExt cx="1544" cy="1675"/>
          </a:xfrm>
        </p:grpSpPr>
        <p:sp>
          <p:nvSpPr>
            <p:cNvPr id="92247" name="Oval 5"/>
            <p:cNvSpPr/>
            <p:nvPr/>
          </p:nvSpPr>
          <p:spPr>
            <a:xfrm>
              <a:off x="1391" y="578"/>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a</a:t>
              </a:r>
              <a:endParaRPr lang="en-US" altLang="zh-CN" sz="2000" i="1" dirty="0">
                <a:ea typeface="宋体" panose="02010600030101010101" pitchFamily="2" charset="-122"/>
              </a:endParaRPr>
            </a:p>
          </p:txBody>
        </p:sp>
        <p:sp>
          <p:nvSpPr>
            <p:cNvPr id="92248" name="Oval 6"/>
            <p:cNvSpPr/>
            <p:nvPr/>
          </p:nvSpPr>
          <p:spPr>
            <a:xfrm>
              <a:off x="1088" y="968"/>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b</a:t>
              </a:r>
              <a:endParaRPr lang="en-US" altLang="zh-CN" sz="2000" i="1" dirty="0">
                <a:ea typeface="宋体" panose="02010600030101010101" pitchFamily="2" charset="-122"/>
              </a:endParaRPr>
            </a:p>
          </p:txBody>
        </p:sp>
        <p:sp>
          <p:nvSpPr>
            <p:cNvPr id="92249" name="Oval 7"/>
            <p:cNvSpPr/>
            <p:nvPr/>
          </p:nvSpPr>
          <p:spPr>
            <a:xfrm>
              <a:off x="1713" y="978"/>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c</a:t>
              </a:r>
              <a:endParaRPr lang="en-US" altLang="zh-CN" sz="2000" i="1" dirty="0">
                <a:ea typeface="宋体" panose="02010600030101010101" pitchFamily="2" charset="-122"/>
              </a:endParaRPr>
            </a:p>
          </p:txBody>
        </p:sp>
        <p:sp>
          <p:nvSpPr>
            <p:cNvPr id="92250" name="Oval 8"/>
            <p:cNvSpPr/>
            <p:nvPr/>
          </p:nvSpPr>
          <p:spPr>
            <a:xfrm>
              <a:off x="803" y="1419"/>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d</a:t>
              </a:r>
              <a:endParaRPr lang="en-US" altLang="zh-CN" sz="2000" i="1" dirty="0">
                <a:ea typeface="宋体" panose="02010600030101010101" pitchFamily="2" charset="-122"/>
              </a:endParaRPr>
            </a:p>
          </p:txBody>
        </p:sp>
        <p:sp>
          <p:nvSpPr>
            <p:cNvPr id="92251" name="Oval 9"/>
            <p:cNvSpPr/>
            <p:nvPr/>
          </p:nvSpPr>
          <p:spPr>
            <a:xfrm>
              <a:off x="1407" y="1419"/>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e</a:t>
              </a:r>
              <a:endParaRPr lang="en-US" altLang="zh-CN" sz="2000" i="1" dirty="0">
                <a:ea typeface="宋体" panose="02010600030101010101" pitchFamily="2" charset="-122"/>
              </a:endParaRPr>
            </a:p>
          </p:txBody>
        </p:sp>
        <p:sp>
          <p:nvSpPr>
            <p:cNvPr id="92252" name="Oval 10"/>
            <p:cNvSpPr/>
            <p:nvPr/>
          </p:nvSpPr>
          <p:spPr>
            <a:xfrm>
              <a:off x="2057" y="1409"/>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f</a:t>
              </a:r>
              <a:endParaRPr lang="en-US" altLang="zh-CN" sz="2000" i="1" dirty="0">
                <a:ea typeface="宋体" panose="02010600030101010101" pitchFamily="2" charset="-122"/>
              </a:endParaRPr>
            </a:p>
          </p:txBody>
        </p:sp>
        <p:sp>
          <p:nvSpPr>
            <p:cNvPr id="92253" name="Line 11"/>
            <p:cNvSpPr/>
            <p:nvPr/>
          </p:nvSpPr>
          <p:spPr>
            <a:xfrm flipH="1">
              <a:off x="1340" y="851"/>
              <a:ext cx="111" cy="189"/>
            </a:xfrm>
            <a:prstGeom prst="line">
              <a:avLst/>
            </a:prstGeom>
            <a:ln w="9525" cap="flat" cmpd="sng">
              <a:solidFill>
                <a:schemeClr val="tx1"/>
              </a:solidFill>
              <a:prstDash val="solid"/>
              <a:headEnd type="none" w="med" len="med"/>
              <a:tailEnd type="none" w="med" len="med"/>
            </a:ln>
          </p:spPr>
        </p:sp>
        <p:sp>
          <p:nvSpPr>
            <p:cNvPr id="92254" name="Line 12"/>
            <p:cNvSpPr/>
            <p:nvPr/>
          </p:nvSpPr>
          <p:spPr>
            <a:xfrm flipH="1">
              <a:off x="1028" y="1251"/>
              <a:ext cx="146" cy="211"/>
            </a:xfrm>
            <a:prstGeom prst="line">
              <a:avLst/>
            </a:prstGeom>
            <a:ln w="9525" cap="flat" cmpd="sng">
              <a:solidFill>
                <a:schemeClr val="tx1"/>
              </a:solidFill>
              <a:prstDash val="solid"/>
              <a:headEnd type="none" w="med" len="med"/>
              <a:tailEnd type="none" w="med" len="med"/>
            </a:ln>
          </p:spPr>
        </p:sp>
        <p:sp>
          <p:nvSpPr>
            <p:cNvPr id="92255" name="Line 13"/>
            <p:cNvSpPr/>
            <p:nvPr/>
          </p:nvSpPr>
          <p:spPr>
            <a:xfrm>
              <a:off x="1651" y="807"/>
              <a:ext cx="133" cy="188"/>
            </a:xfrm>
            <a:prstGeom prst="line">
              <a:avLst/>
            </a:prstGeom>
            <a:ln w="9525" cap="flat" cmpd="sng">
              <a:solidFill>
                <a:schemeClr val="tx1"/>
              </a:solidFill>
              <a:prstDash val="solid"/>
              <a:headEnd type="none" w="med" len="med"/>
              <a:tailEnd type="none" w="med" len="med"/>
            </a:ln>
          </p:spPr>
        </p:sp>
        <p:sp>
          <p:nvSpPr>
            <p:cNvPr id="92256" name="Line 14"/>
            <p:cNvSpPr/>
            <p:nvPr/>
          </p:nvSpPr>
          <p:spPr>
            <a:xfrm>
              <a:off x="1306" y="1229"/>
              <a:ext cx="178" cy="222"/>
            </a:xfrm>
            <a:prstGeom prst="line">
              <a:avLst/>
            </a:prstGeom>
            <a:ln w="9525" cap="flat" cmpd="sng">
              <a:solidFill>
                <a:schemeClr val="tx1"/>
              </a:solidFill>
              <a:prstDash val="solid"/>
              <a:headEnd type="none" w="med" len="med"/>
              <a:tailEnd type="none" w="med" len="med"/>
            </a:ln>
          </p:spPr>
        </p:sp>
        <p:sp>
          <p:nvSpPr>
            <p:cNvPr id="92257" name="Line 15"/>
            <p:cNvSpPr/>
            <p:nvPr/>
          </p:nvSpPr>
          <p:spPr>
            <a:xfrm>
              <a:off x="1940" y="1240"/>
              <a:ext cx="133" cy="211"/>
            </a:xfrm>
            <a:prstGeom prst="line">
              <a:avLst/>
            </a:prstGeom>
            <a:ln w="9525" cap="flat" cmpd="sng">
              <a:solidFill>
                <a:schemeClr val="tx1"/>
              </a:solidFill>
              <a:prstDash val="solid"/>
              <a:headEnd type="none" w="med" len="med"/>
              <a:tailEnd type="none" w="med" len="med"/>
            </a:ln>
          </p:spPr>
        </p:sp>
        <p:sp>
          <p:nvSpPr>
            <p:cNvPr id="92258" name="Oval 16"/>
            <p:cNvSpPr/>
            <p:nvPr/>
          </p:nvSpPr>
          <p:spPr>
            <a:xfrm>
              <a:off x="1431" y="1961"/>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h</a:t>
              </a:r>
              <a:endParaRPr lang="en-US" altLang="zh-CN" sz="2000" i="1" dirty="0">
                <a:ea typeface="宋体" panose="02010600030101010101" pitchFamily="2" charset="-122"/>
              </a:endParaRPr>
            </a:p>
          </p:txBody>
        </p:sp>
        <p:sp>
          <p:nvSpPr>
            <p:cNvPr id="92259" name="Oval 17"/>
            <p:cNvSpPr/>
            <p:nvPr/>
          </p:nvSpPr>
          <p:spPr>
            <a:xfrm>
              <a:off x="959" y="1961"/>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g</a:t>
              </a:r>
              <a:endParaRPr lang="en-US" altLang="zh-CN" sz="2000" i="1" dirty="0">
                <a:ea typeface="宋体" panose="02010600030101010101" pitchFamily="2" charset="-122"/>
              </a:endParaRPr>
            </a:p>
          </p:txBody>
        </p:sp>
        <p:sp>
          <p:nvSpPr>
            <p:cNvPr id="92260" name="Oval 18"/>
            <p:cNvSpPr/>
            <p:nvPr/>
          </p:nvSpPr>
          <p:spPr>
            <a:xfrm>
              <a:off x="1903" y="1961"/>
              <a:ext cx="290" cy="292"/>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2000" i="1" dirty="0">
                  <a:ea typeface="宋体" panose="02010600030101010101" pitchFamily="2" charset="-122"/>
                </a:rPr>
                <a:t>i</a:t>
              </a:r>
              <a:endParaRPr lang="en-US" altLang="zh-CN" sz="2000" i="1" dirty="0">
                <a:ea typeface="宋体" panose="02010600030101010101" pitchFamily="2" charset="-122"/>
              </a:endParaRPr>
            </a:p>
          </p:txBody>
        </p:sp>
        <p:sp>
          <p:nvSpPr>
            <p:cNvPr id="92261" name="Line 19"/>
            <p:cNvSpPr/>
            <p:nvPr/>
          </p:nvSpPr>
          <p:spPr>
            <a:xfrm>
              <a:off x="1567" y="1711"/>
              <a:ext cx="0" cy="278"/>
            </a:xfrm>
            <a:prstGeom prst="line">
              <a:avLst/>
            </a:prstGeom>
            <a:ln w="9525" cap="flat" cmpd="sng">
              <a:solidFill>
                <a:schemeClr val="tx1"/>
              </a:solidFill>
              <a:prstDash val="solid"/>
              <a:headEnd type="none" w="med" len="med"/>
              <a:tailEnd type="none" w="med" len="med"/>
            </a:ln>
          </p:spPr>
        </p:sp>
        <p:sp>
          <p:nvSpPr>
            <p:cNvPr id="92262" name="Line 20"/>
            <p:cNvSpPr/>
            <p:nvPr/>
          </p:nvSpPr>
          <p:spPr>
            <a:xfrm flipH="1">
              <a:off x="1189" y="1689"/>
              <a:ext cx="245" cy="311"/>
            </a:xfrm>
            <a:prstGeom prst="line">
              <a:avLst/>
            </a:prstGeom>
            <a:ln w="9525" cap="flat" cmpd="sng">
              <a:solidFill>
                <a:schemeClr val="tx1"/>
              </a:solidFill>
              <a:prstDash val="solid"/>
              <a:headEnd type="none" w="med" len="med"/>
              <a:tailEnd type="none" w="med" len="med"/>
            </a:ln>
          </p:spPr>
        </p:sp>
        <p:sp>
          <p:nvSpPr>
            <p:cNvPr id="92263" name="Line 21"/>
            <p:cNvSpPr/>
            <p:nvPr/>
          </p:nvSpPr>
          <p:spPr>
            <a:xfrm>
              <a:off x="1678" y="1667"/>
              <a:ext cx="344" cy="299"/>
            </a:xfrm>
            <a:prstGeom prst="line">
              <a:avLst/>
            </a:prstGeom>
            <a:ln w="9525" cap="flat" cmpd="sng">
              <a:solidFill>
                <a:schemeClr val="tx1"/>
              </a:solidFill>
              <a:prstDash val="solid"/>
              <a:headEnd type="none" w="med" len="med"/>
              <a:tailEnd type="none" w="med" len="med"/>
            </a:ln>
          </p:spPr>
        </p:sp>
      </p:grpSp>
      <p:graphicFrame>
        <p:nvGraphicFramePr>
          <p:cNvPr id="199702" name="Group 22"/>
          <p:cNvGraphicFramePr>
            <a:graphicFrameLocks noGrp="1"/>
          </p:cNvGraphicFramePr>
          <p:nvPr/>
        </p:nvGraphicFramePr>
        <p:xfrm>
          <a:off x="5562600" y="1371600"/>
          <a:ext cx="1447800" cy="4721229"/>
        </p:xfrm>
        <a:graphic>
          <a:graphicData uri="http://schemas.openxmlformats.org/drawingml/2006/table">
            <a:tbl>
              <a:tblPr/>
              <a:tblGrid>
                <a:gridCol w="482600"/>
                <a:gridCol w="482600"/>
                <a:gridCol w="482600"/>
              </a:tblGrid>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-1</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b</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c</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0</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d</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1</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e</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1</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f</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2</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498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g</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7363">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h</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0538">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i</a:t>
                      </a:r>
                      <a:endParaRPr kumimoji="0" lang="en-US" altLang="zh-CN" sz="2000" b="0" i="1"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4</a:t>
                      </a:r>
                      <a:endParaRPr kumimoji="0" lang="en-US" altLang="zh-CN" sz="20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1pPr>
                      <a:lvl2pPr marL="742950" indent="-28575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2pPr>
                      <a:lvl3pPr marL="11430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3pPr>
                      <a:lvl4pPr marL="16002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4pPr>
                      <a:lvl5pPr marL="2057400" indent="-228600" eaLnBrk="0" hangingPunct="0">
                        <a:spcBef>
                          <a:spcPct val="20000"/>
                        </a:spcBef>
                        <a:defRPr sz="20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defRPr sz="2000">
                          <a:solidFill>
                            <a:schemeClr val="tx1"/>
                          </a:solidFill>
                          <a:latin typeface="Times New Roman" panose="02020603050405020304" pitchFamily="18" charset="0"/>
                          <a:ea typeface="楷体_GB2312" panose="0201060903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rPr>
                        <a:t>^</a:t>
                      </a:r>
                      <a:endParaRPr kumimoji="0" lang="en-US" altLang="zh-CN"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2206" name="Text Box 54"/>
          <p:cNvSpPr txBox="1"/>
          <p:nvPr/>
        </p:nvSpPr>
        <p:spPr>
          <a:xfrm>
            <a:off x="4876800" y="14732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0</a:t>
            </a:r>
            <a:endParaRPr lang="en-US" altLang="zh-CN" sz="1800" dirty="0">
              <a:ea typeface="宋体" panose="02010600030101010101" pitchFamily="2" charset="-122"/>
            </a:endParaRPr>
          </a:p>
        </p:txBody>
      </p:sp>
      <p:sp>
        <p:nvSpPr>
          <p:cNvPr id="92207" name="Text Box 55"/>
          <p:cNvSpPr txBox="1"/>
          <p:nvPr/>
        </p:nvSpPr>
        <p:spPr>
          <a:xfrm>
            <a:off x="4876800" y="20066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92208" name="Text Box 56"/>
          <p:cNvSpPr txBox="1"/>
          <p:nvPr/>
        </p:nvSpPr>
        <p:spPr>
          <a:xfrm>
            <a:off x="4876800" y="51689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7</a:t>
            </a:r>
            <a:endParaRPr lang="en-US" altLang="zh-CN" sz="1800" dirty="0">
              <a:ea typeface="宋体" panose="02010600030101010101" pitchFamily="2" charset="-122"/>
            </a:endParaRPr>
          </a:p>
        </p:txBody>
      </p:sp>
      <p:sp>
        <p:nvSpPr>
          <p:cNvPr id="92209" name="Text Box 57"/>
          <p:cNvSpPr txBox="1"/>
          <p:nvPr/>
        </p:nvSpPr>
        <p:spPr>
          <a:xfrm>
            <a:off x="4876800" y="25400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2</a:t>
            </a:r>
            <a:endParaRPr lang="en-US" altLang="zh-CN" sz="1800" dirty="0">
              <a:ea typeface="宋体" panose="02010600030101010101" pitchFamily="2" charset="-122"/>
            </a:endParaRPr>
          </a:p>
        </p:txBody>
      </p:sp>
      <p:sp>
        <p:nvSpPr>
          <p:cNvPr id="92210" name="Text Box 58"/>
          <p:cNvSpPr txBox="1"/>
          <p:nvPr/>
        </p:nvSpPr>
        <p:spPr>
          <a:xfrm>
            <a:off x="4876800" y="47117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6</a:t>
            </a:r>
            <a:endParaRPr lang="en-US" altLang="zh-CN" sz="1800" dirty="0">
              <a:ea typeface="宋体" panose="02010600030101010101" pitchFamily="2" charset="-122"/>
            </a:endParaRPr>
          </a:p>
        </p:txBody>
      </p:sp>
      <p:sp>
        <p:nvSpPr>
          <p:cNvPr id="92211" name="Text Box 59"/>
          <p:cNvSpPr txBox="1"/>
          <p:nvPr/>
        </p:nvSpPr>
        <p:spPr>
          <a:xfrm>
            <a:off x="4876800" y="36449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4</a:t>
            </a:r>
            <a:endParaRPr lang="en-US" altLang="zh-CN" sz="1800" dirty="0">
              <a:ea typeface="宋体" panose="02010600030101010101" pitchFamily="2" charset="-122"/>
            </a:endParaRPr>
          </a:p>
        </p:txBody>
      </p:sp>
      <p:sp>
        <p:nvSpPr>
          <p:cNvPr id="92212" name="Text Box 60"/>
          <p:cNvSpPr txBox="1"/>
          <p:nvPr/>
        </p:nvSpPr>
        <p:spPr>
          <a:xfrm>
            <a:off x="4876800" y="41783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5</a:t>
            </a:r>
            <a:endParaRPr lang="en-US" altLang="zh-CN" sz="1800" dirty="0">
              <a:ea typeface="宋体" panose="02010600030101010101" pitchFamily="2" charset="-122"/>
            </a:endParaRPr>
          </a:p>
        </p:txBody>
      </p:sp>
      <p:sp>
        <p:nvSpPr>
          <p:cNvPr id="92213" name="Text Box 61"/>
          <p:cNvSpPr txBox="1"/>
          <p:nvPr/>
        </p:nvSpPr>
        <p:spPr>
          <a:xfrm>
            <a:off x="4876800" y="30607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3</a:t>
            </a:r>
            <a:endParaRPr lang="en-US" altLang="zh-CN" sz="1800" dirty="0">
              <a:ea typeface="宋体" panose="02010600030101010101" pitchFamily="2" charset="-122"/>
            </a:endParaRPr>
          </a:p>
        </p:txBody>
      </p:sp>
      <p:sp>
        <p:nvSpPr>
          <p:cNvPr id="92214" name="Text Box 62"/>
          <p:cNvSpPr txBox="1"/>
          <p:nvPr/>
        </p:nvSpPr>
        <p:spPr>
          <a:xfrm>
            <a:off x="4876800" y="5626100"/>
            <a:ext cx="6096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r" eaLnBrk="1" hangingPunct="1">
              <a:spcBef>
                <a:spcPct val="50000"/>
              </a:spcBef>
              <a:buNone/>
            </a:pPr>
            <a:r>
              <a:rPr lang="en-US" altLang="zh-CN" sz="1800" dirty="0">
                <a:ea typeface="宋体" panose="02010600030101010101" pitchFamily="2" charset="-122"/>
              </a:rPr>
              <a:t>8</a:t>
            </a:r>
            <a:endParaRPr lang="en-US" altLang="zh-CN" sz="1800" dirty="0">
              <a:ea typeface="宋体" panose="02010600030101010101" pitchFamily="2" charset="-122"/>
            </a:endParaRPr>
          </a:p>
        </p:txBody>
      </p:sp>
      <p:sp>
        <p:nvSpPr>
          <p:cNvPr id="92215" name="Line 63"/>
          <p:cNvSpPr/>
          <p:nvPr/>
        </p:nvSpPr>
        <p:spPr>
          <a:xfrm>
            <a:off x="6705600" y="1676400"/>
            <a:ext cx="609600" cy="0"/>
          </a:xfrm>
          <a:prstGeom prst="line">
            <a:avLst/>
          </a:prstGeom>
          <a:ln w="9525" cap="flat" cmpd="sng">
            <a:solidFill>
              <a:schemeClr val="tx1"/>
            </a:solidFill>
            <a:prstDash val="solid"/>
            <a:headEnd type="none" w="med" len="med"/>
            <a:tailEnd type="triangle" w="med" len="med"/>
          </a:ln>
        </p:spPr>
      </p:sp>
      <p:grpSp>
        <p:nvGrpSpPr>
          <p:cNvPr id="92216" name="组合 58"/>
          <p:cNvGrpSpPr/>
          <p:nvPr/>
        </p:nvGrpSpPr>
        <p:grpSpPr>
          <a:xfrm>
            <a:off x="7315200" y="1524000"/>
            <a:ext cx="914400" cy="304800"/>
            <a:chOff x="5791200" y="2057400"/>
            <a:chExt cx="914400" cy="304800"/>
          </a:xfrm>
        </p:grpSpPr>
        <p:sp>
          <p:nvSpPr>
            <p:cNvPr id="92245" name="Rectangle 64"/>
            <p:cNvSpPr/>
            <p:nvPr/>
          </p:nvSpPr>
          <p:spPr>
            <a:xfrm>
              <a:off x="5791200" y="2057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92246" name="Rectangle 65"/>
            <p:cNvSpPr/>
            <p:nvPr/>
          </p:nvSpPr>
          <p:spPr>
            <a:xfrm>
              <a:off x="6248400" y="2057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1800" dirty="0">
                <a:ea typeface="宋体" panose="02010600030101010101" pitchFamily="2" charset="-122"/>
              </a:endParaRPr>
            </a:p>
          </p:txBody>
        </p:sp>
      </p:grpSp>
      <p:sp>
        <p:nvSpPr>
          <p:cNvPr id="92217" name="Rectangle 66"/>
          <p:cNvSpPr/>
          <p:nvPr/>
        </p:nvSpPr>
        <p:spPr>
          <a:xfrm>
            <a:off x="8839200" y="15240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92218" name="Rectangle 67"/>
          <p:cNvSpPr/>
          <p:nvPr/>
        </p:nvSpPr>
        <p:spPr>
          <a:xfrm>
            <a:off x="8382000" y="15240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2</a:t>
            </a:r>
            <a:endParaRPr lang="en-US" altLang="zh-CN" sz="1800" dirty="0">
              <a:ea typeface="宋体" panose="02010600030101010101" pitchFamily="2" charset="-122"/>
            </a:endParaRPr>
          </a:p>
        </p:txBody>
      </p:sp>
      <p:sp>
        <p:nvSpPr>
          <p:cNvPr id="92219" name="Line 70"/>
          <p:cNvSpPr/>
          <p:nvPr/>
        </p:nvSpPr>
        <p:spPr>
          <a:xfrm>
            <a:off x="8001000" y="1676400"/>
            <a:ext cx="381000" cy="0"/>
          </a:xfrm>
          <a:prstGeom prst="line">
            <a:avLst/>
          </a:prstGeom>
          <a:ln w="9525" cap="flat" cmpd="sng">
            <a:solidFill>
              <a:schemeClr val="tx1"/>
            </a:solidFill>
            <a:prstDash val="solid"/>
            <a:headEnd type="none" w="med" len="med"/>
            <a:tailEnd type="triangle" w="med" len="med"/>
          </a:ln>
        </p:spPr>
      </p:sp>
      <p:sp>
        <p:nvSpPr>
          <p:cNvPr id="92220" name="Rectangle 73"/>
          <p:cNvSpPr/>
          <p:nvPr/>
        </p:nvSpPr>
        <p:spPr>
          <a:xfrm>
            <a:off x="8382000" y="20193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4</a:t>
            </a:r>
            <a:endParaRPr lang="en-US" altLang="zh-CN" sz="1800" dirty="0">
              <a:ea typeface="宋体" panose="02010600030101010101" pitchFamily="2" charset="-122"/>
            </a:endParaRPr>
          </a:p>
        </p:txBody>
      </p:sp>
      <p:sp>
        <p:nvSpPr>
          <p:cNvPr id="92221" name="Rectangle 74"/>
          <p:cNvSpPr/>
          <p:nvPr/>
        </p:nvSpPr>
        <p:spPr>
          <a:xfrm>
            <a:off x="8839200" y="20193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92222" name="Line 75"/>
          <p:cNvSpPr/>
          <p:nvPr/>
        </p:nvSpPr>
        <p:spPr>
          <a:xfrm>
            <a:off x="8001000" y="2171700"/>
            <a:ext cx="381000" cy="0"/>
          </a:xfrm>
          <a:prstGeom prst="line">
            <a:avLst/>
          </a:prstGeom>
          <a:ln w="9525" cap="flat" cmpd="sng">
            <a:solidFill>
              <a:schemeClr val="tx1"/>
            </a:solidFill>
            <a:prstDash val="solid"/>
            <a:headEnd type="none" w="med" len="med"/>
            <a:tailEnd type="triangle" w="med" len="med"/>
          </a:ln>
        </p:spPr>
      </p:sp>
      <p:sp>
        <p:nvSpPr>
          <p:cNvPr id="92223" name="Rectangle 77"/>
          <p:cNvSpPr/>
          <p:nvPr/>
        </p:nvSpPr>
        <p:spPr>
          <a:xfrm>
            <a:off x="7772400" y="2565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92224" name="Rectangle 78"/>
          <p:cNvSpPr/>
          <p:nvPr/>
        </p:nvSpPr>
        <p:spPr>
          <a:xfrm>
            <a:off x="7315200" y="2565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5</a:t>
            </a:r>
            <a:endParaRPr lang="en-US" altLang="zh-CN" sz="1800" dirty="0">
              <a:ea typeface="宋体" panose="02010600030101010101" pitchFamily="2" charset="-122"/>
            </a:endParaRPr>
          </a:p>
        </p:txBody>
      </p:sp>
      <p:sp>
        <p:nvSpPr>
          <p:cNvPr id="92225" name="Rectangle 81"/>
          <p:cNvSpPr/>
          <p:nvPr/>
        </p:nvSpPr>
        <p:spPr>
          <a:xfrm>
            <a:off x="7315200" y="36195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6</a:t>
            </a:r>
            <a:endParaRPr lang="en-US" altLang="zh-CN" sz="1800" dirty="0">
              <a:ea typeface="宋体" panose="02010600030101010101" pitchFamily="2" charset="-122"/>
            </a:endParaRPr>
          </a:p>
        </p:txBody>
      </p:sp>
      <p:sp>
        <p:nvSpPr>
          <p:cNvPr id="92226" name="Rectangle 82"/>
          <p:cNvSpPr/>
          <p:nvPr/>
        </p:nvSpPr>
        <p:spPr>
          <a:xfrm>
            <a:off x="9601200" y="36195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8</a:t>
            </a:r>
            <a:endParaRPr lang="en-US" altLang="zh-CN" sz="1800" dirty="0">
              <a:ea typeface="宋体" panose="02010600030101010101" pitchFamily="2" charset="-122"/>
            </a:endParaRPr>
          </a:p>
        </p:txBody>
      </p:sp>
      <p:sp>
        <p:nvSpPr>
          <p:cNvPr id="92227" name="Rectangle 83"/>
          <p:cNvSpPr/>
          <p:nvPr/>
        </p:nvSpPr>
        <p:spPr>
          <a:xfrm>
            <a:off x="10058400" y="36195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a:t>
            </a:r>
            <a:endParaRPr lang="en-US" altLang="zh-CN" sz="1800" dirty="0">
              <a:ea typeface="宋体" panose="02010600030101010101" pitchFamily="2" charset="-122"/>
            </a:endParaRPr>
          </a:p>
        </p:txBody>
      </p:sp>
      <p:sp>
        <p:nvSpPr>
          <p:cNvPr id="92228" name="Rectangle 84"/>
          <p:cNvSpPr/>
          <p:nvPr/>
        </p:nvSpPr>
        <p:spPr>
          <a:xfrm>
            <a:off x="8915400" y="36195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1800" dirty="0">
              <a:ea typeface="宋体" panose="02010600030101010101" pitchFamily="2" charset="-122"/>
            </a:endParaRPr>
          </a:p>
        </p:txBody>
      </p:sp>
      <p:sp>
        <p:nvSpPr>
          <p:cNvPr id="92229" name="Rectangle 85"/>
          <p:cNvSpPr/>
          <p:nvPr/>
        </p:nvSpPr>
        <p:spPr>
          <a:xfrm>
            <a:off x="8458200" y="36195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7</a:t>
            </a:r>
            <a:endParaRPr lang="en-US" altLang="zh-CN" sz="1800" dirty="0">
              <a:ea typeface="宋体" panose="02010600030101010101" pitchFamily="2" charset="-122"/>
            </a:endParaRPr>
          </a:p>
        </p:txBody>
      </p:sp>
      <p:sp>
        <p:nvSpPr>
          <p:cNvPr id="92230" name="Rectangle 86"/>
          <p:cNvSpPr/>
          <p:nvPr/>
        </p:nvSpPr>
        <p:spPr>
          <a:xfrm>
            <a:off x="7772400" y="36195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1800" dirty="0">
              <a:ea typeface="宋体" panose="02010600030101010101" pitchFamily="2" charset="-122"/>
            </a:endParaRPr>
          </a:p>
        </p:txBody>
      </p:sp>
      <p:sp>
        <p:nvSpPr>
          <p:cNvPr id="92231" name="Line 87"/>
          <p:cNvSpPr/>
          <p:nvPr/>
        </p:nvSpPr>
        <p:spPr>
          <a:xfrm>
            <a:off x="8077200" y="3771900"/>
            <a:ext cx="381000" cy="0"/>
          </a:xfrm>
          <a:prstGeom prst="line">
            <a:avLst/>
          </a:prstGeom>
          <a:ln w="9525" cap="flat" cmpd="sng">
            <a:solidFill>
              <a:schemeClr val="tx1"/>
            </a:solidFill>
            <a:prstDash val="solid"/>
            <a:headEnd type="none" w="med" len="med"/>
            <a:tailEnd type="triangle" w="med" len="med"/>
          </a:ln>
        </p:spPr>
      </p:sp>
      <p:sp>
        <p:nvSpPr>
          <p:cNvPr id="92232" name="Line 88"/>
          <p:cNvSpPr/>
          <p:nvPr/>
        </p:nvSpPr>
        <p:spPr>
          <a:xfrm>
            <a:off x="9296400" y="3771900"/>
            <a:ext cx="304800" cy="0"/>
          </a:xfrm>
          <a:prstGeom prst="line">
            <a:avLst/>
          </a:prstGeom>
          <a:ln w="9525" cap="flat" cmpd="sng">
            <a:solidFill>
              <a:schemeClr val="tx1"/>
            </a:solidFill>
            <a:prstDash val="solid"/>
            <a:headEnd type="none" w="med" len="med"/>
            <a:tailEnd type="triangle" w="med" len="med"/>
          </a:ln>
        </p:spPr>
      </p:sp>
      <p:sp>
        <p:nvSpPr>
          <p:cNvPr id="92233" name="Line 89"/>
          <p:cNvSpPr/>
          <p:nvPr/>
        </p:nvSpPr>
        <p:spPr>
          <a:xfrm>
            <a:off x="4495800" y="1676400"/>
            <a:ext cx="762000" cy="0"/>
          </a:xfrm>
          <a:prstGeom prst="line">
            <a:avLst/>
          </a:prstGeom>
          <a:ln w="9525" cap="flat" cmpd="sng">
            <a:solidFill>
              <a:schemeClr val="tx1"/>
            </a:solidFill>
            <a:prstDash val="solid"/>
            <a:headEnd type="none" w="med" len="med"/>
            <a:tailEnd type="triangle" w="med" len="med"/>
          </a:ln>
        </p:spPr>
      </p:sp>
      <p:grpSp>
        <p:nvGrpSpPr>
          <p:cNvPr id="92234" name="组合 59"/>
          <p:cNvGrpSpPr/>
          <p:nvPr/>
        </p:nvGrpSpPr>
        <p:grpSpPr>
          <a:xfrm>
            <a:off x="7315200" y="2019300"/>
            <a:ext cx="914400" cy="304800"/>
            <a:chOff x="5791200" y="2057400"/>
            <a:chExt cx="914400" cy="304800"/>
          </a:xfrm>
        </p:grpSpPr>
        <p:sp>
          <p:nvSpPr>
            <p:cNvPr id="92243" name="Rectangle 64"/>
            <p:cNvSpPr/>
            <p:nvPr/>
          </p:nvSpPr>
          <p:spPr>
            <a:xfrm>
              <a:off x="5791200" y="2057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ea typeface="宋体" panose="02010600030101010101" pitchFamily="2" charset="-122"/>
                </a:rPr>
                <a:t>1</a:t>
              </a:r>
              <a:endParaRPr lang="en-US" altLang="zh-CN" sz="1800" dirty="0">
                <a:ea typeface="宋体" panose="02010600030101010101" pitchFamily="2" charset="-122"/>
              </a:endParaRPr>
            </a:p>
          </p:txBody>
        </p:sp>
        <p:sp>
          <p:nvSpPr>
            <p:cNvPr id="92244" name="Rectangle 65"/>
            <p:cNvSpPr/>
            <p:nvPr/>
          </p:nvSpPr>
          <p:spPr>
            <a:xfrm>
              <a:off x="6248400" y="2057400"/>
              <a:ext cx="4572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en-US" altLang="zh-CN" sz="1800" dirty="0">
                <a:ea typeface="宋体" panose="02010600030101010101" pitchFamily="2" charset="-122"/>
              </a:endParaRPr>
            </a:p>
          </p:txBody>
        </p:sp>
      </p:grpSp>
      <p:sp>
        <p:nvSpPr>
          <p:cNvPr id="92235" name="Line 63"/>
          <p:cNvSpPr/>
          <p:nvPr/>
        </p:nvSpPr>
        <p:spPr>
          <a:xfrm>
            <a:off x="6705600" y="2171700"/>
            <a:ext cx="609600" cy="0"/>
          </a:xfrm>
          <a:prstGeom prst="line">
            <a:avLst/>
          </a:prstGeom>
          <a:ln w="9525" cap="flat" cmpd="sng">
            <a:solidFill>
              <a:schemeClr val="tx1"/>
            </a:solidFill>
            <a:prstDash val="solid"/>
            <a:headEnd type="none" w="med" len="med"/>
            <a:tailEnd type="triangle" w="med" len="med"/>
          </a:ln>
        </p:spPr>
      </p:sp>
      <p:sp>
        <p:nvSpPr>
          <p:cNvPr id="92236" name="Line 63"/>
          <p:cNvSpPr/>
          <p:nvPr/>
        </p:nvSpPr>
        <p:spPr>
          <a:xfrm>
            <a:off x="6705600" y="2705100"/>
            <a:ext cx="609600" cy="0"/>
          </a:xfrm>
          <a:prstGeom prst="line">
            <a:avLst/>
          </a:prstGeom>
          <a:ln w="9525" cap="flat" cmpd="sng">
            <a:solidFill>
              <a:schemeClr val="tx1"/>
            </a:solidFill>
            <a:prstDash val="solid"/>
            <a:headEnd type="none" w="med" len="med"/>
            <a:tailEnd type="triangle" w="med" len="med"/>
          </a:ln>
        </p:spPr>
      </p:sp>
      <p:sp>
        <p:nvSpPr>
          <p:cNvPr id="92237" name="Line 63"/>
          <p:cNvSpPr/>
          <p:nvPr/>
        </p:nvSpPr>
        <p:spPr>
          <a:xfrm>
            <a:off x="6705600" y="3771900"/>
            <a:ext cx="609600" cy="0"/>
          </a:xfrm>
          <a:prstGeom prst="line">
            <a:avLst/>
          </a:prstGeom>
          <a:ln w="9525" cap="flat" cmpd="sng">
            <a:solidFill>
              <a:schemeClr val="tx1"/>
            </a:solidFill>
            <a:prstDash val="solid"/>
            <a:headEnd type="none" w="med" len="med"/>
            <a:tailEnd type="triangle" w="med" len="med"/>
          </a:ln>
        </p:spPr>
      </p:sp>
      <p:sp>
        <p:nvSpPr>
          <p:cNvPr id="72" name="圆角矩形标注 71"/>
          <p:cNvSpPr/>
          <p:nvPr/>
        </p:nvSpPr>
        <p:spPr bwMode="auto">
          <a:xfrm>
            <a:off x="4343400" y="6019800"/>
            <a:ext cx="990600" cy="533400"/>
          </a:xfrm>
          <a:prstGeom prst="wedgeRoundRectCallout">
            <a:avLst>
              <a:gd name="adj1" fmla="val 68561"/>
              <a:gd name="adj2" fmla="val -58929"/>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data</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圆角矩形标注 72"/>
          <p:cNvSpPr/>
          <p:nvPr/>
        </p:nvSpPr>
        <p:spPr bwMode="auto">
          <a:xfrm>
            <a:off x="7239000" y="6019800"/>
            <a:ext cx="1066800" cy="533400"/>
          </a:xfrm>
          <a:prstGeom prst="wedgeRoundRectCallout">
            <a:avLst>
              <a:gd name="adj1" fmla="val -69318"/>
              <a:gd name="adj2" fmla="val -54167"/>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firstchild</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 name="圆角矩形标注 59"/>
          <p:cNvSpPr/>
          <p:nvPr/>
        </p:nvSpPr>
        <p:spPr bwMode="auto">
          <a:xfrm>
            <a:off x="5791200" y="6248400"/>
            <a:ext cx="1066800" cy="533400"/>
          </a:xfrm>
          <a:prstGeom prst="wedgeRoundRectCallout">
            <a:avLst>
              <a:gd name="adj1" fmla="val -1461"/>
              <a:gd name="adj2" fmla="val -82738"/>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parent</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 name="圆角矩形标注 60"/>
          <p:cNvSpPr/>
          <p:nvPr/>
        </p:nvSpPr>
        <p:spPr bwMode="auto">
          <a:xfrm>
            <a:off x="6781800" y="914400"/>
            <a:ext cx="990600" cy="533400"/>
          </a:xfrm>
          <a:prstGeom prst="wedgeRoundRectCallout">
            <a:avLst>
              <a:gd name="adj1" fmla="val 36509"/>
              <a:gd name="adj2" fmla="val 74405"/>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child</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 name="圆角矩形标注 61"/>
          <p:cNvSpPr/>
          <p:nvPr/>
        </p:nvSpPr>
        <p:spPr bwMode="auto">
          <a:xfrm>
            <a:off x="7924800" y="914400"/>
            <a:ext cx="990600" cy="533400"/>
          </a:xfrm>
          <a:prstGeom prst="wedgeRoundRectCallout">
            <a:avLst>
              <a:gd name="adj1" fmla="val -50670"/>
              <a:gd name="adj2" fmla="val 76786"/>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next</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孩子双亲链表表示法例</a:t>
            </a:r>
            <a:r>
              <a:rPr lang="zh-CN" altLang="en-US" sz="3600" b="1" i="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3600" b="1" i="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7" name="Rectangle 3"/>
          <p:cNvSpPr>
            <a:spLocks noGrp="1"/>
          </p:cNvSpPr>
          <p:nvPr>
            <p:ph idx="1"/>
          </p:nvPr>
        </p:nvSpPr>
        <p:spPr>
          <a:xfrm>
            <a:off x="356235" y="1073150"/>
            <a:ext cx="10997565" cy="5104130"/>
          </a:xfrm>
        </p:spPr>
        <p:txBody>
          <a:bodyPr vert="horz" wrap="square" lIns="91440" tIns="45720" rIns="91440" bIns="45720" anchor="t" anchorCtr="0"/>
          <a:p>
            <a:pPr eaLnBrk="1" hangingPunct="1">
              <a:lnSpc>
                <a:spcPct val="140000"/>
              </a:lnSpc>
            </a:pP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树的遍历</a:t>
            </a:r>
            <a:endPar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40000"/>
              </a:lnSpc>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先根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次序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遍历</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4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若树不空，则先访问根结点，然后依次先根遍历各棵子</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树。</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40000"/>
              </a:lnSpc>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后根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次序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遍历</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4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若树不空，则先依次后根遍历各棵子树，然后访问根结点。</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40000"/>
              </a:lnSpc>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按层次遍历</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4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若树不空，则自上而下自左至右访问树中每个结点。</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树和森林的遍历</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燕尾形 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1" name="Rectangle 3"/>
          <p:cNvSpPr>
            <a:spLocks noGrp="1"/>
          </p:cNvSpPr>
          <p:nvPr>
            <p:ph idx="1"/>
          </p:nvPr>
        </p:nvSpPr>
        <p:spPr>
          <a:xfrm>
            <a:off x="709295" y="1077595"/>
            <a:ext cx="10355580" cy="5779770"/>
          </a:xfrm>
        </p:spPr>
        <p:txBody>
          <a:bodyPr vert="horz" wrap="square" lIns="91440" tIns="45720" rIns="91440" bIns="45720" anchor="t" anchorCtr="0">
            <a:normAutofit/>
          </a:bodyPr>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dirty="0"/>
          </a:p>
          <a:p>
            <a:pPr eaLnBrk="1" hangingPunct="1"/>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先根</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次序</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对应</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二叉树的</a:t>
            </a:r>
            <a:r>
              <a:rPr lang="zh-CN" altLang="en-US" sz="2400" b="1"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rPr>
              <a:t>先序</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None/>
            </a:pPr>
            <a:r>
              <a:rPr lang="en-US" altLang="zh-CN" i="1" dirty="0">
                <a:latin typeface="Times New Roman" panose="02020603050405020304" pitchFamily="18" charset="0"/>
                <a:cs typeface="Times New Roman" panose="02020603050405020304" pitchFamily="18" charset="0"/>
              </a:rPr>
              <a:t>a b e f c d g h i j</a:t>
            </a:r>
            <a:endParaRPr lang="zh-CN" altLang="en-US" dirty="0">
              <a:latin typeface="Times New Roman" panose="02020603050405020304" pitchFamily="18" charset="0"/>
              <a:cs typeface="Times New Roman" panose="02020603050405020304" pitchFamily="18" charset="0"/>
            </a:endParaRPr>
          </a:p>
          <a:p>
            <a:pPr eaLnBrk="1" hangingPunct="1"/>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后根</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次序</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  </a:t>
            </a:r>
            <a:r>
              <a:rPr lang="zh-CN" altLang="en-US" sz="24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对应</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二叉树的</a:t>
            </a:r>
            <a:r>
              <a:rPr lang="zh-CN" altLang="en-US" sz="2400" b="1"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rPr>
              <a:t>中序</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a:t>
            </a:r>
            <a:endPar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None/>
            </a:pPr>
            <a:r>
              <a:rPr lang="en-US" altLang="zh-CN" i="1" dirty="0">
                <a:latin typeface="Times New Roman" panose="02020603050405020304" pitchFamily="18" charset="0"/>
                <a:cs typeface="Times New Roman" panose="02020603050405020304" pitchFamily="18" charset="0"/>
              </a:rPr>
              <a:t>e f b c g h j i d a</a:t>
            </a:r>
            <a:endParaRPr lang="en-US" altLang="zh-CN" i="1" dirty="0">
              <a:latin typeface="Times New Roman" panose="02020603050405020304" pitchFamily="18" charset="0"/>
              <a:cs typeface="Times New Roman" panose="02020603050405020304" pitchFamily="18" charset="0"/>
            </a:endParaRPr>
          </a:p>
          <a:p>
            <a:pPr eaLnBrk="1" hangingPunct="1"/>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层次</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次序</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a:t>
            </a: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二叉树的</a:t>
            </a:r>
            <a:r>
              <a:rPr lang="zh-CN" altLang="en-US" sz="2400" b="1" dirty="0">
                <a:solidFill>
                  <a:srgbClr val="F8F8F8"/>
                </a:solidFill>
                <a:latin typeface="微软雅黑" panose="020B0503020204020204" pitchFamily="34" charset="-122"/>
                <a:ea typeface="微软雅黑" panose="020B0503020204020204" pitchFamily="34" charset="-122"/>
                <a:cs typeface="微软雅黑" panose="020B0503020204020204" pitchFamily="34" charset="-122"/>
              </a:rPr>
              <a:t>层次</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a:t>
            </a:r>
            <a:endPar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None/>
            </a:pPr>
            <a:r>
              <a:rPr lang="en-US" altLang="zh-CN" i="1" dirty="0">
                <a:latin typeface="Times New Roman" panose="02020603050405020304" pitchFamily="18" charset="0"/>
                <a:cs typeface="Times New Roman" panose="02020603050405020304" pitchFamily="18" charset="0"/>
              </a:rPr>
              <a:t>a b c d e f g h i j</a:t>
            </a:r>
            <a:endParaRPr lang="en-US" altLang="zh-CN" i="1" dirty="0">
              <a:latin typeface="Times New Roman" panose="02020603050405020304" pitchFamily="18" charset="0"/>
              <a:cs typeface="Times New Roman" panose="02020603050405020304" pitchFamily="18" charset="0"/>
            </a:endParaRPr>
          </a:p>
        </p:txBody>
      </p:sp>
      <p:sp>
        <p:nvSpPr>
          <p:cNvPr id="94212" name="Rectangle 24"/>
          <p:cNvSpPr/>
          <p:nvPr/>
        </p:nvSpPr>
        <p:spPr>
          <a:xfrm>
            <a:off x="5942965" y="2277428"/>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94213" name="Object 23"/>
          <p:cNvGraphicFramePr>
            <a:graphicFrameLocks noChangeAspect="1"/>
          </p:cNvGraphicFramePr>
          <p:nvPr/>
        </p:nvGraphicFramePr>
        <p:xfrm>
          <a:off x="2286000" y="1219200"/>
          <a:ext cx="6248400" cy="2682875"/>
        </p:xfrm>
        <a:graphic>
          <a:graphicData uri="http://schemas.openxmlformats.org/presentationml/2006/ole">
            <mc:AlternateContent xmlns:mc="http://schemas.openxmlformats.org/markup-compatibility/2006">
              <mc:Choice xmlns:v="urn:schemas-microsoft-com:vml" Requires="v">
                <p:oleObj spid="_x0000_s3102" name="" r:id="rId1" imgW="6007100" imgH="2578100" progId="Visio.Drawing.11">
                  <p:embed/>
                </p:oleObj>
              </mc:Choice>
              <mc:Fallback>
                <p:oleObj name="" r:id="rId1" imgW="6007100" imgH="2578100" progId="Visio.Drawing.11">
                  <p:embed/>
                  <p:pic>
                    <p:nvPicPr>
                      <p:cNvPr id="0" name="图片 3101"/>
                      <p:cNvPicPr/>
                      <p:nvPr/>
                    </p:nvPicPr>
                    <p:blipFill>
                      <a:blip r:embed="rId2"/>
                      <a:stretch>
                        <a:fillRect/>
                      </a:stretch>
                    </p:blipFill>
                    <p:spPr>
                      <a:xfrm>
                        <a:off x="2286000" y="1219200"/>
                        <a:ext cx="6248400" cy="2682875"/>
                      </a:xfrm>
                      <a:prstGeom prst="rect">
                        <a:avLst/>
                      </a:prstGeom>
                      <a:noFill/>
                      <a:ln w="38100">
                        <a:noFill/>
                        <a:miter/>
                      </a:ln>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树的遍历例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51">
                                            <p:txEl>
                                              <p:charRg st="46" end="66"/>
                                            </p:txEl>
                                          </p:spTgt>
                                        </p:tgtEl>
                                        <p:attrNameLst>
                                          <p:attrName>style.visibility</p:attrName>
                                        </p:attrNameLst>
                                      </p:cBhvr>
                                      <p:to>
                                        <p:strVal val="visible"/>
                                      </p:to>
                                    </p:set>
                                    <p:anim calcmode="lin" valueType="num">
                                      <p:cBhvr additive="base">
                                        <p:cTn id="7" dur="500" fill="hold"/>
                                        <p:tgtEl>
                                          <p:spTgt spid="78851">
                                            <p:txEl>
                                              <p:charRg st="46" end="6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851">
                                            <p:txEl>
                                              <p:charRg st="46" end="6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8851">
                                            <p:txEl>
                                              <p:charRg st="105" end="125"/>
                                            </p:txEl>
                                          </p:spTgt>
                                        </p:tgtEl>
                                        <p:attrNameLst>
                                          <p:attrName>style.visibility</p:attrName>
                                        </p:attrNameLst>
                                      </p:cBhvr>
                                      <p:to>
                                        <p:strVal val="visible"/>
                                      </p:to>
                                    </p:set>
                                    <p:anim calcmode="lin" valueType="num">
                                      <p:cBhvr additive="base">
                                        <p:cTn id="13" dur="500" fill="hold"/>
                                        <p:tgtEl>
                                          <p:spTgt spid="78851">
                                            <p:txEl>
                                              <p:charRg st="105" end="12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8851">
                                            <p:txEl>
                                              <p:charRg st="105" end="12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8851">
                                            <p:txEl>
                                              <p:charRg st="167" end="187"/>
                                            </p:txEl>
                                          </p:spTgt>
                                        </p:tgtEl>
                                        <p:attrNameLst>
                                          <p:attrName>style.visibility</p:attrName>
                                        </p:attrNameLst>
                                      </p:cBhvr>
                                      <p:to>
                                        <p:strVal val="visible"/>
                                      </p:to>
                                    </p:set>
                                    <p:anim calcmode="lin" valueType="num">
                                      <p:cBhvr additive="base">
                                        <p:cTn id="19" dur="500" fill="hold"/>
                                        <p:tgtEl>
                                          <p:spTgt spid="78851">
                                            <p:txEl>
                                              <p:charRg st="167" end="18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8851">
                                            <p:txEl>
                                              <p:charRg st="167" end="18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5" name="Rectangle 3"/>
          <p:cNvSpPr>
            <a:spLocks noGrp="1"/>
          </p:cNvSpPr>
          <p:nvPr>
            <p:ph type="body" idx="4294967295"/>
          </p:nvPr>
        </p:nvSpPr>
        <p:spPr>
          <a:xfrm>
            <a:off x="700405" y="1295400"/>
            <a:ext cx="11355070" cy="5038090"/>
          </a:xfrm>
        </p:spPr>
        <p:txBody>
          <a:bodyPr vert="horz" wrap="square" lIns="91440" tIns="45720" rIns="91440" bIns="45720" anchor="t" anchorCtr="0">
            <a:normAutofit fontScale="90000" lnSpcReduction="10000"/>
          </a:bodyPr>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dirty="0"/>
          </a:p>
          <a:p>
            <a:pPr eaLnBrk="1" hangingPunct="1"/>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先根</a:t>
            </a:r>
            <a:r>
              <a:rPr lang="en-US" altLang="zh-CN"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次序</a:t>
            </a:r>
            <a:r>
              <a:rPr lang="en-US" altLang="zh-CN"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a:t>
            </a:r>
            <a:r>
              <a:rPr lang="zh-CN" altLang="en-US" sz="2665"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对应   </a:t>
            </a:r>
            <a:r>
              <a:rPr lang="zh-CN" altLang="en-US" sz="2665"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二叉树的先序遍历</a:t>
            </a:r>
            <a:endParaRPr lang="zh-CN" altLang="en-US" sz="2665"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None/>
            </a:pPr>
            <a:r>
              <a:rPr lang="en-US" altLang="zh-CN" sz="2665" i="1" dirty="0">
                <a:latin typeface="Times New Roman" panose="02020603050405020304" pitchFamily="18" charset="0"/>
                <a:cs typeface="Times New Roman" panose="02020603050405020304" pitchFamily="18" charset="0"/>
              </a:rPr>
              <a:t>a b e f c d g h i j</a:t>
            </a:r>
            <a:endParaRPr lang="zh-CN" altLang="en-US" sz="2665" dirty="0">
              <a:latin typeface="Times New Roman" panose="02020603050405020304" pitchFamily="18" charset="0"/>
              <a:cs typeface="Times New Roman" panose="02020603050405020304" pitchFamily="18" charset="0"/>
            </a:endParaRPr>
          </a:p>
          <a:p>
            <a:pPr eaLnBrk="1" hangingPunct="1"/>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后根</a:t>
            </a:r>
            <a:r>
              <a:rPr lang="en-US" altLang="zh-CN"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次序</a:t>
            </a:r>
            <a:r>
              <a:rPr lang="en-US" altLang="zh-CN"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 </a:t>
            </a:r>
            <a:r>
              <a:rPr lang="zh-CN" altLang="en-US" sz="2665" b="1"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对应</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二叉树的中序遍历</a:t>
            </a:r>
            <a:endParaRPr lang="en-US" altLang="zh-CN" sz="2665"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None/>
            </a:pPr>
            <a:r>
              <a:rPr lang="en-US" altLang="zh-CN" sz="2665" i="1" dirty="0">
                <a:latin typeface="Times New Roman" panose="02020603050405020304" pitchFamily="18" charset="0"/>
                <a:cs typeface="Times New Roman" panose="02020603050405020304" pitchFamily="18" charset="0"/>
              </a:rPr>
              <a:t>e f b c g h j i d a</a:t>
            </a:r>
            <a:endParaRPr lang="en-US" altLang="zh-CN" sz="2665" i="1" dirty="0">
              <a:latin typeface="Times New Roman" panose="02020603050405020304" pitchFamily="18" charset="0"/>
              <a:cs typeface="Times New Roman" panose="02020603050405020304" pitchFamily="18" charset="0"/>
            </a:endParaRPr>
          </a:p>
          <a:p>
            <a:pPr eaLnBrk="1" hangingPunct="1"/>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层次</a:t>
            </a:r>
            <a:r>
              <a:rPr lang="en-US" altLang="zh-CN"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次序</a:t>
            </a:r>
            <a:r>
              <a:rPr lang="en-US" altLang="zh-CN"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遍历</a:t>
            </a:r>
            <a:r>
              <a:rPr lang="zh-CN" altLang="en-US" sz="2665"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665"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665"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二叉树的层次遍历</a:t>
            </a:r>
            <a:endParaRPr lang="zh-CN" altLang="en-US" sz="2665"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buNone/>
            </a:pPr>
            <a:r>
              <a:rPr lang="en-US" altLang="zh-CN" i="1" dirty="0">
                <a:latin typeface="Times New Roman" panose="02020603050405020304" pitchFamily="18" charset="0"/>
                <a:cs typeface="Times New Roman" panose="02020603050405020304" pitchFamily="18" charset="0"/>
              </a:rPr>
              <a:t>a b c d e f g h i j</a:t>
            </a:r>
            <a:endParaRPr lang="en-US" altLang="zh-CN" i="1" dirty="0">
              <a:latin typeface="Times New Roman" panose="02020603050405020304" pitchFamily="18" charset="0"/>
              <a:cs typeface="Times New Roman" panose="02020603050405020304" pitchFamily="18" charset="0"/>
            </a:endParaRPr>
          </a:p>
        </p:txBody>
      </p:sp>
      <p:sp>
        <p:nvSpPr>
          <p:cNvPr id="95236" name="Rectangle 24"/>
          <p:cNvSpPr/>
          <p:nvPr/>
        </p:nvSpPr>
        <p:spPr>
          <a:xfrm>
            <a:off x="5942965" y="2277428"/>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95237" name="Object 23"/>
          <p:cNvGraphicFramePr>
            <a:graphicFrameLocks noChangeAspect="1"/>
          </p:cNvGraphicFramePr>
          <p:nvPr/>
        </p:nvGraphicFramePr>
        <p:xfrm>
          <a:off x="2286000" y="1219200"/>
          <a:ext cx="6248400" cy="2682875"/>
        </p:xfrm>
        <a:graphic>
          <a:graphicData uri="http://schemas.openxmlformats.org/presentationml/2006/ole">
            <mc:AlternateContent xmlns:mc="http://schemas.openxmlformats.org/markup-compatibility/2006">
              <mc:Choice xmlns:v="urn:schemas-microsoft-com:vml" Requires="v">
                <p:oleObj spid="_x0000_s3103" name="" r:id="rId1" imgW="6007100" imgH="2578100" progId="Visio.Drawing.11">
                  <p:embed/>
                </p:oleObj>
              </mc:Choice>
              <mc:Fallback>
                <p:oleObj name="" r:id="rId1" imgW="6007100" imgH="2578100" progId="Visio.Drawing.11">
                  <p:embed/>
                  <p:pic>
                    <p:nvPicPr>
                      <p:cNvPr id="0" name="图片 3102"/>
                      <p:cNvPicPr/>
                      <p:nvPr/>
                    </p:nvPicPr>
                    <p:blipFill>
                      <a:blip r:embed="rId2"/>
                      <a:stretch>
                        <a:fillRect/>
                      </a:stretch>
                    </p:blipFill>
                    <p:spPr>
                      <a:xfrm>
                        <a:off x="2286000" y="1219200"/>
                        <a:ext cx="6248400" cy="2682875"/>
                      </a:xfrm>
                      <a:prstGeom prst="rect">
                        <a:avLst/>
                      </a:prstGeom>
                      <a:noFill/>
                      <a:ln w="38100">
                        <a:noFill/>
                        <a:miter/>
                      </a:ln>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树的遍历例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Rectangle 3"/>
          <p:cNvSpPr>
            <a:spLocks noGrp="1"/>
          </p:cNvSpPr>
          <p:nvPr>
            <p:ph idx="1"/>
          </p:nvPr>
        </p:nvSpPr>
        <p:spPr>
          <a:xfrm>
            <a:off x="492760" y="1162050"/>
            <a:ext cx="10861040" cy="5015230"/>
          </a:xfrm>
        </p:spPr>
        <p:txBody>
          <a:bodyPr vert="horz" wrap="square" lIns="91440" tIns="45720" rIns="91440" bIns="45720" anchor="t" anchorCtr="0"/>
          <a:p>
            <a:pPr eaLnBrk="1" hangingPunct="1">
              <a:lnSpc>
                <a:spcPct val="150000"/>
              </a:lnSpc>
              <a:buNone/>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森林由三部分组成：</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50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．森林中第一棵树的根结点；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50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．森林中第一棵树的子树森林；</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50000"/>
              </a:lnSpc>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．森林中其它树构成的森林</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树和森林的遍历</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3" name="Rectangle 3"/>
          <p:cNvSpPr>
            <a:spLocks noGrp="1"/>
          </p:cNvSpPr>
          <p:nvPr>
            <p:ph idx="1"/>
          </p:nvPr>
        </p:nvSpPr>
        <p:spPr>
          <a:xfrm>
            <a:off x="584200" y="1335405"/>
            <a:ext cx="10769600" cy="4841875"/>
          </a:xfrm>
        </p:spPr>
        <p:txBody>
          <a:bodyPr vert="horz" wrap="square" lIns="91440" tIns="45720" rIns="91440" bIns="45720" anchor="t" anchorCtr="0"/>
          <a:p>
            <a:pPr eaLnBrk="1" hangingPunct="1">
              <a:lnSpc>
                <a:spcPct val="13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森林的先序遍历</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30000"/>
              </a:lnSpc>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若森林不空，则</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457200" eaLnBrk="1" hangingPunct="1">
              <a:lnSpc>
                <a:spcPct val="130000"/>
              </a:lnSpc>
              <a:buFont typeface="Times New Roman" panose="02020603050405020304" pitchFamily="18" charset="0"/>
              <a:buAutoNum type="arabicPeriod"/>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访问森林中第一棵树的根结点；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457200" eaLnBrk="1" hangingPunct="1">
              <a:lnSpc>
                <a:spcPct val="130000"/>
              </a:lnSpc>
              <a:buFont typeface="Times New Roman" panose="02020603050405020304" pitchFamily="18" charset="0"/>
              <a:buAutoNum type="arabicPeriod"/>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先序遍历森林中第一棵树的子树森林；</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457200" eaLnBrk="1" hangingPunct="1">
              <a:lnSpc>
                <a:spcPct val="130000"/>
              </a:lnSpc>
              <a:buFont typeface="Times New Roman" panose="02020603050405020304" pitchFamily="18" charset="0"/>
              <a:buAutoNum type="arabicPeriod"/>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先序遍历森林中（除第一棵树之外）其余树构成的森林。</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30000"/>
              </a:lnSpc>
              <a:buNone/>
            </a:pPr>
            <a:r>
              <a:rPr lang="zh-CN" altLang="en-US" sz="32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即：依次从左至右对森林中的每一棵树进行先根遍历。</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树和森林的遍历</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7" name="Rectangle 3"/>
          <p:cNvSpPr>
            <a:spLocks noGrp="1"/>
          </p:cNvSpPr>
          <p:nvPr>
            <p:ph idx="1"/>
          </p:nvPr>
        </p:nvSpPr>
        <p:spPr>
          <a:xfrm>
            <a:off x="511175" y="1153160"/>
            <a:ext cx="10842625" cy="5024120"/>
          </a:xfrm>
        </p:spPr>
        <p:txBody>
          <a:bodyPr vert="horz" wrap="square" lIns="91440" tIns="45720" rIns="91440" bIns="45720" anchor="t" anchorCtr="0"/>
          <a:p>
            <a:pPr eaLnBrk="1" hangingPunct="1">
              <a:lnSpc>
                <a:spcPct val="14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森林的中序遍历</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eaLnBrk="1" hangingPunct="1">
              <a:lnSpc>
                <a:spcPct val="140000"/>
              </a:lnSpc>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若森林不空，则</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457200" eaLnBrk="1" hangingPunct="1">
              <a:lnSpc>
                <a:spcPct val="140000"/>
              </a:lnSpc>
              <a:buFont typeface="Times New Roman" panose="02020603050405020304" pitchFamily="18" charset="0"/>
              <a:buAutoNum type="arabicPeriod"/>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中序遍历森林中第一棵树的子树森林；</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457200" eaLnBrk="1" hangingPunct="1">
              <a:lnSpc>
                <a:spcPct val="140000"/>
              </a:lnSpc>
              <a:buFont typeface="Times New Roman" panose="02020603050405020304" pitchFamily="18" charset="0"/>
              <a:buAutoNum type="arabicPeriod"/>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访问森林中第一棵树的根结点；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457200" eaLnBrk="1" hangingPunct="1">
              <a:lnSpc>
                <a:spcPct val="140000"/>
              </a:lnSpc>
              <a:buFont typeface="Times New Roman" panose="02020603050405020304" pitchFamily="18" charset="0"/>
              <a:buAutoNum type="arabicPeriod"/>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中序遍历森林中</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除第一棵树之外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其余树构成的森林。</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40000"/>
              </a:lnSpc>
              <a:buNone/>
            </a:pPr>
            <a:r>
              <a:rPr lang="en-US" altLang="zh-CN" sz="32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依次从左至右对森林中的每一棵树进行</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后根遍历。</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40000"/>
              </a:lnSpc>
            </a:pP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树和森林的遍历</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燕尾形 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1" name="Rectangle 3"/>
          <p:cNvSpPr>
            <a:spLocks noGrp="1"/>
          </p:cNvSpPr>
          <p:nvPr>
            <p:ph idx="1"/>
          </p:nvPr>
        </p:nvSpPr>
        <p:spPr>
          <a:xfrm>
            <a:off x="393700" y="1325880"/>
            <a:ext cx="10960100" cy="4851400"/>
          </a:xfrm>
        </p:spPr>
        <p:txBody>
          <a:bodyPr vert="horz" wrap="square" lIns="91440" tIns="45720" rIns="91440" bIns="45720" anchor="t" anchorCtr="0"/>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先序遍历：</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 B C D E F G H I J</a:t>
            </a:r>
            <a:endPar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中序遍历：</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 C D A F E H J I G</a:t>
            </a:r>
            <a:endParaRPr lang="en-US" altLang="zh-CN" sz="2000" i="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当以二叉链表作树的存储结构时，树的先根遍历和后根遍历可借用二叉树的先序遍历和中序遍历的算法实现。</a:t>
            </a:r>
            <a:endPar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森林的先序和中序遍历即为其对应二叉树的先序和中序遍历</a:t>
            </a:r>
            <a:endPar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9332" name="Group 4"/>
          <p:cNvGrpSpPr/>
          <p:nvPr/>
        </p:nvGrpSpPr>
        <p:grpSpPr>
          <a:xfrm>
            <a:off x="5715000" y="4343400"/>
            <a:ext cx="3902075" cy="1527175"/>
            <a:chOff x="408" y="1395"/>
            <a:chExt cx="2458" cy="962"/>
          </a:xfrm>
        </p:grpSpPr>
        <p:grpSp>
          <p:nvGrpSpPr>
            <p:cNvPr id="99355" name="Group 5"/>
            <p:cNvGrpSpPr/>
            <p:nvPr/>
          </p:nvGrpSpPr>
          <p:grpSpPr>
            <a:xfrm>
              <a:off x="408" y="1422"/>
              <a:ext cx="1247" cy="629"/>
              <a:chOff x="408" y="1422"/>
              <a:chExt cx="1247" cy="629"/>
            </a:xfrm>
          </p:grpSpPr>
          <p:sp>
            <p:nvSpPr>
              <p:cNvPr id="99368" name="Oval 6"/>
              <p:cNvSpPr/>
              <p:nvPr/>
            </p:nvSpPr>
            <p:spPr>
              <a:xfrm>
                <a:off x="955" y="1422"/>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A</a:t>
                </a:r>
                <a:endParaRPr lang="en-US" altLang="zh-CN" sz="1800" i="1" dirty="0">
                  <a:ea typeface="宋体" panose="02010600030101010101" pitchFamily="2" charset="-122"/>
                </a:endParaRPr>
              </a:p>
            </p:txBody>
          </p:sp>
          <p:sp>
            <p:nvSpPr>
              <p:cNvPr id="99369" name="Oval 7"/>
              <p:cNvSpPr/>
              <p:nvPr/>
            </p:nvSpPr>
            <p:spPr>
              <a:xfrm>
                <a:off x="408" y="1818"/>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B</a:t>
                </a:r>
                <a:endParaRPr lang="en-US" altLang="zh-CN" sz="1800" i="1" dirty="0">
                  <a:ea typeface="宋体" panose="02010600030101010101" pitchFamily="2" charset="-122"/>
                </a:endParaRPr>
              </a:p>
            </p:txBody>
          </p:sp>
          <p:sp>
            <p:nvSpPr>
              <p:cNvPr id="99370" name="Oval 8"/>
              <p:cNvSpPr/>
              <p:nvPr/>
            </p:nvSpPr>
            <p:spPr>
              <a:xfrm>
                <a:off x="955" y="1818"/>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C</a:t>
                </a:r>
                <a:endParaRPr lang="en-US" altLang="zh-CN" sz="1800" i="1" dirty="0">
                  <a:ea typeface="宋体" panose="02010600030101010101" pitchFamily="2" charset="-122"/>
                </a:endParaRPr>
              </a:p>
            </p:txBody>
          </p:sp>
          <p:sp>
            <p:nvSpPr>
              <p:cNvPr id="99371" name="Oval 9"/>
              <p:cNvSpPr/>
              <p:nvPr/>
            </p:nvSpPr>
            <p:spPr>
              <a:xfrm>
                <a:off x="1433" y="1818"/>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D</a:t>
                </a:r>
                <a:endParaRPr lang="en-US" altLang="zh-CN" sz="1800" i="1" dirty="0">
                  <a:ea typeface="宋体" panose="02010600030101010101" pitchFamily="2" charset="-122"/>
                </a:endParaRPr>
              </a:p>
            </p:txBody>
          </p:sp>
          <p:sp>
            <p:nvSpPr>
              <p:cNvPr id="99372" name="Line 10"/>
              <p:cNvSpPr/>
              <p:nvPr/>
            </p:nvSpPr>
            <p:spPr>
              <a:xfrm>
                <a:off x="1060" y="1655"/>
                <a:ext cx="0" cy="167"/>
              </a:xfrm>
              <a:prstGeom prst="line">
                <a:avLst/>
              </a:prstGeom>
              <a:ln w="9525" cap="flat" cmpd="sng">
                <a:solidFill>
                  <a:schemeClr val="tx1"/>
                </a:solidFill>
                <a:prstDash val="solid"/>
                <a:headEnd type="none" w="med" len="med"/>
                <a:tailEnd type="none" w="med" len="med"/>
              </a:ln>
            </p:spPr>
          </p:sp>
          <p:sp>
            <p:nvSpPr>
              <p:cNvPr id="99373" name="Line 11"/>
              <p:cNvSpPr/>
              <p:nvPr/>
            </p:nvSpPr>
            <p:spPr>
              <a:xfrm flipH="1">
                <a:off x="571" y="1577"/>
                <a:ext cx="400" cy="289"/>
              </a:xfrm>
              <a:prstGeom prst="line">
                <a:avLst/>
              </a:prstGeom>
              <a:ln w="9525" cap="flat" cmpd="sng">
                <a:solidFill>
                  <a:schemeClr val="tx1"/>
                </a:solidFill>
                <a:prstDash val="solid"/>
                <a:headEnd type="none" w="med" len="med"/>
                <a:tailEnd type="none" w="med" len="med"/>
              </a:ln>
            </p:spPr>
          </p:sp>
          <p:sp>
            <p:nvSpPr>
              <p:cNvPr id="99374" name="Line 12"/>
              <p:cNvSpPr/>
              <p:nvPr/>
            </p:nvSpPr>
            <p:spPr>
              <a:xfrm>
                <a:off x="1160" y="1588"/>
                <a:ext cx="334" cy="256"/>
              </a:xfrm>
              <a:prstGeom prst="line">
                <a:avLst/>
              </a:prstGeom>
              <a:ln w="9525" cap="flat" cmpd="sng">
                <a:solidFill>
                  <a:schemeClr val="tx1"/>
                </a:solidFill>
                <a:prstDash val="solid"/>
                <a:headEnd type="none" w="med" len="med"/>
                <a:tailEnd type="none" w="med" len="med"/>
              </a:ln>
            </p:spPr>
          </p:sp>
        </p:grpSp>
        <p:grpSp>
          <p:nvGrpSpPr>
            <p:cNvPr id="99356" name="Group 13"/>
            <p:cNvGrpSpPr/>
            <p:nvPr/>
          </p:nvGrpSpPr>
          <p:grpSpPr>
            <a:xfrm>
              <a:off x="1886" y="1395"/>
              <a:ext cx="237" cy="655"/>
              <a:chOff x="1886" y="1395"/>
              <a:chExt cx="237" cy="655"/>
            </a:xfrm>
          </p:grpSpPr>
          <p:sp>
            <p:nvSpPr>
              <p:cNvPr id="99365" name="Oval 14"/>
              <p:cNvSpPr/>
              <p:nvPr/>
            </p:nvSpPr>
            <p:spPr>
              <a:xfrm>
                <a:off x="1901" y="1395"/>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E</a:t>
                </a:r>
                <a:endParaRPr lang="en-US" altLang="zh-CN" sz="1800" i="1" dirty="0">
                  <a:ea typeface="宋体" panose="02010600030101010101" pitchFamily="2" charset="-122"/>
                </a:endParaRPr>
              </a:p>
            </p:txBody>
          </p:sp>
          <p:sp>
            <p:nvSpPr>
              <p:cNvPr id="99366" name="Oval 15"/>
              <p:cNvSpPr/>
              <p:nvPr/>
            </p:nvSpPr>
            <p:spPr>
              <a:xfrm>
                <a:off x="1886" y="1817"/>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F</a:t>
                </a:r>
                <a:endParaRPr lang="en-US" altLang="zh-CN" sz="1800" i="1" dirty="0">
                  <a:ea typeface="宋体" panose="02010600030101010101" pitchFamily="2" charset="-122"/>
                </a:endParaRPr>
              </a:p>
            </p:txBody>
          </p:sp>
          <p:sp>
            <p:nvSpPr>
              <p:cNvPr id="99367" name="Line 16"/>
              <p:cNvSpPr/>
              <p:nvPr/>
            </p:nvSpPr>
            <p:spPr>
              <a:xfrm>
                <a:off x="2011" y="1633"/>
                <a:ext cx="0" cy="189"/>
              </a:xfrm>
              <a:prstGeom prst="line">
                <a:avLst/>
              </a:prstGeom>
              <a:ln w="9525" cap="flat" cmpd="sng">
                <a:solidFill>
                  <a:schemeClr val="tx1"/>
                </a:solidFill>
                <a:prstDash val="solid"/>
                <a:headEnd type="none" w="med" len="med"/>
                <a:tailEnd type="none" w="med" len="med"/>
              </a:ln>
            </p:spPr>
          </p:sp>
        </p:grpSp>
        <p:grpSp>
          <p:nvGrpSpPr>
            <p:cNvPr id="99357" name="Group 17"/>
            <p:cNvGrpSpPr/>
            <p:nvPr/>
          </p:nvGrpSpPr>
          <p:grpSpPr>
            <a:xfrm>
              <a:off x="2224" y="1395"/>
              <a:ext cx="642" cy="962"/>
              <a:chOff x="2224" y="1395"/>
              <a:chExt cx="642" cy="962"/>
            </a:xfrm>
          </p:grpSpPr>
          <p:sp>
            <p:nvSpPr>
              <p:cNvPr id="99358" name="Oval 18"/>
              <p:cNvSpPr/>
              <p:nvPr/>
            </p:nvSpPr>
            <p:spPr>
              <a:xfrm>
                <a:off x="2461" y="1395"/>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G</a:t>
                </a:r>
                <a:endParaRPr lang="en-US" altLang="zh-CN" sz="1800" i="1" dirty="0">
                  <a:ea typeface="宋体" panose="02010600030101010101" pitchFamily="2" charset="-122"/>
                </a:endParaRPr>
              </a:p>
            </p:txBody>
          </p:sp>
          <p:sp>
            <p:nvSpPr>
              <p:cNvPr id="99359" name="Oval 19"/>
              <p:cNvSpPr/>
              <p:nvPr/>
            </p:nvSpPr>
            <p:spPr>
              <a:xfrm>
                <a:off x="2224" y="1739"/>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H</a:t>
                </a:r>
                <a:endParaRPr lang="en-US" altLang="zh-CN" sz="1800" i="1" dirty="0">
                  <a:ea typeface="宋体" panose="02010600030101010101" pitchFamily="2" charset="-122"/>
                </a:endParaRPr>
              </a:p>
            </p:txBody>
          </p:sp>
          <p:sp>
            <p:nvSpPr>
              <p:cNvPr id="99360" name="Oval 20"/>
              <p:cNvSpPr/>
              <p:nvPr/>
            </p:nvSpPr>
            <p:spPr>
              <a:xfrm>
                <a:off x="2644" y="1750"/>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I</a:t>
                </a:r>
                <a:endParaRPr lang="en-US" altLang="zh-CN" sz="1800" i="1" dirty="0">
                  <a:ea typeface="宋体" panose="02010600030101010101" pitchFamily="2" charset="-122"/>
                </a:endParaRPr>
              </a:p>
            </p:txBody>
          </p:sp>
          <p:sp>
            <p:nvSpPr>
              <p:cNvPr id="99361" name="Line 21"/>
              <p:cNvSpPr/>
              <p:nvPr/>
            </p:nvSpPr>
            <p:spPr>
              <a:xfrm flipH="1">
                <a:off x="2394" y="1622"/>
                <a:ext cx="111" cy="133"/>
              </a:xfrm>
              <a:prstGeom prst="line">
                <a:avLst/>
              </a:prstGeom>
              <a:ln w="9525" cap="flat" cmpd="sng">
                <a:solidFill>
                  <a:schemeClr val="tx1"/>
                </a:solidFill>
                <a:prstDash val="solid"/>
                <a:headEnd type="none" w="med" len="med"/>
                <a:tailEnd type="none" w="med" len="med"/>
              </a:ln>
            </p:spPr>
          </p:sp>
          <p:sp>
            <p:nvSpPr>
              <p:cNvPr id="99362" name="Line 22"/>
              <p:cNvSpPr/>
              <p:nvPr/>
            </p:nvSpPr>
            <p:spPr>
              <a:xfrm>
                <a:off x="2638" y="1622"/>
                <a:ext cx="111" cy="133"/>
              </a:xfrm>
              <a:prstGeom prst="line">
                <a:avLst/>
              </a:prstGeom>
              <a:ln w="9525" cap="flat" cmpd="sng">
                <a:solidFill>
                  <a:schemeClr val="tx1"/>
                </a:solidFill>
                <a:prstDash val="solid"/>
                <a:headEnd type="none" w="med" len="med"/>
                <a:tailEnd type="none" w="med" len="med"/>
              </a:ln>
            </p:spPr>
          </p:sp>
          <p:sp>
            <p:nvSpPr>
              <p:cNvPr id="99363" name="Oval 23"/>
              <p:cNvSpPr/>
              <p:nvPr/>
            </p:nvSpPr>
            <p:spPr>
              <a:xfrm>
                <a:off x="2629" y="2124"/>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J</a:t>
                </a:r>
                <a:endParaRPr lang="en-US" altLang="zh-CN" sz="1800" i="1" dirty="0">
                  <a:ea typeface="宋体" panose="02010600030101010101" pitchFamily="2" charset="-122"/>
                </a:endParaRPr>
              </a:p>
            </p:txBody>
          </p:sp>
          <p:sp>
            <p:nvSpPr>
              <p:cNvPr id="99364" name="Line 24"/>
              <p:cNvSpPr/>
              <p:nvPr/>
            </p:nvSpPr>
            <p:spPr>
              <a:xfrm>
                <a:off x="2767" y="1989"/>
                <a:ext cx="0" cy="144"/>
              </a:xfrm>
              <a:prstGeom prst="line">
                <a:avLst/>
              </a:prstGeom>
              <a:ln w="9525" cap="flat" cmpd="sng">
                <a:solidFill>
                  <a:schemeClr val="tx1"/>
                </a:solidFill>
                <a:prstDash val="solid"/>
                <a:headEnd type="none" w="med" len="med"/>
                <a:tailEnd type="none" w="med" len="med"/>
              </a:ln>
            </p:spPr>
          </p:sp>
        </p:grpSp>
      </p:grpSp>
      <p:grpSp>
        <p:nvGrpSpPr>
          <p:cNvPr id="99333" name="Group 4"/>
          <p:cNvGrpSpPr/>
          <p:nvPr/>
        </p:nvGrpSpPr>
        <p:grpSpPr>
          <a:xfrm>
            <a:off x="2219325" y="3681095"/>
            <a:ext cx="2103755" cy="2647315"/>
            <a:chOff x="3284" y="2489"/>
            <a:chExt cx="1340" cy="1831"/>
          </a:xfrm>
        </p:grpSpPr>
        <p:sp>
          <p:nvSpPr>
            <p:cNvPr id="99334" name="Oval 5"/>
            <p:cNvSpPr/>
            <p:nvPr/>
          </p:nvSpPr>
          <p:spPr>
            <a:xfrm>
              <a:off x="3786" y="2489"/>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A</a:t>
              </a:r>
              <a:endParaRPr lang="en-US" altLang="zh-CN" sz="1800" i="1" dirty="0">
                <a:ea typeface="宋体" panose="02010600030101010101" pitchFamily="2" charset="-122"/>
              </a:endParaRPr>
            </a:p>
          </p:txBody>
        </p:sp>
        <p:sp>
          <p:nvSpPr>
            <p:cNvPr id="99335" name="Oval 6"/>
            <p:cNvSpPr/>
            <p:nvPr/>
          </p:nvSpPr>
          <p:spPr>
            <a:xfrm>
              <a:off x="3284" y="2830"/>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B</a:t>
              </a:r>
              <a:endParaRPr lang="en-US" altLang="zh-CN" sz="1800" i="1" dirty="0">
                <a:ea typeface="宋体" panose="02010600030101010101" pitchFamily="2" charset="-122"/>
              </a:endParaRPr>
            </a:p>
          </p:txBody>
        </p:sp>
        <p:sp>
          <p:nvSpPr>
            <p:cNvPr id="99336" name="Oval 7"/>
            <p:cNvSpPr/>
            <p:nvPr/>
          </p:nvSpPr>
          <p:spPr>
            <a:xfrm>
              <a:off x="3498" y="3253"/>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C</a:t>
              </a:r>
              <a:endParaRPr lang="en-US" altLang="zh-CN" sz="1800" i="1" dirty="0">
                <a:ea typeface="宋体" panose="02010600030101010101" pitchFamily="2" charset="-122"/>
              </a:endParaRPr>
            </a:p>
          </p:txBody>
        </p:sp>
        <p:sp>
          <p:nvSpPr>
            <p:cNvPr id="99337" name="Oval 8"/>
            <p:cNvSpPr/>
            <p:nvPr/>
          </p:nvSpPr>
          <p:spPr>
            <a:xfrm>
              <a:off x="3709" y="3554"/>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D</a:t>
              </a:r>
              <a:endParaRPr lang="en-US" altLang="zh-CN" sz="1800" i="1" dirty="0">
                <a:ea typeface="宋体" panose="02010600030101010101" pitchFamily="2" charset="-122"/>
              </a:endParaRPr>
            </a:p>
          </p:txBody>
        </p:sp>
        <p:sp>
          <p:nvSpPr>
            <p:cNvPr id="99338" name="Line 9"/>
            <p:cNvSpPr/>
            <p:nvPr/>
          </p:nvSpPr>
          <p:spPr>
            <a:xfrm>
              <a:off x="3459" y="3061"/>
              <a:ext cx="133" cy="178"/>
            </a:xfrm>
            <a:prstGeom prst="line">
              <a:avLst/>
            </a:prstGeom>
            <a:ln w="9525" cap="flat" cmpd="sng">
              <a:solidFill>
                <a:schemeClr val="tx1"/>
              </a:solidFill>
              <a:prstDash val="solid"/>
              <a:headEnd type="none" w="med" len="med"/>
              <a:tailEnd type="none" w="med" len="med"/>
            </a:ln>
          </p:spPr>
        </p:sp>
        <p:sp>
          <p:nvSpPr>
            <p:cNvPr id="99339" name="Line 10"/>
            <p:cNvSpPr/>
            <p:nvPr/>
          </p:nvSpPr>
          <p:spPr>
            <a:xfrm>
              <a:off x="3681" y="3462"/>
              <a:ext cx="111" cy="110"/>
            </a:xfrm>
            <a:prstGeom prst="line">
              <a:avLst/>
            </a:prstGeom>
            <a:ln w="9525" cap="flat" cmpd="sng">
              <a:solidFill>
                <a:schemeClr val="tx1"/>
              </a:solidFill>
              <a:prstDash val="solid"/>
              <a:headEnd type="none" w="med" len="med"/>
              <a:tailEnd type="none" w="med" len="med"/>
            </a:ln>
          </p:spPr>
        </p:sp>
        <p:grpSp>
          <p:nvGrpSpPr>
            <p:cNvPr id="99340" name="Group 11"/>
            <p:cNvGrpSpPr/>
            <p:nvPr/>
          </p:nvGrpSpPr>
          <p:grpSpPr>
            <a:xfrm>
              <a:off x="3862" y="2863"/>
              <a:ext cx="460" cy="633"/>
              <a:chOff x="1625" y="2991"/>
              <a:chExt cx="460" cy="633"/>
            </a:xfrm>
          </p:grpSpPr>
          <p:sp>
            <p:nvSpPr>
              <p:cNvPr id="99352" name="Oval 12"/>
              <p:cNvSpPr/>
              <p:nvPr/>
            </p:nvSpPr>
            <p:spPr>
              <a:xfrm>
                <a:off x="1863" y="2991"/>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E</a:t>
                </a:r>
                <a:endParaRPr lang="en-US" altLang="zh-CN" sz="1800" i="1" dirty="0">
                  <a:ea typeface="宋体" panose="02010600030101010101" pitchFamily="2" charset="-122"/>
                </a:endParaRPr>
              </a:p>
            </p:txBody>
          </p:sp>
          <p:sp>
            <p:nvSpPr>
              <p:cNvPr id="99353" name="Oval 13"/>
              <p:cNvSpPr/>
              <p:nvPr/>
            </p:nvSpPr>
            <p:spPr>
              <a:xfrm>
                <a:off x="1625" y="3391"/>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F</a:t>
                </a:r>
                <a:endParaRPr lang="en-US" altLang="zh-CN" sz="1800" i="1" dirty="0">
                  <a:ea typeface="宋体" panose="02010600030101010101" pitchFamily="2" charset="-122"/>
                </a:endParaRPr>
              </a:p>
            </p:txBody>
          </p:sp>
          <p:sp>
            <p:nvSpPr>
              <p:cNvPr id="99354" name="Line 14"/>
              <p:cNvSpPr/>
              <p:nvPr/>
            </p:nvSpPr>
            <p:spPr>
              <a:xfrm flipH="1">
                <a:off x="1800" y="3222"/>
                <a:ext cx="122" cy="189"/>
              </a:xfrm>
              <a:prstGeom prst="line">
                <a:avLst/>
              </a:prstGeom>
              <a:ln w="9525" cap="flat" cmpd="sng">
                <a:solidFill>
                  <a:schemeClr val="tx1"/>
                </a:solidFill>
                <a:prstDash val="solid"/>
                <a:headEnd type="none" w="med" len="med"/>
                <a:tailEnd type="none" w="med" len="med"/>
              </a:ln>
            </p:spPr>
          </p:sp>
        </p:grpSp>
        <p:sp>
          <p:nvSpPr>
            <p:cNvPr id="99341" name="Line 15"/>
            <p:cNvSpPr/>
            <p:nvPr/>
          </p:nvSpPr>
          <p:spPr>
            <a:xfrm>
              <a:off x="3978" y="2699"/>
              <a:ext cx="178" cy="178"/>
            </a:xfrm>
            <a:prstGeom prst="line">
              <a:avLst/>
            </a:prstGeom>
            <a:ln w="9525" cap="flat" cmpd="sng">
              <a:solidFill>
                <a:schemeClr val="tx1"/>
              </a:solidFill>
              <a:prstDash val="solid"/>
              <a:headEnd type="none" w="med" len="med"/>
              <a:tailEnd type="none" w="med" len="med"/>
            </a:ln>
          </p:spPr>
        </p:sp>
        <p:sp>
          <p:nvSpPr>
            <p:cNvPr id="99342" name="Line 16"/>
            <p:cNvSpPr/>
            <p:nvPr/>
          </p:nvSpPr>
          <p:spPr>
            <a:xfrm>
              <a:off x="4300" y="3066"/>
              <a:ext cx="90" cy="88"/>
            </a:xfrm>
            <a:prstGeom prst="line">
              <a:avLst/>
            </a:prstGeom>
            <a:ln w="9525" cap="flat" cmpd="sng">
              <a:solidFill>
                <a:schemeClr val="tx1"/>
              </a:solidFill>
              <a:prstDash val="solid"/>
              <a:headEnd type="none" w="med" len="med"/>
              <a:tailEnd type="none" w="med" len="med"/>
            </a:ln>
          </p:spPr>
        </p:sp>
        <p:sp>
          <p:nvSpPr>
            <p:cNvPr id="99343" name="Line 17"/>
            <p:cNvSpPr/>
            <p:nvPr/>
          </p:nvSpPr>
          <p:spPr>
            <a:xfrm flipH="1">
              <a:off x="3523" y="2677"/>
              <a:ext cx="300" cy="234"/>
            </a:xfrm>
            <a:prstGeom prst="line">
              <a:avLst/>
            </a:prstGeom>
            <a:ln w="9525" cap="flat" cmpd="sng">
              <a:solidFill>
                <a:schemeClr val="tx1"/>
              </a:solidFill>
              <a:prstDash val="solid"/>
              <a:headEnd type="none" w="med" len="med"/>
              <a:tailEnd type="none" w="med" len="med"/>
            </a:ln>
          </p:spPr>
        </p:sp>
        <p:grpSp>
          <p:nvGrpSpPr>
            <p:cNvPr id="99344" name="Group 18"/>
            <p:cNvGrpSpPr/>
            <p:nvPr/>
          </p:nvGrpSpPr>
          <p:grpSpPr>
            <a:xfrm>
              <a:off x="4137" y="3114"/>
              <a:ext cx="487" cy="1206"/>
              <a:chOff x="4530" y="1359"/>
              <a:chExt cx="487" cy="1206"/>
            </a:xfrm>
          </p:grpSpPr>
          <p:sp>
            <p:nvSpPr>
              <p:cNvPr id="99345" name="Oval 19"/>
              <p:cNvSpPr/>
              <p:nvPr/>
            </p:nvSpPr>
            <p:spPr>
              <a:xfrm>
                <a:off x="4767" y="1359"/>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G</a:t>
                </a:r>
                <a:endParaRPr lang="en-US" altLang="zh-CN" sz="1800" i="1" dirty="0">
                  <a:ea typeface="宋体" panose="02010600030101010101" pitchFamily="2" charset="-122"/>
                </a:endParaRPr>
              </a:p>
            </p:txBody>
          </p:sp>
          <p:sp>
            <p:nvSpPr>
              <p:cNvPr id="99346" name="Oval 20"/>
              <p:cNvSpPr/>
              <p:nvPr/>
            </p:nvSpPr>
            <p:spPr>
              <a:xfrm>
                <a:off x="4530" y="1703"/>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H</a:t>
                </a:r>
                <a:endParaRPr lang="en-US" altLang="zh-CN" sz="1800" i="1" dirty="0">
                  <a:ea typeface="宋体" panose="02010600030101010101" pitchFamily="2" charset="-122"/>
                </a:endParaRPr>
              </a:p>
            </p:txBody>
          </p:sp>
          <p:sp>
            <p:nvSpPr>
              <p:cNvPr id="99347" name="Oval 21"/>
              <p:cNvSpPr/>
              <p:nvPr/>
            </p:nvSpPr>
            <p:spPr>
              <a:xfrm>
                <a:off x="4795" y="2003"/>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I</a:t>
                </a:r>
                <a:endParaRPr lang="en-US" altLang="zh-CN" sz="1800" i="1" dirty="0">
                  <a:ea typeface="宋体" panose="02010600030101010101" pitchFamily="2" charset="-122"/>
                </a:endParaRPr>
              </a:p>
            </p:txBody>
          </p:sp>
          <p:sp>
            <p:nvSpPr>
              <p:cNvPr id="99348" name="Line 22"/>
              <p:cNvSpPr/>
              <p:nvPr/>
            </p:nvSpPr>
            <p:spPr>
              <a:xfrm flipH="1">
                <a:off x="4700" y="1586"/>
                <a:ext cx="111" cy="133"/>
              </a:xfrm>
              <a:prstGeom prst="line">
                <a:avLst/>
              </a:prstGeom>
              <a:ln w="9525" cap="flat" cmpd="sng">
                <a:solidFill>
                  <a:schemeClr val="tx1"/>
                </a:solidFill>
                <a:prstDash val="solid"/>
                <a:headEnd type="none" w="med" len="med"/>
                <a:tailEnd type="none" w="med" len="med"/>
              </a:ln>
            </p:spPr>
          </p:sp>
          <p:sp>
            <p:nvSpPr>
              <p:cNvPr id="99349" name="Oval 23"/>
              <p:cNvSpPr/>
              <p:nvPr/>
            </p:nvSpPr>
            <p:spPr>
              <a:xfrm>
                <a:off x="4580" y="2332"/>
                <a:ext cx="222" cy="233"/>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ea typeface="宋体" panose="02010600030101010101" pitchFamily="2" charset="-122"/>
                  </a:rPr>
                  <a:t>J</a:t>
                </a:r>
                <a:endParaRPr lang="en-US" altLang="zh-CN" sz="1800" i="1" dirty="0">
                  <a:ea typeface="宋体" panose="02010600030101010101" pitchFamily="2" charset="-122"/>
                </a:endParaRPr>
              </a:p>
            </p:txBody>
          </p:sp>
          <p:sp>
            <p:nvSpPr>
              <p:cNvPr id="99350" name="Line 24"/>
              <p:cNvSpPr/>
              <p:nvPr/>
            </p:nvSpPr>
            <p:spPr>
              <a:xfrm>
                <a:off x="4723" y="1900"/>
                <a:ext cx="122" cy="122"/>
              </a:xfrm>
              <a:prstGeom prst="line">
                <a:avLst/>
              </a:prstGeom>
              <a:ln w="9525" cap="flat" cmpd="sng">
                <a:solidFill>
                  <a:schemeClr val="tx1"/>
                </a:solidFill>
                <a:prstDash val="solid"/>
                <a:headEnd type="none" w="med" len="med"/>
                <a:tailEnd type="none" w="med" len="med"/>
              </a:ln>
            </p:spPr>
          </p:sp>
          <p:sp>
            <p:nvSpPr>
              <p:cNvPr id="99351" name="Line 25"/>
              <p:cNvSpPr/>
              <p:nvPr/>
            </p:nvSpPr>
            <p:spPr>
              <a:xfrm flipH="1">
                <a:off x="4767" y="2222"/>
                <a:ext cx="78" cy="133"/>
              </a:xfrm>
              <a:prstGeom prst="line">
                <a:avLst/>
              </a:prstGeom>
              <a:ln w="9525" cap="flat" cmpd="sng">
                <a:solidFill>
                  <a:schemeClr val="tx1"/>
                </a:solidFill>
                <a:prstDash val="solid"/>
                <a:headEnd type="none" w="med" len="med"/>
                <a:tailEnd type="none" w="med" len="med"/>
              </a:ln>
            </p:spPr>
          </p:sp>
        </p:grpSp>
      </p:gr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森林的遍历例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3" name="燕尾形 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9167" name="Group 31"/>
          <p:cNvGraphicFramePr>
            <a:graphicFrameLocks noGrp="1"/>
          </p:cNvGraphicFramePr>
          <p:nvPr>
            <p:ph idx="1"/>
            <p:custDataLst>
              <p:tags r:id="rId1"/>
            </p:custDataLst>
          </p:nvPr>
        </p:nvGraphicFramePr>
        <p:xfrm>
          <a:off x="1344930" y="2068195"/>
          <a:ext cx="9330690" cy="2383790"/>
        </p:xfrm>
        <a:graphic>
          <a:graphicData uri="http://schemas.openxmlformats.org/drawingml/2006/table">
            <a:tbl>
              <a:tblPr/>
              <a:tblGrid>
                <a:gridCol w="3110230"/>
                <a:gridCol w="3110230"/>
                <a:gridCol w="3110230"/>
              </a:tblGrid>
              <a:tr h="7842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树</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二叉树</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森林</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1534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先根遍历</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先序遍历</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先序遍历</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842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后根遍历</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中序遍历</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中序遍历</a:t>
                      </a:r>
                      <a:endParaRPr kumimoji="0" lang="zh-CN" altLang="en-US" sz="24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树和二叉树遍历的对应关系 ？</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6" name="组合 5"/>
          <p:cNvGrpSpPr/>
          <p:nvPr/>
        </p:nvGrpSpPr>
        <p:grpSpPr>
          <a:xfrm>
            <a:off x="0" y="6437630"/>
            <a:ext cx="12192000" cy="420370"/>
            <a:chOff x="0" y="10138"/>
            <a:chExt cx="19200" cy="66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                                    </a:t>
              </a:r>
              <a:r>
                <a:rPr lang="en-US" altLang="zh-CN" dirty="0" smtClean="0">
                  <a:solidFill>
                    <a:schemeClr val="accent1"/>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1"/>
                  </a:solidFill>
                  <a:latin typeface="微软雅黑" panose="020B0503020204020204" pitchFamily="34" charset="-122"/>
                  <a:ea typeface="微软雅黑" panose="020B0503020204020204" pitchFamily="34" charset="-122"/>
                  <a:sym typeface="+mn-ea"/>
                </a:rPr>
                <a:t> 树和森林的再讨论</a:t>
              </a:r>
              <a:endParaRPr lang="en-US" altLang="zh-CN" dirty="0" smtClean="0">
                <a:solidFill>
                  <a:schemeClr val="accent1"/>
                </a:solidFill>
                <a:latin typeface="微软雅黑" panose="020B0503020204020204" pitchFamily="34" charset="-122"/>
                <a:ea typeface="微软雅黑" panose="020B0503020204020204" pitchFamily="34" charset="-122"/>
                <a:sym typeface="+mn-ea"/>
              </a:endParaRPr>
            </a:p>
          </p:txBody>
        </p:sp>
        <p:grpSp>
          <p:nvGrpSpPr>
            <p:cNvPr id="5" name="组合 4"/>
            <p:cNvGrpSpPr/>
            <p:nvPr/>
          </p:nvGrpSpPr>
          <p:grpSpPr>
            <a:xfrm>
              <a:off x="619" y="10220"/>
              <a:ext cx="17227" cy="580"/>
              <a:chOff x="619" y="10220"/>
              <a:chExt cx="17227" cy="580"/>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9053"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4" name="燕尾形 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sp>
            <p:nvSpPr>
              <p:cNvPr id="100" name="文本框 99"/>
              <p:cNvSpPr txBox="1"/>
              <p:nvPr/>
            </p:nvSpPr>
            <p:spPr>
              <a:xfrm>
                <a:off x="14336" y="10220"/>
                <a:ext cx="3510"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IV. </a:t>
                </a:r>
                <a:r>
                  <a:rPr lang="zh-CN" altLang="en-US" dirty="0" smtClean="0">
                    <a:solidFill>
                      <a:schemeClr val="accent6">
                        <a:lumMod val="75000"/>
                      </a:schemeClr>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9" name="Rectangle 3"/>
          <p:cNvSpPr>
            <a:spLocks noGrp="1"/>
          </p:cNvSpPr>
          <p:nvPr>
            <p:ph idx="1"/>
          </p:nvPr>
        </p:nvSpPr>
        <p:spPr>
          <a:xfrm>
            <a:off x="538480" y="1190625"/>
            <a:ext cx="10815320" cy="4986655"/>
          </a:xfrm>
        </p:spPr>
        <p:txBody>
          <a:bodyPr vert="horz" wrap="square" lIns="91440" tIns="45720" rIns="91440" bIns="45720" anchor="t" anchorCtr="0"/>
          <a:p>
            <a:pPr>
              <a:lnSpc>
                <a:spcPct val="130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4.4.1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算术表达式求值</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此应用中的算术表达式求值限于二元运算符。</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表达式定义如下：</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表达式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操作数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运算符</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操作数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3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操作数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无符号整数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表达式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表达式可以有三种标识方法，设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Exp=</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1+OP+</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，则</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3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OP+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为表达式的</a:t>
            </a:r>
            <a:r>
              <a:rPr lang="zh-CN" altLang="en-US" sz="2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前缀</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表示法；</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30000"/>
              </a:lnSpc>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1+OP+</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为表达式的</a:t>
            </a:r>
            <a:r>
              <a:rPr lang="zh-CN" altLang="en-US" sz="2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中缀</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表示法；</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30000"/>
              </a:lnSpc>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2+OP</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为表达式的</a:t>
            </a:r>
            <a:r>
              <a:rPr lang="zh-CN" altLang="en-US" sz="2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后缀</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表示法</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树型结构的应用 </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3" name="Rectangle 3"/>
          <p:cNvSpPr>
            <a:spLocks noGrp="1"/>
          </p:cNvSpPr>
          <p:nvPr>
            <p:ph idx="1"/>
          </p:nvPr>
        </p:nvSpPr>
        <p:spPr>
          <a:xfrm>
            <a:off x="528955" y="1235075"/>
            <a:ext cx="10824845" cy="4942205"/>
          </a:xfrm>
        </p:spPr>
        <p:txBody>
          <a:bodyPr vert="horz" wrap="square" lIns="91440" tIns="45720" rIns="91440" bIns="45720" anchor="t" anchorCtr="0"/>
          <a:p>
            <a:pPr>
              <a:lnSpc>
                <a:spcPct val="11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将表达式用一棵二叉树表示，则</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二叉树的先序遍历次序恰好为表达式的前缀表示（波兰式）。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二叉树的中序遍历次序恰好为表达式的中缀表示。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二叉树的后序遍历次序恰好为表达式的后缀表示（逆波兰式）。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2404" name="Rectangle 5"/>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02405" name="Object 4"/>
          <p:cNvGraphicFramePr>
            <a:graphicFrameLocks noChangeAspect="1"/>
          </p:cNvGraphicFramePr>
          <p:nvPr/>
        </p:nvGraphicFramePr>
        <p:xfrm>
          <a:off x="1642745" y="2849245"/>
          <a:ext cx="7894955" cy="3869055"/>
        </p:xfrm>
        <a:graphic>
          <a:graphicData uri="http://schemas.openxmlformats.org/presentationml/2006/ole">
            <mc:AlternateContent xmlns:mc="http://schemas.openxmlformats.org/markup-compatibility/2006">
              <mc:Choice xmlns:v="urn:schemas-microsoft-com:vml" Requires="v">
                <p:oleObj spid="_x0000_s3104" name="" r:id="rId1" imgW="5956300" imgH="2959100" progId="Visio.Drawing.11">
                  <p:embed/>
                </p:oleObj>
              </mc:Choice>
              <mc:Fallback>
                <p:oleObj name="" r:id="rId1" imgW="5956300" imgH="2959100" progId="Visio.Drawing.11">
                  <p:embed/>
                  <p:pic>
                    <p:nvPicPr>
                      <p:cNvPr id="0" name="图片 3103"/>
                      <p:cNvPicPr/>
                      <p:nvPr/>
                    </p:nvPicPr>
                    <p:blipFill>
                      <a:blip r:embed="rId2"/>
                      <a:stretch>
                        <a:fillRect/>
                      </a:stretch>
                    </p:blipFill>
                    <p:spPr>
                      <a:xfrm>
                        <a:off x="1642745" y="2849245"/>
                        <a:ext cx="7894955" cy="3869055"/>
                      </a:xfrm>
                      <a:prstGeom prst="rect">
                        <a:avLst/>
                      </a:prstGeom>
                      <a:noFill/>
                      <a:ln w="38100">
                        <a:noFill/>
                        <a:miter/>
                      </a:ln>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算术表达式求值</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8" name="组合 17"/>
          <p:cNvGrpSpPr/>
          <p:nvPr/>
        </p:nvGrpSpPr>
        <p:grpSpPr>
          <a:xfrm>
            <a:off x="0" y="6437630"/>
            <a:ext cx="12192000" cy="439420"/>
            <a:chOff x="0" y="10138"/>
            <a:chExt cx="19200" cy="692"/>
          </a:xfrm>
        </p:grpSpPr>
        <p:sp>
          <p:nvSpPr>
            <p:cNvPr id="19" name="矩形 18"/>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20" name="组合 19"/>
            <p:cNvGrpSpPr/>
            <p:nvPr/>
          </p:nvGrpSpPr>
          <p:grpSpPr>
            <a:xfrm>
              <a:off x="619" y="10220"/>
              <a:ext cx="17226" cy="610"/>
              <a:chOff x="619" y="10220"/>
              <a:chExt cx="17226" cy="610"/>
            </a:xfrm>
          </p:grpSpPr>
          <p:sp>
            <p:nvSpPr>
              <p:cNvPr id="21" name="文本框 20"/>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22" name="组合 21"/>
              <p:cNvGrpSpPr/>
              <p:nvPr/>
            </p:nvGrpSpPr>
            <p:grpSpPr>
              <a:xfrm>
                <a:off x="14105" y="10327"/>
                <a:ext cx="428" cy="319"/>
                <a:chOff x="1180190" y="6561344"/>
                <a:chExt cx="271682" cy="202424"/>
              </a:xfrm>
            </p:grpSpPr>
            <p:sp>
              <p:nvSpPr>
                <p:cNvPr id="23" name="燕尾形 22"/>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4" name="燕尾形 23"/>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25" name="组合 24"/>
              <p:cNvGrpSpPr/>
              <p:nvPr/>
            </p:nvGrpSpPr>
            <p:grpSpPr>
              <a:xfrm>
                <a:off x="619" y="10220"/>
                <a:ext cx="17226" cy="611"/>
                <a:chOff x="619" y="10220"/>
                <a:chExt cx="17226" cy="611"/>
              </a:xfrm>
            </p:grpSpPr>
            <p:sp>
              <p:nvSpPr>
                <p:cNvPr id="26" name="文本框 25"/>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7" name="Rectangle 3"/>
          <p:cNvSpPr>
            <a:spLocks noGrp="1"/>
          </p:cNvSpPr>
          <p:nvPr>
            <p:ph idx="1"/>
          </p:nvPr>
        </p:nvSpPr>
        <p:spPr>
          <a:xfrm>
            <a:off x="666115" y="1290320"/>
            <a:ext cx="10687685" cy="4886960"/>
          </a:xfrm>
        </p:spPr>
        <p:txBody>
          <a:bodyPr vert="horz" wrap="square" lIns="91440" tIns="45720" rIns="91440" bIns="45720" anchor="t" anchorCtr="0"/>
          <a:p>
            <a:pPr>
              <a:lnSpc>
                <a:spcPct val="120000"/>
              </a:lnSpc>
              <a:buFont typeface="Wingdings" panose="05000000000000000000" charset="0"/>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由表达式的三种不同的标识方法，可得到以下结论：</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操作数之间的相对次序不变。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运算符的相对次序不同。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中缀式</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丢失了括弧信息，致使</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运算的次序不确定</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前缀式</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的运算规则为：连续出现的两个操作数和在它们之前且紧靠它们的运算符构成一最小表达式。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后缀式</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的运算规则为：运算符在式中出现的顺序恰为表达式的运算顺序；每个运算符和在它之前出现且紧靠它的两个操作数构成一个最小表达式。</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算术表达式求值</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1" name="Rectangle 3"/>
          <p:cNvSpPr>
            <a:spLocks noGrp="1"/>
          </p:cNvSpPr>
          <p:nvPr>
            <p:ph idx="1"/>
          </p:nvPr>
        </p:nvSpPr>
        <p:spPr>
          <a:xfrm>
            <a:off x="538480" y="1189355"/>
            <a:ext cx="10815320" cy="4987925"/>
          </a:xfrm>
        </p:spPr>
        <p:txBody>
          <a:bodyPr vert="horz" wrap="square" lIns="91440" tIns="45720" rIns="91440" bIns="45720" anchor="t" anchorCtr="0"/>
          <a:p>
            <a:pPr>
              <a:lnSpc>
                <a:spcPct val="10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BinaryExpTree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是用二叉链表结构定义的表达式类，在建立了二叉算术表达式树后，类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BinaryExpTree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的求值过程（成员函数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_Evaluate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）如下</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1932305" y="2367280"/>
            <a:ext cx="8278495" cy="357632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用后序遍历的方式对表达式树求值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BinaryExpTree ::_Evaluate(BTnode* &amp;T)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if(!T-&gt;Lchild &amp;&amp; !T-&gt;Rchild )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T-&gt;data – ‘0’;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字符型转换成整型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return _Opreate(_Evaluate(T-&gt;Lchild),T-&gt;data,</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_Evaluate(T-&gt;Rchild));</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0;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算术表达式求值</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5" name="Rectangle 3"/>
          <p:cNvSpPr>
            <a:spLocks noGrp="1"/>
          </p:cNvSpPr>
          <p:nvPr>
            <p:ph idx="1"/>
          </p:nvPr>
        </p:nvSpPr>
        <p:spPr>
          <a:xfrm>
            <a:off x="429260" y="1017270"/>
            <a:ext cx="10924540" cy="5160010"/>
          </a:xfrm>
        </p:spPr>
        <p:txBody>
          <a:bodyPr vert="horz" wrap="square" lIns="91440" tIns="45720" rIns="91440" bIns="45720" anchor="t" anchorCtr="0"/>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成员函数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_Opreate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过程如下</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1568450" y="1752600"/>
            <a:ext cx="8642350" cy="454723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字符</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theta</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决定</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与</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执行何种运算 </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BinaryExpTree::_Opreate(const int &amp;a,const char &amp;theta,</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const int &amp;b)</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c;</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switch (theta)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case '+' : c = a + b;</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break;</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case '-' : c = a - b;</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break;</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case '*' : c=  a * b;</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break;</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case'/' : c = a / b;</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c;</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算术表达式求值</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9" name="Rectangle 3"/>
          <p:cNvSpPr>
            <a:spLocks noGrp="1"/>
          </p:cNvSpPr>
          <p:nvPr>
            <p:ph idx="1"/>
          </p:nvPr>
        </p:nvSpPr>
        <p:spPr>
          <a:xfrm>
            <a:off x="591820" y="1147445"/>
            <a:ext cx="9618980" cy="4948555"/>
          </a:xfrm>
        </p:spPr>
        <p:txBody>
          <a:bodyPr vert="horz" wrap="square" lIns="91440" tIns="45720" rIns="91440" bIns="45720" anchor="t" anchorCtr="0"/>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成员函数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_ Create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过程如下：</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1450975" y="1626235"/>
            <a:ext cx="8836025" cy="446976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已知二叉树的先序遍历次序及中序遍历次序，建立二叉树</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  </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其中：</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ch1[]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为表达式的前缀表示，</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ch2[]</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为表达式的中缀表示，</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low</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high</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分别为中</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缀次序的起始位置和最终位置，本函数根据先序次序和中序次序的形成规</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律，运用先序递归遍历的思想逐个为先序次序中的第</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个元素（</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的初值为</a:t>
            </a: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生成二叉链表中的结点。</a:t>
            </a: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BinaryExpTree :: _Create (BTnode* &amp;T,char ch1[],</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char ch2[],int low,int high,int &amp;k)</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i;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 (low &gt; high)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 = NULL;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else {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 = new BTnode;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T-&gt;data = ch1[k];   </a:t>
            </a: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算术表达式求值</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3" name="Rectangle 3"/>
          <p:cNvSpPr>
            <a:spLocks noGrp="1"/>
          </p:cNvSpPr>
          <p:nvPr>
            <p:ph idx="1"/>
          </p:nvPr>
        </p:nvSpPr>
        <p:spPr>
          <a:xfrm>
            <a:off x="737235" y="1143000"/>
            <a:ext cx="9473565" cy="457200"/>
          </a:xfrm>
        </p:spPr>
        <p:txBody>
          <a:bodyPr vert="horz" wrap="square" lIns="91440" tIns="45720" rIns="91440" bIns="45720" anchor="t" anchorCtr="0">
            <a:noAutofit/>
          </a:bodyPr>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成员函数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_ Create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过程如下：</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sz="19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975995" y="1676400"/>
            <a:ext cx="9062720" cy="2743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25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查找</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在中序中的位置，从而划分</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 L R</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for(i=</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low;i</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&lt;=high &amp;&amp; ch2[i]!=ch1[k];i++);</a:t>
            </a:r>
            <a:r>
              <a:rPr kumimoji="0" lang="en-US" altLang="zh-CN" sz="1800" b="0"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_Create (T-&gt;Lchild,ch1,ch2,low,i-1,k);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建立左子树</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_Create (T-&gt;Rchild,ch1,ch2,i+1,high,k); // </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建立右子树</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0" i="0" u="none" strike="noStrike" kern="1200" cap="none" spc="0" normalizeH="0" baseline="0" noProof="0" dirty="0" err="1">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endif</a:t>
            </a: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7525" name="Rectangle 6"/>
          <p:cNvSpPr/>
          <p:nvPr/>
        </p:nvSpPr>
        <p:spPr>
          <a:xfrm>
            <a:off x="5942965" y="24631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07526" name="Object 5"/>
          <p:cNvGraphicFramePr>
            <a:graphicFrameLocks noChangeAspect="1"/>
          </p:cNvGraphicFramePr>
          <p:nvPr/>
        </p:nvGraphicFramePr>
        <p:xfrm>
          <a:off x="2110740" y="4419600"/>
          <a:ext cx="6804660" cy="2405380"/>
        </p:xfrm>
        <a:graphic>
          <a:graphicData uri="http://schemas.openxmlformats.org/presentationml/2006/ole">
            <mc:AlternateContent xmlns:mc="http://schemas.openxmlformats.org/markup-compatibility/2006">
              <mc:Choice xmlns:v="urn:schemas-microsoft-com:vml" Requires="v">
                <p:oleObj spid="_x0000_s3083" name="" r:id="rId1" imgW="5295900" imgH="2095500" progId="Visio.Drawing.11">
                  <p:embed/>
                </p:oleObj>
              </mc:Choice>
              <mc:Fallback>
                <p:oleObj name="" r:id="rId1" imgW="5295900" imgH="2095500" progId="Visio.Drawing.11">
                  <p:embed/>
                  <p:pic>
                    <p:nvPicPr>
                      <p:cNvPr id="0" name="图片 3082"/>
                      <p:cNvPicPr/>
                      <p:nvPr/>
                    </p:nvPicPr>
                    <p:blipFill>
                      <a:blip r:embed="rId2"/>
                      <a:stretch>
                        <a:fillRect/>
                      </a:stretch>
                    </p:blipFill>
                    <p:spPr>
                      <a:xfrm>
                        <a:off x="2110740" y="4419600"/>
                        <a:ext cx="6804660" cy="2405380"/>
                      </a:xfrm>
                      <a:prstGeom prst="rect">
                        <a:avLst/>
                      </a:prstGeom>
                      <a:noFill/>
                      <a:ln w="38100">
                        <a:noFill/>
                        <a:miter/>
                      </a:ln>
                    </p:spPr>
                  </p:pic>
                </p:oleObj>
              </mc:Fallback>
            </mc:AlternateContent>
          </a:graphicData>
        </a:graphic>
      </p:graphicFrame>
      <p:sp>
        <p:nvSpPr>
          <p:cNvPr id="107527" name="Rectangle 8"/>
          <p:cNvSpPr/>
          <p:nvPr/>
        </p:nvSpPr>
        <p:spPr>
          <a:xfrm>
            <a:off x="5942965" y="24631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算术表达式求值</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7" name="Rectangle 3"/>
          <p:cNvSpPr>
            <a:spLocks noGrp="1"/>
          </p:cNvSpPr>
          <p:nvPr>
            <p:ph idx="1"/>
          </p:nvPr>
        </p:nvSpPr>
        <p:spPr>
          <a:xfrm>
            <a:off x="335280" y="1372870"/>
            <a:ext cx="9192260" cy="1600200"/>
          </a:xfrm>
        </p:spPr>
        <p:txBody>
          <a:bodyPr vert="horz" wrap="square" lIns="91440" tIns="45720" rIns="91440" bIns="45720" anchor="t" anchorCtr="0"/>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完整的算术表达式求值类代码：</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P137</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548" name="Rectangle 5"/>
          <p:cNvSpPr/>
          <p:nvPr/>
        </p:nvSpPr>
        <p:spPr>
          <a:xfrm>
            <a:off x="5942965" y="248221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4.4.1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算术表达式求值</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1" name="Rectangle 3"/>
          <p:cNvSpPr>
            <a:spLocks noGrp="1"/>
          </p:cNvSpPr>
          <p:nvPr>
            <p:ph idx="1"/>
          </p:nvPr>
        </p:nvSpPr>
        <p:spPr>
          <a:xfrm>
            <a:off x="725170" y="1280795"/>
            <a:ext cx="11123930" cy="5067935"/>
          </a:xfrm>
        </p:spPr>
        <p:txBody>
          <a:bodyPr vert="horz" wrap="square" lIns="91440" tIns="45720" rIns="91440" bIns="45720" anchor="t" anchorCtr="0">
            <a:normAutofit/>
          </a:bodyPr>
          <a:p>
            <a:pPr>
              <a:lnSpc>
                <a:spcPct val="18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等价关系</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若集合</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中的关系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是自反的、对称的和可传递的，则称它是一个等价关系。</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8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等价类</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是集合</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的等价关系，对任意</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，由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 R 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给出的集合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包含于</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i="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称为由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生成的一个</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等价类。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8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上的一个等价关系，由</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可以产生这个集合</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的一个唯一的划分</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。这些集合互不相交，其并为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，则这些子集</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便称为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等价类。</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8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等价类问题可描述为：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假设集合</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有</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个元素，已知</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个形如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的等价偶对确定了等价关系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，求</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的划分。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9572"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5" name="Rectangle 3"/>
          <p:cNvSpPr>
            <a:spLocks noGrp="1"/>
          </p:cNvSpPr>
          <p:nvPr>
            <p:ph idx="1"/>
          </p:nvPr>
        </p:nvSpPr>
        <p:spPr>
          <a:xfrm>
            <a:off x="719455" y="1162685"/>
            <a:ext cx="10634345" cy="5014595"/>
          </a:xfrm>
        </p:spPr>
        <p:txBody>
          <a:bodyPr vert="horz" wrap="square" lIns="91440" tIns="45720" rIns="91440" bIns="45720" anchor="t" anchorCtr="0">
            <a:noAutofit/>
          </a:bodyPr>
          <a:p>
            <a:pPr>
              <a:lnSpc>
                <a:spcPct val="130000"/>
              </a:lnSpc>
              <a:buFont typeface="Wingdings" panose="05000000000000000000" charset="0"/>
              <a:buChar char="Ø"/>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求解等价类问题的算法如下：</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8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令</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中每个元素各自形成一个只含单个成员的子集，记作</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8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重复读入</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个关系（偶对），对每个读入的偶对（</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），判定</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所属的子集，若这两个子集不相等，则合并它们并取代这两个子集。</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8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当所有的</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个关系处理完后，剩下的这些非空子集即为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等价类。</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0596"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9" name="Rectangle 3"/>
          <p:cNvSpPr>
            <a:spLocks noGrp="1"/>
          </p:cNvSpPr>
          <p:nvPr>
            <p:ph idx="1"/>
          </p:nvPr>
        </p:nvSpPr>
        <p:spPr>
          <a:xfrm>
            <a:off x="828675" y="1435100"/>
            <a:ext cx="10525125" cy="4742180"/>
          </a:xfrm>
        </p:spPr>
        <p:txBody>
          <a:bodyPr vert="horz" wrap="square" lIns="91440" tIns="45720" rIns="91440" bIns="45720" anchor="t" anchorCtr="0"/>
          <a:p>
            <a:pPr marL="0" indent="0">
              <a:lnSpc>
                <a:spcPct val="140000"/>
              </a:lnSpc>
              <a:buFont typeface="Wingdings" panose="05000000000000000000" charset="0"/>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有一个集合</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d,</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f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4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初始时每个元素各自形成一个等价类：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4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设有等价关系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e, f</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4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则当讨论完等价关系</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中的偶对后，集合中的元素形成二个等价类：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e</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f</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d</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1620"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求解等价类问题的示例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3" name="Rectangle 3"/>
          <p:cNvSpPr>
            <a:spLocks noGrp="1"/>
          </p:cNvSpPr>
          <p:nvPr>
            <p:ph idx="1"/>
          </p:nvPr>
        </p:nvSpPr>
        <p:spPr>
          <a:xfrm>
            <a:off x="619760" y="1180465"/>
            <a:ext cx="10734040" cy="4996815"/>
          </a:xfrm>
        </p:spPr>
        <p:txBody>
          <a:bodyPr vert="horz" wrap="square" lIns="91440" tIns="45720" rIns="91440" bIns="45720" anchor="t" anchorCtr="0"/>
          <a:p>
            <a:pPr>
              <a:lnSpc>
                <a:spcPct val="160000"/>
              </a:lnSpc>
              <a:buFont typeface="Wingdings" panose="05000000000000000000" charset="0"/>
              <a:buChar char="Ø"/>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由求解等价类问题的算法可知，划分等价类需对集合进行以下的几个基本操作：</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构造只含一个元素的集合。</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判定某个元素所在的子集。</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合并两个互不相交的集合</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buFont typeface="Wingdings" panose="05000000000000000000" charset="0"/>
              <a:buChar char="Ø"/>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这些基本操作的实现当然需建立在存储结构的基础上，静态树表中的双亲表示法是一合适的选择。</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2644"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2438400" y="4419600"/>
            <a:ext cx="7315200" cy="1600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PTnode.h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PTnode{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char data;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结点的数据域</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parent;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结点的双亲游标</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7" name="Rectangle 3"/>
          <p:cNvSpPr>
            <a:spLocks noGrp="1"/>
          </p:cNvSpPr>
          <p:nvPr>
            <p:ph idx="1"/>
          </p:nvPr>
        </p:nvSpPr>
        <p:spPr>
          <a:xfrm>
            <a:off x="548005" y="1207770"/>
            <a:ext cx="10805795" cy="4969510"/>
          </a:xfrm>
        </p:spPr>
        <p:txBody>
          <a:bodyPr vert="horz" wrap="square" lIns="91440" tIns="45720" rIns="91440" bIns="45720" anchor="t" anchorCtr="0"/>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用双亲表示法结构表示，求解等价类问题的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MEset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可如下定义：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3668"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2011045" y="1883410"/>
            <a:ext cx="7742555" cy="429387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//MEset.h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#ifndef H_MEset_H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#define H_MEset_H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#include &lt;iostream&gt;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#include "PTnode.h"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using namespace std;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class MEset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public:</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构造函数：分配</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个存储单元的顺序空间</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MEset(int n):m_len(0),m_size(n)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m_nodes = new PTnode[n];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1" name="Rectangle 3"/>
          <p:cNvSpPr>
            <a:spLocks noGrp="1"/>
          </p:cNvSpPr>
          <p:nvPr>
            <p:ph idx="1"/>
          </p:nvPr>
        </p:nvSpPr>
        <p:spPr>
          <a:xfrm>
            <a:off x="492760" y="1244600"/>
            <a:ext cx="10861040" cy="4932680"/>
          </a:xfrm>
        </p:spPr>
        <p:txBody>
          <a:bodyPr vert="horz" wrap="square" lIns="91440" tIns="45720" rIns="91440" bIns="45720" anchor="t" anchorCtr="0"/>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MEset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定义（续）：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4692"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1981200" y="1739265"/>
            <a:ext cx="8229600" cy="463105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析构函数：释放空间</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~MEset()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delete[] m_nodes;</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bool Create( char [], const int &amp;);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建立集合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Display();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显示当前集合的状态</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LocateElem( const char &amp;);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查找元素在集合中的位置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FindRoot( const int &amp;);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查找元素所处集合的根</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Merge( const int &amp;, const int &amp;);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合并两个集合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EffMerge( const int &amp;, const int &amp;);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高效合并两个集合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private: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m_len;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m_size;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PTnode *m_nodes;</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5" name="Rectangle 3"/>
          <p:cNvSpPr>
            <a:spLocks noGrp="1"/>
          </p:cNvSpPr>
          <p:nvPr>
            <p:ph idx="1"/>
          </p:nvPr>
        </p:nvSpPr>
        <p:spPr>
          <a:xfrm>
            <a:off x="538480" y="1198880"/>
            <a:ext cx="10815320" cy="4978400"/>
          </a:xfrm>
        </p:spPr>
        <p:txBody>
          <a:bodyPr vert="horz" wrap="square" lIns="91440" tIns="45720" rIns="91440" bIns="45720" anchor="t" anchorCtr="0"/>
          <a:p>
            <a:pPr>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构造函数为存储集合中的数据元素分配了</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个（双亲表示法结点结构）存储单元的顺序空间。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5716"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15717" name="Rectangle 7"/>
          <p:cNvSpPr/>
          <p:nvPr/>
        </p:nvSpPr>
        <p:spPr>
          <a:xfrm>
            <a:off x="5942965" y="-18478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15718" name="Object 6"/>
          <p:cNvGraphicFramePr>
            <a:graphicFrameLocks noChangeAspect="1"/>
          </p:cNvGraphicFramePr>
          <p:nvPr/>
        </p:nvGraphicFramePr>
        <p:xfrm>
          <a:off x="1135380" y="2362200"/>
          <a:ext cx="8714740" cy="3019425"/>
        </p:xfrm>
        <a:graphic>
          <a:graphicData uri="http://schemas.openxmlformats.org/presentationml/2006/ole">
            <mc:AlternateContent xmlns:mc="http://schemas.openxmlformats.org/markup-compatibility/2006">
              <mc:Choice xmlns:v="urn:schemas-microsoft-com:vml" Requires="v">
                <p:oleObj spid="_x0000_s3084" name="" r:id="rId1" imgW="4559300" imgH="1587500" progId="Visio.Drawing.11">
                  <p:embed/>
                </p:oleObj>
              </mc:Choice>
              <mc:Fallback>
                <p:oleObj name="" r:id="rId1" imgW="4559300" imgH="1587500" progId="Visio.Drawing.11">
                  <p:embed/>
                  <p:pic>
                    <p:nvPicPr>
                      <p:cNvPr id="0" name="图片 3083"/>
                      <p:cNvPicPr/>
                      <p:nvPr/>
                    </p:nvPicPr>
                    <p:blipFill>
                      <a:blip r:embed="rId2"/>
                      <a:stretch>
                        <a:fillRect/>
                      </a:stretch>
                    </p:blipFill>
                    <p:spPr>
                      <a:xfrm>
                        <a:off x="1135380" y="2362200"/>
                        <a:ext cx="8714740" cy="3019425"/>
                      </a:xfrm>
                      <a:prstGeom prst="rect">
                        <a:avLst/>
                      </a:prstGeom>
                      <a:noFill/>
                      <a:ln w="38100">
                        <a:noFill/>
                        <a:miter/>
                      </a:ln>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9" name="Rectangle 3"/>
          <p:cNvSpPr>
            <a:spLocks noGrp="1"/>
          </p:cNvSpPr>
          <p:nvPr>
            <p:ph idx="1"/>
          </p:nvPr>
        </p:nvSpPr>
        <p:spPr>
          <a:xfrm>
            <a:off x="638810" y="1198880"/>
            <a:ext cx="10714990" cy="4978400"/>
          </a:xfrm>
        </p:spPr>
        <p:txBody>
          <a:bodyPr vert="horz" wrap="square" lIns="91440" tIns="45720" rIns="91440" bIns="45720" anchor="t" anchorCtr="0"/>
          <a:p>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个只含一个元素的等价类的过程</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（成员函数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Create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6740"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2133600" y="1905000"/>
            <a:ext cx="8229600" cy="4038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建立</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个集合（初始时每一集合只有一个元素）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bool MEset::Create( char ch[], int const &amp;n)</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i = 0;</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 n &gt; m_size)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false;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while ( i &lt; n){</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m_nodes[i].data = ch[i];</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m_nodes[i].parent = -1;</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m_len = n;</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true;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3" name="Rectangle 3"/>
          <p:cNvSpPr>
            <a:spLocks noGrp="1"/>
          </p:cNvSpPr>
          <p:nvPr>
            <p:ph idx="1"/>
          </p:nvPr>
        </p:nvSpPr>
        <p:spPr>
          <a:xfrm>
            <a:off x="711835" y="1171575"/>
            <a:ext cx="10641965" cy="5005705"/>
          </a:xfrm>
        </p:spPr>
        <p:txBody>
          <a:bodyPr vert="horz" wrap="square" lIns="91440" tIns="45720" rIns="91440" bIns="45720" anchor="t" anchorCtr="0"/>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个等价类实际上是建立了含有</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棵子树的森林，如下图所示。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764"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17765" name="Rectangle 5"/>
          <p:cNvSpPr/>
          <p:nvPr/>
        </p:nvSpPr>
        <p:spPr>
          <a:xfrm>
            <a:off x="5942965" y="-18478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17766" name="Rectangle 8"/>
          <p:cNvSpPr/>
          <p:nvPr/>
        </p:nvSpPr>
        <p:spPr>
          <a:xfrm>
            <a:off x="5942965" y="26536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17767" name="Object 7"/>
          <p:cNvGraphicFramePr>
            <a:graphicFrameLocks noChangeAspect="1"/>
          </p:cNvGraphicFramePr>
          <p:nvPr/>
        </p:nvGraphicFramePr>
        <p:xfrm>
          <a:off x="1513205" y="2174875"/>
          <a:ext cx="8590915" cy="2977515"/>
        </p:xfrm>
        <a:graphic>
          <a:graphicData uri="http://schemas.openxmlformats.org/presentationml/2006/ole">
            <mc:AlternateContent xmlns:mc="http://schemas.openxmlformats.org/markup-compatibility/2006">
              <mc:Choice xmlns:v="urn:schemas-microsoft-com:vml" Requires="v">
                <p:oleObj spid="_x0000_s3085" name="" r:id="rId1" imgW="4559300" imgH="1587500" progId="Visio.Drawing.11">
                  <p:embed/>
                </p:oleObj>
              </mc:Choice>
              <mc:Fallback>
                <p:oleObj name="" r:id="rId1" imgW="4559300" imgH="1587500" progId="Visio.Drawing.11">
                  <p:embed/>
                  <p:pic>
                    <p:nvPicPr>
                      <p:cNvPr id="0" name="图片 3084"/>
                      <p:cNvPicPr/>
                      <p:nvPr/>
                    </p:nvPicPr>
                    <p:blipFill>
                      <a:blip r:embed="rId2"/>
                      <a:stretch>
                        <a:fillRect/>
                      </a:stretch>
                    </p:blipFill>
                    <p:spPr>
                      <a:xfrm>
                        <a:off x="1513205" y="2174875"/>
                        <a:ext cx="8590915" cy="2977515"/>
                      </a:xfrm>
                      <a:prstGeom prst="rect">
                        <a:avLst/>
                      </a:prstGeom>
                      <a:noFill/>
                      <a:ln w="38100">
                        <a:noFill/>
                        <a:miter/>
                      </a:ln>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7" name="Rectangle 3"/>
          <p:cNvSpPr>
            <a:spLocks noGrp="1"/>
          </p:cNvSpPr>
          <p:nvPr>
            <p:ph idx="1"/>
          </p:nvPr>
        </p:nvSpPr>
        <p:spPr>
          <a:xfrm>
            <a:off x="420370" y="1153160"/>
            <a:ext cx="10933430" cy="5024120"/>
          </a:xfrm>
        </p:spPr>
        <p:txBody>
          <a:bodyPr vert="horz" wrap="square" lIns="91440" tIns="45720" rIns="91440" bIns="45720" anchor="t" anchorCtr="0"/>
          <a:p>
            <a:pPr>
              <a:lnSpc>
                <a:spcPct val="14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读入偶对(</a:t>
            </a:r>
            <a:r>
              <a:rPr lang="zh-CN" altLang="zh-CN" sz="2000" i="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i="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)如何判定某个元素所在的子集（子树），又如何合并两个互不相交的子集（子树）</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4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首先，</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分别查找元素</a:t>
            </a:r>
            <a:r>
              <a:rPr lang="en-US" altLang="zh-CN" sz="20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在数组中的位置</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8788"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1383665" y="2819400"/>
            <a:ext cx="8674735" cy="335724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查找元素</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在集合中的位置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MEset::LocateElem(const char &amp;e)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i=0;</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while ( i &lt; m_len &amp;&amp; m_nodes[i].data != e)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 (i &gt;= m_len)</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-1;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i;</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1" name="Rectangle 3"/>
          <p:cNvSpPr>
            <a:spLocks noGrp="1"/>
          </p:cNvSpPr>
          <p:nvPr>
            <p:ph idx="1"/>
          </p:nvPr>
        </p:nvSpPr>
        <p:spPr>
          <a:xfrm>
            <a:off x="681990" y="1131570"/>
            <a:ext cx="10512425" cy="5285740"/>
          </a:xfrm>
        </p:spPr>
        <p:txBody>
          <a:bodyPr vert="horz" wrap="square" lIns="91440" tIns="45720" rIns="91440" bIns="45720" anchor="t" anchorCtr="0"/>
          <a:p>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接着分别查找位序是</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j</a:t>
            </a: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的数据元素所处子集（子树）的根</a:t>
            </a: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9812"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1522095" y="1863090"/>
            <a:ext cx="8815705" cy="278511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查找位序是</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的元素所处集合的根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MEset::FindRoot(const int &amp;i)</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k;</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for ( k = i; m_nodes[k].parent &gt;= 0; k = m_nodes[k].parent);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return k;</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5" name="Rectangle 3"/>
          <p:cNvSpPr>
            <a:spLocks noGrp="1"/>
          </p:cNvSpPr>
          <p:nvPr>
            <p:ph idx="1"/>
          </p:nvPr>
        </p:nvSpPr>
        <p:spPr>
          <a:xfrm>
            <a:off x="546100" y="1295400"/>
            <a:ext cx="11264900" cy="4876800"/>
          </a:xfrm>
        </p:spPr>
        <p:txBody>
          <a:bodyPr vert="horz" wrap="square" lIns="91440" tIns="45720" rIns="91440" bIns="45720" anchor="t" anchorCtr="0"/>
          <a:p>
            <a:pPr>
              <a:lnSpc>
                <a:spcPct val="110000"/>
              </a:lnSpc>
            </a:pP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若元素</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在集合中所处子集（子树）的根不同（</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j</a:t>
            </a:r>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），则合并之</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即，</a:t>
            </a:r>
            <a:r>
              <a:rPr lang="zh-CN" altLang="en-US"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将一棵子树根的位置写入另一棵子树根的</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parent</a:t>
            </a:r>
            <a:r>
              <a:rPr lang="zh-CN" altLang="en-US"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域</a:t>
            </a:r>
            <a:r>
              <a:rPr lang="zh-CN" altLang="en-US" sz="2400" b="1" dirty="0">
                <a:solidFill>
                  <a:schemeClr val="accent1"/>
                </a:solidFill>
              </a:rPr>
              <a:t>。</a:t>
            </a:r>
            <a:endParaRPr lang="zh-CN" altLang="en-US" sz="2400" b="1" dirty="0">
              <a:solidFill>
                <a:schemeClr val="accent1"/>
              </a:solidFill>
            </a:endParaRPr>
          </a:p>
        </p:txBody>
      </p:sp>
      <p:sp>
        <p:nvSpPr>
          <p:cNvPr id="120836"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1438275" y="2514600"/>
            <a:ext cx="8924925" cy="182562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合并根的位置是</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的两个集合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MEset::Merge( const int &amp;i, const int &amp;j)</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m_nodes[i].parent = j;</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9" name="Rectangle 3"/>
          <p:cNvSpPr>
            <a:spLocks noGrp="1"/>
          </p:cNvSpPr>
          <p:nvPr>
            <p:ph idx="1"/>
          </p:nvPr>
        </p:nvSpPr>
        <p:spPr>
          <a:xfrm>
            <a:off x="483870" y="1071880"/>
            <a:ext cx="10869930" cy="5105400"/>
          </a:xfrm>
        </p:spPr>
        <p:txBody>
          <a:bodyPr vert="horz" wrap="square" lIns="91440" tIns="45720" rIns="91440" bIns="45720" anchor="t" anchorCtr="0"/>
          <a:p>
            <a:pPr>
              <a:lnSpc>
                <a:spcPct val="19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如偶对</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中的数据元素</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所属子集（子树）为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，数据元素</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所属子集（子树）为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，如下图所示，则有：</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m_nodes[0].parent=2</a:t>
            </a:r>
            <a:r>
              <a:rPr lang="zh-CN" altLang="en-US" sz="2000" dirty="0"/>
              <a:t>。</a:t>
            </a:r>
            <a:endParaRPr lang="zh-CN" altLang="en-US" sz="2000" dirty="0"/>
          </a:p>
          <a:p>
            <a:pPr>
              <a:lnSpc>
                <a:spcPct val="170000"/>
              </a:lnSpc>
              <a:buNone/>
            </a:pPr>
            <a:r>
              <a:rPr lang="zh-CN" altLang="en-US" sz="2400" dirty="0"/>
              <a:t> </a:t>
            </a:r>
            <a:endParaRPr lang="en-US" altLang="zh-CN" sz="2400" dirty="0"/>
          </a:p>
        </p:txBody>
      </p:sp>
      <p:sp>
        <p:nvSpPr>
          <p:cNvPr id="121860"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1861" name="Rectangle 5"/>
          <p:cNvSpPr/>
          <p:nvPr/>
        </p:nvSpPr>
        <p:spPr>
          <a:xfrm>
            <a:off x="5942965" y="-18478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1862" name="Rectangle 6"/>
          <p:cNvSpPr/>
          <p:nvPr/>
        </p:nvSpPr>
        <p:spPr>
          <a:xfrm>
            <a:off x="5942965" y="26536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1863" name="Rectangle 9"/>
          <p:cNvSpPr/>
          <p:nvPr/>
        </p:nvSpPr>
        <p:spPr>
          <a:xfrm>
            <a:off x="5942965" y="26536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pic>
        <p:nvPicPr>
          <p:cNvPr id="121864" name="Picture 10"/>
          <p:cNvPicPr>
            <a:picLocks noChangeAspect="1"/>
          </p:cNvPicPr>
          <p:nvPr/>
        </p:nvPicPr>
        <p:blipFill>
          <a:blip r:embed="rId1"/>
          <a:stretch>
            <a:fillRect/>
          </a:stretch>
        </p:blipFill>
        <p:spPr>
          <a:xfrm>
            <a:off x="1356360" y="2508250"/>
            <a:ext cx="8767445" cy="3194050"/>
          </a:xfrm>
          <a:prstGeom prst="rect">
            <a:avLst/>
          </a:prstGeom>
          <a:noFill/>
          <a:ln w="3175">
            <a:noFill/>
          </a:ln>
        </p:spPr>
      </p:pic>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3" name="Rectangle 3"/>
          <p:cNvSpPr>
            <a:spLocks noGrp="1"/>
          </p:cNvSpPr>
          <p:nvPr>
            <p:ph idx="1"/>
          </p:nvPr>
        </p:nvSpPr>
        <p:spPr>
          <a:xfrm>
            <a:off x="691515" y="1050290"/>
            <a:ext cx="10754995" cy="5453380"/>
          </a:xfrm>
        </p:spPr>
        <p:txBody>
          <a:bodyPr vert="horz" wrap="square" lIns="91440" tIns="45720" rIns="91440" bIns="45720" anchor="t" anchorCtr="0">
            <a:normAutofit lnSpcReduction="10000"/>
          </a:bodyPr>
          <a:p>
            <a:pPr>
              <a:lnSpc>
                <a:spcPct val="140000"/>
              </a:lnSpc>
            </a:pPr>
            <a:r>
              <a:rPr lang="zh-CN" altLang="en-US" sz="2000" dirty="0">
                <a:latin typeface="微软雅黑" panose="020B0503020204020204" pitchFamily="34" charset="-122"/>
                <a:ea typeface="微软雅黑" panose="020B0503020204020204" pitchFamily="34" charset="-122"/>
              </a:rPr>
              <a:t>这种方法有可能出现单支树的情形，使得查找某一数据元素所处子集（子树）的根时，搜索长度达到最大如下图所示。</a:t>
            </a:r>
            <a:r>
              <a:rPr lang="zh-CN" altLang="en-US" sz="2000" dirty="0"/>
              <a:t> </a:t>
            </a:r>
            <a:endParaRPr lang="zh-CN" altLang="en-US" sz="2000" dirty="0"/>
          </a:p>
          <a:p>
            <a:pPr>
              <a:lnSpc>
                <a:spcPct val="130000"/>
              </a:lnSpc>
              <a:buNone/>
            </a:pPr>
            <a:endParaRPr lang="zh-CN" altLang="en-US" sz="2000" dirty="0"/>
          </a:p>
          <a:p>
            <a:pPr>
              <a:lnSpc>
                <a:spcPct val="130000"/>
              </a:lnSpc>
              <a:buNone/>
            </a:pPr>
            <a:endParaRPr lang="zh-CN" altLang="en-US" sz="2000" dirty="0"/>
          </a:p>
          <a:p>
            <a:pPr>
              <a:lnSpc>
                <a:spcPct val="130000"/>
              </a:lnSpc>
              <a:buNone/>
            </a:pPr>
            <a:endParaRPr lang="zh-CN" altLang="en-US" sz="2000" dirty="0"/>
          </a:p>
          <a:p>
            <a:pPr>
              <a:lnSpc>
                <a:spcPct val="130000"/>
              </a:lnSpc>
              <a:buNone/>
            </a:pPr>
            <a:endParaRPr lang="zh-CN" altLang="en-US" sz="2000" dirty="0"/>
          </a:p>
          <a:p>
            <a:pPr>
              <a:lnSpc>
                <a:spcPct val="130000"/>
              </a:lnSpc>
              <a:buNone/>
            </a:pPr>
            <a:endParaRPr lang="zh-CN" altLang="en-US" sz="2000" dirty="0"/>
          </a:p>
          <a:p>
            <a:pPr>
              <a:lnSpc>
                <a:spcPct val="130000"/>
              </a:lnSpc>
              <a:buNone/>
            </a:pPr>
            <a:endParaRPr lang="zh-CN" altLang="en-US" sz="2000" dirty="0"/>
          </a:p>
          <a:p>
            <a:pPr>
              <a:lnSpc>
                <a:spcPct val="14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假设</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个集合</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每个子集只有一个元素</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Si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棵只有一个根节点的树表示，则在做了</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次并操作后，最后得到的集合（树）深度平均为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log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，最坏时为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2884"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2885" name="Rectangle 5"/>
          <p:cNvSpPr/>
          <p:nvPr/>
        </p:nvSpPr>
        <p:spPr>
          <a:xfrm>
            <a:off x="5942965" y="-18478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2886" name="Rectangle 6"/>
          <p:cNvSpPr/>
          <p:nvPr/>
        </p:nvSpPr>
        <p:spPr>
          <a:xfrm>
            <a:off x="5942965" y="26536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2887" name="Rectangle 7"/>
          <p:cNvSpPr/>
          <p:nvPr/>
        </p:nvSpPr>
        <p:spPr>
          <a:xfrm>
            <a:off x="5942965" y="26536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2888" name="Rectangle 10"/>
          <p:cNvSpPr/>
          <p:nvPr/>
        </p:nvSpPr>
        <p:spPr>
          <a:xfrm>
            <a:off x="5942965" y="2525078"/>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22889" name="Object 9"/>
          <p:cNvGraphicFramePr>
            <a:graphicFrameLocks noChangeAspect="1"/>
          </p:cNvGraphicFramePr>
          <p:nvPr/>
        </p:nvGraphicFramePr>
        <p:xfrm>
          <a:off x="2590800" y="2209800"/>
          <a:ext cx="6248400" cy="2335213"/>
        </p:xfrm>
        <a:graphic>
          <a:graphicData uri="http://schemas.openxmlformats.org/presentationml/2006/ole">
            <mc:AlternateContent xmlns:mc="http://schemas.openxmlformats.org/markup-compatibility/2006">
              <mc:Choice xmlns:v="urn:schemas-microsoft-com:vml" Requires="v">
                <p:oleObj spid="_x0000_s3086" name="" r:id="rId1" imgW="5143500" imgH="1930400" progId="Visio.Drawing.11">
                  <p:embed/>
                </p:oleObj>
              </mc:Choice>
              <mc:Fallback>
                <p:oleObj name="" r:id="rId1" imgW="5143500" imgH="1930400" progId="Visio.Drawing.11">
                  <p:embed/>
                  <p:pic>
                    <p:nvPicPr>
                      <p:cNvPr id="0" name="图片 3085"/>
                      <p:cNvPicPr/>
                      <p:nvPr/>
                    </p:nvPicPr>
                    <p:blipFill>
                      <a:blip r:embed="rId2"/>
                      <a:stretch>
                        <a:fillRect/>
                      </a:stretch>
                    </p:blipFill>
                    <p:spPr>
                      <a:xfrm>
                        <a:off x="2590800" y="2209800"/>
                        <a:ext cx="6248400" cy="2335213"/>
                      </a:xfrm>
                      <a:prstGeom prst="rect">
                        <a:avLst/>
                      </a:prstGeom>
                      <a:noFill/>
                      <a:ln w="38100">
                        <a:noFill/>
                        <a:miter/>
                      </a:ln>
                    </p:spPr>
                  </p:pic>
                </p:oleObj>
              </mc:Fallback>
            </mc:AlternateContent>
          </a:graphicData>
        </a:graphic>
      </p:graphicFrame>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7" name="Rectangle 3"/>
          <p:cNvSpPr>
            <a:spLocks noGrp="1"/>
          </p:cNvSpPr>
          <p:nvPr>
            <p:ph idx="1"/>
          </p:nvPr>
        </p:nvSpPr>
        <p:spPr>
          <a:xfrm>
            <a:off x="682625" y="1113790"/>
            <a:ext cx="10346690" cy="5058410"/>
          </a:xfrm>
        </p:spPr>
        <p:txBody>
          <a:bodyPr vert="horz" wrap="square" lIns="91440" tIns="45720" rIns="91440" bIns="45720" anchor="t" anchorCtr="0"/>
          <a:p>
            <a:pPr>
              <a:lnSpc>
                <a:spcPct val="17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为确保集合（树）的深度任何情况下不超出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log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，则需对合并方法进行改良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7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子树的根结点的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parent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域存储子树中所含数据元素个数的负值，在合并时令成员少的子树的根结点的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parent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游标指向成员多的子树的根。</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80000"/>
              </a:lnSpc>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3908"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1108075" y="2959100"/>
            <a:ext cx="8516620" cy="33528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高效合并根的位置是</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j</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的两个集合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MEset::EffMerge(const int &amp;i,const int &amp;j)</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if (m_nodes[i].parent &gt; m_nodes[j].parent)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m_nodes[j].parent += m_nodes[i].parent;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m_nodes[i].parent = j;</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else{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m_nodes[i].parent += m_nodes[j].parent;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m_nodes[j].parent = i;</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3"/>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1" name="Rectangle 3"/>
          <p:cNvSpPr>
            <a:spLocks noGrp="1"/>
          </p:cNvSpPr>
          <p:nvPr>
            <p:ph idx="1"/>
          </p:nvPr>
        </p:nvSpPr>
        <p:spPr>
          <a:xfrm>
            <a:off x="574675" y="1180465"/>
            <a:ext cx="10779125" cy="4996815"/>
          </a:xfrm>
        </p:spPr>
        <p:txBody>
          <a:bodyPr vert="horz" wrap="square" lIns="91440" tIns="45720" rIns="91440" bIns="45720" anchor="t" anchorCtr="0"/>
          <a:p>
            <a:pPr>
              <a:lnSpc>
                <a:spcPct val="14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下图是基于</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b</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f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，经高效合并后的结果示意图</a:t>
            </a:r>
            <a:r>
              <a:rPr lang="zh-CN" altLang="en-US" dirty="0"/>
              <a:t> </a:t>
            </a:r>
            <a:endParaRPr lang="zh-CN" altLang="en-US" dirty="0"/>
          </a:p>
          <a:p>
            <a:pPr>
              <a:buNone/>
            </a:pPr>
            <a:r>
              <a:rPr lang="zh-CN" altLang="en-US" dirty="0"/>
              <a:t> </a:t>
            </a:r>
            <a:endParaRPr lang="en-US" altLang="zh-CN" dirty="0"/>
          </a:p>
        </p:txBody>
      </p:sp>
      <p:sp>
        <p:nvSpPr>
          <p:cNvPr id="124932"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4933" name="Rectangle 5"/>
          <p:cNvSpPr/>
          <p:nvPr/>
        </p:nvSpPr>
        <p:spPr>
          <a:xfrm>
            <a:off x="5942965" y="-18478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4934" name="Rectangle 6"/>
          <p:cNvSpPr/>
          <p:nvPr/>
        </p:nvSpPr>
        <p:spPr>
          <a:xfrm>
            <a:off x="5942965" y="26536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4935" name="Rectangle 7"/>
          <p:cNvSpPr/>
          <p:nvPr/>
        </p:nvSpPr>
        <p:spPr>
          <a:xfrm>
            <a:off x="5942965" y="26536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4936" name="Rectangle 10"/>
          <p:cNvSpPr/>
          <p:nvPr/>
        </p:nvSpPr>
        <p:spPr>
          <a:xfrm>
            <a:off x="5942965" y="265366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24937" name="Object 9"/>
          <p:cNvGraphicFramePr>
            <a:graphicFrameLocks noChangeAspect="1"/>
          </p:cNvGraphicFramePr>
          <p:nvPr/>
        </p:nvGraphicFramePr>
        <p:xfrm>
          <a:off x="1472565" y="2438400"/>
          <a:ext cx="8128635" cy="2815590"/>
        </p:xfrm>
        <a:graphic>
          <a:graphicData uri="http://schemas.openxmlformats.org/presentationml/2006/ole">
            <mc:AlternateContent xmlns:mc="http://schemas.openxmlformats.org/markup-compatibility/2006">
              <mc:Choice xmlns:v="urn:schemas-microsoft-com:vml" Requires="v">
                <p:oleObj spid="_x0000_s3087" name="" r:id="rId1" imgW="4559300" imgH="1587500" progId="Visio.Drawing.11">
                  <p:embed/>
                </p:oleObj>
              </mc:Choice>
              <mc:Fallback>
                <p:oleObj name="" r:id="rId1" imgW="4559300" imgH="1587500" progId="Visio.Drawing.11">
                  <p:embed/>
                  <p:pic>
                    <p:nvPicPr>
                      <p:cNvPr id="0" name="图片 3086"/>
                      <p:cNvPicPr/>
                      <p:nvPr/>
                    </p:nvPicPr>
                    <p:blipFill>
                      <a:blip r:embed="rId2"/>
                      <a:stretch>
                        <a:fillRect/>
                      </a:stretch>
                    </p:blipFill>
                    <p:spPr>
                      <a:xfrm>
                        <a:off x="1472565" y="2438400"/>
                        <a:ext cx="8128635" cy="2815590"/>
                      </a:xfrm>
                      <a:prstGeom prst="rect">
                        <a:avLst/>
                      </a:prstGeom>
                      <a:noFill/>
                      <a:ln w="38100">
                        <a:noFill/>
                        <a:miter/>
                      </a:ln>
                    </p:spPr>
                  </p:pic>
                </p:oleObj>
              </mc:Fallback>
            </mc:AlternateContent>
          </a:graphicData>
        </a:graphic>
      </p:graphicFrame>
      <p:sp>
        <p:nvSpPr>
          <p:cNvPr id="124938" name="Oval 11"/>
          <p:cNvSpPr/>
          <p:nvPr/>
        </p:nvSpPr>
        <p:spPr>
          <a:xfrm>
            <a:off x="5270500" y="3238500"/>
            <a:ext cx="1066800" cy="457200"/>
          </a:xfrm>
          <a:prstGeom prst="ellipse">
            <a:avLst/>
          </a:prstGeom>
          <a:noFill/>
          <a:ln w="28575" cap="flat" cmpd="sng">
            <a:solidFill>
              <a:schemeClr val="accent1"/>
            </a:solidFill>
            <a:prstDash val="solid"/>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4" name="矩形 3"/>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5" name="Rectangle 3"/>
          <p:cNvSpPr>
            <a:spLocks noGrp="1"/>
          </p:cNvSpPr>
          <p:nvPr>
            <p:ph idx="1"/>
          </p:nvPr>
        </p:nvSpPr>
        <p:spPr>
          <a:xfrm>
            <a:off x="491490" y="1214120"/>
            <a:ext cx="9947910" cy="4958080"/>
          </a:xfrm>
        </p:spPr>
        <p:txBody>
          <a:bodyPr vert="horz" wrap="square" lIns="91440" tIns="45720" rIns="91440" bIns="45720" anchor="t" anchorCtr="0"/>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MEset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中的其他成员函数如下。</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演示等价类合并过程的主函数：</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P144</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5956" name="Rectangle 4"/>
          <p:cNvSpPr/>
          <p:nvPr/>
        </p:nvSpPr>
        <p:spPr>
          <a:xfrm>
            <a:off x="5942965" y="2358390"/>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95236" name="Rectangle 6"/>
          <p:cNvSpPr>
            <a:spLocks noChangeArrowheads="1"/>
          </p:cNvSpPr>
          <p:nvPr/>
        </p:nvSpPr>
        <p:spPr bwMode="auto">
          <a:xfrm>
            <a:off x="816610" y="1768475"/>
            <a:ext cx="8852535" cy="318897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显示当前集合的状态</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MEset::Display()</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cout &lt;&lt;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位置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&lt;&lt; "data    " &lt;&lt; "parent    " &lt;&lt; endl;</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for (int i = 0; i &lt; m_len; i++)</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cout &lt;&lt; "  " &lt;&lt; i &lt;&lt; "       " &lt;&lt; m_nodes[i].data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&lt;&lt; "       " &lt;&lt; m_nodes[i].parent &lt;&lt; endl;</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9" name="Rectangle 3"/>
          <p:cNvSpPr>
            <a:spLocks noGrp="1"/>
          </p:cNvSpPr>
          <p:nvPr>
            <p:ph idx="1"/>
          </p:nvPr>
        </p:nvSpPr>
        <p:spPr>
          <a:xfrm>
            <a:off x="492125" y="1096010"/>
            <a:ext cx="10844530" cy="5815965"/>
          </a:xfrm>
        </p:spPr>
        <p:txBody>
          <a:bodyPr vert="horz" wrap="square" lIns="91440" tIns="45720" rIns="91440" bIns="45720" anchor="t" anchorCtr="0">
            <a:normAutofit lnSpcReduction="10000"/>
          </a:bodyPr>
          <a:p>
            <a:pPr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结点的路径长度</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20000"/>
              </a:lnSpc>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从根结点到该结点的路径上分支的数目。</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树的路径长度</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20000"/>
              </a:lnSpc>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树根到每个结点的路径长度之和。</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结点的带权路径长度（内路径长度）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20000"/>
              </a:lnSpc>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从树根到该结点之间的路径长度与该结点上所带权值的乘积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树的带权路径长度（外路径长度）</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eaLnBrk="1" hangingPunct="1">
              <a:lnSpc>
                <a:spcPct val="120000"/>
              </a:lnSpc>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树中所有叶子结点的带权路径长度之和</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3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设有</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个权值</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，构造一棵有</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个叶子结点的二叉树，每个叶子的权值为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，则其中带权路径长度</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WPL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最小的二叉树叫</a:t>
            </a:r>
            <a:r>
              <a:rPr lang="zh-CN" altLang="en-US" sz="2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最优二叉树</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。赫夫曼树 又称为最优树。</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26980" name="Object 4"/>
          <p:cNvGraphicFramePr>
            <a:graphicFrameLocks noChangeAspect="1"/>
          </p:cNvGraphicFramePr>
          <p:nvPr/>
        </p:nvGraphicFramePr>
        <p:xfrm>
          <a:off x="5607050" y="4396105"/>
          <a:ext cx="2141538" cy="817563"/>
        </p:xfrm>
        <a:graphic>
          <a:graphicData uri="http://schemas.openxmlformats.org/presentationml/2006/ole">
            <mc:AlternateContent xmlns:mc="http://schemas.openxmlformats.org/markup-compatibility/2006">
              <mc:Choice xmlns:v="urn:schemas-microsoft-com:vml" Requires="v">
                <p:oleObj spid="_x0000_s3082" name="" r:id="rId1" imgW="1129665" imgH="431800" progId="Equation.3">
                  <p:embed/>
                </p:oleObj>
              </mc:Choice>
              <mc:Fallback>
                <p:oleObj name="" r:id="rId1" imgW="1129665" imgH="431800" progId="Equation.3">
                  <p:embed/>
                  <p:pic>
                    <p:nvPicPr>
                      <p:cNvPr id="0" name="图片 3081"/>
                      <p:cNvPicPr/>
                      <p:nvPr/>
                    </p:nvPicPr>
                    <p:blipFill>
                      <a:blip r:embed="rId2"/>
                      <a:stretch>
                        <a:fillRect/>
                      </a:stretch>
                    </p:blipFill>
                    <p:spPr>
                      <a:xfrm>
                        <a:off x="5607050" y="4396105"/>
                        <a:ext cx="2141538" cy="817563"/>
                      </a:xfrm>
                      <a:prstGeom prst="rect">
                        <a:avLst/>
                      </a:prstGeom>
                      <a:noFill/>
                      <a:ln w="38100">
                        <a:noFill/>
                        <a:miter/>
                      </a:ln>
                    </p:spPr>
                  </p:pic>
                </p:oleObj>
              </mc:Fallback>
            </mc:AlternateContent>
          </a:graphicData>
        </a:graphic>
      </p:graphicFrame>
      <p:sp>
        <p:nvSpPr>
          <p:cNvPr id="4" name="矩形 3"/>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树与等价问题</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Grp="1"/>
          </p:cNvSpPr>
          <p:nvPr>
            <p:ph type="title"/>
          </p:nvPr>
        </p:nvSpPr>
        <p:spPr>
          <a:xfrm>
            <a:off x="774700" y="908685"/>
            <a:ext cx="10515600" cy="1077595"/>
          </a:xfrm>
        </p:spPr>
        <p:txBody>
          <a:bodyPr vert="horz" wrap="square" lIns="91440" tIns="45720" rIns="91440" bIns="45720" anchor="ctr" anchorCtr="0"/>
          <a:p>
            <a:pPr algn="ctr" eaLnBrk="1" hangingPunct="1"/>
            <a:r>
              <a:rPr lang="zh-CN" altLang="en-US"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 8   b:6    c:2    d:3</a:t>
            </a:r>
            <a:endParaRPr lang="en-US" altLang="zh-CN" dirty="0">
              <a:latin typeface="Times New Roman" panose="02020603050405020304" pitchFamily="18" charset="0"/>
              <a:cs typeface="Times New Roman" panose="02020603050405020304" pitchFamily="18" charset="0"/>
            </a:endParaRPr>
          </a:p>
        </p:txBody>
      </p:sp>
      <p:sp>
        <p:nvSpPr>
          <p:cNvPr id="128003" name="Rectangle 25"/>
          <p:cNvSpPr/>
          <p:nvPr/>
        </p:nvSpPr>
        <p:spPr>
          <a:xfrm>
            <a:off x="5942965" y="2410778"/>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sp>
        <p:nvSpPr>
          <p:cNvPr id="128004" name="Rectangle 27"/>
          <p:cNvSpPr/>
          <p:nvPr/>
        </p:nvSpPr>
        <p:spPr>
          <a:xfrm>
            <a:off x="5942965" y="2410778"/>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28005" name="Object 26"/>
          <p:cNvGraphicFramePr>
            <a:graphicFrameLocks noChangeAspect="1"/>
          </p:cNvGraphicFramePr>
          <p:nvPr/>
        </p:nvGraphicFramePr>
        <p:xfrm>
          <a:off x="1203960" y="2036445"/>
          <a:ext cx="9766300" cy="3170555"/>
        </p:xfrm>
        <a:graphic>
          <a:graphicData uri="http://schemas.openxmlformats.org/presentationml/2006/ole">
            <mc:AlternateContent xmlns:mc="http://schemas.openxmlformats.org/markup-compatibility/2006">
              <mc:Choice xmlns:v="urn:schemas-microsoft-com:vml" Requires="v">
                <p:oleObj spid="_x0000_s3081" name="" r:id="rId1" imgW="6870700" imgH="2222500" progId="Visio.Drawing.11">
                  <p:embed/>
                </p:oleObj>
              </mc:Choice>
              <mc:Fallback>
                <p:oleObj name="" r:id="rId1" imgW="6870700" imgH="2222500" progId="Visio.Drawing.11">
                  <p:embed/>
                  <p:pic>
                    <p:nvPicPr>
                      <p:cNvPr id="0" name="图片 3080"/>
                      <p:cNvPicPr/>
                      <p:nvPr/>
                    </p:nvPicPr>
                    <p:blipFill>
                      <a:blip r:embed="rId2"/>
                      <a:stretch>
                        <a:fillRect/>
                      </a:stretch>
                    </p:blipFill>
                    <p:spPr>
                      <a:xfrm>
                        <a:off x="1203960" y="2036445"/>
                        <a:ext cx="9766300" cy="3170555"/>
                      </a:xfrm>
                      <a:prstGeom prst="rect">
                        <a:avLst/>
                      </a:prstGeom>
                      <a:noFill/>
                      <a:ln w="38100">
                        <a:noFill/>
                        <a:miter/>
                      </a:ln>
                    </p:spPr>
                  </p:pic>
                </p:oleObj>
              </mc:Fallback>
            </mc:AlternateContent>
          </a:graphicData>
        </a:graphic>
      </p:graphicFrame>
      <p:sp>
        <p:nvSpPr>
          <p:cNvPr id="112647" name="Rectangle 7"/>
          <p:cNvSpPr/>
          <p:nvPr/>
        </p:nvSpPr>
        <p:spPr>
          <a:xfrm>
            <a:off x="2209800" y="5316220"/>
            <a:ext cx="7162800" cy="461645"/>
          </a:xfrm>
          <a:prstGeom prst="rect">
            <a:avLst/>
          </a:prstGeom>
          <a:noFill/>
          <a:ln w="3175">
            <a:noFill/>
          </a:ln>
        </p:spPr>
        <p:txBody>
          <a:bodyPr lIns="90000" tIns="46800" rIns="90000" bIns="4680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）的带权路径长度最小，为最优二叉树。</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WPL</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计算例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47"/>
                                        </p:tgtEl>
                                        <p:attrNameLst>
                                          <p:attrName>style.visibility</p:attrName>
                                        </p:attrNameLst>
                                      </p:cBhvr>
                                      <p:to>
                                        <p:strVal val="visible"/>
                                      </p:to>
                                    </p:set>
                                    <p:anim calcmode="lin" valueType="num">
                                      <p:cBhvr additive="base">
                                        <p:cTn id="7" dur="500" fill="hold"/>
                                        <p:tgtEl>
                                          <p:spTgt spid="112647"/>
                                        </p:tgtEl>
                                        <p:attrNameLst>
                                          <p:attrName>ppt_x</p:attrName>
                                        </p:attrNameLst>
                                      </p:cBhvr>
                                      <p:tavLst>
                                        <p:tav tm="0">
                                          <p:val>
                                            <p:strVal val="#ppt_x"/>
                                          </p:val>
                                        </p:tav>
                                        <p:tav tm="100000">
                                          <p:val>
                                            <p:strVal val="#ppt_x"/>
                                          </p:val>
                                        </p:tav>
                                      </p:tavLst>
                                    </p:anim>
                                    <p:anim calcmode="lin" valueType="num">
                                      <p:cBhvr additive="base">
                                        <p:cTn id="8" dur="500" fill="hold"/>
                                        <p:tgtEl>
                                          <p:spTgt spid="1126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7"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7" name="Rectangle 3"/>
          <p:cNvSpPr>
            <a:spLocks noGrp="1"/>
          </p:cNvSpPr>
          <p:nvPr>
            <p:ph idx="1"/>
          </p:nvPr>
        </p:nvSpPr>
        <p:spPr>
          <a:xfrm>
            <a:off x="457200" y="1236345"/>
            <a:ext cx="10896600" cy="4940935"/>
          </a:xfrm>
        </p:spPr>
        <p:txBody>
          <a:bodyPr vert="horz" wrap="square" lIns="91440" tIns="45720" rIns="91440" bIns="45720" anchor="t" anchorCtr="0"/>
          <a:p>
            <a:pPr eaLnBrk="1" hangingPunct="1">
              <a:lnSpc>
                <a:spcPct val="16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构造赫夫曼树的方法</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857250" lvl="1" indent="-457200" eaLnBrk="1" hangingPunct="1">
              <a:lnSpc>
                <a:spcPct val="160000"/>
              </a:lnSpc>
              <a:buFont typeface="Times New Roman" panose="02020603050405020304" pitchFamily="18" charset="0"/>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根据给定的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个权值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w</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，构造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棵二叉树的集合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，其中每棵二叉树中均只含一个带权值 为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w</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的根结点，其左、右子树为空树；</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857250" lvl="1" indent="-457200" eaLnBrk="1" hangingPunct="1">
              <a:lnSpc>
                <a:spcPct val="160000"/>
              </a:lnSpc>
              <a:buFont typeface="Times New Roman" panose="02020603050405020304" pitchFamily="18" charset="0"/>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中选取其根结点的权值为最小的两棵二叉树，分别作为左、右子树构造一棵新的二叉树，并置这棵新的二叉树根结点的权值为其左、右子树根结点的权值之和；</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857250" lvl="1" indent="-457200" eaLnBrk="1" hangingPunct="1">
              <a:lnSpc>
                <a:spcPct val="160000"/>
              </a:lnSpc>
              <a:buFont typeface="Times New Roman" panose="02020603050405020304" pitchFamily="18" charset="0"/>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中删去这两棵树，同时加入刚生成的新树；</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857250" lvl="1" indent="-457200" eaLnBrk="1" hangingPunct="1">
              <a:lnSpc>
                <a:spcPct val="160000"/>
              </a:lnSpc>
              <a:buFont typeface="Times New Roman" panose="02020603050405020304" pitchFamily="18" charset="0"/>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重复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两步，直至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中只含一棵树为止。</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buNone/>
            </a:pPr>
            <a:endParaRPr lang="zh-CN" altLang="en-US" dirty="0"/>
          </a:p>
          <a:p>
            <a:pPr eaLnBrk="1" hangingPunct="1">
              <a:buNone/>
            </a:pPr>
            <a:endParaRPr lang="zh-CN" altLang="en-US" dirty="0"/>
          </a:p>
        </p:txBody>
      </p:sp>
      <p:sp>
        <p:nvSpPr>
          <p:cNvPr id="4" name="矩形 3"/>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赫夫曼树及赫夫曼编码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1" name="Oval 21"/>
          <p:cNvSpPr/>
          <p:nvPr/>
        </p:nvSpPr>
        <p:spPr>
          <a:xfrm>
            <a:off x="3408363" y="1839913"/>
            <a:ext cx="265112" cy="2825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a</a:t>
            </a:r>
            <a:endParaRPr lang="en-US" altLang="zh-CN" sz="1800" i="1" dirty="0">
              <a:solidFill>
                <a:schemeClr val="tx2"/>
              </a:solidFill>
              <a:ea typeface="宋体" panose="02010600030101010101" pitchFamily="2" charset="-122"/>
            </a:endParaRPr>
          </a:p>
        </p:txBody>
      </p:sp>
      <p:sp>
        <p:nvSpPr>
          <p:cNvPr id="130052" name="Text Box 22"/>
          <p:cNvSpPr txBox="1"/>
          <p:nvPr/>
        </p:nvSpPr>
        <p:spPr>
          <a:xfrm>
            <a:off x="3401219" y="1547813"/>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7</a:t>
            </a:r>
            <a:endParaRPr lang="en-US" altLang="zh-CN" sz="1800" dirty="0">
              <a:solidFill>
                <a:schemeClr val="tx2"/>
              </a:solidFill>
              <a:ea typeface="宋体" panose="02010600030101010101" pitchFamily="2" charset="-122"/>
            </a:endParaRPr>
          </a:p>
        </p:txBody>
      </p:sp>
      <p:sp>
        <p:nvSpPr>
          <p:cNvPr id="130053" name="Oval 24"/>
          <p:cNvSpPr/>
          <p:nvPr/>
        </p:nvSpPr>
        <p:spPr>
          <a:xfrm>
            <a:off x="3883025" y="1839913"/>
            <a:ext cx="265113" cy="2825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b</a:t>
            </a:r>
            <a:endParaRPr lang="en-US" altLang="zh-CN" sz="1800" i="1" dirty="0">
              <a:solidFill>
                <a:schemeClr val="tx2"/>
              </a:solidFill>
              <a:ea typeface="宋体" panose="02010600030101010101" pitchFamily="2" charset="-122"/>
            </a:endParaRPr>
          </a:p>
        </p:txBody>
      </p:sp>
      <p:sp>
        <p:nvSpPr>
          <p:cNvPr id="130054" name="Text Box 25"/>
          <p:cNvSpPr txBox="1"/>
          <p:nvPr/>
        </p:nvSpPr>
        <p:spPr>
          <a:xfrm>
            <a:off x="3883819" y="1545432"/>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5</a:t>
            </a:r>
            <a:endParaRPr lang="en-US" altLang="zh-CN" sz="1800" dirty="0">
              <a:solidFill>
                <a:schemeClr val="tx2"/>
              </a:solidFill>
              <a:ea typeface="宋体" panose="02010600030101010101" pitchFamily="2" charset="-122"/>
            </a:endParaRPr>
          </a:p>
        </p:txBody>
      </p:sp>
      <p:sp>
        <p:nvSpPr>
          <p:cNvPr id="130055" name="Oval 27"/>
          <p:cNvSpPr/>
          <p:nvPr/>
        </p:nvSpPr>
        <p:spPr>
          <a:xfrm>
            <a:off x="4357688" y="1839913"/>
            <a:ext cx="265112" cy="2825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c</a:t>
            </a:r>
            <a:endParaRPr lang="en-US" altLang="zh-CN" sz="1800" i="1" dirty="0">
              <a:solidFill>
                <a:schemeClr val="tx2"/>
              </a:solidFill>
              <a:ea typeface="宋体" panose="02010600030101010101" pitchFamily="2" charset="-122"/>
            </a:endParaRPr>
          </a:p>
        </p:txBody>
      </p:sp>
      <p:sp>
        <p:nvSpPr>
          <p:cNvPr id="130056" name="Text Box 28"/>
          <p:cNvSpPr txBox="1"/>
          <p:nvPr/>
        </p:nvSpPr>
        <p:spPr>
          <a:xfrm>
            <a:off x="4350544" y="1549400"/>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2</a:t>
            </a:r>
            <a:endParaRPr lang="en-US" altLang="zh-CN" sz="1800" dirty="0">
              <a:solidFill>
                <a:schemeClr val="tx2"/>
              </a:solidFill>
              <a:ea typeface="宋体" panose="02010600030101010101" pitchFamily="2" charset="-122"/>
            </a:endParaRPr>
          </a:p>
        </p:txBody>
      </p:sp>
      <p:sp>
        <p:nvSpPr>
          <p:cNvPr id="130057" name="Oval 30"/>
          <p:cNvSpPr/>
          <p:nvPr/>
        </p:nvSpPr>
        <p:spPr>
          <a:xfrm>
            <a:off x="4832350" y="1839913"/>
            <a:ext cx="265113" cy="28257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d</a:t>
            </a:r>
            <a:endParaRPr lang="en-US" altLang="zh-CN" sz="1800" i="1" dirty="0">
              <a:solidFill>
                <a:schemeClr val="tx2"/>
              </a:solidFill>
              <a:ea typeface="宋体" panose="02010600030101010101" pitchFamily="2" charset="-122"/>
            </a:endParaRPr>
          </a:p>
        </p:txBody>
      </p:sp>
      <p:sp>
        <p:nvSpPr>
          <p:cNvPr id="130058" name="Text Box 31"/>
          <p:cNvSpPr txBox="1"/>
          <p:nvPr/>
        </p:nvSpPr>
        <p:spPr>
          <a:xfrm>
            <a:off x="4820444" y="1550988"/>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4</a:t>
            </a:r>
            <a:endParaRPr lang="en-US" altLang="zh-CN" sz="1800" dirty="0">
              <a:solidFill>
                <a:schemeClr val="tx2"/>
              </a:solidFill>
              <a:ea typeface="宋体" panose="02010600030101010101" pitchFamily="2" charset="-122"/>
            </a:endParaRPr>
          </a:p>
        </p:txBody>
      </p:sp>
      <p:sp>
        <p:nvSpPr>
          <p:cNvPr id="94" name="圆角矩形标注 93"/>
          <p:cNvSpPr/>
          <p:nvPr/>
        </p:nvSpPr>
        <p:spPr bwMode="auto">
          <a:xfrm>
            <a:off x="2286000" y="1676400"/>
            <a:ext cx="762000" cy="457200"/>
          </a:xfrm>
          <a:prstGeom prst="wedgeRoundRectCallout">
            <a:avLst>
              <a:gd name="adj1" fmla="val 67302"/>
              <a:gd name="adj2" fmla="val -22206"/>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第</a:t>
            </a:r>
            <a:r>
              <a:rPr kumimoji="1" lang="en-US" altLang="zh-CN"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1</a:t>
            </a:r>
            <a:r>
              <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步</a:t>
            </a:r>
            <a:endPar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endParaRPr>
          </a:p>
        </p:txBody>
      </p:sp>
      <p:grpSp>
        <p:nvGrpSpPr>
          <p:cNvPr id="2" name="Group 64"/>
          <p:cNvGrpSpPr/>
          <p:nvPr/>
        </p:nvGrpSpPr>
        <p:grpSpPr>
          <a:xfrm>
            <a:off x="6477000" y="1462088"/>
            <a:ext cx="2971800" cy="1138237"/>
            <a:chOff x="3120" y="921"/>
            <a:chExt cx="1872" cy="717"/>
          </a:xfrm>
        </p:grpSpPr>
        <p:sp>
          <p:nvSpPr>
            <p:cNvPr id="130101" name="Oval 34"/>
            <p:cNvSpPr/>
            <p:nvPr/>
          </p:nvSpPr>
          <p:spPr>
            <a:xfrm>
              <a:off x="3826" y="1105"/>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a</a:t>
              </a:r>
              <a:endParaRPr lang="en-US" altLang="zh-CN" sz="1800" i="1" dirty="0">
                <a:solidFill>
                  <a:schemeClr val="tx2"/>
                </a:solidFill>
                <a:ea typeface="宋体" panose="02010600030101010101" pitchFamily="2" charset="-122"/>
              </a:endParaRPr>
            </a:p>
          </p:txBody>
        </p:sp>
        <p:sp>
          <p:nvSpPr>
            <p:cNvPr id="130102" name="Text Box 35"/>
            <p:cNvSpPr txBox="1"/>
            <p:nvPr/>
          </p:nvSpPr>
          <p:spPr>
            <a:xfrm>
              <a:off x="3820" y="921"/>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7</a:t>
              </a:r>
              <a:endParaRPr lang="en-US" altLang="zh-CN" sz="1800" dirty="0">
                <a:solidFill>
                  <a:schemeClr val="tx2"/>
                </a:solidFill>
                <a:ea typeface="宋体" panose="02010600030101010101" pitchFamily="2" charset="-122"/>
              </a:endParaRPr>
            </a:p>
          </p:txBody>
        </p:sp>
        <p:sp>
          <p:nvSpPr>
            <p:cNvPr id="130103" name="Oval 37"/>
            <p:cNvSpPr/>
            <p:nvPr/>
          </p:nvSpPr>
          <p:spPr>
            <a:xfrm>
              <a:off x="4169" y="1116"/>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b</a:t>
              </a:r>
              <a:endParaRPr lang="en-US" altLang="zh-CN" sz="1800" i="1" dirty="0">
                <a:solidFill>
                  <a:schemeClr val="tx2"/>
                </a:solidFill>
                <a:ea typeface="宋体" panose="02010600030101010101" pitchFamily="2" charset="-122"/>
              </a:endParaRPr>
            </a:p>
          </p:txBody>
        </p:sp>
        <p:sp>
          <p:nvSpPr>
            <p:cNvPr id="130104" name="Text Box 38"/>
            <p:cNvSpPr txBox="1"/>
            <p:nvPr/>
          </p:nvSpPr>
          <p:spPr>
            <a:xfrm>
              <a:off x="4163" y="930"/>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5</a:t>
              </a:r>
              <a:endParaRPr lang="en-US" altLang="zh-CN" sz="1800" dirty="0">
                <a:solidFill>
                  <a:schemeClr val="tx2"/>
                </a:solidFill>
                <a:ea typeface="宋体" panose="02010600030101010101" pitchFamily="2" charset="-122"/>
              </a:endParaRPr>
            </a:p>
          </p:txBody>
        </p:sp>
        <p:sp>
          <p:nvSpPr>
            <p:cNvPr id="130105" name="Oval 41"/>
            <p:cNvSpPr/>
            <p:nvPr/>
          </p:nvSpPr>
          <p:spPr>
            <a:xfrm>
              <a:off x="4446" y="1460"/>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c</a:t>
              </a:r>
              <a:endParaRPr lang="en-US" altLang="zh-CN" sz="1800" i="1" dirty="0">
                <a:solidFill>
                  <a:schemeClr val="tx2"/>
                </a:solidFill>
                <a:ea typeface="宋体" panose="02010600030101010101" pitchFamily="2" charset="-122"/>
              </a:endParaRPr>
            </a:p>
          </p:txBody>
        </p:sp>
        <p:sp>
          <p:nvSpPr>
            <p:cNvPr id="130106" name="Text Box 42"/>
            <p:cNvSpPr txBox="1"/>
            <p:nvPr/>
          </p:nvSpPr>
          <p:spPr>
            <a:xfrm>
              <a:off x="4435" y="1270"/>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2</a:t>
              </a:r>
              <a:endParaRPr lang="en-US" altLang="zh-CN" sz="1800" dirty="0">
                <a:solidFill>
                  <a:schemeClr val="tx2"/>
                </a:solidFill>
                <a:ea typeface="宋体" panose="02010600030101010101" pitchFamily="2" charset="-122"/>
              </a:endParaRPr>
            </a:p>
          </p:txBody>
        </p:sp>
        <p:sp>
          <p:nvSpPr>
            <p:cNvPr id="130107" name="Oval 44"/>
            <p:cNvSpPr/>
            <p:nvPr/>
          </p:nvSpPr>
          <p:spPr>
            <a:xfrm>
              <a:off x="4811" y="1460"/>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d</a:t>
              </a:r>
              <a:endParaRPr lang="en-US" altLang="zh-CN" sz="1800" i="1" dirty="0">
                <a:solidFill>
                  <a:schemeClr val="tx2"/>
                </a:solidFill>
                <a:ea typeface="宋体" panose="02010600030101010101" pitchFamily="2" charset="-122"/>
              </a:endParaRPr>
            </a:p>
          </p:txBody>
        </p:sp>
        <p:sp>
          <p:nvSpPr>
            <p:cNvPr id="130108" name="Text Box 45"/>
            <p:cNvSpPr txBox="1"/>
            <p:nvPr/>
          </p:nvSpPr>
          <p:spPr>
            <a:xfrm>
              <a:off x="4804" y="1271"/>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4</a:t>
              </a:r>
              <a:endParaRPr lang="en-US" altLang="zh-CN" sz="1800" dirty="0">
                <a:solidFill>
                  <a:schemeClr val="tx2"/>
                </a:solidFill>
                <a:ea typeface="宋体" panose="02010600030101010101" pitchFamily="2" charset="-122"/>
              </a:endParaRPr>
            </a:p>
          </p:txBody>
        </p:sp>
        <p:sp>
          <p:nvSpPr>
            <p:cNvPr id="130109" name="Oval 47"/>
            <p:cNvSpPr/>
            <p:nvPr/>
          </p:nvSpPr>
          <p:spPr>
            <a:xfrm>
              <a:off x="4635" y="1127"/>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i="1" dirty="0">
                <a:solidFill>
                  <a:schemeClr val="tx2"/>
                </a:solidFill>
                <a:ea typeface="宋体" panose="02010600030101010101" pitchFamily="2" charset="-122"/>
              </a:endParaRPr>
            </a:p>
          </p:txBody>
        </p:sp>
        <p:sp>
          <p:nvSpPr>
            <p:cNvPr id="130110" name="Text Box 48"/>
            <p:cNvSpPr txBox="1"/>
            <p:nvPr/>
          </p:nvSpPr>
          <p:spPr>
            <a:xfrm>
              <a:off x="4621" y="938"/>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6</a:t>
              </a:r>
              <a:endParaRPr lang="en-US" altLang="zh-CN" sz="1800" dirty="0">
                <a:solidFill>
                  <a:schemeClr val="tx2"/>
                </a:solidFill>
                <a:ea typeface="宋体" panose="02010600030101010101" pitchFamily="2" charset="-122"/>
              </a:endParaRPr>
            </a:p>
          </p:txBody>
        </p:sp>
        <p:sp>
          <p:nvSpPr>
            <p:cNvPr id="130111" name="Line 49"/>
            <p:cNvSpPr/>
            <p:nvPr/>
          </p:nvSpPr>
          <p:spPr>
            <a:xfrm flipH="1">
              <a:off x="4586" y="1297"/>
              <a:ext cx="100" cy="189"/>
            </a:xfrm>
            <a:prstGeom prst="line">
              <a:avLst/>
            </a:prstGeom>
            <a:ln w="9525" cap="flat" cmpd="sng">
              <a:solidFill>
                <a:schemeClr val="tx1"/>
              </a:solidFill>
              <a:prstDash val="solid"/>
              <a:headEnd type="none" w="med" len="med"/>
              <a:tailEnd type="none" w="med" len="med"/>
            </a:ln>
          </p:spPr>
        </p:sp>
        <p:sp>
          <p:nvSpPr>
            <p:cNvPr id="130112" name="Line 50"/>
            <p:cNvSpPr/>
            <p:nvPr/>
          </p:nvSpPr>
          <p:spPr>
            <a:xfrm>
              <a:off x="4741" y="1297"/>
              <a:ext cx="112" cy="178"/>
            </a:xfrm>
            <a:prstGeom prst="line">
              <a:avLst/>
            </a:prstGeom>
            <a:ln w="9525" cap="flat" cmpd="sng">
              <a:solidFill>
                <a:schemeClr val="tx1"/>
              </a:solidFill>
              <a:prstDash val="solid"/>
              <a:headEnd type="none" w="med" len="med"/>
              <a:tailEnd type="none" w="med" len="med"/>
            </a:ln>
          </p:spPr>
        </p:sp>
        <p:sp>
          <p:nvSpPr>
            <p:cNvPr id="95" name="圆角矩形标注 94"/>
            <p:cNvSpPr/>
            <p:nvPr/>
          </p:nvSpPr>
          <p:spPr bwMode="auto">
            <a:xfrm>
              <a:off x="3120" y="1056"/>
              <a:ext cx="480" cy="288"/>
            </a:xfrm>
            <a:prstGeom prst="wedgeRoundRectCallout">
              <a:avLst>
                <a:gd name="adj1" fmla="val 67302"/>
                <a:gd name="adj2" fmla="val -22206"/>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第</a:t>
              </a:r>
              <a:r>
                <a:rPr kumimoji="1" lang="en-US" altLang="zh-CN"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2</a:t>
              </a:r>
              <a:r>
                <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步</a:t>
              </a:r>
              <a:endPar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endParaRPr>
            </a:p>
          </p:txBody>
        </p:sp>
      </p:grpSp>
      <p:grpSp>
        <p:nvGrpSpPr>
          <p:cNvPr id="3" name="Group 65"/>
          <p:cNvGrpSpPr/>
          <p:nvPr/>
        </p:nvGrpSpPr>
        <p:grpSpPr>
          <a:xfrm>
            <a:off x="2286000" y="3921126"/>
            <a:ext cx="3200400" cy="1639888"/>
            <a:chOff x="480" y="2470"/>
            <a:chExt cx="2016" cy="1033"/>
          </a:xfrm>
        </p:grpSpPr>
        <p:sp>
          <p:nvSpPr>
            <p:cNvPr id="130084" name="Oval 53"/>
            <p:cNvSpPr/>
            <p:nvPr/>
          </p:nvSpPr>
          <p:spPr>
            <a:xfrm>
              <a:off x="1286" y="2659"/>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a</a:t>
              </a:r>
              <a:endParaRPr lang="en-US" altLang="zh-CN" sz="1800" i="1" dirty="0">
                <a:solidFill>
                  <a:schemeClr val="tx2"/>
                </a:solidFill>
                <a:ea typeface="宋体" panose="02010600030101010101" pitchFamily="2" charset="-122"/>
              </a:endParaRPr>
            </a:p>
          </p:txBody>
        </p:sp>
        <p:sp>
          <p:nvSpPr>
            <p:cNvPr id="130085" name="Text Box 54"/>
            <p:cNvSpPr txBox="1"/>
            <p:nvPr/>
          </p:nvSpPr>
          <p:spPr>
            <a:xfrm>
              <a:off x="1280" y="2475"/>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7</a:t>
              </a:r>
              <a:endParaRPr lang="en-US" altLang="zh-CN" sz="1800" dirty="0">
                <a:solidFill>
                  <a:schemeClr val="tx2"/>
                </a:solidFill>
                <a:ea typeface="宋体" panose="02010600030101010101" pitchFamily="2" charset="-122"/>
              </a:endParaRPr>
            </a:p>
          </p:txBody>
        </p:sp>
        <p:sp>
          <p:nvSpPr>
            <p:cNvPr id="130086" name="Oval 57"/>
            <p:cNvSpPr/>
            <p:nvPr/>
          </p:nvSpPr>
          <p:spPr>
            <a:xfrm>
              <a:off x="1738" y="3003"/>
              <a:ext cx="176"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b</a:t>
              </a:r>
              <a:endParaRPr lang="en-US" altLang="zh-CN" sz="1800" i="1" dirty="0">
                <a:solidFill>
                  <a:schemeClr val="tx2"/>
                </a:solidFill>
                <a:ea typeface="宋体" panose="02010600030101010101" pitchFamily="2" charset="-122"/>
              </a:endParaRPr>
            </a:p>
          </p:txBody>
        </p:sp>
        <p:sp>
          <p:nvSpPr>
            <p:cNvPr id="130087" name="Text Box 58"/>
            <p:cNvSpPr txBox="1"/>
            <p:nvPr/>
          </p:nvSpPr>
          <p:spPr>
            <a:xfrm>
              <a:off x="1737" y="2811"/>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5</a:t>
              </a:r>
              <a:endParaRPr lang="en-US" altLang="zh-CN" sz="1800" dirty="0">
                <a:solidFill>
                  <a:schemeClr val="tx2"/>
                </a:solidFill>
                <a:ea typeface="宋体" panose="02010600030101010101" pitchFamily="2" charset="-122"/>
              </a:endParaRPr>
            </a:p>
          </p:txBody>
        </p:sp>
        <p:sp>
          <p:nvSpPr>
            <p:cNvPr id="130088" name="Oval 61"/>
            <p:cNvSpPr/>
            <p:nvPr/>
          </p:nvSpPr>
          <p:spPr>
            <a:xfrm>
              <a:off x="1950" y="3325"/>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c</a:t>
              </a:r>
              <a:endParaRPr lang="en-US" altLang="zh-CN" sz="1800" i="1" dirty="0">
                <a:solidFill>
                  <a:schemeClr val="tx2"/>
                </a:solidFill>
                <a:ea typeface="宋体" panose="02010600030101010101" pitchFamily="2" charset="-122"/>
              </a:endParaRPr>
            </a:p>
          </p:txBody>
        </p:sp>
        <p:sp>
          <p:nvSpPr>
            <p:cNvPr id="130089" name="Text Box 62"/>
            <p:cNvSpPr txBox="1"/>
            <p:nvPr/>
          </p:nvSpPr>
          <p:spPr>
            <a:xfrm>
              <a:off x="1946" y="3142"/>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2</a:t>
              </a:r>
              <a:endParaRPr lang="en-US" altLang="zh-CN" sz="1800" dirty="0">
                <a:solidFill>
                  <a:schemeClr val="tx2"/>
                </a:solidFill>
                <a:ea typeface="宋体" panose="02010600030101010101" pitchFamily="2" charset="-122"/>
              </a:endParaRPr>
            </a:p>
          </p:txBody>
        </p:sp>
        <p:sp>
          <p:nvSpPr>
            <p:cNvPr id="130090" name="Oval 64"/>
            <p:cNvSpPr/>
            <p:nvPr/>
          </p:nvSpPr>
          <p:spPr>
            <a:xfrm>
              <a:off x="2315" y="3325"/>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d</a:t>
              </a:r>
              <a:endParaRPr lang="en-US" altLang="zh-CN" sz="1800" i="1" dirty="0">
                <a:solidFill>
                  <a:schemeClr val="tx2"/>
                </a:solidFill>
                <a:ea typeface="宋体" panose="02010600030101010101" pitchFamily="2" charset="-122"/>
              </a:endParaRPr>
            </a:p>
          </p:txBody>
        </p:sp>
        <p:sp>
          <p:nvSpPr>
            <p:cNvPr id="130091" name="Text Box 65"/>
            <p:cNvSpPr txBox="1"/>
            <p:nvPr/>
          </p:nvSpPr>
          <p:spPr>
            <a:xfrm>
              <a:off x="2308" y="3143"/>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4</a:t>
              </a:r>
              <a:endParaRPr lang="en-US" altLang="zh-CN" sz="1800" dirty="0">
                <a:solidFill>
                  <a:schemeClr val="tx2"/>
                </a:solidFill>
                <a:ea typeface="宋体" panose="02010600030101010101" pitchFamily="2" charset="-122"/>
              </a:endParaRPr>
            </a:p>
          </p:txBody>
        </p:sp>
        <p:sp>
          <p:nvSpPr>
            <p:cNvPr id="130092" name="Oval 67"/>
            <p:cNvSpPr/>
            <p:nvPr/>
          </p:nvSpPr>
          <p:spPr>
            <a:xfrm>
              <a:off x="2139" y="2992"/>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dirty="0">
                <a:solidFill>
                  <a:schemeClr val="tx2"/>
                </a:solidFill>
                <a:ea typeface="宋体" panose="02010600030101010101" pitchFamily="2" charset="-122"/>
              </a:endParaRPr>
            </a:p>
          </p:txBody>
        </p:sp>
        <p:sp>
          <p:nvSpPr>
            <p:cNvPr id="130093" name="Text Box 68"/>
            <p:cNvSpPr txBox="1"/>
            <p:nvPr/>
          </p:nvSpPr>
          <p:spPr>
            <a:xfrm>
              <a:off x="2139" y="2797"/>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6</a:t>
              </a:r>
              <a:endParaRPr lang="en-US" altLang="zh-CN" sz="1800" dirty="0">
                <a:solidFill>
                  <a:schemeClr val="tx2"/>
                </a:solidFill>
                <a:ea typeface="宋体" panose="02010600030101010101" pitchFamily="2" charset="-122"/>
              </a:endParaRPr>
            </a:p>
          </p:txBody>
        </p:sp>
        <p:sp>
          <p:nvSpPr>
            <p:cNvPr id="130094" name="Line 69"/>
            <p:cNvSpPr/>
            <p:nvPr/>
          </p:nvSpPr>
          <p:spPr>
            <a:xfrm flipH="1">
              <a:off x="2090" y="3162"/>
              <a:ext cx="100" cy="189"/>
            </a:xfrm>
            <a:prstGeom prst="line">
              <a:avLst/>
            </a:prstGeom>
            <a:ln w="9525" cap="flat" cmpd="sng">
              <a:solidFill>
                <a:schemeClr val="tx1"/>
              </a:solidFill>
              <a:prstDash val="solid"/>
              <a:headEnd type="none" w="med" len="med"/>
              <a:tailEnd type="none" w="med" len="med"/>
            </a:ln>
          </p:spPr>
        </p:sp>
        <p:sp>
          <p:nvSpPr>
            <p:cNvPr id="130095" name="Line 70"/>
            <p:cNvSpPr/>
            <p:nvPr/>
          </p:nvSpPr>
          <p:spPr>
            <a:xfrm>
              <a:off x="2245" y="3162"/>
              <a:ext cx="112" cy="178"/>
            </a:xfrm>
            <a:prstGeom prst="line">
              <a:avLst/>
            </a:prstGeom>
            <a:ln w="9525" cap="flat" cmpd="sng">
              <a:solidFill>
                <a:schemeClr val="tx1"/>
              </a:solidFill>
              <a:prstDash val="solid"/>
              <a:headEnd type="none" w="med" len="med"/>
              <a:tailEnd type="none" w="med" len="med"/>
            </a:ln>
          </p:spPr>
        </p:sp>
        <p:sp>
          <p:nvSpPr>
            <p:cNvPr id="130096" name="Oval 72"/>
            <p:cNvSpPr/>
            <p:nvPr/>
          </p:nvSpPr>
          <p:spPr>
            <a:xfrm>
              <a:off x="1933" y="2655"/>
              <a:ext cx="17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dirty="0">
                <a:solidFill>
                  <a:schemeClr val="tx2"/>
                </a:solidFill>
                <a:ea typeface="宋体" panose="02010600030101010101" pitchFamily="2" charset="-122"/>
              </a:endParaRPr>
            </a:p>
          </p:txBody>
        </p:sp>
        <p:sp>
          <p:nvSpPr>
            <p:cNvPr id="130097" name="Text Box 73"/>
            <p:cNvSpPr txBox="1"/>
            <p:nvPr/>
          </p:nvSpPr>
          <p:spPr>
            <a:xfrm>
              <a:off x="1896" y="2470"/>
              <a:ext cx="261"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11</a:t>
              </a:r>
              <a:endParaRPr lang="en-US" altLang="zh-CN" sz="1800" dirty="0">
                <a:solidFill>
                  <a:schemeClr val="tx2"/>
                </a:solidFill>
                <a:ea typeface="宋体" panose="02010600030101010101" pitchFamily="2" charset="-122"/>
              </a:endParaRPr>
            </a:p>
          </p:txBody>
        </p:sp>
        <p:sp>
          <p:nvSpPr>
            <p:cNvPr id="130098" name="Line 74"/>
            <p:cNvSpPr/>
            <p:nvPr/>
          </p:nvSpPr>
          <p:spPr>
            <a:xfrm flipH="1">
              <a:off x="1893" y="2822"/>
              <a:ext cx="89" cy="200"/>
            </a:xfrm>
            <a:prstGeom prst="line">
              <a:avLst/>
            </a:prstGeom>
            <a:ln w="9525" cap="flat" cmpd="sng">
              <a:solidFill>
                <a:schemeClr val="tx1"/>
              </a:solidFill>
              <a:prstDash val="solid"/>
              <a:headEnd type="none" w="med" len="med"/>
              <a:tailEnd type="none" w="med" len="med"/>
            </a:ln>
          </p:spPr>
        </p:sp>
        <p:sp>
          <p:nvSpPr>
            <p:cNvPr id="130099" name="Line 75"/>
            <p:cNvSpPr/>
            <p:nvPr/>
          </p:nvSpPr>
          <p:spPr>
            <a:xfrm>
              <a:off x="2071" y="2822"/>
              <a:ext cx="100" cy="200"/>
            </a:xfrm>
            <a:prstGeom prst="line">
              <a:avLst/>
            </a:prstGeom>
            <a:ln w="9525" cap="flat" cmpd="sng">
              <a:solidFill>
                <a:schemeClr val="tx1"/>
              </a:solidFill>
              <a:prstDash val="solid"/>
              <a:headEnd type="none" w="med" len="med"/>
              <a:tailEnd type="none" w="med" len="med"/>
            </a:ln>
          </p:spPr>
        </p:sp>
        <p:sp>
          <p:nvSpPr>
            <p:cNvPr id="96" name="圆角矩形标注 95"/>
            <p:cNvSpPr/>
            <p:nvPr/>
          </p:nvSpPr>
          <p:spPr bwMode="auto">
            <a:xfrm>
              <a:off x="480" y="2640"/>
              <a:ext cx="480" cy="288"/>
            </a:xfrm>
            <a:prstGeom prst="wedgeRoundRectCallout">
              <a:avLst>
                <a:gd name="adj1" fmla="val 67302"/>
                <a:gd name="adj2" fmla="val -22206"/>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第</a:t>
              </a:r>
              <a:r>
                <a:rPr kumimoji="1" lang="en-US" altLang="zh-CN"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3</a:t>
              </a:r>
              <a:r>
                <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步</a:t>
              </a:r>
              <a:endPar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endParaRPr>
            </a:p>
          </p:txBody>
        </p:sp>
      </p:grpSp>
      <p:grpSp>
        <p:nvGrpSpPr>
          <p:cNvPr id="4" name="Group 66"/>
          <p:cNvGrpSpPr/>
          <p:nvPr/>
        </p:nvGrpSpPr>
        <p:grpSpPr>
          <a:xfrm>
            <a:off x="6477000" y="3767138"/>
            <a:ext cx="3276600" cy="2176463"/>
            <a:chOff x="3120" y="2373"/>
            <a:chExt cx="2064" cy="1371"/>
          </a:xfrm>
        </p:grpSpPr>
        <p:sp>
          <p:nvSpPr>
            <p:cNvPr id="130063" name="Oval 78"/>
            <p:cNvSpPr/>
            <p:nvPr/>
          </p:nvSpPr>
          <p:spPr>
            <a:xfrm>
              <a:off x="4186" y="2900"/>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a</a:t>
              </a:r>
              <a:endParaRPr lang="en-US" altLang="zh-CN" sz="1800" i="1" dirty="0">
                <a:solidFill>
                  <a:schemeClr val="tx2"/>
                </a:solidFill>
                <a:ea typeface="宋体" panose="02010600030101010101" pitchFamily="2" charset="-122"/>
              </a:endParaRPr>
            </a:p>
          </p:txBody>
        </p:sp>
        <p:sp>
          <p:nvSpPr>
            <p:cNvPr id="130064" name="Text Box 79"/>
            <p:cNvSpPr txBox="1"/>
            <p:nvPr/>
          </p:nvSpPr>
          <p:spPr>
            <a:xfrm>
              <a:off x="4180" y="2716"/>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7</a:t>
              </a:r>
              <a:endParaRPr lang="en-US" altLang="zh-CN" sz="1800" dirty="0">
                <a:solidFill>
                  <a:schemeClr val="tx2"/>
                </a:solidFill>
                <a:ea typeface="宋体" panose="02010600030101010101" pitchFamily="2" charset="-122"/>
              </a:endParaRPr>
            </a:p>
          </p:txBody>
        </p:sp>
        <p:sp>
          <p:nvSpPr>
            <p:cNvPr id="130065" name="Oval 82"/>
            <p:cNvSpPr/>
            <p:nvPr/>
          </p:nvSpPr>
          <p:spPr>
            <a:xfrm>
              <a:off x="4426" y="3244"/>
              <a:ext cx="176"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b</a:t>
              </a:r>
              <a:endParaRPr lang="en-US" altLang="zh-CN" sz="1800" i="1" dirty="0">
                <a:solidFill>
                  <a:schemeClr val="tx2"/>
                </a:solidFill>
                <a:ea typeface="宋体" panose="02010600030101010101" pitchFamily="2" charset="-122"/>
              </a:endParaRPr>
            </a:p>
          </p:txBody>
        </p:sp>
        <p:sp>
          <p:nvSpPr>
            <p:cNvPr id="130066" name="Text Box 83"/>
            <p:cNvSpPr txBox="1"/>
            <p:nvPr/>
          </p:nvSpPr>
          <p:spPr>
            <a:xfrm>
              <a:off x="4425" y="3059"/>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5</a:t>
              </a:r>
              <a:endParaRPr lang="en-US" altLang="zh-CN" sz="1800" dirty="0">
                <a:solidFill>
                  <a:schemeClr val="tx2"/>
                </a:solidFill>
                <a:ea typeface="宋体" panose="02010600030101010101" pitchFamily="2" charset="-122"/>
              </a:endParaRPr>
            </a:p>
          </p:txBody>
        </p:sp>
        <p:sp>
          <p:nvSpPr>
            <p:cNvPr id="130067" name="Oval 86"/>
            <p:cNvSpPr/>
            <p:nvPr/>
          </p:nvSpPr>
          <p:spPr>
            <a:xfrm>
              <a:off x="4638" y="3566"/>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c</a:t>
              </a:r>
              <a:endParaRPr lang="en-US" altLang="zh-CN" sz="1800" i="1" dirty="0">
                <a:solidFill>
                  <a:schemeClr val="tx2"/>
                </a:solidFill>
                <a:ea typeface="宋体" panose="02010600030101010101" pitchFamily="2" charset="-122"/>
              </a:endParaRPr>
            </a:p>
          </p:txBody>
        </p:sp>
        <p:sp>
          <p:nvSpPr>
            <p:cNvPr id="130068" name="Text Box 87"/>
            <p:cNvSpPr txBox="1"/>
            <p:nvPr/>
          </p:nvSpPr>
          <p:spPr>
            <a:xfrm>
              <a:off x="4634" y="3383"/>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2</a:t>
              </a:r>
              <a:endParaRPr lang="en-US" altLang="zh-CN" sz="1800" dirty="0">
                <a:solidFill>
                  <a:schemeClr val="tx2"/>
                </a:solidFill>
                <a:ea typeface="宋体" panose="02010600030101010101" pitchFamily="2" charset="-122"/>
              </a:endParaRPr>
            </a:p>
          </p:txBody>
        </p:sp>
        <p:sp>
          <p:nvSpPr>
            <p:cNvPr id="130069" name="Oval 89"/>
            <p:cNvSpPr/>
            <p:nvPr/>
          </p:nvSpPr>
          <p:spPr>
            <a:xfrm>
              <a:off x="5003" y="3566"/>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i="1" dirty="0">
                  <a:solidFill>
                    <a:schemeClr val="tx2"/>
                  </a:solidFill>
                  <a:ea typeface="宋体" panose="02010600030101010101" pitchFamily="2" charset="-122"/>
                </a:rPr>
                <a:t>d</a:t>
              </a:r>
              <a:endParaRPr lang="en-US" altLang="zh-CN" sz="1800" i="1" dirty="0">
                <a:solidFill>
                  <a:schemeClr val="tx2"/>
                </a:solidFill>
                <a:ea typeface="宋体" panose="02010600030101010101" pitchFamily="2" charset="-122"/>
              </a:endParaRPr>
            </a:p>
          </p:txBody>
        </p:sp>
        <p:sp>
          <p:nvSpPr>
            <p:cNvPr id="130070" name="Text Box 90"/>
            <p:cNvSpPr txBox="1"/>
            <p:nvPr/>
          </p:nvSpPr>
          <p:spPr>
            <a:xfrm>
              <a:off x="4996" y="3384"/>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4</a:t>
              </a:r>
              <a:endParaRPr lang="en-US" altLang="zh-CN" sz="1800" dirty="0">
                <a:solidFill>
                  <a:schemeClr val="tx2"/>
                </a:solidFill>
                <a:ea typeface="宋体" panose="02010600030101010101" pitchFamily="2" charset="-122"/>
              </a:endParaRPr>
            </a:p>
          </p:txBody>
        </p:sp>
        <p:sp>
          <p:nvSpPr>
            <p:cNvPr id="130071" name="Oval 92"/>
            <p:cNvSpPr/>
            <p:nvPr/>
          </p:nvSpPr>
          <p:spPr>
            <a:xfrm>
              <a:off x="4827" y="3233"/>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i="1" dirty="0">
                <a:solidFill>
                  <a:schemeClr val="tx2"/>
                </a:solidFill>
                <a:ea typeface="宋体" panose="02010600030101010101" pitchFamily="2" charset="-122"/>
              </a:endParaRPr>
            </a:p>
          </p:txBody>
        </p:sp>
        <p:sp>
          <p:nvSpPr>
            <p:cNvPr id="130072" name="Text Box 93"/>
            <p:cNvSpPr txBox="1"/>
            <p:nvPr/>
          </p:nvSpPr>
          <p:spPr>
            <a:xfrm>
              <a:off x="4813" y="3058"/>
              <a:ext cx="188"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6</a:t>
              </a:r>
              <a:endParaRPr lang="en-US" altLang="zh-CN" sz="1800" dirty="0">
                <a:solidFill>
                  <a:schemeClr val="tx2"/>
                </a:solidFill>
                <a:ea typeface="宋体" panose="02010600030101010101" pitchFamily="2" charset="-122"/>
              </a:endParaRPr>
            </a:p>
          </p:txBody>
        </p:sp>
        <p:sp>
          <p:nvSpPr>
            <p:cNvPr id="130073" name="Line 94"/>
            <p:cNvSpPr/>
            <p:nvPr/>
          </p:nvSpPr>
          <p:spPr>
            <a:xfrm flipH="1">
              <a:off x="4778" y="3403"/>
              <a:ext cx="100" cy="189"/>
            </a:xfrm>
            <a:prstGeom prst="line">
              <a:avLst/>
            </a:prstGeom>
            <a:ln w="9525" cap="flat" cmpd="sng">
              <a:solidFill>
                <a:schemeClr val="tx1"/>
              </a:solidFill>
              <a:prstDash val="solid"/>
              <a:headEnd type="none" w="med" len="med"/>
              <a:tailEnd type="none" w="med" len="med"/>
            </a:ln>
          </p:spPr>
        </p:sp>
        <p:sp>
          <p:nvSpPr>
            <p:cNvPr id="130074" name="Line 95"/>
            <p:cNvSpPr/>
            <p:nvPr/>
          </p:nvSpPr>
          <p:spPr>
            <a:xfrm>
              <a:off x="4933" y="3403"/>
              <a:ext cx="112" cy="178"/>
            </a:xfrm>
            <a:prstGeom prst="line">
              <a:avLst/>
            </a:prstGeom>
            <a:ln w="9525" cap="flat" cmpd="sng">
              <a:solidFill>
                <a:schemeClr val="tx1"/>
              </a:solidFill>
              <a:prstDash val="solid"/>
              <a:headEnd type="none" w="med" len="med"/>
              <a:tailEnd type="none" w="med" len="med"/>
            </a:ln>
          </p:spPr>
        </p:sp>
        <p:sp>
          <p:nvSpPr>
            <p:cNvPr id="130075" name="Oval 97"/>
            <p:cNvSpPr/>
            <p:nvPr/>
          </p:nvSpPr>
          <p:spPr>
            <a:xfrm>
              <a:off x="4621" y="2896"/>
              <a:ext cx="17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dirty="0">
                <a:solidFill>
                  <a:schemeClr val="tx2"/>
                </a:solidFill>
                <a:ea typeface="宋体" panose="02010600030101010101" pitchFamily="2" charset="-122"/>
              </a:endParaRPr>
            </a:p>
          </p:txBody>
        </p:sp>
        <p:sp>
          <p:nvSpPr>
            <p:cNvPr id="130076" name="Text Box 98"/>
            <p:cNvSpPr txBox="1"/>
            <p:nvPr/>
          </p:nvSpPr>
          <p:spPr>
            <a:xfrm>
              <a:off x="4584" y="2711"/>
              <a:ext cx="261"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11</a:t>
              </a:r>
              <a:endParaRPr lang="en-US" altLang="zh-CN" sz="1800" dirty="0">
                <a:solidFill>
                  <a:schemeClr val="tx2"/>
                </a:solidFill>
                <a:ea typeface="宋体" panose="02010600030101010101" pitchFamily="2" charset="-122"/>
              </a:endParaRPr>
            </a:p>
          </p:txBody>
        </p:sp>
        <p:sp>
          <p:nvSpPr>
            <p:cNvPr id="130077" name="Line 99"/>
            <p:cNvSpPr/>
            <p:nvPr/>
          </p:nvSpPr>
          <p:spPr>
            <a:xfrm flipH="1">
              <a:off x="4581" y="3063"/>
              <a:ext cx="89" cy="200"/>
            </a:xfrm>
            <a:prstGeom prst="line">
              <a:avLst/>
            </a:prstGeom>
            <a:ln w="9525" cap="flat" cmpd="sng">
              <a:solidFill>
                <a:schemeClr val="tx1"/>
              </a:solidFill>
              <a:prstDash val="solid"/>
              <a:headEnd type="none" w="med" len="med"/>
              <a:tailEnd type="none" w="med" len="med"/>
            </a:ln>
          </p:spPr>
        </p:sp>
        <p:sp>
          <p:nvSpPr>
            <p:cNvPr id="130078" name="Line 100"/>
            <p:cNvSpPr/>
            <p:nvPr/>
          </p:nvSpPr>
          <p:spPr>
            <a:xfrm>
              <a:off x="4759" y="3063"/>
              <a:ext cx="100" cy="200"/>
            </a:xfrm>
            <a:prstGeom prst="line">
              <a:avLst/>
            </a:prstGeom>
            <a:ln w="9525" cap="flat" cmpd="sng">
              <a:solidFill>
                <a:schemeClr val="tx1"/>
              </a:solidFill>
              <a:prstDash val="solid"/>
              <a:headEnd type="none" w="med" len="med"/>
              <a:tailEnd type="none" w="med" len="med"/>
            </a:ln>
          </p:spPr>
        </p:sp>
        <p:sp>
          <p:nvSpPr>
            <p:cNvPr id="130079" name="Oval 102"/>
            <p:cNvSpPr/>
            <p:nvPr/>
          </p:nvSpPr>
          <p:spPr>
            <a:xfrm>
              <a:off x="4405" y="2563"/>
              <a:ext cx="167" cy="17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dirty="0">
                <a:solidFill>
                  <a:schemeClr val="tx2"/>
                </a:solidFill>
                <a:ea typeface="宋体" panose="02010600030101010101" pitchFamily="2" charset="-122"/>
              </a:endParaRPr>
            </a:p>
          </p:txBody>
        </p:sp>
        <p:sp>
          <p:nvSpPr>
            <p:cNvPr id="130080" name="Text Box 103"/>
            <p:cNvSpPr txBox="1"/>
            <p:nvPr/>
          </p:nvSpPr>
          <p:spPr>
            <a:xfrm>
              <a:off x="4356" y="2373"/>
              <a:ext cx="261" cy="23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18</a:t>
              </a:r>
              <a:endParaRPr lang="en-US" altLang="zh-CN" sz="1800" dirty="0">
                <a:solidFill>
                  <a:schemeClr val="tx2"/>
                </a:solidFill>
                <a:ea typeface="宋体" panose="02010600030101010101" pitchFamily="2" charset="-122"/>
              </a:endParaRPr>
            </a:p>
          </p:txBody>
        </p:sp>
        <p:sp>
          <p:nvSpPr>
            <p:cNvPr id="130081" name="Line 104"/>
            <p:cNvSpPr/>
            <p:nvPr/>
          </p:nvSpPr>
          <p:spPr>
            <a:xfrm flipH="1">
              <a:off x="4331" y="2712"/>
              <a:ext cx="111" cy="211"/>
            </a:xfrm>
            <a:prstGeom prst="line">
              <a:avLst/>
            </a:prstGeom>
            <a:ln w="9525" cap="flat" cmpd="sng">
              <a:solidFill>
                <a:schemeClr val="tx1"/>
              </a:solidFill>
              <a:prstDash val="solid"/>
              <a:headEnd type="none" w="med" len="med"/>
              <a:tailEnd type="none" w="med" len="med"/>
            </a:ln>
          </p:spPr>
        </p:sp>
        <p:sp>
          <p:nvSpPr>
            <p:cNvPr id="130082" name="Line 105"/>
            <p:cNvSpPr/>
            <p:nvPr/>
          </p:nvSpPr>
          <p:spPr>
            <a:xfrm>
              <a:off x="4520" y="2734"/>
              <a:ext cx="122" cy="200"/>
            </a:xfrm>
            <a:prstGeom prst="line">
              <a:avLst/>
            </a:prstGeom>
            <a:ln w="9525" cap="flat" cmpd="sng">
              <a:solidFill>
                <a:schemeClr val="tx1"/>
              </a:solidFill>
              <a:prstDash val="solid"/>
              <a:headEnd type="none" w="med" len="med"/>
              <a:tailEnd type="none" w="med" len="med"/>
            </a:ln>
          </p:spPr>
        </p:sp>
        <p:sp>
          <p:nvSpPr>
            <p:cNvPr id="97" name="圆角矩形标注 96"/>
            <p:cNvSpPr/>
            <p:nvPr/>
          </p:nvSpPr>
          <p:spPr bwMode="auto">
            <a:xfrm>
              <a:off x="3120" y="2640"/>
              <a:ext cx="480" cy="288"/>
            </a:xfrm>
            <a:prstGeom prst="wedgeRoundRectCallout">
              <a:avLst>
                <a:gd name="adj1" fmla="val 67302"/>
                <a:gd name="adj2" fmla="val -22206"/>
                <a:gd name="adj3" fmla="val 16667"/>
              </a:avLst>
            </a:prstGeom>
            <a:solidFill>
              <a:schemeClr val="accent1">
                <a:lumMod val="20000"/>
                <a:lumOff val="80000"/>
              </a:schemeClr>
            </a:solidFill>
            <a:ln w="9525">
              <a:solidFill>
                <a:schemeClr val="tx1"/>
              </a:solidFill>
              <a:round/>
            </a:ln>
            <a:effectLst>
              <a:outerShdw blurRad="50800" dist="38100" dir="2700000" algn="tl" rotWithShape="0">
                <a:prstClr val="black">
                  <a:alpha val="40000"/>
                </a:prstClr>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第</a:t>
              </a:r>
              <a:r>
                <a:rPr kumimoji="1" lang="en-US" altLang="zh-CN"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4</a:t>
              </a:r>
              <a:r>
                <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rPr>
                <a:t>步</a:t>
              </a:r>
              <a:endParaRPr kumimoji="1" lang="zh-CN" altLang="en-US" sz="1800" b="0" i="0" u="none" strike="noStrike" kern="1200" cap="none" spc="0" normalizeH="0" baseline="0" noProof="0" dirty="0">
                <a:ln>
                  <a:noFill/>
                </a:ln>
                <a:solidFill>
                  <a:schemeClr val="tx1"/>
                </a:solidFill>
                <a:effectLst/>
                <a:uLnTx/>
                <a:uFillTx/>
                <a:latin typeface="楷体_GB2312" panose="02010609030101010101" pitchFamily="49" charset="-122"/>
                <a:ea typeface="楷体_GB2312" panose="02010609030101010101" pitchFamily="49" charset="-122"/>
                <a:cs typeface="+mn-cs"/>
              </a:endParaRPr>
            </a:p>
          </p:txBody>
        </p:sp>
      </p:gr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构造赫夫曼树过程例</a:t>
            </a:r>
            <a:r>
              <a:rPr lang="zh-CN" altLang="en-US" sz="3600" b="1" i="1"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6" name="文本框 5"/>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3"/>
          <p:cNvSpPr>
            <a:spLocks noGrp="1"/>
          </p:cNvSpPr>
          <p:nvPr>
            <p:ph idx="1"/>
          </p:nvPr>
        </p:nvSpPr>
        <p:spPr>
          <a:xfrm>
            <a:off x="483870" y="1398905"/>
            <a:ext cx="10869930" cy="4778375"/>
          </a:xfrm>
        </p:spPr>
        <p:txBody>
          <a:bodyPr vert="horz" wrap="square" lIns="91440" tIns="45720" rIns="91440" bIns="45720" anchor="t" anchorCtr="0"/>
          <a:p>
            <a:pPr>
              <a:lnSpc>
                <a:spcPct val="13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具有</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个树叶结点的赫夫曼树总的结点个数为</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2n-1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。由于树中的结点数是确定的 ，选择</a:t>
            </a:r>
            <a:r>
              <a:rPr lang="zh-CN" altLang="en-US" sz="20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静态三叉树表</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作为存储结构。</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静态三叉树表结点结构</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817880" y="3042285"/>
            <a:ext cx="7391400" cy="18288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HTnode.h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赫夫曼树节点结构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HTnode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char ch;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weight,parent,lchild,rchild;</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赫夫曼树存储</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9" name="Rectangle 5"/>
          <p:cNvSpPr/>
          <p:nvPr/>
        </p:nvSpPr>
        <p:spPr>
          <a:xfrm>
            <a:off x="5942965" y="-18478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32100" name="Object 4"/>
          <p:cNvGraphicFramePr>
            <a:graphicFrameLocks noChangeAspect="1"/>
          </p:cNvGraphicFramePr>
          <p:nvPr/>
        </p:nvGraphicFramePr>
        <p:xfrm>
          <a:off x="993775" y="1246505"/>
          <a:ext cx="10019665" cy="4244975"/>
        </p:xfrm>
        <a:graphic>
          <a:graphicData uri="http://schemas.openxmlformats.org/presentationml/2006/ole">
            <mc:AlternateContent xmlns:mc="http://schemas.openxmlformats.org/markup-compatibility/2006">
              <mc:Choice xmlns:v="urn:schemas-microsoft-com:vml" Requires="v">
                <p:oleObj spid="_x0000_s3097" name="" r:id="rId1" imgW="5740400" imgH="2425700" progId="Visio.Drawing.11">
                  <p:embed/>
                </p:oleObj>
              </mc:Choice>
              <mc:Fallback>
                <p:oleObj name="" r:id="rId1" imgW="5740400" imgH="2425700" progId="Visio.Drawing.11">
                  <p:embed/>
                  <p:pic>
                    <p:nvPicPr>
                      <p:cNvPr id="0" name="图片 3096"/>
                      <p:cNvPicPr/>
                      <p:nvPr/>
                    </p:nvPicPr>
                    <p:blipFill>
                      <a:blip r:embed="rId2"/>
                      <a:stretch>
                        <a:fillRect/>
                      </a:stretch>
                    </p:blipFill>
                    <p:spPr>
                      <a:xfrm>
                        <a:off x="993775" y="1246505"/>
                        <a:ext cx="10019665" cy="4244975"/>
                      </a:xfrm>
                      <a:prstGeom prst="rect">
                        <a:avLst/>
                      </a:prstGeom>
                      <a:noFill/>
                      <a:ln w="38100">
                        <a:noFill/>
                        <a:miter/>
                      </a:ln>
                    </p:spPr>
                  </p:pic>
                </p:oleObj>
              </mc:Fallback>
            </mc:AlternateContent>
          </a:graphicData>
        </a:graphic>
      </p:graphicFrame>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赫夫曼树存储</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3" name="Rectangle 5"/>
          <p:cNvSpPr/>
          <p:nvPr/>
        </p:nvSpPr>
        <p:spPr>
          <a:xfrm>
            <a:off x="5942965" y="-18478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pic>
        <p:nvPicPr>
          <p:cNvPr id="133124" name="Picture 7"/>
          <p:cNvPicPr>
            <a:picLocks noChangeAspect="1"/>
          </p:cNvPicPr>
          <p:nvPr/>
        </p:nvPicPr>
        <p:blipFill>
          <a:blip r:embed="rId1"/>
          <a:stretch>
            <a:fillRect/>
          </a:stretch>
        </p:blipFill>
        <p:spPr>
          <a:xfrm>
            <a:off x="2010410" y="1313180"/>
            <a:ext cx="6887210" cy="5169535"/>
          </a:xfrm>
          <a:prstGeom prst="rect">
            <a:avLst/>
          </a:prstGeom>
          <a:noFill/>
          <a:ln w="3175">
            <a:noFill/>
          </a:ln>
        </p:spPr>
      </p:pic>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赫夫曼树存储</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7" name="Rectangle 3"/>
          <p:cNvSpPr>
            <a:spLocks noGrp="1"/>
          </p:cNvSpPr>
          <p:nvPr>
            <p:ph idx="1"/>
          </p:nvPr>
        </p:nvSpPr>
        <p:spPr>
          <a:xfrm>
            <a:off x="593725" y="1308100"/>
            <a:ext cx="10760075" cy="4869180"/>
          </a:xfrm>
        </p:spPr>
        <p:txBody>
          <a:bodyPr vert="horz" wrap="square" lIns="91440" tIns="45720" rIns="91440" bIns="45720" anchor="t" anchorCtr="0"/>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实现的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HuffmanTree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类定义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964565" y="1828800"/>
            <a:ext cx="9139555" cy="448945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赫夫曼树类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class HuffmanTree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将赫夫曼编码类作为赫夫曼类的友元类（后面用到）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friend class HuffmanCoder;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public:</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构造函数：分配</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2*n-1</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个存储单元的顺序空间</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正则树）。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HuffmanTree(int n, char chA[], int weightA[])</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m_HTsize (0), m_HT (NULL)</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_Create (n, chA, weightA);//</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根据字符表和相应权值，创建赫夫曼树</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析构函数</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~HuffmanTree()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delete[]m_HT;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赫夫曼树及赫夫曼编码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1" name="Rectangle 3"/>
          <p:cNvSpPr>
            <a:spLocks noGrp="1"/>
          </p:cNvSpPr>
          <p:nvPr>
            <p:ph idx="1"/>
          </p:nvPr>
        </p:nvSpPr>
        <p:spPr>
          <a:xfrm>
            <a:off x="584835" y="1298575"/>
            <a:ext cx="10768965" cy="4878705"/>
          </a:xfrm>
        </p:spPr>
        <p:txBody>
          <a:bodyPr vert="horz" wrap="square" lIns="91440" tIns="45720" rIns="91440" bIns="45720" anchor="t" anchorCtr="0"/>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实现的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HuffmanTree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类定义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860425" y="1905000"/>
            <a:ext cx="8666480" cy="38100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void Display();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显示赫夫曼树</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private:</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m_HTsize;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树叶结点个数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HTnode* m_HT;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静态树表基地址指针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根据字符表和相应权值，建立赫夫曼树</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_Create(int,char chA[],int weightA[]);</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在前</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个节点中选择</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parent</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为</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且</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weight</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最小的结点</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获得其序号</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_MinVal(const int &amp;);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挑选两棵具有最小权值的子树</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_Select(const int,int &amp;,int &amp;);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赫夫曼树及赫夫曼编码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5" name="Rectangle 3"/>
          <p:cNvSpPr>
            <a:spLocks noGrp="1"/>
          </p:cNvSpPr>
          <p:nvPr>
            <p:ph idx="1"/>
          </p:nvPr>
        </p:nvSpPr>
        <p:spPr>
          <a:xfrm>
            <a:off x="538480" y="1336040"/>
            <a:ext cx="10815320" cy="4841240"/>
          </a:xfrm>
        </p:spPr>
        <p:txBody>
          <a:bodyPr vert="horz" wrap="square" lIns="91440" tIns="45720" rIns="91440" bIns="45720" anchor="t" anchorCtr="0"/>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其它成员函数 </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36196" name="Object 6"/>
          <p:cNvGraphicFramePr>
            <a:graphicFrameLocks noChangeAspect="1"/>
          </p:cNvGraphicFramePr>
          <p:nvPr/>
        </p:nvGraphicFramePr>
        <p:xfrm>
          <a:off x="5638800" y="3014663"/>
          <a:ext cx="914400" cy="828675"/>
        </p:xfrm>
        <a:graphic>
          <a:graphicData uri="http://schemas.openxmlformats.org/presentationml/2006/ole">
            <mc:AlternateContent xmlns:mc="http://schemas.openxmlformats.org/markup-compatibility/2006">
              <mc:Choice xmlns:v="urn:schemas-microsoft-com:vml" Requires="v">
                <p:oleObj spid="_x0000_s3098" name="" showAsIcon="1" r:id="rId1" imgW="914400" imgH="828675" progId="Word.Document.8">
                  <p:embed/>
                </p:oleObj>
              </mc:Choice>
              <mc:Fallback>
                <p:oleObj name="" showAsIcon="1" r:id="rId1" imgW="914400" imgH="828675" progId="Word.Document.8">
                  <p:embed/>
                  <p:pic>
                    <p:nvPicPr>
                      <p:cNvPr id="0" name="图片 3097"/>
                      <p:cNvPicPr/>
                      <p:nvPr/>
                    </p:nvPicPr>
                    <p:blipFill>
                      <a:blip r:embed="rId2"/>
                      <a:stretch>
                        <a:fillRect/>
                      </a:stretch>
                    </p:blipFill>
                    <p:spPr>
                      <a:xfrm>
                        <a:off x="5638800" y="3014663"/>
                        <a:ext cx="914400" cy="828675"/>
                      </a:xfrm>
                      <a:prstGeom prst="rect">
                        <a:avLst/>
                      </a:prstGeom>
                      <a:noFill/>
                      <a:ln w="38100">
                        <a:noFill/>
                        <a:miter/>
                      </a:ln>
                    </p:spPr>
                  </p:pic>
                </p:oleObj>
              </mc:Fallback>
            </mc:AlternateContent>
          </a:graphicData>
        </a:graphic>
      </p:graphicFrame>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赫夫曼树及赫夫曼编码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9" name="Rectangle 3"/>
          <p:cNvSpPr>
            <a:spLocks noGrp="1"/>
          </p:cNvSpPr>
          <p:nvPr>
            <p:ph idx="1"/>
          </p:nvPr>
        </p:nvSpPr>
        <p:spPr>
          <a:xfrm>
            <a:off x="548005" y="1217295"/>
            <a:ext cx="10805795" cy="4959985"/>
          </a:xfrm>
        </p:spPr>
        <p:txBody>
          <a:bodyPr vert="horz" wrap="square" lIns="91440" tIns="45720" rIns="91440" bIns="45720" anchor="t" anchorCtr="0">
            <a:noAutofit/>
          </a:bodyPr>
          <a:p>
            <a:pPr eaLnBrk="1" hangingPunct="1">
              <a:lnSpc>
                <a:spcPct val="170000"/>
              </a:lnSpc>
            </a:pPr>
            <a:r>
              <a:rPr lang="zh-CN" altLang="en-US" sz="2400" dirty="0">
                <a:latin typeface="微软雅黑" panose="020B0503020204020204" pitchFamily="34" charset="-122"/>
                <a:ea typeface="微软雅黑" panose="020B0503020204020204" pitchFamily="34" charset="-122"/>
              </a:rPr>
              <a:t>前缀编码</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rPr>
              <a:t>通信领域，常以将传送的文字转换成二进制字符串的方式进行，赫夫曼树的一个重要应用是在通信中构造最优的前缀编码，从而使得传送的电文长度达到最短。</a:t>
            </a:r>
            <a:endParaRPr lang="zh-CN" altLang="en-US" sz="2000" dirty="0">
              <a:latin typeface="微软雅黑" panose="020B0503020204020204" pitchFamily="34" charset="-122"/>
              <a:ea typeface="微软雅黑" panose="020B0503020204020204" pitchFamily="34" charset="-122"/>
            </a:endParaRPr>
          </a:p>
          <a:p>
            <a:pPr lvl="1" eaLnBrk="1" hangingPunct="1">
              <a:lnSpc>
                <a:spcPct val="170000"/>
              </a:lnSpc>
            </a:pPr>
            <a:r>
              <a:rPr lang="zh-CN" altLang="en-US" sz="2000" b="1" dirty="0">
                <a:latin typeface="微软雅黑" panose="020B0503020204020204" pitchFamily="34" charset="-122"/>
                <a:ea typeface="微软雅黑" panose="020B0503020204020204" pitchFamily="34" charset="-122"/>
              </a:rPr>
              <a:t>前缀编码</a:t>
            </a:r>
            <a:r>
              <a:rPr lang="zh-CN" altLang="en-US" sz="2000" dirty="0">
                <a:latin typeface="微软雅黑" panose="020B0503020204020204" pitchFamily="34" charset="-122"/>
                <a:ea typeface="微软雅黑" panose="020B0503020204020204" pitchFamily="34" charset="-122"/>
              </a:rPr>
              <a:t>指的是，</a:t>
            </a:r>
            <a:r>
              <a:rPr lang="zh-CN" altLang="en-US" sz="2000" b="1" dirty="0">
                <a:solidFill>
                  <a:srgbClr val="C00000"/>
                </a:solidFill>
                <a:latin typeface="微软雅黑" panose="020B0503020204020204" pitchFamily="34" charset="-122"/>
                <a:ea typeface="微软雅黑" panose="020B0503020204020204" pitchFamily="34" charset="-122"/>
              </a:rPr>
              <a:t>任何一个字符的编码都不是同一字符集中另一个字符的编码的前缀。</a:t>
            </a:r>
            <a:endParaRPr lang="zh-CN" altLang="en-US" sz="2000" b="1" dirty="0">
              <a:solidFill>
                <a:srgbClr val="FF0000"/>
              </a:solidFill>
              <a:latin typeface="微软雅黑" panose="020B0503020204020204" pitchFamily="34" charset="-122"/>
              <a:ea typeface="微软雅黑" panose="020B0503020204020204" pitchFamily="34" charset="-122"/>
            </a:endParaRPr>
          </a:p>
          <a:p>
            <a:pPr lvl="1" eaLnBrk="1" hangingPunct="1">
              <a:lnSpc>
                <a:spcPct val="170000"/>
              </a:lnSpc>
            </a:pPr>
            <a:r>
              <a:rPr lang="zh-CN" altLang="en-US" sz="2000" dirty="0">
                <a:latin typeface="微软雅黑" panose="020B0503020204020204" pitchFamily="34" charset="-122"/>
                <a:ea typeface="微软雅黑" panose="020B0503020204020204" pitchFamily="34" charset="-122"/>
              </a:rPr>
              <a:t>利用赫夫曼树可以构造一种</a:t>
            </a:r>
            <a:r>
              <a:rPr lang="zh-CN" altLang="en-US" sz="2000" b="1" dirty="0">
                <a:latin typeface="微软雅黑" panose="020B0503020204020204" pitchFamily="34" charset="-122"/>
                <a:ea typeface="微软雅黑" panose="020B0503020204020204" pitchFamily="34" charset="-122"/>
              </a:rPr>
              <a:t>不等长的二进制编码</a:t>
            </a:r>
            <a:r>
              <a:rPr lang="zh-CN" altLang="en-US" sz="2000" dirty="0">
                <a:latin typeface="微软雅黑" panose="020B0503020204020204" pitchFamily="34" charset="-122"/>
                <a:ea typeface="微软雅黑" panose="020B0503020204020204" pitchFamily="34" charset="-122"/>
              </a:rPr>
              <a:t>，并且构造所得的赫夫曼编码是一种最优前缀编码，即使所传电文的总长度最短。</a:t>
            </a:r>
            <a:endParaRPr lang="zh-CN" altLang="en-US" sz="2000" dirty="0">
              <a:latin typeface="微软雅黑" panose="020B0503020204020204" pitchFamily="34" charset="-122"/>
              <a:ea typeface="微软雅黑" panose="020B0503020204020204" pitchFamily="34" charset="-122"/>
            </a:endParaRPr>
          </a:p>
          <a:p>
            <a:pPr eaLnBrk="1" hangingPunct="1">
              <a:lnSpc>
                <a:spcPct val="170000"/>
              </a:lnSpc>
            </a:pPr>
            <a:endParaRPr lang="zh-CN" altLang="en-US" sz="2000" dirty="0">
              <a:latin typeface="微软雅黑" panose="020B0503020204020204" pitchFamily="34" charset="-122"/>
              <a:ea typeface="微软雅黑" panose="020B0503020204020204" pitchFamily="34" charset="-122"/>
            </a:endParaRPr>
          </a:p>
        </p:txBody>
      </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 赫夫曼树编码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3" name="Rectangle 3"/>
          <p:cNvSpPr>
            <a:spLocks noGrp="1"/>
          </p:cNvSpPr>
          <p:nvPr>
            <p:ph idx="1"/>
          </p:nvPr>
        </p:nvSpPr>
        <p:spPr>
          <a:xfrm>
            <a:off x="448310" y="1062990"/>
            <a:ext cx="10905490" cy="5114290"/>
          </a:xfrm>
        </p:spPr>
        <p:txBody>
          <a:bodyPr vert="horz" wrap="square" lIns="91440" tIns="45720" rIns="91440" bIns="45720" anchor="t" anchorCtr="0"/>
          <a:p>
            <a:pPr eaLnBrk="1" hangingPunct="1">
              <a:lnSpc>
                <a:spcPct val="190000"/>
              </a:lnSpc>
              <a:buFont typeface="Wingdings" panose="05000000000000000000" charset="0"/>
              <a:buChar char="Ø"/>
            </a:pP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Huffman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编码：数据通信用的二进制编码</a:t>
            </a:r>
            <a:endParaRPr lang="en-US"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9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思想：根据字符出现频率编码，使电文总长最短</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9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编码：根据字符出现频率构造</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Huffman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树，然后将树中结点引向其左孩子的分支标“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，引向其右孩子的分支标“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；每个字符的编码即为从根到每个叶子的路径上得到的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序列。</a:t>
            </a:r>
            <a:endParaRPr lang="zh-CN" altLang="en-US" sz="28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90000"/>
              </a:lnSpc>
              <a:buNone/>
            </a:pPr>
            <a:endParaRPr lang="zh-CN" altLang="en-US" sz="2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 赫夫曼树编码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7" name="内容占位符 2"/>
          <p:cNvSpPr>
            <a:spLocks noGrp="1"/>
          </p:cNvSpPr>
          <p:nvPr>
            <p:ph idx="1"/>
          </p:nvPr>
        </p:nvSpPr>
        <p:spPr>
          <a:xfrm>
            <a:off x="665480" y="1280795"/>
            <a:ext cx="10688320" cy="4896485"/>
          </a:xfrm>
        </p:spPr>
        <p:txBody>
          <a:bodyPr vert="horz" wrap="square" lIns="91440" tIns="45720" rIns="91440" bIns="45720" anchor="t" anchorCtr="0"/>
          <a:p>
            <a:pPr>
              <a:lnSpc>
                <a:spcPct val="13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原始电文是</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30000"/>
              </a:lnSpc>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CAS;CAT;SAT;AT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统计各字符出现的次数</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endParaRPr lang="en-US" altLang="zh-CN" sz="2000" dirty="0"/>
          </a:p>
          <a:p>
            <a:endParaRPr lang="zh-CN" altLang="en-US" sz="2000" dirty="0"/>
          </a:p>
        </p:txBody>
      </p:sp>
      <p:graphicFrame>
        <p:nvGraphicFramePr>
          <p:cNvPr id="4" name="表格 3"/>
          <p:cNvGraphicFramePr>
            <a:graphicFrameLocks noGrp="1"/>
          </p:cNvGraphicFramePr>
          <p:nvPr>
            <p:custDataLst>
              <p:tags r:id="rId1"/>
            </p:custDataLst>
          </p:nvPr>
        </p:nvGraphicFramePr>
        <p:xfrm>
          <a:off x="4175760" y="2870200"/>
          <a:ext cx="3139440" cy="2366010"/>
        </p:xfrm>
        <a:graphic>
          <a:graphicData uri="http://schemas.openxmlformats.org/drawingml/2006/table">
            <a:tbl>
              <a:tblPr firstRow="1" bandRow="1">
                <a:tableStyleId>{5940675A-B579-460E-94D1-54222C63F5DA}</a:tableStyleId>
              </a:tblPr>
              <a:tblGrid>
                <a:gridCol w="1524635"/>
                <a:gridCol w="1614805"/>
              </a:tblGrid>
              <a:tr h="394335">
                <a:tc>
                  <a:txBody>
                    <a:bodyPr/>
                    <a:lstStyle/>
                    <a:p>
                      <a:pPr algn="ctr"/>
                      <a:r>
                        <a:rPr lang="zh-CN" altLang="en-US" sz="1800" dirty="0" smtClean="0"/>
                        <a:t>字符</a:t>
                      </a:r>
                      <a:endParaRPr lang="zh-CN" altLang="en-US" sz="1800" dirty="0"/>
                    </a:p>
                  </a:txBody>
                  <a:tcPr marT="45733" marB="45733"/>
                </a:tc>
                <a:tc>
                  <a:txBody>
                    <a:bodyPr/>
                    <a:lstStyle/>
                    <a:p>
                      <a:pPr algn="ctr"/>
                      <a:r>
                        <a:rPr lang="zh-CN" altLang="en-US" sz="1800" dirty="0" smtClean="0"/>
                        <a:t>出现次数</a:t>
                      </a:r>
                      <a:endParaRPr lang="zh-CN" altLang="en-US" sz="1800" dirty="0"/>
                    </a:p>
                  </a:txBody>
                  <a:tcPr marT="45733" marB="45733"/>
                </a:tc>
              </a:tr>
              <a:tr h="394335">
                <a:tc>
                  <a:txBody>
                    <a:bodyPr/>
                    <a:lstStyle/>
                    <a:p>
                      <a:pPr algn="ctr"/>
                      <a:r>
                        <a:rPr lang="en-US" altLang="zh-CN" sz="1800" dirty="0" smtClean="0"/>
                        <a:t>A</a:t>
                      </a:r>
                      <a:endParaRPr lang="zh-CN" altLang="en-US" sz="1800" dirty="0"/>
                    </a:p>
                  </a:txBody>
                  <a:tcPr marT="45733" marB="45733"/>
                </a:tc>
                <a:tc>
                  <a:txBody>
                    <a:bodyPr/>
                    <a:lstStyle/>
                    <a:p>
                      <a:pPr algn="ctr"/>
                      <a:r>
                        <a:rPr lang="en-US" altLang="zh-CN" sz="1800" dirty="0" smtClean="0"/>
                        <a:t>4</a:t>
                      </a:r>
                      <a:endParaRPr lang="zh-CN" altLang="en-US" sz="1800" dirty="0"/>
                    </a:p>
                  </a:txBody>
                  <a:tcPr marT="45733" marB="45733"/>
                </a:tc>
              </a:tr>
              <a:tr h="394335">
                <a:tc>
                  <a:txBody>
                    <a:bodyPr/>
                    <a:lstStyle/>
                    <a:p>
                      <a:pPr algn="ctr"/>
                      <a:r>
                        <a:rPr lang="en-US" altLang="zh-CN" sz="1800" dirty="0" smtClean="0"/>
                        <a:t>T</a:t>
                      </a:r>
                      <a:endParaRPr lang="zh-CN" altLang="en-US" sz="1800" dirty="0"/>
                    </a:p>
                  </a:txBody>
                  <a:tcPr marT="45733" marB="45733"/>
                </a:tc>
                <a:tc>
                  <a:txBody>
                    <a:bodyPr/>
                    <a:lstStyle/>
                    <a:p>
                      <a:pPr algn="ctr"/>
                      <a:r>
                        <a:rPr lang="en-US" altLang="zh-CN" sz="1800" dirty="0" smtClean="0"/>
                        <a:t>3</a:t>
                      </a:r>
                      <a:endParaRPr lang="zh-CN" altLang="en-US" sz="1800" dirty="0"/>
                    </a:p>
                  </a:txBody>
                  <a:tcPr marT="45733" marB="45733"/>
                </a:tc>
              </a:tr>
              <a:tr h="394335">
                <a:tc>
                  <a:txBody>
                    <a:bodyPr/>
                    <a:lstStyle/>
                    <a:p>
                      <a:pPr algn="ctr"/>
                      <a:r>
                        <a:rPr lang="en-US" altLang="zh-CN" sz="1800" dirty="0" smtClean="0"/>
                        <a:t>;</a:t>
                      </a:r>
                      <a:endParaRPr lang="zh-CN" altLang="en-US" sz="1800" dirty="0"/>
                    </a:p>
                  </a:txBody>
                  <a:tcPr marT="45733" marB="45733"/>
                </a:tc>
                <a:tc>
                  <a:txBody>
                    <a:bodyPr/>
                    <a:lstStyle/>
                    <a:p>
                      <a:pPr algn="ctr"/>
                      <a:r>
                        <a:rPr lang="en-US" altLang="zh-CN" sz="1800" dirty="0" smtClean="0"/>
                        <a:t>3</a:t>
                      </a:r>
                      <a:endParaRPr lang="zh-CN" altLang="en-US" sz="1800" dirty="0"/>
                    </a:p>
                  </a:txBody>
                  <a:tcPr marT="45733" marB="45733"/>
                </a:tc>
              </a:tr>
              <a:tr h="394335">
                <a:tc>
                  <a:txBody>
                    <a:bodyPr/>
                    <a:lstStyle/>
                    <a:p>
                      <a:pPr algn="ctr"/>
                      <a:r>
                        <a:rPr lang="en-US" altLang="zh-CN" sz="1800" dirty="0" smtClean="0"/>
                        <a:t>C</a:t>
                      </a:r>
                      <a:endParaRPr lang="zh-CN" altLang="en-US" sz="1800" dirty="0"/>
                    </a:p>
                  </a:txBody>
                  <a:tcPr marT="45733" marB="45733"/>
                </a:tc>
                <a:tc>
                  <a:txBody>
                    <a:bodyPr/>
                    <a:lstStyle/>
                    <a:p>
                      <a:pPr algn="ctr"/>
                      <a:r>
                        <a:rPr lang="en-US" altLang="zh-CN" sz="1800" dirty="0" smtClean="0"/>
                        <a:t>2</a:t>
                      </a:r>
                      <a:endParaRPr lang="zh-CN" altLang="en-US" sz="1800" dirty="0"/>
                    </a:p>
                  </a:txBody>
                  <a:tcPr marT="45733" marB="45733"/>
                </a:tc>
              </a:tr>
              <a:tr h="394335">
                <a:tc>
                  <a:txBody>
                    <a:bodyPr/>
                    <a:lstStyle/>
                    <a:p>
                      <a:pPr algn="ctr"/>
                      <a:r>
                        <a:rPr lang="en-US" altLang="zh-CN" sz="1800" dirty="0" smtClean="0"/>
                        <a:t>S</a:t>
                      </a:r>
                      <a:endParaRPr lang="zh-CN" altLang="en-US" sz="1800" dirty="0"/>
                    </a:p>
                  </a:txBody>
                  <a:tcPr marT="45733" marB="45733"/>
                </a:tc>
                <a:tc>
                  <a:txBody>
                    <a:bodyPr/>
                    <a:lstStyle/>
                    <a:p>
                      <a:pPr algn="ctr"/>
                      <a:r>
                        <a:rPr lang="en-US" altLang="zh-CN" sz="1800" dirty="0" smtClean="0"/>
                        <a:t>2</a:t>
                      </a:r>
                      <a:endParaRPr lang="zh-CN" altLang="en-US" sz="1800" dirty="0"/>
                    </a:p>
                  </a:txBody>
                  <a:tcPr marT="45733" marB="45733"/>
                </a:tc>
              </a:tr>
            </a:tbl>
          </a:graphicData>
        </a:graphic>
      </p:graphicFrame>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赫夫曼编码与译码例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1" name="内容占位符 2"/>
          <p:cNvSpPr>
            <a:spLocks noGrp="1"/>
          </p:cNvSpPr>
          <p:nvPr>
            <p:ph idx="1"/>
          </p:nvPr>
        </p:nvSpPr>
        <p:spPr>
          <a:xfrm>
            <a:off x="429260" y="1090295"/>
            <a:ext cx="10924540" cy="5086985"/>
          </a:xfrm>
        </p:spPr>
        <p:txBody>
          <a:bodyPr vert="horz" wrap="square" lIns="91440" tIns="45720" rIns="91440" bIns="45720" anchor="t" anchorCtr="0">
            <a:noAutofit/>
          </a:bodyPr>
          <a:p>
            <a:pPr>
              <a:lnSpc>
                <a:spcPct val="11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构造赫夫曼树</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endParaRPr lang="en-US"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endParaRPr lang="en-US"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endParaRPr lang="en-US" altLang="zh-CN" sz="3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1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电文是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CAS;CAT;SAT;AT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1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编码是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11010111011101000011111000011000</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例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1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编码为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1101000</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1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译文只能是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buNone/>
            </a:pP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lvl="1"/>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0292" name="Text Box 6"/>
          <p:cNvSpPr txBox="1"/>
          <p:nvPr/>
        </p:nvSpPr>
        <p:spPr>
          <a:xfrm>
            <a:off x="5247482" y="3429794"/>
            <a:ext cx="30480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C</a:t>
            </a:r>
            <a:endParaRPr lang="en-US" altLang="zh-CN" sz="1800" dirty="0">
              <a:solidFill>
                <a:schemeClr val="tx2"/>
              </a:solidFill>
              <a:ea typeface="宋体" panose="02010600030101010101" pitchFamily="2" charset="-122"/>
            </a:endParaRPr>
          </a:p>
        </p:txBody>
      </p:sp>
      <p:sp>
        <p:nvSpPr>
          <p:cNvPr id="140293" name="Text Box 7"/>
          <p:cNvSpPr txBox="1"/>
          <p:nvPr/>
        </p:nvSpPr>
        <p:spPr>
          <a:xfrm>
            <a:off x="5808504" y="3426619"/>
            <a:ext cx="287655"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S</a:t>
            </a:r>
            <a:endParaRPr lang="en-US" altLang="zh-CN" sz="1800" dirty="0">
              <a:solidFill>
                <a:schemeClr val="tx2"/>
              </a:solidFill>
              <a:ea typeface="宋体" panose="02010600030101010101" pitchFamily="2" charset="-122"/>
            </a:endParaRPr>
          </a:p>
        </p:txBody>
      </p:sp>
      <p:sp>
        <p:nvSpPr>
          <p:cNvPr id="140294" name="Oval 8"/>
          <p:cNvSpPr/>
          <p:nvPr/>
        </p:nvSpPr>
        <p:spPr>
          <a:xfrm>
            <a:off x="4298950" y="2747963"/>
            <a:ext cx="300038" cy="300037"/>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3</a:t>
            </a:r>
            <a:endParaRPr lang="en-US" altLang="zh-CN" sz="1800" dirty="0">
              <a:solidFill>
                <a:schemeClr val="tx2"/>
              </a:solidFill>
              <a:ea typeface="宋体" panose="02010600030101010101" pitchFamily="2" charset="-122"/>
            </a:endParaRPr>
          </a:p>
        </p:txBody>
      </p:sp>
      <p:sp>
        <p:nvSpPr>
          <p:cNvPr id="140295" name="Oval 9"/>
          <p:cNvSpPr/>
          <p:nvPr/>
        </p:nvSpPr>
        <p:spPr>
          <a:xfrm>
            <a:off x="3733800" y="2736850"/>
            <a:ext cx="300038"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3</a:t>
            </a:r>
            <a:endParaRPr lang="en-US" altLang="zh-CN" sz="1800" dirty="0">
              <a:solidFill>
                <a:schemeClr val="tx2"/>
              </a:solidFill>
              <a:ea typeface="宋体" panose="02010600030101010101" pitchFamily="2" charset="-122"/>
            </a:endParaRPr>
          </a:p>
        </p:txBody>
      </p:sp>
      <p:sp>
        <p:nvSpPr>
          <p:cNvPr id="140296" name="Oval 10"/>
          <p:cNvSpPr/>
          <p:nvPr/>
        </p:nvSpPr>
        <p:spPr>
          <a:xfrm>
            <a:off x="4021138" y="2185988"/>
            <a:ext cx="300037" cy="300037"/>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6</a:t>
            </a:r>
            <a:endParaRPr lang="en-US" altLang="zh-CN" sz="1800" dirty="0">
              <a:solidFill>
                <a:schemeClr val="tx2"/>
              </a:solidFill>
              <a:ea typeface="宋体" panose="02010600030101010101" pitchFamily="2" charset="-122"/>
            </a:endParaRPr>
          </a:p>
        </p:txBody>
      </p:sp>
      <p:sp>
        <p:nvSpPr>
          <p:cNvPr id="140297" name="Oval 13"/>
          <p:cNvSpPr/>
          <p:nvPr/>
        </p:nvSpPr>
        <p:spPr>
          <a:xfrm>
            <a:off x="4891088" y="2733675"/>
            <a:ext cx="300037"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4</a:t>
            </a:r>
            <a:endParaRPr lang="en-US" altLang="zh-CN" sz="1800" dirty="0">
              <a:solidFill>
                <a:schemeClr val="tx2"/>
              </a:solidFill>
              <a:ea typeface="宋体" panose="02010600030101010101" pitchFamily="2" charset="-122"/>
            </a:endParaRPr>
          </a:p>
        </p:txBody>
      </p:sp>
      <p:sp>
        <p:nvSpPr>
          <p:cNvPr id="140298" name="Oval 14"/>
          <p:cNvSpPr/>
          <p:nvPr/>
        </p:nvSpPr>
        <p:spPr>
          <a:xfrm>
            <a:off x="5262563" y="3205163"/>
            <a:ext cx="300037" cy="300037"/>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2</a:t>
            </a:r>
            <a:endParaRPr lang="en-US" altLang="zh-CN" sz="1800" dirty="0">
              <a:solidFill>
                <a:schemeClr val="tx2"/>
              </a:solidFill>
              <a:ea typeface="宋体" panose="02010600030101010101" pitchFamily="2" charset="-122"/>
            </a:endParaRPr>
          </a:p>
        </p:txBody>
      </p:sp>
      <p:sp>
        <p:nvSpPr>
          <p:cNvPr id="140299" name="Oval 15"/>
          <p:cNvSpPr/>
          <p:nvPr/>
        </p:nvSpPr>
        <p:spPr>
          <a:xfrm>
            <a:off x="5795963" y="3200400"/>
            <a:ext cx="300037"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2</a:t>
            </a:r>
            <a:endParaRPr lang="en-US" altLang="zh-CN" sz="1800" dirty="0">
              <a:solidFill>
                <a:schemeClr val="tx2"/>
              </a:solidFill>
              <a:ea typeface="宋体" panose="02010600030101010101" pitchFamily="2" charset="-122"/>
            </a:endParaRPr>
          </a:p>
        </p:txBody>
      </p:sp>
      <p:sp>
        <p:nvSpPr>
          <p:cNvPr id="140300" name="Oval 16"/>
          <p:cNvSpPr/>
          <p:nvPr/>
        </p:nvSpPr>
        <p:spPr>
          <a:xfrm>
            <a:off x="5514975" y="2727325"/>
            <a:ext cx="300038"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4</a:t>
            </a:r>
            <a:endParaRPr lang="en-US" altLang="zh-CN" sz="1800" dirty="0">
              <a:solidFill>
                <a:schemeClr val="tx2"/>
              </a:solidFill>
              <a:ea typeface="宋体" panose="02010600030101010101" pitchFamily="2" charset="-122"/>
            </a:endParaRPr>
          </a:p>
        </p:txBody>
      </p:sp>
      <p:sp>
        <p:nvSpPr>
          <p:cNvPr id="140301" name="Oval 19"/>
          <p:cNvSpPr/>
          <p:nvPr/>
        </p:nvSpPr>
        <p:spPr>
          <a:xfrm>
            <a:off x="5191125" y="2214563"/>
            <a:ext cx="300038" cy="300037"/>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8</a:t>
            </a:r>
            <a:endParaRPr lang="en-US" altLang="zh-CN" sz="1800" dirty="0">
              <a:solidFill>
                <a:schemeClr val="tx2"/>
              </a:solidFill>
              <a:ea typeface="宋体" panose="02010600030101010101" pitchFamily="2" charset="-122"/>
            </a:endParaRPr>
          </a:p>
        </p:txBody>
      </p:sp>
      <p:sp>
        <p:nvSpPr>
          <p:cNvPr id="140302" name="Oval 22"/>
          <p:cNvSpPr/>
          <p:nvPr/>
        </p:nvSpPr>
        <p:spPr>
          <a:xfrm>
            <a:off x="4597400" y="1676400"/>
            <a:ext cx="336550" cy="31908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14</a:t>
            </a:r>
            <a:endParaRPr lang="en-US" altLang="zh-CN" sz="1800" dirty="0">
              <a:solidFill>
                <a:schemeClr val="tx2"/>
              </a:solidFill>
              <a:ea typeface="宋体" panose="02010600030101010101" pitchFamily="2" charset="-122"/>
            </a:endParaRPr>
          </a:p>
        </p:txBody>
      </p:sp>
      <p:sp>
        <p:nvSpPr>
          <p:cNvPr id="140303" name="Text Box 25"/>
          <p:cNvSpPr txBox="1"/>
          <p:nvPr/>
        </p:nvSpPr>
        <p:spPr>
          <a:xfrm>
            <a:off x="3751898" y="2980531"/>
            <a:ext cx="294005"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T</a:t>
            </a:r>
            <a:endParaRPr lang="en-US" altLang="zh-CN" sz="1800" dirty="0">
              <a:solidFill>
                <a:schemeClr val="tx2"/>
              </a:solidFill>
              <a:ea typeface="宋体" panose="02010600030101010101" pitchFamily="2" charset="-122"/>
            </a:endParaRPr>
          </a:p>
        </p:txBody>
      </p:sp>
      <p:sp>
        <p:nvSpPr>
          <p:cNvPr id="140304" name="Text Box 26"/>
          <p:cNvSpPr txBox="1"/>
          <p:nvPr/>
        </p:nvSpPr>
        <p:spPr>
          <a:xfrm>
            <a:off x="4343718" y="2947988"/>
            <a:ext cx="24384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a:t>
            </a:r>
            <a:endParaRPr lang="en-US" altLang="zh-CN" sz="1800" dirty="0">
              <a:solidFill>
                <a:schemeClr val="tx2"/>
              </a:solidFill>
              <a:ea typeface="宋体" panose="02010600030101010101" pitchFamily="2" charset="-122"/>
            </a:endParaRPr>
          </a:p>
        </p:txBody>
      </p:sp>
      <p:sp>
        <p:nvSpPr>
          <p:cNvPr id="140305" name="Text Box 27"/>
          <p:cNvSpPr txBox="1"/>
          <p:nvPr/>
        </p:nvSpPr>
        <p:spPr>
          <a:xfrm>
            <a:off x="4879658" y="2947988"/>
            <a:ext cx="31496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tx2"/>
                </a:solidFill>
                <a:ea typeface="宋体" panose="02010600030101010101" pitchFamily="2" charset="-122"/>
              </a:rPr>
              <a:t>A</a:t>
            </a:r>
            <a:endParaRPr lang="en-US" altLang="zh-CN" sz="1800" dirty="0">
              <a:solidFill>
                <a:schemeClr val="tx2"/>
              </a:solidFill>
              <a:ea typeface="宋体" panose="02010600030101010101" pitchFamily="2" charset="-122"/>
            </a:endParaRPr>
          </a:p>
        </p:txBody>
      </p:sp>
      <p:sp>
        <p:nvSpPr>
          <p:cNvPr id="140306" name="Text Box 29"/>
          <p:cNvSpPr txBox="1"/>
          <p:nvPr/>
        </p:nvSpPr>
        <p:spPr>
          <a:xfrm>
            <a:off x="4246563" y="1789907"/>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rgbClr val="C00000"/>
                </a:solidFill>
                <a:ea typeface="宋体" panose="02010600030101010101" pitchFamily="2" charset="-122"/>
              </a:rPr>
              <a:t>0</a:t>
            </a:r>
            <a:endParaRPr lang="en-US" altLang="zh-CN" sz="1800" dirty="0">
              <a:solidFill>
                <a:srgbClr val="C00000"/>
              </a:solidFill>
              <a:ea typeface="宋体" panose="02010600030101010101" pitchFamily="2" charset="-122"/>
            </a:endParaRPr>
          </a:p>
        </p:txBody>
      </p:sp>
      <p:sp>
        <p:nvSpPr>
          <p:cNvPr id="140307" name="Text Box 30"/>
          <p:cNvSpPr txBox="1"/>
          <p:nvPr/>
        </p:nvSpPr>
        <p:spPr>
          <a:xfrm>
            <a:off x="3725069" y="2353469"/>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rgbClr val="C00000"/>
                </a:solidFill>
                <a:ea typeface="宋体" panose="02010600030101010101" pitchFamily="2" charset="-122"/>
              </a:rPr>
              <a:t>0</a:t>
            </a:r>
            <a:endParaRPr lang="en-US" altLang="zh-CN" sz="1800" dirty="0">
              <a:solidFill>
                <a:srgbClr val="C00000"/>
              </a:solidFill>
              <a:ea typeface="宋体" panose="02010600030101010101" pitchFamily="2" charset="-122"/>
            </a:endParaRPr>
          </a:p>
        </p:txBody>
      </p:sp>
      <p:sp>
        <p:nvSpPr>
          <p:cNvPr id="140308" name="Text Box 31"/>
          <p:cNvSpPr txBox="1"/>
          <p:nvPr/>
        </p:nvSpPr>
        <p:spPr>
          <a:xfrm>
            <a:off x="4937919" y="1789907"/>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accent1"/>
                </a:solidFill>
                <a:ea typeface="宋体" panose="02010600030101010101" pitchFamily="2" charset="-122"/>
              </a:rPr>
              <a:t>1</a:t>
            </a:r>
            <a:endParaRPr lang="en-US" altLang="zh-CN" sz="1800" dirty="0">
              <a:solidFill>
                <a:schemeClr val="accent1"/>
              </a:solidFill>
              <a:ea typeface="宋体" panose="02010600030101010101" pitchFamily="2" charset="-122"/>
            </a:endParaRPr>
          </a:p>
        </p:txBody>
      </p:sp>
      <p:sp>
        <p:nvSpPr>
          <p:cNvPr id="140309" name="Text Box 32"/>
          <p:cNvSpPr txBox="1"/>
          <p:nvPr/>
        </p:nvSpPr>
        <p:spPr>
          <a:xfrm>
            <a:off x="4294982" y="2348707"/>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accent1"/>
                </a:solidFill>
                <a:ea typeface="宋体" panose="02010600030101010101" pitchFamily="2" charset="-122"/>
              </a:rPr>
              <a:t>1</a:t>
            </a:r>
            <a:endParaRPr lang="en-US" altLang="zh-CN" sz="1800" dirty="0">
              <a:solidFill>
                <a:schemeClr val="accent1"/>
              </a:solidFill>
              <a:ea typeface="宋体" panose="02010600030101010101" pitchFamily="2" charset="-122"/>
            </a:endParaRPr>
          </a:p>
        </p:txBody>
      </p:sp>
      <p:sp>
        <p:nvSpPr>
          <p:cNvPr id="140310" name="Text Box 33"/>
          <p:cNvSpPr txBox="1"/>
          <p:nvPr/>
        </p:nvSpPr>
        <p:spPr>
          <a:xfrm>
            <a:off x="4931569" y="2316163"/>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rgbClr val="C00000"/>
                </a:solidFill>
                <a:ea typeface="宋体" panose="02010600030101010101" pitchFamily="2" charset="-122"/>
              </a:rPr>
              <a:t>0</a:t>
            </a:r>
            <a:endParaRPr lang="en-US" altLang="zh-CN" sz="1800" dirty="0">
              <a:solidFill>
                <a:srgbClr val="C00000"/>
              </a:solidFill>
              <a:ea typeface="宋体" panose="02010600030101010101" pitchFamily="2" charset="-122"/>
            </a:endParaRPr>
          </a:p>
        </p:txBody>
      </p:sp>
      <p:sp>
        <p:nvSpPr>
          <p:cNvPr id="140311" name="Text Box 34"/>
          <p:cNvSpPr txBox="1"/>
          <p:nvPr/>
        </p:nvSpPr>
        <p:spPr>
          <a:xfrm>
            <a:off x="5457826" y="2315369"/>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accent1"/>
                </a:solidFill>
                <a:ea typeface="宋体" panose="02010600030101010101" pitchFamily="2" charset="-122"/>
              </a:rPr>
              <a:t>1</a:t>
            </a:r>
            <a:endParaRPr lang="en-US" altLang="zh-CN" sz="1800" dirty="0">
              <a:solidFill>
                <a:schemeClr val="accent1"/>
              </a:solidFill>
              <a:ea typeface="宋体" panose="02010600030101010101" pitchFamily="2" charset="-122"/>
            </a:endParaRPr>
          </a:p>
        </p:txBody>
      </p:sp>
      <p:sp>
        <p:nvSpPr>
          <p:cNvPr id="140312" name="Text Box 35"/>
          <p:cNvSpPr txBox="1"/>
          <p:nvPr/>
        </p:nvSpPr>
        <p:spPr>
          <a:xfrm>
            <a:off x="5788819" y="2813844"/>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chemeClr val="accent1"/>
                </a:solidFill>
                <a:ea typeface="宋体" panose="02010600030101010101" pitchFamily="2" charset="-122"/>
              </a:rPr>
              <a:t>1</a:t>
            </a:r>
            <a:endParaRPr lang="en-US" altLang="zh-CN" sz="1800" dirty="0">
              <a:solidFill>
                <a:schemeClr val="accent1"/>
              </a:solidFill>
              <a:ea typeface="宋体" panose="02010600030101010101" pitchFamily="2" charset="-122"/>
            </a:endParaRPr>
          </a:p>
        </p:txBody>
      </p:sp>
      <p:sp>
        <p:nvSpPr>
          <p:cNvPr id="140313" name="Text Box 36"/>
          <p:cNvSpPr txBox="1"/>
          <p:nvPr/>
        </p:nvSpPr>
        <p:spPr>
          <a:xfrm>
            <a:off x="5246688" y="2800350"/>
            <a:ext cx="298450" cy="3683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r>
              <a:rPr lang="en-US" altLang="zh-CN" sz="1800" dirty="0">
                <a:solidFill>
                  <a:srgbClr val="C00000"/>
                </a:solidFill>
                <a:ea typeface="宋体" panose="02010600030101010101" pitchFamily="2" charset="-122"/>
              </a:rPr>
              <a:t>0</a:t>
            </a:r>
            <a:endParaRPr lang="en-US" altLang="zh-CN" sz="1800" dirty="0">
              <a:solidFill>
                <a:srgbClr val="C00000"/>
              </a:solidFill>
              <a:ea typeface="宋体" panose="02010600030101010101" pitchFamily="2" charset="-122"/>
            </a:endParaRPr>
          </a:p>
        </p:txBody>
      </p:sp>
      <p:sp>
        <p:nvSpPr>
          <p:cNvPr id="140314" name="Text Box 37"/>
          <p:cNvSpPr txBox="1"/>
          <p:nvPr/>
        </p:nvSpPr>
        <p:spPr>
          <a:xfrm>
            <a:off x="7239000" y="2043113"/>
            <a:ext cx="918210" cy="14763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eaLnBrk="1" hangingPunct="1">
              <a:spcBef>
                <a:spcPct val="0"/>
              </a:spcBef>
              <a:buNone/>
            </a:pPr>
            <a:r>
              <a:rPr lang="en-US" altLang="zh-CN" sz="1800" dirty="0">
                <a:solidFill>
                  <a:schemeClr val="tx2"/>
                </a:solidFill>
                <a:ea typeface="宋体" panose="02010600030101010101" pitchFamily="2" charset="-122"/>
              </a:rPr>
              <a:t>T :    00</a:t>
            </a:r>
            <a:endParaRPr lang="en-US" altLang="zh-CN" sz="1800" dirty="0">
              <a:solidFill>
                <a:schemeClr val="tx2"/>
              </a:solidFill>
              <a:ea typeface="宋体" panose="02010600030101010101" pitchFamily="2" charset="-122"/>
            </a:endParaRPr>
          </a:p>
          <a:p>
            <a:pPr marL="0" lvl="0" indent="0" eaLnBrk="1" hangingPunct="1">
              <a:spcBef>
                <a:spcPct val="0"/>
              </a:spcBef>
              <a:buNone/>
            </a:pPr>
            <a:r>
              <a:rPr lang="en-US" altLang="zh-CN" sz="1800" dirty="0">
                <a:solidFill>
                  <a:schemeClr val="tx2"/>
                </a:solidFill>
                <a:ea typeface="宋体" panose="02010600030101010101" pitchFamily="2" charset="-122"/>
              </a:rPr>
              <a:t>;  :    01</a:t>
            </a:r>
            <a:endParaRPr lang="en-US" altLang="zh-CN" sz="1800" dirty="0">
              <a:solidFill>
                <a:schemeClr val="tx2"/>
              </a:solidFill>
              <a:ea typeface="宋体" panose="02010600030101010101" pitchFamily="2" charset="-122"/>
            </a:endParaRPr>
          </a:p>
          <a:p>
            <a:pPr marL="0" lvl="0" indent="0" eaLnBrk="1" hangingPunct="1">
              <a:spcBef>
                <a:spcPct val="0"/>
              </a:spcBef>
              <a:buNone/>
            </a:pPr>
            <a:r>
              <a:rPr lang="en-US" altLang="zh-CN" sz="1800" dirty="0">
                <a:solidFill>
                  <a:schemeClr val="tx2"/>
                </a:solidFill>
                <a:ea typeface="宋体" panose="02010600030101010101" pitchFamily="2" charset="-122"/>
              </a:rPr>
              <a:t>A :   10</a:t>
            </a:r>
            <a:endParaRPr lang="en-US" altLang="zh-CN" sz="1800" dirty="0">
              <a:solidFill>
                <a:schemeClr val="tx2"/>
              </a:solidFill>
              <a:ea typeface="宋体" panose="02010600030101010101" pitchFamily="2" charset="-122"/>
            </a:endParaRPr>
          </a:p>
          <a:p>
            <a:pPr marL="0" lvl="0" indent="0" eaLnBrk="1" hangingPunct="1">
              <a:spcBef>
                <a:spcPct val="0"/>
              </a:spcBef>
              <a:buNone/>
            </a:pPr>
            <a:r>
              <a:rPr lang="en-US" altLang="zh-CN" sz="1800" dirty="0">
                <a:solidFill>
                  <a:schemeClr val="tx2"/>
                </a:solidFill>
                <a:ea typeface="宋体" panose="02010600030101010101" pitchFamily="2" charset="-122"/>
              </a:rPr>
              <a:t>C :   110</a:t>
            </a:r>
            <a:endParaRPr lang="en-US" altLang="zh-CN" sz="1800" dirty="0">
              <a:solidFill>
                <a:schemeClr val="tx2"/>
              </a:solidFill>
              <a:ea typeface="宋体" panose="02010600030101010101" pitchFamily="2" charset="-122"/>
            </a:endParaRPr>
          </a:p>
          <a:p>
            <a:pPr marL="0" lvl="0" indent="0" eaLnBrk="1" hangingPunct="1">
              <a:spcBef>
                <a:spcPct val="0"/>
              </a:spcBef>
              <a:buNone/>
            </a:pPr>
            <a:r>
              <a:rPr lang="en-US" altLang="zh-CN" sz="1800" dirty="0">
                <a:solidFill>
                  <a:schemeClr val="tx2"/>
                </a:solidFill>
                <a:ea typeface="宋体" panose="02010600030101010101" pitchFamily="2" charset="-122"/>
              </a:rPr>
              <a:t>S :   111</a:t>
            </a:r>
            <a:endParaRPr lang="en-US" altLang="zh-CN" sz="1800" dirty="0">
              <a:solidFill>
                <a:schemeClr val="tx2"/>
              </a:solidFill>
              <a:ea typeface="宋体" panose="02010600030101010101" pitchFamily="2" charset="-122"/>
            </a:endParaRPr>
          </a:p>
        </p:txBody>
      </p:sp>
      <p:cxnSp>
        <p:nvCxnSpPr>
          <p:cNvPr id="140315" name="直接连接符 39"/>
          <p:cNvCxnSpPr>
            <a:stCxn id="140296" idx="3"/>
            <a:endCxn id="140295" idx="0"/>
          </p:cNvCxnSpPr>
          <p:nvPr/>
        </p:nvCxnSpPr>
        <p:spPr>
          <a:xfrm rot="5400000">
            <a:off x="3827463" y="2498725"/>
            <a:ext cx="295275" cy="180975"/>
          </a:xfrm>
          <a:prstGeom prst="line">
            <a:avLst/>
          </a:prstGeom>
          <a:ln w="3175" cap="flat" cmpd="sng">
            <a:solidFill>
              <a:schemeClr val="tx1"/>
            </a:solidFill>
            <a:prstDash val="solid"/>
            <a:headEnd type="none" w="med" len="med"/>
            <a:tailEnd type="none" w="med" len="med"/>
          </a:ln>
        </p:spPr>
      </p:cxnSp>
      <p:cxnSp>
        <p:nvCxnSpPr>
          <p:cNvPr id="140316" name="直接连接符 41"/>
          <p:cNvCxnSpPr>
            <a:stCxn id="140302" idx="3"/>
            <a:endCxn id="140296" idx="7"/>
          </p:cNvCxnSpPr>
          <p:nvPr/>
        </p:nvCxnSpPr>
        <p:spPr>
          <a:xfrm rot="5400000">
            <a:off x="4321175" y="1905000"/>
            <a:ext cx="280988" cy="369888"/>
          </a:xfrm>
          <a:prstGeom prst="line">
            <a:avLst/>
          </a:prstGeom>
          <a:ln w="3175" cap="flat" cmpd="sng">
            <a:solidFill>
              <a:schemeClr val="tx1"/>
            </a:solidFill>
            <a:prstDash val="solid"/>
            <a:headEnd type="none" w="med" len="med"/>
            <a:tailEnd type="none" w="med" len="med"/>
          </a:ln>
        </p:spPr>
      </p:cxnSp>
      <p:cxnSp>
        <p:nvCxnSpPr>
          <p:cNvPr id="140317" name="直接连接符 43"/>
          <p:cNvCxnSpPr>
            <a:stCxn id="140296" idx="5"/>
            <a:endCxn id="140294" idx="0"/>
          </p:cNvCxnSpPr>
          <p:nvPr/>
        </p:nvCxnSpPr>
        <p:spPr>
          <a:xfrm rot="-5400000" flipH="1">
            <a:off x="4210050" y="2508250"/>
            <a:ext cx="306388" cy="173038"/>
          </a:xfrm>
          <a:prstGeom prst="line">
            <a:avLst/>
          </a:prstGeom>
          <a:ln w="3175" cap="flat" cmpd="sng">
            <a:solidFill>
              <a:schemeClr val="tx1"/>
            </a:solidFill>
            <a:prstDash val="solid"/>
            <a:headEnd type="none" w="med" len="med"/>
            <a:tailEnd type="none" w="med" len="med"/>
          </a:ln>
        </p:spPr>
      </p:cxnSp>
      <p:cxnSp>
        <p:nvCxnSpPr>
          <p:cNvPr id="140318" name="直接连接符 46"/>
          <p:cNvCxnSpPr>
            <a:stCxn id="140302" idx="5"/>
            <a:endCxn id="140301" idx="1"/>
          </p:cNvCxnSpPr>
          <p:nvPr/>
        </p:nvCxnSpPr>
        <p:spPr>
          <a:xfrm rot="-5400000" flipH="1">
            <a:off x="4905375" y="1928813"/>
            <a:ext cx="309563" cy="350837"/>
          </a:xfrm>
          <a:prstGeom prst="line">
            <a:avLst/>
          </a:prstGeom>
          <a:ln w="3175" cap="flat" cmpd="sng">
            <a:solidFill>
              <a:schemeClr val="tx1"/>
            </a:solidFill>
            <a:prstDash val="solid"/>
            <a:headEnd type="none" w="med" len="med"/>
            <a:tailEnd type="none" w="med" len="med"/>
          </a:ln>
        </p:spPr>
      </p:cxnSp>
      <p:cxnSp>
        <p:nvCxnSpPr>
          <p:cNvPr id="140319" name="直接连接符 51"/>
          <p:cNvCxnSpPr>
            <a:stCxn id="140301" idx="3"/>
            <a:endCxn id="140297" idx="0"/>
          </p:cNvCxnSpPr>
          <p:nvPr/>
        </p:nvCxnSpPr>
        <p:spPr>
          <a:xfrm rot="5400000">
            <a:off x="5005388" y="2503488"/>
            <a:ext cx="263525" cy="195262"/>
          </a:xfrm>
          <a:prstGeom prst="line">
            <a:avLst/>
          </a:prstGeom>
          <a:ln w="3175" cap="flat" cmpd="sng">
            <a:solidFill>
              <a:schemeClr val="tx1"/>
            </a:solidFill>
            <a:prstDash val="solid"/>
            <a:headEnd type="none" w="med" len="med"/>
            <a:tailEnd type="none" w="med" len="med"/>
          </a:ln>
        </p:spPr>
      </p:cxnSp>
      <p:cxnSp>
        <p:nvCxnSpPr>
          <p:cNvPr id="140320" name="直接连接符 55"/>
          <p:cNvCxnSpPr>
            <a:stCxn id="140301" idx="5"/>
            <a:endCxn id="140300" idx="0"/>
          </p:cNvCxnSpPr>
          <p:nvPr/>
        </p:nvCxnSpPr>
        <p:spPr>
          <a:xfrm rot="-5400000" flipH="1">
            <a:off x="5427663" y="2489200"/>
            <a:ext cx="257175" cy="219075"/>
          </a:xfrm>
          <a:prstGeom prst="line">
            <a:avLst/>
          </a:prstGeom>
          <a:ln w="3175" cap="flat" cmpd="sng">
            <a:solidFill>
              <a:schemeClr val="tx1"/>
            </a:solidFill>
            <a:prstDash val="solid"/>
            <a:headEnd type="none" w="med" len="med"/>
            <a:tailEnd type="none" w="med" len="med"/>
          </a:ln>
        </p:spPr>
      </p:cxnSp>
      <p:cxnSp>
        <p:nvCxnSpPr>
          <p:cNvPr id="140321" name="直接连接符 57"/>
          <p:cNvCxnSpPr>
            <a:stCxn id="140313" idx="3"/>
            <a:endCxn id="140298" idx="0"/>
          </p:cNvCxnSpPr>
          <p:nvPr/>
        </p:nvCxnSpPr>
        <p:spPr>
          <a:xfrm flipH="1">
            <a:off x="6936740" y="2984500"/>
            <a:ext cx="132715" cy="220980"/>
          </a:xfrm>
          <a:prstGeom prst="line">
            <a:avLst/>
          </a:prstGeom>
          <a:ln w="3175" cap="flat" cmpd="sng">
            <a:solidFill>
              <a:schemeClr val="tx1"/>
            </a:solidFill>
            <a:prstDash val="solid"/>
            <a:headEnd type="none" w="med" len="med"/>
            <a:tailEnd type="none" w="med" len="med"/>
          </a:ln>
        </p:spPr>
      </p:cxnSp>
      <p:cxnSp>
        <p:nvCxnSpPr>
          <p:cNvPr id="140322" name="直接连接符 61"/>
          <p:cNvCxnSpPr>
            <a:stCxn id="140300" idx="5"/>
            <a:endCxn id="140299" idx="0"/>
          </p:cNvCxnSpPr>
          <p:nvPr/>
        </p:nvCxnSpPr>
        <p:spPr>
          <a:xfrm rot="-5400000" flipH="1">
            <a:off x="5748338" y="3003550"/>
            <a:ext cx="217487" cy="174625"/>
          </a:xfrm>
          <a:prstGeom prst="line">
            <a:avLst/>
          </a:prstGeom>
          <a:ln w="3175" cap="flat" cmpd="sng">
            <a:solidFill>
              <a:schemeClr val="tx1"/>
            </a:solidFill>
            <a:prstDash val="solid"/>
            <a:headEnd type="none" w="med" len="med"/>
            <a:tailEnd type="none" w="med" len="med"/>
          </a:ln>
        </p:spPr>
      </p:cxn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赫夫曼编码与译码例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5" name="Rectangle 3"/>
          <p:cNvSpPr>
            <a:spLocks noGrp="1"/>
          </p:cNvSpPr>
          <p:nvPr>
            <p:ph type="body" idx="4294967295"/>
          </p:nvPr>
        </p:nvSpPr>
        <p:spPr>
          <a:xfrm>
            <a:off x="684530" y="1280795"/>
            <a:ext cx="10669270" cy="4896485"/>
          </a:xfrm>
        </p:spPr>
        <p:txBody>
          <a:bodyPr vert="horz" wrap="square" lIns="91440" tIns="45720" rIns="91440" bIns="45720" anchor="t" anchorCtr="0"/>
          <a:p>
            <a:pPr eaLnBrk="1" hangingPunct="1">
              <a:lnSpc>
                <a:spcPct val="16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结合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HuffmanTree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类，可以为实现赫夫曼编码建立</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HuffmanCoder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HuffmanCoder</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类作为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HuffmanTree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类的友元类，在建立了赫夫曼树的基础上实现编码、译码的过程。</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6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其中，对电文中出现的字符使用赫夫曼编码的结果存放在编码表中。</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6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编码表的结点结构定义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974725" y="3746500"/>
            <a:ext cx="7669530" cy="17526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HCnode.h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赫夫曼编码表结构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struct HCnode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char ch;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char* pstring;</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i="0" u="none" strike="noStrike" kern="120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 赫夫曼树编码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9" name="Rectangle 3"/>
          <p:cNvSpPr>
            <a:spLocks noGrp="1"/>
          </p:cNvSpPr>
          <p:nvPr>
            <p:ph type="body" idx="4294967295"/>
          </p:nvPr>
        </p:nvSpPr>
        <p:spPr>
          <a:xfrm>
            <a:off x="601980" y="1189355"/>
            <a:ext cx="10751820" cy="4987925"/>
          </a:xfrm>
        </p:spPr>
        <p:txBody>
          <a:bodyPr vert="horz" wrap="square" lIns="91440" tIns="45720" rIns="91440" bIns="45720" anchor="t" anchorCtr="0"/>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实现的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HuffmanCoder</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943610" y="1828800"/>
            <a:ext cx="8602980" cy="4267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HuffmanCoder.h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#ifndef _ HuffmanCoder _</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#define _ HuffmanCoder _</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#include &lt;fstream&gt;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#include "HCnode.h"</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using namespace std;</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赫夫曼编码编码类</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class HuffmanCoder</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public:</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HuffmanCoder(const int &amp;n)</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m_HC=new HCnode[n];</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m_HCsize = n;</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 赫夫曼树编码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3" name="Rectangle 3"/>
          <p:cNvSpPr>
            <a:spLocks noGrp="1"/>
          </p:cNvSpPr>
          <p:nvPr>
            <p:ph type="body" idx="4294967295"/>
          </p:nvPr>
        </p:nvSpPr>
        <p:spPr>
          <a:xfrm>
            <a:off x="493395" y="1226185"/>
            <a:ext cx="10860405" cy="4951095"/>
          </a:xfrm>
        </p:spPr>
        <p:txBody>
          <a:bodyPr vert="horz" wrap="square" lIns="91440" tIns="45720" rIns="91440" bIns="45720" anchor="t" anchorCtr="0"/>
          <a:p>
            <a:pPr eaLnBrk="1" hangingPunct="1"/>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实现的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HuffmanCoder</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236" name="Rectangle 6"/>
          <p:cNvSpPr>
            <a:spLocks noChangeArrowheads="1"/>
          </p:cNvSpPr>
          <p:nvPr/>
        </p:nvSpPr>
        <p:spPr bwMode="auto">
          <a:xfrm>
            <a:off x="880745" y="1828800"/>
            <a:ext cx="9129395" cy="4267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b="1"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HuffmanCoder()</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for(int i = 0; i &lt; m_HCsize; i++)</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delete[]m_HC[i].pstring;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delete[]m_HC;</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void CreateBook(HuffmanTree &amp;);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建立</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个字符的赫夫曼编码表</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HC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void Coder(char ch[]);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编码</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void Decoder(HuffmanTree &amp;);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译码 </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private:     </a:t>
            </a:r>
            <a:endPar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HCnode *m_HC;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赫夫曼编码表基地址指针</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m_HCsize; 	// </a:t>
            </a:r>
            <a:r>
              <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外结点个数</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i="0" u="none" strike="noStrike" kern="1200" cap="none" spc="0" normalizeH="0" baseline="0" noProof="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 赫夫曼树编码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7" name="Rectangle 3"/>
          <p:cNvSpPr>
            <a:spLocks noGrp="1"/>
          </p:cNvSpPr>
          <p:nvPr>
            <p:ph type="body" idx="4294967295"/>
          </p:nvPr>
        </p:nvSpPr>
        <p:spPr>
          <a:xfrm>
            <a:off x="665480" y="1416685"/>
            <a:ext cx="10688320" cy="4760595"/>
          </a:xfrm>
        </p:spPr>
        <p:txBody>
          <a:bodyPr vert="horz" wrap="square" lIns="91440" tIns="45720" rIns="91440" bIns="45720" anchor="t" anchorCtr="0"/>
          <a:p>
            <a:pPr eaLnBrk="1" hangingPunct="1"/>
            <a:r>
              <a:rPr lang="zh-CN" altLang="en-US" sz="2400" dirty="0">
                <a:latin typeface="微软雅黑" panose="020B0503020204020204" pitchFamily="34" charset="-122"/>
                <a:ea typeface="微软雅黑" panose="020B0503020204020204" pitchFamily="34" charset="-122"/>
              </a:rPr>
              <a:t>其它成员函数</a:t>
            </a:r>
            <a:r>
              <a:rPr lang="zh-CN" altLang="en-US" sz="2400" dirty="0"/>
              <a:t> </a:t>
            </a:r>
            <a:endParaRPr lang="zh-CN" altLang="en-US" sz="2400" dirty="0"/>
          </a:p>
          <a:p>
            <a:pPr eaLnBrk="1" hangingPunct="1"/>
            <a:endParaRPr lang="zh-CN" altLang="en-US" sz="2400" dirty="0"/>
          </a:p>
        </p:txBody>
      </p:sp>
      <p:graphicFrame>
        <p:nvGraphicFramePr>
          <p:cNvPr id="144388" name="Object 5"/>
          <p:cNvGraphicFramePr>
            <a:graphicFrameLocks noChangeAspect="1"/>
          </p:cNvGraphicFramePr>
          <p:nvPr/>
        </p:nvGraphicFramePr>
        <p:xfrm>
          <a:off x="5638800" y="3014663"/>
          <a:ext cx="914400" cy="828675"/>
        </p:xfrm>
        <a:graphic>
          <a:graphicData uri="http://schemas.openxmlformats.org/presentationml/2006/ole">
            <mc:AlternateContent xmlns:mc="http://schemas.openxmlformats.org/markup-compatibility/2006">
              <mc:Choice xmlns:v="urn:schemas-microsoft-com:vml" Requires="v">
                <p:oleObj spid="_x0000_s3099" name="" showAsIcon="1" r:id="rId1" imgW="914400" imgH="828675" progId="Word.Document.8">
                  <p:embed/>
                </p:oleObj>
              </mc:Choice>
              <mc:Fallback>
                <p:oleObj name="" showAsIcon="1" r:id="rId1" imgW="914400" imgH="828675" progId="Word.Document.8">
                  <p:embed/>
                  <p:pic>
                    <p:nvPicPr>
                      <p:cNvPr id="0" name="图片 3098"/>
                      <p:cNvPicPr/>
                      <p:nvPr/>
                    </p:nvPicPr>
                    <p:blipFill>
                      <a:blip r:embed="rId2"/>
                      <a:stretch>
                        <a:fillRect/>
                      </a:stretch>
                    </p:blipFill>
                    <p:spPr>
                      <a:xfrm>
                        <a:off x="5638800" y="3014663"/>
                        <a:ext cx="914400" cy="828675"/>
                      </a:xfrm>
                      <a:prstGeom prst="rect">
                        <a:avLst/>
                      </a:prstGeom>
                      <a:noFill/>
                      <a:ln w="38100">
                        <a:noFill/>
                        <a:miter/>
                      </a:ln>
                    </p:spPr>
                  </p:pic>
                </p:oleObj>
              </mc:Fallback>
            </mc:AlternateContent>
          </a:graphicData>
        </a:graphic>
      </p:graphicFrame>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en-US" altLang="zh-CN" sz="3600" b="1" dirty="0">
                <a:latin typeface="微软雅黑" panose="020B0503020204020204" pitchFamily="34" charset="-122"/>
                <a:ea typeface="微软雅黑" panose="020B0503020204020204" pitchFamily="34" charset="-122"/>
                <a:cs typeface="微软雅黑" panose="020B0503020204020204" pitchFamily="34" charset="-122"/>
                <a:sym typeface="+mn-ea"/>
              </a:rPr>
              <a:t>4.4.3.2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sym typeface="+mn-ea"/>
              </a:rPr>
              <a:t> 赫夫曼树编码</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1" name="Rectangle 3"/>
          <p:cNvSpPr>
            <a:spLocks noGrp="1"/>
          </p:cNvSpPr>
          <p:nvPr>
            <p:ph type="body" idx="4294967295"/>
          </p:nvPr>
        </p:nvSpPr>
        <p:spPr/>
        <p:txBody>
          <a:bodyPr vert="horz" wrap="square" lIns="91440" tIns="45720" rIns="91440" bIns="45720" anchor="t" anchorCtr="0"/>
          <a:p>
            <a:pPr eaLnBrk="1" hangingPunct="1"/>
            <a:endParaRPr lang="zh-CN" altLang="en-US" dirty="0"/>
          </a:p>
          <a:p>
            <a:pPr eaLnBrk="1" hangingPunct="1"/>
            <a:endParaRPr lang="zh-CN" altLang="en-US" dirty="0"/>
          </a:p>
        </p:txBody>
      </p:sp>
      <p:sp>
        <p:nvSpPr>
          <p:cNvPr id="145412" name="Rectangle 6"/>
          <p:cNvSpPr/>
          <p:nvPr/>
        </p:nvSpPr>
        <p:spPr>
          <a:xfrm>
            <a:off x="5942965" y="-184785"/>
            <a:ext cx="306070" cy="369570"/>
          </a:xfrm>
          <a:prstGeom prst="rect">
            <a:avLst/>
          </a:prstGeom>
          <a:noFill/>
          <a:ln w="3175">
            <a:noFill/>
          </a:ln>
        </p:spPr>
        <p:txBody>
          <a:bodyPr wrap="none" lIns="90000" tIns="46800" rIns="90000" bIns="46800" anchor="ctr" anchorCtr="0">
            <a:spAutoFit/>
          </a:bodyPr>
          <a:lstStyle>
            <a:lvl1pPr marL="342900" indent="-342900" algn="l" rtl="0" eaLnBrk="0" fontAlgn="base" hangingPunct="0">
              <a:spcBef>
                <a:spcPct val="20000"/>
              </a:spcBef>
              <a:spcAft>
                <a:spcPct val="0"/>
              </a:spcAft>
              <a:buChar char="•"/>
              <a:defRPr sz="24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mn-ea"/>
              </a:defRPr>
            </a:lvl4pPr>
            <a:lvl5pPr marL="2057400" indent="-228600" algn="l" rtl="0" eaLnBrk="0" fontAlgn="base" hangingPunct="0">
              <a:spcBef>
                <a:spcPct val="20000"/>
              </a:spcBef>
              <a:spcAft>
                <a:spcPct val="0"/>
              </a:spcAft>
              <a:buChar char="»"/>
              <a:defRPr sz="2400">
                <a:solidFill>
                  <a:schemeClr val="tx1"/>
                </a:solidFill>
                <a:latin typeface="+mn-lt"/>
                <a:ea typeface="+mn-ea"/>
              </a:defRPr>
            </a:lvl5pPr>
          </a:lstStyle>
          <a:p>
            <a:pPr marL="0" lvl="0" indent="0" algn="ctr" eaLnBrk="1" hangingPunct="1">
              <a:spcBef>
                <a:spcPct val="0"/>
              </a:spcBef>
              <a:buNone/>
            </a:pPr>
            <a:endParaRPr lang="zh-CN" altLang="en-US" sz="1800" b="1" dirty="0">
              <a:solidFill>
                <a:srgbClr val="FFFFFF"/>
              </a:solidFill>
              <a:latin typeface="Consolas" panose="020B0609020204030204" pitchFamily="49" charset="0"/>
            </a:endParaRPr>
          </a:p>
        </p:txBody>
      </p:sp>
      <p:graphicFrame>
        <p:nvGraphicFramePr>
          <p:cNvPr id="145413" name="Object 5"/>
          <p:cNvGraphicFramePr>
            <a:graphicFrameLocks noChangeAspect="1"/>
          </p:cNvGraphicFramePr>
          <p:nvPr/>
        </p:nvGraphicFramePr>
        <p:xfrm>
          <a:off x="1570990" y="1524000"/>
          <a:ext cx="8420100" cy="5015865"/>
        </p:xfrm>
        <a:graphic>
          <a:graphicData uri="http://schemas.openxmlformats.org/presentationml/2006/ole">
            <mc:AlternateContent xmlns:mc="http://schemas.openxmlformats.org/markup-compatibility/2006">
              <mc:Choice xmlns:v="urn:schemas-microsoft-com:vml" Requires="v">
                <p:oleObj spid="_x0000_s3101" name="" r:id="rId1" imgW="5867400" imgH="3492500" progId="Visio.Drawing.11">
                  <p:embed/>
                </p:oleObj>
              </mc:Choice>
              <mc:Fallback>
                <p:oleObj name="" r:id="rId1" imgW="5867400" imgH="3492500" progId="Visio.Drawing.11">
                  <p:embed/>
                  <p:pic>
                    <p:nvPicPr>
                      <p:cNvPr id="0" name="图片 3100"/>
                      <p:cNvPicPr/>
                      <p:nvPr/>
                    </p:nvPicPr>
                    <p:blipFill>
                      <a:blip r:embed="rId2"/>
                      <a:stretch>
                        <a:fillRect/>
                      </a:stretch>
                    </p:blipFill>
                    <p:spPr>
                      <a:xfrm>
                        <a:off x="1570990" y="1524000"/>
                        <a:ext cx="8420100" cy="5015865"/>
                      </a:xfrm>
                      <a:prstGeom prst="rect">
                        <a:avLst/>
                      </a:prstGeom>
                      <a:noFill/>
                      <a:ln w="38100">
                        <a:noFill/>
                        <a:miter/>
                      </a:ln>
                    </p:spPr>
                  </p:pic>
                </p:oleObj>
              </mc:Fallback>
            </mc:AlternateContent>
          </a:graphicData>
        </a:graphic>
      </p:graphicFrame>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dirty="0">
                <a:latin typeface="微软雅黑" panose="020B0503020204020204" pitchFamily="34" charset="-122"/>
                <a:ea typeface="微软雅黑" panose="020B0503020204020204" pitchFamily="34" charset="-122"/>
                <a:sym typeface="+mn-ea"/>
              </a:rPr>
              <a:t>赫夫曼树编码示例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5" name="Rectangle 3"/>
          <p:cNvSpPr>
            <a:spLocks noGrp="1"/>
          </p:cNvSpPr>
          <p:nvPr>
            <p:ph type="body" idx="4294967295"/>
          </p:nvPr>
        </p:nvSpPr>
        <p:spPr>
          <a:xfrm>
            <a:off x="592455" y="1253490"/>
            <a:ext cx="10761345" cy="4923790"/>
          </a:xfrm>
        </p:spPr>
        <p:txBody>
          <a:bodyPr vert="horz" wrap="square" lIns="91440" tIns="45720" rIns="91440" bIns="45720" anchor="t" anchorCtr="0"/>
          <a:p>
            <a:pPr eaLnBrk="1" hangingPunct="1"/>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主函数作为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HuffmanTree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类及</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HuffmanCoder</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类的一个应用实例 </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46436" name="Object 5"/>
          <p:cNvGraphicFramePr>
            <a:graphicFrameLocks noChangeAspect="1"/>
          </p:cNvGraphicFramePr>
          <p:nvPr/>
        </p:nvGraphicFramePr>
        <p:xfrm>
          <a:off x="5638800" y="3014663"/>
          <a:ext cx="914400" cy="828675"/>
        </p:xfrm>
        <a:graphic>
          <a:graphicData uri="http://schemas.openxmlformats.org/presentationml/2006/ole">
            <mc:AlternateContent xmlns:mc="http://schemas.openxmlformats.org/markup-compatibility/2006">
              <mc:Choice xmlns:v="urn:schemas-microsoft-com:vml" Requires="v">
                <p:oleObj spid="_x0000_s3100" name="" showAsIcon="1" r:id="rId1" imgW="914400" imgH="828675" progId="Word.Document.8">
                  <p:embed/>
                </p:oleObj>
              </mc:Choice>
              <mc:Fallback>
                <p:oleObj name="" showAsIcon="1" r:id="rId1" imgW="914400" imgH="828675" progId="Word.Document.8">
                  <p:embed/>
                  <p:pic>
                    <p:nvPicPr>
                      <p:cNvPr id="0" name="图片 3099"/>
                      <p:cNvPicPr/>
                      <p:nvPr/>
                    </p:nvPicPr>
                    <p:blipFill>
                      <a:blip r:embed="rId2"/>
                      <a:stretch>
                        <a:fillRect/>
                      </a:stretch>
                    </p:blipFill>
                    <p:spPr>
                      <a:xfrm>
                        <a:off x="5638800" y="3014663"/>
                        <a:ext cx="914400" cy="828675"/>
                      </a:xfrm>
                      <a:prstGeom prst="rect">
                        <a:avLst/>
                      </a:prstGeom>
                      <a:noFill/>
                      <a:ln w="38100">
                        <a:noFill/>
                        <a:miter/>
                      </a:ln>
                    </p:spPr>
                  </p:pic>
                </p:oleObj>
              </mc:Fallback>
            </mc:AlternateContent>
          </a:graphicData>
        </a:graphic>
      </p:graphicFrame>
      <p:sp>
        <p:nvSpPr>
          <p:cNvPr id="5" name="矩形 4"/>
          <p:cNvSpPr/>
          <p:nvPr/>
        </p:nvSpPr>
        <p:spPr>
          <a:xfrm>
            <a:off x="636" y="636"/>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eaLnBrk="1" hangingPunct="1"/>
            <a:r>
              <a:rPr lang="zh-CN" altLang="en-US" sz="3600" b="1" dirty="0">
                <a:latin typeface="微软雅黑" panose="020B0503020204020204" pitchFamily="34" charset="-122"/>
                <a:ea typeface="微软雅黑" panose="020B0503020204020204" pitchFamily="34" charset="-122"/>
                <a:sym typeface="+mn-ea"/>
              </a:rPr>
              <a:t>测试实例</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4" name="组合 13"/>
          <p:cNvGrpSpPr/>
          <p:nvPr/>
        </p:nvGrpSpPr>
        <p:grpSpPr>
          <a:xfrm>
            <a:off x="0" y="6437630"/>
            <a:ext cx="12192000" cy="439420"/>
            <a:chOff x="0" y="10138"/>
            <a:chExt cx="19200" cy="692"/>
          </a:xfrm>
        </p:grpSpPr>
        <p:sp>
          <p:nvSpPr>
            <p:cNvPr id="413" name="矩形 412"/>
            <p:cNvSpPr/>
            <p:nvPr/>
          </p:nvSpPr>
          <p:spPr>
            <a:xfrm>
              <a:off x="0" y="10138"/>
              <a:ext cx="19200" cy="66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OPPOSans B" panose="00020600040101010101" pitchFamily="18" charset="-122"/>
              </a:endParaRPr>
            </a:p>
          </p:txBody>
        </p:sp>
        <p:grpSp>
          <p:nvGrpSpPr>
            <p:cNvPr id="13" name="组合 12"/>
            <p:cNvGrpSpPr/>
            <p:nvPr/>
          </p:nvGrpSpPr>
          <p:grpSpPr>
            <a:xfrm>
              <a:off x="619" y="10220"/>
              <a:ext cx="17226" cy="610"/>
              <a:chOff x="619" y="10220"/>
              <a:chExt cx="17226" cy="610"/>
            </a:xfrm>
          </p:grpSpPr>
          <p:sp>
            <p:nvSpPr>
              <p:cNvPr id="98" name="文本框 97"/>
              <p:cNvSpPr txBox="1"/>
              <p:nvPr/>
            </p:nvSpPr>
            <p:spPr>
              <a:xfrm>
                <a:off x="5045" y="10220"/>
                <a:ext cx="321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II. 二叉树</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grpSp>
            <p:nvGrpSpPr>
              <p:cNvPr id="101" name="组合 100"/>
              <p:cNvGrpSpPr/>
              <p:nvPr/>
            </p:nvGrpSpPr>
            <p:grpSpPr>
              <a:xfrm>
                <a:off x="14105" y="10327"/>
                <a:ext cx="428" cy="319"/>
                <a:chOff x="1180190" y="6561344"/>
                <a:chExt cx="271682" cy="202424"/>
              </a:xfrm>
            </p:grpSpPr>
            <p:sp>
              <p:nvSpPr>
                <p:cNvPr id="102" name="燕尾形 101"/>
                <p:cNvSpPr/>
                <p:nvPr/>
              </p:nvSpPr>
              <p:spPr>
                <a:xfrm>
                  <a:off x="1291328"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3" name="燕尾形 102"/>
                <p:cNvSpPr/>
                <p:nvPr/>
              </p:nvSpPr>
              <p:spPr>
                <a:xfrm>
                  <a:off x="1180190" y="6561344"/>
                  <a:ext cx="160544" cy="202424"/>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grpSp>
          <p:grpSp>
            <p:nvGrpSpPr>
              <p:cNvPr id="9" name="组合 8"/>
              <p:cNvGrpSpPr/>
              <p:nvPr/>
            </p:nvGrpSpPr>
            <p:grpSpPr>
              <a:xfrm>
                <a:off x="619" y="10220"/>
                <a:ext cx="17226" cy="611"/>
                <a:chOff x="619" y="10220"/>
                <a:chExt cx="17226" cy="611"/>
              </a:xfrm>
            </p:grpSpPr>
            <p:sp>
              <p:nvSpPr>
                <p:cNvPr id="97" name="文本框 96"/>
                <p:cNvSpPr txBox="1"/>
                <p:nvPr/>
              </p:nvSpPr>
              <p:spPr>
                <a:xfrm>
                  <a:off x="619" y="10220"/>
                  <a:ext cx="5296" cy="580"/>
                </a:xfrm>
                <a:prstGeom prst="rect">
                  <a:avLst/>
                </a:prstGeom>
                <a:noFill/>
              </p:spPr>
              <p:txBody>
                <a:bodyPr wrap="square" rtlCol="0">
                  <a:spAutoFit/>
                </a:bodyPr>
                <a:p>
                  <a:pPr algn="ctr"/>
                  <a:r>
                    <a:rPr lang="en-US" altLang="zh-CN" dirty="0" smtClean="0">
                      <a:solidFill>
                        <a:srgbClr val="979797"/>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dirty="0" smtClean="0">
                      <a:solidFill>
                        <a:srgbClr val="979797"/>
                      </a:solidFill>
                      <a:latin typeface="微软雅黑" panose="020B0503020204020204" pitchFamily="34" charset="-122"/>
                      <a:ea typeface="微软雅黑" panose="020B0503020204020204" pitchFamily="34" charset="-122"/>
                    </a:rPr>
                    <a:t>. 定义及基本术语</a:t>
                  </a:r>
                  <a:endParaRPr lang="en-US" altLang="zh-CN" dirty="0" smtClean="0">
                    <a:solidFill>
                      <a:srgbClr val="979797"/>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9041" y="10220"/>
                  <a:ext cx="4186" cy="580"/>
                </a:xfrm>
                <a:prstGeom prst="rect">
                  <a:avLst/>
                </a:prstGeom>
                <a:noFill/>
              </p:spPr>
              <p:txBody>
                <a:bodyPr wrap="square" rtlCol="0">
                  <a:spAutoFit/>
                </a:bodyPr>
                <a:p>
                  <a:pPr algn="ctr"/>
                  <a:r>
                    <a:rPr lang="en-US" altLang="zh-CN" dirty="0" smtClean="0">
                      <a:solidFill>
                        <a:schemeClr val="accent6">
                          <a:lumMod val="75000"/>
                        </a:schemeClr>
                      </a:solidFill>
                      <a:latin typeface="微软雅黑" panose="020B0503020204020204" pitchFamily="34" charset="-122"/>
                      <a:ea typeface="微软雅黑" panose="020B0503020204020204" pitchFamily="34" charset="-122"/>
                      <a:sym typeface="+mn-ea"/>
                    </a:rPr>
                    <a:t>III.</a:t>
                  </a:r>
                  <a:r>
                    <a:rPr lang="en-US" altLang="zh-CN" dirty="0" smtClean="0">
                      <a:solidFill>
                        <a:schemeClr val="accent6">
                          <a:lumMod val="75000"/>
                        </a:schemeClr>
                      </a:solidFill>
                      <a:latin typeface="微软雅黑" panose="020B0503020204020204" pitchFamily="34" charset="-122"/>
                      <a:ea typeface="微软雅黑" panose="020B0503020204020204" pitchFamily="34" charset="-122"/>
                    </a:rPr>
                    <a:t>树和森林的再讨论</a:t>
                  </a:r>
                  <a:endParaRPr lang="en-US" altLang="zh-CN" dirty="0" smtClean="0">
                    <a:solidFill>
                      <a:schemeClr val="accent6">
                        <a:lumMod val="7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351" y="10220"/>
                  <a:ext cx="3495" cy="580"/>
                </a:xfrm>
                <a:prstGeom prst="rect">
                  <a:avLst/>
                </a:prstGeom>
                <a:noFill/>
              </p:spPr>
              <p:txBody>
                <a:bodyPr wrap="square" rtlCol="0">
                  <a:spAutoFit/>
                </a:bodyPr>
                <a:p>
                  <a:pPr algn="ctr"/>
                  <a:r>
                    <a:rPr lang="en-US" altLang="zh-CN" dirty="0" smtClean="0">
                      <a:solidFill>
                        <a:schemeClr val="accent1"/>
                      </a:solidFill>
                      <a:latin typeface="微软雅黑" panose="020B0503020204020204" pitchFamily="34" charset="-122"/>
                      <a:ea typeface="微软雅黑" panose="020B0503020204020204" pitchFamily="34" charset="-122"/>
                    </a:rPr>
                    <a:t>IV. </a:t>
                  </a:r>
                  <a:r>
                    <a:rPr lang="zh-CN" altLang="en-US" dirty="0" smtClean="0">
                      <a:solidFill>
                        <a:schemeClr val="accent1"/>
                      </a:solidFill>
                      <a:latin typeface="微软雅黑" panose="020B0503020204020204" pitchFamily="34" charset="-122"/>
                      <a:ea typeface="微软雅黑" panose="020B0503020204020204" pitchFamily="34" charset="-122"/>
                    </a:rPr>
                    <a:t>树型结构的应用</a:t>
                  </a:r>
                  <a:endParaRPr lang="zh-CN" altLang="en-US" dirty="0" smtClean="0">
                    <a:solidFill>
                      <a:schemeClr val="accent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080" y="10251"/>
                  <a:ext cx="6400" cy="580"/>
                </a:xfrm>
                <a:prstGeom prst="rect">
                  <a:avLst/>
                </a:prstGeom>
                <a:noFill/>
              </p:spPr>
              <p:txBody>
                <a:bodyPr wrap="square" rtlCol="0">
                  <a:spAutoFit/>
                </a:bodyPr>
                <a:p>
                  <a:endParaRPr lang="zh-CN" altLang="en-US"/>
                </a:p>
              </p:txBody>
            </p:sp>
          </p:grpSp>
        </p:grpSp>
      </p:grpSp>
    </p:spTree>
  </p:cSld>
  <p:clrMapOvr>
    <a:masterClrMapping/>
  </p:clrMapOvr>
</p:sld>
</file>

<file path=ppt/tags/tag1.xml><?xml version="1.0" encoding="utf-8"?>
<p:tagLst xmlns:p="http://schemas.openxmlformats.org/presentationml/2006/main">
  <p:tag name="ISLIDE.ICON" val="#404870;#405337;#404870;#393849;#394159;#171092;#134425;#37043;#393940;"/>
</p:tagLst>
</file>

<file path=ppt/tags/tag2.xml><?xml version="1.0" encoding="utf-8"?>
<p:tagLst xmlns:p="http://schemas.openxmlformats.org/presentationml/2006/main">
  <p:tag name="KSO_WM_DIAGRAM_VIRTUALLY_FRAME" val="{&quot;height&quot;:348.91535433070874,&quot;left&quot;:398.00149606299203,&quot;top&quot;:126.01826771653543,&quot;width&quot;:490.5}"/>
</p:tagLst>
</file>

<file path=ppt/tags/tag3.xml><?xml version="1.0" encoding="utf-8"?>
<p:tagLst xmlns:p="http://schemas.openxmlformats.org/presentationml/2006/main">
  <p:tag name="KSO_WM_DIAGRAM_VIRTUALLY_FRAME" val="{&quot;height&quot;:348.91535433070874,&quot;left&quot;:398.00149606299203,&quot;top&quot;:126.01826771653543,&quot;width&quot;:490.5}"/>
</p:tagLst>
</file>

<file path=ppt/tags/tag4.xml><?xml version="1.0" encoding="utf-8"?>
<p:tagLst xmlns:p="http://schemas.openxmlformats.org/presentationml/2006/main">
  <p:tag name="KSO_WM_DIAGRAM_VIRTUALLY_FRAME" val="{&quot;height&quot;:348.91535433070874,&quot;left&quot;:398.00149606299203,&quot;top&quot;:126.01826771653543,&quot;width&quot;:490.5}"/>
</p:tagLst>
</file>

<file path=ppt/tags/tag5.xml><?xml version="1.0" encoding="utf-8"?>
<p:tagLst xmlns:p="http://schemas.openxmlformats.org/presentationml/2006/main">
  <p:tag name="KSO_WM_DIAGRAM_VIRTUALLY_FRAME" val="{&quot;height&quot;:348.91535433070874,&quot;left&quot;:398.00149606299203,&quot;top&quot;:126.01826771653543,&quot;width&quot;:490.5}"/>
</p:tagLst>
</file>

<file path=ppt/tags/tag6.xml><?xml version="1.0" encoding="utf-8"?>
<p:tagLst xmlns:p="http://schemas.openxmlformats.org/presentationml/2006/main">
  <p:tag name="KSO_WM_DIAGRAM_VIRTUALLY_FRAME" val="{&quot;height&quot;:348.91535433070874,&quot;left&quot;:398.00149606299203,&quot;top&quot;:126.01826771653543,&quot;width&quot;:490.5}"/>
</p:tagLst>
</file>

<file path=ppt/tags/tag7.xml><?xml version="1.0" encoding="utf-8"?>
<p:tagLst xmlns:p="http://schemas.openxmlformats.org/presentationml/2006/main">
  <p:tag name="KSO_WM_DIAGRAM_VIRTUALLY_FRAME" val="{&quot;height&quot;:348.91535433070874,&quot;left&quot;:398.00149606299203,&quot;top&quot;:126.01826771653543,&quot;width&quot;:490.5}"/>
</p:tagLst>
</file>

<file path=ppt/tags/tag8.xml><?xml version="1.0" encoding="utf-8"?>
<p:tagLst xmlns:p="http://schemas.openxmlformats.org/presentationml/2006/main">
  <p:tag name="KSO_WM_DIAGRAM_VIRTUALLY_FRAME" val="{&quot;height&quot;:348.91535433070874,&quot;left&quot;:398.00149606299203,&quot;top&quot;:126.01826771653543,&quot;width&quot;:490.5}"/>
</p:tagLst>
</file>

<file path=ppt/tags/tag9.xml><?xml version="1.0" encoding="utf-8"?>
<p:tagLst xmlns:p="http://schemas.openxmlformats.org/presentationml/2006/main">
  <p:tag name="KSO_WM_DIAGRAM_VIRTUALLY_FRAME" val="{&quot;height&quot;:348.91535433070874,&quot;left&quot;:398.00149606299203,&quot;top&quot;:126.01826771653543,&quot;width&quot;:490.5}"/>
</p:tagLst>
</file>

<file path=ppt/tags/tag10.xml><?xml version="1.0" encoding="utf-8"?>
<p:tagLst xmlns:p="http://schemas.openxmlformats.org/presentationml/2006/main">
  <p:tag name="KSO_WM_DIAGRAM_VIRTUALLY_FRAME" val="{&quot;height&quot;:348.91535433070874,&quot;left&quot;:398.00149606299203,&quot;top&quot;:126.01826771653543,&quot;width&quot;:490.5}"/>
</p:tagLst>
</file>

<file path=ppt/tags/tag11.xml><?xml version="1.0" encoding="utf-8"?>
<p:tagLst xmlns:p="http://schemas.openxmlformats.org/presentationml/2006/main">
  <p:tag name="KSO_WM_DIAGRAM_VIRTUALLY_FRAME" val="{&quot;height&quot;:348.91535433070874,&quot;left&quot;:398.00149606299203,&quot;top&quot;:126.01826771653543,&quot;width&quot;:490.5}"/>
</p:tagLst>
</file>

<file path=ppt/tags/tag12.xml><?xml version="1.0" encoding="utf-8"?>
<p:tagLst xmlns:p="http://schemas.openxmlformats.org/presentationml/2006/main">
  <p:tag name="KSO_WM_DIAGRAM_VIRTUALLY_FRAME" val="{&quot;height&quot;:348.91535433070874,&quot;left&quot;:398.00149606299203,&quot;top&quot;:126.01826771653543,&quot;width&quot;:490.5}"/>
</p:tagLst>
</file>

<file path=ppt/tags/tag13.xml><?xml version="1.0" encoding="utf-8"?>
<p:tagLst xmlns:p="http://schemas.openxmlformats.org/presentationml/2006/main">
  <p:tag name="KSO_WM_DIAGRAM_VIRTUALLY_FRAME" val="{&quot;height&quot;:348.91535433070874,&quot;left&quot;:398.00149606299203,&quot;top&quot;:126.01826771653543,&quot;width&quot;:490.5}"/>
</p:tagLst>
</file>

<file path=ppt/tags/tag14.xml><?xml version="1.0" encoding="utf-8"?>
<p:tagLst xmlns:p="http://schemas.openxmlformats.org/presentationml/2006/main">
  <p:tag name="KSO_WM_DIAGRAM_VIRTUALLY_FRAME" val="{&quot;height&quot;:348.91535433070874,&quot;left&quot;:398.00149606299203,&quot;top&quot;:126.01826771653543,&quot;width&quot;:490.5}"/>
</p:tagLst>
</file>

<file path=ppt/tags/tag15.xml><?xml version="1.0" encoding="utf-8"?>
<p:tagLst xmlns:p="http://schemas.openxmlformats.org/presentationml/2006/main">
  <p:tag name="KSO_WM_DIAGRAM_VIRTUALLY_FRAME" val="{&quot;height&quot;:348.91535433070874,&quot;left&quot;:398.00149606299203,&quot;top&quot;:126.01826771653543,&quot;width&quot;:490.5}"/>
</p:tagLst>
</file>

<file path=ppt/tags/tag16.xml><?xml version="1.0" encoding="utf-8"?>
<p:tagLst xmlns:p="http://schemas.openxmlformats.org/presentationml/2006/main">
  <p:tag name="KSO_WM_DIAGRAM_VIRTUALLY_FRAME" val="{&quot;height&quot;:348.91535433070874,&quot;left&quot;:398.00149606299203,&quot;top&quot;:126.01826771653543,&quot;width&quot;:490.5}"/>
</p:tagLst>
</file>

<file path=ppt/tags/tag17.xml><?xml version="1.0" encoding="utf-8"?>
<p:tagLst xmlns:p="http://schemas.openxmlformats.org/presentationml/2006/main">
  <p:tag name="KSO_WM_DIAGRAM_VIRTUALLY_FRAME" val="{&quot;height&quot;:348.91535433070874,&quot;left&quot;:398.00149606299203,&quot;top&quot;:126.01826771653543,&quot;width&quot;:490.5}"/>
</p:tagLst>
</file>

<file path=ppt/tags/tag18.xml><?xml version="1.0" encoding="utf-8"?>
<p:tagLst xmlns:p="http://schemas.openxmlformats.org/presentationml/2006/main">
  <p:tag name="KSO_WM_DIAGRAM_VIRTUALLY_FRAME" val="{&quot;height&quot;:348.91535433070874,&quot;left&quot;:398.00149606299203,&quot;top&quot;:126.01826771653543,&quot;width&quot;:490.5}"/>
</p:tagLst>
</file>

<file path=ppt/tags/tag19.xml><?xml version="1.0" encoding="utf-8"?>
<p:tagLst xmlns:p="http://schemas.openxmlformats.org/presentationml/2006/main">
  <p:tag name="KSO_WM_DIAGRAM_VIRTUALLY_FRAME" val="{&quot;height&quot;:348.91535433070874,&quot;left&quot;:398.00149606299203,&quot;top&quot;:126.01826771653543,&quot;width&quot;:490.5}"/>
</p:tagLst>
</file>

<file path=ppt/tags/tag20.xml><?xml version="1.0" encoding="utf-8"?>
<p:tagLst xmlns:p="http://schemas.openxmlformats.org/presentationml/2006/main">
  <p:tag name="KSO_WM_DIAGRAM_VIRTUALLY_FRAME" val="{&quot;height&quot;:348.91535433070874,&quot;left&quot;:398.00149606299203,&quot;top&quot;:126.01826771653543,&quot;width&quot;:490.5}"/>
</p:tagLst>
</file>

<file path=ppt/tags/tag21.xml><?xml version="1.0" encoding="utf-8"?>
<p:tagLst xmlns:p="http://schemas.openxmlformats.org/presentationml/2006/main">
  <p:tag name="KSO_WM_DIAGRAM_VIRTUALLY_FRAME" val="{&quot;height&quot;:348.91535433070874,&quot;left&quot;:398.00149606299203,&quot;top&quot;:126.01826771653543,&quot;width&quot;:490.5}"/>
</p:tagLst>
</file>

<file path=ppt/tags/tag22.xml><?xml version="1.0" encoding="utf-8"?>
<p:tagLst xmlns:p="http://schemas.openxmlformats.org/presentationml/2006/main">
  <p:tag name="KSO_WM_DIAGRAM_VIRTUALLY_FRAME" val="{&quot;height&quot;:348.91535433070874,&quot;left&quot;:398.00149606299203,&quot;top&quot;:126.01826771653543,&quot;width&quot;:490.5}"/>
</p:tagLst>
</file>

<file path=ppt/tags/tag23.xml><?xml version="1.0" encoding="utf-8"?>
<p:tagLst xmlns:p="http://schemas.openxmlformats.org/presentationml/2006/main">
  <p:tag name="ISLIDE.ICON" val="#404870;#405337;#404870;#393849;#394159;#175184;#154559;#174619;#393950;#87202;#381622;"/>
</p:tagLst>
</file>

<file path=ppt/tags/tag24.xml><?xml version="1.0" encoding="utf-8"?>
<p:tagLst xmlns:p="http://schemas.openxmlformats.org/presentationml/2006/main">
  <p:tag name="TABLE_ENDDRAG_ORIGIN_RECT" val="815*346"/>
  <p:tag name="TABLE_ENDDRAG_RECT" val="50*120*815*346"/>
</p:tagLst>
</file>

<file path=ppt/tags/tag25.xml><?xml version="1.0" encoding="utf-8"?>
<p:tagLst xmlns:p="http://schemas.openxmlformats.org/presentationml/2006/main">
  <p:tag name="KSO_WM_DIAGRAM_VIRTUALLY_FRAME" val="{&quot;height&quot;:220.35,&quot;left&quot;:624,&quot;top&quot;:276,&quot;width&quot;:225.6}"/>
</p:tagLst>
</file>

<file path=ppt/tags/tag26.xml><?xml version="1.0" encoding="utf-8"?>
<p:tagLst xmlns:p="http://schemas.openxmlformats.org/presentationml/2006/main">
  <p:tag name="KSO_WM_DIAGRAM_VIRTUALLY_FRAME" val="{&quot;height&quot;:220.35,&quot;left&quot;:624,&quot;top&quot;:276,&quot;width&quot;:225.6}"/>
</p:tagLst>
</file>

<file path=ppt/tags/tag27.xml><?xml version="1.0" encoding="utf-8"?>
<p:tagLst xmlns:p="http://schemas.openxmlformats.org/presentationml/2006/main">
  <p:tag name="KSO_WM_DIAGRAM_VIRTUALLY_FRAME" val="{&quot;height&quot;:220.35,&quot;left&quot;:624,&quot;top&quot;:276,&quot;width&quot;:225.6}"/>
</p:tagLst>
</file>

<file path=ppt/tags/tag28.xml><?xml version="1.0" encoding="utf-8"?>
<p:tagLst xmlns:p="http://schemas.openxmlformats.org/presentationml/2006/main">
  <p:tag name="KSO_WM_DIAGRAM_VIRTUALLY_FRAME" val="{&quot;height&quot;:220.35,&quot;left&quot;:624,&quot;top&quot;:276,&quot;width&quot;:225.6}"/>
</p:tagLst>
</file>

<file path=ppt/tags/tag29.xml><?xml version="1.0" encoding="utf-8"?>
<p:tagLst xmlns:p="http://schemas.openxmlformats.org/presentationml/2006/main">
  <p:tag name="KSO_WM_DIAGRAM_VIRTUALLY_FRAME" val="{&quot;height&quot;:220.35,&quot;left&quot;:624,&quot;top&quot;:276,&quot;width&quot;:225.6}"/>
</p:tagLst>
</file>

<file path=ppt/tags/tag30.xml><?xml version="1.0" encoding="utf-8"?>
<p:tagLst xmlns:p="http://schemas.openxmlformats.org/presentationml/2006/main">
  <p:tag name="KSO_WM_DIAGRAM_VIRTUALLY_FRAME" val="{&quot;height&quot;:220.35,&quot;left&quot;:624,&quot;top&quot;:276,&quot;width&quot;:225.6}"/>
</p:tagLst>
</file>

<file path=ppt/tags/tag31.xml><?xml version="1.0" encoding="utf-8"?>
<p:tagLst xmlns:p="http://schemas.openxmlformats.org/presentationml/2006/main">
  <p:tag name="KSO_WM_DIAGRAM_VIRTUALLY_FRAME" val="{&quot;height&quot;:220.35,&quot;left&quot;:624,&quot;top&quot;:276,&quot;width&quot;:225.6}"/>
</p:tagLst>
</file>

<file path=ppt/tags/tag32.xml><?xml version="1.0" encoding="utf-8"?>
<p:tagLst xmlns:p="http://schemas.openxmlformats.org/presentationml/2006/main">
  <p:tag name="KSO_WM_DIAGRAM_VIRTUALLY_FRAME" val="{&quot;height&quot;:220.35,&quot;left&quot;:624,&quot;top&quot;:276,&quot;width&quot;:225.6}"/>
</p:tagLst>
</file>

<file path=ppt/tags/tag33.xml><?xml version="1.0" encoding="utf-8"?>
<p:tagLst xmlns:p="http://schemas.openxmlformats.org/presentationml/2006/main">
  <p:tag name="KSO_WM_DIAGRAM_VIRTUALLY_FRAME" val="{&quot;height&quot;:220.35,&quot;left&quot;:624,&quot;top&quot;:276,&quot;width&quot;:225.6}"/>
</p:tagLst>
</file>

<file path=ppt/tags/tag34.xml><?xml version="1.0" encoding="utf-8"?>
<p:tagLst xmlns:p="http://schemas.openxmlformats.org/presentationml/2006/main">
  <p:tag name="KSO_WM_DIAGRAM_VIRTUALLY_FRAME" val="{&quot;height&quot;:220.35,&quot;left&quot;:624,&quot;top&quot;:276,&quot;width&quot;:225.6}"/>
</p:tagLst>
</file>

<file path=ppt/tags/tag35.xml><?xml version="1.0" encoding="utf-8"?>
<p:tagLst xmlns:p="http://schemas.openxmlformats.org/presentationml/2006/main">
  <p:tag name="KSO_WM_DIAGRAM_VIRTUALLY_FRAME" val="{&quot;height&quot;:220.35,&quot;left&quot;:624,&quot;top&quot;:276,&quot;width&quot;:225.6}"/>
</p:tagLst>
</file>

<file path=ppt/tags/tag36.xml><?xml version="1.0" encoding="utf-8"?>
<p:tagLst xmlns:p="http://schemas.openxmlformats.org/presentationml/2006/main">
  <p:tag name="KSO_WM_DIAGRAM_VIRTUALLY_FRAME" val="{&quot;height&quot;:220.35,&quot;left&quot;:624,&quot;top&quot;:276,&quot;width&quot;:225.6}"/>
</p:tagLst>
</file>

<file path=ppt/tags/tag37.xml><?xml version="1.0" encoding="utf-8"?>
<p:tagLst xmlns:p="http://schemas.openxmlformats.org/presentationml/2006/main">
  <p:tag name="KSO_WM_DIAGRAM_VIRTUALLY_FRAME" val="{&quot;height&quot;:220.35,&quot;left&quot;:624,&quot;top&quot;:276,&quot;width&quot;:225.6}"/>
</p:tagLst>
</file>

<file path=ppt/tags/tag38.xml><?xml version="1.0" encoding="utf-8"?>
<p:tagLst xmlns:p="http://schemas.openxmlformats.org/presentationml/2006/main">
  <p:tag name="KSO_WM_DIAGRAM_VIRTUALLY_FRAME" val="{&quot;height&quot;:220.35,&quot;left&quot;:624,&quot;top&quot;:276,&quot;width&quot;:225.6}"/>
</p:tagLst>
</file>

<file path=ppt/tags/tag39.xml><?xml version="1.0" encoding="utf-8"?>
<p:tagLst xmlns:p="http://schemas.openxmlformats.org/presentationml/2006/main">
  <p:tag name="KSO_WM_DIAGRAM_VIRTUALLY_FRAME" val="{&quot;height&quot;:220.35,&quot;left&quot;:624,&quot;top&quot;:276,&quot;width&quot;:225.6}"/>
</p:tagLst>
</file>

<file path=ppt/tags/tag40.xml><?xml version="1.0" encoding="utf-8"?>
<p:tagLst xmlns:p="http://schemas.openxmlformats.org/presentationml/2006/main">
  <p:tag name="TABLE_ENDDRAG_ORIGIN_RECT" val="734*187"/>
  <p:tag name="TABLE_ENDDRAG_RECT" val="105*162*734*187"/>
</p:tagLst>
</file>

<file path=ppt/tags/tag41.xml><?xml version="1.0" encoding="utf-8"?>
<p:tagLst xmlns:p="http://schemas.openxmlformats.org/presentationml/2006/main">
  <p:tag name="TABLE_ENDDRAG_ORIGIN_RECT" val="247*186"/>
  <p:tag name="TABLE_ENDDRAG_RECT" val="328*226*247*186"/>
</p:tagLst>
</file>

<file path=ppt/tags/tag42.xml><?xml version="1.0" encoding="utf-8"?>
<p:tagLst xmlns:p="http://schemas.openxmlformats.org/presentationml/2006/main">
  <p:tag name="commondata" val="eyJoZGlkIjoiZjQ4NDFjNWE2YjY1NTA0MjhjMmU2NTU4MDRhMDIxYjgifQ=="/>
</p:tagLst>
</file>

<file path=ppt/theme/theme1.xml><?xml version="1.0" encoding="utf-8"?>
<a:theme xmlns:a="http://schemas.openxmlformats.org/drawingml/2006/main" name="办公资源网：www.bangongziyuan.com">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themeOverride>
</file>

<file path=ppt/theme/themeOverride2.xml><?xml version="1.0" encoding="utf-8"?>
<a:themeOverride xmlns:a="http://schemas.openxmlformats.org/drawingml/2006/main">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35481</Words>
  <Application>WPS 演示</Application>
  <PresentationFormat>宽屏</PresentationFormat>
  <Paragraphs>3719</Paragraphs>
  <Slides>139</Slides>
  <Notes>4</Notes>
  <HiddenSlides>0</HiddenSlides>
  <MMClips>0</MMClips>
  <ScaleCrop>false</ScaleCrop>
  <HeadingPairs>
    <vt:vector size="8" baseType="variant">
      <vt:variant>
        <vt:lpstr>已用的字体</vt:lpstr>
      </vt:variant>
      <vt:variant>
        <vt:i4>21</vt:i4>
      </vt:variant>
      <vt:variant>
        <vt:lpstr>主题</vt:lpstr>
      </vt:variant>
      <vt:variant>
        <vt:i4>2</vt:i4>
      </vt:variant>
      <vt:variant>
        <vt:lpstr>嵌入 OLE 服务器</vt:lpstr>
      </vt:variant>
      <vt:variant>
        <vt:i4>30</vt:i4>
      </vt:variant>
      <vt:variant>
        <vt:lpstr>幻灯片标题</vt:lpstr>
      </vt:variant>
      <vt:variant>
        <vt:i4>139</vt:i4>
      </vt:variant>
    </vt:vector>
  </HeadingPairs>
  <TitlesOfParts>
    <vt:vector size="192" baseType="lpstr">
      <vt:lpstr>Arial</vt:lpstr>
      <vt:lpstr>宋体</vt:lpstr>
      <vt:lpstr>Wingdings</vt:lpstr>
      <vt:lpstr>OPPOSans R</vt:lpstr>
      <vt:lpstr>OPPOSans B</vt:lpstr>
      <vt:lpstr>微软雅黑</vt:lpstr>
      <vt:lpstr>Times New Roman</vt:lpstr>
      <vt:lpstr>华文行楷</vt:lpstr>
      <vt:lpstr>Georgia</vt:lpstr>
      <vt:lpstr>Calibri</vt:lpstr>
      <vt:lpstr>OPPOSans H</vt:lpstr>
      <vt:lpstr>庞门正道标题体</vt:lpstr>
      <vt:lpstr>Wingdings</vt:lpstr>
      <vt:lpstr>Consolas</vt:lpstr>
      <vt:lpstr>楷体_GB2312</vt:lpstr>
      <vt:lpstr>Arial Unicode MS</vt:lpstr>
      <vt:lpstr>Symbol</vt:lpstr>
      <vt:lpstr>Courier New</vt:lpstr>
      <vt:lpstr>黑体</vt:lpstr>
      <vt:lpstr>楷体</vt:lpstr>
      <vt:lpstr>思源黑体 CN Regular</vt:lpstr>
      <vt:lpstr>办公资源网：www.bangongziyuan.com</vt:lpstr>
      <vt:lpstr>自定义设计方案</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Equation.3</vt:lpstr>
      <vt:lpstr>Visio.Drawing.11</vt:lpstr>
      <vt:lpstr>Visio.Drawing.11</vt:lpstr>
      <vt:lpstr>Visio.Drawing.11</vt:lpstr>
      <vt:lpstr>Visio.Drawing.11</vt:lpstr>
      <vt:lpstr>Equation.3</vt:lpstr>
      <vt:lpstr>Visio.Drawing.11</vt:lpstr>
      <vt:lpstr>Visio.Drawing.11</vt:lpstr>
      <vt:lpstr>Word.Document.8</vt:lpstr>
      <vt:lpstr>Word.Document.8</vt:lpstr>
      <vt:lpstr>Visio.Drawing.11</vt:lpstr>
      <vt:lpstr>Equation.3</vt:lpstr>
      <vt:lpstr>Word.Document.8</vt:lpstr>
      <vt:lpstr>Equation.3</vt:lpstr>
      <vt:lpstr>Visio.Drawing.11</vt:lpstr>
      <vt:lpstr>Equation.DSMT4</vt:lpstr>
      <vt:lpstr>Equation.DSMT4</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a: 8   b:6    c:2    d:3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刘雅茜</cp:lastModifiedBy>
  <cp:revision>3302</cp:revision>
  <dcterms:created xsi:type="dcterms:W3CDTF">2020-11-24T06:30:00Z</dcterms:created>
  <dcterms:modified xsi:type="dcterms:W3CDTF">2024-10-29T08:48:37Z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C59B81EA82FB41F5BFB29AA05B03B202_12</vt:lpwstr>
  </property>
  <property fmtid="{D5CDD505-2E9C-101B-9397-08002B2CF9AE}" pid="3" name="KSOProductBuildVer">
    <vt:lpwstr>2052-12.1.0.18608</vt:lpwstr>
  </property>
</Properties>
</file>