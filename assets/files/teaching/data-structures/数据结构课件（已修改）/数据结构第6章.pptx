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98"/>
  </p:handoutMasterIdLst>
  <p:sldIdLst>
    <p:sldId id="15714907" r:id="rId4"/>
    <p:sldId id="15714962" r:id="rId6"/>
    <p:sldId id="15714979" r:id="rId7"/>
    <p:sldId id="15714980" r:id="rId8"/>
    <p:sldId id="15714981" r:id="rId9"/>
    <p:sldId id="15714982" r:id="rId10"/>
    <p:sldId id="15714983" r:id="rId11"/>
    <p:sldId id="15714984" r:id="rId12"/>
    <p:sldId id="15714985" r:id="rId13"/>
    <p:sldId id="15714986" r:id="rId14"/>
    <p:sldId id="15714987" r:id="rId15"/>
    <p:sldId id="15714988" r:id="rId16"/>
    <p:sldId id="15714989" r:id="rId17"/>
    <p:sldId id="15714990" r:id="rId18"/>
    <p:sldId id="15714991" r:id="rId19"/>
    <p:sldId id="15714992" r:id="rId20"/>
    <p:sldId id="15714993" r:id="rId21"/>
    <p:sldId id="15714994" r:id="rId22"/>
    <p:sldId id="15714995" r:id="rId23"/>
    <p:sldId id="15714996" r:id="rId24"/>
    <p:sldId id="15714997" r:id="rId25"/>
    <p:sldId id="15714998" r:id="rId26"/>
    <p:sldId id="15714999" r:id="rId27"/>
    <p:sldId id="15715000" r:id="rId28"/>
    <p:sldId id="15715001" r:id="rId29"/>
    <p:sldId id="15715002" r:id="rId30"/>
    <p:sldId id="15715003" r:id="rId31"/>
    <p:sldId id="15715004" r:id="rId32"/>
    <p:sldId id="15715005" r:id="rId33"/>
    <p:sldId id="15715006" r:id="rId34"/>
    <p:sldId id="15715007" r:id="rId35"/>
    <p:sldId id="15715008" r:id="rId36"/>
    <p:sldId id="15715009" r:id="rId37"/>
    <p:sldId id="15715010" r:id="rId38"/>
    <p:sldId id="15715011" r:id="rId39"/>
    <p:sldId id="15715012" r:id="rId40"/>
    <p:sldId id="15715013" r:id="rId41"/>
    <p:sldId id="15715014" r:id="rId42"/>
    <p:sldId id="15715015" r:id="rId43"/>
    <p:sldId id="15715016" r:id="rId44"/>
    <p:sldId id="15715017" r:id="rId45"/>
    <p:sldId id="15715018" r:id="rId46"/>
    <p:sldId id="15715019" r:id="rId47"/>
    <p:sldId id="15715020" r:id="rId48"/>
    <p:sldId id="15715021" r:id="rId49"/>
    <p:sldId id="15715022" r:id="rId50"/>
    <p:sldId id="15715023" r:id="rId51"/>
    <p:sldId id="15715024" r:id="rId52"/>
    <p:sldId id="15715025" r:id="rId53"/>
    <p:sldId id="15715026" r:id="rId54"/>
    <p:sldId id="15715027" r:id="rId55"/>
    <p:sldId id="15715028" r:id="rId56"/>
    <p:sldId id="15715032" r:id="rId57"/>
    <p:sldId id="15715029" r:id="rId58"/>
    <p:sldId id="15715030" r:id="rId59"/>
    <p:sldId id="15715031" r:id="rId60"/>
    <p:sldId id="15715033" r:id="rId61"/>
    <p:sldId id="15715034" r:id="rId62"/>
    <p:sldId id="15715035" r:id="rId63"/>
    <p:sldId id="15715036" r:id="rId64"/>
    <p:sldId id="15715037" r:id="rId65"/>
    <p:sldId id="15715038" r:id="rId66"/>
    <p:sldId id="15715039" r:id="rId67"/>
    <p:sldId id="15715040" r:id="rId68"/>
    <p:sldId id="15715041" r:id="rId69"/>
    <p:sldId id="15715042" r:id="rId70"/>
    <p:sldId id="15715043" r:id="rId71"/>
    <p:sldId id="15715044" r:id="rId72"/>
    <p:sldId id="15715045" r:id="rId73"/>
    <p:sldId id="15715046" r:id="rId74"/>
    <p:sldId id="15715047" r:id="rId75"/>
    <p:sldId id="15715048" r:id="rId76"/>
    <p:sldId id="15715049" r:id="rId77"/>
    <p:sldId id="15715050" r:id="rId78"/>
    <p:sldId id="15715051" r:id="rId79"/>
    <p:sldId id="15715052" r:id="rId80"/>
    <p:sldId id="15715053" r:id="rId81"/>
    <p:sldId id="15715054" r:id="rId82"/>
    <p:sldId id="15715055" r:id="rId83"/>
    <p:sldId id="15715056" r:id="rId84"/>
    <p:sldId id="15715057" r:id="rId85"/>
    <p:sldId id="15715058" r:id="rId86"/>
    <p:sldId id="15715059" r:id="rId87"/>
    <p:sldId id="15715060" r:id="rId88"/>
    <p:sldId id="15715061" r:id="rId89"/>
    <p:sldId id="15715062" r:id="rId90"/>
    <p:sldId id="15715063" r:id="rId91"/>
    <p:sldId id="15715064" r:id="rId92"/>
    <p:sldId id="15715065" r:id="rId93"/>
    <p:sldId id="15715066" r:id="rId94"/>
    <p:sldId id="15715067" r:id="rId95"/>
    <p:sldId id="15715068" r:id="rId96"/>
    <p:sldId id="15715069" r:id="rId97"/>
  </p:sldIdLst>
  <p:sldSz cx="12192000" cy="6858000"/>
  <p:notesSz cx="6858000" cy="9144000"/>
  <p:custDataLst>
    <p:tags r:id="rId10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9E"/>
    <a:srgbClr val="000000"/>
    <a:srgbClr val="ADA19D"/>
    <a:srgbClr val="F0ECF2"/>
    <a:srgbClr val="494958"/>
    <a:srgbClr val="484C58"/>
    <a:srgbClr val="A8A8A8"/>
    <a:srgbClr val="015B9F"/>
    <a:srgbClr val="029188"/>
    <a:srgbClr val="0493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8" autoAdjust="0"/>
    <p:restoredTop sz="94660"/>
  </p:normalViewPr>
  <p:slideViewPr>
    <p:cSldViewPr snapToGrid="0">
      <p:cViewPr varScale="1">
        <p:scale>
          <a:sx n="67" d="100"/>
          <a:sy n="67" d="100"/>
        </p:scale>
        <p:origin x="500" y="52"/>
      </p:cViewPr>
      <p:guideLst/>
    </p:cSldViewPr>
  </p:slideViewPr>
  <p:notesTextViewPr>
    <p:cViewPr>
      <p:scale>
        <a:sx n="3" d="2"/>
        <a:sy n="3" d="2"/>
      </p:scale>
      <p:origin x="0" y="0"/>
    </p:cViewPr>
  </p:notesTextViewPr>
  <p:sorterViewPr>
    <p:cViewPr>
      <p:scale>
        <a:sx n="100" d="100"/>
        <a:sy n="100" d="100"/>
      </p:scale>
      <p:origin x="0" y="-642"/>
    </p:cViewPr>
  </p:sorterViewPr>
  <p:notesViewPr>
    <p:cSldViewPr snapToGrid="0">
      <p:cViewPr varScale="1">
        <p:scale>
          <a:sx n="60" d="100"/>
          <a:sy n="60" d="100"/>
        </p:scale>
        <p:origin x="1014" y="6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handoutMaster" Target="handoutMasters/handoutMaster1.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2" Type="http://schemas.openxmlformats.org/officeDocument/2006/relationships/tags" Target="tags/tag2.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5C2F0C-902B-40A3-A4BD-4EF077EA43A2}" type="datetimeFigureOut">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OPPOSans R" panose="00020600040101010101" pitchFamily="18" charset="-122"/>
              <a:ea typeface="OPPOSans R" panose="00020600040101010101"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12C1B7-04C4-46E7-9BAA-4B759B4AC2C1}" type="slidenum">
              <a:rPr lang="zh-CN" altLang="en-US" smtClean="0">
                <a:latin typeface="OPPOSans R" panose="00020600040101010101" pitchFamily="18" charset="-122"/>
                <a:ea typeface="OPPOSans R" panose="00020600040101010101" pitchFamily="18" charset="-122"/>
              </a:rPr>
            </a:fld>
            <a:endParaRPr lang="zh-CN" altLang="en-US" dirty="0">
              <a:latin typeface="OPPOSans R" panose="00020600040101010101" pitchFamily="18" charset="-122"/>
              <a:ea typeface="OPPOSans R" panose="00020600040101010101"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OPPOSans R" panose="00020600040101010101" pitchFamily="18" charset="-122"/>
                <a:ea typeface="OPPOSans R" panose="00020600040101010101" pitchFamily="18" charset="-122"/>
              </a:defRPr>
            </a:lvl1pPr>
          </a:lstStyle>
          <a:p>
            <a:fld id="{3C9F0365-6E51-42DF-A7F1-912A2B6B56F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OPPOSans R" panose="00020600040101010101" pitchFamily="18" charset="-122"/>
                <a:ea typeface="OPPOSans R"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OPPOSans R" panose="00020600040101010101" pitchFamily="18" charset="-122"/>
                <a:ea typeface="OPPOSans R" panose="00020600040101010101" pitchFamily="18" charset="-122"/>
              </a:defRPr>
            </a:lvl1pPr>
          </a:lstStyle>
          <a:p>
            <a:fld id="{830FE25F-8BC0-4BE2-A57A-787CA670B11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OPPOSans R" panose="00020600040101010101" pitchFamily="18" charset="-122"/>
        <a:ea typeface="OPPOSans R" panose="00020600040101010101" pitchFamily="18"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FF1102C-FAD4-459D-8C7A-106E6431C5A1}" type="slidenum">
              <a:rPr kumimoji="0" lang="zh-CN" altLang="en-US" sz="1200" b="0" i="0" u="none" strike="noStrike" kern="1200" cap="none" spc="0" normalizeH="0" baseline="0" noProof="0" smtClean="0">
                <a:ln>
                  <a:noFill/>
                </a:ln>
                <a:solidFill>
                  <a:prstClr val="black"/>
                </a:solidFill>
                <a:effectLst/>
                <a:uLnTx/>
                <a:uFillTx/>
                <a:latin typeface="OPPOSans R" panose="00020600040101010101" pitchFamily="18" charset="-122"/>
                <a:ea typeface="OPPOSans R" panose="00020600040101010101" pitchFamily="18" charset="-122"/>
                <a:cs typeface="+mn-cs"/>
              </a:rPr>
            </a:fld>
            <a:endParaRPr kumimoji="0" lang="zh-CN" altLang="en-US" sz="1200" b="0"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E50DA76-BDB9-41EC-AAF5-70C0225A9AC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7C27E53-8393-4364-8F27-75C13D97A0E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D2807F-E77D-47AF-BE97-7F279468F5B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5A674D8-D595-481B-98B3-1F39AF99B99A}"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B35DD3EC-14B0-476A-A7B6-2379185BAD1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1" Type="http://schemas.openxmlformats.org/officeDocument/2006/relationships/theme" Target="../theme/theme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07C27E53-8393-4364-8F27-75C13D97A0E8}"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93D2807F-E77D-47AF-BE97-7F279468F5B6}"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OPPOSans R" panose="00020600040101010101" pitchFamily="18" charset="-122"/>
                <a:ea typeface="OPPOSans R" panose="00020600040101010101" pitchFamily="18" charset="-122"/>
              </a:defRPr>
            </a:lvl1pPr>
          </a:lstStyle>
          <a:p>
            <a:fld id="{65A674D8-D595-481B-98B3-1F39AF99B99A}"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OPPOSans R" panose="00020600040101010101" pitchFamily="18" charset="-122"/>
                <a:ea typeface="OPPOSans R"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OPPOSans R" panose="00020600040101010101" pitchFamily="18" charset="-122"/>
                <a:ea typeface="OPPOSans R" panose="00020600040101010101" pitchFamily="18" charset="-122"/>
              </a:defRPr>
            </a:lvl1pPr>
          </a:lstStyle>
          <a:p>
            <a:fld id="{B35DD3EC-14B0-476A-A7B6-2379185BAD17}" type="slidenum">
              <a:rPr lang="zh-CN" altLang="en-US" smtClean="0"/>
            </a:fld>
            <a:endParaRPr lang="zh-CN" altLang="en-US" dirty="0"/>
          </a:p>
        </p:txBody>
      </p:sp>
      <p:cxnSp>
        <p:nvCxnSpPr>
          <p:cNvPr id="7" name="直接连接符 6"/>
          <p:cNvCxnSpPr/>
          <p:nvPr userDrawn="1"/>
        </p:nvCxnSpPr>
        <p:spPr>
          <a:xfrm>
            <a:off x="527050" y="923086"/>
            <a:ext cx="1113790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等腰三角形 7"/>
          <p:cNvSpPr/>
          <p:nvPr userDrawn="1"/>
        </p:nvSpPr>
        <p:spPr>
          <a:xfrm rot="5400000">
            <a:off x="478876" y="414720"/>
            <a:ext cx="441960" cy="267628"/>
          </a:xfrm>
          <a:prstGeom prst="triangle">
            <a:avLst/>
          </a:prstGeom>
          <a:solidFill>
            <a:srgbClr val="005A9E"/>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8" tIns="45715" rIns="91428" bIns="45715" rtlCol="0" anchor="ctr"/>
          <a:lstStyle/>
          <a:p>
            <a:pPr algn="ctr"/>
            <a:endParaRPr lang="zh-CN" altLang="en-US" sz="2400" dirty="0">
              <a:latin typeface="OPPOSans B"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914400" rtl="0" eaLnBrk="1" latinLnBrk="0" hangingPunct="1">
        <a:lnSpc>
          <a:spcPct val="90000"/>
        </a:lnSpc>
        <a:spcBef>
          <a:spcPct val="0"/>
        </a:spcBef>
        <a:buNone/>
        <a:defRPr sz="4400" kern="1200">
          <a:solidFill>
            <a:schemeClr val="tx1"/>
          </a:solidFill>
          <a:latin typeface="OPPOSans R" panose="00020600040101010101" pitchFamily="18" charset="-122"/>
          <a:ea typeface="OPPOSans R"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4.wmf"/><Relationship Id="rId3" Type="http://schemas.openxmlformats.org/officeDocument/2006/relationships/oleObject" Target="../embeddings/oleObject4.bin"/><Relationship Id="rId2" Type="http://schemas.openxmlformats.org/officeDocument/2006/relationships/image" Target="../media/image3.wmf"/><Relationship Id="rId1"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6.wmf"/><Relationship Id="rId3" Type="http://schemas.openxmlformats.org/officeDocument/2006/relationships/oleObject" Target="../embeddings/oleObject6.bin"/><Relationship Id="rId2" Type="http://schemas.openxmlformats.org/officeDocument/2006/relationships/image" Target="../media/image5.emf"/><Relationship Id="rId1"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9.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10.bin"/></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59.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11.bin"/></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65.xml"/><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12.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5" Type="http://schemas.openxmlformats.org/officeDocument/2006/relationships/notesSlide" Target="../notesSlides/notesSlide83.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oleObject" Target="../embeddings/oleObject13.bin"/></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5" Type="http://schemas.openxmlformats.org/officeDocument/2006/relationships/notesSlide" Target="../notesSlides/notesSlide85.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14.bin"/></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3429000"/>
            <a:ext cx="12192000" cy="3429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sp>
        <p:nvSpPr>
          <p:cNvPr id="17" name="文本框 283"/>
          <p:cNvSpPr txBox="1"/>
          <p:nvPr/>
        </p:nvSpPr>
        <p:spPr>
          <a:xfrm>
            <a:off x="4555689" y="1823271"/>
            <a:ext cx="3080622" cy="120032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查找</a:t>
            </a:r>
            <a:endParaRPr kumimoji="0" lang="zh-CN" altLang="en-US" sz="7200" b="1"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grpSp>
        <p:nvGrpSpPr>
          <p:cNvPr id="8" name="组合 7"/>
          <p:cNvGrpSpPr/>
          <p:nvPr/>
        </p:nvGrpSpPr>
        <p:grpSpPr>
          <a:xfrm>
            <a:off x="4356353" y="4939300"/>
            <a:ext cx="3950519" cy="1029628"/>
            <a:chOff x="4293107" y="4891174"/>
            <a:chExt cx="3479292" cy="1029628"/>
          </a:xfrm>
        </p:grpSpPr>
        <p:sp>
          <p:nvSpPr>
            <p:cNvPr id="28" name="文本框 27"/>
            <p:cNvSpPr txBox="1"/>
            <p:nvPr/>
          </p:nvSpPr>
          <p:spPr>
            <a:xfrm flipH="1">
              <a:off x="4293107" y="4891174"/>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课程性质：专业必修课</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sp>
          <p:nvSpPr>
            <p:cNvPr id="30" name="文本框 29"/>
            <p:cNvSpPr txBox="1"/>
            <p:nvPr/>
          </p:nvSpPr>
          <p:spPr>
            <a:xfrm flipH="1">
              <a:off x="4293107" y="5520692"/>
              <a:ext cx="3479292" cy="400110"/>
            </a:xfrm>
            <a:prstGeom prst="rect">
              <a:avLst/>
            </a:prstGeom>
            <a:noFill/>
            <a:ln>
              <a:noFill/>
            </a:ln>
          </p:spPr>
          <p:txBody>
            <a:bodyPr vert="horz" wrap="square" rtlCol="0">
              <a:spAutoFit/>
            </a:bodyPr>
            <a:lstStyle/>
            <a:p>
              <a:pPr marL="342900" lvl="0" indent="-342900" defTabSz="1219200">
                <a:buFont typeface="Wingdings" panose="05000000000000000000" pitchFamily="2" charset="2"/>
                <a:buChar char="u"/>
                <a:defRPr/>
              </a:pPr>
              <a:r>
                <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rPr>
                <a:t>授课对象：本科二年级</a:t>
              </a:r>
              <a:endParaRPr lang="zh-CN" altLang="en-US" sz="2000" spc="30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sym typeface="+mn-lt"/>
              </a:endParaRPr>
            </a:p>
          </p:txBody>
        </p:sp>
      </p:grpSp>
      <p:sp>
        <p:nvSpPr>
          <p:cNvPr id="16" name="矩形 15"/>
          <p:cNvSpPr/>
          <p:nvPr/>
        </p:nvSpPr>
        <p:spPr>
          <a:xfrm>
            <a:off x="2253378" y="3947028"/>
            <a:ext cx="7685244" cy="5868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cxnSp>
        <p:nvCxnSpPr>
          <p:cNvPr id="32" name="直接连接符 31"/>
          <p:cNvCxnSpPr/>
          <p:nvPr/>
        </p:nvCxnSpPr>
        <p:spPr>
          <a:xfrm>
            <a:off x="1796779" y="6270902"/>
            <a:ext cx="8598443" cy="0"/>
          </a:xfrm>
          <a:prstGeom prst="line">
            <a:avLst/>
          </a:prstGeom>
          <a:ln w="12700">
            <a:gradFill>
              <a:gsLst>
                <a:gs pos="0">
                  <a:schemeClr val="accent1">
                    <a:lumMod val="5000"/>
                    <a:lumOff val="95000"/>
                    <a:alpha val="0"/>
                  </a:schemeClr>
                </a:gs>
                <a:gs pos="50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3" name="文本框 283"/>
          <p:cNvSpPr txBox="1"/>
          <p:nvPr/>
        </p:nvSpPr>
        <p:spPr>
          <a:xfrm>
            <a:off x="3000776" y="3992461"/>
            <a:ext cx="638372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rPr>
              <a:t>课程名称：数据结构</a:t>
            </a:r>
            <a:endParaRPr kumimoji="0" lang="zh-CN" altLang="en-US" sz="2800" b="0" i="0" u="none" strike="noStrike" kern="1200" cap="none" spc="100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2" name="文本框 283"/>
          <p:cNvSpPr txBox="1"/>
          <p:nvPr/>
        </p:nvSpPr>
        <p:spPr>
          <a:xfrm>
            <a:off x="461047" y="331580"/>
            <a:ext cx="3738420" cy="461665"/>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0"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r>
              <a:rPr lang="zh-CN" altLang="en-US" dirty="0"/>
              <a:t>节选自第六章 查找</a:t>
            </a:r>
            <a:endParaRPr lang="zh-CN" altLang="en-US" dirty="0"/>
          </a:p>
        </p:txBody>
      </p:sp>
      <p:sp>
        <p:nvSpPr>
          <p:cNvPr id="13" name="文本框 283"/>
          <p:cNvSpPr txBox="1"/>
          <p:nvPr/>
        </p:nvSpPr>
        <p:spPr>
          <a:xfrm>
            <a:off x="9384504" y="331578"/>
            <a:ext cx="2379313" cy="461665"/>
          </a:xfrm>
          <a:prstGeom prst="rect">
            <a:avLst/>
          </a:prstGeom>
          <a:noFill/>
        </p:spPr>
        <p:txBody>
          <a:bodyPr wrap="square" rtlCol="0">
            <a:spAutoFit/>
          </a:bodyPr>
          <a:lstStyle>
            <a:defPPr>
              <a:defRPr lang="zh-CN"/>
            </a:defPPr>
            <a:lvl1pPr marL="0" marR="0" lvl="0" indent="0" algn="ctr" defTabSz="914400" eaLnBrk="1" fontAlgn="auto" latinLnBrk="0" hangingPunct="1">
              <a:lnSpc>
                <a:spcPct val="100000"/>
              </a:lnSpc>
              <a:spcBef>
                <a:spcPts val="0"/>
              </a:spcBef>
              <a:spcAft>
                <a:spcPts val="0"/>
              </a:spcAft>
              <a:buClrTx/>
              <a:buSzTx/>
              <a:buFontTx/>
              <a:buNone/>
              <a:defRPr kumimoji="0" sz="2400" b="1" i="1" u="none" strike="noStrike" cap="none" spc="600" normalizeH="0" baseline="0">
                <a:ln>
                  <a:noFill/>
                </a:ln>
                <a:solidFill>
                  <a:srgbClr val="005A9E"/>
                </a:solidFill>
                <a:effectLst/>
                <a:uLnTx/>
                <a:uFillTx/>
                <a:latin typeface="Times New Roman" panose="02020603050405020304" pitchFamily="18" charset="0"/>
                <a:ea typeface="微软雅黑" panose="020B0503020204020204" pitchFamily="34" charset="-122"/>
                <a:cs typeface="OPPOSans B" panose="00020600040101010101" pitchFamily="18" charset="-122"/>
              </a:defRPr>
            </a:lvl1pPr>
          </a:lstStyle>
          <a:p>
            <a:pPr algn="dist"/>
            <a:r>
              <a:rPr lang="en-US" altLang="zh-CN" i="0" spc="0" dirty="0"/>
              <a:t>《</a:t>
            </a:r>
            <a:r>
              <a:rPr lang="en-US" altLang="zh-CN" spc="0" dirty="0"/>
              <a:t>Searching</a:t>
            </a:r>
            <a:r>
              <a:rPr lang="en-US" altLang="zh-CN" i="0" spc="0" dirty="0"/>
              <a:t>》</a:t>
            </a:r>
            <a:endParaRPr lang="zh-CN" altLang="en-US" i="0" spc="0"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第</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章 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Rectangle 3"/>
          <p:cNvSpPr>
            <a:spLocks noGrp="1" noChangeArrowheads="1"/>
          </p:cNvSpPr>
          <p:nvPr>
            <p:ph idx="1"/>
          </p:nvPr>
        </p:nvSpPr>
        <p:spPr>
          <a:xfrm>
            <a:off x="457199" y="965082"/>
            <a:ext cx="11159067" cy="5207118"/>
          </a:xfrm>
        </p:spPr>
        <p:txBody>
          <a:bodyPr/>
          <a:lstStyle/>
          <a:p>
            <a:pPr eaLnBrk="1" hangingPunct="1">
              <a:lnSpc>
                <a:spcPct val="125000"/>
              </a:lnSpc>
              <a:defRPr/>
            </a:pPr>
            <a:r>
              <a:rPr lang="zh-CN" altLang="en-US" sz="2400" dirty="0">
                <a:latin typeface="微软雅黑" panose="020B0503020204020204" pitchFamily="34" charset="-122"/>
                <a:ea typeface="微软雅黑" panose="020B0503020204020204" pitchFamily="34" charset="-122"/>
              </a:rPr>
              <a:t>查找表是由同一类型的数据元素</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或记录</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构成的</a:t>
            </a:r>
            <a:r>
              <a:rPr lang="zh-CN" altLang="en-US" sz="2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集合</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eaLnBrk="1" hangingPunct="1">
              <a:lnSpc>
                <a:spcPct val="125000"/>
              </a:lnSpc>
              <a:defRPr/>
            </a:pPr>
            <a:r>
              <a:rPr lang="zh-CN" altLang="en-US" sz="2400" dirty="0">
                <a:latin typeface="微软雅黑" panose="020B0503020204020204" pitchFamily="34" charset="-122"/>
                <a:ea typeface="微软雅黑" panose="020B0503020204020204" pitchFamily="34" charset="-122"/>
              </a:rPr>
              <a:t>由于“集合”中的数据元素之间存在着</a:t>
            </a:r>
            <a:r>
              <a:rPr lang="zh-CN" altLang="en-US" sz="2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松散的关系</a:t>
            </a:r>
            <a:r>
              <a:rPr lang="zh-CN" altLang="en-US" sz="2400" dirty="0">
                <a:latin typeface="微软雅黑" panose="020B0503020204020204" pitchFamily="34" charset="-122"/>
                <a:ea typeface="微软雅黑" panose="020B0503020204020204" pitchFamily="34" charset="-122"/>
              </a:rPr>
              <a:t>，因此查找表是一种应用灵便的结构。</a:t>
            </a:r>
            <a:endParaRPr lang="en-US" altLang="zh-CN" sz="2400" dirty="0">
              <a:latin typeface="微软雅黑" panose="020B0503020204020204" pitchFamily="34" charset="-122"/>
              <a:ea typeface="微软雅黑" panose="020B0503020204020204" pitchFamily="34" charset="-122"/>
            </a:endParaRPr>
          </a:p>
          <a:p>
            <a:pPr eaLnBrk="1" hangingPunct="1">
              <a:lnSpc>
                <a:spcPct val="125000"/>
              </a:lnSpc>
              <a:defRPr/>
            </a:pPr>
            <a:r>
              <a:rPr lang="zh-CN" altLang="en-US" sz="2400" dirty="0">
                <a:latin typeface="微软雅黑" panose="020B0503020204020204" pitchFamily="34" charset="-122"/>
                <a:ea typeface="微软雅黑" panose="020B0503020204020204" pitchFamily="34" charset="-122"/>
              </a:rPr>
              <a:t>对查找表经常进行的操作</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25000"/>
              </a:lnSpc>
              <a:defRPr/>
            </a:pPr>
            <a:r>
              <a:rPr lang="zh-CN" altLang="en-US" sz="2000" dirty="0">
                <a:latin typeface="微软雅黑" panose="020B0503020204020204" pitchFamily="34" charset="-122"/>
                <a:ea typeface="微软雅黑" panose="020B0503020204020204" pitchFamily="34" charset="-122"/>
              </a:rPr>
              <a:t>查询某个“特定的”数据元素是否在查找表中；</a:t>
            </a:r>
            <a:endParaRPr lang="zh-CN" altLang="en-US" sz="2000" dirty="0">
              <a:latin typeface="微软雅黑" panose="020B0503020204020204" pitchFamily="34" charset="-122"/>
              <a:ea typeface="微软雅黑" panose="020B0503020204020204" pitchFamily="34" charset="-122"/>
            </a:endParaRPr>
          </a:p>
          <a:p>
            <a:pPr lvl="1" eaLnBrk="1" hangingPunct="1">
              <a:lnSpc>
                <a:spcPct val="125000"/>
              </a:lnSpc>
              <a:defRPr/>
            </a:pPr>
            <a:r>
              <a:rPr lang="zh-CN" altLang="en-US" sz="2000" dirty="0">
                <a:latin typeface="微软雅黑" panose="020B0503020204020204" pitchFamily="34" charset="-122"/>
                <a:ea typeface="微软雅黑" panose="020B0503020204020204" pitchFamily="34" charset="-122"/>
              </a:rPr>
              <a:t>检索某个“特定的”数据元素的各种属性；</a:t>
            </a:r>
            <a:endParaRPr lang="zh-CN" altLang="en-US" sz="2000" dirty="0">
              <a:latin typeface="微软雅黑" panose="020B0503020204020204" pitchFamily="34" charset="-122"/>
              <a:ea typeface="微软雅黑" panose="020B0503020204020204" pitchFamily="34" charset="-122"/>
            </a:endParaRPr>
          </a:p>
          <a:p>
            <a:pPr lvl="1" eaLnBrk="1" hangingPunct="1">
              <a:lnSpc>
                <a:spcPct val="125000"/>
              </a:lnSpc>
              <a:defRPr/>
            </a:pPr>
            <a:r>
              <a:rPr lang="zh-CN" altLang="en-US" sz="2000" dirty="0">
                <a:latin typeface="微软雅黑" panose="020B0503020204020204" pitchFamily="34" charset="-122"/>
                <a:ea typeface="微软雅黑" panose="020B0503020204020204" pitchFamily="34" charset="-122"/>
              </a:rPr>
              <a:t>在查找表中插入一个数据元素；</a:t>
            </a:r>
            <a:endParaRPr lang="zh-CN" altLang="en-US" sz="2000" dirty="0">
              <a:latin typeface="微软雅黑" panose="020B0503020204020204" pitchFamily="34" charset="-122"/>
              <a:ea typeface="微软雅黑" panose="020B0503020204020204" pitchFamily="34" charset="-122"/>
            </a:endParaRPr>
          </a:p>
          <a:p>
            <a:pPr lvl="1" eaLnBrk="1" hangingPunct="1">
              <a:lnSpc>
                <a:spcPct val="125000"/>
              </a:lnSpc>
              <a:defRPr/>
            </a:pPr>
            <a:r>
              <a:rPr lang="zh-CN" altLang="en-US" sz="2000" dirty="0">
                <a:latin typeface="微软雅黑" panose="020B0503020204020204" pitchFamily="34" charset="-122"/>
                <a:ea typeface="微软雅黑" panose="020B0503020204020204" pitchFamily="34" charset="-122"/>
              </a:rPr>
              <a:t>从查找表中删去某个数据元素。</a:t>
            </a:r>
            <a:endParaRPr lang="zh-CN" altLang="en-US" sz="2000" dirty="0">
              <a:latin typeface="微软雅黑" panose="020B0503020204020204" pitchFamily="34" charset="-122"/>
              <a:ea typeface="微软雅黑" panose="020B0503020204020204" pitchFamily="34" charset="-122"/>
            </a:endParaRPr>
          </a:p>
          <a:p>
            <a:pPr eaLnBrk="1" hangingPunct="1">
              <a:buFontTx/>
              <a:buNone/>
              <a:defRPr/>
            </a:pP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查找表类别</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457199" y="965082"/>
            <a:ext cx="11209867" cy="5207118"/>
          </a:xfrm>
        </p:spPr>
        <p:txBody>
          <a:bodyPr/>
          <a:lstStyle/>
          <a:p>
            <a:pPr eaLnBrk="1" hangingPunct="1">
              <a:lnSpc>
                <a:spcPct val="125000"/>
              </a:lnSpc>
            </a:pPr>
            <a:r>
              <a:rPr lang="zh-CN" altLang="en-US" sz="2400" dirty="0">
                <a:latin typeface="微软雅黑" panose="020B0503020204020204" pitchFamily="34" charset="-122"/>
                <a:ea typeface="微软雅黑" panose="020B0503020204020204" pitchFamily="34" charset="-122"/>
              </a:rPr>
              <a:t>静态查找表</a:t>
            </a:r>
            <a:endParaRPr lang="en-US" altLang="zh-CN" sz="2400" dirty="0">
              <a:latin typeface="微软雅黑" panose="020B0503020204020204" pitchFamily="34" charset="-122"/>
              <a:ea typeface="微软雅黑" panose="020B0503020204020204" pitchFamily="34" charset="-122"/>
            </a:endParaRPr>
          </a:p>
          <a:p>
            <a:pPr marL="457200" lvl="1" indent="0" eaLnBrk="1" hangingPunct="1">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仅作查询和检索操作的查找表。</a:t>
            </a:r>
            <a:endParaRPr lang="zh-CN" altLang="en-US" sz="2000" dirty="0">
              <a:latin typeface="微软雅黑" panose="020B0503020204020204" pitchFamily="34" charset="-122"/>
              <a:ea typeface="微软雅黑" panose="020B0503020204020204" pitchFamily="34" charset="-122"/>
            </a:endParaRPr>
          </a:p>
          <a:p>
            <a:pPr eaLnBrk="1" hangingPunct="1">
              <a:lnSpc>
                <a:spcPct val="125000"/>
              </a:lnSpc>
            </a:pPr>
            <a:r>
              <a:rPr lang="zh-CN" altLang="en-US" sz="2400" dirty="0">
                <a:latin typeface="微软雅黑" panose="020B0503020204020204" pitchFamily="34" charset="-122"/>
                <a:ea typeface="微软雅黑" panose="020B0503020204020204" pitchFamily="34" charset="-122"/>
              </a:rPr>
              <a:t>动态查找表</a:t>
            </a:r>
            <a:endParaRPr lang="en-US" altLang="zh-CN" sz="2400" dirty="0">
              <a:latin typeface="微软雅黑" panose="020B0503020204020204" pitchFamily="34" charset="-122"/>
              <a:ea typeface="微软雅黑" panose="020B0503020204020204" pitchFamily="34" charset="-122"/>
            </a:endParaRPr>
          </a:p>
          <a:p>
            <a:pPr marL="457200" lvl="1" indent="0" eaLnBrk="1" hangingPunct="1">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有时在查询之后，还需要将“查询”结果为“不在查找表中”的数据元素插入到查找表中；或者，从查找表中删除其“查询”结果为“在查找表中”的数据元素。</a:t>
            </a:r>
            <a:endParaRPr lang="zh-CN" altLang="en-US" sz="2000" dirty="0">
              <a:latin typeface="微软雅黑" panose="020B0503020204020204" pitchFamily="34" charset="-122"/>
              <a:ea typeface="微软雅黑" panose="020B0503020204020204" pitchFamily="34" charset="-122"/>
            </a:endParaRPr>
          </a:p>
          <a:p>
            <a:pPr eaLnBrk="1" hangingPunct="1"/>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定义</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541867" y="965082"/>
            <a:ext cx="11040532" cy="5410200"/>
          </a:xfrm>
        </p:spPr>
        <p:txBody>
          <a:bodyPr>
            <a:normAutofit/>
          </a:bodyPr>
          <a:lstStyle/>
          <a:p>
            <a:pPr>
              <a:lnSpc>
                <a:spcPct val="125000"/>
              </a:lnSpc>
            </a:pPr>
            <a:r>
              <a:rPr lang="zh-CN" altLang="en-US" sz="2400" dirty="0">
                <a:latin typeface="微软雅黑" panose="020B0503020204020204" pitchFamily="34" charset="-122"/>
                <a:ea typeface="微软雅黑" panose="020B0503020204020204" pitchFamily="34" charset="-122"/>
              </a:rPr>
              <a:t>关键字</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是数据元素（或记录）中某个数据项的值，用以标识（识别）一个数据元素（或记录）。</a:t>
            </a:r>
            <a:endParaRPr lang="zh-CN" altLang="en-US" sz="2000" dirty="0">
              <a:latin typeface="微软雅黑" panose="020B0503020204020204" pitchFamily="34" charset="-122"/>
              <a:ea typeface="微软雅黑" panose="020B0503020204020204" pitchFamily="34" charset="-122"/>
            </a:endParaRPr>
          </a:p>
          <a:p>
            <a:pPr marL="800100" lvl="2" indent="-257175">
              <a:lnSpc>
                <a:spcPct val="125000"/>
              </a:lnSpc>
            </a:pPr>
            <a:r>
              <a:rPr lang="zh-CN" altLang="en-US" sz="1800" dirty="0">
                <a:latin typeface="微软雅黑" panose="020B0503020204020204" pitchFamily="34" charset="-122"/>
                <a:ea typeface="微软雅黑" panose="020B0503020204020204" pitchFamily="34" charset="-122"/>
              </a:rPr>
              <a:t>若此关键字可以识别唯一的一个记录，则称为“主关键字”。</a:t>
            </a:r>
            <a:endParaRPr lang="en-US" altLang="zh-CN" sz="1800" dirty="0">
              <a:latin typeface="微软雅黑" panose="020B0503020204020204" pitchFamily="34" charset="-122"/>
              <a:ea typeface="微软雅黑" panose="020B0503020204020204" pitchFamily="34" charset="-122"/>
            </a:endParaRPr>
          </a:p>
          <a:p>
            <a:pPr marL="800100" lvl="2" indent="-257175">
              <a:lnSpc>
                <a:spcPct val="125000"/>
              </a:lnSpc>
            </a:pPr>
            <a:r>
              <a:rPr lang="zh-CN" altLang="en-US" sz="1800" dirty="0">
                <a:latin typeface="微软雅黑" panose="020B0503020204020204" pitchFamily="34" charset="-122"/>
                <a:ea typeface="微软雅黑" panose="020B0503020204020204" pitchFamily="34" charset="-122"/>
              </a:rPr>
              <a:t>若此关键字能识别若干记录，则称为“次关键字”</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查找</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根据给定的某个值，在查找表中确定一个其关键字等于给定值的数据元素或（记录）。 </a:t>
            </a:r>
            <a:endParaRPr lang="en-US" altLang="zh-CN" sz="2000" dirty="0">
              <a:latin typeface="微软雅黑" panose="020B0503020204020204" pitchFamily="34" charset="-122"/>
              <a:ea typeface="微软雅黑" panose="020B0503020204020204" pitchFamily="34" charset="-122"/>
            </a:endParaRPr>
          </a:p>
          <a:p>
            <a:pPr marL="800100" lvl="2" indent="-257175">
              <a:lnSpc>
                <a:spcPct val="125000"/>
              </a:lnSpc>
            </a:pPr>
            <a:r>
              <a:rPr lang="zh-CN" altLang="en-US" sz="1800" dirty="0">
                <a:latin typeface="微软雅黑" panose="020B0503020204020204" pitchFamily="34" charset="-122"/>
                <a:ea typeface="微软雅黑" panose="020B0503020204020204" pitchFamily="34" charset="-122"/>
              </a:rPr>
              <a:t>若查找表中存在这样一个记录，则称“查找成功”。查找结果给出整个记录的信息，或指示该记录在查找表中的位置；</a:t>
            </a:r>
            <a:endParaRPr lang="en-US" altLang="zh-CN" sz="1800" dirty="0">
              <a:latin typeface="微软雅黑" panose="020B0503020204020204" pitchFamily="34" charset="-122"/>
              <a:ea typeface="微软雅黑" panose="020B0503020204020204" pitchFamily="34" charset="-122"/>
            </a:endParaRPr>
          </a:p>
          <a:p>
            <a:pPr marL="800100" lvl="2" indent="-257175">
              <a:lnSpc>
                <a:spcPct val="125000"/>
              </a:lnSpc>
            </a:pPr>
            <a:r>
              <a:rPr lang="zh-CN" altLang="en-US" sz="1800" dirty="0">
                <a:latin typeface="微软雅黑" panose="020B0503020204020204" pitchFamily="34" charset="-122"/>
                <a:ea typeface="微软雅黑" panose="020B0503020204020204" pitchFamily="34" charset="-122"/>
              </a:rPr>
              <a:t>否则“查找不成功”。结果给出“空记录”或“空指针”。</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定义</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457200" y="965082"/>
            <a:ext cx="11125200" cy="5207118"/>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查找算法的平均查找长度</a:t>
            </a:r>
            <a:r>
              <a:rPr lang="en-US" altLang="zh-CN" sz="2400" dirty="0">
                <a:latin typeface="微软雅黑" panose="020B0503020204020204" pitchFamily="34" charset="-122"/>
                <a:ea typeface="微软雅黑" panose="020B0503020204020204" pitchFamily="34" charset="-122"/>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Average Search Length</a:t>
            </a:r>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为确定记录在查找表中的位置，需和给定值进行比较的关键字个数的期望值</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zh-CN" altLang="en-US"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a:p>
            <a:pPr>
              <a:lnSpc>
                <a:spcPct val="125000"/>
              </a:lnSpc>
              <a:buFontTx/>
              <a:buNone/>
            </a:pPr>
            <a:endParaRPr lang="en-US" altLang="zh-CN" dirty="0">
              <a:latin typeface="微软雅黑" panose="020B0503020204020204" pitchFamily="34" charset="-122"/>
              <a:ea typeface="微软雅黑" panose="020B0503020204020204" pitchFamily="34" charset="-122"/>
            </a:endParaRPr>
          </a:p>
          <a:p>
            <a:pPr lvl="1">
              <a:lnSpc>
                <a:spcPct val="125000"/>
              </a:lnSpc>
              <a:buFontTx/>
              <a:buNone/>
            </a:pPr>
            <a:r>
              <a:rPr lang="en-US" altLang="zh-CN"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其中：</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n </a:t>
            </a:r>
            <a:r>
              <a:rPr lang="zh-CN" altLang="en-US" sz="2000" dirty="0">
                <a:latin typeface="微软雅黑" panose="020B0503020204020204" pitchFamily="34" charset="-122"/>
                <a:ea typeface="微软雅黑" panose="020B0503020204020204" pitchFamily="34" charset="-122"/>
              </a:rPr>
              <a:t>为表长，</a:t>
            </a:r>
            <a:endParaRPr lang="en-US" altLang="zh-CN" sz="2000" dirty="0">
              <a:latin typeface="微软雅黑" panose="020B0503020204020204" pitchFamily="34" charset="-122"/>
              <a:ea typeface="微软雅黑" panose="020B0503020204020204" pitchFamily="34" charset="-122"/>
            </a:endParaRPr>
          </a:p>
          <a:p>
            <a:pPr lvl="1">
              <a:lnSpc>
                <a:spcPct val="125000"/>
              </a:lnSpc>
              <a:buFontTx/>
              <a:buNone/>
            </a:pPr>
            <a:r>
              <a:rPr lang="en-US" altLang="zh-CN" sz="2000" i="1" dirty="0">
                <a:latin typeface="微软雅黑" panose="020B0503020204020204" pitchFamily="34" charset="-122"/>
                <a:ea typeface="微软雅黑" panose="020B0503020204020204" pitchFamily="34" charset="-122"/>
              </a:rPr>
              <a:t>			P</a:t>
            </a:r>
            <a:r>
              <a:rPr lang="en-US" altLang="zh-CN" sz="2000" i="1" baseline="-25000" dirty="0">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为查找表中第</a:t>
            </a:r>
            <a:r>
              <a:rPr lang="en-US" altLang="zh-CN" sz="2000" i="1"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个记录的概率，</a:t>
            </a:r>
            <a:endParaRPr lang="en-US" altLang="zh-CN" sz="2000" dirty="0">
              <a:latin typeface="微软雅黑" panose="020B0503020204020204" pitchFamily="34" charset="-122"/>
              <a:ea typeface="微软雅黑" panose="020B0503020204020204" pitchFamily="34" charset="-122"/>
            </a:endParaRPr>
          </a:p>
          <a:p>
            <a:pPr lvl="1">
              <a:lnSpc>
                <a:spcPct val="125000"/>
              </a:lnSpc>
              <a:buFontTx/>
              <a:buNone/>
            </a:pPr>
            <a:r>
              <a:rPr lang="en-US" altLang="zh-CN" sz="2000" dirty="0">
                <a:latin typeface="微软雅黑" panose="020B0503020204020204" pitchFamily="34" charset="-122"/>
                <a:ea typeface="微软雅黑" panose="020B0503020204020204" pitchFamily="34" charset="-122"/>
              </a:rPr>
              <a:t>			C</a:t>
            </a:r>
            <a:r>
              <a:rPr lang="en-US" altLang="zh-CN" sz="2000" i="1" baseline="-25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为找到该记录时，曾和给定值比较过的关键字的个数。</a:t>
            </a:r>
            <a:endParaRPr lang="zh-CN" altLang="en-US" sz="2000" dirty="0">
              <a:latin typeface="微软雅黑" panose="020B0503020204020204" pitchFamily="34" charset="-122"/>
              <a:ea typeface="微软雅黑" panose="020B0503020204020204" pitchFamily="34" charset="-122"/>
            </a:endParaRPr>
          </a:p>
          <a:p>
            <a:pPr>
              <a:buFontTx/>
              <a:buNone/>
            </a:pPr>
            <a:endParaRPr lang="zh-CN" altLang="en-US" dirty="0"/>
          </a:p>
        </p:txBody>
      </p:sp>
      <p:graphicFrame>
        <p:nvGraphicFramePr>
          <p:cNvPr id="6" name="Object 4"/>
          <p:cNvGraphicFramePr>
            <a:graphicFrameLocks noChangeAspect="1"/>
          </p:cNvGraphicFramePr>
          <p:nvPr/>
        </p:nvGraphicFramePr>
        <p:xfrm>
          <a:off x="4396710" y="2194454"/>
          <a:ext cx="2315371" cy="998682"/>
        </p:xfrm>
        <a:graphic>
          <a:graphicData uri="http://schemas.openxmlformats.org/presentationml/2006/ole">
            <mc:AlternateContent xmlns:mc="http://schemas.openxmlformats.org/markup-compatibility/2006">
              <mc:Choice xmlns:v="urn:schemas-microsoft-com:vml" Requires="v">
                <p:oleObj spid="_x0000_s3077" name="公式" r:id="rId1" imgW="901700" imgH="457200" progId="Equation.3">
                  <p:embed/>
                </p:oleObj>
              </mc:Choice>
              <mc:Fallback>
                <p:oleObj name="公式" r:id="rId1" imgW="901700" imgH="457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6710" y="2194454"/>
                        <a:ext cx="2315371" cy="998682"/>
                      </a:xfrm>
                      <a:prstGeom prst="rect">
                        <a:avLst/>
                      </a:prstGeom>
                      <a:noFill/>
                      <a:ln>
                        <a:noFill/>
                      </a:ln>
                      <a:effectLst/>
                    </p:spPr>
                  </p:pic>
                </p:oleObj>
              </mc:Fallback>
            </mc:AlternateContent>
          </a:graphicData>
        </a:graphic>
      </p:graphicFrame>
      <p:graphicFrame>
        <p:nvGraphicFramePr>
          <p:cNvPr id="7" name="Object 6"/>
          <p:cNvGraphicFramePr>
            <a:graphicFrameLocks noChangeAspect="1"/>
          </p:cNvGraphicFramePr>
          <p:nvPr/>
        </p:nvGraphicFramePr>
        <p:xfrm>
          <a:off x="6096000" y="3664865"/>
          <a:ext cx="1168400" cy="666962"/>
        </p:xfrm>
        <a:graphic>
          <a:graphicData uri="http://schemas.openxmlformats.org/presentationml/2006/ole">
            <mc:AlternateContent xmlns:mc="http://schemas.openxmlformats.org/markup-compatibility/2006">
              <mc:Choice xmlns:v="urn:schemas-microsoft-com:vml" Requires="v">
                <p:oleObj spid="_x0000_s2" name="公式" r:id="rId3" imgW="546100" imgH="457200" progId="Equation.3">
                  <p:embed/>
                </p:oleObj>
              </mc:Choice>
              <mc:Fallback>
                <p:oleObj name="公式" r:id="rId3" imgW="546100" imgH="457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664865"/>
                        <a:ext cx="1168400" cy="666962"/>
                      </a:xfrm>
                      <a:prstGeom prst="rect">
                        <a:avLst/>
                      </a:prstGeom>
                      <a:noFill/>
                      <a:ln>
                        <a:noFill/>
                      </a:ln>
                      <a:effec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如何进行查找？</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666115" y="1352550"/>
            <a:ext cx="10646410" cy="4732655"/>
          </a:xfrm>
        </p:spPr>
        <p:txBody>
          <a:bodyPr/>
          <a:lstStyle/>
          <a:p>
            <a:pPr>
              <a:lnSpc>
                <a:spcPct val="125000"/>
              </a:lnSpc>
            </a:pPr>
            <a:r>
              <a:rPr lang="zh-CN" altLang="en-US" sz="2000" dirty="0">
                <a:latin typeface="微软雅黑" panose="020B0503020204020204" pitchFamily="34" charset="-122"/>
                <a:ea typeface="微软雅黑" panose="020B0503020204020204" pitchFamily="34" charset="-122"/>
              </a:rPr>
              <a:t>查找的方法取决于查找表的结构。</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000" dirty="0">
                <a:latin typeface="微软雅黑" panose="020B0503020204020204" pitchFamily="34" charset="-122"/>
                <a:ea typeface="微软雅黑" panose="020B0503020204020204" pitchFamily="34" charset="-122"/>
              </a:rPr>
              <a:t>由于查找表中的数据元素之间不存在明显的组织规律，因此不便于查找。为了提高查找的效率， 需要在查找表中的元素之间人为地 附加某种确定的关系，换句话说， 用另外一种结构来表示查找表。</a:t>
            </a:r>
            <a:endParaRPr lang="zh-CN" altLang="en-US" sz="2000" dirty="0">
              <a:latin typeface="微软雅黑" panose="020B0503020204020204" pitchFamily="34" charset="-122"/>
              <a:ea typeface="微软雅黑" panose="020B0503020204020204" pitchFamily="34" charset="-122"/>
            </a:endParaRPr>
          </a:p>
          <a:p>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静态查找表</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508000" y="965082"/>
            <a:ext cx="11176000" cy="5071533"/>
          </a:xfrm>
        </p:spPr>
        <p:txBody>
          <a:bodyPr>
            <a:normAutofit/>
          </a:bodyPr>
          <a:lstStyle/>
          <a:p>
            <a:r>
              <a:rPr lang="zh-CN" altLang="en-US" sz="2400" dirty="0">
                <a:latin typeface="微软雅黑" panose="020B0503020204020204" pitchFamily="34" charset="-122"/>
                <a:ea typeface="微软雅黑" panose="020B0503020204020204" pitchFamily="34" charset="-122"/>
              </a:rPr>
              <a:t>静态查找表</a:t>
            </a:r>
            <a:endParaRPr lang="zh-CN" altLang="en-US" sz="2400" dirty="0">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965199" y="1514476"/>
            <a:ext cx="10160001" cy="231234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Times New Roman" panose="02020603050405020304" pitchFamily="18" charset="0"/>
                <a:cs typeface="Times New Roman" panose="02020603050405020304" pitchFamily="18" charset="0"/>
              </a:rPr>
              <a:t>template &lt;class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class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    </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struct</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StaticTable</a:t>
            </a:r>
            <a:r>
              <a:rPr lang="en-US" altLang="zh-CN"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m_data</a:t>
            </a:r>
            <a:r>
              <a:rPr lang="en-US" altLang="zh-CN" b="0" dirty="0">
                <a:latin typeface="Times New Roman" panose="02020603050405020304" pitchFamily="18" charset="0"/>
                <a:cs typeface="Times New Roman" panose="02020603050405020304" pitchFamily="18" charset="0"/>
              </a:rPr>
              <a: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int</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m_size</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查找表的长度</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顺序查找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474133" y="908196"/>
            <a:ext cx="11243733" cy="5207118"/>
          </a:xfrm>
        </p:spPr>
        <p:txBody>
          <a:bodyPr/>
          <a:lstStyle/>
          <a:p>
            <a:pPr>
              <a:lnSpc>
                <a:spcPct val="125000"/>
              </a:lnSpc>
              <a:defRPr/>
            </a:pPr>
            <a:r>
              <a:rPr lang="zh-CN" altLang="en-US" sz="2400" dirty="0">
                <a:latin typeface="微软雅黑" panose="020B0503020204020204" pitchFamily="34" charset="-122"/>
                <a:ea typeface="微软雅黑" panose="020B0503020204020204" pitchFamily="34" charset="-122"/>
              </a:rPr>
              <a:t>顺序查找（</a:t>
            </a:r>
            <a:r>
              <a:rPr lang="en-US" altLang="zh-CN" sz="2400" dirty="0">
                <a:latin typeface="微软雅黑" panose="020B0503020204020204" pitchFamily="34" charset="-122"/>
                <a:ea typeface="微软雅黑" panose="020B0503020204020204" pitchFamily="34" charset="-122"/>
              </a:rPr>
              <a:t>Sequence Search</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25000"/>
              </a:lnSpc>
              <a:buFontTx/>
              <a:buNone/>
              <a:defRPr/>
            </a:pPr>
            <a:r>
              <a:rPr lang="zh-CN" altLang="en-US"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从表的一端开始，顺序扫描整个查找表。比较数据元素的关键字和给定值</a:t>
            </a:r>
            <a:r>
              <a:rPr lang="en-US" altLang="zh-CN" sz="2000" dirty="0">
                <a:latin typeface="微软雅黑" panose="020B0503020204020204" pitchFamily="34" charset="-122"/>
                <a:ea typeface="微软雅黑" panose="020B0503020204020204" pitchFamily="34" charset="-122"/>
              </a:rPr>
              <a:t>key,</a:t>
            </a:r>
            <a:endParaRPr lang="en-US" altLang="zh-CN" dirty="0">
              <a:latin typeface="微软雅黑" panose="020B0503020204020204" pitchFamily="34" charset="-122"/>
              <a:ea typeface="微软雅黑" panose="020B0503020204020204" pitchFamily="34" charset="-122"/>
            </a:endParaRPr>
          </a:p>
          <a:p>
            <a:pPr marL="760095" lvl="1" indent="360045">
              <a:lnSpc>
                <a:spcPct val="125000"/>
              </a:lnSpc>
              <a:buClr>
                <a:schemeClr val="accent4">
                  <a:lumMod val="50000"/>
                  <a:lumOff val="50000"/>
                </a:schemeClr>
              </a:buClr>
              <a:buFont typeface="Wingdings" panose="05000000000000000000" pitchFamily="2" charset="2"/>
              <a:buChar char="Ø"/>
              <a:defRPr/>
            </a:pPr>
            <a:r>
              <a:rPr lang="zh-CN" altLang="en-US" sz="2000" dirty="0">
                <a:latin typeface="微软雅黑" panose="020B0503020204020204" pitchFamily="34" charset="-122"/>
                <a:ea typeface="微软雅黑" panose="020B0503020204020204" pitchFamily="34" charset="-122"/>
              </a:rPr>
              <a:t>若相等，则查找成功，返回</a:t>
            </a:r>
            <a:r>
              <a:rPr lang="zh-CN" sz="2000" dirty="0">
                <a:latin typeface="微软雅黑" panose="020B0503020204020204" pitchFamily="34" charset="-122"/>
                <a:ea typeface="微软雅黑" panose="020B0503020204020204" pitchFamily="34" charset="-122"/>
              </a:rPr>
              <a:t>该数据元素在查找表中的下标</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760095" lvl="1" indent="360045">
              <a:lnSpc>
                <a:spcPct val="125000"/>
              </a:lnSpc>
              <a:buClr>
                <a:schemeClr val="accent4">
                  <a:lumMod val="50000"/>
                  <a:lumOff val="50000"/>
                </a:schemeClr>
              </a:buClr>
              <a:buFont typeface="Wingdings" panose="05000000000000000000" pitchFamily="2" charset="2"/>
              <a:buChar char="Ø"/>
              <a:defRPr/>
            </a:pPr>
            <a:r>
              <a:rPr lang="zh-CN" sz="2000" dirty="0">
                <a:latin typeface="微软雅黑" panose="020B0503020204020204" pitchFamily="34" charset="-122"/>
                <a:ea typeface="微软雅黑" panose="020B0503020204020204" pitchFamily="34" charset="-122"/>
              </a:rPr>
              <a:t>若一直查找到表的另一端都未能找到关键字等于</a:t>
            </a:r>
            <a:r>
              <a:rPr lang="en-US" sz="2000" dirty="0">
                <a:latin typeface="微软雅黑" panose="020B0503020204020204" pitchFamily="34" charset="-122"/>
                <a:ea typeface="微软雅黑" panose="020B0503020204020204" pitchFamily="34" charset="-122"/>
              </a:rPr>
              <a:t>key</a:t>
            </a:r>
            <a:r>
              <a:rPr lang="zh-CN" sz="2000" dirty="0">
                <a:latin typeface="微软雅黑" panose="020B0503020204020204" pitchFamily="34" charset="-122"/>
                <a:ea typeface="微软雅黑" panose="020B0503020204020204" pitchFamily="34" charset="-122"/>
              </a:rPr>
              <a:t>的元素，则查找失败，返回值为</a:t>
            </a:r>
            <a:r>
              <a:rPr lang="en-US"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buFontTx/>
              <a:buNone/>
              <a:defRPr/>
            </a:pP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顺序查找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457199" y="925056"/>
            <a:ext cx="11243733" cy="5247144"/>
          </a:xfrm>
        </p:spPr>
        <p:txBody>
          <a:bodyPr>
            <a:normAutofit/>
          </a:bodyPr>
          <a:lstStyle/>
          <a:p>
            <a:r>
              <a:rPr lang="zh-CN" altLang="en-US" sz="2400" dirty="0">
                <a:latin typeface="微软雅黑" panose="020B0503020204020204" pitchFamily="34" charset="-122"/>
                <a:ea typeface="微软雅黑" panose="020B0503020204020204" pitchFamily="34" charset="-122"/>
              </a:rPr>
              <a:t>顺序表的查找算法（</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809625" y="1724590"/>
            <a:ext cx="10098538" cy="364807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无监视哨情况</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en-US" b="0" dirty="0">
                <a:latin typeface="Times New Roman" panose="02020603050405020304" pitchFamily="18" charset="0"/>
                <a:cs typeface="Times New Roman" panose="02020603050405020304" pitchFamily="18" charset="0"/>
              </a:rPr>
              <a:t>template &lt;class </a:t>
            </a:r>
            <a:r>
              <a:rPr lang="en-US" altLang="en-US" b="0" dirty="0" err="1">
                <a:latin typeface="Times New Roman" panose="02020603050405020304" pitchFamily="18" charset="0"/>
                <a:cs typeface="Times New Roman" panose="02020603050405020304" pitchFamily="18" charset="0"/>
              </a:rPr>
              <a:t>ElemType,class</a:t>
            </a: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KeyType</a:t>
            </a:r>
            <a:r>
              <a:rPr lang="en-US" altLang="en-US" b="0" dirty="0">
                <a:latin typeface="Times New Roman" panose="02020603050405020304" pitchFamily="18" charset="0"/>
                <a:cs typeface="Times New Roman" panose="02020603050405020304" pitchFamily="18" charset="0"/>
              </a:rPr>
              <a:t>&gt;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int </a:t>
            </a:r>
            <a:r>
              <a:rPr lang="en-US" altLang="en-US" b="0" dirty="0" err="1">
                <a:latin typeface="Times New Roman" panose="02020603050405020304" pitchFamily="18" charset="0"/>
                <a:cs typeface="Times New Roman" panose="02020603050405020304" pitchFamily="18" charset="0"/>
              </a:rPr>
              <a:t>SeqSearch</a:t>
            </a:r>
            <a:r>
              <a:rPr lang="en-US" altLang="en-US" b="0" dirty="0">
                <a:latin typeface="Times New Roman" panose="02020603050405020304" pitchFamily="18" charset="0"/>
                <a:cs typeface="Times New Roman" panose="02020603050405020304" pitchFamily="18" charset="0"/>
              </a:rPr>
              <a:t>(</a:t>
            </a:r>
            <a:r>
              <a:rPr lang="en-US" altLang="en-US" b="0" dirty="0" err="1">
                <a:latin typeface="Times New Roman" panose="02020603050405020304" pitchFamily="18" charset="0"/>
                <a:cs typeface="Times New Roman" panose="02020603050405020304" pitchFamily="18" charset="0"/>
              </a:rPr>
              <a:t>StaticTable</a:t>
            </a:r>
            <a:r>
              <a:rPr lang="en-US" altLang="en-US" b="0" dirty="0">
                <a:latin typeface="Times New Roman" panose="02020603050405020304" pitchFamily="18" charset="0"/>
                <a:cs typeface="Times New Roman" panose="02020603050405020304" pitchFamily="18" charset="0"/>
              </a:rPr>
              <a:t> &lt;</a:t>
            </a:r>
            <a:r>
              <a:rPr lang="en-US" altLang="en-US" b="0" dirty="0" err="1">
                <a:latin typeface="Times New Roman" panose="02020603050405020304" pitchFamily="18" charset="0"/>
                <a:cs typeface="Times New Roman" panose="02020603050405020304" pitchFamily="18" charset="0"/>
              </a:rPr>
              <a:t>ElemType,KeyType</a:t>
            </a:r>
            <a:r>
              <a:rPr lang="en-US" altLang="en-US" b="0" dirty="0">
                <a:latin typeface="Times New Roman" panose="02020603050405020304" pitchFamily="18" charset="0"/>
                <a:cs typeface="Times New Roman" panose="02020603050405020304" pitchFamily="18" charset="0"/>
              </a:rPr>
              <a:t>&gt; &amp; R,</a:t>
            </a:r>
            <a:endParaRPr lang="en-US"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const </a:t>
            </a:r>
            <a:r>
              <a:rPr lang="en-US" altLang="en-US" b="0" dirty="0" err="1">
                <a:latin typeface="Times New Roman" panose="02020603050405020304" pitchFamily="18" charset="0"/>
                <a:cs typeface="Times New Roman" panose="02020603050405020304" pitchFamily="18" charset="0"/>
              </a:rPr>
              <a:t>KeyType</a:t>
            </a:r>
            <a:r>
              <a:rPr lang="en-US" altLang="en-US" b="0" dirty="0">
                <a:latin typeface="Times New Roman" panose="02020603050405020304" pitchFamily="18" charset="0"/>
                <a:cs typeface="Times New Roman" panose="02020603050405020304" pitchFamily="18" charset="0"/>
              </a:rPr>
              <a:t> key)</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int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 = 0;</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while(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 &lt; </a:t>
            </a:r>
            <a:r>
              <a:rPr lang="en-US" altLang="en-US" b="0" dirty="0" err="1">
                <a:latin typeface="Times New Roman" panose="02020603050405020304" pitchFamily="18" charset="0"/>
                <a:cs typeface="Times New Roman" panose="02020603050405020304" pitchFamily="18" charset="0"/>
              </a:rPr>
              <a:t>R.m_size</a:t>
            </a:r>
            <a:r>
              <a:rPr lang="en-US" altLang="en-US" b="0" dirty="0">
                <a:latin typeface="Times New Roman" panose="02020603050405020304" pitchFamily="18" charset="0"/>
                <a:cs typeface="Times New Roman" panose="02020603050405020304" pitchFamily="18" charset="0"/>
              </a:rPr>
              <a:t> &amp;&amp; </a:t>
            </a:r>
            <a:r>
              <a:rPr lang="en-US" altLang="en-US" b="0" dirty="0" err="1">
                <a:latin typeface="Times New Roman" panose="02020603050405020304" pitchFamily="18" charset="0"/>
                <a:cs typeface="Times New Roman" panose="02020603050405020304" pitchFamily="18" charset="0"/>
              </a:rPr>
              <a:t>R.m_data</a:t>
            </a:r>
            <a:r>
              <a:rPr lang="en-US" altLang="en-US" b="0" dirty="0">
                <a:latin typeface="Times New Roman" panose="02020603050405020304" pitchFamily="18" charset="0"/>
                <a:cs typeface="Times New Roman" panose="02020603050405020304" pitchFamily="18" charset="0"/>
              </a:rPr>
              <a:t>[</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 key)</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if (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 &lt; </a:t>
            </a:r>
            <a:r>
              <a:rPr lang="en-US" altLang="en-US" b="0" dirty="0" err="1">
                <a:latin typeface="Times New Roman" panose="02020603050405020304" pitchFamily="18" charset="0"/>
                <a:cs typeface="Times New Roman" panose="02020603050405020304" pitchFamily="18" charset="0"/>
              </a:rPr>
              <a:t>R.m_size</a:t>
            </a:r>
            <a:r>
              <a:rPr lang="en-US" altLang="en-US"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return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                  </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查找成功</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return -1;                     </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查找失败</a:t>
            </a:r>
            <a:endParaRPr lang="en-US"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sz="1600" b="0" dirty="0">
              <a:latin typeface="Times New Roman" panose="02020603050405020304" pitchFamily="18" charset="0"/>
              <a:cs typeface="Times New Roman" panose="02020603050405020304" pitchFamily="18" charset="0"/>
            </a:endParaRPr>
          </a:p>
        </p:txBody>
      </p:sp>
      <p:sp>
        <p:nvSpPr>
          <p:cNvPr id="7" name="Text Box 6"/>
          <p:cNvSpPr txBox="1">
            <a:spLocks noChangeArrowheads="1"/>
          </p:cNvSpPr>
          <p:nvPr/>
        </p:nvSpPr>
        <p:spPr bwMode="auto">
          <a:xfrm>
            <a:off x="1463165" y="5729502"/>
            <a:ext cx="9265669" cy="1017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50000"/>
              </a:spcBef>
              <a:buFontTx/>
              <a:buNone/>
            </a:pPr>
            <a:r>
              <a:rPr lang="zh-CN" altLang="en-US" dirty="0">
                <a:solidFill>
                  <a:srgbClr val="CC3300"/>
                </a:solidFill>
                <a:latin typeface="微软雅黑" panose="020B0503020204020204" pitchFamily="34" charset="-122"/>
                <a:ea typeface="微软雅黑" panose="020B0503020204020204" pitchFamily="34" charset="-122"/>
              </a:rPr>
              <a:t>问题：</a:t>
            </a:r>
            <a:endParaRPr lang="zh-CN" altLang="en-US" dirty="0">
              <a:solidFill>
                <a:srgbClr val="CC3300"/>
              </a:solidFill>
              <a:latin typeface="微软雅黑" panose="020B0503020204020204" pitchFamily="34" charset="-122"/>
              <a:ea typeface="微软雅黑" panose="020B0503020204020204" pitchFamily="34" charset="-122"/>
            </a:endParaRPr>
          </a:p>
          <a:p>
            <a:pPr eaLnBrk="1" hangingPunct="1">
              <a:spcBef>
                <a:spcPct val="50000"/>
              </a:spcBef>
              <a:buFontTx/>
              <a:buNone/>
            </a:pPr>
            <a:r>
              <a:rPr lang="zh-CN" altLang="en-US" dirty="0">
                <a:solidFill>
                  <a:srgbClr val="CC3300"/>
                </a:solidFill>
                <a:latin typeface="微软雅黑" panose="020B0503020204020204" pitchFamily="34" charset="-122"/>
                <a:ea typeface="微软雅黑" panose="020B0503020204020204" pitchFamily="34" charset="-122"/>
              </a:rPr>
              <a:t>每次都要进行越界检查，效率低，如何改进？</a:t>
            </a:r>
            <a:endParaRPr lang="zh-CN" altLang="en-US" dirty="0">
              <a:solidFill>
                <a:srgbClr val="CC33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顺序查找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78" name="Group 2"/>
          <p:cNvGrpSpPr/>
          <p:nvPr/>
        </p:nvGrpSpPr>
        <p:grpSpPr bwMode="auto">
          <a:xfrm>
            <a:off x="593819" y="1354668"/>
            <a:ext cx="16897353" cy="1764314"/>
            <a:chOff x="281" y="576"/>
            <a:chExt cx="7893" cy="873"/>
          </a:xfrm>
        </p:grpSpPr>
        <p:sp>
          <p:nvSpPr>
            <p:cNvPr id="279" name="Rectangle 7"/>
            <p:cNvSpPr>
              <a:spLocks noChangeArrowheads="1"/>
            </p:cNvSpPr>
            <p:nvPr/>
          </p:nvSpPr>
          <p:spPr bwMode="auto">
            <a:xfrm>
              <a:off x="628" y="1312"/>
              <a:ext cx="7546" cy="137"/>
            </a:xfrm>
            <a:prstGeom prst="rect">
              <a:avLst/>
            </a:prstGeom>
            <a:noFill/>
            <a:ln w="9525">
              <a:noFill/>
              <a:miter lim="800000"/>
            </a:ln>
          </p:spPr>
          <p:txBody>
            <a:bodyPr wrap="square" lIns="0" tIns="0" rIns="0" bIns="0">
              <a:spAutoFit/>
            </a:bodyPr>
            <a:lstStyle/>
            <a:p>
              <a:pPr eaLnBrk="1" hangingPunct="1">
                <a:defRPr/>
              </a:pPr>
              <a:r>
                <a:rPr lang="en-US" altLang="zh-CN" dirty="0">
                  <a:solidFill>
                    <a:schemeClr val="tx1"/>
                  </a:solidFill>
                  <a:latin typeface="+mn-lt"/>
                </a:rPr>
                <a:t>  0             1              2              3              4               5             6              7              8              9             10            11</a:t>
              </a:r>
              <a:endParaRPr lang="en-US" altLang="zh-CN" dirty="0">
                <a:solidFill>
                  <a:schemeClr val="tx1"/>
                </a:solidFill>
                <a:latin typeface="+mn-lt"/>
              </a:endParaRPr>
            </a:p>
          </p:txBody>
        </p:sp>
        <p:sp>
          <p:nvSpPr>
            <p:cNvPr id="280" name="Text Box 8"/>
            <p:cNvSpPr txBox="1">
              <a:spLocks noChangeArrowheads="1"/>
            </p:cNvSpPr>
            <p:nvPr/>
          </p:nvSpPr>
          <p:spPr bwMode="auto">
            <a:xfrm>
              <a:off x="281" y="576"/>
              <a:ext cx="70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dirty="0" err="1">
                  <a:cs typeface="Times New Roman" panose="02020603050405020304" pitchFamily="18" charset="0"/>
                </a:rPr>
                <a:t>ST.m_data</a:t>
              </a:r>
              <a:endParaRPr lang="en-US" altLang="zh-CN" sz="1600" dirty="0">
                <a:cs typeface="Times New Roman" panose="02020603050405020304" pitchFamily="18" charset="0"/>
              </a:endParaRPr>
            </a:p>
          </p:txBody>
        </p:sp>
        <p:sp>
          <p:nvSpPr>
            <p:cNvPr id="281" name="Rectangle 9"/>
            <p:cNvSpPr>
              <a:spLocks noChangeArrowheads="1"/>
            </p:cNvSpPr>
            <p:nvPr/>
          </p:nvSpPr>
          <p:spPr bwMode="auto">
            <a:xfrm>
              <a:off x="4836" y="912"/>
              <a:ext cx="396" cy="384"/>
            </a:xfrm>
            <a:prstGeom prst="rect">
              <a:avLst/>
            </a:prstGeom>
            <a:noFill/>
            <a:ln w="9525">
              <a:noFill/>
              <a:miter lim="800000"/>
            </a:ln>
            <a:effectLst/>
          </p:spPr>
          <p:txBody>
            <a:bodyPr/>
            <a:lstStyle/>
            <a:p>
              <a:pPr algn="ctr" eaLnBrk="1" hangingPunct="1">
                <a:spcBef>
                  <a:spcPct val="20000"/>
                </a:spcBef>
                <a:defRPr/>
              </a:pPr>
              <a:endParaRPr lang="en-US" altLang="zh-CN" sz="2800" dirty="0">
                <a:solidFill>
                  <a:schemeClr val="tx1"/>
                </a:solidFill>
                <a:latin typeface="+mn-lt"/>
              </a:endParaRPr>
            </a:p>
          </p:txBody>
        </p:sp>
        <p:sp>
          <p:nvSpPr>
            <p:cNvPr id="282" name="Rectangle 10"/>
            <p:cNvSpPr>
              <a:spLocks noChangeArrowheads="1"/>
            </p:cNvSpPr>
            <p:nvPr/>
          </p:nvSpPr>
          <p:spPr bwMode="auto">
            <a:xfrm>
              <a:off x="4440"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02</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83" name="Rectangle 11"/>
            <p:cNvSpPr>
              <a:spLocks noChangeArrowheads="1"/>
            </p:cNvSpPr>
            <p:nvPr/>
          </p:nvSpPr>
          <p:spPr bwMode="auto">
            <a:xfrm>
              <a:off x="4044"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75</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84" name="Rectangle 12"/>
            <p:cNvSpPr>
              <a:spLocks noChangeArrowheads="1"/>
            </p:cNvSpPr>
            <p:nvPr/>
          </p:nvSpPr>
          <p:spPr bwMode="auto">
            <a:xfrm>
              <a:off x="3648"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56</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85" name="Rectangle 13"/>
            <p:cNvSpPr>
              <a:spLocks noChangeArrowheads="1"/>
            </p:cNvSpPr>
            <p:nvPr/>
          </p:nvSpPr>
          <p:spPr bwMode="auto">
            <a:xfrm>
              <a:off x="3252"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64</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86" name="Rectangle 14"/>
            <p:cNvSpPr>
              <a:spLocks noChangeArrowheads="1"/>
            </p:cNvSpPr>
            <p:nvPr/>
          </p:nvSpPr>
          <p:spPr bwMode="auto">
            <a:xfrm>
              <a:off x="2856"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05</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87" name="Rectangle 15"/>
            <p:cNvSpPr>
              <a:spLocks noChangeArrowheads="1"/>
            </p:cNvSpPr>
            <p:nvPr/>
          </p:nvSpPr>
          <p:spPr bwMode="auto">
            <a:xfrm>
              <a:off x="2460"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92</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88" name="Rectangle 16"/>
            <p:cNvSpPr>
              <a:spLocks noChangeArrowheads="1"/>
            </p:cNvSpPr>
            <p:nvPr/>
          </p:nvSpPr>
          <p:spPr bwMode="auto">
            <a:xfrm>
              <a:off x="2064"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43</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89" name="Rectangle 17"/>
            <p:cNvSpPr>
              <a:spLocks noChangeArrowheads="1"/>
            </p:cNvSpPr>
            <p:nvPr/>
          </p:nvSpPr>
          <p:spPr bwMode="auto">
            <a:xfrm>
              <a:off x="1668"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29</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90" name="Rectangle 18"/>
            <p:cNvSpPr>
              <a:spLocks noChangeArrowheads="1"/>
            </p:cNvSpPr>
            <p:nvPr/>
          </p:nvSpPr>
          <p:spPr bwMode="auto">
            <a:xfrm>
              <a:off x="1272"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37</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91" name="Rectangle 19"/>
            <p:cNvSpPr>
              <a:spLocks noChangeArrowheads="1"/>
            </p:cNvSpPr>
            <p:nvPr/>
          </p:nvSpPr>
          <p:spPr bwMode="auto">
            <a:xfrm>
              <a:off x="876"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21</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292" name="Rectangle 20"/>
            <p:cNvSpPr>
              <a:spLocks noChangeArrowheads="1"/>
            </p:cNvSpPr>
            <p:nvPr/>
          </p:nvSpPr>
          <p:spPr bwMode="auto">
            <a:xfrm>
              <a:off x="480" y="903"/>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18</a:t>
              </a:r>
              <a:endParaRPr lang="zh-CN" altLang="zh-CN" sz="2400" dirty="0">
                <a:solidFill>
                  <a:schemeClr val="tx1"/>
                </a:solidFill>
                <a:latin typeface="Times New Roman" panose="02020603050405020304" pitchFamily="18" charset="0"/>
                <a:cs typeface="Times New Roman" panose="02020603050405020304" pitchFamily="18" charset="0"/>
              </a:endParaRPr>
            </a:p>
          </p:txBody>
        </p:sp>
        <p:sp>
          <p:nvSpPr>
            <p:cNvPr id="293" name="Line 21"/>
            <p:cNvSpPr>
              <a:spLocks noChangeShapeType="1"/>
            </p:cNvSpPr>
            <p:nvPr/>
          </p:nvSpPr>
          <p:spPr bwMode="auto">
            <a:xfrm>
              <a:off x="480" y="903"/>
              <a:ext cx="4752"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4" name="Line 22"/>
            <p:cNvSpPr>
              <a:spLocks noChangeShapeType="1"/>
            </p:cNvSpPr>
            <p:nvPr/>
          </p:nvSpPr>
          <p:spPr bwMode="auto">
            <a:xfrm>
              <a:off x="480" y="1296"/>
              <a:ext cx="4752"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dirty="0"/>
            </a:p>
          </p:txBody>
        </p:sp>
        <p:sp>
          <p:nvSpPr>
            <p:cNvPr id="295" name="Line 23"/>
            <p:cNvSpPr>
              <a:spLocks noChangeShapeType="1"/>
            </p:cNvSpPr>
            <p:nvPr/>
          </p:nvSpPr>
          <p:spPr bwMode="auto">
            <a:xfrm>
              <a:off x="480" y="912"/>
              <a:ext cx="0" cy="38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6" name="Line 24"/>
            <p:cNvSpPr>
              <a:spLocks noChangeShapeType="1"/>
            </p:cNvSpPr>
            <p:nvPr/>
          </p:nvSpPr>
          <p:spPr bwMode="auto">
            <a:xfrm>
              <a:off x="876"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7" name="Line 25"/>
            <p:cNvSpPr>
              <a:spLocks noChangeShapeType="1"/>
            </p:cNvSpPr>
            <p:nvPr/>
          </p:nvSpPr>
          <p:spPr bwMode="auto">
            <a:xfrm>
              <a:off x="1272"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8" name="Line 26"/>
            <p:cNvSpPr>
              <a:spLocks noChangeShapeType="1"/>
            </p:cNvSpPr>
            <p:nvPr/>
          </p:nvSpPr>
          <p:spPr bwMode="auto">
            <a:xfrm>
              <a:off x="1668"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9" name="Line 27"/>
            <p:cNvSpPr>
              <a:spLocks noChangeShapeType="1"/>
            </p:cNvSpPr>
            <p:nvPr/>
          </p:nvSpPr>
          <p:spPr bwMode="auto">
            <a:xfrm>
              <a:off x="2064"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0" name="Line 28"/>
            <p:cNvSpPr>
              <a:spLocks noChangeShapeType="1"/>
            </p:cNvSpPr>
            <p:nvPr/>
          </p:nvSpPr>
          <p:spPr bwMode="auto">
            <a:xfrm>
              <a:off x="2460"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1" name="Line 29"/>
            <p:cNvSpPr>
              <a:spLocks noChangeShapeType="1"/>
            </p:cNvSpPr>
            <p:nvPr/>
          </p:nvSpPr>
          <p:spPr bwMode="auto">
            <a:xfrm>
              <a:off x="2856"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2" name="Line 30"/>
            <p:cNvSpPr>
              <a:spLocks noChangeShapeType="1"/>
            </p:cNvSpPr>
            <p:nvPr/>
          </p:nvSpPr>
          <p:spPr bwMode="auto">
            <a:xfrm>
              <a:off x="3252"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3" name="Line 31"/>
            <p:cNvSpPr>
              <a:spLocks noChangeShapeType="1"/>
            </p:cNvSpPr>
            <p:nvPr/>
          </p:nvSpPr>
          <p:spPr bwMode="auto">
            <a:xfrm>
              <a:off x="3648"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4" name="Line 32"/>
            <p:cNvSpPr>
              <a:spLocks noChangeShapeType="1"/>
            </p:cNvSpPr>
            <p:nvPr/>
          </p:nvSpPr>
          <p:spPr bwMode="auto">
            <a:xfrm>
              <a:off x="4044"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5" name="Line 33"/>
            <p:cNvSpPr>
              <a:spLocks noChangeShapeType="1"/>
            </p:cNvSpPr>
            <p:nvPr/>
          </p:nvSpPr>
          <p:spPr bwMode="auto">
            <a:xfrm>
              <a:off x="4440"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6" name="Line 34"/>
            <p:cNvSpPr>
              <a:spLocks noChangeShapeType="1"/>
            </p:cNvSpPr>
            <p:nvPr/>
          </p:nvSpPr>
          <p:spPr bwMode="auto">
            <a:xfrm>
              <a:off x="4836" y="912"/>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7" name="Line 35"/>
            <p:cNvSpPr>
              <a:spLocks noChangeShapeType="1"/>
            </p:cNvSpPr>
            <p:nvPr/>
          </p:nvSpPr>
          <p:spPr bwMode="auto">
            <a:xfrm>
              <a:off x="5232" y="912"/>
              <a:ext cx="0" cy="38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08" name="Group 36"/>
          <p:cNvGrpSpPr/>
          <p:nvPr/>
        </p:nvGrpSpPr>
        <p:grpSpPr bwMode="auto">
          <a:xfrm>
            <a:off x="1219134" y="849179"/>
            <a:ext cx="400331" cy="1164083"/>
            <a:chOff x="4896" y="336"/>
            <a:chExt cx="187" cy="576"/>
          </a:xfrm>
        </p:grpSpPr>
        <p:sp>
          <p:nvSpPr>
            <p:cNvPr id="309" name="Line 37"/>
            <p:cNvSpPr>
              <a:spLocks noChangeShapeType="1"/>
            </p:cNvSpPr>
            <p:nvPr/>
          </p:nvSpPr>
          <p:spPr bwMode="auto">
            <a:xfrm>
              <a:off x="4992" y="672"/>
              <a:ext cx="0" cy="240"/>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0" name="Text Box 38"/>
            <p:cNvSpPr txBox="1">
              <a:spLocks noChangeArrowheads="1"/>
            </p:cNvSpPr>
            <p:nvPr/>
          </p:nvSpPr>
          <p:spPr bwMode="auto">
            <a:xfrm>
              <a:off x="4896" y="33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990000"/>
                  </a:solidFill>
                  <a:latin typeface="Consolas" panose="020B0609020204030204" pitchFamily="49" charset="0"/>
                </a:rPr>
                <a:t>i</a:t>
              </a:r>
              <a:endParaRPr lang="en-US" altLang="zh-CN" sz="1800">
                <a:solidFill>
                  <a:srgbClr val="FFFFFF"/>
                </a:solidFill>
                <a:latin typeface="Consolas" panose="020B0609020204030204" pitchFamily="49" charset="0"/>
              </a:endParaRPr>
            </a:p>
          </p:txBody>
        </p:sp>
      </p:grpSp>
      <p:grpSp>
        <p:nvGrpSpPr>
          <p:cNvPr id="311" name="Group 39"/>
          <p:cNvGrpSpPr/>
          <p:nvPr/>
        </p:nvGrpSpPr>
        <p:grpSpPr bwMode="auto">
          <a:xfrm>
            <a:off x="2083598" y="833257"/>
            <a:ext cx="400331" cy="1164083"/>
            <a:chOff x="4896" y="336"/>
            <a:chExt cx="187" cy="576"/>
          </a:xfrm>
        </p:grpSpPr>
        <p:sp>
          <p:nvSpPr>
            <p:cNvPr id="312" name="Line 40"/>
            <p:cNvSpPr>
              <a:spLocks noChangeShapeType="1"/>
            </p:cNvSpPr>
            <p:nvPr/>
          </p:nvSpPr>
          <p:spPr bwMode="auto">
            <a:xfrm>
              <a:off x="4992" y="672"/>
              <a:ext cx="0" cy="240"/>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3" name="Text Box 41"/>
            <p:cNvSpPr txBox="1">
              <a:spLocks noChangeArrowheads="1"/>
            </p:cNvSpPr>
            <p:nvPr/>
          </p:nvSpPr>
          <p:spPr bwMode="auto">
            <a:xfrm>
              <a:off x="4896" y="33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14" name="Group 42"/>
          <p:cNvGrpSpPr/>
          <p:nvPr/>
        </p:nvGrpSpPr>
        <p:grpSpPr bwMode="auto">
          <a:xfrm>
            <a:off x="2921101" y="834808"/>
            <a:ext cx="400331" cy="1164083"/>
            <a:chOff x="4896" y="336"/>
            <a:chExt cx="187" cy="576"/>
          </a:xfrm>
        </p:grpSpPr>
        <p:sp>
          <p:nvSpPr>
            <p:cNvPr id="315" name="Line 43"/>
            <p:cNvSpPr>
              <a:spLocks noChangeShapeType="1"/>
            </p:cNvSpPr>
            <p:nvPr/>
          </p:nvSpPr>
          <p:spPr bwMode="auto">
            <a:xfrm>
              <a:off x="4992" y="672"/>
              <a:ext cx="0" cy="240"/>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6" name="Text Box 44"/>
            <p:cNvSpPr txBox="1">
              <a:spLocks noChangeArrowheads="1"/>
            </p:cNvSpPr>
            <p:nvPr/>
          </p:nvSpPr>
          <p:spPr bwMode="auto">
            <a:xfrm>
              <a:off x="4896" y="33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17" name="Group 45"/>
          <p:cNvGrpSpPr/>
          <p:nvPr/>
        </p:nvGrpSpPr>
        <p:grpSpPr bwMode="auto">
          <a:xfrm>
            <a:off x="3760267" y="833257"/>
            <a:ext cx="400331" cy="1164083"/>
            <a:chOff x="4896" y="336"/>
            <a:chExt cx="187" cy="576"/>
          </a:xfrm>
        </p:grpSpPr>
        <p:sp>
          <p:nvSpPr>
            <p:cNvPr id="318" name="Line 46"/>
            <p:cNvSpPr>
              <a:spLocks noChangeShapeType="1"/>
            </p:cNvSpPr>
            <p:nvPr/>
          </p:nvSpPr>
          <p:spPr bwMode="auto">
            <a:xfrm>
              <a:off x="4992" y="672"/>
              <a:ext cx="0" cy="240"/>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9" name="Text Box 47"/>
            <p:cNvSpPr txBox="1">
              <a:spLocks noChangeArrowheads="1"/>
            </p:cNvSpPr>
            <p:nvPr/>
          </p:nvSpPr>
          <p:spPr bwMode="auto">
            <a:xfrm>
              <a:off x="4896" y="33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20" name="Group 48"/>
          <p:cNvGrpSpPr/>
          <p:nvPr/>
        </p:nvGrpSpPr>
        <p:grpSpPr bwMode="auto">
          <a:xfrm>
            <a:off x="4647032" y="835277"/>
            <a:ext cx="400331" cy="1164083"/>
            <a:chOff x="4896" y="336"/>
            <a:chExt cx="187" cy="576"/>
          </a:xfrm>
        </p:grpSpPr>
        <p:sp>
          <p:nvSpPr>
            <p:cNvPr id="321" name="Line 49"/>
            <p:cNvSpPr>
              <a:spLocks noChangeShapeType="1"/>
            </p:cNvSpPr>
            <p:nvPr/>
          </p:nvSpPr>
          <p:spPr bwMode="auto">
            <a:xfrm>
              <a:off x="4992" y="672"/>
              <a:ext cx="0" cy="240"/>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2" name="Text Box 50"/>
            <p:cNvSpPr txBox="1">
              <a:spLocks noChangeArrowheads="1"/>
            </p:cNvSpPr>
            <p:nvPr/>
          </p:nvSpPr>
          <p:spPr bwMode="auto">
            <a:xfrm>
              <a:off x="4896" y="33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sp>
        <p:nvSpPr>
          <p:cNvPr id="323" name="Text Box 51"/>
          <p:cNvSpPr txBox="1">
            <a:spLocks noChangeArrowheads="1"/>
          </p:cNvSpPr>
          <p:nvPr/>
        </p:nvSpPr>
        <p:spPr bwMode="auto">
          <a:xfrm>
            <a:off x="381000" y="1001252"/>
            <a:ext cx="16933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dirty="0">
                <a:solidFill>
                  <a:srgbClr val="A50021"/>
                </a:solidFill>
                <a:latin typeface="微软雅黑" panose="020B0503020204020204" pitchFamily="34" charset="-122"/>
                <a:ea typeface="微软雅黑" panose="020B0503020204020204" pitchFamily="34" charset="-122"/>
              </a:rPr>
              <a:t>例如：</a:t>
            </a:r>
            <a:endParaRPr lang="zh-CN" altLang="en-US" dirty="0">
              <a:solidFill>
                <a:srgbClr val="A50021"/>
              </a:solidFill>
              <a:latin typeface="微软雅黑" panose="020B0503020204020204" pitchFamily="34" charset="-122"/>
              <a:ea typeface="微软雅黑" panose="020B0503020204020204" pitchFamily="34" charset="-122"/>
            </a:endParaRPr>
          </a:p>
        </p:txBody>
      </p:sp>
      <p:sp>
        <p:nvSpPr>
          <p:cNvPr id="324" name="Text Box 52"/>
          <p:cNvSpPr txBox="1">
            <a:spLocks noChangeArrowheads="1"/>
          </p:cNvSpPr>
          <p:nvPr/>
        </p:nvSpPr>
        <p:spPr bwMode="auto">
          <a:xfrm>
            <a:off x="10375347" y="2083828"/>
            <a:ext cx="734296" cy="461665"/>
          </a:xfrm>
          <a:prstGeom prst="rect">
            <a:avLst/>
          </a:prstGeom>
          <a:noFill/>
          <a:ln w="9525">
            <a:noFill/>
            <a:miter lim="800000"/>
          </a:ln>
          <a:effectLst/>
        </p:spPr>
        <p:txBody>
          <a:bodyPr wrap="square">
            <a:spAutoFit/>
          </a:bodyPr>
          <a:lstStyle/>
          <a:p>
            <a:pPr algn="ctr" eaLnBrk="1" hangingPunct="1">
              <a:defRPr/>
            </a:pPr>
            <a:r>
              <a:rPr lang="en-US" altLang="zh-CN" sz="2400" dirty="0">
                <a:solidFill>
                  <a:srgbClr val="A50021"/>
                </a:solidFill>
                <a:latin typeface="Times New Roman" panose="02020603050405020304" pitchFamily="18" charset="0"/>
                <a:cs typeface="Times New Roman" panose="02020603050405020304" pitchFamily="18" charset="0"/>
              </a:rPr>
              <a:t>43</a:t>
            </a:r>
            <a:endParaRPr lang="en-US" altLang="zh-CN" sz="2400" dirty="0">
              <a:solidFill>
                <a:srgbClr val="A50021"/>
              </a:solidFill>
              <a:latin typeface="Times New Roman" panose="02020603050405020304" pitchFamily="18" charset="0"/>
              <a:cs typeface="Times New Roman" panose="02020603050405020304" pitchFamily="18" charset="0"/>
            </a:endParaRPr>
          </a:p>
        </p:txBody>
      </p:sp>
      <p:grpSp>
        <p:nvGrpSpPr>
          <p:cNvPr id="325" name="Group 54"/>
          <p:cNvGrpSpPr/>
          <p:nvPr/>
        </p:nvGrpSpPr>
        <p:grpSpPr bwMode="auto">
          <a:xfrm>
            <a:off x="670020" y="3377143"/>
            <a:ext cx="10496354" cy="1831006"/>
            <a:chOff x="329" y="2544"/>
            <a:chExt cx="4903" cy="906"/>
          </a:xfrm>
        </p:grpSpPr>
        <p:sp>
          <p:nvSpPr>
            <p:cNvPr id="326" name="Text Box 60"/>
            <p:cNvSpPr txBox="1">
              <a:spLocks noChangeArrowheads="1"/>
            </p:cNvSpPr>
            <p:nvPr/>
          </p:nvSpPr>
          <p:spPr bwMode="auto">
            <a:xfrm>
              <a:off x="329" y="2544"/>
              <a:ext cx="70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dirty="0" err="1">
                  <a:cs typeface="Times New Roman" panose="02020603050405020304" pitchFamily="18" charset="0"/>
                </a:rPr>
                <a:t>ST.m_data</a:t>
              </a:r>
              <a:endParaRPr lang="en-US" altLang="zh-CN" sz="1600" dirty="0">
                <a:cs typeface="Times New Roman" panose="02020603050405020304" pitchFamily="18" charset="0"/>
              </a:endParaRPr>
            </a:p>
          </p:txBody>
        </p:sp>
        <p:grpSp>
          <p:nvGrpSpPr>
            <p:cNvPr id="327" name="Group 61"/>
            <p:cNvGrpSpPr/>
            <p:nvPr/>
          </p:nvGrpSpPr>
          <p:grpSpPr bwMode="auto">
            <a:xfrm>
              <a:off x="480" y="2880"/>
              <a:ext cx="4752" cy="570"/>
              <a:chOff x="480" y="2880"/>
              <a:chExt cx="4752" cy="570"/>
            </a:xfrm>
          </p:grpSpPr>
          <p:sp>
            <p:nvSpPr>
              <p:cNvPr id="328" name="Rectangle 62"/>
              <p:cNvSpPr>
                <a:spLocks noChangeArrowheads="1"/>
              </p:cNvSpPr>
              <p:nvPr/>
            </p:nvSpPr>
            <p:spPr bwMode="auto">
              <a:xfrm>
                <a:off x="671" y="3313"/>
                <a:ext cx="4472" cy="137"/>
              </a:xfrm>
              <a:prstGeom prst="rect">
                <a:avLst/>
              </a:prstGeom>
              <a:noFill/>
              <a:ln w="9525">
                <a:noFill/>
                <a:miter lim="800000"/>
              </a:ln>
            </p:spPr>
            <p:txBody>
              <a:bodyPr wrap="none" lIns="0" tIns="0" rIns="0" bIns="0">
                <a:spAutoFit/>
              </a:bodyPr>
              <a:lstStyle/>
              <a:p>
                <a:pPr eaLnBrk="1" hangingPunct="1">
                  <a:defRPr/>
                </a:pPr>
                <a:r>
                  <a:rPr lang="en-US" altLang="zh-CN" dirty="0">
                    <a:solidFill>
                      <a:schemeClr val="tx1"/>
                    </a:solidFill>
                    <a:latin typeface="+mn-lt"/>
                  </a:rPr>
                  <a:t>0              1              2              3              4              5              6              7              8             9             10            11</a:t>
                </a:r>
                <a:endParaRPr lang="en-US" altLang="zh-CN" dirty="0">
                  <a:solidFill>
                    <a:schemeClr val="tx1"/>
                  </a:solidFill>
                  <a:latin typeface="+mn-lt"/>
                </a:endParaRPr>
              </a:p>
            </p:txBody>
          </p:sp>
          <p:sp>
            <p:nvSpPr>
              <p:cNvPr id="329" name="Rectangle 63"/>
              <p:cNvSpPr>
                <a:spLocks noChangeArrowheads="1"/>
              </p:cNvSpPr>
              <p:nvPr/>
            </p:nvSpPr>
            <p:spPr bwMode="auto">
              <a:xfrm>
                <a:off x="4836" y="2880"/>
                <a:ext cx="396" cy="384"/>
              </a:xfrm>
              <a:prstGeom prst="rect">
                <a:avLst/>
              </a:prstGeom>
              <a:noFill/>
              <a:ln w="9525">
                <a:noFill/>
                <a:miter lim="800000"/>
              </a:ln>
              <a:effectLst/>
            </p:spPr>
            <p:txBody>
              <a:bodyPr/>
              <a:lstStyle/>
              <a:p>
                <a:pPr algn="ctr" eaLnBrk="1" hangingPunct="1">
                  <a:spcBef>
                    <a:spcPct val="20000"/>
                  </a:spcBef>
                  <a:defRPr/>
                </a:pPr>
                <a:endParaRPr lang="en-US" altLang="zh-CN" sz="2800" dirty="0">
                  <a:solidFill>
                    <a:schemeClr val="tx1"/>
                  </a:solidFill>
                  <a:latin typeface="+mn-lt"/>
                </a:endParaRPr>
              </a:p>
            </p:txBody>
          </p:sp>
          <p:sp>
            <p:nvSpPr>
              <p:cNvPr id="330" name="Rectangle 64"/>
              <p:cNvSpPr>
                <a:spLocks noChangeArrowheads="1"/>
              </p:cNvSpPr>
              <p:nvPr/>
            </p:nvSpPr>
            <p:spPr bwMode="auto">
              <a:xfrm>
                <a:off x="4440"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02</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31" name="Rectangle 65"/>
              <p:cNvSpPr>
                <a:spLocks noChangeArrowheads="1"/>
              </p:cNvSpPr>
              <p:nvPr/>
            </p:nvSpPr>
            <p:spPr bwMode="auto">
              <a:xfrm>
                <a:off x="4044"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75</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32" name="Rectangle 66"/>
              <p:cNvSpPr>
                <a:spLocks noChangeArrowheads="1"/>
              </p:cNvSpPr>
              <p:nvPr/>
            </p:nvSpPr>
            <p:spPr bwMode="auto">
              <a:xfrm>
                <a:off x="3648"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56</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33" name="Rectangle 67"/>
              <p:cNvSpPr>
                <a:spLocks noChangeArrowheads="1"/>
              </p:cNvSpPr>
              <p:nvPr/>
            </p:nvSpPr>
            <p:spPr bwMode="auto">
              <a:xfrm>
                <a:off x="3252"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64</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34" name="Rectangle 68"/>
              <p:cNvSpPr>
                <a:spLocks noChangeArrowheads="1"/>
              </p:cNvSpPr>
              <p:nvPr/>
            </p:nvSpPr>
            <p:spPr bwMode="auto">
              <a:xfrm>
                <a:off x="2856"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05</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35" name="Rectangle 69"/>
              <p:cNvSpPr>
                <a:spLocks noChangeArrowheads="1"/>
              </p:cNvSpPr>
              <p:nvPr/>
            </p:nvSpPr>
            <p:spPr bwMode="auto">
              <a:xfrm>
                <a:off x="2460"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92</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36" name="Rectangle 70"/>
              <p:cNvSpPr>
                <a:spLocks noChangeArrowheads="1"/>
              </p:cNvSpPr>
              <p:nvPr/>
            </p:nvSpPr>
            <p:spPr bwMode="auto">
              <a:xfrm>
                <a:off x="2064"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43</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37" name="Rectangle 71"/>
              <p:cNvSpPr>
                <a:spLocks noChangeArrowheads="1"/>
              </p:cNvSpPr>
              <p:nvPr/>
            </p:nvSpPr>
            <p:spPr bwMode="auto">
              <a:xfrm>
                <a:off x="1668"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29</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38" name="Rectangle 72"/>
              <p:cNvSpPr>
                <a:spLocks noChangeArrowheads="1"/>
              </p:cNvSpPr>
              <p:nvPr/>
            </p:nvSpPr>
            <p:spPr bwMode="auto">
              <a:xfrm>
                <a:off x="1272"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37</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39" name="Rectangle 73"/>
              <p:cNvSpPr>
                <a:spLocks noChangeArrowheads="1"/>
              </p:cNvSpPr>
              <p:nvPr/>
            </p:nvSpPr>
            <p:spPr bwMode="auto">
              <a:xfrm>
                <a:off x="876"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21</a:t>
                </a:r>
                <a:endParaRPr lang="en-US" altLang="zh-CN" sz="2400" dirty="0">
                  <a:solidFill>
                    <a:schemeClr val="tx1"/>
                  </a:solidFill>
                  <a:latin typeface="Times New Roman" panose="02020603050405020304" pitchFamily="18" charset="0"/>
                  <a:cs typeface="Times New Roman" panose="02020603050405020304" pitchFamily="18" charset="0"/>
                </a:endParaRPr>
              </a:p>
            </p:txBody>
          </p:sp>
          <p:sp>
            <p:nvSpPr>
              <p:cNvPr id="340" name="Rectangle 74"/>
              <p:cNvSpPr>
                <a:spLocks noChangeArrowheads="1"/>
              </p:cNvSpPr>
              <p:nvPr/>
            </p:nvSpPr>
            <p:spPr bwMode="auto">
              <a:xfrm>
                <a:off x="480" y="2880"/>
                <a:ext cx="396" cy="384"/>
              </a:xfrm>
              <a:prstGeom prst="rect">
                <a:avLst/>
              </a:prstGeom>
              <a:noFill/>
              <a:ln w="9525">
                <a:noFill/>
                <a:miter lim="800000"/>
              </a:ln>
              <a:effectLst/>
            </p:spPr>
            <p:txBody>
              <a:bodyPr/>
              <a:lstStyle/>
              <a:p>
                <a:pPr algn="ctr" eaLnBrk="1" hangingPunct="1">
                  <a:spcBef>
                    <a:spcPct val="20000"/>
                  </a:spcBef>
                  <a:defRPr/>
                </a:pPr>
                <a:r>
                  <a:rPr lang="en-US" altLang="zh-CN" sz="2400" dirty="0">
                    <a:solidFill>
                      <a:schemeClr val="tx1"/>
                    </a:solidFill>
                    <a:latin typeface="Times New Roman" panose="02020603050405020304" pitchFamily="18" charset="0"/>
                    <a:cs typeface="Times New Roman" panose="02020603050405020304" pitchFamily="18" charset="0"/>
                  </a:rPr>
                  <a:t>18</a:t>
                </a:r>
                <a:endParaRPr lang="zh-CN" altLang="zh-CN" sz="2400" dirty="0">
                  <a:solidFill>
                    <a:schemeClr val="tx1"/>
                  </a:solidFill>
                  <a:latin typeface="Times New Roman" panose="02020603050405020304" pitchFamily="18" charset="0"/>
                  <a:cs typeface="Times New Roman" panose="02020603050405020304" pitchFamily="18" charset="0"/>
                </a:endParaRPr>
              </a:p>
            </p:txBody>
          </p:sp>
          <p:sp>
            <p:nvSpPr>
              <p:cNvPr id="341" name="Line 75"/>
              <p:cNvSpPr>
                <a:spLocks noChangeShapeType="1"/>
              </p:cNvSpPr>
              <p:nvPr/>
            </p:nvSpPr>
            <p:spPr bwMode="auto">
              <a:xfrm>
                <a:off x="480" y="2880"/>
                <a:ext cx="4752" cy="0"/>
              </a:xfrm>
              <a:prstGeom prst="line">
                <a:avLst/>
              </a:prstGeom>
              <a:noFill/>
              <a:ln w="28575" cap="sq">
                <a:solidFill>
                  <a:schemeClr val="tx1"/>
                </a:solidFill>
                <a:round/>
              </a:ln>
              <a:effectLst/>
            </p:spPr>
            <p:txBody>
              <a:bodyPr/>
              <a:lstStyle/>
              <a:p>
                <a:pPr algn="ctr" eaLnBrk="1" hangingPunct="1">
                  <a:defRPr/>
                </a:pPr>
                <a:endParaRPr lang="zh-CN" altLang="en-US">
                  <a:solidFill>
                    <a:schemeClr val="tx1"/>
                  </a:solidFill>
                  <a:latin typeface="+mn-lt"/>
                </a:endParaRPr>
              </a:p>
            </p:txBody>
          </p:sp>
          <p:sp>
            <p:nvSpPr>
              <p:cNvPr id="342" name="Line 76"/>
              <p:cNvSpPr>
                <a:spLocks noChangeShapeType="1"/>
              </p:cNvSpPr>
              <p:nvPr/>
            </p:nvSpPr>
            <p:spPr bwMode="auto">
              <a:xfrm>
                <a:off x="480" y="3264"/>
                <a:ext cx="4752"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3" name="Line 77"/>
              <p:cNvSpPr>
                <a:spLocks noChangeShapeType="1"/>
              </p:cNvSpPr>
              <p:nvPr/>
            </p:nvSpPr>
            <p:spPr bwMode="auto">
              <a:xfrm>
                <a:off x="480" y="2880"/>
                <a:ext cx="0" cy="38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4" name="Line 78"/>
              <p:cNvSpPr>
                <a:spLocks noChangeShapeType="1"/>
              </p:cNvSpPr>
              <p:nvPr/>
            </p:nvSpPr>
            <p:spPr bwMode="auto">
              <a:xfrm>
                <a:off x="876"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5" name="Line 79"/>
              <p:cNvSpPr>
                <a:spLocks noChangeShapeType="1"/>
              </p:cNvSpPr>
              <p:nvPr/>
            </p:nvSpPr>
            <p:spPr bwMode="auto">
              <a:xfrm>
                <a:off x="1272"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6" name="Line 80"/>
              <p:cNvSpPr>
                <a:spLocks noChangeShapeType="1"/>
              </p:cNvSpPr>
              <p:nvPr/>
            </p:nvSpPr>
            <p:spPr bwMode="auto">
              <a:xfrm>
                <a:off x="1668"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7" name="Line 81"/>
              <p:cNvSpPr>
                <a:spLocks noChangeShapeType="1"/>
              </p:cNvSpPr>
              <p:nvPr/>
            </p:nvSpPr>
            <p:spPr bwMode="auto">
              <a:xfrm>
                <a:off x="2064"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 name="Line 82"/>
              <p:cNvSpPr>
                <a:spLocks noChangeShapeType="1"/>
              </p:cNvSpPr>
              <p:nvPr/>
            </p:nvSpPr>
            <p:spPr bwMode="auto">
              <a:xfrm>
                <a:off x="2460"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9" name="Line 83"/>
              <p:cNvSpPr>
                <a:spLocks noChangeShapeType="1"/>
              </p:cNvSpPr>
              <p:nvPr/>
            </p:nvSpPr>
            <p:spPr bwMode="auto">
              <a:xfrm>
                <a:off x="2856"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0" name="Line 84"/>
              <p:cNvSpPr>
                <a:spLocks noChangeShapeType="1"/>
              </p:cNvSpPr>
              <p:nvPr/>
            </p:nvSpPr>
            <p:spPr bwMode="auto">
              <a:xfrm>
                <a:off x="3252"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1" name="Line 85"/>
              <p:cNvSpPr>
                <a:spLocks noChangeShapeType="1"/>
              </p:cNvSpPr>
              <p:nvPr/>
            </p:nvSpPr>
            <p:spPr bwMode="auto">
              <a:xfrm>
                <a:off x="3648"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2" name="Line 86"/>
              <p:cNvSpPr>
                <a:spLocks noChangeShapeType="1"/>
              </p:cNvSpPr>
              <p:nvPr/>
            </p:nvSpPr>
            <p:spPr bwMode="auto">
              <a:xfrm>
                <a:off x="4044"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3" name="Line 87"/>
              <p:cNvSpPr>
                <a:spLocks noChangeShapeType="1"/>
              </p:cNvSpPr>
              <p:nvPr/>
            </p:nvSpPr>
            <p:spPr bwMode="auto">
              <a:xfrm>
                <a:off x="4440"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4" name="Line 88"/>
              <p:cNvSpPr>
                <a:spLocks noChangeShapeType="1"/>
              </p:cNvSpPr>
              <p:nvPr/>
            </p:nvSpPr>
            <p:spPr bwMode="auto">
              <a:xfrm>
                <a:off x="4836" y="2880"/>
                <a:ext cx="0" cy="384"/>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5" name="Line 89"/>
              <p:cNvSpPr>
                <a:spLocks noChangeShapeType="1"/>
              </p:cNvSpPr>
              <p:nvPr/>
            </p:nvSpPr>
            <p:spPr bwMode="auto">
              <a:xfrm>
                <a:off x="5232" y="2880"/>
                <a:ext cx="0" cy="384"/>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356" name="Group 90"/>
          <p:cNvGrpSpPr/>
          <p:nvPr/>
        </p:nvGrpSpPr>
        <p:grpSpPr bwMode="auto">
          <a:xfrm>
            <a:off x="1227688" y="2847155"/>
            <a:ext cx="400329" cy="1255028"/>
            <a:chOff x="4944" y="2256"/>
            <a:chExt cx="187" cy="621"/>
          </a:xfrm>
        </p:grpSpPr>
        <p:sp>
          <p:nvSpPr>
            <p:cNvPr id="357" name="Line 91"/>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 name="Text Box 92"/>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59" name="Group 93"/>
          <p:cNvGrpSpPr/>
          <p:nvPr/>
        </p:nvGrpSpPr>
        <p:grpSpPr bwMode="auto">
          <a:xfrm>
            <a:off x="2938467" y="2795620"/>
            <a:ext cx="400329" cy="1255028"/>
            <a:chOff x="4944" y="2256"/>
            <a:chExt cx="187" cy="621"/>
          </a:xfrm>
        </p:grpSpPr>
        <p:sp>
          <p:nvSpPr>
            <p:cNvPr id="360" name="Line 94"/>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1" name="Text Box 95"/>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62" name="Group 96"/>
          <p:cNvGrpSpPr/>
          <p:nvPr/>
        </p:nvGrpSpPr>
        <p:grpSpPr bwMode="auto">
          <a:xfrm>
            <a:off x="3765863" y="2795620"/>
            <a:ext cx="400329" cy="1255028"/>
            <a:chOff x="4944" y="2256"/>
            <a:chExt cx="187" cy="621"/>
          </a:xfrm>
        </p:grpSpPr>
        <p:sp>
          <p:nvSpPr>
            <p:cNvPr id="363" name="Line 97"/>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4" name="Text Box 98"/>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65" name="Group 99"/>
          <p:cNvGrpSpPr/>
          <p:nvPr/>
        </p:nvGrpSpPr>
        <p:grpSpPr bwMode="auto">
          <a:xfrm>
            <a:off x="4622075" y="2829791"/>
            <a:ext cx="400329" cy="1255028"/>
            <a:chOff x="4944" y="2256"/>
            <a:chExt cx="187" cy="621"/>
          </a:xfrm>
        </p:grpSpPr>
        <p:sp>
          <p:nvSpPr>
            <p:cNvPr id="366" name="Line 100"/>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7" name="Text Box 101"/>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990000"/>
                  </a:solidFill>
                  <a:latin typeface="Consolas" panose="020B0609020204030204" pitchFamily="49" charset="0"/>
                </a:rPr>
                <a:t>i</a:t>
              </a:r>
              <a:endParaRPr lang="en-US" altLang="zh-CN" sz="1800">
                <a:solidFill>
                  <a:srgbClr val="FFFFFF"/>
                </a:solidFill>
                <a:latin typeface="Consolas" panose="020B0609020204030204" pitchFamily="49" charset="0"/>
              </a:endParaRPr>
            </a:p>
          </p:txBody>
        </p:sp>
      </p:grpSp>
      <p:grpSp>
        <p:nvGrpSpPr>
          <p:cNvPr id="368" name="Group 102"/>
          <p:cNvGrpSpPr/>
          <p:nvPr/>
        </p:nvGrpSpPr>
        <p:grpSpPr bwMode="auto">
          <a:xfrm>
            <a:off x="5452099" y="2829791"/>
            <a:ext cx="400329" cy="1255028"/>
            <a:chOff x="4944" y="2256"/>
            <a:chExt cx="187" cy="621"/>
          </a:xfrm>
        </p:grpSpPr>
        <p:sp>
          <p:nvSpPr>
            <p:cNvPr id="369" name="Line 103"/>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0" name="Text Box 104"/>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71" name="Group 105"/>
          <p:cNvGrpSpPr/>
          <p:nvPr/>
        </p:nvGrpSpPr>
        <p:grpSpPr bwMode="auto">
          <a:xfrm>
            <a:off x="6298790" y="2842108"/>
            <a:ext cx="400329" cy="1255028"/>
            <a:chOff x="4944" y="2256"/>
            <a:chExt cx="187" cy="621"/>
          </a:xfrm>
        </p:grpSpPr>
        <p:sp>
          <p:nvSpPr>
            <p:cNvPr id="372" name="Line 106"/>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3" name="Text Box 107"/>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74" name="Group 108"/>
          <p:cNvGrpSpPr/>
          <p:nvPr/>
        </p:nvGrpSpPr>
        <p:grpSpPr bwMode="auto">
          <a:xfrm>
            <a:off x="7145481" y="2842108"/>
            <a:ext cx="400331" cy="1255028"/>
            <a:chOff x="4944" y="2256"/>
            <a:chExt cx="187" cy="621"/>
          </a:xfrm>
        </p:grpSpPr>
        <p:sp>
          <p:nvSpPr>
            <p:cNvPr id="375" name="Line 109"/>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6" name="Text Box 110"/>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77" name="Group 111"/>
          <p:cNvGrpSpPr/>
          <p:nvPr/>
        </p:nvGrpSpPr>
        <p:grpSpPr bwMode="auto">
          <a:xfrm>
            <a:off x="7931964" y="2830167"/>
            <a:ext cx="400329" cy="1255028"/>
            <a:chOff x="4944" y="2256"/>
            <a:chExt cx="187" cy="621"/>
          </a:xfrm>
        </p:grpSpPr>
        <p:sp>
          <p:nvSpPr>
            <p:cNvPr id="378" name="Line 112"/>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 name="Text Box 113"/>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80" name="Group 114"/>
          <p:cNvGrpSpPr/>
          <p:nvPr/>
        </p:nvGrpSpPr>
        <p:grpSpPr bwMode="auto">
          <a:xfrm>
            <a:off x="8806723" y="2830920"/>
            <a:ext cx="400331" cy="1255028"/>
            <a:chOff x="4944" y="2256"/>
            <a:chExt cx="182" cy="621"/>
          </a:xfrm>
        </p:grpSpPr>
        <p:sp>
          <p:nvSpPr>
            <p:cNvPr id="381" name="Line 115"/>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2" name="Text Box 116"/>
            <p:cNvSpPr txBox="1">
              <a:spLocks noChangeArrowheads="1"/>
            </p:cNvSpPr>
            <p:nvPr/>
          </p:nvSpPr>
          <p:spPr bwMode="auto">
            <a:xfrm>
              <a:off x="4944" y="2256"/>
              <a:ext cx="18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83" name="Group 117"/>
          <p:cNvGrpSpPr/>
          <p:nvPr/>
        </p:nvGrpSpPr>
        <p:grpSpPr bwMode="auto">
          <a:xfrm>
            <a:off x="9642848" y="2830920"/>
            <a:ext cx="400329" cy="1255028"/>
            <a:chOff x="4944" y="2256"/>
            <a:chExt cx="187" cy="621"/>
          </a:xfrm>
        </p:grpSpPr>
        <p:sp>
          <p:nvSpPr>
            <p:cNvPr id="384" name="Line 118"/>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5" name="Text Box 119"/>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86" name="Group 120"/>
          <p:cNvGrpSpPr/>
          <p:nvPr/>
        </p:nvGrpSpPr>
        <p:grpSpPr bwMode="auto">
          <a:xfrm>
            <a:off x="10501796" y="2813601"/>
            <a:ext cx="400329" cy="1255028"/>
            <a:chOff x="4944" y="2256"/>
            <a:chExt cx="187" cy="621"/>
          </a:xfrm>
        </p:grpSpPr>
        <p:sp>
          <p:nvSpPr>
            <p:cNvPr id="387" name="Line 121"/>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8" name="Text Box 122"/>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grpSp>
        <p:nvGrpSpPr>
          <p:cNvPr id="389" name="Group 123"/>
          <p:cNvGrpSpPr/>
          <p:nvPr/>
        </p:nvGrpSpPr>
        <p:grpSpPr bwMode="auto">
          <a:xfrm>
            <a:off x="2072481" y="2811844"/>
            <a:ext cx="400329" cy="1255028"/>
            <a:chOff x="4944" y="2256"/>
            <a:chExt cx="187" cy="621"/>
          </a:xfrm>
        </p:grpSpPr>
        <p:sp>
          <p:nvSpPr>
            <p:cNvPr id="390" name="Line 124"/>
            <p:cNvSpPr>
              <a:spLocks noChangeShapeType="1"/>
            </p:cNvSpPr>
            <p:nvPr/>
          </p:nvSpPr>
          <p:spPr bwMode="auto">
            <a:xfrm>
              <a:off x="5040" y="2592"/>
              <a:ext cx="0" cy="285"/>
            </a:xfrm>
            <a:prstGeom prst="line">
              <a:avLst/>
            </a:prstGeom>
            <a:noFill/>
            <a:ln w="12700">
              <a:solidFill>
                <a:srgbClr val="990000"/>
              </a:solidFill>
              <a:rou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1" name="Text Box 125"/>
            <p:cNvSpPr txBox="1">
              <a:spLocks noChangeArrowheads="1"/>
            </p:cNvSpPr>
            <p:nvPr/>
          </p:nvSpPr>
          <p:spPr bwMode="auto">
            <a:xfrm>
              <a:off x="4944" y="2256"/>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err="1">
                  <a:solidFill>
                    <a:srgbClr val="990000"/>
                  </a:solidFill>
                  <a:latin typeface="Consolas" panose="020B0609020204030204" pitchFamily="49" charset="0"/>
                </a:rPr>
                <a:t>i</a:t>
              </a:r>
              <a:endParaRPr lang="en-US" altLang="zh-CN" sz="1800" dirty="0">
                <a:solidFill>
                  <a:srgbClr val="FFFFFF"/>
                </a:solidFill>
                <a:latin typeface="Consolas" panose="020B0609020204030204" pitchFamily="49" charset="0"/>
              </a:endParaRPr>
            </a:p>
          </p:txBody>
        </p:sp>
      </p:grpSp>
      <p:sp>
        <p:nvSpPr>
          <p:cNvPr id="392" name="Text Box 126"/>
          <p:cNvSpPr txBox="1">
            <a:spLocks noChangeArrowheads="1"/>
          </p:cNvSpPr>
          <p:nvPr/>
        </p:nvSpPr>
        <p:spPr bwMode="auto">
          <a:xfrm>
            <a:off x="10345173" y="4097008"/>
            <a:ext cx="734296" cy="461665"/>
          </a:xfrm>
          <a:prstGeom prst="rect">
            <a:avLst/>
          </a:prstGeom>
          <a:noFill/>
          <a:ln w="9525">
            <a:noFill/>
            <a:miter lim="800000"/>
          </a:ln>
          <a:effectLst/>
        </p:spPr>
        <p:txBody>
          <a:bodyPr wrap="square">
            <a:spAutoFit/>
          </a:bodyPr>
          <a:lstStyle/>
          <a:p>
            <a:pPr algn="ctr" eaLnBrk="1" hangingPunct="1">
              <a:defRPr/>
            </a:pPr>
            <a:r>
              <a:rPr lang="en-US" altLang="zh-CN" sz="2400" dirty="0">
                <a:solidFill>
                  <a:srgbClr val="A50021"/>
                </a:solidFill>
                <a:latin typeface="Times New Roman" panose="02020603050405020304" pitchFamily="18" charset="0"/>
                <a:cs typeface="Times New Roman" panose="02020603050405020304" pitchFamily="18" charset="0"/>
              </a:rPr>
              <a:t>47</a:t>
            </a:r>
            <a:endParaRPr lang="en-US" altLang="zh-CN" sz="2400" dirty="0">
              <a:solidFill>
                <a:srgbClr val="A50021"/>
              </a:solidFill>
              <a:latin typeface="Times New Roman" panose="02020603050405020304" pitchFamily="18" charset="0"/>
              <a:cs typeface="Times New Roman" panose="02020603050405020304" pitchFamily="18" charset="0"/>
            </a:endParaRPr>
          </a:p>
        </p:txBody>
      </p:sp>
      <p:sp>
        <p:nvSpPr>
          <p:cNvPr id="393" name="椭圆形标注 128"/>
          <p:cNvSpPr>
            <a:spLocks noChangeArrowheads="1"/>
          </p:cNvSpPr>
          <p:nvPr/>
        </p:nvSpPr>
        <p:spPr bwMode="auto">
          <a:xfrm>
            <a:off x="7236728" y="862676"/>
            <a:ext cx="2260688" cy="873063"/>
          </a:xfrm>
          <a:prstGeom prst="wedgeEllipseCallout">
            <a:avLst>
              <a:gd name="adj1" fmla="val -33861"/>
              <a:gd name="adj2" fmla="val 80412"/>
            </a:avLst>
          </a:prstGeom>
          <a:solidFill>
            <a:schemeClr val="accent1"/>
          </a:solidFill>
          <a:ln w="3175" algn="ctr">
            <a:solidFill>
              <a:schemeClr val="tx2"/>
            </a:solidFill>
            <a:round/>
          </a:ln>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dirty="0">
                <a:solidFill>
                  <a:srgbClr val="FFFFFF"/>
                </a:solidFill>
                <a:latin typeface="微软雅黑" panose="020B0503020204020204" pitchFamily="34" charset="-122"/>
                <a:ea typeface="微软雅黑" panose="020B0503020204020204" pitchFamily="34" charset="-122"/>
              </a:rPr>
              <a:t>查找</a:t>
            </a:r>
            <a:r>
              <a:rPr lang="en-US" altLang="zh-CN" sz="1800" dirty="0">
                <a:solidFill>
                  <a:srgbClr val="FFFFFF"/>
                </a:solidFill>
                <a:latin typeface="微软雅黑" panose="020B0503020204020204" pitchFamily="34" charset="-122"/>
                <a:ea typeface="微软雅黑" panose="020B0503020204020204" pitchFamily="34" charset="-122"/>
              </a:rPr>
              <a:t>43</a:t>
            </a:r>
            <a:endParaRPr lang="zh-CN" altLang="en-US" sz="1800" dirty="0">
              <a:solidFill>
                <a:srgbClr val="FFFFFF"/>
              </a:solidFill>
              <a:latin typeface="微软雅黑" panose="020B0503020204020204" pitchFamily="34" charset="-122"/>
              <a:ea typeface="微软雅黑" panose="020B0503020204020204" pitchFamily="34" charset="-122"/>
            </a:endParaRPr>
          </a:p>
        </p:txBody>
      </p:sp>
      <p:sp>
        <p:nvSpPr>
          <p:cNvPr id="394" name="椭圆形标注 129"/>
          <p:cNvSpPr>
            <a:spLocks noChangeArrowheads="1"/>
          </p:cNvSpPr>
          <p:nvPr/>
        </p:nvSpPr>
        <p:spPr bwMode="auto">
          <a:xfrm>
            <a:off x="7670859" y="5558792"/>
            <a:ext cx="2260688" cy="873063"/>
          </a:xfrm>
          <a:prstGeom prst="wedgeEllipseCallout">
            <a:avLst>
              <a:gd name="adj1" fmla="val -50954"/>
              <a:gd name="adj2" fmla="val -128546"/>
            </a:avLst>
          </a:prstGeom>
          <a:solidFill>
            <a:schemeClr val="accent1"/>
          </a:solidFill>
          <a:ln w="3175" algn="ctr">
            <a:solidFill>
              <a:schemeClr val="tx2"/>
            </a:solidFill>
            <a:round/>
          </a:ln>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dirty="0">
                <a:solidFill>
                  <a:srgbClr val="FFFFFF"/>
                </a:solidFill>
                <a:latin typeface="微软雅黑" panose="020B0503020204020204" pitchFamily="34" charset="-122"/>
                <a:ea typeface="微软雅黑" panose="020B0503020204020204" pitchFamily="34" charset="-122"/>
              </a:rPr>
              <a:t>查找</a:t>
            </a:r>
            <a:r>
              <a:rPr lang="en-US" altLang="zh-CN" sz="1800" dirty="0">
                <a:solidFill>
                  <a:srgbClr val="FFFFFF"/>
                </a:solidFill>
                <a:latin typeface="微软雅黑" panose="020B0503020204020204" pitchFamily="34" charset="-122"/>
                <a:ea typeface="微软雅黑" panose="020B0503020204020204" pitchFamily="34" charset="-122"/>
              </a:rPr>
              <a:t>47</a:t>
            </a:r>
            <a:endParaRPr lang="zh-CN" altLang="en-US" sz="1800" dirty="0">
              <a:solidFill>
                <a:srgbClr val="FFFFFF"/>
              </a:solidFill>
              <a:latin typeface="微软雅黑" panose="020B0503020204020204" pitchFamily="34" charset="-122"/>
              <a:ea typeface="微软雅黑" panose="020B0503020204020204" pitchFamily="34" charset="-122"/>
            </a:endParaRPr>
          </a:p>
        </p:txBody>
      </p:sp>
      <p:sp>
        <p:nvSpPr>
          <p:cNvPr id="395" name="TextBox 131"/>
          <p:cNvSpPr txBox="1">
            <a:spLocks noChangeArrowheads="1"/>
          </p:cNvSpPr>
          <p:nvPr/>
        </p:nvSpPr>
        <p:spPr bwMode="auto">
          <a:xfrm>
            <a:off x="1024197" y="5232401"/>
            <a:ext cx="503516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en-US" b="0" dirty="0">
                <a:solidFill>
                  <a:srgbClr val="0D0D0D"/>
                </a:solidFill>
                <a:latin typeface="微软雅黑" panose="020B0503020204020204" pitchFamily="34" charset="-122"/>
                <a:ea typeface="微软雅黑" panose="020B0503020204020204" pitchFamily="34" charset="-122"/>
              </a:rPr>
              <a:t>比较次数：</a:t>
            </a:r>
            <a:endParaRPr lang="zh-CN" altLang="en-US" b="0" dirty="0">
              <a:solidFill>
                <a:srgbClr val="0D0D0D"/>
              </a:solidFill>
              <a:latin typeface="微软雅黑" panose="020B0503020204020204" pitchFamily="34" charset="-122"/>
              <a:ea typeface="微软雅黑" panose="020B0503020204020204" pitchFamily="34" charset="-122"/>
            </a:endParaRPr>
          </a:p>
          <a:p>
            <a:pPr eaLnBrk="1" hangingPunct="1">
              <a:spcBef>
                <a:spcPct val="0"/>
              </a:spcBef>
              <a:buFontTx/>
              <a:buNone/>
            </a:pPr>
            <a:r>
              <a:rPr lang="zh-CN" altLang="en-US" b="0" dirty="0">
                <a:solidFill>
                  <a:srgbClr val="0D0D0D"/>
                </a:solidFill>
                <a:latin typeface="微软雅黑" panose="020B0503020204020204" pitchFamily="34" charset="-122"/>
                <a:ea typeface="微软雅黑" panose="020B0503020204020204" pitchFamily="34" charset="-122"/>
              </a:rPr>
              <a:t>查找第</a:t>
            </a:r>
            <a:r>
              <a:rPr lang="en-US" altLang="zh-CN" b="0" dirty="0">
                <a:solidFill>
                  <a:srgbClr val="0D0D0D"/>
                </a:solidFill>
                <a:latin typeface="微软雅黑" panose="020B0503020204020204" pitchFamily="34" charset="-122"/>
                <a:ea typeface="微软雅黑" panose="020B0503020204020204" pitchFamily="34" charset="-122"/>
              </a:rPr>
              <a:t>1</a:t>
            </a:r>
            <a:r>
              <a:rPr lang="zh-CN" altLang="zh-CN" b="0" dirty="0">
                <a:solidFill>
                  <a:srgbClr val="0D0D0D"/>
                </a:solidFill>
                <a:latin typeface="微软雅黑" panose="020B0503020204020204" pitchFamily="34" charset="-122"/>
                <a:ea typeface="微软雅黑" panose="020B0503020204020204" pitchFamily="34" charset="-122"/>
              </a:rPr>
              <a:t>个元素：  </a:t>
            </a:r>
            <a:r>
              <a:rPr lang="en-US" altLang="zh-CN" b="0" dirty="0">
                <a:solidFill>
                  <a:srgbClr val="0D0D0D"/>
                </a:solidFill>
                <a:latin typeface="微软雅黑" panose="020B0503020204020204" pitchFamily="34" charset="-122"/>
                <a:ea typeface="微软雅黑" panose="020B0503020204020204" pitchFamily="34" charset="-122"/>
              </a:rPr>
              <a:t> 1</a:t>
            </a:r>
            <a:endParaRPr lang="zh-CN" altLang="zh-CN" b="0" dirty="0">
              <a:solidFill>
                <a:srgbClr val="0D0D0D"/>
              </a:solidFill>
              <a:latin typeface="微软雅黑" panose="020B0503020204020204" pitchFamily="34" charset="-122"/>
              <a:ea typeface="微软雅黑" panose="020B0503020204020204" pitchFamily="34" charset="-122"/>
            </a:endParaRPr>
          </a:p>
          <a:p>
            <a:pPr eaLnBrk="1" hangingPunct="1">
              <a:spcBef>
                <a:spcPct val="0"/>
              </a:spcBef>
              <a:buFontTx/>
              <a:buNone/>
            </a:pPr>
            <a:r>
              <a:rPr lang="zh-CN" altLang="en-US" b="0" dirty="0">
                <a:solidFill>
                  <a:srgbClr val="0D0D0D"/>
                </a:solidFill>
                <a:latin typeface="微软雅黑" panose="020B0503020204020204" pitchFamily="34" charset="-122"/>
                <a:ea typeface="微软雅黑" panose="020B0503020204020204" pitchFamily="34" charset="-122"/>
              </a:rPr>
              <a:t>查找第</a:t>
            </a:r>
            <a:r>
              <a:rPr lang="en-US" altLang="zh-CN" b="0" dirty="0" err="1">
                <a:solidFill>
                  <a:srgbClr val="0D0D0D"/>
                </a:solidFill>
                <a:latin typeface="微软雅黑" panose="020B0503020204020204" pitchFamily="34" charset="-122"/>
                <a:ea typeface="微软雅黑" panose="020B0503020204020204" pitchFamily="34" charset="-122"/>
              </a:rPr>
              <a:t>i</a:t>
            </a:r>
            <a:r>
              <a:rPr lang="zh-CN" altLang="zh-CN" b="0" dirty="0">
                <a:solidFill>
                  <a:srgbClr val="0D0D0D"/>
                </a:solidFill>
                <a:latin typeface="微软雅黑" panose="020B0503020204020204" pitchFamily="34" charset="-122"/>
                <a:ea typeface="微软雅黑" panose="020B0503020204020204" pitchFamily="34" charset="-122"/>
              </a:rPr>
              <a:t>个元素：   </a:t>
            </a:r>
            <a:r>
              <a:rPr lang="en-US" altLang="zh-CN" b="0" dirty="0" err="1">
                <a:solidFill>
                  <a:srgbClr val="0D0D0D"/>
                </a:solidFill>
                <a:latin typeface="微软雅黑" panose="020B0503020204020204" pitchFamily="34" charset="-122"/>
                <a:ea typeface="微软雅黑" panose="020B0503020204020204" pitchFamily="34" charset="-122"/>
              </a:rPr>
              <a:t>i</a:t>
            </a:r>
            <a:endParaRPr lang="en-US" altLang="zh-CN" b="0" dirty="0">
              <a:solidFill>
                <a:srgbClr val="0D0D0D"/>
              </a:solidFill>
              <a:latin typeface="微软雅黑" panose="020B0503020204020204" pitchFamily="34" charset="-122"/>
              <a:ea typeface="微软雅黑" panose="020B0503020204020204" pitchFamily="34" charset="-122"/>
            </a:endParaRPr>
          </a:p>
          <a:p>
            <a:pPr eaLnBrk="1" hangingPunct="1">
              <a:spcBef>
                <a:spcPct val="0"/>
              </a:spcBef>
              <a:buFontTx/>
              <a:buNone/>
            </a:pPr>
            <a:r>
              <a:rPr lang="zh-CN" altLang="en-US" b="0" dirty="0">
                <a:solidFill>
                  <a:srgbClr val="0D0D0D"/>
                </a:solidFill>
                <a:latin typeface="微软雅黑" panose="020B0503020204020204" pitchFamily="34" charset="-122"/>
                <a:ea typeface="微软雅黑" panose="020B0503020204020204" pitchFamily="34" charset="-122"/>
              </a:rPr>
              <a:t>查找失败</a:t>
            </a:r>
            <a:r>
              <a:rPr lang="zh-CN" altLang="zh-CN" b="0" dirty="0">
                <a:solidFill>
                  <a:srgbClr val="0D0D0D"/>
                </a:solidFill>
                <a:latin typeface="微软雅黑" panose="020B0503020204020204" pitchFamily="34" charset="-122"/>
                <a:ea typeface="微软雅黑" panose="020B0503020204020204" pitchFamily="34" charset="-122"/>
              </a:rPr>
              <a:t>：        </a:t>
            </a:r>
            <a:r>
              <a:rPr lang="en-US" altLang="zh-CN" b="0" dirty="0">
                <a:solidFill>
                  <a:srgbClr val="0D0D0D"/>
                </a:solidFill>
                <a:latin typeface="微软雅黑" panose="020B0503020204020204" pitchFamily="34" charset="-122"/>
                <a:ea typeface="微软雅黑" panose="020B0503020204020204" pitchFamily="34" charset="-122"/>
              </a:rPr>
              <a:t>n+1</a:t>
            </a:r>
            <a:endParaRPr lang="en-US" altLang="zh-CN" b="0" dirty="0">
              <a:solidFill>
                <a:srgbClr val="0D0D0D"/>
              </a:solidFill>
              <a:latin typeface="微软雅黑" panose="020B0503020204020204" pitchFamily="34" charset="-122"/>
              <a:ea typeface="微软雅黑" panose="020B0503020204020204" pitchFamily="34" charset="-122"/>
            </a:endParaRPr>
          </a:p>
          <a:p>
            <a:pPr algn="ctr" eaLnBrk="1" hangingPunct="1">
              <a:spcBef>
                <a:spcPct val="0"/>
              </a:spcBef>
              <a:buFontTx/>
              <a:buNone/>
            </a:pPr>
            <a:endParaRPr lang="zh-CN" altLang="en-US" dirty="0">
              <a:solidFill>
                <a:srgbClr val="FFFFFF"/>
              </a:solidFill>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8"/>
                                        </p:tgtEl>
                                        <p:attrNameLst>
                                          <p:attrName>style.visibility</p:attrName>
                                        </p:attrNameLst>
                                      </p:cBhvr>
                                      <p:to>
                                        <p:strVal val="visible"/>
                                      </p:to>
                                    </p:set>
                                    <p:animEffect transition="in" filter="wipe(up)">
                                      <p:cBhvr>
                                        <p:cTn id="7" dur="500"/>
                                        <p:tgtEl>
                                          <p:spTgt spid="27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9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324"/>
                                        </p:tgtEl>
                                        <p:attrNameLst>
                                          <p:attrName>style.visibility</p:attrName>
                                        </p:attrNameLst>
                                      </p:cBhvr>
                                      <p:to>
                                        <p:strVal val="visible"/>
                                      </p:to>
                                    </p:set>
                                    <p:anim calcmode="lin" valueType="num">
                                      <p:cBhvr additive="base">
                                        <p:cTn id="16" dur="500" fill="hold"/>
                                        <p:tgtEl>
                                          <p:spTgt spid="324"/>
                                        </p:tgtEl>
                                        <p:attrNameLst>
                                          <p:attrName>ppt_x</p:attrName>
                                        </p:attrNameLst>
                                      </p:cBhvr>
                                      <p:tavLst>
                                        <p:tav tm="0">
                                          <p:val>
                                            <p:strVal val="1+#ppt_w/2"/>
                                          </p:val>
                                        </p:tav>
                                        <p:tav tm="100000">
                                          <p:val>
                                            <p:strVal val="#ppt_x"/>
                                          </p:val>
                                        </p:tav>
                                      </p:tavLst>
                                    </p:anim>
                                    <p:anim calcmode="lin" valueType="num">
                                      <p:cBhvr additive="base">
                                        <p:cTn id="17" dur="500" fill="hold"/>
                                        <p:tgtEl>
                                          <p:spTgt spid="324"/>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308"/>
                                        </p:tgtEl>
                                        <p:attrNameLst>
                                          <p:attrName>style.visibility</p:attrName>
                                        </p:attrNameLst>
                                      </p:cBhvr>
                                      <p:to>
                                        <p:strVal val="visible"/>
                                      </p:to>
                                    </p:set>
                                    <p:animEffect transition="in" filter="slide(fromLeft)">
                                      <p:cBhvr>
                                        <p:cTn id="22" dur="500"/>
                                        <p:tgtEl>
                                          <p:spTgt spid="308"/>
                                        </p:tgtEl>
                                      </p:cBhvr>
                                    </p:animEffect>
                                  </p:childTnLst>
                                  <p:subTnLst>
                                    <p:set>
                                      <p:cBhvr override="childStyle">
                                        <p:cTn dur="1" fill="hold" display="0" masterRel="nextClick" afterEffect="1"/>
                                        <p:tgtEl>
                                          <p:spTgt spid="30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311"/>
                                        </p:tgtEl>
                                        <p:attrNameLst>
                                          <p:attrName>style.visibility</p:attrName>
                                        </p:attrNameLst>
                                      </p:cBhvr>
                                      <p:to>
                                        <p:strVal val="visible"/>
                                      </p:to>
                                    </p:set>
                                    <p:animEffect transition="in" filter="slide(fromLeft)">
                                      <p:cBhvr>
                                        <p:cTn id="27" dur="500"/>
                                        <p:tgtEl>
                                          <p:spTgt spid="311"/>
                                        </p:tgtEl>
                                      </p:cBhvr>
                                    </p:animEffect>
                                  </p:childTnLst>
                                  <p:subTnLst>
                                    <p:set>
                                      <p:cBhvr override="childStyle">
                                        <p:cTn dur="1" fill="hold" display="0" masterRel="nextClick" afterEffect="1"/>
                                        <p:tgtEl>
                                          <p:spTgt spid="311"/>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314"/>
                                        </p:tgtEl>
                                        <p:attrNameLst>
                                          <p:attrName>style.visibility</p:attrName>
                                        </p:attrNameLst>
                                      </p:cBhvr>
                                      <p:to>
                                        <p:strVal val="visible"/>
                                      </p:to>
                                    </p:set>
                                    <p:animEffect transition="in" filter="slide(fromLeft)">
                                      <p:cBhvr>
                                        <p:cTn id="32" dur="500"/>
                                        <p:tgtEl>
                                          <p:spTgt spid="314"/>
                                        </p:tgtEl>
                                      </p:cBhvr>
                                    </p:animEffect>
                                  </p:childTnLst>
                                  <p:subTnLst>
                                    <p:set>
                                      <p:cBhvr override="childStyle">
                                        <p:cTn dur="1" fill="hold" display="0" masterRel="nextClick" afterEffect="1"/>
                                        <p:tgtEl>
                                          <p:spTgt spid="314"/>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2" presetClass="entr" presetSubtype="8" fill="hold" nodeType="clickEffect">
                                  <p:stCondLst>
                                    <p:cond delay="0"/>
                                  </p:stCondLst>
                                  <p:childTnLst>
                                    <p:set>
                                      <p:cBhvr>
                                        <p:cTn id="36" dur="1" fill="hold">
                                          <p:stCondLst>
                                            <p:cond delay="0"/>
                                          </p:stCondLst>
                                        </p:cTn>
                                        <p:tgtEl>
                                          <p:spTgt spid="317"/>
                                        </p:tgtEl>
                                        <p:attrNameLst>
                                          <p:attrName>style.visibility</p:attrName>
                                        </p:attrNameLst>
                                      </p:cBhvr>
                                      <p:to>
                                        <p:strVal val="visible"/>
                                      </p:to>
                                    </p:set>
                                    <p:animEffect transition="in" filter="slide(fromLeft)">
                                      <p:cBhvr>
                                        <p:cTn id="37" dur="500"/>
                                        <p:tgtEl>
                                          <p:spTgt spid="317"/>
                                        </p:tgtEl>
                                      </p:cBhvr>
                                    </p:animEffect>
                                  </p:childTnLst>
                                  <p:subTnLst>
                                    <p:set>
                                      <p:cBhvr override="childStyle">
                                        <p:cTn dur="1" fill="hold" display="0" masterRel="nextClick" afterEffect="1"/>
                                        <p:tgtEl>
                                          <p:spTgt spid="317"/>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320"/>
                                        </p:tgtEl>
                                        <p:attrNameLst>
                                          <p:attrName>style.visibility</p:attrName>
                                        </p:attrNameLst>
                                      </p:cBhvr>
                                      <p:to>
                                        <p:strVal val="visible"/>
                                      </p:to>
                                    </p:set>
                                    <p:animEffect transition="in" filter="slide(fromLeft)">
                                      <p:cBhvr>
                                        <p:cTn id="42" dur="500"/>
                                        <p:tgtEl>
                                          <p:spTgt spid="320"/>
                                        </p:tgtEl>
                                      </p:cBhvr>
                                    </p:animEffect>
                                  </p:childTnLst>
                                  <p:subTnLst>
                                    <p:set>
                                      <p:cBhvr override="childStyle">
                                        <p:cTn dur="1" fill="hold" display="0" masterRel="nextClick" afterEffect="1"/>
                                        <p:tgtEl>
                                          <p:spTgt spid="320"/>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325"/>
                                        </p:tgtEl>
                                        <p:attrNameLst>
                                          <p:attrName>style.visibility</p:attrName>
                                        </p:attrNameLst>
                                      </p:cBhvr>
                                      <p:to>
                                        <p:strVal val="visible"/>
                                      </p:to>
                                    </p:set>
                                    <p:animEffect transition="in" filter="wipe(up)">
                                      <p:cBhvr>
                                        <p:cTn id="47" dur="500"/>
                                        <p:tgtEl>
                                          <p:spTgt spid="32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9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 presetClass="entr" presetSubtype="2" fill="hold" grpId="0" nodeType="clickEffect">
                                  <p:stCondLst>
                                    <p:cond delay="0"/>
                                  </p:stCondLst>
                                  <p:childTnLst>
                                    <p:set>
                                      <p:cBhvr>
                                        <p:cTn id="55" dur="1" fill="hold">
                                          <p:stCondLst>
                                            <p:cond delay="0"/>
                                          </p:stCondLst>
                                        </p:cTn>
                                        <p:tgtEl>
                                          <p:spTgt spid="392"/>
                                        </p:tgtEl>
                                        <p:attrNameLst>
                                          <p:attrName>style.visibility</p:attrName>
                                        </p:attrNameLst>
                                      </p:cBhvr>
                                      <p:to>
                                        <p:strVal val="visible"/>
                                      </p:to>
                                    </p:set>
                                    <p:anim calcmode="lin" valueType="num">
                                      <p:cBhvr additive="base">
                                        <p:cTn id="56" dur="500" fill="hold"/>
                                        <p:tgtEl>
                                          <p:spTgt spid="392"/>
                                        </p:tgtEl>
                                        <p:attrNameLst>
                                          <p:attrName>ppt_x</p:attrName>
                                        </p:attrNameLst>
                                      </p:cBhvr>
                                      <p:tavLst>
                                        <p:tav tm="0">
                                          <p:val>
                                            <p:strVal val="1+#ppt_w/2"/>
                                          </p:val>
                                        </p:tav>
                                        <p:tav tm="100000">
                                          <p:val>
                                            <p:strVal val="#ppt_x"/>
                                          </p:val>
                                        </p:tav>
                                      </p:tavLst>
                                    </p:anim>
                                    <p:anim calcmode="lin" valueType="num">
                                      <p:cBhvr additive="base">
                                        <p:cTn id="57" dur="500" fill="hold"/>
                                        <p:tgtEl>
                                          <p:spTgt spid="392"/>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nodeType="clickEffect">
                                  <p:stCondLst>
                                    <p:cond delay="0"/>
                                  </p:stCondLst>
                                  <p:childTnLst>
                                    <p:set>
                                      <p:cBhvr>
                                        <p:cTn id="61" dur="1" fill="hold">
                                          <p:stCondLst>
                                            <p:cond delay="0"/>
                                          </p:stCondLst>
                                        </p:cTn>
                                        <p:tgtEl>
                                          <p:spTgt spid="356"/>
                                        </p:tgtEl>
                                        <p:attrNameLst>
                                          <p:attrName>style.visibility</p:attrName>
                                        </p:attrNameLst>
                                      </p:cBhvr>
                                      <p:to>
                                        <p:strVal val="visible"/>
                                      </p:to>
                                    </p:set>
                                    <p:animEffect transition="in" filter="slide(fromLeft)">
                                      <p:cBhvr>
                                        <p:cTn id="62" dur="500"/>
                                        <p:tgtEl>
                                          <p:spTgt spid="356"/>
                                        </p:tgtEl>
                                      </p:cBhvr>
                                    </p:animEffect>
                                  </p:childTnLst>
                                  <p:subTnLst>
                                    <p:set>
                                      <p:cBhvr override="childStyle">
                                        <p:cTn dur="1" fill="hold" display="0" masterRel="nextClick" afterEffect="1"/>
                                        <p:tgtEl>
                                          <p:spTgt spid="356"/>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12" presetClass="entr" presetSubtype="8" fill="hold" nodeType="clickEffect">
                                  <p:stCondLst>
                                    <p:cond delay="0"/>
                                  </p:stCondLst>
                                  <p:childTnLst>
                                    <p:set>
                                      <p:cBhvr>
                                        <p:cTn id="66" dur="1" fill="hold">
                                          <p:stCondLst>
                                            <p:cond delay="0"/>
                                          </p:stCondLst>
                                        </p:cTn>
                                        <p:tgtEl>
                                          <p:spTgt spid="389"/>
                                        </p:tgtEl>
                                        <p:attrNameLst>
                                          <p:attrName>style.visibility</p:attrName>
                                        </p:attrNameLst>
                                      </p:cBhvr>
                                      <p:to>
                                        <p:strVal val="visible"/>
                                      </p:to>
                                    </p:set>
                                    <p:animEffect transition="in" filter="slide(fromLeft)">
                                      <p:cBhvr>
                                        <p:cTn id="67" dur="500"/>
                                        <p:tgtEl>
                                          <p:spTgt spid="389"/>
                                        </p:tgtEl>
                                      </p:cBhvr>
                                    </p:animEffect>
                                  </p:childTnLst>
                                  <p:subTnLst>
                                    <p:set>
                                      <p:cBhvr override="childStyle">
                                        <p:cTn dur="1" fill="hold" display="0" masterRel="nextClick" afterEffect="1"/>
                                        <p:tgtEl>
                                          <p:spTgt spid="389"/>
                                        </p:tgtEl>
                                        <p:attrNameLst>
                                          <p:attrName>style.visibility</p:attrName>
                                        </p:attrNameLst>
                                      </p:cBhvr>
                                      <p:to>
                                        <p:strVal val="hidden"/>
                                      </p:to>
                                    </p:set>
                                  </p:subTnLst>
                                </p:cTn>
                              </p:par>
                            </p:childTnLst>
                          </p:cTn>
                        </p:par>
                      </p:childTnLst>
                    </p:cTn>
                  </p:par>
                  <p:par>
                    <p:cTn id="68" fill="hold">
                      <p:stCondLst>
                        <p:cond delay="indefinite"/>
                      </p:stCondLst>
                      <p:childTnLst>
                        <p:par>
                          <p:cTn id="69" fill="hold">
                            <p:stCondLst>
                              <p:cond delay="0"/>
                            </p:stCondLst>
                            <p:childTnLst>
                              <p:par>
                                <p:cTn id="70" presetID="12" presetClass="entr" presetSubtype="8" fill="hold" nodeType="clickEffect">
                                  <p:stCondLst>
                                    <p:cond delay="0"/>
                                  </p:stCondLst>
                                  <p:childTnLst>
                                    <p:set>
                                      <p:cBhvr>
                                        <p:cTn id="71" dur="1" fill="hold">
                                          <p:stCondLst>
                                            <p:cond delay="0"/>
                                          </p:stCondLst>
                                        </p:cTn>
                                        <p:tgtEl>
                                          <p:spTgt spid="359"/>
                                        </p:tgtEl>
                                        <p:attrNameLst>
                                          <p:attrName>style.visibility</p:attrName>
                                        </p:attrNameLst>
                                      </p:cBhvr>
                                      <p:to>
                                        <p:strVal val="visible"/>
                                      </p:to>
                                    </p:set>
                                    <p:animEffect transition="in" filter="slide(fromLeft)">
                                      <p:cBhvr>
                                        <p:cTn id="72" dur="500"/>
                                        <p:tgtEl>
                                          <p:spTgt spid="359"/>
                                        </p:tgtEl>
                                      </p:cBhvr>
                                    </p:animEffect>
                                  </p:childTnLst>
                                  <p:subTnLst>
                                    <p:set>
                                      <p:cBhvr override="childStyle">
                                        <p:cTn dur="1" fill="hold" display="0" masterRel="nextClick" afterEffect="1"/>
                                        <p:tgtEl>
                                          <p:spTgt spid="359"/>
                                        </p:tgtEl>
                                        <p:attrNameLst>
                                          <p:attrName>style.visibility</p:attrName>
                                        </p:attrNameLst>
                                      </p:cBhvr>
                                      <p:to>
                                        <p:strVal val="hidden"/>
                                      </p:to>
                                    </p:set>
                                  </p:subTnLst>
                                </p:cTn>
                              </p:par>
                            </p:childTnLst>
                          </p:cTn>
                        </p:par>
                      </p:childTnLst>
                    </p:cTn>
                  </p:par>
                  <p:par>
                    <p:cTn id="73" fill="hold">
                      <p:stCondLst>
                        <p:cond delay="indefinite"/>
                      </p:stCondLst>
                      <p:childTnLst>
                        <p:par>
                          <p:cTn id="74" fill="hold">
                            <p:stCondLst>
                              <p:cond delay="0"/>
                            </p:stCondLst>
                            <p:childTnLst>
                              <p:par>
                                <p:cTn id="75" presetID="12" presetClass="entr" presetSubtype="8" fill="hold" nodeType="clickEffect">
                                  <p:stCondLst>
                                    <p:cond delay="0"/>
                                  </p:stCondLst>
                                  <p:childTnLst>
                                    <p:set>
                                      <p:cBhvr>
                                        <p:cTn id="76" dur="1" fill="hold">
                                          <p:stCondLst>
                                            <p:cond delay="0"/>
                                          </p:stCondLst>
                                        </p:cTn>
                                        <p:tgtEl>
                                          <p:spTgt spid="362"/>
                                        </p:tgtEl>
                                        <p:attrNameLst>
                                          <p:attrName>style.visibility</p:attrName>
                                        </p:attrNameLst>
                                      </p:cBhvr>
                                      <p:to>
                                        <p:strVal val="visible"/>
                                      </p:to>
                                    </p:set>
                                    <p:animEffect transition="in" filter="slide(fromLeft)">
                                      <p:cBhvr>
                                        <p:cTn id="77" dur="500"/>
                                        <p:tgtEl>
                                          <p:spTgt spid="362"/>
                                        </p:tgtEl>
                                      </p:cBhvr>
                                    </p:animEffect>
                                  </p:childTnLst>
                                  <p:subTnLst>
                                    <p:set>
                                      <p:cBhvr override="childStyle">
                                        <p:cTn dur="1" fill="hold" display="0" masterRel="nextClick" afterEffect="1"/>
                                        <p:tgtEl>
                                          <p:spTgt spid="362"/>
                                        </p:tgtEl>
                                        <p:attrNameLst>
                                          <p:attrName>style.visibility</p:attrName>
                                        </p:attrNameLst>
                                      </p:cBhvr>
                                      <p:to>
                                        <p:strVal val="hidden"/>
                                      </p:to>
                                    </p:set>
                                  </p:subTnLst>
                                </p:cTn>
                              </p:par>
                            </p:childTnLst>
                          </p:cTn>
                        </p:par>
                      </p:childTnLst>
                    </p:cTn>
                  </p:par>
                  <p:par>
                    <p:cTn id="78" fill="hold">
                      <p:stCondLst>
                        <p:cond delay="indefinite"/>
                      </p:stCondLst>
                      <p:childTnLst>
                        <p:par>
                          <p:cTn id="79" fill="hold">
                            <p:stCondLst>
                              <p:cond delay="0"/>
                            </p:stCondLst>
                            <p:childTnLst>
                              <p:par>
                                <p:cTn id="80" presetID="12" presetClass="entr" presetSubtype="8" fill="hold" nodeType="clickEffect">
                                  <p:stCondLst>
                                    <p:cond delay="0"/>
                                  </p:stCondLst>
                                  <p:childTnLst>
                                    <p:set>
                                      <p:cBhvr>
                                        <p:cTn id="81" dur="1" fill="hold">
                                          <p:stCondLst>
                                            <p:cond delay="0"/>
                                          </p:stCondLst>
                                        </p:cTn>
                                        <p:tgtEl>
                                          <p:spTgt spid="365"/>
                                        </p:tgtEl>
                                        <p:attrNameLst>
                                          <p:attrName>style.visibility</p:attrName>
                                        </p:attrNameLst>
                                      </p:cBhvr>
                                      <p:to>
                                        <p:strVal val="visible"/>
                                      </p:to>
                                    </p:set>
                                    <p:animEffect transition="in" filter="slide(fromLeft)">
                                      <p:cBhvr>
                                        <p:cTn id="82" dur="500"/>
                                        <p:tgtEl>
                                          <p:spTgt spid="365"/>
                                        </p:tgtEl>
                                      </p:cBhvr>
                                    </p:animEffect>
                                  </p:childTnLst>
                                  <p:subTnLst>
                                    <p:set>
                                      <p:cBhvr override="childStyle">
                                        <p:cTn dur="1" fill="hold" display="0" masterRel="nextClick" afterEffect="1"/>
                                        <p:tgtEl>
                                          <p:spTgt spid="365"/>
                                        </p:tgtEl>
                                        <p:attrNameLst>
                                          <p:attrName>style.visibility</p:attrName>
                                        </p:attrNameLst>
                                      </p:cBhvr>
                                      <p:to>
                                        <p:strVal val="hidden"/>
                                      </p:to>
                                    </p:set>
                                  </p:subTnLst>
                                </p:cTn>
                              </p:par>
                            </p:childTnLst>
                          </p:cTn>
                        </p:par>
                      </p:childTnLst>
                    </p:cTn>
                  </p:par>
                  <p:par>
                    <p:cTn id="83" fill="hold">
                      <p:stCondLst>
                        <p:cond delay="indefinite"/>
                      </p:stCondLst>
                      <p:childTnLst>
                        <p:par>
                          <p:cTn id="84" fill="hold">
                            <p:stCondLst>
                              <p:cond delay="0"/>
                            </p:stCondLst>
                            <p:childTnLst>
                              <p:par>
                                <p:cTn id="85" presetID="12" presetClass="entr" presetSubtype="8" fill="hold" nodeType="clickEffect">
                                  <p:stCondLst>
                                    <p:cond delay="0"/>
                                  </p:stCondLst>
                                  <p:childTnLst>
                                    <p:set>
                                      <p:cBhvr>
                                        <p:cTn id="86" dur="1" fill="hold">
                                          <p:stCondLst>
                                            <p:cond delay="0"/>
                                          </p:stCondLst>
                                        </p:cTn>
                                        <p:tgtEl>
                                          <p:spTgt spid="368"/>
                                        </p:tgtEl>
                                        <p:attrNameLst>
                                          <p:attrName>style.visibility</p:attrName>
                                        </p:attrNameLst>
                                      </p:cBhvr>
                                      <p:to>
                                        <p:strVal val="visible"/>
                                      </p:to>
                                    </p:set>
                                    <p:animEffect transition="in" filter="slide(fromLeft)">
                                      <p:cBhvr>
                                        <p:cTn id="87" dur="500"/>
                                        <p:tgtEl>
                                          <p:spTgt spid="368"/>
                                        </p:tgtEl>
                                      </p:cBhvr>
                                    </p:animEffect>
                                  </p:childTnLst>
                                  <p:subTnLst>
                                    <p:set>
                                      <p:cBhvr override="childStyle">
                                        <p:cTn dur="1" fill="hold" display="0" masterRel="nextClick" afterEffect="1"/>
                                        <p:tgtEl>
                                          <p:spTgt spid="368"/>
                                        </p:tgtEl>
                                        <p:attrNameLst>
                                          <p:attrName>style.visibility</p:attrName>
                                        </p:attrNameLst>
                                      </p:cBhvr>
                                      <p:to>
                                        <p:strVal val="hidden"/>
                                      </p:to>
                                    </p:set>
                                  </p:subTnLst>
                                </p:cTn>
                              </p:par>
                            </p:childTnLst>
                          </p:cTn>
                        </p:par>
                      </p:childTnLst>
                    </p:cTn>
                  </p:par>
                  <p:par>
                    <p:cTn id="88" fill="hold">
                      <p:stCondLst>
                        <p:cond delay="indefinite"/>
                      </p:stCondLst>
                      <p:childTnLst>
                        <p:par>
                          <p:cTn id="89" fill="hold">
                            <p:stCondLst>
                              <p:cond delay="0"/>
                            </p:stCondLst>
                            <p:childTnLst>
                              <p:par>
                                <p:cTn id="90" presetID="12" presetClass="entr" presetSubtype="8" fill="hold" nodeType="clickEffect">
                                  <p:stCondLst>
                                    <p:cond delay="0"/>
                                  </p:stCondLst>
                                  <p:childTnLst>
                                    <p:set>
                                      <p:cBhvr>
                                        <p:cTn id="91" dur="1" fill="hold">
                                          <p:stCondLst>
                                            <p:cond delay="0"/>
                                          </p:stCondLst>
                                        </p:cTn>
                                        <p:tgtEl>
                                          <p:spTgt spid="371"/>
                                        </p:tgtEl>
                                        <p:attrNameLst>
                                          <p:attrName>style.visibility</p:attrName>
                                        </p:attrNameLst>
                                      </p:cBhvr>
                                      <p:to>
                                        <p:strVal val="visible"/>
                                      </p:to>
                                    </p:set>
                                    <p:animEffect transition="in" filter="slide(fromLeft)">
                                      <p:cBhvr>
                                        <p:cTn id="92" dur="500"/>
                                        <p:tgtEl>
                                          <p:spTgt spid="371"/>
                                        </p:tgtEl>
                                      </p:cBhvr>
                                    </p:animEffect>
                                  </p:childTnLst>
                                  <p:subTnLst>
                                    <p:set>
                                      <p:cBhvr override="childStyle">
                                        <p:cTn dur="1" fill="hold" display="0" masterRel="nextClick" afterEffect="1"/>
                                        <p:tgtEl>
                                          <p:spTgt spid="371"/>
                                        </p:tgtEl>
                                        <p:attrNameLst>
                                          <p:attrName>style.visibility</p:attrName>
                                        </p:attrNameLst>
                                      </p:cBhvr>
                                      <p:to>
                                        <p:strVal val="hidden"/>
                                      </p:to>
                                    </p:set>
                                  </p:subTnLst>
                                </p:cTn>
                              </p:par>
                            </p:childTnLst>
                          </p:cTn>
                        </p:par>
                      </p:childTnLst>
                    </p:cTn>
                  </p:par>
                  <p:par>
                    <p:cTn id="93" fill="hold">
                      <p:stCondLst>
                        <p:cond delay="indefinite"/>
                      </p:stCondLst>
                      <p:childTnLst>
                        <p:par>
                          <p:cTn id="94" fill="hold">
                            <p:stCondLst>
                              <p:cond delay="0"/>
                            </p:stCondLst>
                            <p:childTnLst>
                              <p:par>
                                <p:cTn id="95" presetID="12" presetClass="entr" presetSubtype="8" fill="hold" nodeType="clickEffect">
                                  <p:stCondLst>
                                    <p:cond delay="0"/>
                                  </p:stCondLst>
                                  <p:childTnLst>
                                    <p:set>
                                      <p:cBhvr>
                                        <p:cTn id="96" dur="1" fill="hold">
                                          <p:stCondLst>
                                            <p:cond delay="0"/>
                                          </p:stCondLst>
                                        </p:cTn>
                                        <p:tgtEl>
                                          <p:spTgt spid="374"/>
                                        </p:tgtEl>
                                        <p:attrNameLst>
                                          <p:attrName>style.visibility</p:attrName>
                                        </p:attrNameLst>
                                      </p:cBhvr>
                                      <p:to>
                                        <p:strVal val="visible"/>
                                      </p:to>
                                    </p:set>
                                    <p:animEffect transition="in" filter="slide(fromLeft)">
                                      <p:cBhvr>
                                        <p:cTn id="97" dur="500"/>
                                        <p:tgtEl>
                                          <p:spTgt spid="374"/>
                                        </p:tgtEl>
                                      </p:cBhvr>
                                    </p:animEffect>
                                  </p:childTnLst>
                                  <p:subTnLst>
                                    <p:set>
                                      <p:cBhvr override="childStyle">
                                        <p:cTn dur="1" fill="hold" display="0" masterRel="nextClick" afterEffect="1"/>
                                        <p:tgtEl>
                                          <p:spTgt spid="374"/>
                                        </p:tgtEl>
                                        <p:attrNameLst>
                                          <p:attrName>style.visibility</p:attrName>
                                        </p:attrNameLst>
                                      </p:cBhvr>
                                      <p:to>
                                        <p:strVal val="hidden"/>
                                      </p:to>
                                    </p:set>
                                  </p:subTnLst>
                                </p:cTn>
                              </p:par>
                            </p:childTnLst>
                          </p:cTn>
                        </p:par>
                      </p:childTnLst>
                    </p:cTn>
                  </p:par>
                  <p:par>
                    <p:cTn id="98" fill="hold">
                      <p:stCondLst>
                        <p:cond delay="indefinite"/>
                      </p:stCondLst>
                      <p:childTnLst>
                        <p:par>
                          <p:cTn id="99" fill="hold">
                            <p:stCondLst>
                              <p:cond delay="0"/>
                            </p:stCondLst>
                            <p:childTnLst>
                              <p:par>
                                <p:cTn id="100" presetID="12" presetClass="entr" presetSubtype="8" fill="hold" nodeType="clickEffect">
                                  <p:stCondLst>
                                    <p:cond delay="0"/>
                                  </p:stCondLst>
                                  <p:childTnLst>
                                    <p:set>
                                      <p:cBhvr>
                                        <p:cTn id="101" dur="1" fill="hold">
                                          <p:stCondLst>
                                            <p:cond delay="0"/>
                                          </p:stCondLst>
                                        </p:cTn>
                                        <p:tgtEl>
                                          <p:spTgt spid="377"/>
                                        </p:tgtEl>
                                        <p:attrNameLst>
                                          <p:attrName>style.visibility</p:attrName>
                                        </p:attrNameLst>
                                      </p:cBhvr>
                                      <p:to>
                                        <p:strVal val="visible"/>
                                      </p:to>
                                    </p:set>
                                    <p:animEffect transition="in" filter="slide(fromLeft)">
                                      <p:cBhvr>
                                        <p:cTn id="102" dur="500"/>
                                        <p:tgtEl>
                                          <p:spTgt spid="377"/>
                                        </p:tgtEl>
                                      </p:cBhvr>
                                    </p:animEffect>
                                  </p:childTnLst>
                                  <p:subTnLst>
                                    <p:set>
                                      <p:cBhvr override="childStyle">
                                        <p:cTn dur="1" fill="hold" display="0" masterRel="nextClick" afterEffect="1"/>
                                        <p:tgtEl>
                                          <p:spTgt spid="377"/>
                                        </p:tgtEl>
                                        <p:attrNameLst>
                                          <p:attrName>style.visibility</p:attrName>
                                        </p:attrNameLst>
                                      </p:cBhvr>
                                      <p:to>
                                        <p:strVal val="hidden"/>
                                      </p:to>
                                    </p:set>
                                  </p:subTnLst>
                                </p:cTn>
                              </p:par>
                            </p:childTnLst>
                          </p:cTn>
                        </p:par>
                      </p:childTnLst>
                    </p:cTn>
                  </p:par>
                  <p:par>
                    <p:cTn id="103" fill="hold">
                      <p:stCondLst>
                        <p:cond delay="indefinite"/>
                      </p:stCondLst>
                      <p:childTnLst>
                        <p:par>
                          <p:cTn id="104" fill="hold">
                            <p:stCondLst>
                              <p:cond delay="0"/>
                            </p:stCondLst>
                            <p:childTnLst>
                              <p:par>
                                <p:cTn id="105" presetID="12" presetClass="entr" presetSubtype="8" fill="hold" nodeType="clickEffect">
                                  <p:stCondLst>
                                    <p:cond delay="0"/>
                                  </p:stCondLst>
                                  <p:childTnLst>
                                    <p:set>
                                      <p:cBhvr>
                                        <p:cTn id="106" dur="1" fill="hold">
                                          <p:stCondLst>
                                            <p:cond delay="0"/>
                                          </p:stCondLst>
                                        </p:cTn>
                                        <p:tgtEl>
                                          <p:spTgt spid="380"/>
                                        </p:tgtEl>
                                        <p:attrNameLst>
                                          <p:attrName>style.visibility</p:attrName>
                                        </p:attrNameLst>
                                      </p:cBhvr>
                                      <p:to>
                                        <p:strVal val="visible"/>
                                      </p:to>
                                    </p:set>
                                    <p:animEffect transition="in" filter="slide(fromLeft)">
                                      <p:cBhvr>
                                        <p:cTn id="107" dur="500"/>
                                        <p:tgtEl>
                                          <p:spTgt spid="380"/>
                                        </p:tgtEl>
                                      </p:cBhvr>
                                    </p:animEffect>
                                  </p:childTnLst>
                                  <p:subTnLst>
                                    <p:set>
                                      <p:cBhvr override="childStyle">
                                        <p:cTn dur="1" fill="hold" display="0" masterRel="nextClick" afterEffect="1"/>
                                        <p:tgtEl>
                                          <p:spTgt spid="380"/>
                                        </p:tgtEl>
                                        <p:attrNameLst>
                                          <p:attrName>style.visibility</p:attrName>
                                        </p:attrNameLst>
                                      </p:cBhvr>
                                      <p:to>
                                        <p:strVal val="hidden"/>
                                      </p:to>
                                    </p:set>
                                  </p:subTnLst>
                                </p:cTn>
                              </p:par>
                            </p:childTnLst>
                          </p:cTn>
                        </p:par>
                      </p:childTnLst>
                    </p:cTn>
                  </p:par>
                  <p:par>
                    <p:cTn id="108" fill="hold">
                      <p:stCondLst>
                        <p:cond delay="indefinite"/>
                      </p:stCondLst>
                      <p:childTnLst>
                        <p:par>
                          <p:cTn id="109" fill="hold">
                            <p:stCondLst>
                              <p:cond delay="0"/>
                            </p:stCondLst>
                            <p:childTnLst>
                              <p:par>
                                <p:cTn id="110" presetID="12" presetClass="entr" presetSubtype="8" fill="hold" nodeType="clickEffect">
                                  <p:stCondLst>
                                    <p:cond delay="0"/>
                                  </p:stCondLst>
                                  <p:childTnLst>
                                    <p:set>
                                      <p:cBhvr>
                                        <p:cTn id="111" dur="1" fill="hold">
                                          <p:stCondLst>
                                            <p:cond delay="0"/>
                                          </p:stCondLst>
                                        </p:cTn>
                                        <p:tgtEl>
                                          <p:spTgt spid="383"/>
                                        </p:tgtEl>
                                        <p:attrNameLst>
                                          <p:attrName>style.visibility</p:attrName>
                                        </p:attrNameLst>
                                      </p:cBhvr>
                                      <p:to>
                                        <p:strVal val="visible"/>
                                      </p:to>
                                    </p:set>
                                    <p:animEffect transition="in" filter="slide(fromLeft)">
                                      <p:cBhvr>
                                        <p:cTn id="112" dur="500"/>
                                        <p:tgtEl>
                                          <p:spTgt spid="383"/>
                                        </p:tgtEl>
                                      </p:cBhvr>
                                    </p:animEffect>
                                  </p:childTnLst>
                                  <p:subTnLst>
                                    <p:set>
                                      <p:cBhvr override="childStyle">
                                        <p:cTn dur="1" fill="hold" display="0" masterRel="nextClick" afterEffect="1"/>
                                        <p:tgtEl>
                                          <p:spTgt spid="383"/>
                                        </p:tgtEl>
                                        <p:attrNameLst>
                                          <p:attrName>style.visibility</p:attrName>
                                        </p:attrNameLst>
                                      </p:cBhvr>
                                      <p:to>
                                        <p:strVal val="hidden"/>
                                      </p:to>
                                    </p:set>
                                  </p:subTnLst>
                                </p:cTn>
                              </p:par>
                            </p:childTnLst>
                          </p:cTn>
                        </p:par>
                      </p:childTnLst>
                    </p:cTn>
                  </p:par>
                  <p:par>
                    <p:cTn id="113" fill="hold">
                      <p:stCondLst>
                        <p:cond delay="indefinite"/>
                      </p:stCondLst>
                      <p:childTnLst>
                        <p:par>
                          <p:cTn id="114" fill="hold">
                            <p:stCondLst>
                              <p:cond delay="0"/>
                            </p:stCondLst>
                            <p:childTnLst>
                              <p:par>
                                <p:cTn id="115" presetID="12" presetClass="entr" presetSubtype="8" fill="hold" nodeType="clickEffect">
                                  <p:stCondLst>
                                    <p:cond delay="0"/>
                                  </p:stCondLst>
                                  <p:childTnLst>
                                    <p:set>
                                      <p:cBhvr>
                                        <p:cTn id="116" dur="1" fill="hold">
                                          <p:stCondLst>
                                            <p:cond delay="0"/>
                                          </p:stCondLst>
                                        </p:cTn>
                                        <p:tgtEl>
                                          <p:spTgt spid="386"/>
                                        </p:tgtEl>
                                        <p:attrNameLst>
                                          <p:attrName>style.visibility</p:attrName>
                                        </p:attrNameLst>
                                      </p:cBhvr>
                                      <p:to>
                                        <p:strVal val="visible"/>
                                      </p:to>
                                    </p:set>
                                    <p:animEffect transition="in" filter="slide(fromLeft)">
                                      <p:cBhvr>
                                        <p:cTn id="117" dur="500"/>
                                        <p:tgtEl>
                                          <p:spTgt spid="386"/>
                                        </p:tgtEl>
                                      </p:cBhvr>
                                    </p:animEffect>
                                  </p:childTnLst>
                                  <p:subTnLst>
                                    <p:set>
                                      <p:cBhvr override="childStyle">
                                        <p:cTn dur="1" fill="hold" display="0" masterRel="nextClick" afterEffect="1"/>
                                        <p:tgtEl>
                                          <p:spTgt spid="386"/>
                                        </p:tgtEl>
                                        <p:attrNameLst>
                                          <p:attrName>style.visibility</p:attrName>
                                        </p:attrNameLst>
                                      </p:cBhvr>
                                      <p:to>
                                        <p:strVal val="hidden"/>
                                      </p:to>
                                    </p:set>
                                  </p:sub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3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 grpId="0" autoUpdateAnimBg="0"/>
      <p:bldP spid="392" grpId="0" autoUpdateAnimBg="0"/>
      <p:bldP spid="393" grpId="0" animBg="1"/>
      <p:bldP spid="394" grpId="0" animBg="1"/>
      <p:bldP spid="39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顺序查找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内容占位符 2"/>
          <p:cNvSpPr>
            <a:spLocks noGrp="1"/>
          </p:cNvSpPr>
          <p:nvPr>
            <p:ph idx="1"/>
          </p:nvPr>
        </p:nvSpPr>
        <p:spPr>
          <a:xfrm>
            <a:off x="457199" y="818806"/>
            <a:ext cx="11345333" cy="6343994"/>
          </a:xfrm>
        </p:spPr>
        <p:txBody>
          <a:bodyPr>
            <a:norm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buFontTx/>
              <a:buNone/>
            </a:pPr>
            <a:r>
              <a:rPr lang="zh-CN" altLang="en-US" dirty="0"/>
              <a:t>    </a:t>
            </a:r>
            <a:endParaRPr lang="zh-CN" altLang="en-US" dirty="0"/>
          </a:p>
          <a:p>
            <a:pPr>
              <a:buFontTx/>
              <a:buNone/>
            </a:pPr>
            <a:r>
              <a:rPr lang="zh-CN" altLang="en-US" sz="2400" dirty="0">
                <a:latin typeface="微软雅黑" panose="020B0503020204020204" pitchFamily="34" charset="-122"/>
                <a:ea typeface="微软雅黑" panose="020B0503020204020204" pitchFamily="34" charset="-122"/>
              </a:rPr>
              <a:t>本算法通过设置</a:t>
            </a:r>
            <a:r>
              <a:rPr lang="zh-CN" altLang="en-US" sz="2400" b="1" dirty="0">
                <a:solidFill>
                  <a:srgbClr val="FF0000"/>
                </a:solidFill>
                <a:latin typeface="微软雅黑" panose="020B0503020204020204" pitchFamily="34" charset="-122"/>
                <a:ea typeface="微软雅黑" panose="020B0503020204020204" pitchFamily="34" charset="-122"/>
              </a:rPr>
              <a:t>“监视哨”</a:t>
            </a:r>
            <a:r>
              <a:rPr lang="zh-CN" altLang="en-US" sz="2400" dirty="0">
                <a:latin typeface="微软雅黑" panose="020B0503020204020204" pitchFamily="34" charset="-122"/>
                <a:ea typeface="微软雅黑" panose="020B0503020204020204" pitchFamily="34" charset="-122"/>
              </a:rPr>
              <a:t>，使查找过程中的每一步免去了检测整个表是否查找完毕，提高了查找的效率。</a:t>
            </a:r>
            <a:endParaRPr lang="zh-CN" altLang="en-US" sz="2400" dirty="0">
              <a:latin typeface="微软雅黑" panose="020B0503020204020204" pitchFamily="34" charset="-122"/>
              <a:ea typeface="微软雅黑" panose="020B0503020204020204" pitchFamily="34" charset="-122"/>
            </a:endParaRPr>
          </a:p>
        </p:txBody>
      </p:sp>
      <p:sp>
        <p:nvSpPr>
          <p:cNvPr id="11" name="Rectangle 4"/>
          <p:cNvSpPr>
            <a:spLocks noChangeArrowheads="1"/>
          </p:cNvSpPr>
          <p:nvPr/>
        </p:nvSpPr>
        <p:spPr bwMode="auto">
          <a:xfrm>
            <a:off x="948266" y="1677637"/>
            <a:ext cx="10295467" cy="3792008"/>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有监视哨情况</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en-US" b="0" dirty="0">
                <a:latin typeface="Times New Roman" panose="02020603050405020304" pitchFamily="18" charset="0"/>
                <a:cs typeface="Times New Roman" panose="02020603050405020304" pitchFamily="18" charset="0"/>
              </a:rPr>
              <a:t>template &lt;class </a:t>
            </a:r>
            <a:r>
              <a:rPr lang="en-US" altLang="en-US" b="0" dirty="0" err="1">
                <a:latin typeface="Times New Roman" panose="02020603050405020304" pitchFamily="18" charset="0"/>
                <a:cs typeface="Times New Roman" panose="02020603050405020304" pitchFamily="18" charset="0"/>
              </a:rPr>
              <a:t>ElemType,class</a:t>
            </a: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KeyType</a:t>
            </a:r>
            <a:r>
              <a:rPr lang="en-US" altLang="en-US" b="0" dirty="0">
                <a:latin typeface="Times New Roman" panose="02020603050405020304" pitchFamily="18" charset="0"/>
                <a:cs typeface="Times New Roman" panose="02020603050405020304" pitchFamily="18" charset="0"/>
              </a:rPr>
              <a:t> &gt;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int </a:t>
            </a:r>
            <a:r>
              <a:rPr lang="en-US" altLang="en-US" b="0" dirty="0" err="1">
                <a:latin typeface="Times New Roman" panose="02020603050405020304" pitchFamily="18" charset="0"/>
                <a:cs typeface="Times New Roman" panose="02020603050405020304" pitchFamily="18" charset="0"/>
              </a:rPr>
              <a:t>SeqSearchWithMonitor</a:t>
            </a:r>
            <a:r>
              <a:rPr lang="en-US" altLang="en-US" b="0" dirty="0">
                <a:latin typeface="Times New Roman" panose="02020603050405020304" pitchFamily="18" charset="0"/>
                <a:cs typeface="Times New Roman" panose="02020603050405020304" pitchFamily="18" charset="0"/>
              </a:rPr>
              <a:t>(</a:t>
            </a:r>
            <a:r>
              <a:rPr lang="en-US" altLang="en-US" b="0" dirty="0" err="1">
                <a:latin typeface="Times New Roman" panose="02020603050405020304" pitchFamily="18" charset="0"/>
                <a:cs typeface="Times New Roman" panose="02020603050405020304" pitchFamily="18" charset="0"/>
              </a:rPr>
              <a:t>StaticTable</a:t>
            </a:r>
            <a:r>
              <a:rPr lang="en-US" altLang="en-US" b="0" dirty="0">
                <a:latin typeface="Times New Roman" panose="02020603050405020304" pitchFamily="18" charset="0"/>
                <a:cs typeface="Times New Roman" panose="02020603050405020304" pitchFamily="18" charset="0"/>
              </a:rPr>
              <a:t>&lt;</a:t>
            </a:r>
            <a:r>
              <a:rPr lang="en-US" altLang="en-US" b="0" dirty="0" err="1">
                <a:latin typeface="Times New Roman" panose="02020603050405020304" pitchFamily="18" charset="0"/>
                <a:cs typeface="Times New Roman" panose="02020603050405020304" pitchFamily="18" charset="0"/>
              </a:rPr>
              <a:t>ElemType</a:t>
            </a: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KeyType</a:t>
            </a:r>
            <a:r>
              <a:rPr lang="en-US" altLang="en-US" b="0" dirty="0">
                <a:latin typeface="Times New Roman" panose="02020603050405020304" pitchFamily="18" charset="0"/>
                <a:cs typeface="Times New Roman" panose="02020603050405020304" pitchFamily="18" charset="0"/>
              </a:rPr>
              <a:t>&gt;&amp;R,</a:t>
            </a:r>
            <a:endParaRPr lang="en-US"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const </a:t>
            </a:r>
            <a:r>
              <a:rPr lang="en-US" altLang="en-US" b="0" dirty="0" err="1">
                <a:latin typeface="Times New Roman" panose="02020603050405020304" pitchFamily="18" charset="0"/>
                <a:cs typeface="Times New Roman" panose="02020603050405020304" pitchFamily="18" charset="0"/>
              </a:rPr>
              <a:t>KeyType</a:t>
            </a:r>
            <a:r>
              <a:rPr lang="en-US" altLang="en-US" b="0" dirty="0">
                <a:latin typeface="Times New Roman" panose="02020603050405020304" pitchFamily="18" charset="0"/>
                <a:cs typeface="Times New Roman" panose="02020603050405020304" pitchFamily="18" charset="0"/>
              </a:rPr>
              <a:t> key)</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int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 = 0;</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R.m_data</a:t>
            </a: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R.m_size</a:t>
            </a:r>
            <a:r>
              <a:rPr lang="en-US" altLang="en-US" b="0" dirty="0">
                <a:latin typeface="Times New Roman" panose="02020603050405020304" pitchFamily="18" charset="0"/>
                <a:cs typeface="Times New Roman" panose="02020603050405020304" pitchFamily="18" charset="0"/>
              </a:rPr>
              <a:t>] = key; </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给定值</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作为监视哨</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while (</a:t>
            </a:r>
            <a:r>
              <a:rPr lang="en-US" altLang="en-US" b="0" dirty="0" err="1">
                <a:latin typeface="Times New Roman" panose="02020603050405020304" pitchFamily="18" charset="0"/>
                <a:cs typeface="Times New Roman" panose="02020603050405020304" pitchFamily="18" charset="0"/>
              </a:rPr>
              <a:t>R.m_data</a:t>
            </a: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 != key)</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if (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 &lt; </a:t>
            </a:r>
            <a:r>
              <a:rPr lang="en-US" altLang="en-US" b="0" dirty="0" err="1">
                <a:latin typeface="Times New Roman" panose="02020603050405020304" pitchFamily="18" charset="0"/>
                <a:cs typeface="Times New Roman" panose="02020603050405020304" pitchFamily="18" charset="0"/>
              </a:rPr>
              <a:t>R.m_size</a:t>
            </a:r>
            <a:r>
              <a:rPr lang="en-US" altLang="en-US"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return </a:t>
            </a:r>
            <a:r>
              <a:rPr lang="en-US" altLang="en-US" b="0" dirty="0" err="1">
                <a:latin typeface="Times New Roman" panose="02020603050405020304" pitchFamily="18" charset="0"/>
                <a:cs typeface="Times New Roman" panose="02020603050405020304" pitchFamily="18" charset="0"/>
              </a:rPr>
              <a:t>i</a:t>
            </a:r>
            <a:r>
              <a:rPr lang="en-US" altLang="en-US" b="0" dirty="0">
                <a:latin typeface="Times New Roman" panose="02020603050405020304" pitchFamily="18" charset="0"/>
                <a:cs typeface="Times New Roman" panose="02020603050405020304" pitchFamily="18" charset="0"/>
              </a:rPr>
              <a: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return -1;</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a:t>
            </a:r>
            <a:endParaRPr lang="en-US" altLang="zh-CN" sz="2000" b="0" dirty="0">
              <a:latin typeface="Times New Roman" panose="02020603050405020304" pitchFamily="18" charset="0"/>
              <a:cs typeface="Times New Roman" panose="02020603050405020304" pitchFamily="18" charset="0"/>
            </a:endParaRPr>
          </a:p>
        </p:txBody>
      </p:sp>
      <p:sp>
        <p:nvSpPr>
          <p:cNvPr id="12" name="Text Box 6"/>
          <p:cNvSpPr txBox="1">
            <a:spLocks noChangeArrowheads="1"/>
          </p:cNvSpPr>
          <p:nvPr/>
        </p:nvSpPr>
        <p:spPr bwMode="auto">
          <a:xfrm>
            <a:off x="389468" y="913793"/>
            <a:ext cx="5882765"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r>
              <a:rPr lang="zh-CN" altLang="en-US" b="0" dirty="0">
                <a:latin typeface="Consolas" panose="020B0609020204030204" pitchFamily="49" charset="0"/>
              </a:rPr>
              <a:t> 顺序表的查找算法（</a:t>
            </a:r>
            <a:r>
              <a:rPr lang="en-US" altLang="zh-CN" b="0" dirty="0">
                <a:latin typeface="Consolas" panose="020B0609020204030204" pitchFamily="49" charset="0"/>
              </a:rPr>
              <a:t>2</a:t>
            </a:r>
            <a:r>
              <a:rPr lang="zh-CN" altLang="en-US" b="0" dirty="0">
                <a:latin typeface="Consolas" panose="020B0609020204030204" pitchFamily="49" charset="0"/>
              </a:rPr>
              <a:t>）</a:t>
            </a:r>
            <a:endParaRPr lang="zh-CN" altLang="en-US" dirty="0">
              <a:solidFill>
                <a:srgbClr val="FFFFFF"/>
              </a:solidFill>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bg/>
                                          </p:spTgt>
                                        </p:tgtEl>
                                        <p:attrNameLst>
                                          <p:attrName>style.visibility</p:attrName>
                                        </p:attrNameLst>
                                      </p:cBhvr>
                                      <p:to>
                                        <p:strVal val="visible"/>
                                      </p:to>
                                    </p:set>
                                    <p:animEffect transition="in" filter="fade">
                                      <p:cBhvr>
                                        <p:cTn id="7" dur="2000"/>
                                        <p:tgtEl>
                                          <p:spTgt spid="11">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20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2000"/>
                                        <p:tgtEl>
                                          <p:spTgt spid="11">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xEl>
                                              <p:pRg st="2" end="2"/>
                                            </p:txEl>
                                          </p:spTgt>
                                        </p:tgtEl>
                                        <p:attrNameLst>
                                          <p:attrName>style.visibility</p:attrName>
                                        </p:attrNameLst>
                                      </p:cBhvr>
                                      <p:to>
                                        <p:strVal val="visible"/>
                                      </p:to>
                                    </p:set>
                                    <p:animEffect transition="in" filter="fade">
                                      <p:cBhvr>
                                        <p:cTn id="16" dur="2000"/>
                                        <p:tgtEl>
                                          <p:spTgt spid="11">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Effect transition="in" filter="fade">
                                      <p:cBhvr>
                                        <p:cTn id="19" dur="2000"/>
                                        <p:tgtEl>
                                          <p:spTgt spid="11">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xEl>
                                              <p:pRg st="4" end="4"/>
                                            </p:txEl>
                                          </p:spTgt>
                                        </p:tgtEl>
                                        <p:attrNameLst>
                                          <p:attrName>style.visibility</p:attrName>
                                        </p:attrNameLst>
                                      </p:cBhvr>
                                      <p:to>
                                        <p:strVal val="visible"/>
                                      </p:to>
                                    </p:set>
                                    <p:animEffect transition="in" filter="fade">
                                      <p:cBhvr>
                                        <p:cTn id="22" dur="2000"/>
                                        <p:tgtEl>
                                          <p:spTgt spid="11">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xEl>
                                              <p:pRg st="5" end="5"/>
                                            </p:txEl>
                                          </p:spTgt>
                                        </p:tgtEl>
                                        <p:attrNameLst>
                                          <p:attrName>style.visibility</p:attrName>
                                        </p:attrNameLst>
                                      </p:cBhvr>
                                      <p:to>
                                        <p:strVal val="visible"/>
                                      </p:to>
                                    </p:set>
                                    <p:animEffect transition="in" filter="fade">
                                      <p:cBhvr>
                                        <p:cTn id="25" dur="2000"/>
                                        <p:tgtEl>
                                          <p:spTgt spid="11">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xEl>
                                              <p:pRg st="6" end="6"/>
                                            </p:txEl>
                                          </p:spTgt>
                                        </p:tgtEl>
                                        <p:attrNameLst>
                                          <p:attrName>style.visibility</p:attrName>
                                        </p:attrNameLst>
                                      </p:cBhvr>
                                      <p:to>
                                        <p:strVal val="visible"/>
                                      </p:to>
                                    </p:set>
                                    <p:animEffect transition="in" filter="fade">
                                      <p:cBhvr>
                                        <p:cTn id="28" dur="2000"/>
                                        <p:tgtEl>
                                          <p:spTgt spid="11">
                                            <p:txEl>
                                              <p:pRg st="6" end="6"/>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xEl>
                                              <p:pRg st="7" end="7"/>
                                            </p:txEl>
                                          </p:spTgt>
                                        </p:tgtEl>
                                        <p:attrNameLst>
                                          <p:attrName>style.visibility</p:attrName>
                                        </p:attrNameLst>
                                      </p:cBhvr>
                                      <p:to>
                                        <p:strVal val="visible"/>
                                      </p:to>
                                    </p:set>
                                    <p:animEffect transition="in" filter="fade">
                                      <p:cBhvr>
                                        <p:cTn id="31" dur="2000"/>
                                        <p:tgtEl>
                                          <p:spTgt spid="11">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xEl>
                                              <p:pRg st="8" end="8"/>
                                            </p:txEl>
                                          </p:spTgt>
                                        </p:tgtEl>
                                        <p:attrNameLst>
                                          <p:attrName>style.visibility</p:attrName>
                                        </p:attrNameLst>
                                      </p:cBhvr>
                                      <p:to>
                                        <p:strVal val="visible"/>
                                      </p:to>
                                    </p:set>
                                    <p:animEffect transition="in" filter="fade">
                                      <p:cBhvr>
                                        <p:cTn id="34" dur="2000"/>
                                        <p:tgtEl>
                                          <p:spTgt spid="11">
                                            <p:txEl>
                                              <p:pRg st="8" end="8"/>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xEl>
                                              <p:pRg st="9" end="9"/>
                                            </p:txEl>
                                          </p:spTgt>
                                        </p:tgtEl>
                                        <p:attrNameLst>
                                          <p:attrName>style.visibility</p:attrName>
                                        </p:attrNameLst>
                                      </p:cBhvr>
                                      <p:to>
                                        <p:strVal val="visible"/>
                                      </p:to>
                                    </p:set>
                                    <p:animEffect transition="in" filter="fade">
                                      <p:cBhvr>
                                        <p:cTn id="37" dur="2000"/>
                                        <p:tgtEl>
                                          <p:spTgt spid="11">
                                            <p:txEl>
                                              <p:pRg st="9" end="9"/>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
                                            <p:txEl>
                                              <p:pRg st="10" end="10"/>
                                            </p:txEl>
                                          </p:spTgt>
                                        </p:tgtEl>
                                        <p:attrNameLst>
                                          <p:attrName>style.visibility</p:attrName>
                                        </p:attrNameLst>
                                      </p:cBhvr>
                                      <p:to>
                                        <p:strVal val="visible"/>
                                      </p:to>
                                    </p:set>
                                    <p:animEffect transition="in" filter="fade">
                                      <p:cBhvr>
                                        <p:cTn id="40" dur="2000"/>
                                        <p:tgtEl>
                                          <p:spTgt spid="11">
                                            <p:txEl>
                                              <p:pRg st="10" end="1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1">
                                            <p:txEl>
                                              <p:pRg st="11" end="11"/>
                                            </p:txEl>
                                          </p:spTgt>
                                        </p:tgtEl>
                                        <p:attrNameLst>
                                          <p:attrName>style.visibility</p:attrName>
                                        </p:attrNameLst>
                                      </p:cBhvr>
                                      <p:to>
                                        <p:strVal val="visible"/>
                                      </p:to>
                                    </p:set>
                                    <p:animEffect transition="in" filter="fade">
                                      <p:cBhvr>
                                        <p:cTn id="43" dur="2000"/>
                                        <p:tgtEl>
                                          <p:spTgt spid="11">
                                            <p:txEl>
                                              <p:pRg st="11" end="11"/>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1">
                                            <p:txEl>
                                              <p:pRg st="12" end="12"/>
                                            </p:txEl>
                                          </p:spTgt>
                                        </p:tgtEl>
                                        <p:attrNameLst>
                                          <p:attrName>style.visibility</p:attrName>
                                        </p:attrNameLst>
                                      </p:cBhvr>
                                      <p:to>
                                        <p:strVal val="visible"/>
                                      </p:to>
                                    </p:set>
                                    <p:animEffect transition="in" filter="fade">
                                      <p:cBhvr>
                                        <p:cTn id="46" dur="2000"/>
                                        <p:tgtEl>
                                          <p:spTgt spid="11">
                                            <p:txEl>
                                              <p:pRg st="12" end="1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0">
                                            <p:txEl>
                                              <p:pRg st="9" end="9"/>
                                            </p:txEl>
                                          </p:spTgt>
                                        </p:tgtEl>
                                        <p:attrNameLst>
                                          <p:attrName>style.visibility</p:attrName>
                                        </p:attrNameLst>
                                      </p:cBhvr>
                                      <p:to>
                                        <p:strVal val="visible"/>
                                      </p:to>
                                    </p:set>
                                    <p:anim calcmode="lin" valueType="num">
                                      <p:cBhvr additive="base">
                                        <p:cTn id="51"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0">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0">
                                            <p:txEl>
                                              <p:pRg st="10" end="10"/>
                                            </p:txEl>
                                          </p:spTgt>
                                        </p:tgtEl>
                                        <p:attrNameLst>
                                          <p:attrName>style.visibility</p:attrName>
                                        </p:attrNameLst>
                                      </p:cBhvr>
                                      <p:to>
                                        <p:strVal val="visible"/>
                                      </p:to>
                                    </p:set>
                                    <p:anim calcmode="lin" valueType="num">
                                      <p:cBhvr additive="base">
                                        <p:cTn id="57"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0">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顺序表的查找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a:spLocks noGrp="1"/>
          </p:cNvSpPr>
          <p:nvPr>
            <p:ph idx="1"/>
          </p:nvPr>
        </p:nvSpPr>
        <p:spPr>
          <a:xfrm>
            <a:off x="453768" y="965082"/>
            <a:ext cx="10828867" cy="3378318"/>
          </a:xfrm>
        </p:spPr>
        <p:txBody>
          <a:bodyPr>
            <a:normAutofit lnSpcReduction="10000"/>
          </a:bodyPr>
          <a:lstStyle/>
          <a:p>
            <a:pPr>
              <a:lnSpc>
                <a:spcPct val="125000"/>
              </a:lnSpc>
              <a:buFontTx/>
              <a:buNone/>
            </a:pPr>
            <a:r>
              <a:rPr lang="zh-CN" altLang="en-US" sz="2400" dirty="0">
                <a:latin typeface="微软雅黑" panose="020B0503020204020204" pitchFamily="34" charset="-122"/>
                <a:ea typeface="微软雅黑" panose="020B0503020204020204" pitchFamily="34" charset="-122"/>
              </a:rPr>
              <a:t>平均时间性能：</a:t>
            </a:r>
            <a:endParaRPr lang="en-US" altLang="zh-CN" sz="240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对顺序表而言，</a:t>
            </a:r>
            <a:r>
              <a:rPr lang="en-US" altLang="zh-CN" sz="2000" dirty="0">
                <a:latin typeface="微软雅黑" panose="020B0503020204020204" pitchFamily="34" charset="-122"/>
                <a:ea typeface="微软雅黑" panose="020B0503020204020204" pitchFamily="34" charset="-122"/>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i</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2000" dirty="0">
                <a:latin typeface="微软雅黑" panose="020B0503020204020204" pitchFamily="34" charset="-122"/>
                <a:ea typeface="微软雅黑" panose="020B0503020204020204" pitchFamily="34" charset="-122"/>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ASL = P1  + 2P2 + …  +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n-1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Pn-1+nPn</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在等概率查找的情况下</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endParaRPr lang="en-US" altLang="zh-CN" sz="200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顺序表查找的平均查找长度为（查找成功）：</a:t>
            </a:r>
            <a:endParaRPr lang="zh-CN" altLang="en-US" sz="2400" dirty="0">
              <a:latin typeface="微软雅黑" panose="020B0503020204020204" pitchFamily="34" charset="-122"/>
              <a:ea typeface="微软雅黑" panose="020B0503020204020204" pitchFamily="34" charset="-122"/>
            </a:endParaRPr>
          </a:p>
        </p:txBody>
      </p:sp>
      <p:graphicFrame>
        <p:nvGraphicFramePr>
          <p:cNvPr id="4" name="Object 6"/>
          <p:cNvGraphicFramePr>
            <a:graphicFrameLocks noChangeAspect="1"/>
          </p:cNvGraphicFramePr>
          <p:nvPr/>
        </p:nvGraphicFramePr>
        <p:xfrm>
          <a:off x="3604682" y="2628565"/>
          <a:ext cx="1109493" cy="1012101"/>
        </p:xfrm>
        <a:graphic>
          <a:graphicData uri="http://schemas.openxmlformats.org/presentationml/2006/ole">
            <mc:AlternateContent xmlns:mc="http://schemas.openxmlformats.org/markup-compatibility/2006">
              <mc:Choice xmlns:v="urn:schemas-microsoft-com:vml" Requires="v">
                <p:oleObj spid="_x0000_s3077" name="公式" r:id="rId1" imgW="431800" imgH="393700" progId="Equation.3">
                  <p:embed/>
                </p:oleObj>
              </mc:Choice>
              <mc:Fallback>
                <p:oleObj name="公式" r:id="rId1" imgW="431800" imgH="3937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4682" y="2628565"/>
                        <a:ext cx="1109493" cy="1012101"/>
                      </a:xfrm>
                      <a:prstGeom prst="rect">
                        <a:avLst/>
                      </a:prstGeom>
                      <a:noFill/>
                      <a:ln>
                        <a:noFill/>
                      </a:ln>
                      <a:effectLst/>
                    </p:spPr>
                  </p:pic>
                </p:oleObj>
              </mc:Fallback>
            </mc:AlternateContent>
          </a:graphicData>
        </a:graphic>
      </p:graphicFrame>
      <p:graphicFrame>
        <p:nvGraphicFramePr>
          <p:cNvPr id="5" name="Object 4"/>
          <p:cNvGraphicFramePr>
            <a:graphicFrameLocks noChangeAspect="1"/>
          </p:cNvGraphicFramePr>
          <p:nvPr/>
        </p:nvGraphicFramePr>
        <p:xfrm>
          <a:off x="3893252" y="4284830"/>
          <a:ext cx="4405495" cy="1378675"/>
        </p:xfrm>
        <a:graphic>
          <a:graphicData uri="http://schemas.openxmlformats.org/presentationml/2006/ole">
            <mc:AlternateContent xmlns:mc="http://schemas.openxmlformats.org/markup-compatibility/2006">
              <mc:Choice xmlns:v="urn:schemas-microsoft-com:vml" Requires="v">
                <p:oleObj spid="_x0000_s2" name="公式" r:id="rId3" imgW="1460500" imgH="457200" progId="Equation.3">
                  <p:embed/>
                </p:oleObj>
              </mc:Choice>
              <mc:Fallback>
                <p:oleObj name="公式" r:id="rId3" imgW="146050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3252" y="4284830"/>
                        <a:ext cx="4405495" cy="1378675"/>
                      </a:xfrm>
                      <a:prstGeom prst="rect">
                        <a:avLst/>
                      </a:prstGeom>
                      <a:noFill/>
                      <a:ln>
                        <a:noFill/>
                      </a:ln>
                      <a:effec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折半查找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内容占位符 2"/>
          <p:cNvSpPr>
            <a:spLocks noGrp="1"/>
          </p:cNvSpPr>
          <p:nvPr>
            <p:ph idx="1"/>
          </p:nvPr>
        </p:nvSpPr>
        <p:spPr>
          <a:xfrm>
            <a:off x="541866" y="965082"/>
            <a:ext cx="11108267" cy="4969933"/>
          </a:xfrm>
        </p:spPr>
        <p:txBody>
          <a:bodyPr>
            <a:normAutofit/>
          </a:bodyPr>
          <a:lstStyle/>
          <a:p>
            <a:pPr>
              <a:lnSpc>
                <a:spcPct val="125000"/>
              </a:lnSpc>
              <a:defRPr/>
            </a:pPr>
            <a:r>
              <a:rPr lang="zh-CN" altLang="en-US" sz="2400" dirty="0">
                <a:latin typeface="微软雅黑" panose="020B0503020204020204" pitchFamily="34" charset="-122"/>
                <a:ea typeface="微软雅黑" panose="020B0503020204020204" pitchFamily="34" charset="-122"/>
              </a:rPr>
              <a:t>上述顺序查找表的查找算法简单， 但平均查找长度较大，特别不适用于表长较大的查找表。</a:t>
            </a:r>
            <a:endParaRPr lang="zh-CN" altLang="en-US" sz="2400" dirty="0">
              <a:latin typeface="微软雅黑" panose="020B0503020204020204" pitchFamily="34" charset="-122"/>
              <a:ea typeface="微软雅黑" panose="020B0503020204020204" pitchFamily="34" charset="-122"/>
            </a:endParaRPr>
          </a:p>
          <a:p>
            <a:pPr>
              <a:lnSpc>
                <a:spcPct val="125000"/>
              </a:lnSpc>
              <a:defRPr/>
            </a:pPr>
            <a:r>
              <a:rPr lang="zh-CN" altLang="en-US" sz="2400" dirty="0">
                <a:latin typeface="微软雅黑" panose="020B0503020204020204" pitchFamily="34" charset="-122"/>
                <a:ea typeface="微软雅黑" panose="020B0503020204020204" pitchFamily="34" charset="-122"/>
              </a:rPr>
              <a:t>若以</a:t>
            </a:r>
            <a:r>
              <a:rPr lang="zh-CN" altLang="en-US" sz="2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有序表</a:t>
            </a:r>
            <a:r>
              <a:rPr lang="zh-CN" altLang="en-US" sz="2400" dirty="0">
                <a:latin typeface="微软雅黑" panose="020B0503020204020204" pitchFamily="34" charset="-122"/>
                <a:ea typeface="微软雅黑" panose="020B0503020204020204" pitchFamily="34" charset="-122"/>
              </a:rPr>
              <a:t>表示静态查找表，则查找过程可以基于“折半”进行。</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折半查找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457200" y="965082"/>
            <a:ext cx="11277600" cy="5207118"/>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折半查找</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查找过程：每次将待查记录所在区间缩小一半</a:t>
            </a:r>
            <a:endParaRPr lang="zh-CN" altLang="en-US"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适用条件：采用顺序存储结构的</a:t>
            </a:r>
            <a:r>
              <a:rPr lang="zh-CN" altLang="en-US" sz="2000" b="1" dirty="0">
                <a:solidFill>
                  <a:srgbClr val="FF0000"/>
                </a:solidFill>
                <a:latin typeface="微软雅黑" panose="020B0503020204020204" pitchFamily="34" charset="-122"/>
                <a:ea typeface="微软雅黑" panose="020B0503020204020204" pitchFamily="34" charset="-122"/>
              </a:rPr>
              <a:t>有序表</a:t>
            </a:r>
            <a:endParaRPr lang="zh-CN" altLang="en-US" sz="2000" b="1" dirty="0">
              <a:solidFill>
                <a:srgbClr val="FF0000"/>
              </a:solidFill>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算法实现：</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设表长为</a:t>
            </a:r>
            <a:r>
              <a:rPr lang="en-US" altLang="zh-CN" sz="1800" dirty="0">
                <a:latin typeface="微软雅黑" panose="020B0503020204020204" pitchFamily="34" charset="-122"/>
                <a:ea typeface="微软雅黑" panose="020B0503020204020204" pitchFamily="34" charset="-122"/>
              </a:rPr>
              <a:t>n</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low</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high</a:t>
            </a:r>
            <a:r>
              <a:rPr lang="zh-CN" altLang="en-US" sz="1800" dirty="0">
                <a:latin typeface="微软雅黑" panose="020B0503020204020204" pitchFamily="34" charset="-122"/>
                <a:ea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rPr>
              <a:t>mid</a:t>
            </a:r>
            <a:r>
              <a:rPr lang="zh-CN" altLang="en-US" sz="1800" dirty="0">
                <a:latin typeface="微软雅黑" panose="020B0503020204020204" pitchFamily="34" charset="-122"/>
                <a:ea typeface="微软雅黑" panose="020B0503020204020204" pitchFamily="34" charset="-122"/>
              </a:rPr>
              <a:t>分别指向待查元素所在区间的下界、上界和中点，</a:t>
            </a:r>
            <a:r>
              <a:rPr lang="en-US" altLang="zh-CN" sz="1800"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为给定值</a:t>
            </a:r>
            <a:endParaRPr lang="en-US" altLang="zh-CN" sz="18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初始时，令</a:t>
            </a:r>
            <a:r>
              <a:rPr lang="en-US" altLang="zh-CN" sz="1800" dirty="0">
                <a:latin typeface="微软雅黑" panose="020B0503020204020204" pitchFamily="34" charset="-122"/>
                <a:ea typeface="微软雅黑" panose="020B0503020204020204" pitchFamily="34" charset="-122"/>
              </a:rPr>
              <a:t>low = 0, high = n-1, mid = (low + high) / 2</a:t>
            </a:r>
            <a:br>
              <a:rPr lang="en-US" altLang="zh-CN" sz="1800" dirty="0">
                <a:latin typeface="微软雅黑" panose="020B0503020204020204" pitchFamily="34" charset="-122"/>
                <a:ea typeface="微软雅黑" panose="020B0503020204020204" pitchFamily="34" charset="-122"/>
              </a:rPr>
            </a:br>
            <a:r>
              <a:rPr lang="zh-CN" altLang="en-US" sz="1800" dirty="0">
                <a:latin typeface="微软雅黑" panose="020B0503020204020204" pitchFamily="34" charset="-122"/>
                <a:ea typeface="微软雅黑" panose="020B0503020204020204" pitchFamily="34" charset="-122"/>
              </a:rPr>
              <a:t>让</a:t>
            </a:r>
            <a:r>
              <a:rPr lang="en-US" altLang="zh-CN" sz="1800" dirty="0">
                <a:latin typeface="微软雅黑" panose="020B0503020204020204" pitchFamily="34" charset="-122"/>
                <a:ea typeface="微软雅黑" panose="020B0503020204020204" pitchFamily="34" charset="-122"/>
              </a:rPr>
              <a:t>k</a:t>
            </a:r>
            <a:r>
              <a:rPr lang="zh-CN" altLang="en-US" sz="1800" dirty="0">
                <a:latin typeface="微软雅黑" panose="020B0503020204020204" pitchFamily="34" charset="-122"/>
                <a:ea typeface="微软雅黑" panose="020B0503020204020204" pitchFamily="34" charset="-122"/>
              </a:rPr>
              <a:t>与</a:t>
            </a:r>
            <a:r>
              <a:rPr lang="en-US" altLang="zh-CN" sz="1800" dirty="0">
                <a:latin typeface="微软雅黑" panose="020B0503020204020204" pitchFamily="34" charset="-122"/>
                <a:ea typeface="微软雅黑" panose="020B0503020204020204" pitchFamily="34" charset="-122"/>
              </a:rPr>
              <a:t>mid</a:t>
            </a:r>
            <a:r>
              <a:rPr lang="zh-CN" altLang="en-US" sz="1800" dirty="0">
                <a:latin typeface="微软雅黑" panose="020B0503020204020204" pitchFamily="34" charset="-122"/>
                <a:ea typeface="微软雅黑" panose="020B0503020204020204" pitchFamily="34" charset="-122"/>
              </a:rPr>
              <a:t>指向的记录比较</a:t>
            </a:r>
            <a:endParaRPr lang="zh-CN" altLang="en-US" sz="1800" dirty="0">
              <a:latin typeface="微软雅黑" panose="020B0503020204020204" pitchFamily="34" charset="-122"/>
              <a:ea typeface="微软雅黑" panose="020B0503020204020204" pitchFamily="34" charset="-122"/>
            </a:endParaRPr>
          </a:p>
          <a:p>
            <a:pPr marL="1371600" lvl="3"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若</a:t>
            </a:r>
            <a:r>
              <a:rPr lang="en-US" altLang="zh-CN" dirty="0">
                <a:latin typeface="微软雅黑" panose="020B0503020204020204" pitchFamily="34" charset="-122"/>
                <a:ea typeface="微软雅黑" panose="020B0503020204020204" pitchFamily="34" charset="-122"/>
              </a:rPr>
              <a:t>k==r[mid].key</a:t>
            </a:r>
            <a:r>
              <a:rPr lang="zh-CN" altLang="en-US" dirty="0">
                <a:latin typeface="微软雅黑" panose="020B0503020204020204" pitchFamily="34" charset="-122"/>
                <a:ea typeface="微软雅黑" panose="020B0503020204020204" pitchFamily="34" charset="-122"/>
              </a:rPr>
              <a:t>，查找成功</a:t>
            </a:r>
            <a:endParaRPr lang="zh-CN" altLang="en-US" dirty="0">
              <a:latin typeface="微软雅黑" panose="020B0503020204020204" pitchFamily="34" charset="-122"/>
              <a:ea typeface="微软雅黑" panose="020B0503020204020204" pitchFamily="34" charset="-122"/>
            </a:endParaRPr>
          </a:p>
          <a:p>
            <a:pPr marL="1371600" lvl="3"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若</a:t>
            </a:r>
            <a:r>
              <a:rPr lang="en-US" altLang="zh-CN" dirty="0">
                <a:latin typeface="微软雅黑" panose="020B0503020204020204" pitchFamily="34" charset="-122"/>
                <a:ea typeface="微软雅黑" panose="020B0503020204020204" pitchFamily="34" charset="-122"/>
              </a:rPr>
              <a:t>k&lt;r[mid].key</a:t>
            </a:r>
            <a:r>
              <a:rPr lang="zh-CN" altLang="en-US" dirty="0">
                <a:latin typeface="微软雅黑" panose="020B0503020204020204" pitchFamily="34" charset="-122"/>
                <a:ea typeface="微软雅黑" panose="020B0503020204020204" pitchFamily="34" charset="-122"/>
              </a:rPr>
              <a:t>，则</a:t>
            </a:r>
            <a:r>
              <a:rPr lang="en-US" altLang="zh-CN" dirty="0">
                <a:latin typeface="微软雅黑" panose="020B0503020204020204" pitchFamily="34" charset="-122"/>
                <a:ea typeface="微软雅黑" panose="020B0503020204020204" pitchFamily="34" charset="-122"/>
              </a:rPr>
              <a:t>high=mid-1</a:t>
            </a:r>
            <a:endParaRPr lang="en-US" altLang="zh-CN" dirty="0">
              <a:latin typeface="微软雅黑" panose="020B0503020204020204" pitchFamily="34" charset="-122"/>
              <a:ea typeface="微软雅黑" panose="020B0503020204020204" pitchFamily="34" charset="-122"/>
            </a:endParaRPr>
          </a:p>
          <a:p>
            <a:pPr marL="1371600" lvl="3"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若</a:t>
            </a:r>
            <a:r>
              <a:rPr lang="en-US" altLang="zh-CN" dirty="0">
                <a:latin typeface="微软雅黑" panose="020B0503020204020204" pitchFamily="34" charset="-122"/>
                <a:ea typeface="微软雅黑" panose="020B0503020204020204" pitchFamily="34" charset="-122"/>
              </a:rPr>
              <a:t>k&gt;r[mid].key</a:t>
            </a:r>
            <a:r>
              <a:rPr lang="zh-CN" altLang="en-US" dirty="0">
                <a:latin typeface="微软雅黑" panose="020B0503020204020204" pitchFamily="34" charset="-122"/>
                <a:ea typeface="微软雅黑" panose="020B0503020204020204" pitchFamily="34" charset="-122"/>
              </a:rPr>
              <a:t>，则</a:t>
            </a:r>
            <a:r>
              <a:rPr lang="en-US" altLang="zh-CN" dirty="0">
                <a:latin typeface="微软雅黑" panose="020B0503020204020204" pitchFamily="34" charset="-122"/>
                <a:ea typeface="微软雅黑" panose="020B0503020204020204" pitchFamily="34" charset="-122"/>
              </a:rPr>
              <a:t>low=mid+1</a:t>
            </a:r>
            <a:endParaRPr lang="en-US" altLang="zh-CN"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重复上述操作，直至</a:t>
            </a:r>
            <a:r>
              <a:rPr lang="en-US" altLang="zh-CN" sz="1800" dirty="0">
                <a:latin typeface="微软雅黑" panose="020B0503020204020204" pitchFamily="34" charset="-122"/>
                <a:ea typeface="微软雅黑" panose="020B0503020204020204" pitchFamily="34" charset="-122"/>
              </a:rPr>
              <a:t>low&gt;high</a:t>
            </a:r>
            <a:r>
              <a:rPr lang="zh-CN" altLang="en-US" sz="1800" dirty="0">
                <a:latin typeface="微软雅黑" panose="020B0503020204020204" pitchFamily="34" charset="-122"/>
                <a:ea typeface="微软雅黑" panose="020B0503020204020204" pitchFamily="34" charset="-122"/>
              </a:rPr>
              <a:t>时，查找失败</a:t>
            </a:r>
            <a:endParaRPr lang="zh-CN" altLang="en-US" sz="18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折半查找示例 </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 name="内容占位符 3"/>
          <p:cNvGraphicFramePr>
            <a:graphicFrameLocks noGrp="1"/>
          </p:cNvGraphicFramePr>
          <p:nvPr>
            <p:ph idx="1"/>
          </p:nvPr>
        </p:nvGraphicFramePr>
        <p:xfrm>
          <a:off x="304800" y="1330334"/>
          <a:ext cx="11446930" cy="858830"/>
        </p:xfrm>
        <a:graphic>
          <a:graphicData uri="http://schemas.openxmlformats.org/drawingml/2006/table">
            <a:tbl>
              <a:tblPr firstRow="1" bandRow="1">
                <a:tableStyleId>{5940675A-B579-460E-94D1-54222C63F5DA}</a:tableStyleId>
              </a:tblPr>
              <a:tblGrid>
                <a:gridCol w="1040630"/>
                <a:gridCol w="1040630"/>
                <a:gridCol w="1040630"/>
                <a:gridCol w="1040630"/>
                <a:gridCol w="1040630"/>
                <a:gridCol w="1040630"/>
                <a:gridCol w="1040630"/>
                <a:gridCol w="1040630"/>
                <a:gridCol w="1040630"/>
                <a:gridCol w="1040630"/>
                <a:gridCol w="1040630"/>
              </a:tblGrid>
              <a:tr h="429415">
                <a:tc>
                  <a:txBody>
                    <a:bodyPr/>
                    <a:lstStyle/>
                    <a:p>
                      <a:pPr algn="ctr"/>
                      <a:r>
                        <a:rPr lang="en-US" altLang="zh-CN" sz="1800" dirty="0">
                          <a:latin typeface="微软雅黑" panose="020B0503020204020204" pitchFamily="34" charset="-122"/>
                          <a:ea typeface="微软雅黑" panose="020B0503020204020204" pitchFamily="34" charset="-122"/>
                        </a:rPr>
                        <a:t>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8</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9</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29415">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25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30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48</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52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67</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79</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r>
            </a:tbl>
          </a:graphicData>
        </a:graphic>
      </p:graphicFrame>
      <p:cxnSp>
        <p:nvCxnSpPr>
          <p:cNvPr id="6" name="直接箭头连接符 5"/>
          <p:cNvCxnSpPr>
            <a:cxnSpLocks noChangeShapeType="1"/>
          </p:cNvCxnSpPr>
          <p:nvPr/>
        </p:nvCxnSpPr>
        <p:spPr bwMode="auto">
          <a:xfrm flipV="1">
            <a:off x="819060" y="2144508"/>
            <a:ext cx="4419" cy="529641"/>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7" name="直接箭头连接符 6"/>
          <p:cNvCxnSpPr>
            <a:cxnSpLocks noChangeShapeType="1"/>
          </p:cNvCxnSpPr>
          <p:nvPr/>
        </p:nvCxnSpPr>
        <p:spPr bwMode="auto">
          <a:xfrm flipV="1">
            <a:off x="11208925" y="2137358"/>
            <a:ext cx="220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8" name="直接箭头连接符 7"/>
          <p:cNvCxnSpPr>
            <a:cxnSpLocks noChangeShapeType="1"/>
          </p:cNvCxnSpPr>
          <p:nvPr/>
        </p:nvCxnSpPr>
        <p:spPr bwMode="auto">
          <a:xfrm flipV="1">
            <a:off x="6036733" y="2137358"/>
            <a:ext cx="220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sp>
        <p:nvSpPr>
          <p:cNvPr id="9" name="TextBox 8"/>
          <p:cNvSpPr txBox="1">
            <a:spLocks noChangeArrowheads="1"/>
          </p:cNvSpPr>
          <p:nvPr/>
        </p:nvSpPr>
        <p:spPr bwMode="auto">
          <a:xfrm>
            <a:off x="228600" y="2603613"/>
            <a:ext cx="127188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ea typeface="微软雅黑" panose="020B0503020204020204" pitchFamily="34" charset="-122"/>
                <a:cs typeface="Times New Roman" panose="02020603050405020304" pitchFamily="18" charset="0"/>
              </a:rPr>
              <a:t>low</a:t>
            </a:r>
            <a:endParaRPr lang="en-US" altLang="zh-CN" sz="2000" b="0" dirty="0">
              <a:ea typeface="微软雅黑" panose="020B0503020204020204" pitchFamily="34" charset="-122"/>
              <a:cs typeface="Times New Roman" panose="02020603050405020304" pitchFamily="18" charset="0"/>
            </a:endParaRPr>
          </a:p>
        </p:txBody>
      </p:sp>
      <p:sp>
        <p:nvSpPr>
          <p:cNvPr id="10" name="TextBox 9"/>
          <p:cNvSpPr txBox="1">
            <a:spLocks noChangeArrowheads="1"/>
          </p:cNvSpPr>
          <p:nvPr/>
        </p:nvSpPr>
        <p:spPr bwMode="auto">
          <a:xfrm>
            <a:off x="5400792" y="2625824"/>
            <a:ext cx="127188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ea typeface="微软雅黑" panose="020B0503020204020204" pitchFamily="34" charset="-122"/>
                <a:cs typeface="Times New Roman" panose="02020603050405020304" pitchFamily="18" charset="0"/>
              </a:rPr>
              <a:t>mid</a:t>
            </a:r>
            <a:endParaRPr lang="en-US" altLang="zh-CN" sz="2000" b="0" dirty="0">
              <a:ea typeface="微软雅黑" panose="020B0503020204020204" pitchFamily="34" charset="-122"/>
              <a:cs typeface="Times New Roman" panose="02020603050405020304" pitchFamily="18" charset="0"/>
            </a:endParaRPr>
          </a:p>
        </p:txBody>
      </p:sp>
      <p:sp>
        <p:nvSpPr>
          <p:cNvPr id="11" name="TextBox 10"/>
          <p:cNvSpPr txBox="1">
            <a:spLocks noChangeArrowheads="1"/>
          </p:cNvSpPr>
          <p:nvPr/>
        </p:nvSpPr>
        <p:spPr bwMode="auto">
          <a:xfrm>
            <a:off x="10572984" y="2596078"/>
            <a:ext cx="127188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ea typeface="微软雅黑" panose="020B0503020204020204" pitchFamily="34" charset="-122"/>
                <a:cs typeface="Times New Roman" panose="02020603050405020304" pitchFamily="18" charset="0"/>
              </a:rPr>
              <a:t>high</a:t>
            </a:r>
            <a:endParaRPr lang="en-US" altLang="zh-CN" sz="2000" b="0" dirty="0">
              <a:ea typeface="微软雅黑" panose="020B0503020204020204" pitchFamily="34" charset="-122"/>
              <a:cs typeface="Times New Roman" panose="02020603050405020304" pitchFamily="18" charset="0"/>
            </a:endParaRPr>
          </a:p>
        </p:txBody>
      </p:sp>
      <p:graphicFrame>
        <p:nvGraphicFramePr>
          <p:cNvPr id="12" name="内容占位符 3"/>
          <p:cNvGraphicFramePr/>
          <p:nvPr/>
        </p:nvGraphicFramePr>
        <p:xfrm>
          <a:off x="228600" y="3082934"/>
          <a:ext cx="11446930" cy="858830"/>
        </p:xfrm>
        <a:graphic>
          <a:graphicData uri="http://schemas.openxmlformats.org/drawingml/2006/table">
            <a:tbl>
              <a:tblPr firstRow="1" bandRow="1">
                <a:tableStyleId>{5940675A-B579-460E-94D1-54222C63F5DA}</a:tableStyleId>
              </a:tblPr>
              <a:tblGrid>
                <a:gridCol w="1040630"/>
                <a:gridCol w="1040630"/>
                <a:gridCol w="1040630"/>
                <a:gridCol w="1040630"/>
                <a:gridCol w="1040630"/>
                <a:gridCol w="1040630"/>
                <a:gridCol w="1040630"/>
                <a:gridCol w="1040630"/>
                <a:gridCol w="1040630"/>
                <a:gridCol w="1040630"/>
                <a:gridCol w="1040630"/>
              </a:tblGrid>
              <a:tr h="429415">
                <a:tc>
                  <a:txBody>
                    <a:bodyPr/>
                    <a:lstStyle/>
                    <a:p>
                      <a:pPr algn="ctr"/>
                      <a:r>
                        <a:rPr lang="en-US" altLang="zh-CN" sz="1800" dirty="0">
                          <a:latin typeface="微软雅黑" panose="020B0503020204020204" pitchFamily="34" charset="-122"/>
                          <a:ea typeface="微软雅黑" panose="020B0503020204020204" pitchFamily="34" charset="-122"/>
                        </a:rPr>
                        <a:t>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8</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9</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29415">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25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30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48</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52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67</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79</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r>
            </a:tbl>
          </a:graphicData>
        </a:graphic>
      </p:graphicFrame>
      <p:cxnSp>
        <p:nvCxnSpPr>
          <p:cNvPr id="13" name="直接箭头连接符 12"/>
          <p:cNvCxnSpPr>
            <a:cxnSpLocks noChangeShapeType="1"/>
          </p:cNvCxnSpPr>
          <p:nvPr/>
        </p:nvCxnSpPr>
        <p:spPr bwMode="auto">
          <a:xfrm flipV="1">
            <a:off x="777050" y="3889959"/>
            <a:ext cx="4419" cy="529641"/>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sp>
        <p:nvSpPr>
          <p:cNvPr id="14" name="TextBox 15"/>
          <p:cNvSpPr txBox="1">
            <a:spLocks noChangeArrowheads="1"/>
          </p:cNvSpPr>
          <p:nvPr/>
        </p:nvSpPr>
        <p:spPr bwMode="auto">
          <a:xfrm>
            <a:off x="152400" y="4356213"/>
            <a:ext cx="127188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ea typeface="微软雅黑" panose="020B0503020204020204" pitchFamily="34" charset="-122"/>
                <a:cs typeface="Times New Roman" panose="02020603050405020304" pitchFamily="18" charset="0"/>
              </a:rPr>
              <a:t>low</a:t>
            </a:r>
            <a:endParaRPr lang="en-US" altLang="zh-CN" sz="2000" b="0" dirty="0">
              <a:ea typeface="微软雅黑" panose="020B0503020204020204" pitchFamily="34" charset="-122"/>
              <a:cs typeface="Times New Roman" panose="02020603050405020304" pitchFamily="18" charset="0"/>
            </a:endParaRPr>
          </a:p>
        </p:txBody>
      </p:sp>
      <p:sp>
        <p:nvSpPr>
          <p:cNvPr id="15" name="TextBox 16"/>
          <p:cNvSpPr txBox="1">
            <a:spLocks noChangeArrowheads="1"/>
          </p:cNvSpPr>
          <p:nvPr/>
        </p:nvSpPr>
        <p:spPr bwMode="auto">
          <a:xfrm>
            <a:off x="2161187" y="4426769"/>
            <a:ext cx="127188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ea typeface="微软雅黑" panose="020B0503020204020204" pitchFamily="34" charset="-122"/>
                <a:cs typeface="Times New Roman" panose="02020603050405020304" pitchFamily="18" charset="0"/>
              </a:rPr>
              <a:t>mid</a:t>
            </a:r>
            <a:endParaRPr lang="en-US" altLang="zh-CN" sz="2000" b="0" dirty="0">
              <a:ea typeface="微软雅黑" panose="020B0503020204020204" pitchFamily="34" charset="-122"/>
              <a:cs typeface="Times New Roman" panose="02020603050405020304" pitchFamily="18" charset="0"/>
            </a:endParaRPr>
          </a:p>
        </p:txBody>
      </p:sp>
      <p:sp>
        <p:nvSpPr>
          <p:cNvPr id="16" name="TextBox 17"/>
          <p:cNvSpPr txBox="1">
            <a:spLocks noChangeArrowheads="1"/>
          </p:cNvSpPr>
          <p:nvPr/>
        </p:nvSpPr>
        <p:spPr bwMode="auto">
          <a:xfrm>
            <a:off x="4234251" y="4441111"/>
            <a:ext cx="127188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ea typeface="微软雅黑" panose="020B0503020204020204" pitchFamily="34" charset="-122"/>
                <a:cs typeface="Times New Roman" panose="02020603050405020304" pitchFamily="18" charset="0"/>
              </a:rPr>
              <a:t>high</a:t>
            </a:r>
            <a:endParaRPr lang="en-US" altLang="zh-CN" sz="2000" b="0" dirty="0">
              <a:ea typeface="微软雅黑" panose="020B0503020204020204" pitchFamily="34" charset="-122"/>
              <a:cs typeface="Times New Roman" panose="02020603050405020304" pitchFamily="18" charset="0"/>
            </a:endParaRPr>
          </a:p>
        </p:txBody>
      </p:sp>
      <p:graphicFrame>
        <p:nvGraphicFramePr>
          <p:cNvPr id="17" name="内容占位符 3"/>
          <p:cNvGraphicFramePr/>
          <p:nvPr/>
        </p:nvGraphicFramePr>
        <p:xfrm>
          <a:off x="304800" y="4759334"/>
          <a:ext cx="11446930" cy="858830"/>
        </p:xfrm>
        <a:graphic>
          <a:graphicData uri="http://schemas.openxmlformats.org/drawingml/2006/table">
            <a:tbl>
              <a:tblPr firstRow="1" bandRow="1">
                <a:tableStyleId>{5940675A-B579-460E-94D1-54222C63F5DA}</a:tableStyleId>
              </a:tblPr>
              <a:tblGrid>
                <a:gridCol w="1040630"/>
                <a:gridCol w="1040630"/>
                <a:gridCol w="1040630"/>
                <a:gridCol w="1040630"/>
                <a:gridCol w="1040630"/>
                <a:gridCol w="1040630"/>
                <a:gridCol w="1040630"/>
                <a:gridCol w="1040630"/>
                <a:gridCol w="1040630"/>
                <a:gridCol w="1040630"/>
                <a:gridCol w="1040630"/>
              </a:tblGrid>
              <a:tr h="429415">
                <a:tc>
                  <a:txBody>
                    <a:bodyPr/>
                    <a:lstStyle/>
                    <a:p>
                      <a:pPr algn="ctr"/>
                      <a:r>
                        <a:rPr lang="en-US" altLang="zh-CN" sz="1800" dirty="0">
                          <a:latin typeface="微软雅黑" panose="020B0503020204020204" pitchFamily="34" charset="-122"/>
                          <a:ea typeface="微软雅黑" panose="020B0503020204020204" pitchFamily="34" charset="-122"/>
                        </a:rPr>
                        <a:t>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8</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9</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29415">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25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30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48</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52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67</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79</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r>
            </a:tbl>
          </a:graphicData>
        </a:graphic>
      </p:graphicFrame>
      <p:cxnSp>
        <p:nvCxnSpPr>
          <p:cNvPr id="18" name="直接箭头连接符 19"/>
          <p:cNvCxnSpPr>
            <a:cxnSpLocks noChangeShapeType="1"/>
          </p:cNvCxnSpPr>
          <p:nvPr/>
        </p:nvCxnSpPr>
        <p:spPr bwMode="auto">
          <a:xfrm flipV="1">
            <a:off x="3751785" y="5583614"/>
            <a:ext cx="220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19" name="直接箭头连接符 20"/>
          <p:cNvCxnSpPr>
            <a:cxnSpLocks noChangeShapeType="1"/>
          </p:cNvCxnSpPr>
          <p:nvPr/>
        </p:nvCxnSpPr>
        <p:spPr bwMode="auto">
          <a:xfrm flipV="1">
            <a:off x="5001264" y="5566358"/>
            <a:ext cx="220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20" name="直接箭头连接符 21"/>
          <p:cNvCxnSpPr>
            <a:cxnSpLocks noChangeShapeType="1"/>
          </p:cNvCxnSpPr>
          <p:nvPr/>
        </p:nvCxnSpPr>
        <p:spPr bwMode="auto">
          <a:xfrm flipV="1">
            <a:off x="4232042" y="5583614"/>
            <a:ext cx="220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sp>
        <p:nvSpPr>
          <p:cNvPr id="21" name="TextBox 22"/>
          <p:cNvSpPr txBox="1">
            <a:spLocks noChangeArrowheads="1"/>
          </p:cNvSpPr>
          <p:nvPr/>
        </p:nvSpPr>
        <p:spPr bwMode="auto">
          <a:xfrm>
            <a:off x="3026801" y="6076391"/>
            <a:ext cx="12718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cs typeface="Times New Roman" panose="02020603050405020304" pitchFamily="18" charset="0"/>
              </a:rPr>
              <a:t>low</a:t>
            </a:r>
            <a:endParaRPr lang="zh-CN" altLang="en-US" sz="2000" b="0" dirty="0">
              <a:cs typeface="Times New Roman" panose="02020603050405020304" pitchFamily="18" charset="0"/>
            </a:endParaRPr>
          </a:p>
        </p:txBody>
      </p:sp>
      <p:sp>
        <p:nvSpPr>
          <p:cNvPr id="22" name="TextBox 23"/>
          <p:cNvSpPr txBox="1">
            <a:spLocks noChangeArrowheads="1"/>
          </p:cNvSpPr>
          <p:nvPr/>
        </p:nvSpPr>
        <p:spPr bwMode="auto">
          <a:xfrm>
            <a:off x="3596101" y="6069262"/>
            <a:ext cx="12718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cs typeface="Times New Roman" panose="02020603050405020304" pitchFamily="18" charset="0"/>
              </a:rPr>
              <a:t>mid</a:t>
            </a:r>
            <a:endParaRPr lang="zh-CN" altLang="en-US" sz="2000" b="0" dirty="0">
              <a:cs typeface="Times New Roman" panose="02020603050405020304" pitchFamily="18" charset="0"/>
            </a:endParaRPr>
          </a:p>
        </p:txBody>
      </p:sp>
      <p:sp>
        <p:nvSpPr>
          <p:cNvPr id="23" name="TextBox 24"/>
          <p:cNvSpPr txBox="1">
            <a:spLocks noChangeArrowheads="1"/>
          </p:cNvSpPr>
          <p:nvPr/>
        </p:nvSpPr>
        <p:spPr bwMode="auto">
          <a:xfrm>
            <a:off x="4365323" y="6069262"/>
            <a:ext cx="12718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cs typeface="Times New Roman" panose="02020603050405020304" pitchFamily="18" charset="0"/>
              </a:rPr>
              <a:t>high</a:t>
            </a:r>
            <a:endParaRPr lang="zh-CN" altLang="en-US" sz="2000" b="0" dirty="0">
              <a:cs typeface="Times New Roman" panose="02020603050405020304" pitchFamily="18" charset="0"/>
            </a:endParaRPr>
          </a:p>
        </p:txBody>
      </p:sp>
      <p:cxnSp>
        <p:nvCxnSpPr>
          <p:cNvPr id="24" name="直接箭头连接符 31"/>
          <p:cNvCxnSpPr>
            <a:cxnSpLocks noChangeShapeType="1"/>
          </p:cNvCxnSpPr>
          <p:nvPr/>
        </p:nvCxnSpPr>
        <p:spPr bwMode="auto">
          <a:xfrm flipV="1">
            <a:off x="4871439" y="3912692"/>
            <a:ext cx="220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25" name="直接箭头连接符 32"/>
          <p:cNvCxnSpPr>
            <a:cxnSpLocks noChangeShapeType="1"/>
          </p:cNvCxnSpPr>
          <p:nvPr/>
        </p:nvCxnSpPr>
        <p:spPr bwMode="auto">
          <a:xfrm flipV="1">
            <a:off x="2797128" y="3889958"/>
            <a:ext cx="220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sp>
        <p:nvSpPr>
          <p:cNvPr id="26" name="椭圆形标注 33"/>
          <p:cNvSpPr>
            <a:spLocks noChangeArrowheads="1"/>
          </p:cNvSpPr>
          <p:nvPr/>
        </p:nvSpPr>
        <p:spPr bwMode="auto">
          <a:xfrm>
            <a:off x="8489841" y="736049"/>
            <a:ext cx="1801833" cy="529642"/>
          </a:xfrm>
          <a:prstGeom prst="wedgeEllipseCallout">
            <a:avLst>
              <a:gd name="adj1" fmla="val -37500"/>
              <a:gd name="adj2" fmla="val 68384"/>
            </a:avLst>
          </a:prstGeom>
          <a:solidFill>
            <a:schemeClr val="accent1"/>
          </a:solidFill>
          <a:ln w="3175" algn="ctr">
            <a:solidFill>
              <a:schemeClr val="tx2"/>
            </a:solidFill>
            <a:round/>
          </a:ln>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dirty="0">
                <a:solidFill>
                  <a:srgbClr val="FFFFFF"/>
                </a:solidFill>
                <a:latin typeface="微软雅黑" panose="020B0503020204020204" pitchFamily="34" charset="-122"/>
                <a:ea typeface="微软雅黑" panose="020B0503020204020204" pitchFamily="34" charset="-122"/>
              </a:rPr>
              <a:t>查找</a:t>
            </a:r>
            <a:r>
              <a:rPr lang="en-US" altLang="zh-CN" sz="1800" dirty="0">
                <a:solidFill>
                  <a:srgbClr val="FFFFFF"/>
                </a:solidFill>
                <a:latin typeface="微软雅黑" panose="020B0503020204020204" pitchFamily="34" charset="-122"/>
                <a:ea typeface="微软雅黑" panose="020B0503020204020204" pitchFamily="34" charset="-122"/>
              </a:rPr>
              <a:t>25</a:t>
            </a:r>
            <a:endParaRPr lang="zh-CN" altLang="en-US" sz="1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par>
                                <p:cTn id="14" presetID="3" presetClass="entr" presetSubtype="1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linds(horizontal)">
                                      <p:cBhvr>
                                        <p:cTn id="25" dur="500"/>
                                        <p:tgtEl>
                                          <p:spTgt spid="11"/>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blinds(horizontal)">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0-#ppt_h/2"/>
                                          </p:val>
                                        </p:tav>
                                        <p:tav tm="100000">
                                          <p:val>
                                            <p:strVal val="#ppt_y"/>
                                          </p:val>
                                        </p:tav>
                                      </p:tavLst>
                                    </p:anim>
                                  </p:childTnLst>
                                </p:cTn>
                              </p:par>
                              <p:par>
                                <p:cTn id="35" presetID="2" presetClass="entr" presetSubtype="1"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0-#ppt_h/2"/>
                                          </p:val>
                                        </p:tav>
                                        <p:tav tm="100000">
                                          <p:val>
                                            <p:strVal val="#ppt_y"/>
                                          </p:val>
                                        </p:tav>
                                      </p:tavLst>
                                    </p:anim>
                                  </p:childTnLst>
                                </p:cTn>
                              </p:par>
                              <p:par>
                                <p:cTn id="39" presetID="2" presetClass="entr" presetSubtype="1"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additive="base">
                                        <p:cTn id="45" dur="500" fill="hold"/>
                                        <p:tgtEl>
                                          <p:spTgt spid="25"/>
                                        </p:tgtEl>
                                        <p:attrNameLst>
                                          <p:attrName>ppt_x</p:attrName>
                                        </p:attrNameLst>
                                      </p:cBhvr>
                                      <p:tavLst>
                                        <p:tav tm="0">
                                          <p:val>
                                            <p:strVal val="#ppt_x"/>
                                          </p:val>
                                        </p:tav>
                                        <p:tav tm="100000">
                                          <p:val>
                                            <p:strVal val="#ppt_x"/>
                                          </p:val>
                                        </p:tav>
                                      </p:tavLst>
                                    </p:anim>
                                    <p:anim calcmode="lin" valueType="num">
                                      <p:cBhvr additive="base">
                                        <p:cTn id="46" dur="500" fill="hold"/>
                                        <p:tgtEl>
                                          <p:spTgt spid="25"/>
                                        </p:tgtEl>
                                        <p:attrNameLst>
                                          <p:attrName>ppt_y</p:attrName>
                                        </p:attrNameLst>
                                      </p:cBhvr>
                                      <p:tavLst>
                                        <p:tav tm="0">
                                          <p:val>
                                            <p:strVal val="0-#ppt_h/2"/>
                                          </p:val>
                                        </p:tav>
                                        <p:tav tm="100000">
                                          <p:val>
                                            <p:strVal val="#ppt_y"/>
                                          </p:val>
                                        </p:tav>
                                      </p:tavLst>
                                    </p:anim>
                                  </p:childTnLst>
                                </p:cTn>
                              </p:par>
                              <p:par>
                                <p:cTn id="47" presetID="2" presetClass="entr" presetSubtype="1"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0-#ppt_h/2"/>
                                          </p:val>
                                        </p:tav>
                                        <p:tav tm="100000">
                                          <p:val>
                                            <p:strVal val="#ppt_y"/>
                                          </p:val>
                                        </p:tav>
                                      </p:tavLst>
                                    </p:anim>
                                  </p:childTnLst>
                                </p:cTn>
                              </p:par>
                              <p:par>
                                <p:cTn id="51" presetID="2" presetClass="entr" presetSubtype="1" fill="hold" nodeType="with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additive="base">
                                        <p:cTn id="53" dur="500" fill="hold"/>
                                        <p:tgtEl>
                                          <p:spTgt spid="24"/>
                                        </p:tgtEl>
                                        <p:attrNameLst>
                                          <p:attrName>ppt_x</p:attrName>
                                        </p:attrNameLst>
                                      </p:cBhvr>
                                      <p:tavLst>
                                        <p:tav tm="0">
                                          <p:val>
                                            <p:strVal val="#ppt_x"/>
                                          </p:val>
                                        </p:tav>
                                        <p:tav tm="100000">
                                          <p:val>
                                            <p:strVal val="#ppt_x"/>
                                          </p:val>
                                        </p:tav>
                                      </p:tavLst>
                                    </p:anim>
                                    <p:anim calcmode="lin" valueType="num">
                                      <p:cBhvr additive="base">
                                        <p:cTn id="54" dur="500" fill="hold"/>
                                        <p:tgtEl>
                                          <p:spTgt spid="24"/>
                                        </p:tgtEl>
                                        <p:attrNameLst>
                                          <p:attrName>ppt_y</p:attrName>
                                        </p:attrNameLst>
                                      </p:cBhvr>
                                      <p:tavLst>
                                        <p:tav tm="0">
                                          <p:val>
                                            <p:strVal val="0-#ppt_h/2"/>
                                          </p:val>
                                        </p:tav>
                                        <p:tav tm="100000">
                                          <p:val>
                                            <p:strVal val="#ppt_y"/>
                                          </p:val>
                                        </p:tav>
                                      </p:tavLst>
                                    </p:anim>
                                  </p:childTnLst>
                                </p:cTn>
                              </p:par>
                              <p:par>
                                <p:cTn id="55" presetID="2" presetClass="entr" presetSubtype="1"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1"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ppt_x</p:attrName>
                                        </p:attrNameLst>
                                      </p:cBhvr>
                                      <p:tavLst>
                                        <p:tav tm="0">
                                          <p:val>
                                            <p:strVal val="#ppt_x"/>
                                          </p:val>
                                        </p:tav>
                                        <p:tav tm="100000">
                                          <p:val>
                                            <p:strVal val="#ppt_x"/>
                                          </p:val>
                                        </p:tav>
                                      </p:tavLst>
                                    </p:anim>
                                    <p:anim calcmode="lin" valueType="num">
                                      <p:cBhvr additive="base">
                                        <p:cTn id="64" dur="500" fill="hold"/>
                                        <p:tgtEl>
                                          <p:spTgt spid="17"/>
                                        </p:tgtEl>
                                        <p:attrNameLst>
                                          <p:attrName>ppt_y</p:attrName>
                                        </p:attrNameLst>
                                      </p:cBhvr>
                                      <p:tavLst>
                                        <p:tav tm="0">
                                          <p:val>
                                            <p:strVal val="0-#ppt_h/2"/>
                                          </p:val>
                                        </p:tav>
                                        <p:tav tm="100000">
                                          <p:val>
                                            <p:strVal val="#ppt_y"/>
                                          </p:val>
                                        </p:tav>
                                      </p:tavLst>
                                    </p:anim>
                                  </p:childTnLst>
                                </p:cTn>
                              </p:par>
                              <p:par>
                                <p:cTn id="65" presetID="2" presetClass="entr" presetSubtype="1"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0-#ppt_h/2"/>
                                          </p:val>
                                        </p:tav>
                                        <p:tav tm="100000">
                                          <p:val>
                                            <p:strVal val="#ppt_y"/>
                                          </p:val>
                                        </p:tav>
                                      </p:tavLst>
                                    </p:anim>
                                  </p:childTnLst>
                                </p:cTn>
                              </p:par>
                              <p:par>
                                <p:cTn id="69" presetID="2" presetClass="entr" presetSubtype="1"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0-#ppt_h/2"/>
                                          </p:val>
                                        </p:tav>
                                        <p:tav tm="100000">
                                          <p:val>
                                            <p:strVal val="#ppt_y"/>
                                          </p:val>
                                        </p:tav>
                                      </p:tavLst>
                                    </p:anim>
                                  </p:childTnLst>
                                </p:cTn>
                              </p:par>
                              <p:par>
                                <p:cTn id="73" presetID="2" presetClass="entr" presetSubtype="1" fill="hold" nodeType="with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500" fill="hold"/>
                                        <p:tgtEl>
                                          <p:spTgt spid="19"/>
                                        </p:tgtEl>
                                        <p:attrNameLst>
                                          <p:attrName>ppt_x</p:attrName>
                                        </p:attrNameLst>
                                      </p:cBhvr>
                                      <p:tavLst>
                                        <p:tav tm="0">
                                          <p:val>
                                            <p:strVal val="#ppt_x"/>
                                          </p:val>
                                        </p:tav>
                                        <p:tav tm="100000">
                                          <p:val>
                                            <p:strVal val="#ppt_x"/>
                                          </p:val>
                                        </p:tav>
                                      </p:tavLst>
                                    </p:anim>
                                    <p:anim calcmode="lin" valueType="num">
                                      <p:cBhvr additive="base">
                                        <p:cTn id="76" dur="500" fill="hold"/>
                                        <p:tgtEl>
                                          <p:spTgt spid="19"/>
                                        </p:tgtEl>
                                        <p:attrNameLst>
                                          <p:attrName>ppt_y</p:attrName>
                                        </p:attrNameLst>
                                      </p:cBhvr>
                                      <p:tavLst>
                                        <p:tav tm="0">
                                          <p:val>
                                            <p:strVal val="0-#ppt_h/2"/>
                                          </p:val>
                                        </p:tav>
                                        <p:tav tm="100000">
                                          <p:val>
                                            <p:strVal val="#ppt_y"/>
                                          </p:val>
                                        </p:tav>
                                      </p:tavLst>
                                    </p:anim>
                                  </p:childTnLst>
                                </p:cTn>
                              </p:par>
                              <p:par>
                                <p:cTn id="77" presetID="2" presetClass="entr" presetSubtype="1"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ppt_x</p:attrName>
                                        </p:attrNameLst>
                                      </p:cBhvr>
                                      <p:tavLst>
                                        <p:tav tm="0">
                                          <p:val>
                                            <p:strVal val="#ppt_x"/>
                                          </p:val>
                                        </p:tav>
                                        <p:tav tm="100000">
                                          <p:val>
                                            <p:strVal val="#ppt_x"/>
                                          </p:val>
                                        </p:tav>
                                      </p:tavLst>
                                    </p:anim>
                                    <p:anim calcmode="lin" valueType="num">
                                      <p:cBhvr additive="base">
                                        <p:cTn id="80" dur="500" fill="hold"/>
                                        <p:tgtEl>
                                          <p:spTgt spid="21"/>
                                        </p:tgtEl>
                                        <p:attrNameLst>
                                          <p:attrName>ppt_y</p:attrName>
                                        </p:attrNameLst>
                                      </p:cBhvr>
                                      <p:tavLst>
                                        <p:tav tm="0">
                                          <p:val>
                                            <p:strVal val="0-#ppt_h/2"/>
                                          </p:val>
                                        </p:tav>
                                        <p:tav tm="100000">
                                          <p:val>
                                            <p:strVal val="#ppt_y"/>
                                          </p:val>
                                        </p:tav>
                                      </p:tavLst>
                                    </p:anim>
                                  </p:childTnLst>
                                </p:cTn>
                              </p:par>
                              <p:par>
                                <p:cTn id="81" presetID="2" presetClass="entr" presetSubtype="1"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ppt_x</p:attrName>
                                        </p:attrNameLst>
                                      </p:cBhvr>
                                      <p:tavLst>
                                        <p:tav tm="0">
                                          <p:val>
                                            <p:strVal val="#ppt_x"/>
                                          </p:val>
                                        </p:tav>
                                        <p:tav tm="100000">
                                          <p:val>
                                            <p:strVal val="#ppt_x"/>
                                          </p:val>
                                        </p:tav>
                                      </p:tavLst>
                                    </p:anim>
                                    <p:anim calcmode="lin" valueType="num">
                                      <p:cBhvr additive="base">
                                        <p:cTn id="84" dur="500" fill="hold"/>
                                        <p:tgtEl>
                                          <p:spTgt spid="22"/>
                                        </p:tgtEl>
                                        <p:attrNameLst>
                                          <p:attrName>ppt_y</p:attrName>
                                        </p:attrNameLst>
                                      </p:cBhvr>
                                      <p:tavLst>
                                        <p:tav tm="0">
                                          <p:val>
                                            <p:strVal val="0-#ppt_h/2"/>
                                          </p:val>
                                        </p:tav>
                                        <p:tav tm="100000">
                                          <p:val>
                                            <p:strVal val="#ppt_y"/>
                                          </p:val>
                                        </p:tav>
                                      </p:tavLst>
                                    </p:anim>
                                  </p:childTnLst>
                                </p:cTn>
                              </p:par>
                              <p:par>
                                <p:cTn id="85" presetID="2" presetClass="entr" presetSubtype="1" fill="hold" grpId="0" nodeType="with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fill="hold"/>
                                        <p:tgtEl>
                                          <p:spTgt spid="23"/>
                                        </p:tgtEl>
                                        <p:attrNameLst>
                                          <p:attrName>ppt_x</p:attrName>
                                        </p:attrNameLst>
                                      </p:cBhvr>
                                      <p:tavLst>
                                        <p:tav tm="0">
                                          <p:val>
                                            <p:strVal val="#ppt_x"/>
                                          </p:val>
                                        </p:tav>
                                        <p:tav tm="100000">
                                          <p:val>
                                            <p:strVal val="#ppt_x"/>
                                          </p:val>
                                        </p:tav>
                                      </p:tavLst>
                                    </p:anim>
                                    <p:anim calcmode="lin" valueType="num">
                                      <p:cBhvr additive="base">
                                        <p:cTn id="88"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4" grpId="0"/>
      <p:bldP spid="15" grpId="0"/>
      <p:bldP spid="16" grpId="0"/>
      <p:bldP spid="21" grpId="0"/>
      <p:bldP spid="22" grpId="0"/>
      <p:bldP spid="23" grpId="0"/>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折半查找示例 </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 name="内容占位符 3"/>
          <p:cNvGraphicFramePr>
            <a:graphicFrameLocks noGrp="1"/>
          </p:cNvGraphicFramePr>
          <p:nvPr>
            <p:ph idx="1"/>
          </p:nvPr>
        </p:nvGraphicFramePr>
        <p:xfrm>
          <a:off x="304800" y="1158890"/>
          <a:ext cx="11497728" cy="858830"/>
        </p:xfrm>
        <a:graphic>
          <a:graphicData uri="http://schemas.openxmlformats.org/drawingml/2006/table">
            <a:tbl>
              <a:tblPr firstRow="1" bandRow="1">
                <a:tableStyleId>{5940675A-B579-460E-94D1-54222C63F5DA}</a:tableStyleId>
              </a:tblPr>
              <a:tblGrid>
                <a:gridCol w="1045248"/>
                <a:gridCol w="1045248"/>
                <a:gridCol w="1045248"/>
                <a:gridCol w="1045248"/>
                <a:gridCol w="1045248"/>
                <a:gridCol w="1045248"/>
                <a:gridCol w="1045248"/>
                <a:gridCol w="1045248"/>
                <a:gridCol w="1045248"/>
                <a:gridCol w="1045248"/>
                <a:gridCol w="1045248"/>
              </a:tblGrid>
              <a:tr h="429415">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0</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4</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5</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6</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7</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8</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9</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10</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29415">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3</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10</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12</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25</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30</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48</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52</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67</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70</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75</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79</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txBody>
                  <a:tcPr marT="45700" marB="45700">
                    <a:lnT w="12700" cap="flat" cmpd="sng" algn="ctr">
                      <a:solidFill>
                        <a:schemeClr val="tx1"/>
                      </a:solidFill>
                      <a:prstDash val="solid"/>
                      <a:round/>
                      <a:headEnd type="none" w="med" len="med"/>
                      <a:tailEnd type="none" w="med" len="med"/>
                    </a:lnT>
                  </a:tcPr>
                </a:tc>
              </a:tr>
            </a:tbl>
          </a:graphicData>
        </a:graphic>
      </p:graphicFrame>
      <p:cxnSp>
        <p:nvCxnSpPr>
          <p:cNvPr id="4" name="直接箭头连接符 5"/>
          <p:cNvCxnSpPr>
            <a:cxnSpLocks noChangeShapeType="1"/>
          </p:cNvCxnSpPr>
          <p:nvPr/>
        </p:nvCxnSpPr>
        <p:spPr bwMode="auto">
          <a:xfrm flipV="1">
            <a:off x="829841" y="2007573"/>
            <a:ext cx="4439" cy="529641"/>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27" name="直接箭头连接符 6"/>
          <p:cNvCxnSpPr>
            <a:cxnSpLocks noChangeShapeType="1"/>
          </p:cNvCxnSpPr>
          <p:nvPr/>
        </p:nvCxnSpPr>
        <p:spPr bwMode="auto">
          <a:xfrm flipV="1">
            <a:off x="11277600" y="1996065"/>
            <a:ext cx="221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28" name="直接箭头连接符 7"/>
          <p:cNvCxnSpPr>
            <a:cxnSpLocks noChangeShapeType="1"/>
          </p:cNvCxnSpPr>
          <p:nvPr/>
        </p:nvCxnSpPr>
        <p:spPr bwMode="auto">
          <a:xfrm flipV="1">
            <a:off x="6053664" y="1983718"/>
            <a:ext cx="221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sp>
        <p:nvSpPr>
          <p:cNvPr id="29" name="TextBox 8"/>
          <p:cNvSpPr txBox="1">
            <a:spLocks noChangeArrowheads="1"/>
          </p:cNvSpPr>
          <p:nvPr/>
        </p:nvSpPr>
        <p:spPr bwMode="auto">
          <a:xfrm>
            <a:off x="191077" y="2425679"/>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a:cs typeface="Times New Roman" panose="02020603050405020304" pitchFamily="18" charset="0"/>
              </a:rPr>
              <a:t>low</a:t>
            </a:r>
            <a:endParaRPr lang="zh-CN" altLang="en-US" sz="2000" b="0">
              <a:cs typeface="Times New Roman" panose="02020603050405020304" pitchFamily="18" charset="0"/>
            </a:endParaRPr>
          </a:p>
        </p:txBody>
      </p:sp>
      <p:sp>
        <p:nvSpPr>
          <p:cNvPr id="30" name="TextBox 9"/>
          <p:cNvSpPr txBox="1">
            <a:spLocks noChangeArrowheads="1"/>
          </p:cNvSpPr>
          <p:nvPr/>
        </p:nvSpPr>
        <p:spPr bwMode="auto">
          <a:xfrm>
            <a:off x="5419313" y="2422084"/>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a:cs typeface="Times New Roman" panose="02020603050405020304" pitchFamily="18" charset="0"/>
              </a:rPr>
              <a:t>mid</a:t>
            </a:r>
            <a:endParaRPr lang="zh-CN" altLang="en-US" sz="2000" b="0">
              <a:cs typeface="Times New Roman" panose="02020603050405020304" pitchFamily="18" charset="0"/>
            </a:endParaRPr>
          </a:p>
        </p:txBody>
      </p:sp>
      <p:sp>
        <p:nvSpPr>
          <p:cNvPr id="31" name="TextBox 10"/>
          <p:cNvSpPr txBox="1">
            <a:spLocks noChangeArrowheads="1"/>
          </p:cNvSpPr>
          <p:nvPr/>
        </p:nvSpPr>
        <p:spPr bwMode="auto">
          <a:xfrm>
            <a:off x="10647549" y="2422084"/>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a:cs typeface="Times New Roman" panose="02020603050405020304" pitchFamily="18" charset="0"/>
              </a:rPr>
              <a:t>high</a:t>
            </a:r>
            <a:endParaRPr lang="zh-CN" altLang="en-US" sz="2000" b="0">
              <a:cs typeface="Times New Roman" panose="02020603050405020304" pitchFamily="18" charset="0"/>
            </a:endParaRPr>
          </a:p>
        </p:txBody>
      </p:sp>
      <p:graphicFrame>
        <p:nvGraphicFramePr>
          <p:cNvPr id="32" name="内容占位符 3"/>
          <p:cNvGraphicFramePr/>
          <p:nvPr/>
        </p:nvGraphicFramePr>
        <p:xfrm>
          <a:off x="228600" y="2625734"/>
          <a:ext cx="11497728" cy="858830"/>
        </p:xfrm>
        <a:graphic>
          <a:graphicData uri="http://schemas.openxmlformats.org/drawingml/2006/table">
            <a:tbl>
              <a:tblPr firstRow="1" bandRow="1">
                <a:tableStyleId>{5940675A-B579-460E-94D1-54222C63F5DA}</a:tableStyleId>
              </a:tblPr>
              <a:tblGrid>
                <a:gridCol w="1045248"/>
                <a:gridCol w="1045248"/>
                <a:gridCol w="1045248"/>
                <a:gridCol w="1045248"/>
                <a:gridCol w="1045248"/>
                <a:gridCol w="1045248"/>
                <a:gridCol w="1045248"/>
                <a:gridCol w="1045248"/>
                <a:gridCol w="1045248"/>
                <a:gridCol w="1045248"/>
                <a:gridCol w="1045248"/>
              </a:tblGrid>
              <a:tr h="429415">
                <a:tc>
                  <a:txBody>
                    <a:bodyPr/>
                    <a:lstStyle/>
                    <a:p>
                      <a:pPr algn="ctr"/>
                      <a:r>
                        <a:rPr lang="en-US" altLang="zh-CN" sz="1800" dirty="0">
                          <a:latin typeface="微软雅黑" panose="020B0503020204020204" pitchFamily="34" charset="-122"/>
                          <a:ea typeface="微软雅黑" panose="020B0503020204020204" pitchFamily="34" charset="-122"/>
                        </a:rPr>
                        <a:t>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8</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9</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29415">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25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30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48</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52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67</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79</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r>
            </a:tbl>
          </a:graphicData>
        </a:graphic>
      </p:graphicFrame>
      <p:cxnSp>
        <p:nvCxnSpPr>
          <p:cNvPr id="33" name="直接箭头连接符 12"/>
          <p:cNvCxnSpPr>
            <a:cxnSpLocks noChangeShapeType="1"/>
          </p:cNvCxnSpPr>
          <p:nvPr/>
        </p:nvCxnSpPr>
        <p:spPr bwMode="auto">
          <a:xfrm flipV="1">
            <a:off x="7046913" y="3340968"/>
            <a:ext cx="4439" cy="529641"/>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sp>
        <p:nvSpPr>
          <p:cNvPr id="34" name="TextBox 15"/>
          <p:cNvSpPr txBox="1">
            <a:spLocks noChangeArrowheads="1"/>
          </p:cNvSpPr>
          <p:nvPr/>
        </p:nvSpPr>
        <p:spPr bwMode="auto">
          <a:xfrm>
            <a:off x="6408149" y="3692468"/>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a:cs typeface="Times New Roman" panose="02020603050405020304" pitchFamily="18" charset="0"/>
              </a:rPr>
              <a:t>low</a:t>
            </a:r>
            <a:endParaRPr lang="zh-CN" altLang="en-US" sz="2000" b="0">
              <a:cs typeface="Times New Roman" panose="02020603050405020304" pitchFamily="18" charset="0"/>
            </a:endParaRPr>
          </a:p>
        </p:txBody>
      </p:sp>
      <p:sp>
        <p:nvSpPr>
          <p:cNvPr id="35" name="TextBox 16"/>
          <p:cNvSpPr txBox="1">
            <a:spLocks noChangeArrowheads="1"/>
          </p:cNvSpPr>
          <p:nvPr/>
        </p:nvSpPr>
        <p:spPr bwMode="auto">
          <a:xfrm>
            <a:off x="8500461" y="3727563"/>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cs typeface="Times New Roman" panose="02020603050405020304" pitchFamily="18" charset="0"/>
              </a:rPr>
              <a:t>mid</a:t>
            </a:r>
            <a:endParaRPr lang="zh-CN" altLang="en-US" sz="2000" b="0" dirty="0">
              <a:cs typeface="Times New Roman" panose="02020603050405020304" pitchFamily="18" charset="0"/>
            </a:endParaRPr>
          </a:p>
        </p:txBody>
      </p:sp>
      <p:sp>
        <p:nvSpPr>
          <p:cNvPr id="36" name="TextBox 17"/>
          <p:cNvSpPr txBox="1">
            <a:spLocks noChangeArrowheads="1"/>
          </p:cNvSpPr>
          <p:nvPr/>
        </p:nvSpPr>
        <p:spPr bwMode="auto">
          <a:xfrm>
            <a:off x="10665396" y="3688865"/>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a:cs typeface="Times New Roman" panose="02020603050405020304" pitchFamily="18" charset="0"/>
              </a:rPr>
              <a:t>high</a:t>
            </a:r>
            <a:endParaRPr lang="zh-CN" altLang="en-US" sz="2000" b="0">
              <a:cs typeface="Times New Roman" panose="02020603050405020304" pitchFamily="18" charset="0"/>
            </a:endParaRPr>
          </a:p>
        </p:txBody>
      </p:sp>
      <p:graphicFrame>
        <p:nvGraphicFramePr>
          <p:cNvPr id="37" name="内容占位符 3"/>
          <p:cNvGraphicFramePr/>
          <p:nvPr/>
        </p:nvGraphicFramePr>
        <p:xfrm>
          <a:off x="304800" y="3997334"/>
          <a:ext cx="11497728" cy="858830"/>
        </p:xfrm>
        <a:graphic>
          <a:graphicData uri="http://schemas.openxmlformats.org/drawingml/2006/table">
            <a:tbl>
              <a:tblPr firstRow="1" bandRow="1">
                <a:tableStyleId>{5940675A-B579-460E-94D1-54222C63F5DA}</a:tableStyleId>
              </a:tblPr>
              <a:tblGrid>
                <a:gridCol w="1045248"/>
                <a:gridCol w="1045248"/>
                <a:gridCol w="1045248"/>
                <a:gridCol w="1045248"/>
                <a:gridCol w="1045248"/>
                <a:gridCol w="1045248"/>
                <a:gridCol w="1045248"/>
                <a:gridCol w="1045248"/>
                <a:gridCol w="1045248"/>
                <a:gridCol w="1045248"/>
                <a:gridCol w="1045248"/>
              </a:tblGrid>
              <a:tr h="429415">
                <a:tc>
                  <a:txBody>
                    <a:bodyPr/>
                    <a:lstStyle/>
                    <a:p>
                      <a:pPr algn="ctr"/>
                      <a:r>
                        <a:rPr lang="en-US" altLang="zh-CN" sz="1800" dirty="0">
                          <a:latin typeface="微软雅黑" panose="020B0503020204020204" pitchFamily="34" charset="-122"/>
                          <a:ea typeface="微软雅黑" panose="020B0503020204020204" pitchFamily="34" charset="-122"/>
                        </a:rPr>
                        <a:t>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8</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9</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29415">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25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30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48</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52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67</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79</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r>
            </a:tbl>
          </a:graphicData>
        </a:graphic>
      </p:graphicFrame>
      <p:cxnSp>
        <p:nvCxnSpPr>
          <p:cNvPr id="38" name="直接箭头连接符 19"/>
          <p:cNvCxnSpPr>
            <a:cxnSpLocks noChangeShapeType="1"/>
          </p:cNvCxnSpPr>
          <p:nvPr/>
        </p:nvCxnSpPr>
        <p:spPr bwMode="auto">
          <a:xfrm flipV="1">
            <a:off x="9997221" y="4708714"/>
            <a:ext cx="221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39" name="直接箭头连接符 20"/>
          <p:cNvCxnSpPr>
            <a:cxnSpLocks noChangeShapeType="1"/>
          </p:cNvCxnSpPr>
          <p:nvPr/>
        </p:nvCxnSpPr>
        <p:spPr bwMode="auto">
          <a:xfrm flipV="1">
            <a:off x="11274748" y="4708714"/>
            <a:ext cx="221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40" name="直接箭头连接符 21"/>
          <p:cNvCxnSpPr>
            <a:cxnSpLocks noChangeShapeType="1"/>
          </p:cNvCxnSpPr>
          <p:nvPr/>
        </p:nvCxnSpPr>
        <p:spPr bwMode="auto">
          <a:xfrm flipV="1">
            <a:off x="10494668" y="4708714"/>
            <a:ext cx="221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sp>
        <p:nvSpPr>
          <p:cNvPr id="41" name="TextBox 22"/>
          <p:cNvSpPr txBox="1">
            <a:spLocks noChangeArrowheads="1"/>
          </p:cNvSpPr>
          <p:nvPr/>
        </p:nvSpPr>
        <p:spPr bwMode="auto">
          <a:xfrm>
            <a:off x="9359224" y="5043498"/>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a:cs typeface="Times New Roman" panose="02020603050405020304" pitchFamily="18" charset="0"/>
              </a:rPr>
              <a:t>low</a:t>
            </a:r>
            <a:endParaRPr lang="zh-CN" altLang="en-US" sz="2000" b="0">
              <a:cs typeface="Times New Roman" panose="02020603050405020304" pitchFamily="18" charset="0"/>
            </a:endParaRPr>
          </a:p>
        </p:txBody>
      </p:sp>
      <p:sp>
        <p:nvSpPr>
          <p:cNvPr id="42" name="TextBox 23"/>
          <p:cNvSpPr txBox="1">
            <a:spLocks noChangeArrowheads="1"/>
          </p:cNvSpPr>
          <p:nvPr/>
        </p:nvSpPr>
        <p:spPr bwMode="auto">
          <a:xfrm>
            <a:off x="9874673" y="5043498"/>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a:cs typeface="Times New Roman" panose="02020603050405020304" pitchFamily="18" charset="0"/>
              </a:rPr>
              <a:t>mid</a:t>
            </a:r>
            <a:endParaRPr lang="zh-CN" altLang="en-US" sz="2000" b="0">
              <a:cs typeface="Times New Roman" panose="02020603050405020304" pitchFamily="18" charset="0"/>
            </a:endParaRPr>
          </a:p>
        </p:txBody>
      </p:sp>
      <p:sp>
        <p:nvSpPr>
          <p:cNvPr id="43" name="TextBox 24"/>
          <p:cNvSpPr txBox="1">
            <a:spLocks noChangeArrowheads="1"/>
          </p:cNvSpPr>
          <p:nvPr/>
        </p:nvSpPr>
        <p:spPr bwMode="auto">
          <a:xfrm>
            <a:off x="10647549" y="5043498"/>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a:cs typeface="Times New Roman" panose="02020603050405020304" pitchFamily="18" charset="0"/>
              </a:rPr>
              <a:t>high</a:t>
            </a:r>
            <a:endParaRPr lang="zh-CN" altLang="en-US" sz="2000" b="0">
              <a:cs typeface="Times New Roman" panose="02020603050405020304" pitchFamily="18" charset="0"/>
            </a:endParaRPr>
          </a:p>
        </p:txBody>
      </p:sp>
      <p:cxnSp>
        <p:nvCxnSpPr>
          <p:cNvPr id="44" name="直接箭头连接符 31"/>
          <p:cNvCxnSpPr>
            <a:cxnSpLocks noChangeShapeType="1"/>
          </p:cNvCxnSpPr>
          <p:nvPr/>
        </p:nvCxnSpPr>
        <p:spPr bwMode="auto">
          <a:xfrm flipV="1">
            <a:off x="11274748" y="3344982"/>
            <a:ext cx="221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45" name="直接箭头连接符 32"/>
          <p:cNvCxnSpPr>
            <a:cxnSpLocks noChangeShapeType="1"/>
          </p:cNvCxnSpPr>
          <p:nvPr/>
        </p:nvCxnSpPr>
        <p:spPr bwMode="auto">
          <a:xfrm flipV="1">
            <a:off x="9123907" y="3346467"/>
            <a:ext cx="221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sp>
        <p:nvSpPr>
          <p:cNvPr id="46" name="椭圆形标注 33"/>
          <p:cNvSpPr>
            <a:spLocks noChangeArrowheads="1"/>
          </p:cNvSpPr>
          <p:nvPr/>
        </p:nvSpPr>
        <p:spPr bwMode="auto">
          <a:xfrm>
            <a:off x="8334962" y="697093"/>
            <a:ext cx="1809829" cy="529642"/>
          </a:xfrm>
          <a:prstGeom prst="wedgeEllipseCallout">
            <a:avLst>
              <a:gd name="adj1" fmla="val -37500"/>
              <a:gd name="adj2" fmla="val 68384"/>
            </a:avLst>
          </a:prstGeom>
          <a:solidFill>
            <a:schemeClr val="accent1"/>
          </a:solidFill>
          <a:ln w="3175" algn="ctr">
            <a:solidFill>
              <a:schemeClr val="tx2"/>
            </a:solidFill>
            <a:round/>
          </a:ln>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dirty="0">
                <a:solidFill>
                  <a:srgbClr val="FFFFFF"/>
                </a:solidFill>
                <a:latin typeface="微软雅黑" panose="020B0503020204020204" pitchFamily="34" charset="-122"/>
                <a:ea typeface="微软雅黑" panose="020B0503020204020204" pitchFamily="34" charset="-122"/>
              </a:rPr>
              <a:t>查找</a:t>
            </a:r>
            <a:r>
              <a:rPr lang="en-US" altLang="zh-CN" sz="1800" dirty="0">
                <a:solidFill>
                  <a:srgbClr val="FFFFFF"/>
                </a:solidFill>
                <a:latin typeface="微软雅黑" panose="020B0503020204020204" pitchFamily="34" charset="-122"/>
                <a:ea typeface="微软雅黑" panose="020B0503020204020204" pitchFamily="34" charset="-122"/>
              </a:rPr>
              <a:t>72</a:t>
            </a:r>
            <a:endParaRPr lang="zh-CN" altLang="en-US" sz="1800" dirty="0">
              <a:solidFill>
                <a:srgbClr val="FFFFFF"/>
              </a:solidFill>
              <a:latin typeface="微软雅黑" panose="020B0503020204020204" pitchFamily="34" charset="-122"/>
              <a:ea typeface="微软雅黑" panose="020B0503020204020204" pitchFamily="34" charset="-122"/>
            </a:endParaRPr>
          </a:p>
        </p:txBody>
      </p:sp>
      <p:graphicFrame>
        <p:nvGraphicFramePr>
          <p:cNvPr id="47" name="内容占位符 3"/>
          <p:cNvGraphicFramePr/>
          <p:nvPr/>
        </p:nvGraphicFramePr>
        <p:xfrm>
          <a:off x="304800" y="5292734"/>
          <a:ext cx="11497728" cy="858830"/>
        </p:xfrm>
        <a:graphic>
          <a:graphicData uri="http://schemas.openxmlformats.org/drawingml/2006/table">
            <a:tbl>
              <a:tblPr firstRow="1" bandRow="1">
                <a:tableStyleId>{5940675A-B579-460E-94D1-54222C63F5DA}</a:tableStyleId>
              </a:tblPr>
              <a:tblGrid>
                <a:gridCol w="1045248"/>
                <a:gridCol w="1045248"/>
                <a:gridCol w="1045248"/>
                <a:gridCol w="1045248"/>
                <a:gridCol w="1045248"/>
                <a:gridCol w="1045248"/>
                <a:gridCol w="1045248"/>
                <a:gridCol w="1045248"/>
                <a:gridCol w="1045248"/>
                <a:gridCol w="1045248"/>
                <a:gridCol w="1045248"/>
              </a:tblGrid>
              <a:tr h="429415">
                <a:tc>
                  <a:txBody>
                    <a:bodyPr/>
                    <a:lstStyle/>
                    <a:p>
                      <a:pPr algn="ctr"/>
                      <a:r>
                        <a:rPr lang="en-US" altLang="zh-CN" sz="1800" dirty="0">
                          <a:latin typeface="微软雅黑" panose="020B0503020204020204" pitchFamily="34" charset="-122"/>
                          <a:ea typeface="微软雅黑" panose="020B0503020204020204" pitchFamily="34" charset="-122"/>
                        </a:rPr>
                        <a:t>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2</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4</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5</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6</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7</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8</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9</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29415">
                <a:tc>
                  <a:txBody>
                    <a:bodyPr/>
                    <a:lstStyle/>
                    <a:p>
                      <a:pPr algn="ctr"/>
                      <a:r>
                        <a:rPr lang="en-US" altLang="zh-CN" sz="1800" dirty="0">
                          <a:latin typeface="微软雅黑" panose="020B0503020204020204" pitchFamily="34" charset="-122"/>
                          <a:ea typeface="微软雅黑" panose="020B0503020204020204" pitchFamily="34" charset="-122"/>
                        </a:rPr>
                        <a:t>3</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12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25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30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48</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52</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67</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70</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75</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latin typeface="微软雅黑" panose="020B0503020204020204" pitchFamily="34" charset="-122"/>
                          <a:ea typeface="微软雅黑" panose="020B0503020204020204" pitchFamily="34" charset="-122"/>
                        </a:rPr>
                        <a:t>79</a:t>
                      </a:r>
                      <a:endParaRPr lang="en-US" altLang="zh-CN" sz="1800" dirty="0">
                        <a:latin typeface="微软雅黑" panose="020B0503020204020204" pitchFamily="34" charset="-122"/>
                        <a:ea typeface="微软雅黑" panose="020B0503020204020204" pitchFamily="34" charset="-122"/>
                      </a:endParaRPr>
                    </a:p>
                  </a:txBody>
                  <a:tcPr marT="45700" marB="45700">
                    <a:lnT w="12700" cap="flat" cmpd="sng" algn="ctr">
                      <a:solidFill>
                        <a:schemeClr val="tx1"/>
                      </a:solidFill>
                      <a:prstDash val="solid"/>
                      <a:round/>
                      <a:headEnd type="none" w="med" len="med"/>
                      <a:tailEnd type="none" w="med" len="med"/>
                    </a:lnT>
                  </a:tcPr>
                </a:tc>
              </a:tr>
            </a:tbl>
          </a:graphicData>
        </a:graphic>
      </p:graphicFrame>
      <p:cxnSp>
        <p:nvCxnSpPr>
          <p:cNvPr id="48" name="直接箭头连接符 19"/>
          <p:cNvCxnSpPr>
            <a:cxnSpLocks noChangeShapeType="1"/>
          </p:cNvCxnSpPr>
          <p:nvPr/>
        </p:nvCxnSpPr>
        <p:spPr bwMode="auto">
          <a:xfrm flipV="1">
            <a:off x="9195746" y="6019401"/>
            <a:ext cx="2219" cy="529642"/>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cxnSp>
        <p:nvCxnSpPr>
          <p:cNvPr id="49" name="直接箭头连接符 21"/>
          <p:cNvCxnSpPr>
            <a:cxnSpLocks noChangeShapeType="1"/>
          </p:cNvCxnSpPr>
          <p:nvPr/>
        </p:nvCxnSpPr>
        <p:spPr bwMode="auto">
          <a:xfrm flipV="1">
            <a:off x="10190074" y="6019401"/>
            <a:ext cx="2220" cy="529641"/>
          </a:xfrm>
          <a:prstGeom prst="straightConnector1">
            <a:avLst/>
          </a:prstGeom>
          <a:noFill/>
          <a:ln w="3175" algn="ctr">
            <a:solidFill>
              <a:schemeClr val="tx2"/>
            </a:solidFill>
            <a:round/>
            <a:tailEnd type="arrow" w="med" len="med"/>
          </a:ln>
          <a:extLst>
            <a:ext uri="{909E8E84-426E-40DD-AFC4-6F175D3DCCD1}">
              <a14:hiddenFill xmlns:a14="http://schemas.microsoft.com/office/drawing/2010/main">
                <a:noFill/>
              </a14:hiddenFill>
            </a:ext>
          </a:extLst>
        </p:spPr>
      </p:cxnSp>
      <p:sp>
        <p:nvSpPr>
          <p:cNvPr id="50" name="TextBox 15"/>
          <p:cNvSpPr txBox="1">
            <a:spLocks noChangeArrowheads="1"/>
          </p:cNvSpPr>
          <p:nvPr/>
        </p:nvSpPr>
        <p:spPr bwMode="auto">
          <a:xfrm>
            <a:off x="9551310" y="6388079"/>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cs typeface="Times New Roman" panose="02020603050405020304" pitchFamily="18" charset="0"/>
              </a:rPr>
              <a:t>low</a:t>
            </a:r>
            <a:endParaRPr lang="zh-CN" altLang="en-US" sz="2000" b="0" dirty="0">
              <a:cs typeface="Times New Roman" panose="02020603050405020304" pitchFamily="18" charset="0"/>
            </a:endParaRPr>
          </a:p>
        </p:txBody>
      </p:sp>
      <p:sp>
        <p:nvSpPr>
          <p:cNvPr id="51" name="TextBox 15"/>
          <p:cNvSpPr txBox="1">
            <a:spLocks noChangeArrowheads="1"/>
          </p:cNvSpPr>
          <p:nvPr/>
        </p:nvSpPr>
        <p:spPr bwMode="auto">
          <a:xfrm>
            <a:off x="8559202" y="6388079"/>
            <a:ext cx="12775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000" b="0" dirty="0">
                <a:cs typeface="Times New Roman" panose="02020603050405020304" pitchFamily="18" charset="0"/>
              </a:rPr>
              <a:t>high</a:t>
            </a:r>
            <a:endParaRPr lang="zh-CN" altLang="en-US" sz="2000" b="0" dirty="0">
              <a:cs typeface="Times New Roman" panose="02020603050405020304" pitchFamily="18" charset="0"/>
            </a:endParaRPr>
          </a:p>
        </p:txBody>
      </p:sp>
      <p:sp>
        <p:nvSpPr>
          <p:cNvPr id="52" name="云形标注 31"/>
          <p:cNvSpPr>
            <a:spLocks noChangeArrowheads="1"/>
          </p:cNvSpPr>
          <p:nvPr/>
        </p:nvSpPr>
        <p:spPr bwMode="auto">
          <a:xfrm>
            <a:off x="4419600" y="6240084"/>
            <a:ext cx="1596908" cy="617916"/>
          </a:xfrm>
          <a:prstGeom prst="cloudCallout">
            <a:avLst>
              <a:gd name="adj1" fmla="val 145319"/>
              <a:gd name="adj2" fmla="val 9755"/>
            </a:avLst>
          </a:prstGeom>
          <a:solidFill>
            <a:schemeClr val="accent1"/>
          </a:solidFill>
          <a:ln w="3175" algn="ctr">
            <a:solidFill>
              <a:schemeClr val="tx2"/>
            </a:solidFill>
            <a:round/>
          </a:ln>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dirty="0">
                <a:solidFill>
                  <a:srgbClr val="FFFFFF"/>
                </a:solidFill>
                <a:latin typeface="微软雅黑" panose="020B0503020204020204" pitchFamily="34" charset="-122"/>
                <a:ea typeface="微软雅黑" panose="020B0503020204020204" pitchFamily="34" charset="-122"/>
              </a:rPr>
              <a:t>失败</a:t>
            </a:r>
            <a:endParaRPr lang="zh-CN" altLang="en-US" sz="1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500" fill="hold"/>
                                        <p:tgtEl>
                                          <p:spTgt spid="33"/>
                                        </p:tgtEl>
                                        <p:attrNameLst>
                                          <p:attrName>ppt_x</p:attrName>
                                        </p:attrNameLst>
                                      </p:cBhvr>
                                      <p:tavLst>
                                        <p:tav tm="0">
                                          <p:val>
                                            <p:strVal val="#ppt_x"/>
                                          </p:val>
                                        </p:tav>
                                        <p:tav tm="100000">
                                          <p:val>
                                            <p:strVal val="#ppt_x"/>
                                          </p:val>
                                        </p:tav>
                                      </p:tavLst>
                                    </p:anim>
                                    <p:anim calcmode="lin" valueType="num">
                                      <p:cBhvr additive="base">
                                        <p:cTn id="12" dur="5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ppt_x"/>
                                          </p:val>
                                        </p:tav>
                                        <p:tav tm="100000">
                                          <p:val>
                                            <p:strVal val="#ppt_x"/>
                                          </p:val>
                                        </p:tav>
                                      </p:tavLst>
                                    </p:anim>
                                    <p:anim calcmode="lin" valueType="num">
                                      <p:cBhvr additive="base">
                                        <p:cTn id="16" dur="500" fill="hold"/>
                                        <p:tgtEl>
                                          <p:spTgt spid="3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500" fill="hold"/>
                                        <p:tgtEl>
                                          <p:spTgt spid="35"/>
                                        </p:tgtEl>
                                        <p:attrNameLst>
                                          <p:attrName>ppt_x</p:attrName>
                                        </p:attrNameLst>
                                      </p:cBhvr>
                                      <p:tavLst>
                                        <p:tav tm="0">
                                          <p:val>
                                            <p:strVal val="#ppt_x"/>
                                          </p:val>
                                        </p:tav>
                                        <p:tav tm="100000">
                                          <p:val>
                                            <p:strVal val="#ppt_x"/>
                                          </p:val>
                                        </p:tav>
                                      </p:tavLst>
                                    </p:anim>
                                    <p:anim calcmode="lin" valueType="num">
                                      <p:cBhvr additive="base">
                                        <p:cTn id="20" dur="500" fill="hold"/>
                                        <p:tgtEl>
                                          <p:spTgt spid="3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additive="base">
                                        <p:cTn id="23" dur="500" fill="hold"/>
                                        <p:tgtEl>
                                          <p:spTgt spid="36"/>
                                        </p:tgtEl>
                                        <p:attrNameLst>
                                          <p:attrName>ppt_x</p:attrName>
                                        </p:attrNameLst>
                                      </p:cBhvr>
                                      <p:tavLst>
                                        <p:tav tm="0">
                                          <p:val>
                                            <p:strVal val="#ppt_x"/>
                                          </p:val>
                                        </p:tav>
                                        <p:tav tm="100000">
                                          <p:val>
                                            <p:strVal val="#ppt_x"/>
                                          </p:val>
                                        </p:tav>
                                      </p:tavLst>
                                    </p:anim>
                                    <p:anim calcmode="lin" valueType="num">
                                      <p:cBhvr additive="base">
                                        <p:cTn id="24" dur="500" fill="hold"/>
                                        <p:tgtEl>
                                          <p:spTgt spid="3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5"/>
                                        </p:tgtEl>
                                        <p:attrNameLst>
                                          <p:attrName>style.visibility</p:attrName>
                                        </p:attrNameLst>
                                      </p:cBhvr>
                                      <p:to>
                                        <p:strVal val="visible"/>
                                      </p:to>
                                    </p:set>
                                    <p:anim calcmode="lin" valueType="num">
                                      <p:cBhvr additive="base">
                                        <p:cTn id="31" dur="500" fill="hold"/>
                                        <p:tgtEl>
                                          <p:spTgt spid="45"/>
                                        </p:tgtEl>
                                        <p:attrNameLst>
                                          <p:attrName>ppt_x</p:attrName>
                                        </p:attrNameLst>
                                      </p:cBhvr>
                                      <p:tavLst>
                                        <p:tav tm="0">
                                          <p:val>
                                            <p:strVal val="#ppt_x"/>
                                          </p:val>
                                        </p:tav>
                                        <p:tav tm="100000">
                                          <p:val>
                                            <p:strVal val="#ppt_x"/>
                                          </p:val>
                                        </p:tav>
                                      </p:tavLst>
                                    </p:anim>
                                    <p:anim calcmode="lin" valueType="num">
                                      <p:cBhvr additive="base">
                                        <p:cTn id="3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additive="base">
                                        <p:cTn id="37" dur="500" fill="hold"/>
                                        <p:tgtEl>
                                          <p:spTgt spid="37"/>
                                        </p:tgtEl>
                                        <p:attrNameLst>
                                          <p:attrName>ppt_x</p:attrName>
                                        </p:attrNameLst>
                                      </p:cBhvr>
                                      <p:tavLst>
                                        <p:tav tm="0">
                                          <p:val>
                                            <p:strVal val="#ppt_x"/>
                                          </p:val>
                                        </p:tav>
                                        <p:tav tm="100000">
                                          <p:val>
                                            <p:strVal val="#ppt_x"/>
                                          </p:val>
                                        </p:tav>
                                      </p:tavLst>
                                    </p:anim>
                                    <p:anim calcmode="lin" valueType="num">
                                      <p:cBhvr additive="base">
                                        <p:cTn id="38" dur="500" fill="hold"/>
                                        <p:tgtEl>
                                          <p:spTgt spid="37"/>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additive="base">
                                        <p:cTn id="41" dur="500" fill="hold"/>
                                        <p:tgtEl>
                                          <p:spTgt spid="38"/>
                                        </p:tgtEl>
                                        <p:attrNameLst>
                                          <p:attrName>ppt_x</p:attrName>
                                        </p:attrNameLst>
                                      </p:cBhvr>
                                      <p:tavLst>
                                        <p:tav tm="0">
                                          <p:val>
                                            <p:strVal val="#ppt_x"/>
                                          </p:val>
                                        </p:tav>
                                        <p:tav tm="100000">
                                          <p:val>
                                            <p:strVal val="#ppt_x"/>
                                          </p:val>
                                        </p:tav>
                                      </p:tavLst>
                                    </p:anim>
                                    <p:anim calcmode="lin" valueType="num">
                                      <p:cBhvr additive="base">
                                        <p:cTn id="42" dur="500" fill="hold"/>
                                        <p:tgtEl>
                                          <p:spTgt spid="38"/>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anim calcmode="lin" valueType="num">
                                      <p:cBhvr additive="base">
                                        <p:cTn id="45" dur="500" fill="hold"/>
                                        <p:tgtEl>
                                          <p:spTgt spid="39"/>
                                        </p:tgtEl>
                                        <p:attrNameLst>
                                          <p:attrName>ppt_x</p:attrName>
                                        </p:attrNameLst>
                                      </p:cBhvr>
                                      <p:tavLst>
                                        <p:tav tm="0">
                                          <p:val>
                                            <p:strVal val="#ppt_x"/>
                                          </p:val>
                                        </p:tav>
                                        <p:tav tm="100000">
                                          <p:val>
                                            <p:strVal val="#ppt_x"/>
                                          </p:val>
                                        </p:tav>
                                      </p:tavLst>
                                    </p:anim>
                                    <p:anim calcmode="lin" valueType="num">
                                      <p:cBhvr additive="base">
                                        <p:cTn id="46" dur="500" fill="hold"/>
                                        <p:tgtEl>
                                          <p:spTgt spid="39"/>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anim calcmode="lin" valueType="num">
                                      <p:cBhvr additive="base">
                                        <p:cTn id="49" dur="500" fill="hold"/>
                                        <p:tgtEl>
                                          <p:spTgt spid="40"/>
                                        </p:tgtEl>
                                        <p:attrNameLst>
                                          <p:attrName>ppt_x</p:attrName>
                                        </p:attrNameLst>
                                      </p:cBhvr>
                                      <p:tavLst>
                                        <p:tav tm="0">
                                          <p:val>
                                            <p:strVal val="#ppt_x"/>
                                          </p:val>
                                        </p:tav>
                                        <p:tav tm="100000">
                                          <p:val>
                                            <p:strVal val="#ppt_x"/>
                                          </p:val>
                                        </p:tav>
                                      </p:tavLst>
                                    </p:anim>
                                    <p:anim calcmode="lin" valueType="num">
                                      <p:cBhvr additive="base">
                                        <p:cTn id="50" dur="500" fill="hold"/>
                                        <p:tgtEl>
                                          <p:spTgt spid="4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 calcmode="lin" valueType="num">
                                      <p:cBhvr additive="base">
                                        <p:cTn id="53" dur="500" fill="hold"/>
                                        <p:tgtEl>
                                          <p:spTgt spid="41"/>
                                        </p:tgtEl>
                                        <p:attrNameLst>
                                          <p:attrName>ppt_x</p:attrName>
                                        </p:attrNameLst>
                                      </p:cBhvr>
                                      <p:tavLst>
                                        <p:tav tm="0">
                                          <p:val>
                                            <p:strVal val="#ppt_x"/>
                                          </p:val>
                                        </p:tav>
                                        <p:tav tm="100000">
                                          <p:val>
                                            <p:strVal val="#ppt_x"/>
                                          </p:val>
                                        </p:tav>
                                      </p:tavLst>
                                    </p:anim>
                                    <p:anim calcmode="lin" valueType="num">
                                      <p:cBhvr additive="base">
                                        <p:cTn id="54" dur="500" fill="hold"/>
                                        <p:tgtEl>
                                          <p:spTgt spid="4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 calcmode="lin" valueType="num">
                                      <p:cBhvr additive="base">
                                        <p:cTn id="57" dur="500" fill="hold"/>
                                        <p:tgtEl>
                                          <p:spTgt spid="42"/>
                                        </p:tgtEl>
                                        <p:attrNameLst>
                                          <p:attrName>ppt_x</p:attrName>
                                        </p:attrNameLst>
                                      </p:cBhvr>
                                      <p:tavLst>
                                        <p:tav tm="0">
                                          <p:val>
                                            <p:strVal val="#ppt_x"/>
                                          </p:val>
                                        </p:tav>
                                        <p:tav tm="100000">
                                          <p:val>
                                            <p:strVal val="#ppt_x"/>
                                          </p:val>
                                        </p:tav>
                                      </p:tavLst>
                                    </p:anim>
                                    <p:anim calcmode="lin" valueType="num">
                                      <p:cBhvr additive="base">
                                        <p:cTn id="58" dur="500" fill="hold"/>
                                        <p:tgtEl>
                                          <p:spTgt spid="4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anim calcmode="lin" valueType="num">
                                      <p:cBhvr additive="base">
                                        <p:cTn id="61" dur="500" fill="hold"/>
                                        <p:tgtEl>
                                          <p:spTgt spid="43"/>
                                        </p:tgtEl>
                                        <p:attrNameLst>
                                          <p:attrName>ppt_x</p:attrName>
                                        </p:attrNameLst>
                                      </p:cBhvr>
                                      <p:tavLst>
                                        <p:tav tm="0">
                                          <p:val>
                                            <p:strVal val="#ppt_x"/>
                                          </p:val>
                                        </p:tav>
                                        <p:tav tm="100000">
                                          <p:val>
                                            <p:strVal val="#ppt_x"/>
                                          </p:val>
                                        </p:tav>
                                      </p:tavLst>
                                    </p:anim>
                                    <p:anim calcmode="lin" valueType="num">
                                      <p:cBhvr additive="base">
                                        <p:cTn id="6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7"/>
                                        </p:tgtEl>
                                        <p:attrNameLst>
                                          <p:attrName>style.visibility</p:attrName>
                                        </p:attrNameLst>
                                      </p:cBhvr>
                                      <p:to>
                                        <p:strVal val="visible"/>
                                      </p:to>
                                    </p:set>
                                    <p:anim calcmode="lin" valueType="num">
                                      <p:cBhvr additive="base">
                                        <p:cTn id="67" dur="500" fill="hold"/>
                                        <p:tgtEl>
                                          <p:spTgt spid="47"/>
                                        </p:tgtEl>
                                        <p:attrNameLst>
                                          <p:attrName>ppt_x</p:attrName>
                                        </p:attrNameLst>
                                      </p:cBhvr>
                                      <p:tavLst>
                                        <p:tav tm="0">
                                          <p:val>
                                            <p:strVal val="#ppt_x"/>
                                          </p:val>
                                        </p:tav>
                                        <p:tav tm="100000">
                                          <p:val>
                                            <p:strVal val="#ppt_x"/>
                                          </p:val>
                                        </p:tav>
                                      </p:tavLst>
                                    </p:anim>
                                    <p:anim calcmode="lin" valueType="num">
                                      <p:cBhvr additive="base">
                                        <p:cTn id="68" dur="500" fill="hold"/>
                                        <p:tgtEl>
                                          <p:spTgt spid="47"/>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48"/>
                                        </p:tgtEl>
                                        <p:attrNameLst>
                                          <p:attrName>style.visibility</p:attrName>
                                        </p:attrNameLst>
                                      </p:cBhvr>
                                      <p:to>
                                        <p:strVal val="visible"/>
                                      </p:to>
                                    </p:set>
                                    <p:anim calcmode="lin" valueType="num">
                                      <p:cBhvr additive="base">
                                        <p:cTn id="71" dur="500" fill="hold"/>
                                        <p:tgtEl>
                                          <p:spTgt spid="48"/>
                                        </p:tgtEl>
                                        <p:attrNameLst>
                                          <p:attrName>ppt_x</p:attrName>
                                        </p:attrNameLst>
                                      </p:cBhvr>
                                      <p:tavLst>
                                        <p:tav tm="0">
                                          <p:val>
                                            <p:strVal val="#ppt_x"/>
                                          </p:val>
                                        </p:tav>
                                        <p:tav tm="100000">
                                          <p:val>
                                            <p:strVal val="#ppt_x"/>
                                          </p:val>
                                        </p:tav>
                                      </p:tavLst>
                                    </p:anim>
                                    <p:anim calcmode="lin" valueType="num">
                                      <p:cBhvr additive="base">
                                        <p:cTn id="72" dur="500" fill="hold"/>
                                        <p:tgtEl>
                                          <p:spTgt spid="48"/>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49"/>
                                        </p:tgtEl>
                                        <p:attrNameLst>
                                          <p:attrName>style.visibility</p:attrName>
                                        </p:attrNameLst>
                                      </p:cBhvr>
                                      <p:to>
                                        <p:strVal val="visible"/>
                                      </p:to>
                                    </p:set>
                                    <p:anim calcmode="lin" valueType="num">
                                      <p:cBhvr additive="base">
                                        <p:cTn id="75" dur="500" fill="hold"/>
                                        <p:tgtEl>
                                          <p:spTgt spid="49"/>
                                        </p:tgtEl>
                                        <p:attrNameLst>
                                          <p:attrName>ppt_x</p:attrName>
                                        </p:attrNameLst>
                                      </p:cBhvr>
                                      <p:tavLst>
                                        <p:tav tm="0">
                                          <p:val>
                                            <p:strVal val="#ppt_x"/>
                                          </p:val>
                                        </p:tav>
                                        <p:tav tm="100000">
                                          <p:val>
                                            <p:strVal val="#ppt_x"/>
                                          </p:val>
                                        </p:tav>
                                      </p:tavLst>
                                    </p:anim>
                                    <p:anim calcmode="lin" valueType="num">
                                      <p:cBhvr additive="base">
                                        <p:cTn id="76" dur="500" fill="hold"/>
                                        <p:tgtEl>
                                          <p:spTgt spid="49"/>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50"/>
                                        </p:tgtEl>
                                        <p:attrNameLst>
                                          <p:attrName>style.visibility</p:attrName>
                                        </p:attrNameLst>
                                      </p:cBhvr>
                                      <p:to>
                                        <p:strVal val="visible"/>
                                      </p:to>
                                    </p:set>
                                    <p:anim calcmode="lin" valueType="num">
                                      <p:cBhvr additive="base">
                                        <p:cTn id="79" dur="500" fill="hold"/>
                                        <p:tgtEl>
                                          <p:spTgt spid="50"/>
                                        </p:tgtEl>
                                        <p:attrNameLst>
                                          <p:attrName>ppt_x</p:attrName>
                                        </p:attrNameLst>
                                      </p:cBhvr>
                                      <p:tavLst>
                                        <p:tav tm="0">
                                          <p:val>
                                            <p:strVal val="#ppt_x"/>
                                          </p:val>
                                        </p:tav>
                                        <p:tav tm="100000">
                                          <p:val>
                                            <p:strVal val="#ppt_x"/>
                                          </p:val>
                                        </p:tav>
                                      </p:tavLst>
                                    </p:anim>
                                    <p:anim calcmode="lin" valueType="num">
                                      <p:cBhvr additive="base">
                                        <p:cTn id="80" dur="500" fill="hold"/>
                                        <p:tgtEl>
                                          <p:spTgt spid="50"/>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anim calcmode="lin" valueType="num">
                                      <p:cBhvr additive="base">
                                        <p:cTn id="83" dur="500" fill="hold"/>
                                        <p:tgtEl>
                                          <p:spTgt spid="51"/>
                                        </p:tgtEl>
                                        <p:attrNameLst>
                                          <p:attrName>ppt_x</p:attrName>
                                        </p:attrNameLst>
                                      </p:cBhvr>
                                      <p:tavLst>
                                        <p:tav tm="0">
                                          <p:val>
                                            <p:strVal val="#ppt_x"/>
                                          </p:val>
                                        </p:tav>
                                        <p:tav tm="100000">
                                          <p:val>
                                            <p:strVal val="#ppt_x"/>
                                          </p:val>
                                        </p:tav>
                                      </p:tavLst>
                                    </p:anim>
                                    <p:anim calcmode="lin" valueType="num">
                                      <p:cBhvr additive="base">
                                        <p:cTn id="84" dur="500" fill="hold"/>
                                        <p:tgtEl>
                                          <p:spTgt spid="51"/>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52"/>
                                        </p:tgtEl>
                                        <p:attrNameLst>
                                          <p:attrName>style.visibility</p:attrName>
                                        </p:attrNameLst>
                                      </p:cBhvr>
                                      <p:to>
                                        <p:strVal val="visible"/>
                                      </p:to>
                                    </p:set>
                                    <p:anim calcmode="lin" valueType="num">
                                      <p:cBhvr additive="base">
                                        <p:cTn id="87" dur="500" fill="hold"/>
                                        <p:tgtEl>
                                          <p:spTgt spid="52"/>
                                        </p:tgtEl>
                                        <p:attrNameLst>
                                          <p:attrName>ppt_x</p:attrName>
                                        </p:attrNameLst>
                                      </p:cBhvr>
                                      <p:tavLst>
                                        <p:tav tm="0">
                                          <p:val>
                                            <p:strVal val="#ppt_x"/>
                                          </p:val>
                                        </p:tav>
                                        <p:tav tm="100000">
                                          <p:val>
                                            <p:strVal val="#ppt_x"/>
                                          </p:val>
                                        </p:tav>
                                      </p:tavLst>
                                    </p:anim>
                                    <p:anim calcmode="lin" valueType="num">
                                      <p:cBhvr additive="base">
                                        <p:cTn id="88"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41" grpId="0"/>
      <p:bldP spid="42" grpId="0"/>
      <p:bldP spid="43" grpId="0"/>
      <p:bldP spid="50" grpId="0"/>
      <p:bldP spid="51" grpId="0"/>
      <p:bldP spid="5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折半查找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457199" y="965082"/>
            <a:ext cx="11057467" cy="5207118"/>
          </a:xfrm>
        </p:spPr>
        <p:txBody>
          <a:bodyPr>
            <a:normAutofit/>
          </a:bodyPr>
          <a:lstStyle/>
          <a:p>
            <a:r>
              <a:rPr lang="zh-CN" altLang="en-US" sz="2400" dirty="0">
                <a:latin typeface="微软雅黑" panose="020B0503020204020204" pitchFamily="34" charset="-122"/>
                <a:ea typeface="微软雅黑" panose="020B0503020204020204" pitchFamily="34" charset="-122"/>
              </a:rPr>
              <a:t>折半查找算法</a:t>
            </a:r>
            <a:endParaRPr lang="zh-CN" altLang="en-US" sz="2400" dirty="0">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685799" y="1498482"/>
            <a:ext cx="10647931" cy="5207118"/>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折半查找</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en-US" b="0" dirty="0">
                <a:latin typeface="Times New Roman" panose="02020603050405020304" pitchFamily="18" charset="0"/>
                <a:cs typeface="Times New Roman" panose="02020603050405020304" pitchFamily="18" charset="0"/>
              </a:rPr>
              <a:t>template &lt;class </a:t>
            </a:r>
            <a:r>
              <a:rPr lang="en-US" altLang="en-US" b="0" dirty="0" err="1">
                <a:latin typeface="Times New Roman" panose="02020603050405020304" pitchFamily="18" charset="0"/>
                <a:cs typeface="Times New Roman" panose="02020603050405020304" pitchFamily="18" charset="0"/>
              </a:rPr>
              <a:t>ElemType,class</a:t>
            </a: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KeyType</a:t>
            </a:r>
            <a:r>
              <a:rPr lang="en-US" altLang="en-US" b="0" dirty="0">
                <a:latin typeface="Times New Roman" panose="02020603050405020304" pitchFamily="18" charset="0"/>
                <a:cs typeface="Times New Roman" panose="02020603050405020304" pitchFamily="18" charset="0"/>
              </a:rPr>
              <a:t> &gt;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err="1">
                <a:latin typeface="Times New Roman" panose="02020603050405020304" pitchFamily="18" charset="0"/>
                <a:cs typeface="Times New Roman" panose="02020603050405020304" pitchFamily="18" charset="0"/>
              </a:rPr>
              <a:t>int</a:t>
            </a: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BinarySearch</a:t>
            </a:r>
            <a:r>
              <a:rPr lang="en-US" altLang="en-US" b="0" dirty="0">
                <a:latin typeface="Times New Roman" panose="02020603050405020304" pitchFamily="18" charset="0"/>
                <a:cs typeface="Times New Roman" panose="02020603050405020304" pitchFamily="18" charset="0"/>
              </a:rPr>
              <a:t>(</a:t>
            </a:r>
            <a:r>
              <a:rPr lang="en-US" altLang="en-US" b="0" dirty="0" err="1">
                <a:latin typeface="Times New Roman" panose="02020603050405020304" pitchFamily="18" charset="0"/>
                <a:cs typeface="Times New Roman" panose="02020603050405020304" pitchFamily="18" charset="0"/>
              </a:rPr>
              <a:t>StaticTable</a:t>
            </a:r>
            <a:r>
              <a:rPr lang="en-US" altLang="en-US" b="0" dirty="0">
                <a:latin typeface="Times New Roman" panose="02020603050405020304" pitchFamily="18" charset="0"/>
                <a:cs typeface="Times New Roman" panose="02020603050405020304" pitchFamily="18" charset="0"/>
              </a:rPr>
              <a:t>&lt;</a:t>
            </a:r>
            <a:r>
              <a:rPr lang="en-US" altLang="en-US" b="0" dirty="0" err="1">
                <a:latin typeface="Times New Roman" panose="02020603050405020304" pitchFamily="18" charset="0"/>
                <a:cs typeface="Times New Roman" panose="02020603050405020304" pitchFamily="18" charset="0"/>
              </a:rPr>
              <a:t>ElemType</a:t>
            </a: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KeyType</a:t>
            </a:r>
            <a:r>
              <a:rPr lang="en-US" altLang="en-US" b="0" dirty="0">
                <a:latin typeface="Times New Roman" panose="02020603050405020304" pitchFamily="18" charset="0"/>
                <a:cs typeface="Times New Roman" panose="02020603050405020304" pitchFamily="18" charset="0"/>
              </a:rPr>
              <a:t> &gt; &amp;R,</a:t>
            </a:r>
            <a:endParaRPr lang="en-US"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const </a:t>
            </a:r>
            <a:r>
              <a:rPr lang="en-US" altLang="en-US" b="0" dirty="0" err="1">
                <a:latin typeface="Times New Roman" panose="02020603050405020304" pitchFamily="18" charset="0"/>
                <a:cs typeface="Times New Roman" panose="02020603050405020304" pitchFamily="18" charset="0"/>
              </a:rPr>
              <a:t>KeyType</a:t>
            </a:r>
            <a:r>
              <a:rPr lang="en-US" altLang="en-US" b="0" dirty="0">
                <a:latin typeface="Times New Roman" panose="02020603050405020304" pitchFamily="18" charset="0"/>
                <a:cs typeface="Times New Roman" panose="02020603050405020304" pitchFamily="18" charset="0"/>
              </a:rPr>
              <a:t> key)</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a:t>
            </a:r>
            <a:endParaRPr lang="en-US"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 low</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表示所查区间的下界，</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high</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表示所查区间的上界</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int</a:t>
            </a:r>
            <a:r>
              <a:rPr lang="en-US" altLang="en-US" b="0" dirty="0">
                <a:latin typeface="Times New Roman" panose="02020603050405020304" pitchFamily="18" charset="0"/>
                <a:cs typeface="Times New Roman" panose="02020603050405020304" pitchFamily="18" charset="0"/>
              </a:rPr>
              <a:t> low = 0,high = </a:t>
            </a:r>
            <a:r>
              <a:rPr lang="en-US" altLang="en-US" b="0" dirty="0" err="1">
                <a:latin typeface="Times New Roman" panose="02020603050405020304" pitchFamily="18" charset="0"/>
                <a:cs typeface="Times New Roman" panose="02020603050405020304" pitchFamily="18" charset="0"/>
              </a:rPr>
              <a:t>R.m_size</a:t>
            </a:r>
            <a:r>
              <a:rPr lang="en-US" altLang="en-US" b="0" dirty="0">
                <a:latin typeface="Times New Roman" panose="02020603050405020304" pitchFamily="18" charset="0"/>
                <a:cs typeface="Times New Roman" panose="02020603050405020304" pitchFamily="18" charset="0"/>
              </a:rPr>
              <a:t> - 1;</a:t>
            </a:r>
            <a:endParaRPr lang="en-US"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while (low &lt;= high) {</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a:t>
            </a:r>
            <a:r>
              <a:rPr lang="en-US" altLang="en-US" b="0" dirty="0" err="1">
                <a:latin typeface="Times New Roman" panose="02020603050405020304" pitchFamily="18" charset="0"/>
                <a:cs typeface="Times New Roman" panose="02020603050405020304" pitchFamily="18" charset="0"/>
              </a:rPr>
              <a:t>int</a:t>
            </a:r>
            <a:r>
              <a:rPr lang="en-US" altLang="en-US" b="0" dirty="0">
                <a:latin typeface="Times New Roman" panose="02020603050405020304" pitchFamily="18" charset="0"/>
                <a:cs typeface="Times New Roman" panose="02020603050405020304" pitchFamily="18" charset="0"/>
              </a:rPr>
              <a:t> mid = (low + high) / 2;</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if (</a:t>
            </a:r>
            <a:r>
              <a:rPr lang="en-US" altLang="en-US" b="0" dirty="0" err="1">
                <a:latin typeface="Times New Roman" panose="02020603050405020304" pitchFamily="18" charset="0"/>
                <a:cs typeface="Times New Roman" panose="02020603050405020304" pitchFamily="18" charset="0"/>
              </a:rPr>
              <a:t>R.m_datas</a:t>
            </a:r>
            <a:r>
              <a:rPr lang="en-US" altLang="en-US" b="0" dirty="0">
                <a:latin typeface="Times New Roman" panose="02020603050405020304" pitchFamily="18" charset="0"/>
                <a:cs typeface="Times New Roman" panose="02020603050405020304" pitchFamily="18" charset="0"/>
              </a:rPr>
              <a:t>[mid] == key)</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return mid;	         </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查找成功</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else if (</a:t>
            </a:r>
            <a:r>
              <a:rPr lang="en-US" altLang="en-US" b="0" dirty="0" err="1">
                <a:latin typeface="Times New Roman" panose="02020603050405020304" pitchFamily="18" charset="0"/>
                <a:cs typeface="Times New Roman" panose="02020603050405020304" pitchFamily="18" charset="0"/>
              </a:rPr>
              <a:t>R.m_datas</a:t>
            </a:r>
            <a:r>
              <a:rPr lang="en-US" altLang="en-US" b="0" dirty="0">
                <a:latin typeface="Times New Roman" panose="02020603050405020304" pitchFamily="18" charset="0"/>
                <a:cs typeface="Times New Roman" panose="02020603050405020304" pitchFamily="18" charset="0"/>
              </a:rPr>
              <a:t>[mid] &gt; key) </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high = mid - 1;	         </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在前半区间继续查找</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else </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low = mid + 1;	          </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 在后半区间继续查找</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    return -1;	</a:t>
            </a:r>
            <a:r>
              <a:rPr lang="en-US" altLang="en-US" b="0" dirty="0">
                <a:latin typeface="微软雅黑" panose="020B0503020204020204" pitchFamily="34" charset="-122"/>
                <a:ea typeface="微软雅黑" panose="020B0503020204020204" pitchFamily="34" charset="-122"/>
                <a:cs typeface="微软雅黑" panose="020B0503020204020204" pitchFamily="34" charset="-122"/>
              </a:rPr>
              <a:t>// 查找失败</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en-US"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折半查找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457199" y="965082"/>
            <a:ext cx="10955867" cy="5207118"/>
          </a:xfrm>
        </p:spPr>
        <p:txBody>
          <a:bodyPr/>
          <a:lstStyle/>
          <a:p>
            <a:r>
              <a:rPr lang="zh-CN" altLang="en-US" sz="2400" dirty="0">
                <a:latin typeface="微软雅黑" panose="020B0503020204020204" pitchFamily="34" charset="-122"/>
                <a:ea typeface="微软雅黑" panose="020B0503020204020204" pitchFamily="34" charset="-122"/>
              </a:rPr>
              <a:t>折半查找的判定树（表示查找过程）</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上例中长度为</a:t>
            </a:r>
            <a:r>
              <a:rPr lang="en-US" altLang="zh-CN" sz="2400" dirty="0">
                <a:latin typeface="微软雅黑" panose="020B0503020204020204" pitchFamily="34" charset="-122"/>
                <a:ea typeface="微软雅黑" panose="020B0503020204020204" pitchFamily="34" charset="-122"/>
              </a:rPr>
              <a:t>11</a:t>
            </a:r>
            <a:r>
              <a:rPr lang="zh-CN" altLang="en-US" sz="2400" dirty="0">
                <a:latin typeface="微软雅黑" panose="020B0503020204020204" pitchFamily="34" charset="-122"/>
                <a:ea typeface="微软雅黑" panose="020B0503020204020204" pitchFamily="34" charset="-122"/>
              </a:rPr>
              <a:t>的有序表，每个元素查找成功的比较次数</a:t>
            </a:r>
            <a:endParaRPr lang="zh-CN" altLang="en-US" sz="2400" dirty="0">
              <a:latin typeface="微软雅黑" panose="020B0503020204020204" pitchFamily="34" charset="-122"/>
              <a:ea typeface="微软雅黑" panose="020B0503020204020204" pitchFamily="34" charset="-122"/>
            </a:endParaRPr>
          </a:p>
          <a:p>
            <a:pPr>
              <a:buFontTx/>
              <a:buNone/>
            </a:pPr>
            <a:endParaRPr lang="en-US" altLang="zh-CN" dirty="0"/>
          </a:p>
          <a:p>
            <a:endParaRPr lang="zh-CN" altLang="en-US" dirty="0"/>
          </a:p>
        </p:txBody>
      </p:sp>
      <p:sp>
        <p:nvSpPr>
          <p:cNvPr id="7" name="Text Box 7"/>
          <p:cNvSpPr txBox="1">
            <a:spLocks noChangeArrowheads="1"/>
          </p:cNvSpPr>
          <p:nvPr/>
        </p:nvSpPr>
        <p:spPr bwMode="auto">
          <a:xfrm>
            <a:off x="1219199" y="2870762"/>
            <a:ext cx="608659" cy="39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Tx/>
              <a:buNone/>
            </a:pPr>
            <a:endParaRPr lang="zh-CN" altLang="en-US" sz="1800">
              <a:solidFill>
                <a:srgbClr val="FFFFFF"/>
              </a:solidFill>
              <a:latin typeface="Consolas" panose="020B0609020204030204" pitchFamily="49" charset="0"/>
            </a:endParaRPr>
          </a:p>
        </p:txBody>
      </p:sp>
      <p:sp>
        <p:nvSpPr>
          <p:cNvPr id="8" name="Text Box 8"/>
          <p:cNvSpPr txBox="1">
            <a:spLocks noChangeArrowheads="1"/>
          </p:cNvSpPr>
          <p:nvPr/>
        </p:nvSpPr>
        <p:spPr bwMode="auto">
          <a:xfrm>
            <a:off x="1371599" y="3023162"/>
            <a:ext cx="608659" cy="39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Tx/>
              <a:buNone/>
            </a:pPr>
            <a:endParaRPr lang="zh-CN" altLang="en-US" sz="1800">
              <a:solidFill>
                <a:srgbClr val="FFFFFF"/>
              </a:solidFill>
              <a:latin typeface="Consolas" panose="020B0609020204030204" pitchFamily="49" charset="0"/>
            </a:endParaRPr>
          </a:p>
        </p:txBody>
      </p:sp>
      <p:sp>
        <p:nvSpPr>
          <p:cNvPr id="9" name="Text Box 9"/>
          <p:cNvSpPr txBox="1">
            <a:spLocks noChangeArrowheads="1"/>
          </p:cNvSpPr>
          <p:nvPr/>
        </p:nvSpPr>
        <p:spPr bwMode="auto">
          <a:xfrm>
            <a:off x="1904999" y="2870762"/>
            <a:ext cx="608659" cy="391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Tx/>
              <a:buNone/>
            </a:pPr>
            <a:endParaRPr lang="zh-CN" altLang="en-US" sz="1800">
              <a:solidFill>
                <a:srgbClr val="FFFFFF"/>
              </a:solidFill>
              <a:latin typeface="Consolas" panose="020B0609020204030204" pitchFamily="49" charset="0"/>
            </a:endParaRPr>
          </a:p>
        </p:txBody>
      </p:sp>
      <p:sp>
        <p:nvSpPr>
          <p:cNvPr id="10" name="Text Box 11"/>
          <p:cNvSpPr txBox="1">
            <a:spLocks noChangeArrowheads="1"/>
          </p:cNvSpPr>
          <p:nvPr/>
        </p:nvSpPr>
        <p:spPr bwMode="auto">
          <a:xfrm>
            <a:off x="1447800" y="4166162"/>
            <a:ext cx="1270001" cy="475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Tx/>
              <a:buNone/>
            </a:pPr>
            <a:endParaRPr lang="zh-CN" altLang="en-US" sz="1800">
              <a:solidFill>
                <a:srgbClr val="FFFFFF"/>
              </a:solidFill>
              <a:latin typeface="Consolas" panose="020B0609020204030204" pitchFamily="49" charset="0"/>
            </a:endParaRPr>
          </a:p>
        </p:txBody>
      </p:sp>
      <p:graphicFrame>
        <p:nvGraphicFramePr>
          <p:cNvPr id="11" name="Object 27"/>
          <p:cNvGraphicFramePr>
            <a:graphicFrameLocks noChangeAspect="1"/>
          </p:cNvGraphicFramePr>
          <p:nvPr/>
        </p:nvGraphicFramePr>
        <p:xfrm>
          <a:off x="381000" y="1853495"/>
          <a:ext cx="11353801" cy="1686631"/>
        </p:xfrm>
        <a:graphic>
          <a:graphicData uri="http://schemas.openxmlformats.org/presentationml/2006/ole">
            <mc:AlternateContent xmlns:mc="http://schemas.openxmlformats.org/markup-compatibility/2006">
              <mc:Choice xmlns:v="urn:schemas-microsoft-com:vml" Requires="v">
                <p:oleObj spid="_x0000_s3077" name="文档" r:id="rId1" imgW="8507730" imgH="1264285" progId="Word.Document.8">
                  <p:embed/>
                </p:oleObj>
              </mc:Choice>
              <mc:Fallback>
                <p:oleObj name="文档" r:id="rId1" imgW="8507730" imgH="1264285" progId="Word.Document.8">
                  <p:embed/>
                  <p:pic>
                    <p:nvPicPr>
                      <p:cNvPr id="0" name="Object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53495"/>
                        <a:ext cx="11353801" cy="1686631"/>
                      </a:xfrm>
                      <a:prstGeom prst="rect">
                        <a:avLst/>
                      </a:prstGeom>
                      <a:noFill/>
                      <a:ln>
                        <a:noFill/>
                      </a:ln>
                      <a:effectLst/>
                    </p:spPr>
                  </p:pic>
                </p:oleObj>
              </mc:Fallback>
            </mc:AlternateContent>
          </a:graphicData>
        </a:graphic>
      </p:graphicFrame>
      <p:sp>
        <p:nvSpPr>
          <p:cNvPr id="12" name="Text Box 28"/>
          <p:cNvSpPr txBox="1">
            <a:spLocks noChangeArrowheads="1"/>
          </p:cNvSpPr>
          <p:nvPr/>
        </p:nvSpPr>
        <p:spPr bwMode="auto">
          <a:xfrm>
            <a:off x="6191262" y="2611300"/>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dirty="0">
                <a:solidFill>
                  <a:schemeClr val="accent1"/>
                </a:solidFill>
                <a:ea typeface="宋体" panose="02010600030101010101" pitchFamily="2" charset="-122"/>
              </a:rPr>
              <a:t>1</a:t>
            </a:r>
            <a:endParaRPr kumimoji="1" lang="en-US" altLang="zh-CN" b="0" dirty="0">
              <a:ea typeface="宋体" panose="02010600030101010101" pitchFamily="2" charset="-122"/>
            </a:endParaRPr>
          </a:p>
        </p:txBody>
      </p:sp>
      <p:sp>
        <p:nvSpPr>
          <p:cNvPr id="13" name="Text Box 29"/>
          <p:cNvSpPr txBox="1">
            <a:spLocks noChangeArrowheads="1"/>
          </p:cNvSpPr>
          <p:nvPr/>
        </p:nvSpPr>
        <p:spPr bwMode="auto">
          <a:xfrm>
            <a:off x="3416436" y="2620392"/>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b="0" dirty="0">
                <a:solidFill>
                  <a:schemeClr val="accent2"/>
                </a:solidFill>
                <a:ea typeface="宋体" panose="02010600030101010101" pitchFamily="2" charset="-122"/>
              </a:rPr>
              <a:t>2</a:t>
            </a:r>
            <a:endParaRPr kumimoji="1" lang="en-US" altLang="zh-CN" b="0" dirty="0">
              <a:ea typeface="宋体" panose="02010600030101010101" pitchFamily="2" charset="-122"/>
            </a:endParaRPr>
          </a:p>
        </p:txBody>
      </p:sp>
      <p:sp>
        <p:nvSpPr>
          <p:cNvPr id="14" name="Text Box 30"/>
          <p:cNvSpPr txBox="1">
            <a:spLocks noChangeArrowheads="1"/>
          </p:cNvSpPr>
          <p:nvPr/>
        </p:nvSpPr>
        <p:spPr bwMode="auto">
          <a:xfrm>
            <a:off x="8972462" y="2611302"/>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b="0" dirty="0">
                <a:solidFill>
                  <a:schemeClr val="accent2"/>
                </a:solidFill>
                <a:ea typeface="宋体" panose="02010600030101010101" pitchFamily="2" charset="-122"/>
              </a:rPr>
              <a:t>2</a:t>
            </a:r>
            <a:endParaRPr kumimoji="1" lang="en-US" altLang="zh-CN" b="0" dirty="0">
              <a:ea typeface="宋体" panose="02010600030101010101" pitchFamily="2" charset="-122"/>
            </a:endParaRPr>
          </a:p>
        </p:txBody>
      </p:sp>
      <p:sp>
        <p:nvSpPr>
          <p:cNvPr id="15" name="Text Box 31"/>
          <p:cNvSpPr txBox="1">
            <a:spLocks noChangeArrowheads="1"/>
          </p:cNvSpPr>
          <p:nvPr/>
        </p:nvSpPr>
        <p:spPr bwMode="auto">
          <a:xfrm>
            <a:off x="1618970" y="2637566"/>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b="0" dirty="0">
                <a:solidFill>
                  <a:srgbClr val="FF00FF"/>
                </a:solidFill>
                <a:ea typeface="宋体" panose="02010600030101010101" pitchFamily="2" charset="-122"/>
              </a:rPr>
              <a:t>3</a:t>
            </a:r>
            <a:endParaRPr kumimoji="1" lang="en-US" altLang="zh-CN" b="0" dirty="0">
              <a:ea typeface="宋体" panose="02010600030101010101" pitchFamily="2" charset="-122"/>
            </a:endParaRPr>
          </a:p>
        </p:txBody>
      </p:sp>
      <p:sp>
        <p:nvSpPr>
          <p:cNvPr id="16" name="Text Box 32"/>
          <p:cNvSpPr txBox="1">
            <a:spLocks noChangeArrowheads="1"/>
          </p:cNvSpPr>
          <p:nvPr/>
        </p:nvSpPr>
        <p:spPr bwMode="auto">
          <a:xfrm>
            <a:off x="4300142" y="2615982"/>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b="0" dirty="0">
                <a:solidFill>
                  <a:srgbClr val="FF00FF"/>
                </a:solidFill>
                <a:ea typeface="宋体" panose="02010600030101010101" pitchFamily="2" charset="-122"/>
              </a:rPr>
              <a:t>3</a:t>
            </a:r>
            <a:endParaRPr kumimoji="1" lang="en-US" altLang="zh-CN" b="0" dirty="0">
              <a:ea typeface="宋体" panose="02010600030101010101" pitchFamily="2" charset="-122"/>
            </a:endParaRPr>
          </a:p>
        </p:txBody>
      </p:sp>
      <p:sp>
        <p:nvSpPr>
          <p:cNvPr id="17" name="Text Box 33"/>
          <p:cNvSpPr txBox="1">
            <a:spLocks noChangeArrowheads="1"/>
          </p:cNvSpPr>
          <p:nvPr/>
        </p:nvSpPr>
        <p:spPr bwMode="auto">
          <a:xfrm>
            <a:off x="7081342" y="2611300"/>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b="0">
                <a:solidFill>
                  <a:srgbClr val="FF00FF"/>
                </a:solidFill>
                <a:ea typeface="宋体" panose="02010600030101010101" pitchFamily="2" charset="-122"/>
              </a:rPr>
              <a:t>3</a:t>
            </a:r>
            <a:endParaRPr kumimoji="1" lang="en-US" altLang="zh-CN" b="0">
              <a:ea typeface="宋体" panose="02010600030101010101" pitchFamily="2" charset="-122"/>
            </a:endParaRPr>
          </a:p>
        </p:txBody>
      </p:sp>
      <p:sp>
        <p:nvSpPr>
          <p:cNvPr id="18" name="Text Box 34"/>
          <p:cNvSpPr txBox="1">
            <a:spLocks noChangeArrowheads="1"/>
          </p:cNvSpPr>
          <p:nvPr/>
        </p:nvSpPr>
        <p:spPr bwMode="auto">
          <a:xfrm>
            <a:off x="9843681" y="2590616"/>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b="0" dirty="0">
                <a:solidFill>
                  <a:srgbClr val="FF00FF"/>
                </a:solidFill>
                <a:ea typeface="宋体" panose="02010600030101010101" pitchFamily="2" charset="-122"/>
              </a:rPr>
              <a:t>3</a:t>
            </a:r>
            <a:endParaRPr kumimoji="1" lang="en-US" altLang="zh-CN" b="0" dirty="0">
              <a:ea typeface="宋体" panose="02010600030101010101" pitchFamily="2" charset="-122"/>
            </a:endParaRPr>
          </a:p>
        </p:txBody>
      </p:sp>
      <p:sp>
        <p:nvSpPr>
          <p:cNvPr id="19" name="Text Box 35"/>
          <p:cNvSpPr txBox="1">
            <a:spLocks noChangeArrowheads="1"/>
          </p:cNvSpPr>
          <p:nvPr/>
        </p:nvSpPr>
        <p:spPr bwMode="auto">
          <a:xfrm>
            <a:off x="2542867" y="2637566"/>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dirty="0">
                <a:solidFill>
                  <a:srgbClr val="9D9DFF"/>
                </a:solidFill>
                <a:ea typeface="宋体" panose="02010600030101010101" pitchFamily="2" charset="-122"/>
              </a:rPr>
              <a:t>4</a:t>
            </a:r>
            <a:endParaRPr kumimoji="1" lang="en-US" altLang="zh-CN" b="0" dirty="0">
              <a:ea typeface="宋体" panose="02010600030101010101" pitchFamily="2" charset="-122"/>
            </a:endParaRPr>
          </a:p>
        </p:txBody>
      </p:sp>
      <p:sp>
        <p:nvSpPr>
          <p:cNvPr id="20" name="Text Box 36"/>
          <p:cNvSpPr txBox="1">
            <a:spLocks noChangeArrowheads="1"/>
          </p:cNvSpPr>
          <p:nvPr/>
        </p:nvSpPr>
        <p:spPr bwMode="auto">
          <a:xfrm>
            <a:off x="5260558" y="2637566"/>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dirty="0">
                <a:solidFill>
                  <a:srgbClr val="9D9DFF"/>
                </a:solidFill>
                <a:ea typeface="宋体" panose="02010600030101010101" pitchFamily="2" charset="-122"/>
              </a:rPr>
              <a:t>4</a:t>
            </a:r>
            <a:endParaRPr kumimoji="1" lang="en-US" altLang="zh-CN" b="0" dirty="0">
              <a:ea typeface="宋体" panose="02010600030101010101" pitchFamily="2" charset="-122"/>
            </a:endParaRPr>
          </a:p>
        </p:txBody>
      </p:sp>
      <p:sp>
        <p:nvSpPr>
          <p:cNvPr id="21" name="Text Box 37"/>
          <p:cNvSpPr txBox="1">
            <a:spLocks noChangeArrowheads="1"/>
          </p:cNvSpPr>
          <p:nvPr/>
        </p:nvSpPr>
        <p:spPr bwMode="auto">
          <a:xfrm>
            <a:off x="8026644" y="2611301"/>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dirty="0">
                <a:solidFill>
                  <a:srgbClr val="9D9DFF"/>
                </a:solidFill>
                <a:ea typeface="宋体" panose="02010600030101010101" pitchFamily="2" charset="-122"/>
              </a:rPr>
              <a:t>4</a:t>
            </a:r>
            <a:endParaRPr kumimoji="1" lang="en-US" altLang="zh-CN" b="0" dirty="0">
              <a:ea typeface="宋体" panose="02010600030101010101" pitchFamily="2" charset="-122"/>
            </a:endParaRPr>
          </a:p>
        </p:txBody>
      </p:sp>
      <p:sp>
        <p:nvSpPr>
          <p:cNvPr id="22" name="Text Box 38"/>
          <p:cNvSpPr txBox="1">
            <a:spLocks noChangeArrowheads="1"/>
          </p:cNvSpPr>
          <p:nvPr/>
        </p:nvSpPr>
        <p:spPr bwMode="auto">
          <a:xfrm>
            <a:off x="10789499" y="2590617"/>
            <a:ext cx="5494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kumimoji="1" lang="en-US" altLang="zh-CN" sz="3600" dirty="0">
                <a:solidFill>
                  <a:srgbClr val="9D9DFF"/>
                </a:solidFill>
                <a:ea typeface="宋体" panose="02010600030101010101" pitchFamily="2" charset="-122"/>
              </a:rPr>
              <a:t>4</a:t>
            </a:r>
            <a:endParaRPr kumimoji="1" lang="en-US" altLang="zh-CN" b="0" dirty="0">
              <a:ea typeface="宋体" panose="02010600030101010101" pitchFamily="2" charset="-122"/>
            </a:endParaRPr>
          </a:p>
        </p:txBody>
      </p:sp>
      <p:sp>
        <p:nvSpPr>
          <p:cNvPr id="23" name="Oval 45"/>
          <p:cNvSpPr>
            <a:spLocks noChangeArrowheads="1"/>
          </p:cNvSpPr>
          <p:nvPr/>
        </p:nvSpPr>
        <p:spPr bwMode="auto">
          <a:xfrm>
            <a:off x="2683933" y="3386702"/>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dirty="0">
                <a:solidFill>
                  <a:srgbClr val="A50021"/>
                </a:solidFill>
              </a:rPr>
              <a:t>5</a:t>
            </a:r>
            <a:endParaRPr lang="en-US" altLang="zh-CN" sz="1800" dirty="0">
              <a:solidFill>
                <a:srgbClr val="FFFFFF"/>
              </a:solidFill>
            </a:endParaRPr>
          </a:p>
        </p:txBody>
      </p:sp>
      <p:sp>
        <p:nvSpPr>
          <p:cNvPr id="24" name="Line 11"/>
          <p:cNvSpPr>
            <a:spLocks noChangeShapeType="1"/>
          </p:cNvSpPr>
          <p:nvPr/>
        </p:nvSpPr>
        <p:spPr bwMode="auto">
          <a:xfrm flipH="1">
            <a:off x="1904999" y="4012794"/>
            <a:ext cx="931334"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3"/>
          <p:cNvSpPr>
            <a:spLocks noChangeShapeType="1"/>
          </p:cNvSpPr>
          <p:nvPr/>
        </p:nvSpPr>
        <p:spPr bwMode="auto">
          <a:xfrm>
            <a:off x="3352800" y="4012794"/>
            <a:ext cx="931334"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Oval 45"/>
          <p:cNvSpPr>
            <a:spLocks noChangeArrowheads="1"/>
          </p:cNvSpPr>
          <p:nvPr/>
        </p:nvSpPr>
        <p:spPr bwMode="auto">
          <a:xfrm>
            <a:off x="4724399" y="52216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dist" eaLnBrk="1" hangingPunct="1">
              <a:spcBef>
                <a:spcPct val="0"/>
              </a:spcBef>
              <a:buFontTx/>
              <a:buNone/>
            </a:pPr>
            <a:r>
              <a:rPr lang="en-US" altLang="zh-CN" sz="3600">
                <a:solidFill>
                  <a:srgbClr val="A50021"/>
                </a:solidFill>
              </a:rPr>
              <a:t>9</a:t>
            </a:r>
            <a:endParaRPr lang="en-US" altLang="zh-CN" sz="3600">
              <a:solidFill>
                <a:srgbClr val="A50021"/>
              </a:solidFill>
            </a:endParaRPr>
          </a:p>
        </p:txBody>
      </p:sp>
      <p:sp>
        <p:nvSpPr>
          <p:cNvPr id="27" name="Oval 45"/>
          <p:cNvSpPr>
            <a:spLocks noChangeArrowheads="1"/>
          </p:cNvSpPr>
          <p:nvPr/>
        </p:nvSpPr>
        <p:spPr bwMode="auto">
          <a:xfrm>
            <a:off x="3352799" y="52216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dist" eaLnBrk="1" hangingPunct="1">
              <a:spcBef>
                <a:spcPct val="0"/>
              </a:spcBef>
              <a:buFontTx/>
              <a:buNone/>
            </a:pPr>
            <a:r>
              <a:rPr lang="en-US" altLang="zh-CN" sz="3600">
                <a:solidFill>
                  <a:srgbClr val="A50021"/>
                </a:solidFill>
              </a:rPr>
              <a:t>6</a:t>
            </a:r>
            <a:endParaRPr lang="en-US" altLang="zh-CN" sz="3600">
              <a:solidFill>
                <a:srgbClr val="A50021"/>
              </a:solidFill>
            </a:endParaRPr>
          </a:p>
        </p:txBody>
      </p:sp>
      <p:sp>
        <p:nvSpPr>
          <p:cNvPr id="28" name="Oval 45"/>
          <p:cNvSpPr>
            <a:spLocks noChangeArrowheads="1"/>
          </p:cNvSpPr>
          <p:nvPr/>
        </p:nvSpPr>
        <p:spPr bwMode="auto">
          <a:xfrm>
            <a:off x="3962399" y="43834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A50021"/>
                </a:solidFill>
              </a:rPr>
              <a:t>8</a:t>
            </a:r>
            <a:endParaRPr lang="en-US" altLang="zh-CN" sz="3600">
              <a:solidFill>
                <a:srgbClr val="A50021"/>
              </a:solidFill>
            </a:endParaRPr>
          </a:p>
        </p:txBody>
      </p:sp>
      <p:sp>
        <p:nvSpPr>
          <p:cNvPr id="29" name="Oval 45"/>
          <p:cNvSpPr>
            <a:spLocks noChangeArrowheads="1"/>
          </p:cNvSpPr>
          <p:nvPr/>
        </p:nvSpPr>
        <p:spPr bwMode="auto">
          <a:xfrm>
            <a:off x="1523999" y="43834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A50021"/>
                </a:solidFill>
              </a:rPr>
              <a:t>2</a:t>
            </a:r>
            <a:endParaRPr lang="en-US" altLang="zh-CN" sz="3600">
              <a:solidFill>
                <a:srgbClr val="A50021"/>
              </a:solidFill>
            </a:endParaRPr>
          </a:p>
        </p:txBody>
      </p:sp>
      <p:sp>
        <p:nvSpPr>
          <p:cNvPr id="30" name="Oval 45"/>
          <p:cNvSpPr>
            <a:spLocks noChangeArrowheads="1"/>
          </p:cNvSpPr>
          <p:nvPr/>
        </p:nvSpPr>
        <p:spPr bwMode="auto">
          <a:xfrm>
            <a:off x="2209799" y="52216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dist" eaLnBrk="1" hangingPunct="1">
              <a:spcBef>
                <a:spcPct val="0"/>
              </a:spcBef>
              <a:buFontTx/>
              <a:buNone/>
            </a:pPr>
            <a:r>
              <a:rPr lang="en-US" altLang="zh-CN" sz="3600">
                <a:solidFill>
                  <a:srgbClr val="A50021"/>
                </a:solidFill>
              </a:rPr>
              <a:t>3</a:t>
            </a:r>
            <a:endParaRPr lang="en-US" altLang="zh-CN" sz="3600">
              <a:solidFill>
                <a:srgbClr val="A50021"/>
              </a:solidFill>
            </a:endParaRPr>
          </a:p>
        </p:txBody>
      </p:sp>
      <p:sp>
        <p:nvSpPr>
          <p:cNvPr id="31" name="Oval 45"/>
          <p:cNvSpPr>
            <a:spLocks noChangeArrowheads="1"/>
          </p:cNvSpPr>
          <p:nvPr/>
        </p:nvSpPr>
        <p:spPr bwMode="auto">
          <a:xfrm>
            <a:off x="838199" y="52216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dist" eaLnBrk="1" hangingPunct="1">
              <a:spcBef>
                <a:spcPct val="0"/>
              </a:spcBef>
              <a:buFontTx/>
              <a:buNone/>
            </a:pPr>
            <a:r>
              <a:rPr lang="en-US" altLang="zh-CN" sz="3600">
                <a:solidFill>
                  <a:srgbClr val="A50021"/>
                </a:solidFill>
              </a:rPr>
              <a:t>0</a:t>
            </a:r>
            <a:endParaRPr lang="en-US" altLang="zh-CN" sz="3600">
              <a:solidFill>
                <a:srgbClr val="A50021"/>
              </a:solidFill>
            </a:endParaRPr>
          </a:p>
        </p:txBody>
      </p:sp>
      <p:sp>
        <p:nvSpPr>
          <p:cNvPr id="32" name="Line 11"/>
          <p:cNvSpPr>
            <a:spLocks noChangeShapeType="1"/>
          </p:cNvSpPr>
          <p:nvPr/>
        </p:nvSpPr>
        <p:spPr bwMode="auto">
          <a:xfrm flipH="1">
            <a:off x="1142999" y="4850994"/>
            <a:ext cx="508000"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3"/>
          <p:cNvSpPr>
            <a:spLocks noChangeShapeType="1"/>
          </p:cNvSpPr>
          <p:nvPr/>
        </p:nvSpPr>
        <p:spPr bwMode="auto">
          <a:xfrm>
            <a:off x="2133600" y="4850994"/>
            <a:ext cx="508000"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1"/>
          <p:cNvSpPr>
            <a:spLocks noChangeShapeType="1"/>
          </p:cNvSpPr>
          <p:nvPr/>
        </p:nvSpPr>
        <p:spPr bwMode="auto">
          <a:xfrm flipH="1">
            <a:off x="3657600" y="4850994"/>
            <a:ext cx="423334"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13"/>
          <p:cNvSpPr>
            <a:spLocks noChangeShapeType="1"/>
          </p:cNvSpPr>
          <p:nvPr/>
        </p:nvSpPr>
        <p:spPr bwMode="auto">
          <a:xfrm>
            <a:off x="4572000" y="4850994"/>
            <a:ext cx="508000"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Oval 45"/>
          <p:cNvSpPr>
            <a:spLocks noChangeArrowheads="1"/>
          </p:cNvSpPr>
          <p:nvPr/>
        </p:nvSpPr>
        <p:spPr bwMode="auto">
          <a:xfrm>
            <a:off x="1523999" y="60598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dist" eaLnBrk="1" hangingPunct="1">
              <a:spcBef>
                <a:spcPct val="0"/>
              </a:spcBef>
              <a:buFontTx/>
              <a:buNone/>
            </a:pPr>
            <a:r>
              <a:rPr lang="en-US" altLang="zh-CN" sz="3600">
                <a:solidFill>
                  <a:srgbClr val="A50021"/>
                </a:solidFill>
              </a:rPr>
              <a:t>1</a:t>
            </a:r>
            <a:endParaRPr lang="en-US" altLang="zh-CN" sz="3600">
              <a:solidFill>
                <a:srgbClr val="A50021"/>
              </a:solidFill>
            </a:endParaRPr>
          </a:p>
        </p:txBody>
      </p:sp>
      <p:sp>
        <p:nvSpPr>
          <p:cNvPr id="37" name="Line 13"/>
          <p:cNvSpPr>
            <a:spLocks noChangeShapeType="1"/>
          </p:cNvSpPr>
          <p:nvPr/>
        </p:nvSpPr>
        <p:spPr bwMode="auto">
          <a:xfrm>
            <a:off x="1447800" y="5689194"/>
            <a:ext cx="508000"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Oval 45"/>
          <p:cNvSpPr>
            <a:spLocks noChangeArrowheads="1"/>
          </p:cNvSpPr>
          <p:nvPr/>
        </p:nvSpPr>
        <p:spPr bwMode="auto">
          <a:xfrm>
            <a:off x="2895599" y="60598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dist" eaLnBrk="1" hangingPunct="1">
              <a:spcBef>
                <a:spcPct val="0"/>
              </a:spcBef>
              <a:buFontTx/>
              <a:buNone/>
            </a:pPr>
            <a:r>
              <a:rPr lang="en-US" altLang="zh-CN" sz="3600">
                <a:solidFill>
                  <a:srgbClr val="A50021"/>
                </a:solidFill>
              </a:rPr>
              <a:t>4</a:t>
            </a:r>
            <a:endParaRPr lang="en-US" altLang="zh-CN" sz="3600">
              <a:solidFill>
                <a:srgbClr val="A50021"/>
              </a:solidFill>
            </a:endParaRPr>
          </a:p>
        </p:txBody>
      </p:sp>
      <p:sp>
        <p:nvSpPr>
          <p:cNvPr id="39" name="Line 13"/>
          <p:cNvSpPr>
            <a:spLocks noChangeShapeType="1"/>
          </p:cNvSpPr>
          <p:nvPr/>
        </p:nvSpPr>
        <p:spPr bwMode="auto">
          <a:xfrm>
            <a:off x="2819400" y="5689194"/>
            <a:ext cx="508000"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Oval 45"/>
          <p:cNvSpPr>
            <a:spLocks noChangeArrowheads="1"/>
          </p:cNvSpPr>
          <p:nvPr/>
        </p:nvSpPr>
        <p:spPr bwMode="auto">
          <a:xfrm>
            <a:off x="4038599" y="60598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dist" eaLnBrk="1" hangingPunct="1">
              <a:spcBef>
                <a:spcPct val="0"/>
              </a:spcBef>
              <a:buFontTx/>
              <a:buNone/>
            </a:pPr>
            <a:r>
              <a:rPr lang="en-US" altLang="zh-CN" sz="3600">
                <a:solidFill>
                  <a:srgbClr val="A50021"/>
                </a:solidFill>
              </a:rPr>
              <a:t>7</a:t>
            </a:r>
            <a:endParaRPr lang="en-US" altLang="zh-CN" sz="3600">
              <a:solidFill>
                <a:srgbClr val="A50021"/>
              </a:solidFill>
            </a:endParaRPr>
          </a:p>
        </p:txBody>
      </p:sp>
      <p:sp>
        <p:nvSpPr>
          <p:cNvPr id="41" name="Line 13"/>
          <p:cNvSpPr>
            <a:spLocks noChangeShapeType="1"/>
          </p:cNvSpPr>
          <p:nvPr/>
        </p:nvSpPr>
        <p:spPr bwMode="auto">
          <a:xfrm>
            <a:off x="3962400" y="5689194"/>
            <a:ext cx="508000"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Oval 45"/>
          <p:cNvSpPr>
            <a:spLocks noChangeArrowheads="1"/>
          </p:cNvSpPr>
          <p:nvPr/>
        </p:nvSpPr>
        <p:spPr bwMode="auto">
          <a:xfrm>
            <a:off x="5333999" y="6059871"/>
            <a:ext cx="762001" cy="691878"/>
          </a:xfrm>
          <a:prstGeom prst="ellipse">
            <a:avLst/>
          </a:prstGeom>
          <a:solidFill>
            <a:schemeClr val="accent1">
              <a:lumMod val="20000"/>
              <a:lumOff val="80000"/>
            </a:schemeClr>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dist" eaLnBrk="1" hangingPunct="1">
              <a:spcBef>
                <a:spcPct val="0"/>
              </a:spcBef>
              <a:buFontTx/>
              <a:buNone/>
            </a:pPr>
            <a:r>
              <a:rPr lang="en-US" altLang="zh-CN" sz="3600" dirty="0">
                <a:solidFill>
                  <a:srgbClr val="A50021"/>
                </a:solidFill>
              </a:rPr>
              <a:t>10</a:t>
            </a:r>
            <a:endParaRPr lang="en-US" altLang="zh-CN" sz="3600" dirty="0">
              <a:solidFill>
                <a:srgbClr val="A50021"/>
              </a:solidFill>
            </a:endParaRPr>
          </a:p>
        </p:txBody>
      </p:sp>
      <p:sp>
        <p:nvSpPr>
          <p:cNvPr id="43" name="Line 13"/>
          <p:cNvSpPr>
            <a:spLocks noChangeShapeType="1"/>
          </p:cNvSpPr>
          <p:nvPr/>
        </p:nvSpPr>
        <p:spPr bwMode="auto">
          <a:xfrm>
            <a:off x="5257800" y="5689194"/>
            <a:ext cx="508000" cy="494198"/>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Text Box 60"/>
          <p:cNvSpPr txBox="1">
            <a:spLocks noChangeArrowheads="1"/>
          </p:cNvSpPr>
          <p:nvPr/>
        </p:nvSpPr>
        <p:spPr bwMode="auto">
          <a:xfrm>
            <a:off x="3886200" y="3846953"/>
            <a:ext cx="3550512"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Tx/>
              <a:buNone/>
            </a:pPr>
            <a:r>
              <a:rPr lang="en-US" altLang="zh-CN" sz="3200" b="0" dirty="0"/>
              <a:t>ASL=</a:t>
            </a:r>
            <a:endParaRPr lang="en-US" altLang="zh-CN" sz="3200" b="0" dirty="0"/>
          </a:p>
        </p:txBody>
      </p:sp>
      <p:graphicFrame>
        <p:nvGraphicFramePr>
          <p:cNvPr id="45" name="Object 61"/>
          <p:cNvGraphicFramePr>
            <a:graphicFrameLocks noChangeAspect="1"/>
          </p:cNvGraphicFramePr>
          <p:nvPr/>
        </p:nvGraphicFramePr>
        <p:xfrm>
          <a:off x="5802313" y="3515417"/>
          <a:ext cx="4197213" cy="1132783"/>
        </p:xfrm>
        <a:graphic>
          <a:graphicData uri="http://schemas.openxmlformats.org/presentationml/2006/ole">
            <mc:AlternateContent xmlns:mc="http://schemas.openxmlformats.org/markup-compatibility/2006">
              <mc:Choice xmlns:v="urn:schemas-microsoft-com:vml" Requires="v">
                <p:oleObj spid="_x0000_s2" name="公式" r:id="rId3" imgW="1790700" imgH="393700" progId="Equation.3">
                  <p:embed/>
                </p:oleObj>
              </mc:Choice>
              <mc:Fallback>
                <p:oleObj name="公式" r:id="rId3" imgW="1790700" imgH="393700" progId="Equation.3">
                  <p:embed/>
                  <p:pic>
                    <p:nvPicPr>
                      <p:cNvPr id="0" name="Object 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2313" y="3515417"/>
                        <a:ext cx="4197213" cy="1132783"/>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1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2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2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2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nodePh="1">
                                  <p:stCondLst>
                                    <p:cond delay="0"/>
                                  </p:stCondLst>
                                  <p:endCondLst>
                                    <p:cond evt="begin" delay="0">
                                      <p:tn val="54"/>
                                    </p:cond>
                                  </p:endCondLst>
                                  <p:childTnLst>
                                    <p:set>
                                      <p:cBhvr>
                                        <p:cTn id="55" dur="1" fill="hold">
                                          <p:stCondLst>
                                            <p:cond delay="0"/>
                                          </p:stCondLst>
                                        </p:cTn>
                                        <p:tgtEl>
                                          <p:spTgt spid="10"/>
                                        </p:tgtEl>
                                        <p:attrNameLst>
                                          <p:attrName>style.visibility</p:attrName>
                                        </p:attrNameLst>
                                      </p:cBhvr>
                                      <p:to>
                                        <p:strVal val="visible"/>
                                      </p:to>
                                    </p:set>
                                    <p:anim calcmode="lin" valueType="num">
                                      <p:cBhvr additive="base">
                                        <p:cTn id="56" dur="500" fill="hold"/>
                                        <p:tgtEl>
                                          <p:spTgt spid="10"/>
                                        </p:tgtEl>
                                        <p:attrNameLst>
                                          <p:attrName>ppt_x</p:attrName>
                                        </p:attrNameLst>
                                      </p:cBhvr>
                                      <p:tavLst>
                                        <p:tav tm="0">
                                          <p:val>
                                            <p:strVal val="#ppt_x"/>
                                          </p:val>
                                        </p:tav>
                                        <p:tav tm="100000">
                                          <p:val>
                                            <p:strVal val="#ppt_x"/>
                                          </p:val>
                                        </p:tav>
                                      </p:tavLst>
                                    </p:anim>
                                    <p:anim calcmode="lin" valueType="num">
                                      <p:cBhvr additive="base">
                                        <p:cTn id="57" dur="500" fill="hold"/>
                                        <p:tgtEl>
                                          <p:spTgt spid="10"/>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 calcmode="lin" valueType="num">
                                      <p:cBhvr additive="base">
                                        <p:cTn id="60" dur="500" fill="hold"/>
                                        <p:tgtEl>
                                          <p:spTgt spid="24"/>
                                        </p:tgtEl>
                                        <p:attrNameLst>
                                          <p:attrName>ppt_x</p:attrName>
                                        </p:attrNameLst>
                                      </p:cBhvr>
                                      <p:tavLst>
                                        <p:tav tm="0">
                                          <p:val>
                                            <p:strVal val="#ppt_x"/>
                                          </p:val>
                                        </p:tav>
                                        <p:tav tm="100000">
                                          <p:val>
                                            <p:strVal val="#ppt_x"/>
                                          </p:val>
                                        </p:tav>
                                      </p:tavLst>
                                    </p:anim>
                                    <p:anim calcmode="lin" valueType="num">
                                      <p:cBhvr additive="base">
                                        <p:cTn id="61" dur="500" fill="hold"/>
                                        <p:tgtEl>
                                          <p:spTgt spid="24"/>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 calcmode="lin" valueType="num">
                                      <p:cBhvr additive="base">
                                        <p:cTn id="64" dur="500" fill="hold"/>
                                        <p:tgtEl>
                                          <p:spTgt spid="25"/>
                                        </p:tgtEl>
                                        <p:attrNameLst>
                                          <p:attrName>ppt_x</p:attrName>
                                        </p:attrNameLst>
                                      </p:cBhvr>
                                      <p:tavLst>
                                        <p:tav tm="0">
                                          <p:val>
                                            <p:strVal val="#ppt_x"/>
                                          </p:val>
                                        </p:tav>
                                        <p:tav tm="100000">
                                          <p:val>
                                            <p:strVal val="#ppt_x"/>
                                          </p:val>
                                        </p:tav>
                                      </p:tavLst>
                                    </p:anim>
                                    <p:anim calcmode="lin" valueType="num">
                                      <p:cBhvr additive="base">
                                        <p:cTn id="65" dur="500" fill="hold"/>
                                        <p:tgtEl>
                                          <p:spTgt spid="25"/>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 calcmode="lin" valueType="num">
                                      <p:cBhvr additive="base">
                                        <p:cTn id="68" dur="500" fill="hold"/>
                                        <p:tgtEl>
                                          <p:spTgt spid="26"/>
                                        </p:tgtEl>
                                        <p:attrNameLst>
                                          <p:attrName>ppt_x</p:attrName>
                                        </p:attrNameLst>
                                      </p:cBhvr>
                                      <p:tavLst>
                                        <p:tav tm="0">
                                          <p:val>
                                            <p:strVal val="#ppt_x"/>
                                          </p:val>
                                        </p:tav>
                                        <p:tav tm="100000">
                                          <p:val>
                                            <p:strVal val="#ppt_x"/>
                                          </p:val>
                                        </p:tav>
                                      </p:tavLst>
                                    </p:anim>
                                    <p:anim calcmode="lin" valueType="num">
                                      <p:cBhvr additive="base">
                                        <p:cTn id="69" dur="500" fill="hold"/>
                                        <p:tgtEl>
                                          <p:spTgt spid="26"/>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 calcmode="lin" valueType="num">
                                      <p:cBhvr additive="base">
                                        <p:cTn id="72" dur="500" fill="hold"/>
                                        <p:tgtEl>
                                          <p:spTgt spid="27"/>
                                        </p:tgtEl>
                                        <p:attrNameLst>
                                          <p:attrName>ppt_x</p:attrName>
                                        </p:attrNameLst>
                                      </p:cBhvr>
                                      <p:tavLst>
                                        <p:tav tm="0">
                                          <p:val>
                                            <p:strVal val="#ppt_x"/>
                                          </p:val>
                                        </p:tav>
                                        <p:tav tm="100000">
                                          <p:val>
                                            <p:strVal val="#ppt_x"/>
                                          </p:val>
                                        </p:tav>
                                      </p:tavLst>
                                    </p:anim>
                                    <p:anim calcmode="lin" valueType="num">
                                      <p:cBhvr additive="base">
                                        <p:cTn id="73" dur="500" fill="hold"/>
                                        <p:tgtEl>
                                          <p:spTgt spid="27"/>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 calcmode="lin" valueType="num">
                                      <p:cBhvr additive="base">
                                        <p:cTn id="76" dur="500" fill="hold"/>
                                        <p:tgtEl>
                                          <p:spTgt spid="28"/>
                                        </p:tgtEl>
                                        <p:attrNameLst>
                                          <p:attrName>ppt_x</p:attrName>
                                        </p:attrNameLst>
                                      </p:cBhvr>
                                      <p:tavLst>
                                        <p:tav tm="0">
                                          <p:val>
                                            <p:strVal val="#ppt_x"/>
                                          </p:val>
                                        </p:tav>
                                        <p:tav tm="100000">
                                          <p:val>
                                            <p:strVal val="#ppt_x"/>
                                          </p:val>
                                        </p:tav>
                                      </p:tavLst>
                                    </p:anim>
                                    <p:anim calcmode="lin" valueType="num">
                                      <p:cBhvr additive="base">
                                        <p:cTn id="77" dur="500" fill="hold"/>
                                        <p:tgtEl>
                                          <p:spTgt spid="28"/>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 calcmode="lin" valueType="num">
                                      <p:cBhvr additive="base">
                                        <p:cTn id="80" dur="500" fill="hold"/>
                                        <p:tgtEl>
                                          <p:spTgt spid="29"/>
                                        </p:tgtEl>
                                        <p:attrNameLst>
                                          <p:attrName>ppt_x</p:attrName>
                                        </p:attrNameLst>
                                      </p:cBhvr>
                                      <p:tavLst>
                                        <p:tav tm="0">
                                          <p:val>
                                            <p:strVal val="#ppt_x"/>
                                          </p:val>
                                        </p:tav>
                                        <p:tav tm="100000">
                                          <p:val>
                                            <p:strVal val="#ppt_x"/>
                                          </p:val>
                                        </p:tav>
                                      </p:tavLst>
                                    </p:anim>
                                    <p:anim calcmode="lin" valueType="num">
                                      <p:cBhvr additive="base">
                                        <p:cTn id="81" dur="500" fill="hold"/>
                                        <p:tgtEl>
                                          <p:spTgt spid="29"/>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 calcmode="lin" valueType="num">
                                      <p:cBhvr additive="base">
                                        <p:cTn id="84" dur="500" fill="hold"/>
                                        <p:tgtEl>
                                          <p:spTgt spid="30"/>
                                        </p:tgtEl>
                                        <p:attrNameLst>
                                          <p:attrName>ppt_x</p:attrName>
                                        </p:attrNameLst>
                                      </p:cBhvr>
                                      <p:tavLst>
                                        <p:tav tm="0">
                                          <p:val>
                                            <p:strVal val="#ppt_x"/>
                                          </p:val>
                                        </p:tav>
                                        <p:tav tm="100000">
                                          <p:val>
                                            <p:strVal val="#ppt_x"/>
                                          </p:val>
                                        </p:tav>
                                      </p:tavLst>
                                    </p:anim>
                                    <p:anim calcmode="lin" valueType="num">
                                      <p:cBhvr additive="base">
                                        <p:cTn id="85" dur="500" fill="hold"/>
                                        <p:tgtEl>
                                          <p:spTgt spid="30"/>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ppt_x"/>
                                          </p:val>
                                        </p:tav>
                                        <p:tav tm="100000">
                                          <p:val>
                                            <p:strVal val="#ppt_x"/>
                                          </p:val>
                                        </p:tav>
                                      </p:tavLst>
                                    </p:anim>
                                    <p:anim calcmode="lin" valueType="num">
                                      <p:cBhvr additive="base">
                                        <p:cTn id="89" dur="500" fill="hold"/>
                                        <p:tgtEl>
                                          <p:spTgt spid="31"/>
                                        </p:tgtEl>
                                        <p:attrNameLst>
                                          <p:attrName>ppt_y</p:attrName>
                                        </p:attrNameLst>
                                      </p:cBhvr>
                                      <p:tavLst>
                                        <p:tav tm="0">
                                          <p:val>
                                            <p:strVal val="1+#ppt_h/2"/>
                                          </p:val>
                                        </p:tav>
                                        <p:tav tm="100000">
                                          <p:val>
                                            <p:strVal val="#ppt_y"/>
                                          </p:val>
                                        </p:tav>
                                      </p:tavLst>
                                    </p:anim>
                                  </p:childTnLst>
                                </p:cTn>
                              </p:par>
                              <p:par>
                                <p:cTn id="90" presetID="2" presetClass="entr" presetSubtype="4"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 calcmode="lin" valueType="num">
                                      <p:cBhvr additive="base">
                                        <p:cTn id="92" dur="500" fill="hold"/>
                                        <p:tgtEl>
                                          <p:spTgt spid="32"/>
                                        </p:tgtEl>
                                        <p:attrNameLst>
                                          <p:attrName>ppt_x</p:attrName>
                                        </p:attrNameLst>
                                      </p:cBhvr>
                                      <p:tavLst>
                                        <p:tav tm="0">
                                          <p:val>
                                            <p:strVal val="#ppt_x"/>
                                          </p:val>
                                        </p:tav>
                                        <p:tav tm="100000">
                                          <p:val>
                                            <p:strVal val="#ppt_x"/>
                                          </p:val>
                                        </p:tav>
                                      </p:tavLst>
                                    </p:anim>
                                    <p:anim calcmode="lin" valueType="num">
                                      <p:cBhvr additive="base">
                                        <p:cTn id="93" dur="500" fill="hold"/>
                                        <p:tgtEl>
                                          <p:spTgt spid="32"/>
                                        </p:tgtEl>
                                        <p:attrNameLst>
                                          <p:attrName>ppt_y</p:attrName>
                                        </p:attrNameLst>
                                      </p:cBhvr>
                                      <p:tavLst>
                                        <p:tav tm="0">
                                          <p:val>
                                            <p:strVal val="1+#ppt_h/2"/>
                                          </p:val>
                                        </p:tav>
                                        <p:tav tm="100000">
                                          <p:val>
                                            <p:strVal val="#ppt_y"/>
                                          </p:val>
                                        </p:tav>
                                      </p:tavLst>
                                    </p:anim>
                                  </p:childTnLst>
                                </p:cTn>
                              </p:par>
                              <p:par>
                                <p:cTn id="94" presetID="2" presetClass="entr" presetSubtype="4" fill="hold" nodeType="withEffect">
                                  <p:stCondLst>
                                    <p:cond delay="0"/>
                                  </p:stCondLst>
                                  <p:childTnLst>
                                    <p:set>
                                      <p:cBhvr>
                                        <p:cTn id="95" dur="1" fill="hold">
                                          <p:stCondLst>
                                            <p:cond delay="0"/>
                                          </p:stCondLst>
                                        </p:cTn>
                                        <p:tgtEl>
                                          <p:spTgt spid="33"/>
                                        </p:tgtEl>
                                        <p:attrNameLst>
                                          <p:attrName>style.visibility</p:attrName>
                                        </p:attrNameLst>
                                      </p:cBhvr>
                                      <p:to>
                                        <p:strVal val="visible"/>
                                      </p:to>
                                    </p:set>
                                    <p:anim calcmode="lin" valueType="num">
                                      <p:cBhvr additive="base">
                                        <p:cTn id="96" dur="500" fill="hold"/>
                                        <p:tgtEl>
                                          <p:spTgt spid="33"/>
                                        </p:tgtEl>
                                        <p:attrNameLst>
                                          <p:attrName>ppt_x</p:attrName>
                                        </p:attrNameLst>
                                      </p:cBhvr>
                                      <p:tavLst>
                                        <p:tav tm="0">
                                          <p:val>
                                            <p:strVal val="#ppt_x"/>
                                          </p:val>
                                        </p:tav>
                                        <p:tav tm="100000">
                                          <p:val>
                                            <p:strVal val="#ppt_x"/>
                                          </p:val>
                                        </p:tav>
                                      </p:tavLst>
                                    </p:anim>
                                    <p:anim calcmode="lin" valueType="num">
                                      <p:cBhvr additive="base">
                                        <p:cTn id="97" dur="500" fill="hold"/>
                                        <p:tgtEl>
                                          <p:spTgt spid="33"/>
                                        </p:tgtEl>
                                        <p:attrNameLst>
                                          <p:attrName>ppt_y</p:attrName>
                                        </p:attrNameLst>
                                      </p:cBhvr>
                                      <p:tavLst>
                                        <p:tav tm="0">
                                          <p:val>
                                            <p:strVal val="1+#ppt_h/2"/>
                                          </p:val>
                                        </p:tav>
                                        <p:tav tm="100000">
                                          <p:val>
                                            <p:strVal val="#ppt_y"/>
                                          </p:val>
                                        </p:tav>
                                      </p:tavLst>
                                    </p:anim>
                                  </p:childTnLst>
                                </p:cTn>
                              </p:par>
                              <p:par>
                                <p:cTn id="98" presetID="2" presetClass="entr" presetSubtype="4" fill="hold" nodeType="withEffect">
                                  <p:stCondLst>
                                    <p:cond delay="0"/>
                                  </p:stCondLst>
                                  <p:childTnLst>
                                    <p:set>
                                      <p:cBhvr>
                                        <p:cTn id="99" dur="1" fill="hold">
                                          <p:stCondLst>
                                            <p:cond delay="0"/>
                                          </p:stCondLst>
                                        </p:cTn>
                                        <p:tgtEl>
                                          <p:spTgt spid="34"/>
                                        </p:tgtEl>
                                        <p:attrNameLst>
                                          <p:attrName>style.visibility</p:attrName>
                                        </p:attrNameLst>
                                      </p:cBhvr>
                                      <p:to>
                                        <p:strVal val="visible"/>
                                      </p:to>
                                    </p:set>
                                    <p:anim calcmode="lin" valueType="num">
                                      <p:cBhvr additive="base">
                                        <p:cTn id="100" dur="500" fill="hold"/>
                                        <p:tgtEl>
                                          <p:spTgt spid="34"/>
                                        </p:tgtEl>
                                        <p:attrNameLst>
                                          <p:attrName>ppt_x</p:attrName>
                                        </p:attrNameLst>
                                      </p:cBhvr>
                                      <p:tavLst>
                                        <p:tav tm="0">
                                          <p:val>
                                            <p:strVal val="#ppt_x"/>
                                          </p:val>
                                        </p:tav>
                                        <p:tav tm="100000">
                                          <p:val>
                                            <p:strVal val="#ppt_x"/>
                                          </p:val>
                                        </p:tav>
                                      </p:tavLst>
                                    </p:anim>
                                    <p:anim calcmode="lin" valueType="num">
                                      <p:cBhvr additive="base">
                                        <p:cTn id="101" dur="500" fill="hold"/>
                                        <p:tgtEl>
                                          <p:spTgt spid="34"/>
                                        </p:tgtEl>
                                        <p:attrNameLst>
                                          <p:attrName>ppt_y</p:attrName>
                                        </p:attrNameLst>
                                      </p:cBhvr>
                                      <p:tavLst>
                                        <p:tav tm="0">
                                          <p:val>
                                            <p:strVal val="1+#ppt_h/2"/>
                                          </p:val>
                                        </p:tav>
                                        <p:tav tm="100000">
                                          <p:val>
                                            <p:strVal val="#ppt_y"/>
                                          </p:val>
                                        </p:tav>
                                      </p:tavLst>
                                    </p:anim>
                                  </p:childTnLst>
                                </p:cTn>
                              </p:par>
                              <p:par>
                                <p:cTn id="102" presetID="2" presetClass="entr" presetSubtype="4" fill="hold" nodeType="withEffect">
                                  <p:stCondLst>
                                    <p:cond delay="0"/>
                                  </p:stCondLst>
                                  <p:childTnLst>
                                    <p:set>
                                      <p:cBhvr>
                                        <p:cTn id="103" dur="1" fill="hold">
                                          <p:stCondLst>
                                            <p:cond delay="0"/>
                                          </p:stCondLst>
                                        </p:cTn>
                                        <p:tgtEl>
                                          <p:spTgt spid="35"/>
                                        </p:tgtEl>
                                        <p:attrNameLst>
                                          <p:attrName>style.visibility</p:attrName>
                                        </p:attrNameLst>
                                      </p:cBhvr>
                                      <p:to>
                                        <p:strVal val="visible"/>
                                      </p:to>
                                    </p:set>
                                    <p:anim calcmode="lin" valueType="num">
                                      <p:cBhvr additive="base">
                                        <p:cTn id="104" dur="500" fill="hold"/>
                                        <p:tgtEl>
                                          <p:spTgt spid="35"/>
                                        </p:tgtEl>
                                        <p:attrNameLst>
                                          <p:attrName>ppt_x</p:attrName>
                                        </p:attrNameLst>
                                      </p:cBhvr>
                                      <p:tavLst>
                                        <p:tav tm="0">
                                          <p:val>
                                            <p:strVal val="#ppt_x"/>
                                          </p:val>
                                        </p:tav>
                                        <p:tav tm="100000">
                                          <p:val>
                                            <p:strVal val="#ppt_x"/>
                                          </p:val>
                                        </p:tav>
                                      </p:tavLst>
                                    </p:anim>
                                    <p:anim calcmode="lin" valueType="num">
                                      <p:cBhvr additive="base">
                                        <p:cTn id="105" dur="500" fill="hold"/>
                                        <p:tgtEl>
                                          <p:spTgt spid="35"/>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 calcmode="lin" valueType="num">
                                      <p:cBhvr additive="base">
                                        <p:cTn id="108" dur="500" fill="hold"/>
                                        <p:tgtEl>
                                          <p:spTgt spid="36"/>
                                        </p:tgtEl>
                                        <p:attrNameLst>
                                          <p:attrName>ppt_x</p:attrName>
                                        </p:attrNameLst>
                                      </p:cBhvr>
                                      <p:tavLst>
                                        <p:tav tm="0">
                                          <p:val>
                                            <p:strVal val="#ppt_x"/>
                                          </p:val>
                                        </p:tav>
                                        <p:tav tm="100000">
                                          <p:val>
                                            <p:strVal val="#ppt_x"/>
                                          </p:val>
                                        </p:tav>
                                      </p:tavLst>
                                    </p:anim>
                                    <p:anim calcmode="lin" valueType="num">
                                      <p:cBhvr additive="base">
                                        <p:cTn id="109" dur="500" fill="hold"/>
                                        <p:tgtEl>
                                          <p:spTgt spid="36"/>
                                        </p:tgtEl>
                                        <p:attrNameLst>
                                          <p:attrName>ppt_y</p:attrName>
                                        </p:attrNameLst>
                                      </p:cBhvr>
                                      <p:tavLst>
                                        <p:tav tm="0">
                                          <p:val>
                                            <p:strVal val="1+#ppt_h/2"/>
                                          </p:val>
                                        </p:tav>
                                        <p:tav tm="100000">
                                          <p:val>
                                            <p:strVal val="#ppt_y"/>
                                          </p:val>
                                        </p:tav>
                                      </p:tavLst>
                                    </p:anim>
                                  </p:childTnLst>
                                </p:cTn>
                              </p:par>
                              <p:par>
                                <p:cTn id="110" presetID="2" presetClass="entr" presetSubtype="4" fill="hold" nodeType="withEffect">
                                  <p:stCondLst>
                                    <p:cond delay="0"/>
                                  </p:stCondLst>
                                  <p:childTnLst>
                                    <p:set>
                                      <p:cBhvr>
                                        <p:cTn id="111" dur="1" fill="hold">
                                          <p:stCondLst>
                                            <p:cond delay="0"/>
                                          </p:stCondLst>
                                        </p:cTn>
                                        <p:tgtEl>
                                          <p:spTgt spid="37"/>
                                        </p:tgtEl>
                                        <p:attrNameLst>
                                          <p:attrName>style.visibility</p:attrName>
                                        </p:attrNameLst>
                                      </p:cBhvr>
                                      <p:to>
                                        <p:strVal val="visible"/>
                                      </p:to>
                                    </p:set>
                                    <p:anim calcmode="lin" valueType="num">
                                      <p:cBhvr additive="base">
                                        <p:cTn id="112" dur="500" fill="hold"/>
                                        <p:tgtEl>
                                          <p:spTgt spid="37"/>
                                        </p:tgtEl>
                                        <p:attrNameLst>
                                          <p:attrName>ppt_x</p:attrName>
                                        </p:attrNameLst>
                                      </p:cBhvr>
                                      <p:tavLst>
                                        <p:tav tm="0">
                                          <p:val>
                                            <p:strVal val="#ppt_x"/>
                                          </p:val>
                                        </p:tav>
                                        <p:tav tm="100000">
                                          <p:val>
                                            <p:strVal val="#ppt_x"/>
                                          </p:val>
                                        </p:tav>
                                      </p:tavLst>
                                    </p:anim>
                                    <p:anim calcmode="lin" valueType="num">
                                      <p:cBhvr additive="base">
                                        <p:cTn id="113" dur="500" fill="hold"/>
                                        <p:tgtEl>
                                          <p:spTgt spid="37"/>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0"/>
                                  </p:stCondLst>
                                  <p:childTnLst>
                                    <p:set>
                                      <p:cBhvr>
                                        <p:cTn id="115" dur="1" fill="hold">
                                          <p:stCondLst>
                                            <p:cond delay="0"/>
                                          </p:stCondLst>
                                        </p:cTn>
                                        <p:tgtEl>
                                          <p:spTgt spid="38"/>
                                        </p:tgtEl>
                                        <p:attrNameLst>
                                          <p:attrName>style.visibility</p:attrName>
                                        </p:attrNameLst>
                                      </p:cBhvr>
                                      <p:to>
                                        <p:strVal val="visible"/>
                                      </p:to>
                                    </p:set>
                                    <p:anim calcmode="lin" valueType="num">
                                      <p:cBhvr additive="base">
                                        <p:cTn id="116" dur="500" fill="hold"/>
                                        <p:tgtEl>
                                          <p:spTgt spid="38"/>
                                        </p:tgtEl>
                                        <p:attrNameLst>
                                          <p:attrName>ppt_x</p:attrName>
                                        </p:attrNameLst>
                                      </p:cBhvr>
                                      <p:tavLst>
                                        <p:tav tm="0">
                                          <p:val>
                                            <p:strVal val="#ppt_x"/>
                                          </p:val>
                                        </p:tav>
                                        <p:tav tm="100000">
                                          <p:val>
                                            <p:strVal val="#ppt_x"/>
                                          </p:val>
                                        </p:tav>
                                      </p:tavLst>
                                    </p:anim>
                                    <p:anim calcmode="lin" valueType="num">
                                      <p:cBhvr additive="base">
                                        <p:cTn id="117" dur="500" fill="hold"/>
                                        <p:tgtEl>
                                          <p:spTgt spid="38"/>
                                        </p:tgtEl>
                                        <p:attrNameLst>
                                          <p:attrName>ppt_y</p:attrName>
                                        </p:attrNameLst>
                                      </p:cBhvr>
                                      <p:tavLst>
                                        <p:tav tm="0">
                                          <p:val>
                                            <p:strVal val="1+#ppt_h/2"/>
                                          </p:val>
                                        </p:tav>
                                        <p:tav tm="100000">
                                          <p:val>
                                            <p:strVal val="#ppt_y"/>
                                          </p:val>
                                        </p:tav>
                                      </p:tavLst>
                                    </p:anim>
                                  </p:childTnLst>
                                </p:cTn>
                              </p:par>
                              <p:par>
                                <p:cTn id="118" presetID="2" presetClass="entr" presetSubtype="4" fill="hold" nodeType="withEffect">
                                  <p:stCondLst>
                                    <p:cond delay="0"/>
                                  </p:stCondLst>
                                  <p:childTnLst>
                                    <p:set>
                                      <p:cBhvr>
                                        <p:cTn id="119" dur="1" fill="hold">
                                          <p:stCondLst>
                                            <p:cond delay="0"/>
                                          </p:stCondLst>
                                        </p:cTn>
                                        <p:tgtEl>
                                          <p:spTgt spid="39"/>
                                        </p:tgtEl>
                                        <p:attrNameLst>
                                          <p:attrName>style.visibility</p:attrName>
                                        </p:attrNameLst>
                                      </p:cBhvr>
                                      <p:to>
                                        <p:strVal val="visible"/>
                                      </p:to>
                                    </p:set>
                                    <p:anim calcmode="lin" valueType="num">
                                      <p:cBhvr additive="base">
                                        <p:cTn id="120" dur="500" fill="hold"/>
                                        <p:tgtEl>
                                          <p:spTgt spid="39"/>
                                        </p:tgtEl>
                                        <p:attrNameLst>
                                          <p:attrName>ppt_x</p:attrName>
                                        </p:attrNameLst>
                                      </p:cBhvr>
                                      <p:tavLst>
                                        <p:tav tm="0">
                                          <p:val>
                                            <p:strVal val="#ppt_x"/>
                                          </p:val>
                                        </p:tav>
                                        <p:tav tm="100000">
                                          <p:val>
                                            <p:strVal val="#ppt_x"/>
                                          </p:val>
                                        </p:tav>
                                      </p:tavLst>
                                    </p:anim>
                                    <p:anim calcmode="lin" valueType="num">
                                      <p:cBhvr additive="base">
                                        <p:cTn id="121" dur="500" fill="hold"/>
                                        <p:tgtEl>
                                          <p:spTgt spid="39"/>
                                        </p:tgtEl>
                                        <p:attrNameLst>
                                          <p:attrName>ppt_y</p:attrName>
                                        </p:attrNameLst>
                                      </p:cBhvr>
                                      <p:tavLst>
                                        <p:tav tm="0">
                                          <p:val>
                                            <p:strVal val="1+#ppt_h/2"/>
                                          </p:val>
                                        </p:tav>
                                        <p:tav tm="100000">
                                          <p:val>
                                            <p:strVal val="#ppt_y"/>
                                          </p:val>
                                        </p:tav>
                                      </p:tavLst>
                                    </p:anim>
                                  </p:childTnLst>
                                </p:cTn>
                              </p:par>
                              <p:par>
                                <p:cTn id="122" presetID="2" presetClass="entr" presetSubtype="4" fill="hold" grpId="0" nodeType="withEffect">
                                  <p:stCondLst>
                                    <p:cond delay="0"/>
                                  </p:stCondLst>
                                  <p:childTnLst>
                                    <p:set>
                                      <p:cBhvr>
                                        <p:cTn id="123" dur="1" fill="hold">
                                          <p:stCondLst>
                                            <p:cond delay="0"/>
                                          </p:stCondLst>
                                        </p:cTn>
                                        <p:tgtEl>
                                          <p:spTgt spid="40"/>
                                        </p:tgtEl>
                                        <p:attrNameLst>
                                          <p:attrName>style.visibility</p:attrName>
                                        </p:attrNameLst>
                                      </p:cBhvr>
                                      <p:to>
                                        <p:strVal val="visible"/>
                                      </p:to>
                                    </p:set>
                                    <p:anim calcmode="lin" valueType="num">
                                      <p:cBhvr additive="base">
                                        <p:cTn id="124" dur="500" fill="hold"/>
                                        <p:tgtEl>
                                          <p:spTgt spid="40"/>
                                        </p:tgtEl>
                                        <p:attrNameLst>
                                          <p:attrName>ppt_x</p:attrName>
                                        </p:attrNameLst>
                                      </p:cBhvr>
                                      <p:tavLst>
                                        <p:tav tm="0">
                                          <p:val>
                                            <p:strVal val="#ppt_x"/>
                                          </p:val>
                                        </p:tav>
                                        <p:tav tm="100000">
                                          <p:val>
                                            <p:strVal val="#ppt_x"/>
                                          </p:val>
                                        </p:tav>
                                      </p:tavLst>
                                    </p:anim>
                                    <p:anim calcmode="lin" valueType="num">
                                      <p:cBhvr additive="base">
                                        <p:cTn id="125" dur="500" fill="hold"/>
                                        <p:tgtEl>
                                          <p:spTgt spid="40"/>
                                        </p:tgtEl>
                                        <p:attrNameLst>
                                          <p:attrName>ppt_y</p:attrName>
                                        </p:attrNameLst>
                                      </p:cBhvr>
                                      <p:tavLst>
                                        <p:tav tm="0">
                                          <p:val>
                                            <p:strVal val="1+#ppt_h/2"/>
                                          </p:val>
                                        </p:tav>
                                        <p:tav tm="100000">
                                          <p:val>
                                            <p:strVal val="#ppt_y"/>
                                          </p:val>
                                        </p:tav>
                                      </p:tavLst>
                                    </p:anim>
                                  </p:childTnLst>
                                </p:cTn>
                              </p:par>
                              <p:par>
                                <p:cTn id="126" presetID="2" presetClass="entr" presetSubtype="4" fill="hold" nodeType="withEffect">
                                  <p:stCondLst>
                                    <p:cond delay="0"/>
                                  </p:stCondLst>
                                  <p:childTnLst>
                                    <p:set>
                                      <p:cBhvr>
                                        <p:cTn id="127" dur="1" fill="hold">
                                          <p:stCondLst>
                                            <p:cond delay="0"/>
                                          </p:stCondLst>
                                        </p:cTn>
                                        <p:tgtEl>
                                          <p:spTgt spid="41"/>
                                        </p:tgtEl>
                                        <p:attrNameLst>
                                          <p:attrName>style.visibility</p:attrName>
                                        </p:attrNameLst>
                                      </p:cBhvr>
                                      <p:to>
                                        <p:strVal val="visible"/>
                                      </p:to>
                                    </p:set>
                                    <p:anim calcmode="lin" valueType="num">
                                      <p:cBhvr additive="base">
                                        <p:cTn id="128" dur="500" fill="hold"/>
                                        <p:tgtEl>
                                          <p:spTgt spid="41"/>
                                        </p:tgtEl>
                                        <p:attrNameLst>
                                          <p:attrName>ppt_x</p:attrName>
                                        </p:attrNameLst>
                                      </p:cBhvr>
                                      <p:tavLst>
                                        <p:tav tm="0">
                                          <p:val>
                                            <p:strVal val="#ppt_x"/>
                                          </p:val>
                                        </p:tav>
                                        <p:tav tm="100000">
                                          <p:val>
                                            <p:strVal val="#ppt_x"/>
                                          </p:val>
                                        </p:tav>
                                      </p:tavLst>
                                    </p:anim>
                                    <p:anim calcmode="lin" valueType="num">
                                      <p:cBhvr additive="base">
                                        <p:cTn id="129" dur="500" fill="hold"/>
                                        <p:tgtEl>
                                          <p:spTgt spid="41"/>
                                        </p:tgtEl>
                                        <p:attrNameLst>
                                          <p:attrName>ppt_y</p:attrName>
                                        </p:attrNameLst>
                                      </p:cBhvr>
                                      <p:tavLst>
                                        <p:tav tm="0">
                                          <p:val>
                                            <p:strVal val="1+#ppt_h/2"/>
                                          </p:val>
                                        </p:tav>
                                        <p:tav tm="100000">
                                          <p:val>
                                            <p:strVal val="#ppt_y"/>
                                          </p:val>
                                        </p:tav>
                                      </p:tavLst>
                                    </p:anim>
                                  </p:childTnLst>
                                </p:cTn>
                              </p:par>
                              <p:par>
                                <p:cTn id="130" presetID="2" presetClass="entr" presetSubtype="4" fill="hold" grpId="0" nodeType="withEffect">
                                  <p:stCondLst>
                                    <p:cond delay="0"/>
                                  </p:stCondLst>
                                  <p:childTnLst>
                                    <p:set>
                                      <p:cBhvr>
                                        <p:cTn id="131" dur="1" fill="hold">
                                          <p:stCondLst>
                                            <p:cond delay="0"/>
                                          </p:stCondLst>
                                        </p:cTn>
                                        <p:tgtEl>
                                          <p:spTgt spid="42"/>
                                        </p:tgtEl>
                                        <p:attrNameLst>
                                          <p:attrName>style.visibility</p:attrName>
                                        </p:attrNameLst>
                                      </p:cBhvr>
                                      <p:to>
                                        <p:strVal val="visible"/>
                                      </p:to>
                                    </p:set>
                                    <p:anim calcmode="lin" valueType="num">
                                      <p:cBhvr additive="base">
                                        <p:cTn id="132" dur="500" fill="hold"/>
                                        <p:tgtEl>
                                          <p:spTgt spid="42"/>
                                        </p:tgtEl>
                                        <p:attrNameLst>
                                          <p:attrName>ppt_x</p:attrName>
                                        </p:attrNameLst>
                                      </p:cBhvr>
                                      <p:tavLst>
                                        <p:tav tm="0">
                                          <p:val>
                                            <p:strVal val="#ppt_x"/>
                                          </p:val>
                                        </p:tav>
                                        <p:tav tm="100000">
                                          <p:val>
                                            <p:strVal val="#ppt_x"/>
                                          </p:val>
                                        </p:tav>
                                      </p:tavLst>
                                    </p:anim>
                                    <p:anim calcmode="lin" valueType="num">
                                      <p:cBhvr additive="base">
                                        <p:cTn id="133" dur="500" fill="hold"/>
                                        <p:tgtEl>
                                          <p:spTgt spid="42"/>
                                        </p:tgtEl>
                                        <p:attrNameLst>
                                          <p:attrName>ppt_y</p:attrName>
                                        </p:attrNameLst>
                                      </p:cBhvr>
                                      <p:tavLst>
                                        <p:tav tm="0">
                                          <p:val>
                                            <p:strVal val="1+#ppt_h/2"/>
                                          </p:val>
                                        </p:tav>
                                        <p:tav tm="100000">
                                          <p:val>
                                            <p:strVal val="#ppt_y"/>
                                          </p:val>
                                        </p:tav>
                                      </p:tavLst>
                                    </p:anim>
                                  </p:childTnLst>
                                </p:cTn>
                              </p:par>
                              <p:par>
                                <p:cTn id="134" presetID="2" presetClass="entr" presetSubtype="4" fill="hold" nodeType="withEffect">
                                  <p:stCondLst>
                                    <p:cond delay="0"/>
                                  </p:stCondLst>
                                  <p:childTnLst>
                                    <p:set>
                                      <p:cBhvr>
                                        <p:cTn id="135" dur="1" fill="hold">
                                          <p:stCondLst>
                                            <p:cond delay="0"/>
                                          </p:stCondLst>
                                        </p:cTn>
                                        <p:tgtEl>
                                          <p:spTgt spid="43"/>
                                        </p:tgtEl>
                                        <p:attrNameLst>
                                          <p:attrName>style.visibility</p:attrName>
                                        </p:attrNameLst>
                                      </p:cBhvr>
                                      <p:to>
                                        <p:strVal val="visible"/>
                                      </p:to>
                                    </p:set>
                                    <p:anim calcmode="lin" valueType="num">
                                      <p:cBhvr additive="base">
                                        <p:cTn id="136" dur="500" fill="hold"/>
                                        <p:tgtEl>
                                          <p:spTgt spid="43"/>
                                        </p:tgtEl>
                                        <p:attrNameLst>
                                          <p:attrName>ppt_x</p:attrName>
                                        </p:attrNameLst>
                                      </p:cBhvr>
                                      <p:tavLst>
                                        <p:tav tm="0">
                                          <p:val>
                                            <p:strVal val="#ppt_x"/>
                                          </p:val>
                                        </p:tav>
                                        <p:tav tm="100000">
                                          <p:val>
                                            <p:strVal val="#ppt_x"/>
                                          </p:val>
                                        </p:tav>
                                      </p:tavLst>
                                    </p:anim>
                                    <p:anim calcmode="lin" valueType="num">
                                      <p:cBhvr additive="base">
                                        <p:cTn id="137" dur="500" fill="hold"/>
                                        <p:tgtEl>
                                          <p:spTgt spid="43"/>
                                        </p:tgtEl>
                                        <p:attrNameLst>
                                          <p:attrName>ppt_y</p:attrName>
                                        </p:attrNameLst>
                                      </p:cBhvr>
                                      <p:tavLst>
                                        <p:tav tm="0">
                                          <p:val>
                                            <p:strVal val="1+#ppt_h/2"/>
                                          </p:val>
                                        </p:tav>
                                        <p:tav tm="100000">
                                          <p:val>
                                            <p:strVal val="#ppt_y"/>
                                          </p:val>
                                        </p:tav>
                                      </p:tavLst>
                                    </p:anim>
                                  </p:childTnLst>
                                </p:cTn>
                              </p:par>
                              <p:par>
                                <p:cTn id="138" presetID="2" presetClass="entr" presetSubtype="4" fill="hold" grpId="0" nodeType="withEffect">
                                  <p:stCondLst>
                                    <p:cond delay="0"/>
                                  </p:stCondLst>
                                  <p:childTnLst>
                                    <p:set>
                                      <p:cBhvr>
                                        <p:cTn id="139" dur="1" fill="hold">
                                          <p:stCondLst>
                                            <p:cond delay="0"/>
                                          </p:stCondLst>
                                        </p:cTn>
                                        <p:tgtEl>
                                          <p:spTgt spid="23"/>
                                        </p:tgtEl>
                                        <p:attrNameLst>
                                          <p:attrName>style.visibility</p:attrName>
                                        </p:attrNameLst>
                                      </p:cBhvr>
                                      <p:to>
                                        <p:strVal val="visible"/>
                                      </p:to>
                                    </p:set>
                                    <p:anim calcmode="lin" valueType="num">
                                      <p:cBhvr additive="base">
                                        <p:cTn id="140" dur="500" fill="hold"/>
                                        <p:tgtEl>
                                          <p:spTgt spid="23"/>
                                        </p:tgtEl>
                                        <p:attrNameLst>
                                          <p:attrName>ppt_x</p:attrName>
                                        </p:attrNameLst>
                                      </p:cBhvr>
                                      <p:tavLst>
                                        <p:tav tm="0">
                                          <p:val>
                                            <p:strVal val="#ppt_x"/>
                                          </p:val>
                                        </p:tav>
                                        <p:tav tm="100000">
                                          <p:val>
                                            <p:strVal val="#ppt_x"/>
                                          </p:val>
                                        </p:tav>
                                      </p:tavLst>
                                    </p:anim>
                                    <p:anim calcmode="lin" valueType="num">
                                      <p:cBhvr additive="base">
                                        <p:cTn id="14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nodeType="clickEffect">
                                  <p:stCondLst>
                                    <p:cond delay="0"/>
                                  </p:stCondLst>
                                  <p:childTnLst>
                                    <p:set>
                                      <p:cBhvr>
                                        <p:cTn id="145" dur="1" fill="hold">
                                          <p:stCondLst>
                                            <p:cond delay="0"/>
                                          </p:stCondLst>
                                        </p:cTn>
                                        <p:tgtEl>
                                          <p:spTgt spid="45"/>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utoUpdateAnimBg="0"/>
      <p:bldP spid="13" grpId="0" autoUpdateAnimBg="0"/>
      <p:bldP spid="14" grpId="0" autoUpdateAnimBg="0"/>
      <p:bldP spid="15" grpId="0" autoUpdateAnimBg="0"/>
      <p:bldP spid="16" grpId="0" autoUpdateAnimBg="0"/>
      <p:bldP spid="17" grpId="0" autoUpdateAnimBg="0"/>
      <p:bldP spid="18" grpId="0" autoUpdateAnimBg="0"/>
      <p:bldP spid="19" grpId="0" autoUpdateAnimBg="0"/>
      <p:bldP spid="20" grpId="0" autoUpdateAnimBg="0"/>
      <p:bldP spid="21" grpId="0" autoUpdateAnimBg="0"/>
      <p:bldP spid="22" grpId="0" autoUpdateAnimBg="0"/>
      <p:bldP spid="23" grpId="0" animBg="1"/>
      <p:bldP spid="26" grpId="0" animBg="1"/>
      <p:bldP spid="27" grpId="0" animBg="1"/>
      <p:bldP spid="28" grpId="0" animBg="1"/>
      <p:bldP spid="29" grpId="0" animBg="1"/>
      <p:bldP spid="30" grpId="0" animBg="1"/>
      <p:bldP spid="31" grpId="0" animBg="1"/>
      <p:bldP spid="36" grpId="0" animBg="1"/>
      <p:bldP spid="38" grpId="0" animBg="1"/>
      <p:bldP spid="40" grpId="0" animBg="1"/>
      <p:bldP spid="42" grpId="0" animBg="1"/>
      <p:bldP spid="4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6.2.2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折半查找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txBox="1"/>
          <p:nvPr/>
        </p:nvSpPr>
        <p:spPr>
          <a:xfrm>
            <a:off x="457199" y="965082"/>
            <a:ext cx="11260667" cy="52071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defRPr/>
            </a:pPr>
            <a:r>
              <a:rPr lang="zh-CN" altLang="en-US" sz="2400" dirty="0">
                <a:latin typeface="微软雅黑" panose="020B0503020204020204" pitchFamily="34" charset="-122"/>
                <a:ea typeface="微软雅黑" panose="020B0503020204020204" pitchFamily="34" charset="-122"/>
              </a:rPr>
              <a:t>折半查找的效率</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defRPr/>
            </a:pP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&gt;50</a:t>
            </a:r>
            <a:r>
              <a:rPr lang="zh-CN" altLang="en-US" sz="2000" dirty="0">
                <a:latin typeface="微软雅黑" panose="020B0503020204020204" pitchFamily="34" charset="-122"/>
                <a:ea typeface="微软雅黑" panose="020B0503020204020204" pitchFamily="34" charset="-122"/>
              </a:rPr>
              <a:t>时，查找成功的折半查找的平均查找长度大约为</a:t>
            </a:r>
            <a:endParaRPr lang="en-US" altLang="zh-CN" sz="2000" dirty="0">
              <a:latin typeface="微软雅黑" panose="020B0503020204020204" pitchFamily="34" charset="-122"/>
              <a:ea typeface="微软雅黑" panose="020B0503020204020204" pitchFamily="34" charset="-122"/>
            </a:endParaRPr>
          </a:p>
          <a:p>
            <a:pPr>
              <a:lnSpc>
                <a:spcPct val="125000"/>
              </a:lnSpc>
              <a:defRPr/>
            </a:pPr>
            <a:endParaRPr lang="en-US" altLang="zh-CN" dirty="0">
              <a:latin typeface="微软雅黑" panose="020B0503020204020204" pitchFamily="34" charset="-122"/>
              <a:ea typeface="微软雅黑" panose="020B0503020204020204" pitchFamily="34" charset="-122"/>
            </a:endParaRPr>
          </a:p>
          <a:p>
            <a:pPr>
              <a:lnSpc>
                <a:spcPct val="125000"/>
              </a:lnSpc>
              <a:buFontTx/>
              <a:buNone/>
              <a:defRPr/>
            </a:pPr>
            <a:endParaRPr lang="en-US" altLang="zh-CN" dirty="0">
              <a:latin typeface="微软雅黑" panose="020B0503020204020204" pitchFamily="34" charset="-122"/>
              <a:ea typeface="微软雅黑" panose="020B0503020204020204" pitchFamily="34" charset="-122"/>
            </a:endParaRPr>
          </a:p>
          <a:p>
            <a:pPr marL="400050" lvl="1" indent="0">
              <a:lnSpc>
                <a:spcPct val="125000"/>
              </a:lnSpc>
              <a:buNone/>
              <a:defRPr/>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由此可见，折半查找的效率比顺序查找的高，但折半查找只适用于有序表，且限于顺序存储结构，对线性链表无法有效的进行。</a:t>
            </a:r>
            <a:endParaRPr lang="en-US" altLang="zh-CN" sz="2000" dirty="0">
              <a:latin typeface="微软雅黑" panose="020B0503020204020204" pitchFamily="34" charset="-122"/>
              <a:ea typeface="微软雅黑" panose="020B0503020204020204" pitchFamily="34" charset="-122"/>
            </a:endParaRPr>
          </a:p>
          <a:p>
            <a:pPr>
              <a:defRPr/>
            </a:pPr>
            <a:endParaRPr lang="zh-CN" altLang="en-US" dirty="0"/>
          </a:p>
        </p:txBody>
      </p:sp>
      <p:graphicFrame>
        <p:nvGraphicFramePr>
          <p:cNvPr id="5" name="Object 2"/>
          <p:cNvGraphicFramePr>
            <a:graphicFrameLocks noChangeAspect="1"/>
          </p:cNvGraphicFramePr>
          <p:nvPr/>
        </p:nvGraphicFramePr>
        <p:xfrm>
          <a:off x="2353734" y="2228867"/>
          <a:ext cx="4379462" cy="723866"/>
        </p:xfrm>
        <a:graphic>
          <a:graphicData uri="http://schemas.openxmlformats.org/presentationml/2006/ole">
            <mc:AlternateContent xmlns:mc="http://schemas.openxmlformats.org/markup-compatibility/2006">
              <mc:Choice xmlns:v="urn:schemas-microsoft-com:vml" Requires="v">
                <p:oleObj spid="_x0000_s3077" name="Equation" r:id="rId1" imgW="1384300" imgH="228600" progId="Equation.DSMT4">
                  <p:embed/>
                </p:oleObj>
              </mc:Choice>
              <mc:Fallback>
                <p:oleObj name="Equation" r:id="rId1" imgW="1384300"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3734" y="2228867"/>
                        <a:ext cx="4379462" cy="723866"/>
                      </a:xfrm>
                      <a:prstGeom prst="rect">
                        <a:avLst/>
                      </a:prstGeom>
                      <a:noFill/>
                      <a:ln>
                        <a:noFill/>
                      </a:ln>
                      <a:effectLst/>
                    </p:spPr>
                  </p:pic>
                </p:oleObj>
              </mc:Fallback>
            </mc:AlternateContent>
          </a:graphicData>
        </a:graphic>
      </p:graphicFrame>
      <p:cxnSp>
        <p:nvCxnSpPr>
          <p:cNvPr id="6" name="直接连接符 2"/>
          <p:cNvCxnSpPr>
            <a:cxnSpLocks noChangeShapeType="1"/>
          </p:cNvCxnSpPr>
          <p:nvPr/>
        </p:nvCxnSpPr>
        <p:spPr bwMode="auto">
          <a:xfrm>
            <a:off x="6173259" y="2590800"/>
            <a:ext cx="237066" cy="0"/>
          </a:xfrm>
          <a:prstGeom prst="line">
            <a:avLst/>
          </a:prstGeom>
          <a:noFill/>
          <a:ln w="38100" algn="ctr">
            <a:solidFill>
              <a:schemeClr val="tx2"/>
            </a:solidFill>
            <a:round/>
          </a:ln>
          <a:extLst>
            <a:ext uri="{909E8E84-426E-40DD-AFC4-6F175D3DCCD1}">
              <a14:hiddenFill xmlns:a14="http://schemas.microsoft.com/office/drawing/2010/main">
                <a:noFill/>
              </a14:hiddenFill>
            </a:ext>
          </a:extLst>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6.2.3</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分块查找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a:spLocks noGrp="1"/>
          </p:cNvSpPr>
          <p:nvPr>
            <p:ph idx="1"/>
          </p:nvPr>
        </p:nvSpPr>
        <p:spPr>
          <a:xfrm>
            <a:off x="475803" y="964964"/>
            <a:ext cx="11240394" cy="4876800"/>
          </a:xfrm>
        </p:spPr>
        <p:txBody>
          <a:bodyPr/>
          <a:lstStyle/>
          <a:p>
            <a:pPr marL="177800" indent="-177800">
              <a:lnSpc>
                <a:spcPct val="125000"/>
              </a:lnSpc>
            </a:pPr>
            <a:r>
              <a:rPr lang="zh-CN" altLang="en-US" sz="2400" dirty="0">
                <a:latin typeface="微软雅黑" panose="020B0503020204020204" pitchFamily="34" charset="-122"/>
                <a:ea typeface="微软雅黑" panose="020B0503020204020204" pitchFamily="34" charset="-122"/>
              </a:rPr>
              <a:t>分块查找（</a:t>
            </a:r>
            <a:r>
              <a:rPr lang="en-US" altLang="zh-CN" sz="2400" dirty="0">
                <a:latin typeface="微软雅黑" panose="020B0503020204020204" pitchFamily="34" charset="-122"/>
                <a:ea typeface="微软雅黑" panose="020B0503020204020204" pitchFamily="34" charset="-122"/>
              </a:rPr>
              <a:t>Block  Search</a:t>
            </a:r>
            <a:r>
              <a:rPr lang="zh-CN" altLang="en-US" sz="2400" dirty="0">
                <a:latin typeface="微软雅黑" panose="020B0503020204020204" pitchFamily="34" charset="-122"/>
                <a:ea typeface="微软雅黑" panose="020B0503020204020204" pitchFamily="34" charset="-122"/>
              </a:rPr>
              <a:t>）又称为索引顺序查找。</a:t>
            </a:r>
            <a:endParaRPr lang="en-US" altLang="zh-CN" sz="2400" dirty="0">
              <a:latin typeface="微软雅黑" panose="020B0503020204020204" pitchFamily="34" charset="-122"/>
              <a:ea typeface="微软雅黑" panose="020B0503020204020204" pitchFamily="34" charset="-122"/>
            </a:endParaRPr>
          </a:p>
          <a:p>
            <a:pPr marL="177800" indent="-177800">
              <a:lnSpc>
                <a:spcPct val="125000"/>
              </a:lnSpc>
            </a:pPr>
            <a:r>
              <a:rPr lang="zh-CN" altLang="en-US" sz="2400" dirty="0">
                <a:latin typeface="微软雅黑" panose="020B0503020204020204" pitchFamily="34" charset="-122"/>
                <a:ea typeface="微软雅黑" panose="020B0503020204020204" pitchFamily="34" charset="-122"/>
              </a:rPr>
              <a:t>索引顺序查找表由分块有序的顺序表和索引表组成。</a:t>
            </a:r>
            <a:endParaRPr lang="en-US" altLang="zh-CN" sz="2400" dirty="0">
              <a:latin typeface="微软雅黑" panose="020B0503020204020204" pitchFamily="34" charset="-122"/>
              <a:ea typeface="微软雅黑" panose="020B0503020204020204" pitchFamily="34" charset="-122"/>
            </a:endParaRPr>
          </a:p>
          <a:p>
            <a:pPr marL="177800" indent="-177800">
              <a:lnSpc>
                <a:spcPct val="125000"/>
              </a:lnSpc>
            </a:pPr>
            <a:r>
              <a:rPr lang="zh-CN" altLang="en-US" sz="2400" dirty="0">
                <a:latin typeface="微软雅黑" panose="020B0503020204020204" pitchFamily="34" charset="-122"/>
                <a:ea typeface="微软雅黑" panose="020B0503020204020204" pitchFamily="34" charset="-122"/>
              </a:rPr>
              <a:t>特点：块内无序，块间有序。</a:t>
            </a:r>
            <a:endParaRPr lang="en-US" altLang="zh-CN" sz="2400" dirty="0">
              <a:latin typeface="微软雅黑" panose="020B0503020204020204" pitchFamily="34" charset="-122"/>
              <a:ea typeface="微软雅黑" panose="020B0503020204020204" pitchFamily="34" charset="-122"/>
            </a:endParaRPr>
          </a:p>
          <a:p>
            <a:pPr marL="177800" indent="-177800">
              <a:lnSpc>
                <a:spcPct val="125000"/>
              </a:lnSpc>
            </a:pPr>
            <a:r>
              <a:rPr lang="zh-CN" altLang="en-US" sz="2400" dirty="0">
                <a:latin typeface="微软雅黑" panose="020B0503020204020204" pitchFamily="34" charset="-122"/>
                <a:ea typeface="微软雅黑" panose="020B0503020204020204" pitchFamily="34" charset="-122"/>
              </a:rPr>
              <a:t>查找过程：</a:t>
            </a:r>
            <a:endParaRPr lang="en-US" altLang="zh-CN" sz="2400" dirty="0">
              <a:latin typeface="微软雅黑" panose="020B0503020204020204" pitchFamily="34" charset="-122"/>
              <a:ea typeface="微软雅黑" panose="020B0503020204020204" pitchFamily="34" charset="-122"/>
            </a:endParaRPr>
          </a:p>
          <a:p>
            <a:pPr marL="568325" lvl="1" indent="-211455">
              <a:lnSpc>
                <a:spcPct val="125000"/>
              </a:lnSpc>
              <a:buFont typeface="Times New Roman" panose="02020603050405020304" pitchFamily="18" charset="0"/>
              <a:buAutoNum type="arabicPeriod"/>
            </a:pPr>
            <a:r>
              <a:rPr lang="zh-CN" altLang="en-US" sz="2000" dirty="0">
                <a:latin typeface="微软雅黑" panose="020B0503020204020204" pitchFamily="34" charset="-122"/>
                <a:ea typeface="微软雅黑" panose="020B0503020204020204" pitchFamily="34" charset="-122"/>
              </a:rPr>
              <a:t> 由索引确定数据元素所在的块；（折半查找或者顺序查找）</a:t>
            </a:r>
            <a:endParaRPr lang="en-US" altLang="zh-CN" sz="2000" dirty="0">
              <a:latin typeface="微软雅黑" panose="020B0503020204020204" pitchFamily="34" charset="-122"/>
              <a:ea typeface="微软雅黑" panose="020B0503020204020204" pitchFamily="34" charset="-122"/>
            </a:endParaRPr>
          </a:p>
          <a:p>
            <a:pPr marL="568325" lvl="1" indent="-211455">
              <a:lnSpc>
                <a:spcPct val="125000"/>
              </a:lnSpc>
              <a:buFont typeface="Times New Roman" panose="02020603050405020304" pitchFamily="18" charset="0"/>
              <a:buAutoNum type="arabicPeriod"/>
            </a:pPr>
            <a:r>
              <a:rPr lang="zh-CN" altLang="en-US" sz="2000" dirty="0">
                <a:latin typeface="微软雅黑" panose="020B0503020204020204" pitchFamily="34" charset="-122"/>
                <a:ea typeface="微软雅黑" panose="020B0503020204020204" pitchFamily="34" charset="-122"/>
              </a:rPr>
              <a:t> 在相应的块中进行查找。（顺序查找）</a:t>
            </a:r>
            <a:endParaRPr lang="zh-CN" altLang="en-US" sz="2000" dirty="0">
              <a:latin typeface="微软雅黑" panose="020B0503020204020204" pitchFamily="34" charset="-122"/>
              <a:ea typeface="微软雅黑" panose="020B0503020204020204" pitchFamily="34" charset="-122"/>
            </a:endParaRPr>
          </a:p>
          <a:p>
            <a:pPr marL="568325" lvl="1" indent="-211455">
              <a:lnSpc>
                <a:spcPct val="125000"/>
              </a:lnSpc>
              <a:buFont typeface="Times New Roman" panose="02020603050405020304" pitchFamily="18" charset="0"/>
              <a:buNone/>
            </a:pPr>
            <a:r>
              <a:rPr lang="zh-CN" altLang="en-US" dirty="0">
                <a:latin typeface="微软雅黑" panose="020B0503020204020204" pitchFamily="34" charset="-122"/>
                <a:ea typeface="微软雅黑" panose="020B0503020204020204" pitchFamily="34" charset="-122"/>
              </a:rPr>
              <a:t>可见，索引顺序查找的过程是一个“缩小区间”的查找过程。</a:t>
            </a:r>
            <a:endParaRPr lang="en-US" altLang="zh-CN" dirty="0">
              <a:latin typeface="微软雅黑" panose="020B0503020204020204" pitchFamily="34" charset="-122"/>
              <a:ea typeface="微软雅黑" panose="020B0503020204020204" pitchFamily="34" charset="-122"/>
            </a:endParaRPr>
          </a:p>
          <a:p>
            <a:pPr marL="177800" indent="-177800">
              <a:lnSpc>
                <a:spcPct val="125000"/>
              </a:lnSpc>
            </a:pPr>
            <a:r>
              <a:rPr lang="zh-CN" altLang="en-US" sz="2400" dirty="0">
                <a:latin typeface="微软雅黑" panose="020B0503020204020204" pitchFamily="34" charset="-122"/>
                <a:ea typeface="微软雅黑" panose="020B0503020204020204" pitchFamily="34" charset="-122"/>
              </a:rPr>
              <a:t>注意：索引可以根据查找表的特点来构造。</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6.2.3</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分块查找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 name="内容占位符 3"/>
          <p:cNvGraphicFramePr>
            <a:graphicFrameLocks noGrp="1"/>
          </p:cNvGraphicFramePr>
          <p:nvPr>
            <p:ph idx="1"/>
          </p:nvPr>
        </p:nvGraphicFramePr>
        <p:xfrm>
          <a:off x="2667000" y="1711333"/>
          <a:ext cx="4911633" cy="1133468"/>
        </p:xfrm>
        <a:graphic>
          <a:graphicData uri="http://schemas.openxmlformats.org/drawingml/2006/table">
            <a:tbl>
              <a:tblPr firstRow="1" bandRow="1">
                <a:tableStyleId>{5940675A-B579-460E-94D1-54222C63F5DA}</a:tableStyleId>
              </a:tblPr>
              <a:tblGrid>
                <a:gridCol w="1637211"/>
                <a:gridCol w="1637211"/>
                <a:gridCol w="1637211"/>
              </a:tblGrid>
              <a:tr h="566734">
                <a:tc>
                  <a:txBody>
                    <a:bodyPr/>
                    <a:lstStyle/>
                    <a:p>
                      <a:pPr algn="ctr"/>
                      <a:r>
                        <a:rPr lang="en-US" altLang="zh-CN" sz="1800" dirty="0"/>
                        <a:t>12</a:t>
                      </a:r>
                      <a:endParaRPr lang="zh-CN" altLang="en-US" sz="1800" dirty="0"/>
                    </a:p>
                  </a:txBody>
                  <a:tcPr marT="45700" marB="45700"/>
                </a:tc>
                <a:tc>
                  <a:txBody>
                    <a:bodyPr/>
                    <a:lstStyle/>
                    <a:p>
                      <a:pPr algn="ctr"/>
                      <a:r>
                        <a:rPr lang="en-US" altLang="zh-CN" sz="1800" dirty="0"/>
                        <a:t>50</a:t>
                      </a:r>
                      <a:endParaRPr lang="zh-CN" altLang="en-US" sz="1800" dirty="0"/>
                    </a:p>
                  </a:txBody>
                  <a:tcPr marT="45700" marB="45700"/>
                </a:tc>
                <a:tc>
                  <a:txBody>
                    <a:bodyPr/>
                    <a:lstStyle/>
                    <a:p>
                      <a:pPr algn="ctr"/>
                      <a:r>
                        <a:rPr lang="en-US" altLang="zh-CN" sz="1800" dirty="0"/>
                        <a:t>80</a:t>
                      </a:r>
                      <a:endParaRPr lang="zh-CN" altLang="en-US" sz="1800" dirty="0"/>
                    </a:p>
                  </a:txBody>
                  <a:tcPr marT="45700" marB="45700"/>
                </a:tc>
              </a:tr>
              <a:tr h="566734">
                <a:tc>
                  <a:txBody>
                    <a:bodyPr/>
                    <a:lstStyle/>
                    <a:p>
                      <a:pPr algn="ctr"/>
                      <a:r>
                        <a:rPr lang="en-US" altLang="zh-CN" sz="1800" dirty="0"/>
                        <a:t>0</a:t>
                      </a:r>
                      <a:endParaRPr lang="zh-CN" altLang="en-US" sz="1800" dirty="0"/>
                    </a:p>
                  </a:txBody>
                  <a:tcPr marT="45700" marB="45700"/>
                </a:tc>
                <a:tc>
                  <a:txBody>
                    <a:bodyPr/>
                    <a:lstStyle/>
                    <a:p>
                      <a:pPr algn="ctr"/>
                      <a:r>
                        <a:rPr lang="en-US" altLang="zh-CN" sz="1800" dirty="0"/>
                        <a:t>5</a:t>
                      </a:r>
                      <a:endParaRPr lang="zh-CN" altLang="en-US" sz="1800" dirty="0"/>
                    </a:p>
                  </a:txBody>
                  <a:tcPr marT="45700" marB="45700"/>
                </a:tc>
                <a:tc>
                  <a:txBody>
                    <a:bodyPr/>
                    <a:lstStyle/>
                    <a:p>
                      <a:pPr algn="ctr"/>
                      <a:r>
                        <a:rPr lang="en-US" altLang="zh-CN" sz="1800" dirty="0"/>
                        <a:t>10</a:t>
                      </a:r>
                      <a:endParaRPr lang="zh-CN" altLang="en-US" sz="1800" dirty="0"/>
                    </a:p>
                  </a:txBody>
                  <a:tcPr marT="45700" marB="45700"/>
                </a:tc>
              </a:tr>
            </a:tbl>
          </a:graphicData>
        </a:graphic>
      </p:graphicFrame>
      <p:cxnSp>
        <p:nvCxnSpPr>
          <p:cNvPr id="6" name="直接箭头连接符 5"/>
          <p:cNvCxnSpPr>
            <a:cxnSpLocks noChangeShapeType="1"/>
          </p:cNvCxnSpPr>
          <p:nvPr/>
        </p:nvCxnSpPr>
        <p:spPr bwMode="auto">
          <a:xfrm>
            <a:off x="3472620" y="1168099"/>
            <a:ext cx="96" cy="543234"/>
          </a:xfrm>
          <a:prstGeom prst="straightConnector1">
            <a:avLst/>
          </a:prstGeom>
          <a:noFill/>
          <a:ln w="57150" algn="ctr">
            <a:solidFill>
              <a:srgbClr val="0000CC"/>
            </a:solidFill>
            <a:round/>
            <a:tailEnd type="arrow" w="med" len="med"/>
          </a:ln>
          <a:extLst>
            <a:ext uri="{909E8E84-426E-40DD-AFC4-6F175D3DCCD1}">
              <a14:hiddenFill xmlns:a14="http://schemas.microsoft.com/office/drawing/2010/main">
                <a:noFill/>
              </a14:hiddenFill>
            </a:ext>
          </a:extLst>
        </p:spPr>
      </p:cxnSp>
      <p:cxnSp>
        <p:nvCxnSpPr>
          <p:cNvPr id="7" name="直接箭头连接符 6"/>
          <p:cNvCxnSpPr>
            <a:cxnSpLocks noChangeShapeType="1"/>
          </p:cNvCxnSpPr>
          <p:nvPr/>
        </p:nvCxnSpPr>
        <p:spPr bwMode="auto">
          <a:xfrm>
            <a:off x="5120445" y="1136746"/>
            <a:ext cx="48" cy="567981"/>
          </a:xfrm>
          <a:prstGeom prst="straightConnector1">
            <a:avLst/>
          </a:prstGeom>
          <a:noFill/>
          <a:ln w="57150" algn="ctr">
            <a:solidFill>
              <a:srgbClr val="0000CC"/>
            </a:solidFill>
            <a:round/>
            <a:tailEnd type="arrow" w="med" len="med"/>
          </a:ln>
          <a:extLst>
            <a:ext uri="{909E8E84-426E-40DD-AFC4-6F175D3DCCD1}">
              <a14:hiddenFill xmlns:a14="http://schemas.microsoft.com/office/drawing/2010/main">
                <a:noFill/>
              </a14:hiddenFill>
            </a:ext>
          </a:extLst>
        </p:spPr>
      </p:cxnSp>
      <p:sp>
        <p:nvSpPr>
          <p:cNvPr id="8" name="TextBox 7"/>
          <p:cNvSpPr txBox="1"/>
          <p:nvPr/>
        </p:nvSpPr>
        <p:spPr>
          <a:xfrm>
            <a:off x="4889811" y="874449"/>
            <a:ext cx="2093290" cy="461665"/>
          </a:xfrm>
          <a:prstGeom prst="rect">
            <a:avLst/>
          </a:prstGeom>
          <a:noFill/>
        </p:spPr>
        <p:txBody>
          <a:bodyPr wrap="square">
            <a:spAutoFit/>
          </a:bodyPr>
          <a:lstStyle/>
          <a:p>
            <a:pPr algn="ctr" eaLnBrk="1" hangingPunct="1">
              <a:defRPr/>
            </a:pPr>
            <a:r>
              <a:rPr lang="zh-CN" altLang="en-US" sz="2400" dirty="0">
                <a:solidFill>
                  <a:schemeClr val="tx1"/>
                </a:solidFill>
                <a:latin typeface="微软雅黑" panose="020B0503020204020204" pitchFamily="34" charset="-122"/>
                <a:ea typeface="微软雅黑" panose="020B0503020204020204" pitchFamily="34" charset="-122"/>
              </a:rPr>
              <a:t>索引表</a:t>
            </a:r>
            <a:endParaRPr lang="zh-CN" altLang="en-US" sz="2400" dirty="0">
              <a:solidFill>
                <a:schemeClr val="tx1"/>
              </a:solidFill>
              <a:latin typeface="微软雅黑" panose="020B0503020204020204" pitchFamily="34" charset="-122"/>
              <a:ea typeface="微软雅黑" panose="020B0503020204020204" pitchFamily="34" charset="-122"/>
            </a:endParaRPr>
          </a:p>
        </p:txBody>
      </p:sp>
      <p:graphicFrame>
        <p:nvGraphicFramePr>
          <p:cNvPr id="9" name="表格 8"/>
          <p:cNvGraphicFramePr>
            <a:graphicFrameLocks noGrp="1"/>
          </p:cNvGraphicFramePr>
          <p:nvPr/>
        </p:nvGraphicFramePr>
        <p:xfrm>
          <a:off x="685798" y="3844933"/>
          <a:ext cx="10744200" cy="1133468"/>
        </p:xfrm>
        <a:graphic>
          <a:graphicData uri="http://schemas.openxmlformats.org/drawingml/2006/table">
            <a:tbl>
              <a:tblPr firstRow="1" bandRow="1">
                <a:tableStyleId>{5940675A-B579-460E-94D1-54222C63F5DA}</a:tableStyleId>
              </a:tblPr>
              <a:tblGrid>
                <a:gridCol w="716280"/>
                <a:gridCol w="716280"/>
                <a:gridCol w="716280"/>
                <a:gridCol w="716280"/>
                <a:gridCol w="716280"/>
                <a:gridCol w="716280"/>
                <a:gridCol w="716280"/>
                <a:gridCol w="716280"/>
                <a:gridCol w="716280"/>
                <a:gridCol w="716280"/>
                <a:gridCol w="716280"/>
                <a:gridCol w="716280"/>
                <a:gridCol w="716280"/>
                <a:gridCol w="716280"/>
                <a:gridCol w="716280"/>
              </a:tblGrid>
              <a:tr h="566734">
                <a:tc>
                  <a:txBody>
                    <a:bodyPr/>
                    <a:lstStyle/>
                    <a:p>
                      <a:pPr algn="ctr"/>
                      <a:r>
                        <a:rPr lang="en-US" altLang="zh-CN" sz="1800" dirty="0"/>
                        <a:t>0</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1</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2</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3</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4</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5</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6</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7</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8</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9</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10</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11</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12</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13</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800" dirty="0"/>
                        <a:t>14</a:t>
                      </a:r>
                      <a:endParaRPr lang="zh-CN" altLang="en-US" sz="1800" dirty="0"/>
                    </a:p>
                  </a:txBody>
                  <a:tcPr marT="45700" marB="4570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66734">
                <a:tc>
                  <a:txBody>
                    <a:bodyPr/>
                    <a:lstStyle/>
                    <a:p>
                      <a:pPr algn="ctr"/>
                      <a:r>
                        <a:rPr lang="en-US" altLang="zh-CN" sz="1800" dirty="0"/>
                        <a:t>10</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8</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12</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9</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3</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15</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46</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45</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38</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50</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62</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51</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78</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55</a:t>
                      </a:r>
                      <a:endParaRPr lang="zh-CN" altLang="en-US" sz="1800" dirty="0"/>
                    </a:p>
                  </a:txBody>
                  <a:tcPr marT="45700" marB="45700">
                    <a:lnT w="12700" cap="flat" cmpd="sng" algn="ctr">
                      <a:solidFill>
                        <a:schemeClr val="tx1"/>
                      </a:solidFill>
                      <a:prstDash val="solid"/>
                      <a:round/>
                      <a:headEnd type="none" w="med" len="med"/>
                      <a:tailEnd type="none" w="med" len="med"/>
                    </a:lnT>
                  </a:tcPr>
                </a:tc>
                <a:tc>
                  <a:txBody>
                    <a:bodyPr/>
                    <a:lstStyle/>
                    <a:p>
                      <a:pPr algn="ctr"/>
                      <a:r>
                        <a:rPr lang="en-US" altLang="zh-CN" sz="1800" dirty="0"/>
                        <a:t>80</a:t>
                      </a:r>
                      <a:endParaRPr lang="zh-CN" altLang="en-US" sz="1800" dirty="0"/>
                    </a:p>
                  </a:txBody>
                  <a:tcPr marT="45700" marB="45700">
                    <a:lnT w="12700" cap="flat" cmpd="sng" algn="ctr">
                      <a:solidFill>
                        <a:schemeClr val="tx1"/>
                      </a:solidFill>
                      <a:prstDash val="solid"/>
                      <a:round/>
                      <a:headEnd type="none" w="med" len="med"/>
                      <a:tailEnd type="none" w="med" len="med"/>
                    </a:lnT>
                  </a:tcPr>
                </a:tc>
              </a:tr>
            </a:tbl>
          </a:graphicData>
        </a:graphic>
      </p:graphicFrame>
      <p:cxnSp>
        <p:nvCxnSpPr>
          <p:cNvPr id="10" name="直接连接符 14"/>
          <p:cNvCxnSpPr>
            <a:cxnSpLocks noChangeShapeType="1"/>
          </p:cNvCxnSpPr>
          <p:nvPr/>
        </p:nvCxnSpPr>
        <p:spPr bwMode="auto">
          <a:xfrm>
            <a:off x="2819400" y="2591064"/>
            <a:ext cx="0" cy="1628"/>
          </a:xfrm>
          <a:prstGeom prst="line">
            <a:avLst/>
          </a:prstGeom>
          <a:noFill/>
          <a:ln w="57150" algn="ctr">
            <a:solidFill>
              <a:srgbClr val="0000CC"/>
            </a:solidFill>
            <a:round/>
          </a:ln>
          <a:extLst>
            <a:ext uri="{909E8E84-426E-40DD-AFC4-6F175D3DCCD1}">
              <a14:hiddenFill xmlns:a14="http://schemas.microsoft.com/office/drawing/2010/main">
                <a:noFill/>
              </a14:hiddenFill>
            </a:ext>
          </a:extLst>
        </p:spPr>
      </p:cxnSp>
      <p:cxnSp>
        <p:nvCxnSpPr>
          <p:cNvPr id="11" name="直接连接符 16"/>
          <p:cNvCxnSpPr>
            <a:cxnSpLocks noChangeShapeType="1"/>
          </p:cNvCxnSpPr>
          <p:nvPr/>
        </p:nvCxnSpPr>
        <p:spPr bwMode="auto">
          <a:xfrm>
            <a:off x="1060979" y="3317116"/>
            <a:ext cx="2442007" cy="17532"/>
          </a:xfrm>
          <a:prstGeom prst="line">
            <a:avLst/>
          </a:prstGeom>
          <a:noFill/>
          <a:ln w="57150" algn="ctr">
            <a:solidFill>
              <a:srgbClr val="0000CC"/>
            </a:solidFill>
            <a:round/>
          </a:ln>
          <a:extLst>
            <a:ext uri="{909E8E84-426E-40DD-AFC4-6F175D3DCCD1}">
              <a14:hiddenFill xmlns:a14="http://schemas.microsoft.com/office/drawing/2010/main">
                <a:noFill/>
              </a14:hiddenFill>
            </a:ext>
          </a:extLst>
        </p:spPr>
      </p:cxnSp>
      <p:cxnSp>
        <p:nvCxnSpPr>
          <p:cNvPr id="12" name="直接箭头连接符 18"/>
          <p:cNvCxnSpPr>
            <a:cxnSpLocks noChangeShapeType="1"/>
          </p:cNvCxnSpPr>
          <p:nvPr/>
        </p:nvCxnSpPr>
        <p:spPr bwMode="auto">
          <a:xfrm>
            <a:off x="1060979" y="3317116"/>
            <a:ext cx="0" cy="577776"/>
          </a:xfrm>
          <a:prstGeom prst="straightConnector1">
            <a:avLst/>
          </a:prstGeom>
          <a:noFill/>
          <a:ln w="57150" algn="ctr">
            <a:solidFill>
              <a:srgbClr val="0000CC"/>
            </a:solidFill>
            <a:round/>
            <a:tailEnd type="arrow" w="med" len="med"/>
          </a:ln>
          <a:extLst>
            <a:ext uri="{909E8E84-426E-40DD-AFC4-6F175D3DCCD1}">
              <a14:hiddenFill xmlns:a14="http://schemas.microsoft.com/office/drawing/2010/main">
                <a:noFill/>
              </a14:hiddenFill>
            </a:ext>
          </a:extLst>
        </p:spPr>
      </p:cxnSp>
      <p:cxnSp>
        <p:nvCxnSpPr>
          <p:cNvPr id="13" name="直接连接符 19"/>
          <p:cNvCxnSpPr>
            <a:cxnSpLocks noChangeShapeType="1"/>
          </p:cNvCxnSpPr>
          <p:nvPr/>
        </p:nvCxnSpPr>
        <p:spPr bwMode="auto">
          <a:xfrm>
            <a:off x="4191000" y="2605351"/>
            <a:ext cx="0" cy="1628"/>
          </a:xfrm>
          <a:prstGeom prst="line">
            <a:avLst/>
          </a:prstGeom>
          <a:noFill/>
          <a:ln w="57150" algn="ctr">
            <a:solidFill>
              <a:srgbClr val="0000CC"/>
            </a:solidFill>
            <a:round/>
          </a:ln>
          <a:extLst>
            <a:ext uri="{909E8E84-426E-40DD-AFC4-6F175D3DCCD1}">
              <a14:hiddenFill xmlns:a14="http://schemas.microsoft.com/office/drawing/2010/main">
                <a:noFill/>
              </a14:hiddenFill>
            </a:ext>
          </a:extLst>
        </p:spPr>
      </p:cxnSp>
      <p:cxnSp>
        <p:nvCxnSpPr>
          <p:cNvPr id="14" name="直接连接符 20"/>
          <p:cNvCxnSpPr>
            <a:cxnSpLocks noChangeShapeType="1"/>
          </p:cNvCxnSpPr>
          <p:nvPr/>
        </p:nvCxnSpPr>
        <p:spPr bwMode="auto">
          <a:xfrm>
            <a:off x="5337608" y="2607694"/>
            <a:ext cx="96" cy="1674"/>
          </a:xfrm>
          <a:prstGeom prst="line">
            <a:avLst/>
          </a:prstGeom>
          <a:noFill/>
          <a:ln w="57150" algn="ctr">
            <a:solidFill>
              <a:srgbClr val="0000CC"/>
            </a:solidFill>
            <a:round/>
          </a:ln>
          <a:extLst>
            <a:ext uri="{909E8E84-426E-40DD-AFC4-6F175D3DCCD1}">
              <a14:hiddenFill xmlns:a14="http://schemas.microsoft.com/office/drawing/2010/main">
                <a:noFill/>
              </a14:hiddenFill>
            </a:ext>
          </a:extLst>
        </p:spPr>
      </p:cxnSp>
      <p:cxnSp>
        <p:nvCxnSpPr>
          <p:cNvPr id="15" name="直接连接符 21"/>
          <p:cNvCxnSpPr>
            <a:cxnSpLocks noChangeShapeType="1"/>
          </p:cNvCxnSpPr>
          <p:nvPr/>
        </p:nvCxnSpPr>
        <p:spPr bwMode="auto">
          <a:xfrm>
            <a:off x="4610472" y="3341323"/>
            <a:ext cx="509973" cy="0"/>
          </a:xfrm>
          <a:prstGeom prst="line">
            <a:avLst/>
          </a:prstGeom>
          <a:noFill/>
          <a:ln w="57150" algn="ctr">
            <a:solidFill>
              <a:srgbClr val="0000CC"/>
            </a:solidFill>
            <a:round/>
          </a:ln>
          <a:extLst>
            <a:ext uri="{909E8E84-426E-40DD-AFC4-6F175D3DCCD1}">
              <a14:hiddenFill xmlns:a14="http://schemas.microsoft.com/office/drawing/2010/main">
                <a:noFill/>
              </a14:hiddenFill>
            </a:ext>
          </a:extLst>
        </p:spPr>
      </p:cxnSp>
      <p:cxnSp>
        <p:nvCxnSpPr>
          <p:cNvPr id="16" name="直接箭头连接符 24"/>
          <p:cNvCxnSpPr>
            <a:cxnSpLocks noChangeShapeType="1"/>
          </p:cNvCxnSpPr>
          <p:nvPr/>
        </p:nvCxnSpPr>
        <p:spPr bwMode="auto">
          <a:xfrm>
            <a:off x="4610472" y="3317116"/>
            <a:ext cx="0" cy="577776"/>
          </a:xfrm>
          <a:prstGeom prst="straightConnector1">
            <a:avLst/>
          </a:prstGeom>
          <a:noFill/>
          <a:ln w="57150" algn="ctr">
            <a:solidFill>
              <a:srgbClr val="0000CC"/>
            </a:solidFill>
            <a:round/>
            <a:tailEnd type="arrow" w="med" len="med"/>
          </a:ln>
          <a:extLst>
            <a:ext uri="{909E8E84-426E-40DD-AFC4-6F175D3DCCD1}">
              <a14:hiddenFill xmlns:a14="http://schemas.microsoft.com/office/drawing/2010/main">
                <a:noFill/>
              </a14:hiddenFill>
            </a:ext>
          </a:extLst>
        </p:spPr>
      </p:cxnSp>
      <p:cxnSp>
        <p:nvCxnSpPr>
          <p:cNvPr id="17" name="直接箭头连接符 29"/>
          <p:cNvCxnSpPr>
            <a:cxnSpLocks noChangeShapeType="1"/>
          </p:cNvCxnSpPr>
          <p:nvPr/>
        </p:nvCxnSpPr>
        <p:spPr bwMode="auto">
          <a:xfrm>
            <a:off x="8199341" y="3343827"/>
            <a:ext cx="0" cy="628293"/>
          </a:xfrm>
          <a:prstGeom prst="straightConnector1">
            <a:avLst/>
          </a:prstGeom>
          <a:noFill/>
          <a:ln w="57150" algn="ctr">
            <a:solidFill>
              <a:srgbClr val="0000CC"/>
            </a:solidFill>
            <a:round/>
            <a:tailEnd type="arrow" w="med" len="med"/>
          </a:ln>
          <a:extLst>
            <a:ext uri="{909E8E84-426E-40DD-AFC4-6F175D3DCCD1}">
              <a14:hiddenFill xmlns:a14="http://schemas.microsoft.com/office/drawing/2010/main">
                <a:noFill/>
              </a14:hiddenFill>
            </a:ext>
          </a:extLst>
        </p:spPr>
      </p:cxnSp>
      <p:cxnSp>
        <p:nvCxnSpPr>
          <p:cNvPr id="18" name="直接箭头连接符 31"/>
          <p:cNvCxnSpPr>
            <a:cxnSpLocks noChangeShapeType="1"/>
          </p:cNvCxnSpPr>
          <p:nvPr/>
        </p:nvCxnSpPr>
        <p:spPr bwMode="auto">
          <a:xfrm flipV="1">
            <a:off x="4610472" y="4978401"/>
            <a:ext cx="0" cy="704344"/>
          </a:xfrm>
          <a:prstGeom prst="straightConnector1">
            <a:avLst/>
          </a:prstGeom>
          <a:noFill/>
          <a:ln w="57150" algn="ctr">
            <a:solidFill>
              <a:srgbClr val="0000CC"/>
            </a:solidFill>
            <a:round/>
            <a:tailEnd type="arrow" w="med" len="med"/>
          </a:ln>
          <a:extLst>
            <a:ext uri="{909E8E84-426E-40DD-AFC4-6F175D3DCCD1}">
              <a14:hiddenFill xmlns:a14="http://schemas.microsoft.com/office/drawing/2010/main">
                <a:noFill/>
              </a14:hiddenFill>
            </a:ext>
          </a:extLst>
        </p:spPr>
      </p:cxnSp>
      <p:cxnSp>
        <p:nvCxnSpPr>
          <p:cNvPr id="19" name="直接箭头连接符 32"/>
          <p:cNvCxnSpPr>
            <a:cxnSpLocks noChangeShapeType="1"/>
          </p:cNvCxnSpPr>
          <p:nvPr/>
        </p:nvCxnSpPr>
        <p:spPr bwMode="auto">
          <a:xfrm flipV="1">
            <a:off x="5337608" y="4978401"/>
            <a:ext cx="0" cy="704344"/>
          </a:xfrm>
          <a:prstGeom prst="straightConnector1">
            <a:avLst/>
          </a:prstGeom>
          <a:noFill/>
          <a:ln w="57150" algn="ctr">
            <a:solidFill>
              <a:srgbClr val="0000CC"/>
            </a:solidFill>
            <a:round/>
            <a:tailEnd type="arrow" w="med" len="med"/>
          </a:ln>
          <a:extLst>
            <a:ext uri="{909E8E84-426E-40DD-AFC4-6F175D3DCCD1}">
              <a14:hiddenFill xmlns:a14="http://schemas.microsoft.com/office/drawing/2010/main">
                <a:noFill/>
              </a14:hiddenFill>
            </a:ext>
          </a:extLst>
        </p:spPr>
      </p:cxnSp>
      <p:cxnSp>
        <p:nvCxnSpPr>
          <p:cNvPr id="20" name="直接箭头连接符 33"/>
          <p:cNvCxnSpPr>
            <a:cxnSpLocks noChangeShapeType="1"/>
          </p:cNvCxnSpPr>
          <p:nvPr/>
        </p:nvCxnSpPr>
        <p:spPr bwMode="auto">
          <a:xfrm flipV="1">
            <a:off x="6057898" y="4978401"/>
            <a:ext cx="0" cy="704344"/>
          </a:xfrm>
          <a:prstGeom prst="straightConnector1">
            <a:avLst/>
          </a:prstGeom>
          <a:noFill/>
          <a:ln w="57150" algn="ctr">
            <a:solidFill>
              <a:srgbClr val="0000CC"/>
            </a:solidFill>
            <a:round/>
            <a:tailEnd type="arrow" w="med" len="med"/>
          </a:ln>
          <a:extLst>
            <a:ext uri="{909E8E84-426E-40DD-AFC4-6F175D3DCCD1}">
              <a14:hiddenFill xmlns:a14="http://schemas.microsoft.com/office/drawing/2010/main">
                <a:noFill/>
              </a14:hiddenFill>
            </a:ext>
          </a:extLst>
        </p:spPr>
      </p:cxnSp>
      <p:sp>
        <p:nvSpPr>
          <p:cNvPr id="21" name="椭圆形标注 35"/>
          <p:cNvSpPr>
            <a:spLocks noChangeArrowheads="1"/>
          </p:cNvSpPr>
          <p:nvPr/>
        </p:nvSpPr>
        <p:spPr bwMode="auto">
          <a:xfrm>
            <a:off x="7755466" y="903765"/>
            <a:ext cx="1841864" cy="699011"/>
          </a:xfrm>
          <a:prstGeom prst="wedgeEllipseCallout">
            <a:avLst>
              <a:gd name="adj1" fmla="val -36125"/>
              <a:gd name="adj2" fmla="val 77208"/>
            </a:avLst>
          </a:prstGeom>
          <a:solidFill>
            <a:schemeClr val="accent1"/>
          </a:solidFill>
          <a:ln w="3175" algn="ctr">
            <a:solidFill>
              <a:schemeClr val="tx2"/>
            </a:solidFill>
            <a:round/>
          </a:ln>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dirty="0">
                <a:solidFill>
                  <a:srgbClr val="FFFFFF"/>
                </a:solidFill>
                <a:latin typeface="微软雅黑" panose="020B0503020204020204" pitchFamily="34" charset="-122"/>
                <a:ea typeface="微软雅黑" panose="020B0503020204020204" pitchFamily="34" charset="-122"/>
              </a:rPr>
              <a:t>查</a:t>
            </a:r>
            <a:r>
              <a:rPr lang="en-US" altLang="zh-CN" sz="1800" dirty="0">
                <a:solidFill>
                  <a:srgbClr val="FFFFFF"/>
                </a:solidFill>
                <a:latin typeface="微软雅黑" panose="020B0503020204020204" pitchFamily="34" charset="-122"/>
                <a:ea typeface="微软雅黑" panose="020B0503020204020204" pitchFamily="34" charset="-122"/>
              </a:rPr>
              <a:t>45</a:t>
            </a:r>
            <a:endParaRPr lang="zh-CN" altLang="en-US" sz="1800" dirty="0">
              <a:solidFill>
                <a:srgbClr val="FFFFFF"/>
              </a:solidFill>
              <a:latin typeface="微软雅黑" panose="020B0503020204020204" pitchFamily="34" charset="-122"/>
              <a:ea typeface="微软雅黑" panose="020B0503020204020204" pitchFamily="34" charset="-122"/>
            </a:endParaRPr>
          </a:p>
        </p:txBody>
      </p:sp>
      <p:cxnSp>
        <p:nvCxnSpPr>
          <p:cNvPr id="128" name="直接连接符 21"/>
          <p:cNvCxnSpPr>
            <a:cxnSpLocks noChangeShapeType="1"/>
          </p:cNvCxnSpPr>
          <p:nvPr/>
        </p:nvCxnSpPr>
        <p:spPr bwMode="auto">
          <a:xfrm>
            <a:off x="6824133" y="3343827"/>
            <a:ext cx="1375208" cy="8206"/>
          </a:xfrm>
          <a:prstGeom prst="line">
            <a:avLst/>
          </a:prstGeom>
          <a:noFill/>
          <a:ln w="57150" algn="ctr">
            <a:solidFill>
              <a:srgbClr val="0000CC"/>
            </a:solidFill>
            <a:round/>
          </a:ln>
          <a:extLst>
            <a:ext uri="{909E8E84-426E-40DD-AFC4-6F175D3DCCD1}">
              <a14:hiddenFill xmlns:a14="http://schemas.microsoft.com/office/drawing/2010/main">
                <a:noFill/>
              </a14:hiddenFill>
            </a:ext>
          </a:extLst>
        </p:spPr>
      </p:cxnSp>
      <p:cxnSp>
        <p:nvCxnSpPr>
          <p:cNvPr id="130" name="直接连接符 21"/>
          <p:cNvCxnSpPr>
            <a:cxnSpLocks noChangeShapeType="1"/>
          </p:cNvCxnSpPr>
          <p:nvPr/>
        </p:nvCxnSpPr>
        <p:spPr bwMode="auto">
          <a:xfrm flipV="1">
            <a:off x="6824133" y="2875731"/>
            <a:ext cx="0" cy="472199"/>
          </a:xfrm>
          <a:prstGeom prst="line">
            <a:avLst/>
          </a:prstGeom>
          <a:noFill/>
          <a:ln w="57150" algn="ctr">
            <a:solidFill>
              <a:srgbClr val="0000CC"/>
            </a:solidFill>
            <a:round/>
          </a:ln>
          <a:extLst>
            <a:ext uri="{909E8E84-426E-40DD-AFC4-6F175D3DCCD1}">
              <a14:hiddenFill xmlns:a14="http://schemas.microsoft.com/office/drawing/2010/main">
                <a:noFill/>
              </a14:hiddenFill>
            </a:ext>
          </a:extLst>
        </p:spPr>
      </p:cxnSp>
      <p:cxnSp>
        <p:nvCxnSpPr>
          <p:cNvPr id="134" name="直接连接符 21"/>
          <p:cNvCxnSpPr>
            <a:cxnSpLocks noChangeShapeType="1"/>
          </p:cNvCxnSpPr>
          <p:nvPr/>
        </p:nvCxnSpPr>
        <p:spPr bwMode="auto">
          <a:xfrm flipV="1">
            <a:off x="5120445" y="2825772"/>
            <a:ext cx="0" cy="522158"/>
          </a:xfrm>
          <a:prstGeom prst="line">
            <a:avLst/>
          </a:prstGeom>
          <a:noFill/>
          <a:ln w="57150" algn="ctr">
            <a:solidFill>
              <a:srgbClr val="0000CC"/>
            </a:solidFill>
            <a:round/>
          </a:ln>
          <a:extLst>
            <a:ext uri="{909E8E84-426E-40DD-AFC4-6F175D3DCCD1}">
              <a14:hiddenFill xmlns:a14="http://schemas.microsoft.com/office/drawing/2010/main">
                <a:noFill/>
              </a14:hiddenFill>
            </a:ext>
          </a:extLst>
        </p:spPr>
      </p:cxnSp>
      <p:cxnSp>
        <p:nvCxnSpPr>
          <p:cNvPr id="142" name="直接连接符 21"/>
          <p:cNvCxnSpPr>
            <a:cxnSpLocks noChangeShapeType="1"/>
          </p:cNvCxnSpPr>
          <p:nvPr/>
        </p:nvCxnSpPr>
        <p:spPr bwMode="auto">
          <a:xfrm flipV="1">
            <a:off x="3472620" y="2838468"/>
            <a:ext cx="0" cy="522158"/>
          </a:xfrm>
          <a:prstGeom prst="line">
            <a:avLst/>
          </a:prstGeom>
          <a:noFill/>
          <a:ln w="57150" algn="ctr">
            <a:solidFill>
              <a:srgbClr val="0000CC"/>
            </a:solidFill>
            <a:rou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ox(in)">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6.2.3</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分块查找</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3"/>
          <p:cNvSpPr>
            <a:spLocks noGrp="1"/>
          </p:cNvSpPr>
          <p:nvPr>
            <p:ph idx="1"/>
          </p:nvPr>
        </p:nvSpPr>
        <p:spPr>
          <a:xfrm>
            <a:off x="465666" y="926447"/>
            <a:ext cx="11260667" cy="5037667"/>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分块查找的效率</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b="1" dirty="0">
                <a:latin typeface="微软雅黑" panose="020B0503020204020204" pitchFamily="34" charset="-122"/>
                <a:ea typeface="微软雅黑" panose="020B0503020204020204" pitchFamily="34" charset="-122"/>
              </a:rPr>
              <a:t>分块查找的平均查找长度 </a:t>
            </a:r>
            <a:r>
              <a:rPr lang="en-US" altLang="zh-CN" sz="2400" b="1"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查找“索引”的平均查找长度</a:t>
            </a:r>
            <a:br>
              <a:rPr lang="zh-CN" altLang="en-US" sz="2400" dirty="0">
                <a:solidFill>
                  <a:srgbClr val="FF0000"/>
                </a:solidFill>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  </a:t>
            </a:r>
            <a:r>
              <a:rPr lang="zh-CN" altLang="en-US" sz="2400" b="1" dirty="0">
                <a:solidFill>
                  <a:srgbClr val="FF0000"/>
                </a:solidFill>
                <a:latin typeface="微软雅黑" panose="020B0503020204020204" pitchFamily="34" charset="-122"/>
                <a:ea typeface="微软雅黑" panose="020B0503020204020204" pitchFamily="34" charset="-122"/>
              </a:rPr>
              <a:t>查找“顺序表”的平均查找长度</a:t>
            </a:r>
            <a:endParaRPr lang="en-US" altLang="zh-CN" sz="2400" b="1" dirty="0">
              <a:solidFill>
                <a:srgbClr val="FF0000"/>
              </a:solidFill>
              <a:latin typeface="微软雅黑" panose="020B0503020204020204" pitchFamily="34" charset="-122"/>
              <a:ea typeface="微软雅黑" panose="020B0503020204020204" pitchFamily="34" charset="-122"/>
            </a:endParaRPr>
          </a:p>
          <a:p>
            <a:endParaRPr lang="en-US" altLang="zh-CN" b="1" dirty="0">
              <a:solidFill>
                <a:srgbClr val="006600"/>
              </a:solidFill>
            </a:endParaRPr>
          </a:p>
        </p:txBody>
      </p:sp>
      <p:graphicFrame>
        <p:nvGraphicFramePr>
          <p:cNvPr id="22" name="Object 31"/>
          <p:cNvGraphicFramePr>
            <a:graphicFrameLocks noChangeAspect="1"/>
          </p:cNvGraphicFramePr>
          <p:nvPr/>
        </p:nvGraphicFramePr>
        <p:xfrm>
          <a:off x="887071" y="2583602"/>
          <a:ext cx="9577729" cy="4049966"/>
        </p:xfrm>
        <a:graphic>
          <a:graphicData uri="http://schemas.openxmlformats.org/presentationml/2006/ole">
            <mc:AlternateContent xmlns:mc="http://schemas.openxmlformats.org/markup-compatibility/2006">
              <mc:Choice xmlns:v="urn:schemas-microsoft-com:vml" Requires="v">
                <p:oleObj spid="_x0000_s3077" name="公式" r:id="rId1" imgW="4927600" imgH="2082800" progId="Equation.3">
                  <p:embed/>
                </p:oleObj>
              </mc:Choice>
              <mc:Fallback>
                <p:oleObj name="公式" r:id="rId1" imgW="4927600" imgH="2082800" progId="Equation.3">
                  <p:embed/>
                  <p:pic>
                    <p:nvPicPr>
                      <p:cNvPr id="0" name="Object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071" y="2583602"/>
                        <a:ext cx="9577729" cy="4049966"/>
                      </a:xfrm>
                      <a:prstGeom prst="rect">
                        <a:avLst/>
                      </a:prstGeom>
                      <a:noFill/>
                      <a:ln>
                        <a:noFill/>
                      </a:ln>
                      <a:effec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查找方法比较</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 name="内容占位符 5"/>
          <p:cNvGraphicFramePr>
            <a:graphicFrameLocks noGrp="1"/>
          </p:cNvGraphicFramePr>
          <p:nvPr>
            <p:ph idx="1"/>
          </p:nvPr>
        </p:nvGraphicFramePr>
        <p:xfrm>
          <a:off x="681566" y="2149914"/>
          <a:ext cx="10828867" cy="2558171"/>
        </p:xfrm>
        <a:graphic>
          <a:graphicData uri="http://schemas.openxmlformats.org/drawingml/2006/table">
            <a:tbl>
              <a:tblPr firstRow="1" bandRow="1">
                <a:tableStyleId>{5940675A-B579-460E-94D1-54222C63F5DA}</a:tableStyleId>
              </a:tblPr>
              <a:tblGrid>
                <a:gridCol w="2306147"/>
                <a:gridCol w="3108286"/>
                <a:gridCol w="2707217"/>
                <a:gridCol w="2707217"/>
              </a:tblGrid>
              <a:tr h="532930">
                <a:tc>
                  <a:txBody>
                    <a:bodyPr/>
                    <a:lstStyle/>
                    <a:p>
                      <a:pPr algn="ct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顺序查找</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折半查找</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索引查找</a:t>
                      </a:r>
                      <a:endParaRPr lang="zh-CN" altLang="en-US" sz="2400" dirty="0">
                        <a:latin typeface="微软雅黑" panose="020B0503020204020204" pitchFamily="34" charset="-122"/>
                        <a:ea typeface="微软雅黑" panose="020B0503020204020204" pitchFamily="34" charset="-122"/>
                      </a:endParaRPr>
                    </a:p>
                  </a:txBody>
                  <a:tcPr marT="45663" marB="45663"/>
                </a:tc>
              </a:tr>
              <a:tr h="532930">
                <a:tc>
                  <a:txBody>
                    <a:bodyPr/>
                    <a:lstStyle/>
                    <a:p>
                      <a:pPr algn="ctr"/>
                      <a:r>
                        <a:rPr lang="en-US" altLang="zh-CN" sz="2400" dirty="0">
                          <a:latin typeface="微软雅黑" panose="020B0503020204020204" pitchFamily="34" charset="-122"/>
                          <a:ea typeface="微软雅黑" panose="020B0503020204020204" pitchFamily="34" charset="-122"/>
                        </a:rPr>
                        <a:t>ASL</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最大</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最小</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二者之间</a:t>
                      </a:r>
                      <a:endParaRPr lang="zh-CN" altLang="en-US" sz="2400" dirty="0">
                        <a:latin typeface="微软雅黑" panose="020B0503020204020204" pitchFamily="34" charset="-122"/>
                        <a:ea typeface="微软雅黑" panose="020B0503020204020204" pitchFamily="34" charset="-122"/>
                      </a:endParaRPr>
                    </a:p>
                  </a:txBody>
                  <a:tcPr marT="45663" marB="45663"/>
                </a:tc>
              </a:tr>
              <a:tr h="532930">
                <a:tc>
                  <a:txBody>
                    <a:bodyPr/>
                    <a:lstStyle/>
                    <a:p>
                      <a:pPr algn="ctr"/>
                      <a:r>
                        <a:rPr lang="zh-CN" altLang="en-US" sz="2400" dirty="0">
                          <a:latin typeface="微软雅黑" panose="020B0503020204020204" pitchFamily="34" charset="-122"/>
                          <a:ea typeface="微软雅黑" panose="020B0503020204020204" pitchFamily="34" charset="-122"/>
                        </a:rPr>
                        <a:t>表结构</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有序表、无序表</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有序表</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分块有序表</a:t>
                      </a:r>
                      <a:endParaRPr lang="zh-CN" altLang="en-US" sz="2400" dirty="0">
                        <a:latin typeface="微软雅黑" panose="020B0503020204020204" pitchFamily="34" charset="-122"/>
                        <a:ea typeface="微软雅黑" panose="020B0503020204020204" pitchFamily="34" charset="-122"/>
                      </a:endParaRPr>
                    </a:p>
                  </a:txBody>
                  <a:tcPr marT="45663" marB="45663"/>
                </a:tc>
              </a:tr>
              <a:tr h="959381">
                <a:tc>
                  <a:txBody>
                    <a:bodyPr/>
                    <a:lstStyle/>
                    <a:p>
                      <a:pPr algn="ctr"/>
                      <a:r>
                        <a:rPr lang="zh-CN" altLang="en-US" sz="2400" dirty="0">
                          <a:latin typeface="微软雅黑" panose="020B0503020204020204" pitchFamily="34" charset="-122"/>
                          <a:ea typeface="微软雅黑" panose="020B0503020204020204" pitchFamily="34" charset="-122"/>
                        </a:rPr>
                        <a:t>存储结构</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顺序存储结构</a:t>
                      </a:r>
                      <a:endParaRPr lang="zh-CN" altLang="en-US" sz="2400" dirty="0">
                        <a:latin typeface="微软雅黑" panose="020B0503020204020204" pitchFamily="34" charset="-122"/>
                        <a:ea typeface="微软雅黑" panose="020B0503020204020204" pitchFamily="34" charset="-122"/>
                      </a:endParaRPr>
                    </a:p>
                    <a:p>
                      <a:pPr algn="ctr"/>
                      <a:r>
                        <a:rPr lang="zh-CN" altLang="en-US" sz="2400" dirty="0">
                          <a:latin typeface="微软雅黑" panose="020B0503020204020204" pitchFamily="34" charset="-122"/>
                          <a:ea typeface="微软雅黑" panose="020B0503020204020204" pitchFamily="34" charset="-122"/>
                        </a:rPr>
                        <a:t>线性链表</a:t>
                      </a: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顺序存储结构</a:t>
                      </a:r>
                      <a:endParaRPr lang="zh-CN" altLang="en-US" sz="2400" dirty="0">
                        <a:latin typeface="微软雅黑" panose="020B0503020204020204" pitchFamily="34" charset="-122"/>
                        <a:ea typeface="微软雅黑" panose="020B0503020204020204" pitchFamily="34" charset="-122"/>
                      </a:endParaRPr>
                    </a:p>
                    <a:p>
                      <a:pPr algn="ctr"/>
                      <a:endParaRPr lang="zh-CN" altLang="en-US" sz="2400" dirty="0">
                        <a:latin typeface="微软雅黑" panose="020B0503020204020204" pitchFamily="34" charset="-122"/>
                        <a:ea typeface="微软雅黑" panose="020B0503020204020204" pitchFamily="34" charset="-122"/>
                      </a:endParaRPr>
                    </a:p>
                  </a:txBody>
                  <a:tcPr marT="45663" marB="45663"/>
                </a:tc>
                <a:tc>
                  <a:txBody>
                    <a:bodyPr/>
                    <a:lstStyle/>
                    <a:p>
                      <a:pPr algn="ctr"/>
                      <a:r>
                        <a:rPr lang="zh-CN" altLang="en-US" sz="2400" dirty="0">
                          <a:latin typeface="微软雅黑" panose="020B0503020204020204" pitchFamily="34" charset="-122"/>
                          <a:ea typeface="微软雅黑" panose="020B0503020204020204" pitchFamily="34" charset="-122"/>
                        </a:rPr>
                        <a:t>顺序存储结构</a:t>
                      </a:r>
                      <a:endParaRPr lang="zh-CN" altLang="en-US" sz="2400" dirty="0">
                        <a:latin typeface="微软雅黑" panose="020B0503020204020204" pitchFamily="34" charset="-122"/>
                        <a:ea typeface="微软雅黑" panose="020B0503020204020204" pitchFamily="34" charset="-122"/>
                      </a:endParaRPr>
                    </a:p>
                    <a:p>
                      <a:pPr algn="ctr"/>
                      <a:r>
                        <a:rPr lang="zh-CN" altLang="en-US" sz="2400" dirty="0">
                          <a:latin typeface="微软雅黑" panose="020B0503020204020204" pitchFamily="34" charset="-122"/>
                          <a:ea typeface="微软雅黑" panose="020B0503020204020204" pitchFamily="34" charset="-122"/>
                        </a:rPr>
                        <a:t>线性链表</a:t>
                      </a:r>
                      <a:endParaRPr lang="zh-CN" altLang="en-US" sz="2400" dirty="0">
                        <a:latin typeface="微软雅黑" panose="020B0503020204020204" pitchFamily="34" charset="-122"/>
                        <a:ea typeface="微软雅黑" panose="020B0503020204020204" pitchFamily="34" charset="-122"/>
                      </a:endParaRPr>
                    </a:p>
                  </a:txBody>
                  <a:tcPr marT="45663" marB="45663"/>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动态查找表</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 name="内容占位符 3"/>
          <p:cNvGraphicFramePr>
            <a:graphicFrameLocks noGrp="1"/>
          </p:cNvGraphicFramePr>
          <p:nvPr>
            <p:ph idx="1"/>
          </p:nvPr>
        </p:nvGraphicFramePr>
        <p:xfrm>
          <a:off x="457199" y="1134533"/>
          <a:ext cx="11091336" cy="2827870"/>
        </p:xfrm>
        <a:graphic>
          <a:graphicData uri="http://schemas.openxmlformats.org/drawingml/2006/table">
            <a:tbl>
              <a:tblPr firstRow="1" bandRow="1">
                <a:tableStyleId>{5940675A-B579-460E-94D1-54222C63F5DA}</a:tableStyleId>
              </a:tblPr>
              <a:tblGrid>
                <a:gridCol w="2772834"/>
                <a:gridCol w="2772834"/>
                <a:gridCol w="2772834"/>
                <a:gridCol w="2772834"/>
              </a:tblGrid>
              <a:tr h="565574">
                <a:tc>
                  <a:txBody>
                    <a:bodyPr/>
                    <a:lstStyle/>
                    <a:p>
                      <a:pPr algn="ctr"/>
                      <a:r>
                        <a:rPr lang="zh-CN" altLang="en-US" sz="2400" dirty="0">
                          <a:latin typeface="微软雅黑" panose="020B0503020204020204" pitchFamily="34" charset="-122"/>
                          <a:ea typeface="微软雅黑" panose="020B0503020204020204" pitchFamily="34" charset="-122"/>
                        </a:rPr>
                        <a:t>类别</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a:r>
                        <a:rPr lang="zh-CN" altLang="en-US" sz="2400" dirty="0">
                          <a:latin typeface="微软雅黑" panose="020B0503020204020204" pitchFamily="34" charset="-122"/>
                          <a:ea typeface="微软雅黑" panose="020B0503020204020204" pitchFamily="34" charset="-122"/>
                        </a:rPr>
                        <a:t>查找</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a:r>
                        <a:rPr lang="zh-CN" altLang="en-US" sz="2400" dirty="0">
                          <a:latin typeface="微软雅黑" panose="020B0503020204020204" pitchFamily="34" charset="-122"/>
                          <a:ea typeface="微软雅黑" panose="020B0503020204020204" pitchFamily="34" charset="-122"/>
                        </a:rPr>
                        <a:t>插入</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a:r>
                        <a:rPr lang="zh-CN" altLang="en-US" sz="2400" dirty="0">
                          <a:latin typeface="微软雅黑" panose="020B0503020204020204" pitchFamily="34" charset="-122"/>
                          <a:ea typeface="微软雅黑" panose="020B0503020204020204" pitchFamily="34" charset="-122"/>
                        </a:rPr>
                        <a:t>删除</a:t>
                      </a:r>
                      <a:endParaRPr lang="zh-CN" altLang="en-US" sz="2400" dirty="0">
                        <a:latin typeface="微软雅黑" panose="020B0503020204020204" pitchFamily="34" charset="-122"/>
                        <a:ea typeface="微软雅黑" panose="020B0503020204020204" pitchFamily="34" charset="-122"/>
                      </a:endParaRPr>
                    </a:p>
                  </a:txBody>
                  <a:tcPr/>
                </a:tc>
              </a:tr>
              <a:tr h="565574">
                <a:tc>
                  <a:txBody>
                    <a:bodyPr/>
                    <a:lstStyle/>
                    <a:p>
                      <a:pPr algn="ctr"/>
                      <a:r>
                        <a:rPr lang="zh-CN" altLang="en-US" sz="2400" dirty="0">
                          <a:latin typeface="微软雅黑" panose="020B0503020204020204" pitchFamily="34" charset="-122"/>
                          <a:ea typeface="微软雅黑" panose="020B0503020204020204" pitchFamily="34" charset="-122"/>
                        </a:rPr>
                        <a:t>无序顺序表 </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O(1)</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r>
              <a:tr h="565574">
                <a:tc>
                  <a:txBody>
                    <a:bodyPr/>
                    <a:lstStyle/>
                    <a:p>
                      <a:pPr algn="ctr"/>
                      <a:r>
                        <a:rPr lang="zh-CN" altLang="en-US" sz="2400" dirty="0">
                          <a:latin typeface="微软雅黑" panose="020B0503020204020204" pitchFamily="34" charset="-122"/>
                          <a:ea typeface="微软雅黑" panose="020B0503020204020204" pitchFamily="34" charset="-122"/>
                        </a:rPr>
                        <a:t>无序线性链表</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O(1)</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O(1)</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r>
              <a:tr h="565574">
                <a:tc>
                  <a:txBody>
                    <a:bodyPr/>
                    <a:lstStyle/>
                    <a:p>
                      <a:pPr algn="ctr"/>
                      <a:r>
                        <a:rPr lang="zh-CN" altLang="en-US" sz="2400" dirty="0">
                          <a:latin typeface="微软雅黑" panose="020B0503020204020204" pitchFamily="34" charset="-122"/>
                          <a:ea typeface="微软雅黑" panose="020B0503020204020204" pitchFamily="34" charset="-122"/>
                        </a:rPr>
                        <a:t>有序顺序表</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400" i="0" dirty="0" err="1">
                          <a:latin typeface="Times New Roman" panose="02020603050405020304" pitchFamily="18" charset="0"/>
                          <a:ea typeface="微软雅黑" panose="020B0503020204020204" pitchFamily="34" charset="-122"/>
                          <a:cs typeface="Times New Roman" panose="02020603050405020304" pitchFamily="18" charset="0"/>
                        </a:rPr>
                        <a:t>log</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r>
              <a:tr h="565574">
                <a:tc>
                  <a:txBody>
                    <a:bodyPr/>
                    <a:lstStyle/>
                    <a:p>
                      <a:pPr algn="ctr"/>
                      <a:r>
                        <a:rPr lang="zh-CN" altLang="en-US" sz="2400" dirty="0">
                          <a:latin typeface="微软雅黑" panose="020B0503020204020204" pitchFamily="34" charset="-122"/>
                          <a:ea typeface="微软雅黑" panose="020B0503020204020204" pitchFamily="34" charset="-122"/>
                        </a:rPr>
                        <a:t>有序线性链表</a:t>
                      </a:r>
                      <a:endParaRPr lang="zh-CN" altLang="en-US" sz="2400" dirty="0">
                        <a:latin typeface="微软雅黑" panose="020B0503020204020204" pitchFamily="34" charset="-122"/>
                        <a:ea typeface="微软雅黑" panose="020B0503020204020204" pitchFamily="34" charset="-122"/>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O(1)</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pPr algn="ctr"/>
                      <a:r>
                        <a:rPr lang="en-US" altLang="zh-CN" sz="2400" i="0" dirty="0">
                          <a:latin typeface="Times New Roman" panose="02020603050405020304" pitchFamily="18" charset="0"/>
                          <a:ea typeface="微软雅黑" panose="020B0503020204020204" pitchFamily="34" charset="-122"/>
                          <a:cs typeface="Times New Roman" panose="02020603050405020304" pitchFamily="18" charset="0"/>
                        </a:rPr>
                        <a:t>O(1)</a:t>
                      </a:r>
                      <a:endParaRPr lang="zh-CN" altLang="en-US" sz="2400" i="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r>
            </a:tbl>
          </a:graphicData>
        </a:graphic>
      </p:graphicFrame>
      <p:sp>
        <p:nvSpPr>
          <p:cNvPr id="6" name="TextBox 4"/>
          <p:cNvSpPr txBox="1"/>
          <p:nvPr/>
        </p:nvSpPr>
        <p:spPr>
          <a:xfrm>
            <a:off x="538982" y="4238104"/>
            <a:ext cx="11399426" cy="1846659"/>
          </a:xfrm>
          <a:prstGeom prst="rect">
            <a:avLst/>
          </a:prstGeom>
          <a:noFill/>
        </p:spPr>
        <p:txBody>
          <a:bodyPr wrap="square">
            <a:spAutoFit/>
          </a:bodyPr>
          <a:lstStyle/>
          <a:p>
            <a:pPr eaLnBrk="1" hangingPunct="1">
              <a:lnSpc>
                <a:spcPct val="125000"/>
              </a:lnSpc>
              <a:defRPr/>
            </a:pPr>
            <a:r>
              <a:rPr lang="en-US" altLang="zh-CN" sz="2400" b="0" dirty="0">
                <a:solidFill>
                  <a:schemeClr val="tx1"/>
                </a:solidFill>
                <a:latin typeface="微软雅黑" panose="020B0503020204020204" pitchFamily="34" charset="-122"/>
                <a:ea typeface="微软雅黑" panose="020B0503020204020204" pitchFamily="34" charset="-122"/>
              </a:rPr>
              <a:t>1</a:t>
            </a:r>
            <a:r>
              <a:rPr lang="zh-CN" altLang="en-US" sz="2400" b="0" dirty="0">
                <a:solidFill>
                  <a:schemeClr val="tx1"/>
                </a:solidFill>
                <a:latin typeface="微软雅黑" panose="020B0503020204020204" pitchFamily="34" charset="-122"/>
                <a:ea typeface="微软雅黑" panose="020B0503020204020204" pitchFamily="34" charset="-122"/>
              </a:rPr>
              <a:t>）从查找性能看，最好情况能达</a:t>
            </a:r>
            <a:r>
              <a:rPr lang="en-US" altLang="zh-CN" sz="24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400" b="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log</a:t>
            </a:r>
            <a:r>
              <a:rPr lang="en-US" altLang="zh-CN" sz="2400" b="0" i="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chemeClr val="tx1"/>
                </a:solidFill>
                <a:latin typeface="微软雅黑" panose="020B0503020204020204" pitchFamily="34" charset="-122"/>
                <a:ea typeface="微软雅黑" panose="020B0503020204020204" pitchFamily="34" charset="-122"/>
              </a:rPr>
              <a:t>，此时要求表有序；</a:t>
            </a:r>
            <a:endParaRPr lang="en-US" altLang="zh-CN" sz="2400" b="0" dirty="0">
              <a:solidFill>
                <a:schemeClr val="tx1"/>
              </a:solidFill>
              <a:latin typeface="微软雅黑" panose="020B0503020204020204" pitchFamily="34" charset="-122"/>
              <a:ea typeface="微软雅黑" panose="020B0503020204020204" pitchFamily="34" charset="-122"/>
            </a:endParaRPr>
          </a:p>
          <a:p>
            <a:pPr eaLnBrk="1" hangingPunct="1">
              <a:lnSpc>
                <a:spcPct val="125000"/>
              </a:lnSpc>
              <a:defRPr/>
            </a:pPr>
            <a:r>
              <a:rPr lang="en-US" altLang="zh-CN" sz="2400" b="0" dirty="0">
                <a:solidFill>
                  <a:schemeClr val="tx1"/>
                </a:solidFill>
                <a:latin typeface="微软雅黑" panose="020B0503020204020204" pitchFamily="34" charset="-122"/>
                <a:ea typeface="微软雅黑" panose="020B0503020204020204" pitchFamily="34" charset="-122"/>
              </a:rPr>
              <a:t>2</a:t>
            </a:r>
            <a:r>
              <a:rPr lang="zh-CN" altLang="en-US" sz="2400" b="0" dirty="0">
                <a:solidFill>
                  <a:schemeClr val="tx1"/>
                </a:solidFill>
                <a:latin typeface="微软雅黑" panose="020B0503020204020204" pitchFamily="34" charset="-122"/>
                <a:ea typeface="微软雅黑" panose="020B0503020204020204" pitchFamily="34" charset="-122"/>
              </a:rPr>
              <a:t>）从插入和删除的性能看，最好情况能达</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O(1)</a:t>
            </a:r>
            <a:r>
              <a:rPr lang="zh-CN" altLang="en-US" sz="2400" b="0" dirty="0">
                <a:solidFill>
                  <a:schemeClr val="tx1"/>
                </a:solidFill>
                <a:latin typeface="微软雅黑" panose="020B0503020204020204" pitchFamily="34" charset="-122"/>
                <a:ea typeface="微软雅黑" panose="020B0503020204020204" pitchFamily="34" charset="-122"/>
              </a:rPr>
              <a:t>，此时要求存储结构是链表。</a:t>
            </a:r>
            <a:endParaRPr lang="zh-CN" altLang="en-US" sz="2400" b="0" dirty="0">
              <a:solidFill>
                <a:schemeClr val="tx1"/>
              </a:solidFill>
              <a:latin typeface="微软雅黑" panose="020B0503020204020204" pitchFamily="34" charset="-122"/>
              <a:ea typeface="微软雅黑" panose="020B0503020204020204" pitchFamily="34" charset="-122"/>
            </a:endParaRPr>
          </a:p>
          <a:p>
            <a:pPr eaLnBrk="1" hangingPunct="1">
              <a:lnSpc>
                <a:spcPct val="125000"/>
              </a:lnSpc>
              <a:defRPr/>
            </a:pPr>
            <a:endParaRPr lang="zh-CN" altLang="en-US" sz="2400" b="0" dirty="0">
              <a:solidFill>
                <a:schemeClr val="tx1"/>
              </a:solidFill>
              <a:latin typeface="+mn-lt"/>
              <a:ea typeface="+mn-ea"/>
            </a:endParaRPr>
          </a:p>
          <a:p>
            <a:pPr algn="ctr" eaLnBrk="1" hangingPunct="1">
              <a:defRPr/>
            </a:pPr>
            <a:endParaRPr lang="zh-CN" altLang="en-US" sz="2400" b="0" dirty="0">
              <a:solidFill>
                <a:schemeClr val="tx1"/>
              </a:solidFill>
              <a:latin typeface="+mn-lt"/>
              <a:ea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575733" y="925056"/>
            <a:ext cx="11125199" cy="4942344"/>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二叉排序树（</a:t>
            </a:r>
            <a:r>
              <a:rPr lang="en-US" altLang="zh-CN" sz="2400" dirty="0">
                <a:latin typeface="微软雅黑" panose="020B0503020204020204" pitchFamily="34" charset="-122"/>
                <a:ea typeface="微软雅黑" panose="020B0503020204020204" pitchFamily="34" charset="-122"/>
              </a:rPr>
              <a:t>Binary Sort Tree</a:t>
            </a:r>
            <a:r>
              <a:rPr lang="zh-CN" altLang="en-US" sz="2400" dirty="0">
                <a:latin typeface="微软雅黑" panose="020B0503020204020204" pitchFamily="34" charset="-122"/>
                <a:ea typeface="微软雅黑" panose="020B0503020204020204" pitchFamily="34" charset="-122"/>
              </a:rPr>
              <a:t>，又称为二叉查找树，</a:t>
            </a:r>
            <a:r>
              <a:rPr lang="en-US" altLang="zh-CN" sz="2400" dirty="0">
                <a:latin typeface="微软雅黑" panose="020B0503020204020204" pitchFamily="34" charset="-122"/>
                <a:ea typeface="微软雅黑" panose="020B0503020204020204" pitchFamily="34" charset="-122"/>
              </a:rPr>
              <a:t>BST</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二叉排序树或者是一棵空树；或者是具有如下特性的二叉树：</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若根结点的左子树不空，则左子树上所有结点的值均小于根结点的值；</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若根结点的右子树不空，则右子树上所有结点的值均大于根结点的值；</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它的左、右子树也都分别是二叉 排序树。</a:t>
            </a:r>
            <a:endParaRPr lang="zh-CN" altLang="en-US" sz="2000" dirty="0">
              <a:latin typeface="微软雅黑" panose="020B0503020204020204" pitchFamily="34" charset="-122"/>
              <a:ea typeface="微软雅黑" panose="020B0503020204020204" pitchFamily="34" charset="-122"/>
            </a:endParaRPr>
          </a:p>
          <a:p>
            <a:pPr>
              <a:buFontTx/>
              <a:buNone/>
            </a:pPr>
            <a:endParaRPr lang="zh-CN" altLang="en-US" dirty="0">
              <a:latin typeface="微软雅黑" panose="020B0503020204020204" pitchFamily="34" charset="-122"/>
              <a:ea typeface="微软雅黑" panose="020B0503020204020204" pitchFamily="34" charset="-122"/>
            </a:endParaRPr>
          </a:p>
          <a:p>
            <a:pPr>
              <a:buFontTx/>
              <a:buNone/>
            </a:pPr>
            <a:endParaRPr lang="zh-CN" altLang="en-US" dirty="0"/>
          </a:p>
          <a:p>
            <a:pPr>
              <a:buFontTx/>
              <a:buNone/>
            </a:pPr>
            <a:endParaRPr lang="zh-CN" altLang="en-US" dirty="0"/>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457199" y="965081"/>
            <a:ext cx="8483601" cy="5786667"/>
          </a:xfrm>
        </p:spPr>
        <p:txBody>
          <a:bodyPr>
            <a:normAutofit/>
          </a:bodyPr>
          <a:lstStyle/>
          <a:p>
            <a:pPr>
              <a:defRPr/>
            </a:pPr>
            <a:r>
              <a:rPr lang="zh-CN" altLang="en-US" sz="2400" dirty="0">
                <a:latin typeface="微软雅黑" panose="020B0503020204020204" pitchFamily="34" charset="-122"/>
                <a:ea typeface="微软雅黑" panose="020B0503020204020204" pitchFamily="34" charset="-122"/>
              </a:rPr>
              <a:t>二叉排序树示例</a:t>
            </a:r>
            <a:endParaRPr lang="zh-CN" altLang="en-US" sz="3200" b="1" kern="1200" dirty="0">
              <a:solidFill>
                <a:srgbClr val="990033"/>
              </a:solidFill>
              <a:latin typeface="微软雅黑" panose="020B0503020204020204" pitchFamily="34" charset="-122"/>
              <a:ea typeface="微软雅黑" panose="020B0503020204020204" pitchFamily="34" charset="-122"/>
            </a:endParaRPr>
          </a:p>
        </p:txBody>
      </p:sp>
      <p:sp>
        <p:nvSpPr>
          <p:cNvPr id="6" name="Oval 19"/>
          <p:cNvSpPr>
            <a:spLocks noChangeArrowheads="1"/>
          </p:cNvSpPr>
          <p:nvPr/>
        </p:nvSpPr>
        <p:spPr bwMode="auto">
          <a:xfrm>
            <a:off x="3505200" y="2097471"/>
            <a:ext cx="706967" cy="632917"/>
          </a:xfrm>
          <a:prstGeom prst="ellipse">
            <a:avLst/>
          </a:prstGeom>
          <a:noFill/>
          <a:ln w="25400" cap="sq">
            <a:solidFill>
              <a:srgbClr val="800000"/>
            </a:solidFill>
            <a:round/>
            <a:headEnd type="none" w="sm" len="sm"/>
            <a:tailEnd type="none" w="sm" len="sm"/>
          </a:ln>
        </p:spPr>
        <p:txBody>
          <a:bodyPr wrap="none" anchor="ctr"/>
          <a:lstStyle/>
          <a:p>
            <a:pPr algn="ctr" eaLnBrk="1" hangingPunct="1">
              <a:defRPr/>
            </a:pPr>
            <a:r>
              <a:rPr lang="en-US" altLang="zh-CN" sz="3600" dirty="0">
                <a:solidFill>
                  <a:schemeClr val="accent3">
                    <a:lumMod val="50000"/>
                  </a:schemeClr>
                </a:solidFill>
              </a:rPr>
              <a:t>25</a:t>
            </a:r>
            <a:endParaRPr lang="en-US" altLang="zh-CN" sz="3600" dirty="0">
              <a:solidFill>
                <a:schemeClr val="accent3">
                  <a:lumMod val="50000"/>
                </a:schemeClr>
              </a:solidFill>
            </a:endParaRPr>
          </a:p>
        </p:txBody>
      </p:sp>
      <p:sp>
        <p:nvSpPr>
          <p:cNvPr id="7" name="Oval 19"/>
          <p:cNvSpPr>
            <a:spLocks noChangeArrowheads="1"/>
          </p:cNvSpPr>
          <p:nvPr/>
        </p:nvSpPr>
        <p:spPr bwMode="auto">
          <a:xfrm>
            <a:off x="2438400" y="2935671"/>
            <a:ext cx="706967" cy="632917"/>
          </a:xfrm>
          <a:prstGeom prst="ellipse">
            <a:avLst/>
          </a:prstGeom>
          <a:noFill/>
          <a:ln w="25400" cap="sq">
            <a:solidFill>
              <a:srgbClr val="800000"/>
            </a:solidFill>
            <a:round/>
            <a:headEnd type="none" w="sm" len="sm"/>
            <a:tailEnd type="none" w="sm" len="sm"/>
          </a:ln>
        </p:spPr>
        <p:txBody>
          <a:bodyPr wrap="none" anchor="ctr"/>
          <a:lstStyle/>
          <a:p>
            <a:pPr algn="ctr" eaLnBrk="1" hangingPunct="1">
              <a:defRPr/>
            </a:pPr>
            <a:r>
              <a:rPr lang="en-US" altLang="zh-CN" sz="3600" dirty="0">
                <a:solidFill>
                  <a:schemeClr val="accent3">
                    <a:lumMod val="50000"/>
                  </a:schemeClr>
                </a:solidFill>
              </a:rPr>
              <a:t>10</a:t>
            </a:r>
            <a:endParaRPr lang="en-US" altLang="zh-CN" sz="3600" dirty="0">
              <a:solidFill>
                <a:schemeClr val="accent3">
                  <a:lumMod val="50000"/>
                </a:schemeClr>
              </a:solidFill>
            </a:endParaRPr>
          </a:p>
        </p:txBody>
      </p:sp>
      <p:sp>
        <p:nvSpPr>
          <p:cNvPr id="8" name="Oval 19"/>
          <p:cNvSpPr>
            <a:spLocks noChangeArrowheads="1"/>
          </p:cNvSpPr>
          <p:nvPr/>
        </p:nvSpPr>
        <p:spPr bwMode="auto">
          <a:xfrm>
            <a:off x="2514600" y="4840671"/>
            <a:ext cx="706967" cy="632917"/>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11717"/>
                </a:solidFill>
                <a:latin typeface="Consolas" panose="020B0609020204030204" pitchFamily="49" charset="0"/>
              </a:rPr>
              <a:t>9</a:t>
            </a:r>
            <a:endParaRPr lang="en-US" altLang="zh-CN" sz="3600">
              <a:solidFill>
                <a:srgbClr val="911717"/>
              </a:solidFill>
              <a:latin typeface="Consolas" panose="020B0609020204030204" pitchFamily="49" charset="0"/>
            </a:endParaRPr>
          </a:p>
        </p:txBody>
      </p:sp>
      <p:sp>
        <p:nvSpPr>
          <p:cNvPr id="9" name="Oval 19"/>
          <p:cNvSpPr>
            <a:spLocks noChangeArrowheads="1"/>
          </p:cNvSpPr>
          <p:nvPr/>
        </p:nvSpPr>
        <p:spPr bwMode="auto">
          <a:xfrm>
            <a:off x="3733800" y="4840671"/>
            <a:ext cx="706967" cy="632917"/>
          </a:xfrm>
          <a:prstGeom prst="ellipse">
            <a:avLst/>
          </a:prstGeom>
          <a:noFill/>
          <a:ln w="25400" cap="sq">
            <a:solidFill>
              <a:srgbClr val="800000"/>
            </a:solidFill>
            <a:round/>
            <a:headEnd type="none" w="sm" len="sm"/>
            <a:tailEnd type="none" w="sm" len="sm"/>
          </a:ln>
        </p:spPr>
        <p:txBody>
          <a:bodyPr wrap="none" anchor="ctr"/>
          <a:lstStyle/>
          <a:p>
            <a:pPr algn="ctr" eaLnBrk="1" hangingPunct="1">
              <a:defRPr/>
            </a:pPr>
            <a:r>
              <a:rPr lang="en-US" altLang="zh-CN" sz="3600" dirty="0">
                <a:solidFill>
                  <a:schemeClr val="accent6">
                    <a:lumMod val="50000"/>
                  </a:schemeClr>
                </a:solidFill>
              </a:rPr>
              <a:t>29</a:t>
            </a:r>
            <a:endParaRPr lang="en-US" altLang="zh-CN" sz="3600" dirty="0">
              <a:solidFill>
                <a:schemeClr val="accent6">
                  <a:lumMod val="50000"/>
                </a:schemeClr>
              </a:solidFill>
            </a:endParaRPr>
          </a:p>
        </p:txBody>
      </p:sp>
      <p:sp>
        <p:nvSpPr>
          <p:cNvPr id="10" name="Oval 19"/>
          <p:cNvSpPr>
            <a:spLocks noChangeArrowheads="1"/>
          </p:cNvSpPr>
          <p:nvPr/>
        </p:nvSpPr>
        <p:spPr bwMode="auto">
          <a:xfrm>
            <a:off x="4648200" y="2859471"/>
            <a:ext cx="706967" cy="632917"/>
          </a:xfrm>
          <a:prstGeom prst="ellipse">
            <a:avLst/>
          </a:prstGeom>
          <a:noFill/>
          <a:ln w="25400" cap="sq">
            <a:solidFill>
              <a:srgbClr val="800000"/>
            </a:solidFill>
            <a:round/>
            <a:headEnd type="none" w="sm" len="sm"/>
            <a:tailEnd type="none" w="sm" len="sm"/>
          </a:ln>
        </p:spPr>
        <p:txBody>
          <a:bodyPr wrap="none" anchor="ctr"/>
          <a:lstStyle/>
          <a:p>
            <a:pPr algn="ctr" eaLnBrk="1" hangingPunct="1">
              <a:defRPr/>
            </a:pPr>
            <a:r>
              <a:rPr lang="en-US" altLang="zh-CN" sz="3600" dirty="0">
                <a:solidFill>
                  <a:schemeClr val="accent3">
                    <a:lumMod val="50000"/>
                  </a:schemeClr>
                </a:solidFill>
              </a:rPr>
              <a:t>36</a:t>
            </a:r>
            <a:endParaRPr lang="en-US" altLang="zh-CN" sz="3600" dirty="0">
              <a:solidFill>
                <a:schemeClr val="accent3">
                  <a:lumMod val="50000"/>
                </a:schemeClr>
              </a:solidFill>
            </a:endParaRPr>
          </a:p>
        </p:txBody>
      </p:sp>
      <p:sp>
        <p:nvSpPr>
          <p:cNvPr id="11" name="Line 11"/>
          <p:cNvSpPr>
            <a:spLocks noChangeShapeType="1"/>
          </p:cNvSpPr>
          <p:nvPr/>
        </p:nvSpPr>
        <p:spPr bwMode="auto">
          <a:xfrm flipH="1">
            <a:off x="2819398" y="2483633"/>
            <a:ext cx="785519" cy="5425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13"/>
          <p:cNvSpPr>
            <a:spLocks noChangeShapeType="1"/>
          </p:cNvSpPr>
          <p:nvPr/>
        </p:nvSpPr>
        <p:spPr bwMode="auto">
          <a:xfrm>
            <a:off x="4190999" y="2488793"/>
            <a:ext cx="785519" cy="452083"/>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1"/>
          <p:cNvSpPr>
            <a:spLocks noChangeShapeType="1"/>
          </p:cNvSpPr>
          <p:nvPr/>
        </p:nvSpPr>
        <p:spPr bwMode="auto">
          <a:xfrm flipH="1">
            <a:off x="1981198" y="3398033"/>
            <a:ext cx="549863" cy="5425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3"/>
          <p:cNvSpPr>
            <a:spLocks noChangeShapeType="1"/>
          </p:cNvSpPr>
          <p:nvPr/>
        </p:nvSpPr>
        <p:spPr bwMode="auto">
          <a:xfrm>
            <a:off x="2971799" y="3398033"/>
            <a:ext cx="549863" cy="5425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Oval 19"/>
          <p:cNvSpPr>
            <a:spLocks noChangeArrowheads="1"/>
          </p:cNvSpPr>
          <p:nvPr/>
        </p:nvSpPr>
        <p:spPr bwMode="auto">
          <a:xfrm>
            <a:off x="1676400" y="3850071"/>
            <a:ext cx="706967" cy="632917"/>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E9560C"/>
                </a:solidFill>
                <a:latin typeface="Consolas" panose="020B0609020204030204" pitchFamily="49" charset="0"/>
              </a:rPr>
              <a:t>7</a:t>
            </a:r>
            <a:endParaRPr lang="en-US" altLang="zh-CN" sz="3600">
              <a:solidFill>
                <a:srgbClr val="E9560C"/>
              </a:solidFill>
              <a:latin typeface="Consolas" panose="020B0609020204030204" pitchFamily="49" charset="0"/>
            </a:endParaRPr>
          </a:p>
        </p:txBody>
      </p:sp>
      <p:sp>
        <p:nvSpPr>
          <p:cNvPr id="16" name="Oval 19"/>
          <p:cNvSpPr>
            <a:spLocks noChangeArrowheads="1"/>
          </p:cNvSpPr>
          <p:nvPr/>
        </p:nvSpPr>
        <p:spPr bwMode="auto">
          <a:xfrm>
            <a:off x="3200400" y="3850071"/>
            <a:ext cx="706967" cy="632917"/>
          </a:xfrm>
          <a:prstGeom prst="ellipse">
            <a:avLst/>
          </a:prstGeom>
          <a:noFill/>
          <a:ln w="25400" cap="sq">
            <a:solidFill>
              <a:srgbClr val="800000"/>
            </a:solidFill>
            <a:round/>
            <a:headEnd type="none" w="sm" len="sm"/>
            <a:tailEnd type="none" w="sm" len="sm"/>
          </a:ln>
        </p:spPr>
        <p:txBody>
          <a:bodyPr wrap="none" anchor="ctr"/>
          <a:lstStyle/>
          <a:p>
            <a:pPr algn="ctr" eaLnBrk="1" hangingPunct="1">
              <a:defRPr/>
            </a:pPr>
            <a:r>
              <a:rPr lang="en-US" altLang="zh-CN" sz="3600" dirty="0">
                <a:solidFill>
                  <a:schemeClr val="accent3">
                    <a:lumMod val="50000"/>
                  </a:schemeClr>
                </a:solidFill>
              </a:rPr>
              <a:t>18</a:t>
            </a:r>
            <a:endParaRPr lang="en-US" altLang="zh-CN" sz="3600" dirty="0">
              <a:solidFill>
                <a:schemeClr val="accent3">
                  <a:lumMod val="50000"/>
                </a:schemeClr>
              </a:solidFill>
            </a:endParaRPr>
          </a:p>
        </p:txBody>
      </p:sp>
      <p:sp>
        <p:nvSpPr>
          <p:cNvPr id="17" name="Line 11"/>
          <p:cNvSpPr>
            <a:spLocks noChangeShapeType="1"/>
          </p:cNvSpPr>
          <p:nvPr/>
        </p:nvSpPr>
        <p:spPr bwMode="auto">
          <a:xfrm flipH="1">
            <a:off x="4267198" y="3316671"/>
            <a:ext cx="549863" cy="632917"/>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3"/>
          <p:cNvSpPr>
            <a:spLocks noChangeShapeType="1"/>
          </p:cNvSpPr>
          <p:nvPr/>
        </p:nvSpPr>
        <p:spPr bwMode="auto">
          <a:xfrm>
            <a:off x="5257799" y="3316671"/>
            <a:ext cx="549863" cy="632917"/>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Oval 19"/>
          <p:cNvSpPr>
            <a:spLocks noChangeArrowheads="1"/>
          </p:cNvSpPr>
          <p:nvPr/>
        </p:nvSpPr>
        <p:spPr bwMode="auto">
          <a:xfrm>
            <a:off x="3962400" y="3850071"/>
            <a:ext cx="706967" cy="632917"/>
          </a:xfrm>
          <a:prstGeom prst="ellipse">
            <a:avLst/>
          </a:prstGeom>
          <a:noFill/>
          <a:ln w="25400" cap="sq">
            <a:solidFill>
              <a:srgbClr val="800000"/>
            </a:solidFill>
            <a:round/>
            <a:headEnd type="none" w="sm" len="sm"/>
            <a:tailEnd type="none" w="sm" len="sm"/>
          </a:ln>
        </p:spPr>
        <p:txBody>
          <a:bodyPr wrap="none" anchor="ctr"/>
          <a:lstStyle/>
          <a:p>
            <a:pPr algn="ctr" eaLnBrk="1" hangingPunct="1">
              <a:defRPr/>
            </a:pPr>
            <a:r>
              <a:rPr lang="en-US" altLang="zh-CN" sz="3600" dirty="0">
                <a:solidFill>
                  <a:schemeClr val="accent3">
                    <a:lumMod val="50000"/>
                  </a:schemeClr>
                </a:solidFill>
              </a:rPr>
              <a:t>31</a:t>
            </a:r>
            <a:endParaRPr lang="en-US" altLang="zh-CN" sz="3600" dirty="0">
              <a:solidFill>
                <a:schemeClr val="accent3">
                  <a:lumMod val="50000"/>
                </a:schemeClr>
              </a:solidFill>
            </a:endParaRPr>
          </a:p>
        </p:txBody>
      </p:sp>
      <p:sp>
        <p:nvSpPr>
          <p:cNvPr id="20" name="Oval 19"/>
          <p:cNvSpPr>
            <a:spLocks noChangeArrowheads="1"/>
          </p:cNvSpPr>
          <p:nvPr/>
        </p:nvSpPr>
        <p:spPr bwMode="auto">
          <a:xfrm>
            <a:off x="5486400" y="3850071"/>
            <a:ext cx="706967" cy="632917"/>
          </a:xfrm>
          <a:prstGeom prst="ellipse">
            <a:avLst/>
          </a:prstGeom>
          <a:noFill/>
          <a:ln w="25400" cap="sq">
            <a:solidFill>
              <a:srgbClr val="800000"/>
            </a:solidFill>
            <a:round/>
            <a:headEnd type="none" w="sm" len="sm"/>
            <a:tailEnd type="none" w="sm" len="sm"/>
          </a:ln>
        </p:spPr>
        <p:txBody>
          <a:bodyPr wrap="none" anchor="ctr"/>
          <a:lstStyle/>
          <a:p>
            <a:pPr algn="ctr" eaLnBrk="1" hangingPunct="1">
              <a:defRPr/>
            </a:pPr>
            <a:r>
              <a:rPr lang="en-US" altLang="zh-CN" sz="3600" dirty="0">
                <a:solidFill>
                  <a:schemeClr val="accent3">
                    <a:lumMod val="50000"/>
                  </a:schemeClr>
                </a:solidFill>
              </a:rPr>
              <a:t>45</a:t>
            </a:r>
            <a:endParaRPr lang="en-US" altLang="zh-CN" sz="3600" dirty="0">
              <a:solidFill>
                <a:schemeClr val="accent3">
                  <a:lumMod val="50000"/>
                </a:schemeClr>
              </a:solidFill>
            </a:endParaRPr>
          </a:p>
        </p:txBody>
      </p:sp>
      <p:sp>
        <p:nvSpPr>
          <p:cNvPr id="21" name="TextBox 25"/>
          <p:cNvSpPr txBox="1"/>
          <p:nvPr/>
        </p:nvSpPr>
        <p:spPr>
          <a:xfrm>
            <a:off x="5257800" y="5137838"/>
            <a:ext cx="2906419" cy="461665"/>
          </a:xfrm>
          <a:prstGeom prst="rect">
            <a:avLst/>
          </a:prstGeom>
          <a:noFill/>
        </p:spPr>
        <p:txBody>
          <a:bodyPr wrap="square">
            <a:spAutoFit/>
          </a:bodyPr>
          <a:lstStyle/>
          <a:p>
            <a:pPr algn="ctr" eaLnBrk="1" hangingPunct="1">
              <a:defRPr/>
            </a:pP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二叉排序树</a:t>
            </a: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2" name="Line 11"/>
          <p:cNvSpPr>
            <a:spLocks noChangeShapeType="1"/>
          </p:cNvSpPr>
          <p:nvPr/>
        </p:nvSpPr>
        <p:spPr bwMode="auto">
          <a:xfrm flipH="1">
            <a:off x="2895598" y="4388633"/>
            <a:ext cx="549863" cy="5425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3"/>
          <p:cNvSpPr>
            <a:spLocks noChangeShapeType="1"/>
          </p:cNvSpPr>
          <p:nvPr/>
        </p:nvSpPr>
        <p:spPr bwMode="auto">
          <a:xfrm>
            <a:off x="3581399" y="4388633"/>
            <a:ext cx="549863" cy="542500"/>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TextBox 28"/>
          <p:cNvSpPr txBox="1"/>
          <p:nvPr/>
        </p:nvSpPr>
        <p:spPr>
          <a:xfrm>
            <a:off x="4267200" y="5137838"/>
            <a:ext cx="1413934" cy="461665"/>
          </a:xfrm>
          <a:prstGeom prst="rect">
            <a:avLst/>
          </a:prstGeom>
          <a:noFill/>
        </p:spPr>
        <p:txBody>
          <a:bodyPr wrap="square">
            <a:spAutoFit/>
          </a:bodyPr>
          <a:lstStyle/>
          <a:p>
            <a:pPr algn="ctr" eaLnBrk="1" hangingPunct="1">
              <a:defRPr/>
            </a:pPr>
            <a:r>
              <a:rPr lang="zh-CN" altLang="en-US" sz="2400" dirty="0">
                <a:solidFill>
                  <a:srgbClr val="C00000"/>
                </a:solidFill>
                <a:latin typeface="微软雅黑" panose="020B0503020204020204" pitchFamily="34" charset="-122"/>
                <a:ea typeface="微软雅黑" panose="020B0503020204020204" pitchFamily="34" charset="-122"/>
              </a:rPr>
              <a:t>不是</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1+#ppt_w/2"/>
                                          </p:val>
                                        </p:tav>
                                        <p:tav tm="100000">
                                          <p:val>
                                            <p:strVal val="#ppt_x"/>
                                          </p:val>
                                        </p:tav>
                                      </p:tavLst>
                                    </p:anim>
                                    <p:anim calcmode="lin" valueType="num">
                                      <p:cBhvr additive="base">
                                        <p:cTn id="36"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500" fill="hold"/>
                                        <p:tgtEl>
                                          <p:spTgt spid="23"/>
                                        </p:tgtEl>
                                        <p:attrNameLst>
                                          <p:attrName>ppt_x</p:attrName>
                                        </p:attrNameLst>
                                      </p:cBhvr>
                                      <p:tavLst>
                                        <p:tav tm="0">
                                          <p:val>
                                            <p:strVal val="#ppt_x"/>
                                          </p:val>
                                        </p:tav>
                                        <p:tav tm="100000">
                                          <p:val>
                                            <p:strVal val="#ppt_x"/>
                                          </p:val>
                                        </p:tav>
                                      </p:tavLst>
                                    </p:anim>
                                    <p:anim calcmode="lin" valueType="num">
                                      <p:cBhvr additive="base">
                                        <p:cTn id="46" dur="500" fill="hold"/>
                                        <p:tgtEl>
                                          <p:spTgt spid="2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additive="base">
                                        <p:cTn id="53" dur="500" fill="hold"/>
                                        <p:tgtEl>
                                          <p:spTgt spid="9"/>
                                        </p:tgtEl>
                                        <p:attrNameLst>
                                          <p:attrName>ppt_x</p:attrName>
                                        </p:attrNameLst>
                                      </p:cBhvr>
                                      <p:tavLst>
                                        <p:tav tm="0">
                                          <p:val>
                                            <p:strVal val="#ppt_x"/>
                                          </p:val>
                                        </p:tav>
                                        <p:tav tm="100000">
                                          <p:val>
                                            <p:strVal val="#ppt_x"/>
                                          </p:val>
                                        </p:tav>
                                      </p:tavLst>
                                    </p:anim>
                                    <p:anim calcmode="lin" valueType="num">
                                      <p:cBhvr additive="base">
                                        <p:cTn id="5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 calcmode="lin" valueType="num">
                                      <p:cBhvr additive="base">
                                        <p:cTn id="59" dur="500" fill="hold"/>
                                        <p:tgtEl>
                                          <p:spTgt spid="24"/>
                                        </p:tgtEl>
                                        <p:attrNameLst>
                                          <p:attrName>ppt_x</p:attrName>
                                        </p:attrNameLst>
                                      </p:cBhvr>
                                      <p:tavLst>
                                        <p:tav tm="0">
                                          <p:val>
                                            <p:strVal val="#ppt_x"/>
                                          </p:val>
                                        </p:tav>
                                        <p:tav tm="100000">
                                          <p:val>
                                            <p:strVal val="#ppt_x"/>
                                          </p:val>
                                        </p:tav>
                                      </p:tavLst>
                                    </p:anim>
                                    <p:anim calcmode="lin" valueType="num">
                                      <p:cBhvr additive="base">
                                        <p:cTn id="6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5" grpId="0" animBg="1"/>
      <p:bldP spid="16" grpId="0" animBg="1"/>
      <p:bldP spid="19" grpId="0" animBg="1"/>
      <p:bldP spid="20" grpId="0" animBg="1"/>
      <p:bldP spid="21" grpId="0"/>
      <p:bldP spid="2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a:spLocks noGrp="1"/>
          </p:cNvSpPr>
          <p:nvPr>
            <p:ph idx="1"/>
          </p:nvPr>
        </p:nvSpPr>
        <p:spPr>
          <a:xfrm>
            <a:off x="533400" y="925055"/>
            <a:ext cx="11015133" cy="5200841"/>
          </a:xfrm>
        </p:spPr>
        <p:txBody>
          <a:bodyPr/>
          <a:lstStyle/>
          <a:p>
            <a:r>
              <a:rPr lang="zh-CN" altLang="en-US" sz="2400" dirty="0">
                <a:latin typeface="微软雅黑" panose="020B0503020204020204" pitchFamily="34" charset="-122"/>
                <a:ea typeface="微软雅黑" panose="020B0503020204020204" pitchFamily="34" charset="-122"/>
              </a:rPr>
              <a:t>二叉排序树结点结构</a:t>
            </a:r>
            <a:endParaRPr lang="en-US" altLang="zh-CN" sz="2400" dirty="0">
              <a:latin typeface="微软雅黑" panose="020B0503020204020204" pitchFamily="34" charset="-122"/>
              <a:ea typeface="微软雅黑" panose="020B0503020204020204" pitchFamily="34" charset="-122"/>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buFontTx/>
              <a:buNone/>
            </a:pPr>
            <a:endParaRPr lang="en-US" altLang="zh-CN" dirty="0"/>
          </a:p>
          <a:p>
            <a:pPr>
              <a:buFontTx/>
              <a:buNone/>
            </a:pPr>
            <a:endParaRPr lang="zh-CN" altLang="en-US" dirty="0"/>
          </a:p>
        </p:txBody>
      </p:sp>
      <p:sp>
        <p:nvSpPr>
          <p:cNvPr id="5" name="Rectangle 4"/>
          <p:cNvSpPr>
            <a:spLocks noChangeArrowheads="1"/>
          </p:cNvSpPr>
          <p:nvPr/>
        </p:nvSpPr>
        <p:spPr bwMode="auto">
          <a:xfrm>
            <a:off x="990599" y="1388534"/>
            <a:ext cx="10199197" cy="2211916"/>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二叉排序树结点结构</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 &lt;class </a:t>
            </a:r>
            <a:r>
              <a:rPr lang="en-US" altLang="zh-CN" b="0" dirty="0" err="1">
                <a:latin typeface="Times New Roman" panose="02020603050405020304" pitchFamily="18" charset="0"/>
                <a:cs typeface="Times New Roman" panose="02020603050405020304" pitchFamily="18" charset="0"/>
              </a:rPr>
              <a:t>ElemType,class</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err="1">
                <a:latin typeface="Times New Roman" panose="02020603050405020304" pitchFamily="18" charset="0"/>
                <a:cs typeface="Times New Roman" panose="02020603050405020304" pitchFamily="18" charset="0"/>
              </a:rPr>
              <a:t>struct</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data;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结点数据域</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结点左孩子</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结点右孩子</a:t>
            </a:r>
            <a:r>
              <a:rPr lang="zh-CN" altLang="en-US" b="0" dirty="0">
                <a:latin typeface="Times New Roman" panose="02020603050405020304" pitchFamily="18" charset="0"/>
                <a:cs typeface="Times New Roman" panose="02020603050405020304" pitchFamily="18" charset="0"/>
              </a:rPr>
              <a:t>				</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sz="2000" b="0" dirty="0">
              <a:solidFill>
                <a:srgbClr val="000066"/>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6.3.1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内容占位符 2"/>
          <p:cNvSpPr>
            <a:spLocks noGrp="1"/>
          </p:cNvSpPr>
          <p:nvPr>
            <p:ph idx="1"/>
          </p:nvPr>
        </p:nvSpPr>
        <p:spPr>
          <a:xfrm>
            <a:off x="567675" y="965081"/>
            <a:ext cx="11014725" cy="4957887"/>
          </a:xfrm>
        </p:spPr>
        <p:txBody>
          <a:bodyPr/>
          <a:lstStyle/>
          <a:p>
            <a:r>
              <a:rPr lang="zh-CN" altLang="en-US" sz="2400" dirty="0">
                <a:latin typeface="微软雅黑" panose="020B0503020204020204" pitchFamily="34" charset="-122"/>
                <a:ea typeface="微软雅黑" panose="020B0503020204020204" pitchFamily="34" charset="-122"/>
              </a:rPr>
              <a:t>二叉排序树类</a:t>
            </a:r>
            <a:endParaRPr lang="en-US" altLang="zh-CN" sz="2400" dirty="0">
              <a:latin typeface="微软雅黑" panose="020B0503020204020204" pitchFamily="34" charset="-122"/>
              <a:ea typeface="微软雅黑" panose="020B0503020204020204" pitchFamily="34" charset="-122"/>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buFontTx/>
              <a:buNone/>
            </a:pPr>
            <a:endParaRPr lang="en-US" altLang="zh-CN" dirty="0"/>
          </a:p>
          <a:p>
            <a:pPr>
              <a:buFontTx/>
              <a:buNone/>
            </a:pPr>
            <a:endParaRPr lang="zh-CN" altLang="en-US" dirty="0"/>
          </a:p>
        </p:txBody>
      </p:sp>
      <p:sp>
        <p:nvSpPr>
          <p:cNvPr id="7" name="Rectangle 4"/>
          <p:cNvSpPr>
            <a:spLocks noChangeArrowheads="1"/>
          </p:cNvSpPr>
          <p:nvPr/>
        </p:nvSpPr>
        <p:spPr bwMode="auto">
          <a:xfrm>
            <a:off x="771651" y="1524000"/>
            <a:ext cx="10606772" cy="4794717"/>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ElemType,class</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class BST{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public:</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BST ();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~BST ( );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bool</a:t>
            </a:r>
            <a:r>
              <a:rPr lang="en-US" altLang="zh-CN" b="0" dirty="0">
                <a:latin typeface="Times New Roman" panose="02020603050405020304" pitchFamily="18" charset="0"/>
                <a:cs typeface="Times New Roman" panose="02020603050405020304" pitchFamily="18" charset="0"/>
              </a:rPr>
              <a:t> Search(const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 &amp; key) const;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bool</a:t>
            </a:r>
            <a:r>
              <a:rPr lang="en-US" altLang="zh-CN" b="0" dirty="0">
                <a:latin typeface="Times New Roman" panose="02020603050405020304" pitchFamily="18" charset="0"/>
                <a:cs typeface="Times New Roman" panose="02020603050405020304" pitchFamily="18" charset="0"/>
              </a:rPr>
              <a:t> Insert(const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a:t>
            </a:r>
            <a:r>
              <a:rPr lang="en-US" altLang="zh-CN" b="0" dirty="0" err="1">
                <a:latin typeface="Times New Roman" panose="02020603050405020304" pitchFamily="18" charset="0"/>
                <a:cs typeface="Times New Roman" panose="02020603050405020304" pitchFamily="18" charset="0"/>
              </a:rPr>
              <a:t>e,const</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 &amp; key);</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bool</a:t>
            </a:r>
            <a:r>
              <a:rPr lang="en-US" altLang="zh-CN" b="0" dirty="0">
                <a:latin typeface="Times New Roman" panose="02020603050405020304" pitchFamily="18" charset="0"/>
                <a:cs typeface="Times New Roman" panose="02020603050405020304" pitchFamily="18" charset="0"/>
              </a:rPr>
              <a:t> Delete(const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 &amp; key);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void </a:t>
            </a:r>
            <a:r>
              <a:rPr lang="en-US" altLang="zh-CN" b="0" dirty="0" err="1">
                <a:latin typeface="Times New Roman" panose="02020603050405020304" pitchFamily="18" charset="0"/>
                <a:cs typeface="Times New Roman" panose="02020603050405020304" pitchFamily="18" charset="0"/>
              </a:rPr>
              <a:t>InorderTraverse</a:t>
            </a:r>
            <a:r>
              <a:rPr lang="en-US" altLang="zh-CN" b="0" dirty="0">
                <a:latin typeface="Times New Roman" panose="02020603050405020304" pitchFamily="18" charset="0"/>
                <a:cs typeface="Times New Roman" panose="02020603050405020304" pitchFamily="18" charset="0"/>
              </a:rPr>
              <a:t>() const;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private: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 </a:t>
            </a:r>
            <a:r>
              <a:rPr lang="en-US" altLang="zh-CN" b="0" dirty="0" err="1">
                <a:latin typeface="Times New Roman" panose="02020603050405020304" pitchFamily="18" charset="0"/>
                <a:cs typeface="Times New Roman" panose="02020603050405020304" pitchFamily="18" charset="0"/>
              </a:rPr>
              <a:t>m_root</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二叉排序树根指针</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void _Destroy(</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 &amp;root);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销毁二叉排序树</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bool</a:t>
            </a:r>
            <a:r>
              <a:rPr lang="en-US" altLang="zh-CN" b="0" dirty="0">
                <a:latin typeface="Times New Roman" panose="02020603050405020304" pitchFamily="18" charset="0"/>
                <a:cs typeface="Times New Roman" panose="02020603050405020304" pitchFamily="18" charset="0"/>
              </a:rPr>
              <a:t> _Search(</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*&amp;f,</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*&amp;p) const;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void _</a:t>
            </a:r>
            <a:r>
              <a:rPr lang="en-US" altLang="zh-CN" b="0" dirty="0" err="1">
                <a:latin typeface="Times New Roman" panose="02020603050405020304" pitchFamily="18" charset="0"/>
                <a:cs typeface="Times New Roman" panose="02020603050405020304" pitchFamily="18" charset="0"/>
              </a:rPr>
              <a:t>InorderTraverse</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root)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const;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sz="16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6" y="106251"/>
            <a:ext cx="5161590"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二叉排序树的查找</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575732" y="965082"/>
            <a:ext cx="11006668" cy="5020733"/>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二叉排序树的查找算法</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若根指针为空，则查找失败；</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否则，</a:t>
            </a:r>
            <a:endParaRPr lang="en-US" altLang="zh-CN" sz="2000" dirty="0">
              <a:latin typeface="微软雅黑" panose="020B0503020204020204" pitchFamily="34" charset="-122"/>
              <a:ea typeface="微软雅黑" panose="020B0503020204020204" pitchFamily="34" charset="-122"/>
            </a:endParaRPr>
          </a:p>
          <a:p>
            <a:pPr marL="1257300" lvl="2" indent="-457200">
              <a:lnSpc>
                <a:spcPct val="125000"/>
              </a:lnSpc>
              <a:buFont typeface="Times New Roman" panose="02020603050405020304" pitchFamily="18" charset="0"/>
              <a:buAutoNum type="arabicPeriod"/>
            </a:pPr>
            <a:r>
              <a:rPr lang="zh-CN" altLang="en-US" sz="1800" dirty="0">
                <a:latin typeface="微软雅黑" panose="020B0503020204020204" pitchFamily="34" charset="-122"/>
                <a:ea typeface="微软雅黑" panose="020B0503020204020204" pitchFamily="34" charset="-122"/>
              </a:rPr>
              <a:t>若给定值等于根结点的关键字，则查找成功；</a:t>
            </a:r>
            <a:endParaRPr lang="zh-CN" altLang="en-US" sz="1800" dirty="0">
              <a:latin typeface="微软雅黑" panose="020B0503020204020204" pitchFamily="34" charset="-122"/>
              <a:ea typeface="微软雅黑" panose="020B0503020204020204" pitchFamily="34" charset="-122"/>
            </a:endParaRPr>
          </a:p>
          <a:p>
            <a:pPr marL="1257300" lvl="2" indent="-457200">
              <a:lnSpc>
                <a:spcPct val="125000"/>
              </a:lnSpc>
              <a:buFont typeface="Times New Roman" panose="02020603050405020304" pitchFamily="18" charset="0"/>
              <a:buAutoNum type="arabicPeriod"/>
            </a:pPr>
            <a:r>
              <a:rPr lang="zh-CN" altLang="en-US" sz="1800" dirty="0">
                <a:latin typeface="微软雅黑" panose="020B0503020204020204" pitchFamily="34" charset="-122"/>
                <a:ea typeface="微软雅黑" panose="020B0503020204020204" pitchFamily="34" charset="-122"/>
              </a:rPr>
              <a:t>若给定值小于根结点的关键字，则继续在左子树上进行查找；</a:t>
            </a:r>
            <a:endParaRPr lang="zh-CN" altLang="en-US" sz="1800" dirty="0">
              <a:latin typeface="微软雅黑" panose="020B0503020204020204" pitchFamily="34" charset="-122"/>
              <a:ea typeface="微软雅黑" panose="020B0503020204020204" pitchFamily="34" charset="-122"/>
            </a:endParaRPr>
          </a:p>
          <a:p>
            <a:pPr marL="1257300" lvl="2" indent="-457200">
              <a:lnSpc>
                <a:spcPct val="125000"/>
              </a:lnSpc>
              <a:buFont typeface="Times New Roman" panose="02020603050405020304" pitchFamily="18" charset="0"/>
              <a:buAutoNum type="arabicPeriod"/>
            </a:pPr>
            <a:r>
              <a:rPr lang="zh-CN" altLang="en-US" sz="1800" dirty="0">
                <a:latin typeface="微软雅黑" panose="020B0503020204020204" pitchFamily="34" charset="-122"/>
                <a:ea typeface="微软雅黑" panose="020B0503020204020204" pitchFamily="34" charset="-122"/>
              </a:rPr>
              <a:t>若给定值大于根结点的关键字，则继续在右子树上进行查找。</a:t>
            </a:r>
            <a:endParaRPr lang="zh-CN" altLang="en-US" sz="1800" dirty="0">
              <a:latin typeface="微软雅黑" panose="020B0503020204020204" pitchFamily="34" charset="-122"/>
              <a:ea typeface="微软雅黑" panose="020B0503020204020204" pitchFamily="34" charset="-122"/>
            </a:endParaRPr>
          </a:p>
          <a:p>
            <a:pPr>
              <a:buFontTx/>
              <a:buNone/>
            </a:pP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二叉排序树的查找算法例 </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457199" y="965082"/>
            <a:ext cx="9732875" cy="5207118"/>
          </a:xfrm>
        </p:spPr>
        <p:txBody>
          <a:bodyPr>
            <a:normAutofit/>
          </a:bodyPr>
          <a:lstStyle/>
          <a:p>
            <a:r>
              <a:rPr lang="zh-CN" altLang="en-US" sz="2400" dirty="0">
                <a:latin typeface="微软雅黑" panose="020B0503020204020204" pitchFamily="34" charset="-122"/>
                <a:ea typeface="微软雅黑" panose="020B0503020204020204" pitchFamily="34" charset="-122"/>
              </a:rPr>
              <a:t>查找关键字</a:t>
            </a:r>
            <a:r>
              <a:rPr lang="en-US" altLang="zh-CN" sz="2400" dirty="0">
                <a:latin typeface="微软雅黑" panose="020B0503020204020204" pitchFamily="34" charset="-122"/>
                <a:ea typeface="微软雅黑" panose="020B0503020204020204" pitchFamily="34" charset="-122"/>
              </a:rPr>
              <a:t>50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35</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90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95</a:t>
            </a:r>
            <a:endParaRPr lang="zh-CN" altLang="en-US" sz="2400" dirty="0">
              <a:latin typeface="微软雅黑" panose="020B0503020204020204" pitchFamily="34" charset="-122"/>
              <a:ea typeface="微软雅黑" panose="020B0503020204020204" pitchFamily="34" charset="-122"/>
            </a:endParaRPr>
          </a:p>
        </p:txBody>
      </p:sp>
      <p:sp>
        <p:nvSpPr>
          <p:cNvPr id="6" name="Oval 2"/>
          <p:cNvSpPr>
            <a:spLocks noChangeArrowheads="1"/>
          </p:cNvSpPr>
          <p:nvPr/>
        </p:nvSpPr>
        <p:spPr bwMode="auto">
          <a:xfrm>
            <a:off x="4267199" y="27832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50</a:t>
            </a:r>
            <a:endParaRPr lang="en-US" altLang="zh-CN" sz="1800">
              <a:solidFill>
                <a:srgbClr val="FFFFFF"/>
              </a:solidFill>
              <a:latin typeface="Consolas" panose="020B0609020204030204" pitchFamily="49" charset="0"/>
            </a:endParaRPr>
          </a:p>
        </p:txBody>
      </p:sp>
      <p:sp>
        <p:nvSpPr>
          <p:cNvPr id="7" name="Oval 3"/>
          <p:cNvSpPr>
            <a:spLocks noChangeArrowheads="1"/>
          </p:cNvSpPr>
          <p:nvPr/>
        </p:nvSpPr>
        <p:spPr bwMode="auto">
          <a:xfrm>
            <a:off x="2819399" y="33166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30</a:t>
            </a:r>
            <a:endParaRPr lang="en-US" altLang="zh-CN" sz="1800">
              <a:solidFill>
                <a:srgbClr val="FFFFFF"/>
              </a:solidFill>
              <a:latin typeface="Consolas" panose="020B0609020204030204" pitchFamily="49" charset="0"/>
            </a:endParaRPr>
          </a:p>
        </p:txBody>
      </p:sp>
      <p:sp>
        <p:nvSpPr>
          <p:cNvPr id="8" name="Oval 4"/>
          <p:cNvSpPr>
            <a:spLocks noChangeArrowheads="1"/>
          </p:cNvSpPr>
          <p:nvPr/>
        </p:nvSpPr>
        <p:spPr bwMode="auto">
          <a:xfrm>
            <a:off x="5714999" y="33166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80</a:t>
            </a:r>
            <a:endParaRPr lang="en-US" altLang="zh-CN" sz="1800">
              <a:solidFill>
                <a:srgbClr val="FFFFFF"/>
              </a:solidFill>
              <a:latin typeface="Consolas" panose="020B0609020204030204" pitchFamily="49" charset="0"/>
            </a:endParaRPr>
          </a:p>
        </p:txBody>
      </p:sp>
      <p:sp>
        <p:nvSpPr>
          <p:cNvPr id="9" name="Oval 5"/>
          <p:cNvSpPr>
            <a:spLocks noChangeArrowheads="1"/>
          </p:cNvSpPr>
          <p:nvPr/>
        </p:nvSpPr>
        <p:spPr bwMode="auto">
          <a:xfrm>
            <a:off x="1676399" y="40024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20</a:t>
            </a:r>
            <a:endParaRPr lang="en-US" altLang="zh-CN" sz="1800">
              <a:solidFill>
                <a:srgbClr val="FFFFFF"/>
              </a:solidFill>
              <a:latin typeface="Consolas" panose="020B0609020204030204" pitchFamily="49" charset="0"/>
            </a:endParaRPr>
          </a:p>
        </p:txBody>
      </p:sp>
      <p:sp>
        <p:nvSpPr>
          <p:cNvPr id="10" name="Oval 6"/>
          <p:cNvSpPr>
            <a:spLocks noChangeArrowheads="1"/>
          </p:cNvSpPr>
          <p:nvPr/>
        </p:nvSpPr>
        <p:spPr bwMode="auto">
          <a:xfrm>
            <a:off x="6857999" y="40024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90</a:t>
            </a:r>
            <a:endParaRPr lang="en-US" altLang="zh-CN" sz="1800">
              <a:solidFill>
                <a:srgbClr val="FFFFFF"/>
              </a:solidFill>
              <a:latin typeface="Consolas" panose="020B0609020204030204" pitchFamily="49" charset="0"/>
            </a:endParaRPr>
          </a:p>
        </p:txBody>
      </p:sp>
      <p:sp>
        <p:nvSpPr>
          <p:cNvPr id="11" name="Oval 7"/>
          <p:cNvSpPr>
            <a:spLocks noChangeArrowheads="1"/>
          </p:cNvSpPr>
          <p:nvPr/>
        </p:nvSpPr>
        <p:spPr bwMode="auto">
          <a:xfrm>
            <a:off x="6019799" y="48406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85</a:t>
            </a:r>
            <a:endParaRPr lang="en-US" altLang="zh-CN" sz="1800">
              <a:solidFill>
                <a:srgbClr val="FFFFFF"/>
              </a:solidFill>
              <a:latin typeface="Consolas" panose="020B0609020204030204" pitchFamily="49" charset="0"/>
            </a:endParaRPr>
          </a:p>
        </p:txBody>
      </p:sp>
      <p:sp>
        <p:nvSpPr>
          <p:cNvPr id="12" name="Oval 8"/>
          <p:cNvSpPr>
            <a:spLocks noChangeArrowheads="1"/>
          </p:cNvSpPr>
          <p:nvPr/>
        </p:nvSpPr>
        <p:spPr bwMode="auto">
          <a:xfrm>
            <a:off x="3962399" y="40024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40</a:t>
            </a:r>
            <a:endParaRPr lang="en-US" altLang="zh-CN" sz="1800">
              <a:solidFill>
                <a:srgbClr val="FFFFFF"/>
              </a:solidFill>
              <a:latin typeface="Consolas" panose="020B0609020204030204" pitchFamily="49" charset="0"/>
            </a:endParaRPr>
          </a:p>
        </p:txBody>
      </p:sp>
      <p:sp>
        <p:nvSpPr>
          <p:cNvPr id="13" name="Oval 9"/>
          <p:cNvSpPr>
            <a:spLocks noChangeArrowheads="1"/>
          </p:cNvSpPr>
          <p:nvPr/>
        </p:nvSpPr>
        <p:spPr bwMode="auto">
          <a:xfrm>
            <a:off x="3047999" y="48406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35</a:t>
            </a:r>
            <a:endParaRPr lang="en-US" altLang="zh-CN" sz="1800">
              <a:solidFill>
                <a:srgbClr val="FFFFFF"/>
              </a:solidFill>
              <a:latin typeface="Consolas" panose="020B0609020204030204" pitchFamily="49" charset="0"/>
            </a:endParaRPr>
          </a:p>
        </p:txBody>
      </p:sp>
      <p:sp>
        <p:nvSpPr>
          <p:cNvPr id="14" name="Oval 10"/>
          <p:cNvSpPr>
            <a:spLocks noChangeArrowheads="1"/>
          </p:cNvSpPr>
          <p:nvPr/>
        </p:nvSpPr>
        <p:spPr bwMode="auto">
          <a:xfrm>
            <a:off x="7315199" y="56788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88</a:t>
            </a:r>
            <a:endParaRPr lang="en-US" altLang="zh-CN" sz="1800">
              <a:solidFill>
                <a:srgbClr val="FFFFFF"/>
              </a:solidFill>
              <a:latin typeface="Consolas" panose="020B0609020204030204" pitchFamily="49" charset="0"/>
            </a:endParaRPr>
          </a:p>
        </p:txBody>
      </p:sp>
      <p:sp>
        <p:nvSpPr>
          <p:cNvPr id="15" name="Line 11"/>
          <p:cNvSpPr>
            <a:spLocks noChangeShapeType="1"/>
          </p:cNvSpPr>
          <p:nvPr/>
        </p:nvSpPr>
        <p:spPr bwMode="auto">
          <a:xfrm flipH="1">
            <a:off x="3428998" y="3098394"/>
            <a:ext cx="991311" cy="406806"/>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2"/>
          <p:cNvSpPr>
            <a:spLocks noChangeShapeType="1"/>
          </p:cNvSpPr>
          <p:nvPr/>
        </p:nvSpPr>
        <p:spPr bwMode="auto">
          <a:xfrm flipH="1">
            <a:off x="2285999" y="3789355"/>
            <a:ext cx="630834" cy="325445"/>
          </a:xfrm>
          <a:prstGeom prst="line">
            <a:avLst/>
          </a:prstGeom>
          <a:noFill/>
          <a:ln w="38100">
            <a:solidFill>
              <a:srgbClr val="66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3"/>
          <p:cNvSpPr>
            <a:spLocks noChangeShapeType="1"/>
          </p:cNvSpPr>
          <p:nvPr/>
        </p:nvSpPr>
        <p:spPr bwMode="auto">
          <a:xfrm>
            <a:off x="4953000" y="3098394"/>
            <a:ext cx="901192" cy="406806"/>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4"/>
          <p:cNvSpPr>
            <a:spLocks noChangeShapeType="1"/>
          </p:cNvSpPr>
          <p:nvPr/>
        </p:nvSpPr>
        <p:spPr bwMode="auto">
          <a:xfrm>
            <a:off x="3429000" y="3707994"/>
            <a:ext cx="720954" cy="406806"/>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5"/>
          <p:cNvSpPr>
            <a:spLocks noChangeShapeType="1"/>
          </p:cNvSpPr>
          <p:nvPr/>
        </p:nvSpPr>
        <p:spPr bwMode="auto">
          <a:xfrm flipH="1">
            <a:off x="3505199" y="4469994"/>
            <a:ext cx="630834" cy="406806"/>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6"/>
          <p:cNvSpPr>
            <a:spLocks noChangeShapeType="1"/>
          </p:cNvSpPr>
          <p:nvPr/>
        </p:nvSpPr>
        <p:spPr bwMode="auto">
          <a:xfrm>
            <a:off x="6324600" y="3789355"/>
            <a:ext cx="720954" cy="325445"/>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7"/>
          <p:cNvSpPr>
            <a:spLocks noChangeShapeType="1"/>
          </p:cNvSpPr>
          <p:nvPr/>
        </p:nvSpPr>
        <p:spPr bwMode="auto">
          <a:xfrm flipH="1">
            <a:off x="6476999" y="4469994"/>
            <a:ext cx="720954" cy="406806"/>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8"/>
          <p:cNvSpPr>
            <a:spLocks noChangeShapeType="1"/>
          </p:cNvSpPr>
          <p:nvPr/>
        </p:nvSpPr>
        <p:spPr bwMode="auto">
          <a:xfrm>
            <a:off x="6629400" y="5303033"/>
            <a:ext cx="901192" cy="488167"/>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Oval 19"/>
          <p:cNvSpPr>
            <a:spLocks noChangeArrowheads="1"/>
          </p:cNvSpPr>
          <p:nvPr/>
        </p:nvSpPr>
        <p:spPr bwMode="auto">
          <a:xfrm>
            <a:off x="2057399" y="5678871"/>
            <a:ext cx="811073" cy="569529"/>
          </a:xfrm>
          <a:prstGeom prst="ellipse">
            <a:avLst/>
          </a:prstGeom>
          <a:noFill/>
          <a:ln w="25400" cap="sq">
            <a:solidFill>
              <a:srgbClr val="8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32</a:t>
            </a:r>
            <a:endParaRPr lang="en-US" altLang="zh-CN" sz="1800">
              <a:solidFill>
                <a:srgbClr val="FFFFFF"/>
              </a:solidFill>
              <a:latin typeface="Consolas" panose="020B0609020204030204" pitchFamily="49" charset="0"/>
            </a:endParaRPr>
          </a:p>
        </p:txBody>
      </p:sp>
      <p:sp>
        <p:nvSpPr>
          <p:cNvPr id="24" name="Line 20"/>
          <p:cNvSpPr>
            <a:spLocks noChangeShapeType="1"/>
          </p:cNvSpPr>
          <p:nvPr/>
        </p:nvSpPr>
        <p:spPr bwMode="auto">
          <a:xfrm flipH="1">
            <a:off x="2514599" y="5226833"/>
            <a:ext cx="720954" cy="488167"/>
          </a:xfrm>
          <a:prstGeom prst="line">
            <a:avLst/>
          </a:prstGeom>
          <a:noFill/>
          <a:ln w="38100">
            <a:solidFill>
              <a:srgbClr val="336699"/>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Text Box 24"/>
          <p:cNvSpPr txBox="1">
            <a:spLocks noChangeArrowheads="1"/>
          </p:cNvSpPr>
          <p:nvPr/>
        </p:nvSpPr>
        <p:spPr bwMode="auto">
          <a:xfrm>
            <a:off x="914400" y="1797510"/>
            <a:ext cx="2048335" cy="461665"/>
          </a:xfrm>
          <a:prstGeom prst="rect">
            <a:avLst/>
          </a:prstGeom>
          <a:noFill/>
          <a:ln w="9525">
            <a:noFill/>
            <a:miter lim="800000"/>
          </a:ln>
          <a:effectLst/>
        </p:spPr>
        <p:txBody>
          <a:bodyPr wrap="square">
            <a:spAutoFit/>
          </a:bodyPr>
          <a:lstStyle/>
          <a:p>
            <a:pPr algn="ctr" eaLnBrk="1" hangingPunct="1">
              <a:defRPr/>
            </a:pPr>
            <a:r>
              <a:rPr lang="zh-CN" altLang="en-US" sz="2400" b="0" dirty="0">
                <a:solidFill>
                  <a:schemeClr val="tx1"/>
                </a:solidFill>
                <a:latin typeface="微软雅黑" panose="020B0503020204020204" pitchFamily="34" charset="-122"/>
                <a:ea typeface="微软雅黑" panose="020B0503020204020204" pitchFamily="34" charset="-122"/>
              </a:rPr>
              <a:t>二叉排序树</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sp>
        <p:nvSpPr>
          <p:cNvPr id="26" name="Freeform 26"/>
          <p:cNvSpPr/>
          <p:nvPr/>
        </p:nvSpPr>
        <p:spPr bwMode="auto">
          <a:xfrm>
            <a:off x="4571999" y="2005788"/>
            <a:ext cx="1261669" cy="813612"/>
          </a:xfrm>
          <a:custGeom>
            <a:avLst/>
            <a:gdLst>
              <a:gd name="T0" fmla="*/ 2147483646 w 672"/>
              <a:gd name="T1" fmla="*/ 0 h 480"/>
              <a:gd name="T2" fmla="*/ 2147483646 w 672"/>
              <a:gd name="T3" fmla="*/ 2147483646 h 480"/>
              <a:gd name="T4" fmla="*/ 2147483646 w 672"/>
              <a:gd name="T5" fmla="*/ 2147483646 h 480"/>
              <a:gd name="T6" fmla="*/ 0 w 672"/>
              <a:gd name="T7" fmla="*/ 2147483646 h 480"/>
              <a:gd name="T8" fmla="*/ 0 60000 65536"/>
              <a:gd name="T9" fmla="*/ 0 60000 65536"/>
              <a:gd name="T10" fmla="*/ 0 60000 65536"/>
              <a:gd name="T11" fmla="*/ 0 60000 65536"/>
              <a:gd name="T12" fmla="*/ 0 w 672"/>
              <a:gd name="T13" fmla="*/ 0 h 480"/>
              <a:gd name="T14" fmla="*/ 672 w 672"/>
              <a:gd name="T15" fmla="*/ 480 h 480"/>
            </a:gdLst>
            <a:ahLst/>
            <a:cxnLst>
              <a:cxn ang="T8">
                <a:pos x="T0" y="T1"/>
              </a:cxn>
              <a:cxn ang="T9">
                <a:pos x="T2" y="T3"/>
              </a:cxn>
              <a:cxn ang="T10">
                <a:pos x="T4" y="T5"/>
              </a:cxn>
              <a:cxn ang="T11">
                <a:pos x="T6" y="T7"/>
              </a:cxn>
            </a:cxnLst>
            <a:rect l="T12" t="T13" r="T14" b="T15"/>
            <a:pathLst>
              <a:path w="672" h="480">
                <a:moveTo>
                  <a:pt x="672" y="0"/>
                </a:moveTo>
                <a:cubicBezTo>
                  <a:pt x="448" y="100"/>
                  <a:pt x="224" y="200"/>
                  <a:pt x="192" y="240"/>
                </a:cubicBezTo>
                <a:cubicBezTo>
                  <a:pt x="160" y="280"/>
                  <a:pt x="512" y="200"/>
                  <a:pt x="480" y="240"/>
                </a:cubicBezTo>
                <a:cubicBezTo>
                  <a:pt x="448" y="280"/>
                  <a:pt x="224" y="380"/>
                  <a:pt x="0" y="480"/>
                </a:cubicBezTo>
              </a:path>
            </a:pathLst>
          </a:custGeom>
          <a:noFill/>
          <a:ln w="31750">
            <a:solidFill>
              <a:srgbClr val="FF00FF"/>
            </a:solidFill>
            <a:rou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7" name="Oval 29"/>
          <p:cNvSpPr>
            <a:spLocks noChangeArrowheads="1"/>
          </p:cNvSpPr>
          <p:nvPr/>
        </p:nvSpPr>
        <p:spPr bwMode="auto">
          <a:xfrm>
            <a:off x="4267199" y="2783271"/>
            <a:ext cx="811073" cy="569529"/>
          </a:xfrm>
          <a:prstGeom prst="ellipse">
            <a:avLst/>
          </a:prstGeom>
          <a:solidFill>
            <a:srgbClr val="FFFFCC"/>
          </a:solidFill>
          <a:ln w="25400" cap="sq">
            <a:solidFill>
              <a:srgbClr val="8000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50</a:t>
            </a:r>
            <a:endParaRPr lang="en-US" altLang="zh-CN" sz="1800">
              <a:solidFill>
                <a:srgbClr val="FFFFFF"/>
              </a:solidFill>
              <a:latin typeface="Consolas" panose="020B0609020204030204" pitchFamily="49" charset="0"/>
            </a:endParaRPr>
          </a:p>
        </p:txBody>
      </p:sp>
      <p:sp useBgFill="1">
        <p:nvSpPr>
          <p:cNvPr id="28" name="Oval 30"/>
          <p:cNvSpPr>
            <a:spLocks noChangeArrowheads="1"/>
          </p:cNvSpPr>
          <p:nvPr/>
        </p:nvSpPr>
        <p:spPr bwMode="auto">
          <a:xfrm>
            <a:off x="4267199" y="2783271"/>
            <a:ext cx="811073" cy="569529"/>
          </a:xfrm>
          <a:prstGeom prst="ellipse">
            <a:avLst/>
          </a:prstGeom>
          <a:ln w="25400" cap="sq">
            <a:solidFill>
              <a:srgbClr val="8000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50</a:t>
            </a:r>
            <a:endParaRPr lang="en-US" altLang="zh-CN" sz="1800">
              <a:solidFill>
                <a:srgbClr val="FFFFFF"/>
              </a:solidFill>
              <a:latin typeface="Consolas" panose="020B0609020204030204" pitchFamily="49" charset="0"/>
            </a:endParaRPr>
          </a:p>
        </p:txBody>
      </p:sp>
      <p:sp>
        <p:nvSpPr>
          <p:cNvPr id="29" name="Oval 32"/>
          <p:cNvSpPr>
            <a:spLocks noChangeArrowheads="1"/>
          </p:cNvSpPr>
          <p:nvPr/>
        </p:nvSpPr>
        <p:spPr bwMode="auto">
          <a:xfrm>
            <a:off x="4267199" y="2783271"/>
            <a:ext cx="811073" cy="569529"/>
          </a:xfrm>
          <a:prstGeom prst="ellipse">
            <a:avLst/>
          </a:prstGeom>
          <a:solidFill>
            <a:srgbClr val="CCFFFF"/>
          </a:solidFill>
          <a:ln w="19050" cap="sq">
            <a:solidFill>
              <a:schemeClr val="accent2"/>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50</a:t>
            </a:r>
            <a:endParaRPr lang="en-US" altLang="zh-CN" sz="1800">
              <a:solidFill>
                <a:srgbClr val="FFFFFF"/>
              </a:solidFill>
              <a:latin typeface="Consolas" panose="020B0609020204030204" pitchFamily="49" charset="0"/>
            </a:endParaRPr>
          </a:p>
        </p:txBody>
      </p:sp>
      <p:sp>
        <p:nvSpPr>
          <p:cNvPr id="30" name="Line 35"/>
          <p:cNvSpPr>
            <a:spLocks noChangeShapeType="1"/>
          </p:cNvSpPr>
          <p:nvPr/>
        </p:nvSpPr>
        <p:spPr bwMode="auto">
          <a:xfrm flipH="1">
            <a:off x="3505198" y="3250794"/>
            <a:ext cx="991311" cy="406806"/>
          </a:xfrm>
          <a:prstGeom prst="line">
            <a:avLst/>
          </a:prstGeom>
          <a:noFill/>
          <a:ln w="38100">
            <a:solidFill>
              <a:srgbClr val="0000FF"/>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36"/>
          <p:cNvSpPr>
            <a:spLocks noChangeShapeType="1"/>
          </p:cNvSpPr>
          <p:nvPr/>
        </p:nvSpPr>
        <p:spPr bwMode="auto">
          <a:xfrm>
            <a:off x="3352800" y="3784194"/>
            <a:ext cx="720954" cy="406806"/>
          </a:xfrm>
          <a:prstGeom prst="line">
            <a:avLst/>
          </a:prstGeom>
          <a:noFill/>
          <a:ln w="38100">
            <a:solidFill>
              <a:srgbClr val="0000FF"/>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37"/>
          <p:cNvSpPr>
            <a:spLocks noChangeShapeType="1"/>
          </p:cNvSpPr>
          <p:nvPr/>
        </p:nvSpPr>
        <p:spPr bwMode="auto">
          <a:xfrm flipH="1">
            <a:off x="3581399" y="4546194"/>
            <a:ext cx="630834" cy="406806"/>
          </a:xfrm>
          <a:prstGeom prst="line">
            <a:avLst/>
          </a:prstGeom>
          <a:noFill/>
          <a:ln w="38100">
            <a:solidFill>
              <a:srgbClr val="0000FF"/>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Oval 38"/>
          <p:cNvSpPr>
            <a:spLocks noChangeArrowheads="1"/>
          </p:cNvSpPr>
          <p:nvPr/>
        </p:nvSpPr>
        <p:spPr bwMode="auto">
          <a:xfrm>
            <a:off x="2819399" y="3316671"/>
            <a:ext cx="811073" cy="569529"/>
          </a:xfrm>
          <a:prstGeom prst="ellipse">
            <a:avLst/>
          </a:prstGeom>
          <a:solidFill>
            <a:srgbClr val="CCFFFF"/>
          </a:solidFill>
          <a:ln w="25400" cap="sq">
            <a:solidFill>
              <a:schemeClr val="accent2"/>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30</a:t>
            </a:r>
            <a:endParaRPr lang="en-US" altLang="zh-CN" sz="1800">
              <a:solidFill>
                <a:srgbClr val="FFFFFF"/>
              </a:solidFill>
              <a:latin typeface="Consolas" panose="020B0609020204030204" pitchFamily="49" charset="0"/>
            </a:endParaRPr>
          </a:p>
        </p:txBody>
      </p:sp>
      <p:sp>
        <p:nvSpPr>
          <p:cNvPr id="34" name="Oval 39"/>
          <p:cNvSpPr>
            <a:spLocks noChangeArrowheads="1"/>
          </p:cNvSpPr>
          <p:nvPr/>
        </p:nvSpPr>
        <p:spPr bwMode="auto">
          <a:xfrm>
            <a:off x="3962399" y="4002471"/>
            <a:ext cx="811073" cy="569529"/>
          </a:xfrm>
          <a:prstGeom prst="ellipse">
            <a:avLst/>
          </a:prstGeom>
          <a:solidFill>
            <a:srgbClr val="CCFFFF"/>
          </a:solidFill>
          <a:ln w="25400" cap="sq">
            <a:solidFill>
              <a:schemeClr val="accent2"/>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40</a:t>
            </a:r>
            <a:endParaRPr lang="en-US" altLang="zh-CN" sz="1800">
              <a:solidFill>
                <a:srgbClr val="FFFFFF"/>
              </a:solidFill>
              <a:latin typeface="Consolas" panose="020B0609020204030204" pitchFamily="49" charset="0"/>
            </a:endParaRPr>
          </a:p>
        </p:txBody>
      </p:sp>
      <p:sp>
        <p:nvSpPr>
          <p:cNvPr id="35" name="Oval 40"/>
          <p:cNvSpPr>
            <a:spLocks noChangeArrowheads="1"/>
          </p:cNvSpPr>
          <p:nvPr/>
        </p:nvSpPr>
        <p:spPr bwMode="auto">
          <a:xfrm>
            <a:off x="3047999" y="4840671"/>
            <a:ext cx="811073" cy="569529"/>
          </a:xfrm>
          <a:prstGeom prst="ellipse">
            <a:avLst/>
          </a:prstGeom>
          <a:solidFill>
            <a:srgbClr val="CCFFFF"/>
          </a:solidFill>
          <a:ln w="25400" cap="sq">
            <a:solidFill>
              <a:schemeClr val="accent2"/>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3333FF"/>
                </a:solidFill>
                <a:latin typeface="Consolas" panose="020B0609020204030204" pitchFamily="49" charset="0"/>
              </a:rPr>
              <a:t>35</a:t>
            </a:r>
            <a:endParaRPr lang="en-US" altLang="zh-CN" sz="1800">
              <a:solidFill>
                <a:srgbClr val="FFFFFF"/>
              </a:solidFill>
              <a:latin typeface="Consolas" panose="020B0609020204030204" pitchFamily="49" charset="0"/>
            </a:endParaRPr>
          </a:p>
        </p:txBody>
      </p:sp>
      <p:sp useBgFill="1">
        <p:nvSpPr>
          <p:cNvPr id="36" name="Oval 41"/>
          <p:cNvSpPr>
            <a:spLocks noChangeArrowheads="1"/>
          </p:cNvSpPr>
          <p:nvPr/>
        </p:nvSpPr>
        <p:spPr bwMode="auto">
          <a:xfrm>
            <a:off x="4267199" y="2783271"/>
            <a:ext cx="811073" cy="569529"/>
          </a:xfrm>
          <a:prstGeom prst="ellipse">
            <a:avLst/>
          </a:prstGeom>
          <a:ln w="25400" cap="sq">
            <a:solidFill>
              <a:srgbClr val="8000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990033"/>
                </a:solidFill>
                <a:latin typeface="Consolas" panose="020B0609020204030204" pitchFamily="49" charset="0"/>
              </a:rPr>
              <a:t>50</a:t>
            </a:r>
            <a:endParaRPr lang="en-US" altLang="zh-CN" sz="1800">
              <a:solidFill>
                <a:srgbClr val="FFFFFF"/>
              </a:solidFill>
              <a:latin typeface="Consolas" panose="020B0609020204030204" pitchFamily="49" charset="0"/>
            </a:endParaRPr>
          </a:p>
        </p:txBody>
      </p:sp>
      <p:sp>
        <p:nvSpPr>
          <p:cNvPr id="37" name="Line 43"/>
          <p:cNvSpPr>
            <a:spLocks noChangeShapeType="1"/>
          </p:cNvSpPr>
          <p:nvPr/>
        </p:nvSpPr>
        <p:spPr bwMode="auto">
          <a:xfrm>
            <a:off x="4952999" y="2940833"/>
            <a:ext cx="1081431" cy="488167"/>
          </a:xfrm>
          <a:prstGeom prst="line">
            <a:avLst/>
          </a:prstGeom>
          <a:noFill/>
          <a:ln w="38100">
            <a:solidFill>
              <a:srgbClr val="0066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44"/>
          <p:cNvSpPr>
            <a:spLocks noChangeShapeType="1"/>
          </p:cNvSpPr>
          <p:nvPr/>
        </p:nvSpPr>
        <p:spPr bwMode="auto">
          <a:xfrm>
            <a:off x="6400799" y="3631794"/>
            <a:ext cx="811073" cy="406806"/>
          </a:xfrm>
          <a:prstGeom prst="line">
            <a:avLst/>
          </a:prstGeom>
          <a:noFill/>
          <a:ln w="38100">
            <a:solidFill>
              <a:srgbClr val="0066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Oval 45"/>
          <p:cNvSpPr>
            <a:spLocks noChangeArrowheads="1"/>
          </p:cNvSpPr>
          <p:nvPr/>
        </p:nvSpPr>
        <p:spPr bwMode="auto">
          <a:xfrm>
            <a:off x="4267199" y="2783271"/>
            <a:ext cx="811073" cy="569529"/>
          </a:xfrm>
          <a:prstGeom prst="ellipse">
            <a:avLst/>
          </a:prstGeom>
          <a:solidFill>
            <a:srgbClr val="CCFFCC"/>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A50021"/>
                </a:solidFill>
                <a:latin typeface="Consolas" panose="020B0609020204030204" pitchFamily="49" charset="0"/>
              </a:rPr>
              <a:t>50</a:t>
            </a:r>
            <a:endParaRPr lang="en-US" altLang="zh-CN" sz="1800">
              <a:solidFill>
                <a:srgbClr val="FFFFFF"/>
              </a:solidFill>
              <a:latin typeface="Consolas" panose="020B0609020204030204" pitchFamily="49" charset="0"/>
            </a:endParaRPr>
          </a:p>
        </p:txBody>
      </p:sp>
      <p:sp>
        <p:nvSpPr>
          <p:cNvPr id="40" name="Oval 46"/>
          <p:cNvSpPr>
            <a:spLocks noChangeArrowheads="1"/>
          </p:cNvSpPr>
          <p:nvPr/>
        </p:nvSpPr>
        <p:spPr bwMode="auto">
          <a:xfrm>
            <a:off x="5714999" y="3316671"/>
            <a:ext cx="811073" cy="569529"/>
          </a:xfrm>
          <a:prstGeom prst="ellipse">
            <a:avLst/>
          </a:prstGeom>
          <a:solidFill>
            <a:srgbClr val="CCFFCC"/>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A50021"/>
                </a:solidFill>
                <a:latin typeface="Consolas" panose="020B0609020204030204" pitchFamily="49" charset="0"/>
              </a:rPr>
              <a:t>80</a:t>
            </a:r>
            <a:endParaRPr lang="en-US" altLang="zh-CN" sz="1800">
              <a:solidFill>
                <a:srgbClr val="FFFFFF"/>
              </a:solidFill>
              <a:latin typeface="Consolas" panose="020B0609020204030204" pitchFamily="49" charset="0"/>
            </a:endParaRPr>
          </a:p>
        </p:txBody>
      </p:sp>
      <p:sp>
        <p:nvSpPr>
          <p:cNvPr id="41" name="Oval 47"/>
          <p:cNvSpPr>
            <a:spLocks noChangeArrowheads="1"/>
          </p:cNvSpPr>
          <p:nvPr/>
        </p:nvSpPr>
        <p:spPr bwMode="auto">
          <a:xfrm>
            <a:off x="6857999" y="4002471"/>
            <a:ext cx="811073" cy="569529"/>
          </a:xfrm>
          <a:prstGeom prst="ellipse">
            <a:avLst/>
          </a:prstGeom>
          <a:solidFill>
            <a:srgbClr val="CCFFCC"/>
          </a:solidFill>
          <a:ln w="25400" cap="sq">
            <a:solidFill>
              <a:srgbClr val="006600"/>
            </a:solidFill>
            <a:round/>
            <a:headEnd type="none" w="sm" len="sm"/>
            <a:tailEnd type="none" w="sm" len="sm"/>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600">
                <a:solidFill>
                  <a:srgbClr val="006600"/>
                </a:solidFill>
                <a:latin typeface="Consolas" panose="020B0609020204030204" pitchFamily="49" charset="0"/>
              </a:rPr>
              <a:t>90</a:t>
            </a:r>
            <a:endParaRPr lang="en-US" altLang="zh-CN" sz="1800">
              <a:solidFill>
                <a:srgbClr val="FFFFFF"/>
              </a:solidFill>
              <a:latin typeface="Consolas" panose="020B0609020204030204" pitchFamily="49" charset="0"/>
            </a:endParaRPr>
          </a:p>
        </p:txBody>
      </p:sp>
      <p:sp>
        <p:nvSpPr>
          <p:cNvPr id="42" name="Line 49"/>
          <p:cNvSpPr>
            <a:spLocks noChangeShapeType="1"/>
          </p:cNvSpPr>
          <p:nvPr/>
        </p:nvSpPr>
        <p:spPr bwMode="auto">
          <a:xfrm>
            <a:off x="7543799" y="4241394"/>
            <a:ext cx="811073" cy="406806"/>
          </a:xfrm>
          <a:prstGeom prst="line">
            <a:avLst/>
          </a:prstGeom>
          <a:noFill/>
          <a:ln w="38100">
            <a:solidFill>
              <a:srgbClr val="FF00FF"/>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1+#ppt_w/2"/>
                                          </p:val>
                                        </p:tav>
                                        <p:tav tm="100000">
                                          <p:val>
                                            <p:strVal val="#ppt_x"/>
                                          </p:val>
                                        </p:tav>
                                      </p:tavLst>
                                    </p:anim>
                                    <p:anim calcmode="lin" valueType="num">
                                      <p:cBhvr additive="base">
                                        <p:cTn id="8" dur="500" fill="hold"/>
                                        <p:tgtEl>
                                          <p:spTgt spid="2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Top)">
                                      <p:cBhvr>
                                        <p:cTn id="12" dur="500"/>
                                        <p:tgtEl>
                                          <p:spTgt spid="6"/>
                                        </p:tgtEl>
                                      </p:cBhvr>
                                    </p:animEffect>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499"/>
                                          </p:stCondLst>
                                        </p:cTn>
                                        <p:tgtEl>
                                          <p:spTgt spid="7"/>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0"/>
                                  </p:stCondLst>
                                  <p:childTnLst>
                                    <p:set>
                                      <p:cBhvr>
                                        <p:cTn id="18" dur="1" fill="hold">
                                          <p:stCondLst>
                                            <p:cond delay="499"/>
                                          </p:stCondLst>
                                        </p:cTn>
                                        <p:tgtEl>
                                          <p:spTgt spid="8"/>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0"/>
                                  </p:stCondLst>
                                  <p:childTnLst>
                                    <p:set>
                                      <p:cBhvr>
                                        <p:cTn id="21" dur="1" fill="hold">
                                          <p:stCondLst>
                                            <p:cond delay="499"/>
                                          </p:stCondLst>
                                        </p:cTn>
                                        <p:tgtEl>
                                          <p:spTgt spid="9"/>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0"/>
                                  </p:stCondLst>
                                  <p:childTnLst>
                                    <p:set>
                                      <p:cBhvr>
                                        <p:cTn id="24" dur="1" fill="hold">
                                          <p:stCondLst>
                                            <p:cond delay="499"/>
                                          </p:stCondLst>
                                        </p:cTn>
                                        <p:tgtEl>
                                          <p:spTgt spid="10"/>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0"/>
                                  </p:stCondLst>
                                  <p:childTnLst>
                                    <p:set>
                                      <p:cBhvr>
                                        <p:cTn id="27" dur="1" fill="hold">
                                          <p:stCondLst>
                                            <p:cond delay="499"/>
                                          </p:stCondLst>
                                        </p:cTn>
                                        <p:tgtEl>
                                          <p:spTgt spid="11"/>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0"/>
                                  </p:stCondLst>
                                  <p:childTnLst>
                                    <p:set>
                                      <p:cBhvr>
                                        <p:cTn id="30" dur="1" fill="hold">
                                          <p:stCondLst>
                                            <p:cond delay="499"/>
                                          </p:stCondLst>
                                        </p:cTn>
                                        <p:tgtEl>
                                          <p:spTgt spid="12"/>
                                        </p:tgtEl>
                                        <p:attrNameLst>
                                          <p:attrName>style.visibility</p:attrName>
                                        </p:attrNameLst>
                                      </p:cBhvr>
                                      <p:to>
                                        <p:strVal val="visible"/>
                                      </p:to>
                                    </p:set>
                                  </p:childTnLst>
                                </p:cTn>
                              </p:par>
                            </p:childTnLst>
                          </p:cTn>
                        </p:par>
                        <p:par>
                          <p:cTn id="31" fill="hold">
                            <p:stCondLst>
                              <p:cond delay="4000"/>
                            </p:stCondLst>
                            <p:childTnLst>
                              <p:par>
                                <p:cTn id="32" presetID="1" presetClass="entr" presetSubtype="0" fill="hold" grpId="0" nodeType="afterEffect">
                                  <p:stCondLst>
                                    <p:cond delay="0"/>
                                  </p:stCondLst>
                                  <p:childTnLst>
                                    <p:set>
                                      <p:cBhvr>
                                        <p:cTn id="33" dur="1" fill="hold">
                                          <p:stCondLst>
                                            <p:cond delay="499"/>
                                          </p:stCondLst>
                                        </p:cTn>
                                        <p:tgtEl>
                                          <p:spTgt spid="13"/>
                                        </p:tgtEl>
                                        <p:attrNameLst>
                                          <p:attrName>style.visibility</p:attrName>
                                        </p:attrNameLst>
                                      </p:cBhvr>
                                      <p:to>
                                        <p:strVal val="visible"/>
                                      </p:to>
                                    </p:set>
                                  </p:childTnLst>
                                </p:cTn>
                              </p:par>
                            </p:childTnLst>
                          </p:cTn>
                        </p:par>
                        <p:par>
                          <p:cTn id="34" fill="hold">
                            <p:stCondLst>
                              <p:cond delay="4500"/>
                            </p:stCondLst>
                            <p:childTnLst>
                              <p:par>
                                <p:cTn id="35" presetID="1" presetClass="entr" presetSubtype="0" fill="hold" grpId="0" nodeType="afterEffect">
                                  <p:stCondLst>
                                    <p:cond delay="0"/>
                                  </p:stCondLst>
                                  <p:childTnLst>
                                    <p:set>
                                      <p:cBhvr>
                                        <p:cTn id="36" dur="1" fill="hold">
                                          <p:stCondLst>
                                            <p:cond delay="499"/>
                                          </p:stCondLst>
                                        </p:cTn>
                                        <p:tgtEl>
                                          <p:spTgt spid="23"/>
                                        </p:tgtEl>
                                        <p:attrNameLst>
                                          <p:attrName>style.visibility</p:attrName>
                                        </p:attrNameLst>
                                      </p:cBhvr>
                                      <p:to>
                                        <p:strVal val="visible"/>
                                      </p:to>
                                    </p:set>
                                  </p:childTnLst>
                                </p:cTn>
                              </p:par>
                            </p:childTnLst>
                          </p:cTn>
                        </p:par>
                        <p:par>
                          <p:cTn id="37" fill="hold">
                            <p:stCondLst>
                              <p:cond delay="5000"/>
                            </p:stCondLst>
                            <p:childTnLst>
                              <p:par>
                                <p:cTn id="38" presetID="1" presetClass="entr" presetSubtype="0" fill="hold" grpId="0" nodeType="afterEffect">
                                  <p:stCondLst>
                                    <p:cond delay="0"/>
                                  </p:stCondLst>
                                  <p:childTnLst>
                                    <p:set>
                                      <p:cBhvr>
                                        <p:cTn id="39" dur="1" fill="hold">
                                          <p:stCondLst>
                                            <p:cond delay="499"/>
                                          </p:stCondLst>
                                        </p:cTn>
                                        <p:tgtEl>
                                          <p:spTgt spid="14"/>
                                        </p:tgtEl>
                                        <p:attrNameLst>
                                          <p:attrName>style.visibility</p:attrName>
                                        </p:attrNameLst>
                                      </p:cBhvr>
                                      <p:to>
                                        <p:strVal val="visible"/>
                                      </p:to>
                                    </p:set>
                                  </p:childTnLst>
                                </p:cTn>
                              </p:par>
                            </p:childTnLst>
                          </p:cTn>
                        </p:par>
                        <p:par>
                          <p:cTn id="40" fill="hold">
                            <p:stCondLst>
                              <p:cond delay="5500"/>
                            </p:stCondLst>
                            <p:childTnLst>
                              <p:par>
                                <p:cTn id="41" presetID="1" presetClass="entr" presetSubtype="0" fill="hold" nodeType="afterEffect">
                                  <p:stCondLst>
                                    <p:cond delay="0"/>
                                  </p:stCondLst>
                                  <p:childTnLst>
                                    <p:set>
                                      <p:cBhvr>
                                        <p:cTn id="42" dur="1" fill="hold">
                                          <p:stCondLst>
                                            <p:cond delay="499"/>
                                          </p:stCondLst>
                                        </p:cTn>
                                        <p:tgtEl>
                                          <p:spTgt spid="15"/>
                                        </p:tgtEl>
                                        <p:attrNameLst>
                                          <p:attrName>style.visibility</p:attrName>
                                        </p:attrNameLst>
                                      </p:cBhvr>
                                      <p:to>
                                        <p:strVal val="visible"/>
                                      </p:to>
                                    </p:set>
                                  </p:childTnLst>
                                </p:cTn>
                              </p:par>
                            </p:childTnLst>
                          </p:cTn>
                        </p:par>
                        <p:par>
                          <p:cTn id="43" fill="hold">
                            <p:stCondLst>
                              <p:cond delay="6000"/>
                            </p:stCondLst>
                            <p:childTnLst>
                              <p:par>
                                <p:cTn id="44" presetID="1" presetClass="entr" presetSubtype="0" fill="hold" nodeType="afterEffect">
                                  <p:stCondLst>
                                    <p:cond delay="0"/>
                                  </p:stCondLst>
                                  <p:childTnLst>
                                    <p:set>
                                      <p:cBhvr>
                                        <p:cTn id="45" dur="1" fill="hold">
                                          <p:stCondLst>
                                            <p:cond delay="499"/>
                                          </p:stCondLst>
                                        </p:cTn>
                                        <p:tgtEl>
                                          <p:spTgt spid="16"/>
                                        </p:tgtEl>
                                        <p:attrNameLst>
                                          <p:attrName>style.visibility</p:attrName>
                                        </p:attrNameLst>
                                      </p:cBhvr>
                                      <p:to>
                                        <p:strVal val="visible"/>
                                      </p:to>
                                    </p:set>
                                  </p:childTnLst>
                                </p:cTn>
                              </p:par>
                            </p:childTnLst>
                          </p:cTn>
                        </p:par>
                        <p:par>
                          <p:cTn id="46" fill="hold">
                            <p:stCondLst>
                              <p:cond delay="6500"/>
                            </p:stCondLst>
                            <p:childTnLst>
                              <p:par>
                                <p:cTn id="47" presetID="1" presetClass="entr" presetSubtype="0" fill="hold" nodeType="afterEffect">
                                  <p:stCondLst>
                                    <p:cond delay="0"/>
                                  </p:stCondLst>
                                  <p:childTnLst>
                                    <p:set>
                                      <p:cBhvr>
                                        <p:cTn id="48" dur="1" fill="hold">
                                          <p:stCondLst>
                                            <p:cond delay="499"/>
                                          </p:stCondLst>
                                        </p:cTn>
                                        <p:tgtEl>
                                          <p:spTgt spid="17"/>
                                        </p:tgtEl>
                                        <p:attrNameLst>
                                          <p:attrName>style.visibility</p:attrName>
                                        </p:attrNameLst>
                                      </p:cBhvr>
                                      <p:to>
                                        <p:strVal val="visible"/>
                                      </p:to>
                                    </p:set>
                                  </p:childTnLst>
                                </p:cTn>
                              </p:par>
                            </p:childTnLst>
                          </p:cTn>
                        </p:par>
                        <p:par>
                          <p:cTn id="49" fill="hold">
                            <p:stCondLst>
                              <p:cond delay="7000"/>
                            </p:stCondLst>
                            <p:childTnLst>
                              <p:par>
                                <p:cTn id="50" presetID="1" presetClass="entr" presetSubtype="0" fill="hold" nodeType="afterEffect">
                                  <p:stCondLst>
                                    <p:cond delay="0"/>
                                  </p:stCondLst>
                                  <p:childTnLst>
                                    <p:set>
                                      <p:cBhvr>
                                        <p:cTn id="51" dur="1" fill="hold">
                                          <p:stCondLst>
                                            <p:cond delay="499"/>
                                          </p:stCondLst>
                                        </p:cTn>
                                        <p:tgtEl>
                                          <p:spTgt spid="18"/>
                                        </p:tgtEl>
                                        <p:attrNameLst>
                                          <p:attrName>style.visibility</p:attrName>
                                        </p:attrNameLst>
                                      </p:cBhvr>
                                      <p:to>
                                        <p:strVal val="visible"/>
                                      </p:to>
                                    </p:set>
                                  </p:childTnLst>
                                </p:cTn>
                              </p:par>
                            </p:childTnLst>
                          </p:cTn>
                        </p:par>
                        <p:par>
                          <p:cTn id="52" fill="hold">
                            <p:stCondLst>
                              <p:cond delay="7500"/>
                            </p:stCondLst>
                            <p:childTnLst>
                              <p:par>
                                <p:cTn id="53" presetID="1" presetClass="entr" presetSubtype="0" fill="hold" nodeType="afterEffect">
                                  <p:stCondLst>
                                    <p:cond delay="0"/>
                                  </p:stCondLst>
                                  <p:childTnLst>
                                    <p:set>
                                      <p:cBhvr>
                                        <p:cTn id="54" dur="1" fill="hold">
                                          <p:stCondLst>
                                            <p:cond delay="499"/>
                                          </p:stCondLst>
                                        </p:cTn>
                                        <p:tgtEl>
                                          <p:spTgt spid="19"/>
                                        </p:tgtEl>
                                        <p:attrNameLst>
                                          <p:attrName>style.visibility</p:attrName>
                                        </p:attrNameLst>
                                      </p:cBhvr>
                                      <p:to>
                                        <p:strVal val="visible"/>
                                      </p:to>
                                    </p:set>
                                  </p:childTnLst>
                                </p:cTn>
                              </p:par>
                            </p:childTnLst>
                          </p:cTn>
                        </p:par>
                        <p:par>
                          <p:cTn id="55" fill="hold">
                            <p:stCondLst>
                              <p:cond delay="8000"/>
                            </p:stCondLst>
                            <p:childTnLst>
                              <p:par>
                                <p:cTn id="56" presetID="1" presetClass="entr" presetSubtype="0" fill="hold" nodeType="afterEffect">
                                  <p:stCondLst>
                                    <p:cond delay="0"/>
                                  </p:stCondLst>
                                  <p:childTnLst>
                                    <p:set>
                                      <p:cBhvr>
                                        <p:cTn id="57" dur="1" fill="hold">
                                          <p:stCondLst>
                                            <p:cond delay="499"/>
                                          </p:stCondLst>
                                        </p:cTn>
                                        <p:tgtEl>
                                          <p:spTgt spid="24"/>
                                        </p:tgtEl>
                                        <p:attrNameLst>
                                          <p:attrName>style.visibility</p:attrName>
                                        </p:attrNameLst>
                                      </p:cBhvr>
                                      <p:to>
                                        <p:strVal val="visible"/>
                                      </p:to>
                                    </p:set>
                                  </p:childTnLst>
                                </p:cTn>
                              </p:par>
                            </p:childTnLst>
                          </p:cTn>
                        </p:par>
                        <p:par>
                          <p:cTn id="58" fill="hold">
                            <p:stCondLst>
                              <p:cond delay="8500"/>
                            </p:stCondLst>
                            <p:childTnLst>
                              <p:par>
                                <p:cTn id="59" presetID="1" presetClass="entr" presetSubtype="0" fill="hold" nodeType="afterEffect">
                                  <p:stCondLst>
                                    <p:cond delay="0"/>
                                  </p:stCondLst>
                                  <p:childTnLst>
                                    <p:set>
                                      <p:cBhvr>
                                        <p:cTn id="60" dur="1" fill="hold">
                                          <p:stCondLst>
                                            <p:cond delay="499"/>
                                          </p:stCondLst>
                                        </p:cTn>
                                        <p:tgtEl>
                                          <p:spTgt spid="20"/>
                                        </p:tgtEl>
                                        <p:attrNameLst>
                                          <p:attrName>style.visibility</p:attrName>
                                        </p:attrNameLst>
                                      </p:cBhvr>
                                      <p:to>
                                        <p:strVal val="visible"/>
                                      </p:to>
                                    </p:set>
                                  </p:childTnLst>
                                </p:cTn>
                              </p:par>
                            </p:childTnLst>
                          </p:cTn>
                        </p:par>
                        <p:par>
                          <p:cTn id="61" fill="hold">
                            <p:stCondLst>
                              <p:cond delay="9000"/>
                            </p:stCondLst>
                            <p:childTnLst>
                              <p:par>
                                <p:cTn id="62" presetID="1" presetClass="entr" presetSubtype="0" fill="hold" nodeType="afterEffect">
                                  <p:stCondLst>
                                    <p:cond delay="0"/>
                                  </p:stCondLst>
                                  <p:childTnLst>
                                    <p:set>
                                      <p:cBhvr>
                                        <p:cTn id="63" dur="1" fill="hold">
                                          <p:stCondLst>
                                            <p:cond delay="499"/>
                                          </p:stCondLst>
                                        </p:cTn>
                                        <p:tgtEl>
                                          <p:spTgt spid="21"/>
                                        </p:tgtEl>
                                        <p:attrNameLst>
                                          <p:attrName>style.visibility</p:attrName>
                                        </p:attrNameLst>
                                      </p:cBhvr>
                                      <p:to>
                                        <p:strVal val="visible"/>
                                      </p:to>
                                    </p:set>
                                  </p:childTnLst>
                                </p:cTn>
                              </p:par>
                            </p:childTnLst>
                          </p:cTn>
                        </p:par>
                        <p:par>
                          <p:cTn id="64" fill="hold">
                            <p:stCondLst>
                              <p:cond delay="9500"/>
                            </p:stCondLst>
                            <p:childTnLst>
                              <p:par>
                                <p:cTn id="65" presetID="1" presetClass="entr" presetSubtype="0" fill="hold" nodeType="afterEffect">
                                  <p:stCondLst>
                                    <p:cond delay="0"/>
                                  </p:stCondLst>
                                  <p:childTnLst>
                                    <p:set>
                                      <p:cBhvr>
                                        <p:cTn id="66" dur="1" fill="hold">
                                          <p:stCondLst>
                                            <p:cond delay="499"/>
                                          </p:stCondLst>
                                        </p:cTn>
                                        <p:tgtEl>
                                          <p:spTgt spid="22"/>
                                        </p:tgtEl>
                                        <p:attrNameLst>
                                          <p:attrName>style.visibility</p:attrName>
                                        </p:attrNameLst>
                                      </p:cBhvr>
                                      <p:to>
                                        <p:strVal val="visible"/>
                                      </p:to>
                                    </p:set>
                                  </p:childTnLst>
                                </p:cTn>
                              </p:par>
                            </p:childTnLst>
                          </p:cTn>
                        </p:par>
                        <p:par>
                          <p:cTn id="67" fill="hold">
                            <p:stCondLst>
                              <p:cond delay="10000"/>
                            </p:stCondLst>
                            <p:childTnLst>
                              <p:par>
                                <p:cTn id="68" presetID="22" presetClass="entr" presetSubtype="1" fill="hold" nodeType="after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wipe(up)">
                                      <p:cBhvr>
                                        <p:cTn id="70" dur="500"/>
                                        <p:tgtEl>
                                          <p:spTgt spid="2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up)">
                                      <p:cBhvr>
                                        <p:cTn id="75" dur="500"/>
                                        <p:tgtEl>
                                          <p:spTgt spid="27"/>
                                        </p:tgtEl>
                                      </p:cBhvr>
                                    </p:animEffect>
                                  </p:childTnLst>
                                </p:cTn>
                              </p:par>
                            </p:childTnLst>
                          </p:cTn>
                        </p:par>
                        <p:par>
                          <p:cTn id="76" fill="hold">
                            <p:stCondLst>
                              <p:cond delay="500"/>
                            </p:stCondLst>
                            <p:childTnLst>
                              <p:par>
                                <p:cTn id="77" presetID="22" presetClass="entr" presetSubtype="1" fill="hold" grpId="0"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wipe(up)">
                                      <p:cBhvr>
                                        <p:cTn id="79" dur="5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up)">
                                      <p:cBhvr>
                                        <p:cTn id="84" dur="500"/>
                                        <p:tgtEl>
                                          <p:spTgt spid="2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wipe(up)">
                                      <p:cBhvr>
                                        <p:cTn id="89" dur="500"/>
                                        <p:tgtEl>
                                          <p:spTgt spid="30"/>
                                        </p:tgtEl>
                                      </p:cBhvr>
                                    </p:animEffect>
                                  </p:childTnLst>
                                </p:cTn>
                              </p:par>
                            </p:childTnLst>
                          </p:cTn>
                        </p:par>
                        <p:par>
                          <p:cTn id="90" fill="hold">
                            <p:stCondLst>
                              <p:cond delay="500"/>
                            </p:stCondLst>
                            <p:childTnLst>
                              <p:par>
                                <p:cTn id="91" presetID="22" presetClass="entr" presetSubtype="1" fill="hold" grpId="0" nodeType="after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wipe(up)">
                                      <p:cBhvr>
                                        <p:cTn id="93" dur="500"/>
                                        <p:tgtEl>
                                          <p:spTgt spid="3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nodeType="click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wipe(up)">
                                      <p:cBhvr>
                                        <p:cTn id="98" dur="500"/>
                                        <p:tgtEl>
                                          <p:spTgt spid="31"/>
                                        </p:tgtEl>
                                      </p:cBhvr>
                                    </p:animEffect>
                                  </p:childTnLst>
                                </p:cTn>
                              </p:par>
                            </p:childTnLst>
                          </p:cTn>
                        </p:par>
                        <p:par>
                          <p:cTn id="99" fill="hold">
                            <p:stCondLst>
                              <p:cond delay="500"/>
                            </p:stCondLst>
                            <p:childTnLst>
                              <p:par>
                                <p:cTn id="100" presetID="22" presetClass="entr" presetSubtype="1" fill="hold" grpId="0" nodeType="after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wipe(up)">
                                      <p:cBhvr>
                                        <p:cTn id="102" dur="500"/>
                                        <p:tgtEl>
                                          <p:spTgt spid="3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32"/>
                                        </p:tgtEl>
                                        <p:attrNameLst>
                                          <p:attrName>style.visibility</p:attrName>
                                        </p:attrNameLst>
                                      </p:cBhvr>
                                      <p:to>
                                        <p:strVal val="visible"/>
                                      </p:to>
                                    </p:set>
                                    <p:animEffect transition="in" filter="wipe(up)">
                                      <p:cBhvr>
                                        <p:cTn id="107" dur="500"/>
                                        <p:tgtEl>
                                          <p:spTgt spid="32"/>
                                        </p:tgtEl>
                                      </p:cBhvr>
                                    </p:animEffect>
                                  </p:childTnLst>
                                </p:cTn>
                              </p:par>
                            </p:childTnLst>
                          </p:cTn>
                        </p:par>
                        <p:par>
                          <p:cTn id="108" fill="hold">
                            <p:stCondLst>
                              <p:cond delay="500"/>
                            </p:stCondLst>
                            <p:childTnLst>
                              <p:par>
                                <p:cTn id="109" presetID="22" presetClass="entr" presetSubtype="1" fill="hold" grpId="0" nodeType="afterEffect">
                                  <p:stCondLst>
                                    <p:cond delay="0"/>
                                  </p:stCondLst>
                                  <p:childTnLst>
                                    <p:set>
                                      <p:cBhvr>
                                        <p:cTn id="110" dur="1" fill="hold">
                                          <p:stCondLst>
                                            <p:cond delay="0"/>
                                          </p:stCondLst>
                                        </p:cTn>
                                        <p:tgtEl>
                                          <p:spTgt spid="35"/>
                                        </p:tgtEl>
                                        <p:attrNameLst>
                                          <p:attrName>style.visibility</p:attrName>
                                        </p:attrNameLst>
                                      </p:cBhvr>
                                      <p:to>
                                        <p:strVal val="visible"/>
                                      </p:to>
                                    </p:set>
                                    <p:animEffect transition="in" filter="wipe(up)">
                                      <p:cBhvr>
                                        <p:cTn id="111" dur="500"/>
                                        <p:tgtEl>
                                          <p:spTgt spid="35"/>
                                        </p:tgtEl>
                                      </p:cBhvr>
                                    </p:animEffect>
                                  </p:childTnLst>
                                </p:cTn>
                              </p:par>
                            </p:childTnLst>
                          </p:cTn>
                        </p:par>
                        <p:par>
                          <p:cTn id="112" fill="hold">
                            <p:stCondLst>
                              <p:cond delay="1000"/>
                            </p:stCondLst>
                            <p:childTnLst>
                              <p:par>
                                <p:cTn id="113" presetID="22" presetClass="entr" presetSubtype="1" fill="hold" grpId="0" nodeType="afterEffect">
                                  <p:stCondLst>
                                    <p:cond delay="0"/>
                                  </p:stCondLst>
                                  <p:childTnLst>
                                    <p:set>
                                      <p:cBhvr>
                                        <p:cTn id="114" dur="1" fill="hold">
                                          <p:stCondLst>
                                            <p:cond delay="0"/>
                                          </p:stCondLst>
                                        </p:cTn>
                                        <p:tgtEl>
                                          <p:spTgt spid="36"/>
                                        </p:tgtEl>
                                        <p:attrNameLst>
                                          <p:attrName>style.visibility</p:attrName>
                                        </p:attrNameLst>
                                      </p:cBhvr>
                                      <p:to>
                                        <p:strVal val="visible"/>
                                      </p:to>
                                    </p:set>
                                    <p:animEffect transition="in" filter="wipe(up)">
                                      <p:cBhvr>
                                        <p:cTn id="115" dur="500"/>
                                        <p:tgtEl>
                                          <p:spTgt spid="36"/>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1" fill="hold" grpId="0" nodeType="click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wipe(up)">
                                      <p:cBhvr>
                                        <p:cTn id="120" dur="500"/>
                                        <p:tgtEl>
                                          <p:spTgt spid="39"/>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1" fill="hold" nodeType="clickEffect">
                                  <p:stCondLst>
                                    <p:cond delay="0"/>
                                  </p:stCondLst>
                                  <p:childTnLst>
                                    <p:set>
                                      <p:cBhvr>
                                        <p:cTn id="124" dur="1" fill="hold">
                                          <p:stCondLst>
                                            <p:cond delay="0"/>
                                          </p:stCondLst>
                                        </p:cTn>
                                        <p:tgtEl>
                                          <p:spTgt spid="37"/>
                                        </p:tgtEl>
                                        <p:attrNameLst>
                                          <p:attrName>style.visibility</p:attrName>
                                        </p:attrNameLst>
                                      </p:cBhvr>
                                      <p:to>
                                        <p:strVal val="visible"/>
                                      </p:to>
                                    </p:set>
                                    <p:animEffect transition="in" filter="wipe(up)">
                                      <p:cBhvr>
                                        <p:cTn id="125" dur="500"/>
                                        <p:tgtEl>
                                          <p:spTgt spid="37"/>
                                        </p:tgtEl>
                                      </p:cBhvr>
                                    </p:animEffect>
                                  </p:childTnLst>
                                </p:cTn>
                              </p:par>
                            </p:childTnLst>
                          </p:cTn>
                        </p:par>
                        <p:par>
                          <p:cTn id="126" fill="hold">
                            <p:stCondLst>
                              <p:cond delay="500"/>
                            </p:stCondLst>
                            <p:childTnLst>
                              <p:par>
                                <p:cTn id="127" presetID="22" presetClass="entr" presetSubtype="1" fill="hold" grpId="0" nodeType="afterEffect">
                                  <p:stCondLst>
                                    <p:cond delay="0"/>
                                  </p:stCondLst>
                                  <p:childTnLst>
                                    <p:set>
                                      <p:cBhvr>
                                        <p:cTn id="128" dur="1" fill="hold">
                                          <p:stCondLst>
                                            <p:cond delay="0"/>
                                          </p:stCondLst>
                                        </p:cTn>
                                        <p:tgtEl>
                                          <p:spTgt spid="40"/>
                                        </p:tgtEl>
                                        <p:attrNameLst>
                                          <p:attrName>style.visibility</p:attrName>
                                        </p:attrNameLst>
                                      </p:cBhvr>
                                      <p:to>
                                        <p:strVal val="visible"/>
                                      </p:to>
                                    </p:set>
                                    <p:animEffect transition="in" filter="wipe(up)">
                                      <p:cBhvr>
                                        <p:cTn id="129" dur="500"/>
                                        <p:tgtEl>
                                          <p:spTgt spid="40"/>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1" fill="hold" nodeType="clickEffect">
                                  <p:stCondLst>
                                    <p:cond delay="0"/>
                                  </p:stCondLst>
                                  <p:childTnLst>
                                    <p:set>
                                      <p:cBhvr>
                                        <p:cTn id="133" dur="1" fill="hold">
                                          <p:stCondLst>
                                            <p:cond delay="0"/>
                                          </p:stCondLst>
                                        </p:cTn>
                                        <p:tgtEl>
                                          <p:spTgt spid="38"/>
                                        </p:tgtEl>
                                        <p:attrNameLst>
                                          <p:attrName>style.visibility</p:attrName>
                                        </p:attrNameLst>
                                      </p:cBhvr>
                                      <p:to>
                                        <p:strVal val="visible"/>
                                      </p:to>
                                    </p:set>
                                    <p:animEffect transition="in" filter="wipe(up)">
                                      <p:cBhvr>
                                        <p:cTn id="134" dur="500"/>
                                        <p:tgtEl>
                                          <p:spTgt spid="38"/>
                                        </p:tgtEl>
                                      </p:cBhvr>
                                    </p:animEffect>
                                  </p:childTnLst>
                                </p:cTn>
                              </p:par>
                            </p:childTnLst>
                          </p:cTn>
                        </p:par>
                        <p:par>
                          <p:cTn id="135" fill="hold">
                            <p:stCondLst>
                              <p:cond delay="500"/>
                            </p:stCondLst>
                            <p:childTnLst>
                              <p:par>
                                <p:cTn id="136" presetID="22" presetClass="entr" presetSubtype="1" fill="hold" grpId="0" nodeType="afterEffect">
                                  <p:stCondLst>
                                    <p:cond delay="0"/>
                                  </p:stCondLst>
                                  <p:childTnLst>
                                    <p:set>
                                      <p:cBhvr>
                                        <p:cTn id="137" dur="1" fill="hold">
                                          <p:stCondLst>
                                            <p:cond delay="0"/>
                                          </p:stCondLst>
                                        </p:cTn>
                                        <p:tgtEl>
                                          <p:spTgt spid="41"/>
                                        </p:tgtEl>
                                        <p:attrNameLst>
                                          <p:attrName>style.visibility</p:attrName>
                                        </p:attrNameLst>
                                      </p:cBhvr>
                                      <p:to>
                                        <p:strVal val="visible"/>
                                      </p:to>
                                    </p:set>
                                    <p:animEffect transition="in" filter="wipe(up)">
                                      <p:cBhvr>
                                        <p:cTn id="138" dur="500"/>
                                        <p:tgtEl>
                                          <p:spTgt spid="41"/>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nodeType="clickEffect">
                                  <p:stCondLst>
                                    <p:cond delay="0"/>
                                  </p:stCondLst>
                                  <p:childTnLst>
                                    <p:set>
                                      <p:cBhvr>
                                        <p:cTn id="142" dur="1" fill="hold">
                                          <p:stCondLst>
                                            <p:cond delay="0"/>
                                          </p:stCondLst>
                                        </p:cTn>
                                        <p:tgtEl>
                                          <p:spTgt spid="42"/>
                                        </p:tgtEl>
                                        <p:attrNameLst>
                                          <p:attrName>style.visibility</p:attrName>
                                        </p:attrNameLst>
                                      </p:cBhvr>
                                      <p:to>
                                        <p:strVal val="visible"/>
                                      </p:to>
                                    </p:set>
                                    <p:animEffect transition="in" filter="wipe(up)">
                                      <p:cBhvr>
                                        <p:cTn id="14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7" grpId="0" animBg="1" autoUpdateAnimBg="0"/>
      <p:bldP spid="8" grpId="0" animBg="1" autoUpdateAnimBg="0"/>
      <p:bldP spid="9" grpId="0" animBg="1" autoUpdateAnimBg="0"/>
      <p:bldP spid="10" grpId="0" animBg="1" autoUpdateAnimBg="0"/>
      <p:bldP spid="11" grpId="0" animBg="1" autoUpdateAnimBg="0"/>
      <p:bldP spid="12" grpId="0" animBg="1" autoUpdateAnimBg="0"/>
      <p:bldP spid="13" grpId="0" animBg="1" autoUpdateAnimBg="0"/>
      <p:bldP spid="14" grpId="0" animBg="1" autoUpdateAnimBg="0"/>
      <p:bldP spid="23" grpId="0" animBg="1" autoUpdateAnimBg="0"/>
      <p:bldP spid="25" grpId="0" autoUpdateAnimBg="0"/>
      <p:bldP spid="27" grpId="0" animBg="1" autoUpdateAnimBg="0"/>
      <p:bldP spid="28" grpId="0" animBg="1" autoUpdateAnimBg="0"/>
      <p:bldP spid="29" grpId="0" animBg="1" autoUpdateAnimBg="0"/>
      <p:bldP spid="33" grpId="0" animBg="1" autoUpdateAnimBg="0"/>
      <p:bldP spid="34" grpId="0" animBg="1" autoUpdateAnimBg="0"/>
      <p:bldP spid="35" grpId="0" animBg="1" autoUpdateAnimBg="0"/>
      <p:bldP spid="36" grpId="0" animBg="1" autoUpdateAnimBg="0"/>
      <p:bldP spid="39" grpId="0" animBg="1" autoUpdateAnimBg="0"/>
      <p:bldP spid="40" grpId="0" animBg="1" autoUpdateAnimBg="0"/>
      <p:bldP spid="41"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二叉排序树的查找算法 </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Rectangle 4"/>
          <p:cNvSpPr>
            <a:spLocks noChangeArrowheads="1"/>
          </p:cNvSpPr>
          <p:nvPr/>
        </p:nvSpPr>
        <p:spPr bwMode="auto">
          <a:xfrm>
            <a:off x="300566" y="1123949"/>
            <a:ext cx="11590867" cy="5343525"/>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非递归方式实现查找</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在二叉排序树中查找关键字等于</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的数据元素，若查找成功，则指针</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指向该数据</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元素结点，</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f</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指向</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的双亲，并返回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否则指针</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f</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指向查找路径上访问的最后一个结点并返回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false;</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ElemType,class</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err="1">
                <a:latin typeface="Times New Roman" panose="02020603050405020304" pitchFamily="18" charset="0"/>
                <a:cs typeface="Times New Roman" panose="02020603050405020304" pitchFamily="18" charset="0"/>
              </a:rPr>
              <a:t>bool</a:t>
            </a:r>
            <a:r>
              <a:rPr lang="en-US" altLang="zh-CN" b="0" dirty="0">
                <a:latin typeface="Times New Roman" panose="02020603050405020304" pitchFamily="18" charset="0"/>
                <a:cs typeface="Times New Roman" panose="02020603050405020304" pitchFamily="18" charset="0"/>
              </a:rPr>
              <a:t> BST&lt;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&gt;::_Search(</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 * &amp;</a:t>
            </a:r>
            <a:r>
              <a:rPr lang="en-US" altLang="zh-CN" b="0" dirty="0" err="1">
                <a:latin typeface="Times New Roman" panose="02020603050405020304" pitchFamily="18" charset="0"/>
                <a:cs typeface="Times New Roman" panose="02020603050405020304" pitchFamily="18" charset="0"/>
              </a:rPr>
              <a:t>f,BSTNode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 * &amp;p) const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 = NULL;</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p = </a:t>
            </a:r>
            <a:r>
              <a:rPr lang="en-US" altLang="zh-CN" b="0" dirty="0" err="1">
                <a:latin typeface="Times New Roman" panose="02020603050405020304" pitchFamily="18" charset="0"/>
                <a:cs typeface="Times New Roman" panose="02020603050405020304" pitchFamily="18" charset="0"/>
              </a:rPr>
              <a:t>m_root</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while (p &amp;&amp; p-&gt;data != key){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 = p;</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(key &lt; p-&gt;data)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到左子树继续查找</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p = p -&gt;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else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到右子树继续查找</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p = p-&gt;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p != NULL;</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sz="16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二叉排序树的插入</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a:spLocks noGrp="1"/>
          </p:cNvSpPr>
          <p:nvPr>
            <p:ph idx="1"/>
          </p:nvPr>
        </p:nvSpPr>
        <p:spPr>
          <a:xfrm>
            <a:off x="609599" y="965082"/>
            <a:ext cx="10888133" cy="4876800"/>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二叉排序树的插入算法</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根据动态查找表的定义，“插入”操作在查找不成功时才进行；</a:t>
            </a:r>
            <a:endParaRPr lang="en-US" altLang="zh-CN"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若二叉排序树为空树，则新插入的结点为新的根结点；否则，新插入的结点必为一个新的叶子结点，其插入位置由查找过程得到。</a:t>
            </a:r>
            <a:endParaRPr lang="zh-CN" altLang="en-US" sz="20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二叉排序树的插入算法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Rectangle 4"/>
          <p:cNvSpPr>
            <a:spLocks noChangeArrowheads="1"/>
          </p:cNvSpPr>
          <p:nvPr/>
        </p:nvSpPr>
        <p:spPr bwMode="auto">
          <a:xfrm>
            <a:off x="380999" y="965082"/>
            <a:ext cx="11319933" cy="5892918"/>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当二叉排序树</a:t>
            </a:r>
            <a:r>
              <a:rPr lang="en-US" altLang="zh-CN" b="0" dirty="0" err="1">
                <a:latin typeface="微软雅黑" panose="020B0503020204020204" pitchFamily="34" charset="-122"/>
                <a:ea typeface="微软雅黑" panose="020B0503020204020204" pitchFamily="34" charset="-122"/>
                <a:cs typeface="微软雅黑" panose="020B0503020204020204" pitchFamily="34" charset="-122"/>
              </a:rPr>
              <a:t>m_root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中不存在关键字等于</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的数据元素时，插入</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并返回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否则返回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false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ElemType,class</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bool BST&lt;</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&gt;::Insert(const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&amp; 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const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 &amp; key)</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*p,*s, *f;</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(!_Search(</a:t>
            </a:r>
            <a:r>
              <a:rPr lang="en-US" altLang="zh-CN" b="0" dirty="0" err="1">
                <a:latin typeface="Times New Roman" panose="02020603050405020304" pitchFamily="18" charset="0"/>
                <a:cs typeface="Times New Roman" panose="02020603050405020304" pitchFamily="18" charset="0"/>
              </a:rPr>
              <a:t>key,f,p</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查找不成功</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f</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是查找路径上的最后结点</a:t>
            </a:r>
            <a:endParaRPr lang="zh-CN" altLang="en-US"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s = new </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s-&gt;data = 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s-&gt;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s-&gt;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 NULL;</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(!f)</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m_root</a:t>
            </a:r>
            <a:r>
              <a:rPr lang="en-US" altLang="zh-CN" b="0" dirty="0">
                <a:latin typeface="Times New Roman" panose="02020603050405020304" pitchFamily="18" charset="0"/>
                <a:cs typeface="Times New Roman" panose="02020603050405020304" pitchFamily="18" charset="0"/>
              </a:rPr>
              <a:t> = s;	</a:t>
            </a:r>
            <a:r>
              <a:rPr lang="en-US" altLang="zh-CN"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被插结点</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s</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为新的根结点</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else if (e &lt; f-&gt;data)</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s;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被插结点</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s</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为左孩子</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else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 s;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被插结点</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s</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为右孩子</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return true;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false;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树中已有关键字相同的结点，不再插入</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二叉排序树的删除算法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a:spLocks noGrp="1"/>
          </p:cNvSpPr>
          <p:nvPr>
            <p:ph idx="1"/>
          </p:nvPr>
        </p:nvSpPr>
        <p:spPr>
          <a:xfrm>
            <a:off x="601132" y="965082"/>
            <a:ext cx="10930467" cy="5486400"/>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二叉排序树的删除算法</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和插入相反，删除在查找成功之后进行，并且要求在删除二叉排序树上某个结点之后，仍然保持二叉排序树的特性。</a:t>
            </a:r>
            <a:endParaRPr lang="en-US" altLang="zh-CN" sz="2000" dirty="0">
              <a:latin typeface="微软雅黑" panose="020B0503020204020204" pitchFamily="34" charset="-122"/>
              <a:ea typeface="微软雅黑" panose="020B0503020204020204" pitchFamily="34" charset="-122"/>
            </a:endParaRPr>
          </a:p>
          <a:p>
            <a:pPr marL="1257300" lvl="2" indent="-457200">
              <a:lnSpc>
                <a:spcPct val="125000"/>
              </a:lnSpc>
              <a:buFont typeface="Times New Roman" panose="02020603050405020304" pitchFamily="18" charset="0"/>
              <a:buAutoNum type="arabicPeriod"/>
            </a:pPr>
            <a:r>
              <a:rPr lang="zh-CN" altLang="en-US" sz="1800" dirty="0">
                <a:latin typeface="微软雅黑" panose="020B0503020204020204" pitchFamily="34" charset="-122"/>
                <a:ea typeface="微软雅黑" panose="020B0503020204020204" pitchFamily="34" charset="-122"/>
              </a:rPr>
              <a:t>被删除的结点是叶子；其双亲结点中相应指针域的值改为“空”。</a:t>
            </a:r>
            <a:endParaRPr lang="zh-CN" altLang="en-US" sz="1800" dirty="0">
              <a:latin typeface="微软雅黑" panose="020B0503020204020204" pitchFamily="34" charset="-122"/>
              <a:ea typeface="微软雅黑" panose="020B0503020204020204" pitchFamily="34" charset="-122"/>
            </a:endParaRPr>
          </a:p>
          <a:p>
            <a:pPr marL="1257300" lvl="2" indent="-457200">
              <a:lnSpc>
                <a:spcPct val="125000"/>
              </a:lnSpc>
              <a:buFont typeface="Times New Roman" panose="02020603050405020304" pitchFamily="18" charset="0"/>
              <a:buAutoNum type="arabicPeriod"/>
            </a:pPr>
            <a:r>
              <a:rPr lang="zh-CN" altLang="en-US" sz="1800" dirty="0">
                <a:latin typeface="微软雅黑" panose="020B0503020204020204" pitchFamily="34" charset="-122"/>
                <a:ea typeface="微软雅黑" panose="020B0503020204020204" pitchFamily="34" charset="-122"/>
              </a:rPr>
              <a:t>被删除的结点只有左子树或者只有右子树；其双亲结点的相应指针域（被删除结点所在的指针链）的值改为指向被删除结点的左子树或右子树。</a:t>
            </a:r>
            <a:endParaRPr lang="zh-CN" altLang="en-US" sz="1800" dirty="0">
              <a:latin typeface="微软雅黑" panose="020B0503020204020204" pitchFamily="34" charset="-122"/>
              <a:ea typeface="微软雅黑" panose="020B0503020204020204" pitchFamily="34" charset="-122"/>
            </a:endParaRPr>
          </a:p>
          <a:p>
            <a:pPr marL="1257300" lvl="2" indent="-457200">
              <a:lnSpc>
                <a:spcPct val="125000"/>
              </a:lnSpc>
              <a:buFont typeface="Times New Roman" panose="02020603050405020304" pitchFamily="18" charset="0"/>
              <a:buAutoNum type="arabicPeriod"/>
            </a:pPr>
            <a:r>
              <a:rPr lang="zh-CN" altLang="en-US" sz="1800" dirty="0">
                <a:latin typeface="微软雅黑" panose="020B0503020204020204" pitchFamily="34" charset="-122"/>
                <a:ea typeface="微软雅黑" panose="020B0503020204020204" pitchFamily="34" charset="-122"/>
              </a:rPr>
              <a:t>被删除的结点</a:t>
            </a:r>
            <a:r>
              <a:rPr lang="en-US" altLang="zh-CN" sz="1800" dirty="0">
                <a:latin typeface="微软雅黑" panose="020B0503020204020204" pitchFamily="34" charset="-122"/>
                <a:ea typeface="微软雅黑" panose="020B0503020204020204" pitchFamily="34" charset="-122"/>
              </a:rPr>
              <a:t>p</a:t>
            </a:r>
            <a:r>
              <a:rPr lang="zh-CN" altLang="en-US" sz="1800" dirty="0">
                <a:latin typeface="微软雅黑" panose="020B0503020204020204" pitchFamily="34" charset="-122"/>
                <a:ea typeface="微软雅黑" panose="020B0503020204020204" pitchFamily="34" charset="-122"/>
              </a:rPr>
              <a:t>既有左子树，也有右子树。将</a:t>
            </a:r>
            <a:r>
              <a:rPr lang="en-US" altLang="zh-CN" sz="1800" dirty="0">
                <a:latin typeface="微软雅黑" panose="020B0503020204020204" pitchFamily="34" charset="-122"/>
                <a:ea typeface="微软雅黑" panose="020B0503020204020204" pitchFamily="34" charset="-122"/>
              </a:rPr>
              <a:t>p</a:t>
            </a:r>
            <a:r>
              <a:rPr lang="zh-CN" altLang="en-US" sz="1800" dirty="0">
                <a:latin typeface="微软雅黑" panose="020B0503020204020204" pitchFamily="34" charset="-122"/>
                <a:ea typeface="微软雅黑" panose="020B0503020204020204" pitchFamily="34" charset="-122"/>
              </a:rPr>
              <a:t>的中序遍历</a:t>
            </a:r>
            <a:r>
              <a:rPr lang="zh-CN" altLang="en-US" sz="1800" b="1" dirty="0">
                <a:latin typeface="微软雅黑" panose="020B0503020204020204" pitchFamily="34" charset="-122"/>
                <a:ea typeface="微软雅黑" panose="020B0503020204020204" pitchFamily="34" charset="-122"/>
              </a:rPr>
              <a:t>直接前驱</a:t>
            </a:r>
            <a:r>
              <a:rPr lang="zh-CN" altLang="en-US" sz="1800" dirty="0">
                <a:latin typeface="微软雅黑" panose="020B0503020204020204" pitchFamily="34" charset="-122"/>
                <a:ea typeface="微软雅黑" panose="020B0503020204020204" pitchFamily="34" charset="-122"/>
              </a:rPr>
              <a:t>替代</a:t>
            </a:r>
            <a:r>
              <a:rPr lang="en-US" altLang="zh-CN" sz="1800" dirty="0">
                <a:latin typeface="微软雅黑" panose="020B0503020204020204" pitchFamily="34" charset="-122"/>
                <a:ea typeface="微软雅黑" panose="020B0503020204020204" pitchFamily="34" charset="-122"/>
              </a:rPr>
              <a:t>p</a:t>
            </a:r>
            <a:r>
              <a:rPr lang="zh-CN" altLang="en-US" sz="1800" dirty="0">
                <a:latin typeface="微软雅黑" panose="020B0503020204020204" pitchFamily="34" charset="-122"/>
                <a:ea typeface="微软雅黑" panose="020B0503020204020204" pitchFamily="34" charset="-122"/>
              </a:rPr>
              <a:t>结点，再删除</a:t>
            </a:r>
            <a:r>
              <a:rPr lang="en-US" altLang="zh-CN" sz="1800" dirty="0">
                <a:latin typeface="微软雅黑" panose="020B0503020204020204" pitchFamily="34" charset="-122"/>
                <a:ea typeface="微软雅黑" panose="020B0503020204020204" pitchFamily="34" charset="-122"/>
              </a:rPr>
              <a:t>p</a:t>
            </a:r>
            <a:r>
              <a:rPr lang="zh-CN" altLang="en-US" sz="1800" dirty="0">
                <a:latin typeface="微软雅黑" panose="020B0503020204020204" pitchFamily="34" charset="-122"/>
                <a:ea typeface="微软雅黑" panose="020B0503020204020204" pitchFamily="34" charset="-122"/>
              </a:rPr>
              <a:t>的直接前驱结点。（</a:t>
            </a:r>
            <a:r>
              <a:rPr lang="zh-CN" altLang="en-US" sz="1800" b="1" dirty="0">
                <a:latin typeface="微软雅黑" panose="020B0503020204020204" pitchFamily="34" charset="-122"/>
                <a:ea typeface="微软雅黑" panose="020B0503020204020204" pitchFamily="34" charset="-122"/>
              </a:rPr>
              <a:t>中序遍历序列中，</a:t>
            </a:r>
            <a:r>
              <a:rPr lang="en-US" altLang="zh-CN" sz="1800" b="1" dirty="0">
                <a:latin typeface="微软雅黑" panose="020B0503020204020204" pitchFamily="34" charset="-122"/>
                <a:ea typeface="微软雅黑" panose="020B0503020204020204" pitchFamily="34" charset="-122"/>
              </a:rPr>
              <a:t>p</a:t>
            </a:r>
            <a:r>
              <a:rPr lang="zh-CN" altLang="en-US" sz="1800" b="1" dirty="0">
                <a:latin typeface="微软雅黑" panose="020B0503020204020204" pitchFamily="34" charset="-122"/>
                <a:ea typeface="微软雅黑" panose="020B0503020204020204" pitchFamily="34" charset="-122"/>
              </a:rPr>
              <a:t>的直接前驱是它左子树根结点</a:t>
            </a:r>
            <a:r>
              <a:rPr lang="en-US" altLang="zh-CN" sz="1800" b="1" dirty="0">
                <a:latin typeface="微软雅黑" panose="020B0503020204020204" pitchFamily="34" charset="-122"/>
                <a:ea typeface="微软雅黑" panose="020B0503020204020204" pitchFamily="34" charset="-122"/>
              </a:rPr>
              <a:t>C</a:t>
            </a:r>
            <a:r>
              <a:rPr lang="zh-CN" altLang="en-US" sz="1800" b="1" dirty="0">
                <a:latin typeface="微软雅黑" panose="020B0503020204020204" pitchFamily="34" charset="-122"/>
                <a:ea typeface="微软雅黑" panose="020B0503020204020204" pitchFamily="34" charset="-122"/>
              </a:rPr>
              <a:t>的右子树中最右端的结点</a:t>
            </a:r>
            <a:r>
              <a:rPr lang="en-US" altLang="zh-CN" sz="1800" b="1" dirty="0">
                <a:latin typeface="微软雅黑" panose="020B0503020204020204" pitchFamily="34" charset="-122"/>
                <a:ea typeface="微软雅黑" panose="020B0503020204020204" pitchFamily="34" charset="-122"/>
              </a:rPr>
              <a:t>S</a:t>
            </a:r>
            <a:r>
              <a:rPr lang="zh-CN" altLang="en-US" sz="1800" b="1" dirty="0">
                <a:latin typeface="微软雅黑" panose="020B0503020204020204" pitchFamily="34" charset="-122"/>
                <a:ea typeface="微软雅黑" panose="020B0503020204020204" pitchFamily="34" charset="-122"/>
              </a:rPr>
              <a:t>，若</a:t>
            </a:r>
            <a:r>
              <a:rPr lang="en-US" altLang="zh-CN" sz="1800" b="1" dirty="0">
                <a:latin typeface="微软雅黑" panose="020B0503020204020204" pitchFamily="34" charset="-122"/>
                <a:ea typeface="微软雅黑" panose="020B0503020204020204" pitchFamily="34" charset="-122"/>
              </a:rPr>
              <a:t>S</a:t>
            </a:r>
            <a:r>
              <a:rPr lang="zh-CN" altLang="en-US" sz="1800" b="1" dirty="0">
                <a:latin typeface="微软雅黑" panose="020B0503020204020204" pitchFamily="34" charset="-122"/>
                <a:ea typeface="微软雅黑" panose="020B0503020204020204" pitchFamily="34" charset="-122"/>
              </a:rPr>
              <a:t>有左子树</a:t>
            </a:r>
            <a:r>
              <a:rPr lang="en-US" altLang="zh-CN" sz="1800" b="1" dirty="0">
                <a:latin typeface="微软雅黑" panose="020B0503020204020204" pitchFamily="34" charset="-122"/>
                <a:ea typeface="微软雅黑" panose="020B0503020204020204" pitchFamily="34" charset="-122"/>
              </a:rPr>
              <a:t>S</a:t>
            </a:r>
            <a:r>
              <a:rPr lang="en-US" altLang="zh-CN" sz="1800" b="1" baseline="-25000" dirty="0">
                <a:latin typeface="微软雅黑" panose="020B0503020204020204" pitchFamily="34" charset="-122"/>
                <a:ea typeface="微软雅黑" panose="020B0503020204020204" pitchFamily="34" charset="-122"/>
              </a:rPr>
              <a:t>L</a:t>
            </a:r>
            <a:r>
              <a:rPr lang="zh-CN" altLang="en-US" sz="1800" b="1" dirty="0">
                <a:latin typeface="微软雅黑" panose="020B0503020204020204" pitchFamily="34" charset="-122"/>
                <a:ea typeface="微软雅黑" panose="020B0503020204020204" pitchFamily="34" charset="-122"/>
              </a:rPr>
              <a:t>，则令</a:t>
            </a:r>
            <a:r>
              <a:rPr lang="en-US" altLang="zh-CN" sz="1800" b="1" dirty="0">
                <a:latin typeface="微软雅黑" panose="020B0503020204020204" pitchFamily="34" charset="-122"/>
                <a:ea typeface="微软雅黑" panose="020B0503020204020204" pitchFamily="34" charset="-122"/>
              </a:rPr>
              <a:t>S</a:t>
            </a:r>
            <a:r>
              <a:rPr lang="en-US" altLang="zh-CN" sz="1800" b="1" baseline="-25000" dirty="0">
                <a:latin typeface="微软雅黑" panose="020B0503020204020204" pitchFamily="34" charset="-122"/>
                <a:ea typeface="微软雅黑" panose="020B0503020204020204" pitchFamily="34" charset="-122"/>
              </a:rPr>
              <a:t>L</a:t>
            </a:r>
            <a:r>
              <a:rPr lang="zh-CN" altLang="en-US" sz="1800" b="1" dirty="0">
                <a:latin typeface="微软雅黑" panose="020B0503020204020204" pitchFamily="34" charset="-122"/>
                <a:ea typeface="微软雅黑" panose="020B0503020204020204" pitchFamily="34" charset="-122"/>
              </a:rPr>
              <a:t>为</a:t>
            </a:r>
            <a:r>
              <a:rPr lang="en-US" altLang="zh-CN" sz="1800" b="1" dirty="0">
                <a:latin typeface="微软雅黑" panose="020B0503020204020204" pitchFamily="34" charset="-122"/>
                <a:ea typeface="微软雅黑" panose="020B0503020204020204" pitchFamily="34" charset="-122"/>
              </a:rPr>
              <a:t>S</a:t>
            </a:r>
            <a:r>
              <a:rPr lang="zh-CN" altLang="en-US" sz="1800" b="1" dirty="0">
                <a:latin typeface="微软雅黑" panose="020B0503020204020204" pitchFamily="34" charset="-122"/>
                <a:ea typeface="微软雅黑" panose="020B0503020204020204" pitchFamily="34" charset="-122"/>
              </a:rPr>
              <a:t>双亲的右子树即可。</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二叉排序树的删除算法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5" name="组合 42"/>
          <p:cNvGrpSpPr/>
          <p:nvPr/>
        </p:nvGrpSpPr>
        <p:grpSpPr bwMode="auto">
          <a:xfrm>
            <a:off x="2252133" y="1134534"/>
            <a:ext cx="6936563" cy="2807230"/>
            <a:chOff x="1524000" y="1219200"/>
            <a:chExt cx="5380038" cy="2671763"/>
          </a:xfrm>
        </p:grpSpPr>
        <p:grpSp>
          <p:nvGrpSpPr>
            <p:cNvPr id="6" name="Group 60"/>
            <p:cNvGrpSpPr/>
            <p:nvPr/>
          </p:nvGrpSpPr>
          <p:grpSpPr bwMode="auto">
            <a:xfrm>
              <a:off x="1524000" y="1219200"/>
              <a:ext cx="5380038" cy="2671763"/>
              <a:chOff x="861" y="2823"/>
              <a:chExt cx="3389" cy="1683"/>
            </a:xfrm>
          </p:grpSpPr>
          <p:grpSp>
            <p:nvGrpSpPr>
              <p:cNvPr id="9" name="Group 61"/>
              <p:cNvGrpSpPr/>
              <p:nvPr/>
            </p:nvGrpSpPr>
            <p:grpSpPr bwMode="auto">
              <a:xfrm>
                <a:off x="861" y="2823"/>
                <a:ext cx="3389" cy="1340"/>
                <a:chOff x="-50" y="2856"/>
                <a:chExt cx="3389" cy="1340"/>
              </a:xfrm>
            </p:grpSpPr>
            <p:grpSp>
              <p:nvGrpSpPr>
                <p:cNvPr id="11" name="Group 62"/>
                <p:cNvGrpSpPr/>
                <p:nvPr/>
              </p:nvGrpSpPr>
              <p:grpSpPr bwMode="auto">
                <a:xfrm>
                  <a:off x="600" y="2856"/>
                  <a:ext cx="586" cy="666"/>
                  <a:chOff x="1022" y="3000"/>
                  <a:chExt cx="586" cy="666"/>
                </a:xfrm>
              </p:grpSpPr>
              <p:sp>
                <p:nvSpPr>
                  <p:cNvPr id="20" name="Oval 63"/>
                  <p:cNvSpPr>
                    <a:spLocks noChangeArrowheads="1"/>
                  </p:cNvSpPr>
                  <p:nvPr/>
                </p:nvSpPr>
                <p:spPr bwMode="auto">
                  <a:xfrm>
                    <a:off x="1256" y="3000"/>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dirty="0">
                        <a:latin typeface="Consolas" panose="020B0609020204030204" pitchFamily="49" charset="0"/>
                      </a:rPr>
                      <a:t>S</a:t>
                    </a:r>
                    <a:endParaRPr lang="en-US" altLang="zh-CN" sz="1800" dirty="0">
                      <a:latin typeface="Consolas" panose="020B0609020204030204" pitchFamily="49" charset="0"/>
                    </a:endParaRPr>
                  </a:p>
                </p:txBody>
              </p:sp>
              <p:sp>
                <p:nvSpPr>
                  <p:cNvPr id="21" name="Oval 64"/>
                  <p:cNvSpPr>
                    <a:spLocks noChangeArrowheads="1"/>
                  </p:cNvSpPr>
                  <p:nvPr/>
                </p:nvSpPr>
                <p:spPr bwMode="auto">
                  <a:xfrm>
                    <a:off x="1074" y="3296"/>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FF3300"/>
                        </a:solidFill>
                        <a:latin typeface="Consolas" panose="020B0609020204030204" pitchFamily="49" charset="0"/>
                      </a:rPr>
                      <a:t>P</a:t>
                    </a:r>
                    <a:endParaRPr lang="en-US" altLang="zh-CN" sz="1800">
                      <a:solidFill>
                        <a:srgbClr val="FFFFFF"/>
                      </a:solidFill>
                      <a:latin typeface="Consolas" panose="020B0609020204030204" pitchFamily="49" charset="0"/>
                    </a:endParaRPr>
                  </a:p>
                </p:txBody>
              </p:sp>
              <p:sp>
                <p:nvSpPr>
                  <p:cNvPr id="22" name="Oval 66"/>
                  <p:cNvSpPr>
                    <a:spLocks noChangeArrowheads="1"/>
                  </p:cNvSpPr>
                  <p:nvPr/>
                </p:nvSpPr>
                <p:spPr bwMode="auto">
                  <a:xfrm>
                    <a:off x="1408" y="3296"/>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23" name="Line 67"/>
                  <p:cNvSpPr>
                    <a:spLocks noChangeShapeType="1"/>
                  </p:cNvSpPr>
                  <p:nvPr/>
                </p:nvSpPr>
                <p:spPr bwMode="auto">
                  <a:xfrm flipH="1">
                    <a:off x="1222" y="3189"/>
                    <a:ext cx="78"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68"/>
                  <p:cNvSpPr>
                    <a:spLocks noChangeShapeType="1"/>
                  </p:cNvSpPr>
                  <p:nvPr/>
                </p:nvSpPr>
                <p:spPr bwMode="auto">
                  <a:xfrm flipH="1">
                    <a:off x="1022" y="3477"/>
                    <a:ext cx="100" cy="1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69"/>
                  <p:cNvSpPr>
                    <a:spLocks noChangeShapeType="1"/>
                  </p:cNvSpPr>
                  <p:nvPr/>
                </p:nvSpPr>
                <p:spPr bwMode="auto">
                  <a:xfrm>
                    <a:off x="1400" y="3189"/>
                    <a:ext cx="67"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 name="Text Box 70"/>
                <p:cNvSpPr txBox="1">
                  <a:spLocks noChangeArrowheads="1"/>
                </p:cNvSpPr>
                <p:nvPr/>
              </p:nvSpPr>
              <p:spPr bwMode="auto">
                <a:xfrm>
                  <a:off x="-50" y="3919"/>
                  <a:ext cx="1643" cy="277"/>
                </a:xfrm>
                <a:prstGeom prst="rect">
                  <a:avLst/>
                </a:prstGeom>
                <a:noFill/>
                <a:ln w="9525">
                  <a:noFill/>
                  <a:miter lim="800000"/>
                </a:ln>
                <a:effectLst/>
              </p:spPr>
              <p:txBody>
                <a:bodyPr wrap="none" anchor="ctr">
                  <a:spAutoFit/>
                </a:bodyPr>
                <a:lstStyle/>
                <a:p>
                  <a:pPr eaLnBrk="1" hangingPunct="1">
                    <a:defRPr/>
                  </a:pPr>
                  <a:r>
                    <a:rPr lang="zh-CN" altLang="en-US" sz="2400" dirty="0">
                      <a:solidFill>
                        <a:schemeClr val="tx1"/>
                      </a:solidFill>
                      <a:latin typeface="微软雅黑" panose="020B0503020204020204" pitchFamily="34" charset="-122"/>
                      <a:ea typeface="微软雅黑" panose="020B0503020204020204" pitchFamily="34" charset="-122"/>
                    </a:rPr>
                    <a:t>中序遍历：</a:t>
                  </a:r>
                  <a:r>
                    <a:rPr lang="en-US" altLang="zh-CN" sz="2400" dirty="0">
                      <a:solidFill>
                        <a:schemeClr val="tx1"/>
                      </a:solidFill>
                      <a:latin typeface="微软雅黑" panose="020B0503020204020204" pitchFamily="34" charset="-122"/>
                      <a:ea typeface="微软雅黑" panose="020B0503020204020204" pitchFamily="34" charset="-122"/>
                    </a:rPr>
                    <a:t>P</a:t>
                  </a:r>
                  <a:r>
                    <a:rPr lang="en-US" altLang="zh-CN" sz="2400" baseline="-25000" dirty="0">
                      <a:solidFill>
                        <a:schemeClr val="tx1"/>
                      </a:solidFill>
                      <a:latin typeface="微软雅黑" panose="020B0503020204020204" pitchFamily="34" charset="-122"/>
                      <a:ea typeface="微软雅黑" panose="020B0503020204020204" pitchFamily="34" charset="-122"/>
                    </a:rPr>
                    <a:t>L</a:t>
                  </a:r>
                  <a:r>
                    <a:rPr lang="en-US" altLang="zh-CN" sz="2400" dirty="0">
                      <a:solidFill>
                        <a:schemeClr val="tx1"/>
                      </a:solidFill>
                      <a:latin typeface="微软雅黑" panose="020B0503020204020204" pitchFamily="34" charset="-122"/>
                      <a:ea typeface="微软雅黑" panose="020B0503020204020204" pitchFamily="34" charset="-122"/>
                    </a:rPr>
                    <a:t>  P  S  Q  </a:t>
                  </a:r>
                  <a:endParaRPr lang="en-US" altLang="zh-CN" dirty="0">
                    <a:latin typeface="微软雅黑" panose="020B0503020204020204" pitchFamily="34" charset="-122"/>
                    <a:ea typeface="微软雅黑" panose="020B0503020204020204" pitchFamily="34" charset="-122"/>
                  </a:endParaRPr>
                </a:p>
              </p:txBody>
            </p:sp>
            <p:grpSp>
              <p:nvGrpSpPr>
                <p:cNvPr id="13" name="Group 71"/>
                <p:cNvGrpSpPr/>
                <p:nvPr/>
              </p:nvGrpSpPr>
              <p:grpSpPr bwMode="auto">
                <a:xfrm>
                  <a:off x="2329" y="2886"/>
                  <a:ext cx="386" cy="496"/>
                  <a:chOff x="1862" y="2852"/>
                  <a:chExt cx="386" cy="496"/>
                </a:xfrm>
              </p:grpSpPr>
              <p:sp>
                <p:nvSpPr>
                  <p:cNvPr id="16" name="Oval 72"/>
                  <p:cNvSpPr>
                    <a:spLocks noChangeArrowheads="1"/>
                  </p:cNvSpPr>
                  <p:nvPr/>
                </p:nvSpPr>
                <p:spPr bwMode="auto">
                  <a:xfrm>
                    <a:off x="1896" y="2852"/>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S</a:t>
                    </a:r>
                    <a:endParaRPr lang="en-US" altLang="zh-CN" sz="1800">
                      <a:latin typeface="Consolas" panose="020B0609020204030204" pitchFamily="49" charset="0"/>
                    </a:endParaRPr>
                  </a:p>
                </p:txBody>
              </p:sp>
              <p:sp>
                <p:nvSpPr>
                  <p:cNvPr id="17" name="Oval 74"/>
                  <p:cNvSpPr>
                    <a:spLocks noChangeArrowheads="1"/>
                  </p:cNvSpPr>
                  <p:nvPr/>
                </p:nvSpPr>
                <p:spPr bwMode="auto">
                  <a:xfrm>
                    <a:off x="2048" y="3148"/>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18" name="Line 75"/>
                  <p:cNvSpPr>
                    <a:spLocks noChangeShapeType="1"/>
                  </p:cNvSpPr>
                  <p:nvPr/>
                </p:nvSpPr>
                <p:spPr bwMode="auto">
                  <a:xfrm flipH="1">
                    <a:off x="1862" y="3041"/>
                    <a:ext cx="78"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76"/>
                  <p:cNvSpPr>
                    <a:spLocks noChangeShapeType="1"/>
                  </p:cNvSpPr>
                  <p:nvPr/>
                </p:nvSpPr>
                <p:spPr bwMode="auto">
                  <a:xfrm>
                    <a:off x="2040" y="3041"/>
                    <a:ext cx="67"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 name="Text Box 77"/>
                <p:cNvSpPr txBox="1">
                  <a:spLocks noChangeArrowheads="1"/>
                </p:cNvSpPr>
                <p:nvPr/>
              </p:nvSpPr>
              <p:spPr bwMode="auto">
                <a:xfrm>
                  <a:off x="1966" y="3919"/>
                  <a:ext cx="1373" cy="277"/>
                </a:xfrm>
                <a:prstGeom prst="rect">
                  <a:avLst/>
                </a:prstGeom>
                <a:noFill/>
                <a:ln w="9525">
                  <a:noFill/>
                  <a:miter lim="800000"/>
                </a:ln>
                <a:effectLst/>
              </p:spPr>
              <p:txBody>
                <a:bodyPr wrap="none" anchor="ctr">
                  <a:spAutoFit/>
                </a:bodyPr>
                <a:lstStyle/>
                <a:p>
                  <a:pPr eaLnBrk="1" hangingPunct="1">
                    <a:defRPr/>
                  </a:pPr>
                  <a:r>
                    <a:rPr lang="zh-CN" altLang="en-US" sz="2400" dirty="0">
                      <a:solidFill>
                        <a:schemeClr val="tx1"/>
                      </a:solidFill>
                      <a:latin typeface="微软雅黑" panose="020B0503020204020204" pitchFamily="34" charset="-122"/>
                      <a:ea typeface="微软雅黑" panose="020B0503020204020204" pitchFamily="34" charset="-122"/>
                    </a:rPr>
                    <a:t>中序遍历：</a:t>
                  </a:r>
                  <a:r>
                    <a:rPr lang="en-US" altLang="zh-CN" sz="2400" dirty="0">
                      <a:solidFill>
                        <a:schemeClr val="tx1"/>
                      </a:solidFill>
                      <a:latin typeface="微软雅黑" panose="020B0503020204020204" pitchFamily="34" charset="-122"/>
                      <a:ea typeface="微软雅黑" panose="020B0503020204020204" pitchFamily="34" charset="-122"/>
                    </a:rPr>
                    <a:t>P</a:t>
                  </a:r>
                  <a:r>
                    <a:rPr lang="en-US" altLang="zh-CN" sz="2400" baseline="-25000" dirty="0">
                      <a:solidFill>
                        <a:schemeClr val="tx1"/>
                      </a:solidFill>
                      <a:latin typeface="微软雅黑" panose="020B0503020204020204" pitchFamily="34" charset="-122"/>
                      <a:ea typeface="微软雅黑" panose="020B0503020204020204" pitchFamily="34" charset="-122"/>
                    </a:rPr>
                    <a:t>L</a:t>
                  </a:r>
                  <a:r>
                    <a:rPr lang="en-US" altLang="zh-CN" sz="2400" dirty="0">
                      <a:solidFill>
                        <a:schemeClr val="tx1"/>
                      </a:solidFill>
                      <a:latin typeface="微软雅黑" panose="020B0503020204020204" pitchFamily="34" charset="-122"/>
                      <a:ea typeface="微软雅黑" panose="020B0503020204020204" pitchFamily="34" charset="-122"/>
                    </a:rPr>
                    <a:t>  S  Q</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15" name="AutoShape 78"/>
                <p:cNvSpPr>
                  <a:spLocks noChangeArrowheads="1"/>
                </p:cNvSpPr>
                <p:nvPr/>
              </p:nvSpPr>
              <p:spPr bwMode="auto">
                <a:xfrm>
                  <a:off x="1411" y="3244"/>
                  <a:ext cx="523" cy="167"/>
                </a:xfrm>
                <a:prstGeom prst="rightArrow">
                  <a:avLst>
                    <a:gd name="adj1" fmla="val 50000"/>
                    <a:gd name="adj2" fmla="val 78293"/>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grpSp>
          <p:sp>
            <p:nvSpPr>
              <p:cNvPr id="10" name="Text Box 79"/>
              <p:cNvSpPr txBox="1">
                <a:spLocks noChangeArrowheads="1"/>
              </p:cNvSpPr>
              <p:nvPr/>
            </p:nvSpPr>
            <p:spPr bwMode="auto">
              <a:xfrm>
                <a:off x="2349" y="4215"/>
                <a:ext cx="343" cy="291"/>
              </a:xfrm>
              <a:prstGeom prst="rect">
                <a:avLst/>
              </a:prstGeom>
              <a:noFill/>
              <a:ln w="9525">
                <a:noFill/>
                <a:miter lim="800000"/>
              </a:ln>
              <a:effectLst/>
            </p:spPr>
            <p:txBody>
              <a:bodyPr wrap="none" anchor="ctr">
                <a:spAutoFit/>
              </a:bodyPr>
              <a:lstStyle/>
              <a:p>
                <a:pPr algn="ctr" eaLnBrk="1" hangingPunct="1">
                  <a:defRPr/>
                </a:pPr>
                <a:r>
                  <a:rPr lang="en-US" altLang="zh-CN" sz="2400" dirty="0">
                    <a:solidFill>
                      <a:schemeClr val="tx1"/>
                    </a:solidFill>
                    <a:latin typeface="+mn-lt"/>
                    <a:ea typeface="+mn-ea"/>
                  </a:rPr>
                  <a:t>(1)</a:t>
                </a:r>
                <a:endParaRPr lang="en-US" altLang="zh-CN" sz="2400" dirty="0">
                  <a:solidFill>
                    <a:schemeClr val="tx1"/>
                  </a:solidFill>
                  <a:latin typeface="+mn-lt"/>
                  <a:ea typeface="+mn-ea"/>
                </a:endParaRPr>
              </a:p>
            </p:txBody>
          </p:sp>
        </p:grpSp>
        <p:sp>
          <p:nvSpPr>
            <p:cNvPr id="7" name="矩形 6"/>
            <p:cNvSpPr/>
            <p:nvPr/>
          </p:nvSpPr>
          <p:spPr bwMode="auto">
            <a:xfrm>
              <a:off x="2286000" y="22860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accent1"/>
                  </a:solidFill>
                </a:rPr>
                <a:t>P</a:t>
              </a:r>
              <a:r>
                <a:rPr lang="en-US" altLang="zh-CN" baseline="-25000" dirty="0">
                  <a:solidFill>
                    <a:schemeClr val="accent1"/>
                  </a:solidFill>
                </a:rPr>
                <a:t>L</a:t>
              </a:r>
              <a:endParaRPr lang="en-US" altLang="zh-CN" baseline="-25000" dirty="0">
                <a:solidFill>
                  <a:schemeClr val="accent1"/>
                </a:solidFill>
              </a:endParaRPr>
            </a:p>
            <a:p>
              <a:pPr algn="ctr" eaLnBrk="1" hangingPunct="1">
                <a:defRPr/>
              </a:pPr>
              <a:endParaRPr lang="zh-CN" altLang="en-US" dirty="0">
                <a:solidFill>
                  <a:schemeClr val="tx2">
                    <a:lumMod val="60000"/>
                    <a:lumOff val="40000"/>
                  </a:schemeClr>
                </a:solidFill>
              </a:endParaRPr>
            </a:p>
          </p:txBody>
        </p:sp>
        <p:sp>
          <p:nvSpPr>
            <p:cNvPr id="8" name="矩形 7"/>
            <p:cNvSpPr/>
            <p:nvPr/>
          </p:nvSpPr>
          <p:spPr bwMode="auto">
            <a:xfrm>
              <a:off x="5029200" y="17526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accent1"/>
                  </a:solidFill>
                </a:rPr>
                <a:t>P</a:t>
              </a:r>
              <a:r>
                <a:rPr lang="en-US" altLang="zh-CN" baseline="-25000" dirty="0">
                  <a:solidFill>
                    <a:schemeClr val="accent1"/>
                  </a:solidFill>
                </a:rPr>
                <a:t>L</a:t>
              </a:r>
              <a:endParaRPr lang="en-US" altLang="zh-CN" baseline="-25000" dirty="0">
                <a:solidFill>
                  <a:schemeClr val="accent1"/>
                </a:solidFill>
              </a:endParaRPr>
            </a:p>
            <a:p>
              <a:pPr algn="ctr" eaLnBrk="1" hangingPunct="1">
                <a:defRPr/>
              </a:pPr>
              <a:endParaRPr lang="zh-CN" altLang="en-US" dirty="0">
                <a:solidFill>
                  <a:schemeClr val="tx2">
                    <a:lumMod val="60000"/>
                    <a:lumOff val="40000"/>
                  </a:schemeClr>
                </a:solidFill>
              </a:endParaRPr>
            </a:p>
          </p:txBody>
        </p:sp>
      </p:grpSp>
      <p:grpSp>
        <p:nvGrpSpPr>
          <p:cNvPr id="26" name="组合 47"/>
          <p:cNvGrpSpPr/>
          <p:nvPr/>
        </p:nvGrpSpPr>
        <p:grpSpPr bwMode="auto">
          <a:xfrm>
            <a:off x="2175934" y="3960762"/>
            <a:ext cx="6740071" cy="2540350"/>
            <a:chOff x="1447800" y="4033838"/>
            <a:chExt cx="5227638" cy="2417762"/>
          </a:xfrm>
        </p:grpSpPr>
        <p:grpSp>
          <p:nvGrpSpPr>
            <p:cNvPr id="27" name="Group 2"/>
            <p:cNvGrpSpPr/>
            <p:nvPr/>
          </p:nvGrpSpPr>
          <p:grpSpPr bwMode="auto">
            <a:xfrm>
              <a:off x="1447800" y="4033838"/>
              <a:ext cx="5227638" cy="2417762"/>
              <a:chOff x="894" y="190"/>
              <a:chExt cx="3293" cy="1523"/>
            </a:xfrm>
          </p:grpSpPr>
          <p:grpSp>
            <p:nvGrpSpPr>
              <p:cNvPr id="30" name="Group 3"/>
              <p:cNvGrpSpPr/>
              <p:nvPr/>
            </p:nvGrpSpPr>
            <p:grpSpPr bwMode="auto">
              <a:xfrm>
                <a:off x="1596" y="190"/>
                <a:ext cx="534" cy="677"/>
                <a:chOff x="1596" y="190"/>
                <a:chExt cx="534" cy="677"/>
              </a:xfrm>
            </p:grpSpPr>
            <p:sp>
              <p:nvSpPr>
                <p:cNvPr id="40" name="Oval 4"/>
                <p:cNvSpPr>
                  <a:spLocks noChangeArrowheads="1"/>
                </p:cNvSpPr>
                <p:nvPr/>
              </p:nvSpPr>
              <p:spPr bwMode="auto">
                <a:xfrm>
                  <a:off x="1778" y="190"/>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S</a:t>
                  </a:r>
                  <a:endParaRPr lang="en-US" altLang="zh-CN" sz="1800">
                    <a:latin typeface="Consolas" panose="020B0609020204030204" pitchFamily="49" charset="0"/>
                  </a:endParaRPr>
                </a:p>
              </p:txBody>
            </p:sp>
            <p:sp>
              <p:nvSpPr>
                <p:cNvPr id="41" name="Oval 5"/>
                <p:cNvSpPr>
                  <a:spLocks noChangeArrowheads="1"/>
                </p:cNvSpPr>
                <p:nvPr/>
              </p:nvSpPr>
              <p:spPr bwMode="auto">
                <a:xfrm>
                  <a:off x="1596" y="486"/>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42" name="Oval 7"/>
                <p:cNvSpPr>
                  <a:spLocks noChangeArrowheads="1"/>
                </p:cNvSpPr>
                <p:nvPr/>
              </p:nvSpPr>
              <p:spPr bwMode="auto">
                <a:xfrm>
                  <a:off x="1930" y="486"/>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FF3300"/>
                      </a:solidFill>
                      <a:latin typeface="Consolas" panose="020B0609020204030204" pitchFamily="49" charset="0"/>
                    </a:rPr>
                    <a:t>P</a:t>
                  </a:r>
                  <a:endParaRPr lang="en-US" altLang="zh-CN" sz="1800">
                    <a:solidFill>
                      <a:srgbClr val="FFFFFF"/>
                    </a:solidFill>
                    <a:latin typeface="Consolas" panose="020B0609020204030204" pitchFamily="49" charset="0"/>
                  </a:endParaRPr>
                </a:p>
              </p:txBody>
            </p:sp>
            <p:sp>
              <p:nvSpPr>
                <p:cNvPr id="43" name="Line 8"/>
                <p:cNvSpPr>
                  <a:spLocks noChangeShapeType="1"/>
                </p:cNvSpPr>
                <p:nvPr/>
              </p:nvSpPr>
              <p:spPr bwMode="auto">
                <a:xfrm flipH="1">
                  <a:off x="1744" y="379"/>
                  <a:ext cx="78"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9"/>
                <p:cNvSpPr>
                  <a:spLocks noChangeShapeType="1"/>
                </p:cNvSpPr>
                <p:nvPr/>
              </p:nvSpPr>
              <p:spPr bwMode="auto">
                <a:xfrm flipH="1">
                  <a:off x="1888" y="678"/>
                  <a:ext cx="100" cy="1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10"/>
                <p:cNvSpPr>
                  <a:spLocks noChangeShapeType="1"/>
                </p:cNvSpPr>
                <p:nvPr/>
              </p:nvSpPr>
              <p:spPr bwMode="auto">
                <a:xfrm>
                  <a:off x="1922" y="379"/>
                  <a:ext cx="67"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1" name="Text Box 11"/>
              <p:cNvSpPr txBox="1">
                <a:spLocks noChangeArrowheads="1"/>
              </p:cNvSpPr>
              <p:nvPr/>
            </p:nvSpPr>
            <p:spPr bwMode="auto">
              <a:xfrm>
                <a:off x="894" y="1205"/>
                <a:ext cx="1554" cy="277"/>
              </a:xfrm>
              <a:prstGeom prst="rect">
                <a:avLst/>
              </a:prstGeom>
              <a:noFill/>
              <a:ln w="9525">
                <a:noFill/>
                <a:miter lim="800000"/>
              </a:ln>
              <a:effectLst/>
            </p:spPr>
            <p:txBody>
              <a:bodyPr wrap="none" anchor="ctr">
                <a:spAutoFit/>
              </a:bodyPr>
              <a:lstStyle/>
              <a:p>
                <a:pPr eaLnBrk="1" hangingPunct="1">
                  <a:defRPr/>
                </a:pPr>
                <a:r>
                  <a:rPr lang="zh-CN" altLang="en-US" sz="2400" dirty="0">
                    <a:solidFill>
                      <a:schemeClr val="tx1"/>
                    </a:solidFill>
                    <a:latin typeface="微软雅黑" panose="020B0503020204020204" pitchFamily="34" charset="-122"/>
                    <a:ea typeface="微软雅黑" panose="020B0503020204020204" pitchFamily="34" charset="-122"/>
                  </a:rPr>
                  <a:t>中序遍历：</a:t>
                </a:r>
                <a:r>
                  <a:rPr lang="en-US" altLang="zh-CN" sz="2400" dirty="0">
                    <a:solidFill>
                      <a:schemeClr val="tx1"/>
                    </a:solidFill>
                    <a:latin typeface="微软雅黑" panose="020B0503020204020204" pitchFamily="34" charset="-122"/>
                    <a:ea typeface="微软雅黑" panose="020B0503020204020204" pitchFamily="34" charset="-122"/>
                  </a:rPr>
                  <a:t>Q  S  P</a:t>
                </a:r>
                <a:r>
                  <a:rPr lang="en-US" altLang="zh-CN" sz="2400" baseline="-25000" dirty="0">
                    <a:solidFill>
                      <a:schemeClr val="tx1"/>
                    </a:solidFill>
                    <a:latin typeface="微软雅黑" panose="020B0503020204020204" pitchFamily="34" charset="-122"/>
                    <a:ea typeface="微软雅黑" panose="020B0503020204020204" pitchFamily="34" charset="-122"/>
                  </a:rPr>
                  <a:t>L</a:t>
                </a:r>
                <a:r>
                  <a:rPr lang="en-US" altLang="zh-CN" sz="2400" dirty="0">
                    <a:solidFill>
                      <a:schemeClr val="tx1"/>
                    </a:solidFill>
                    <a:latin typeface="微软雅黑" panose="020B0503020204020204" pitchFamily="34" charset="-122"/>
                    <a:ea typeface="微软雅黑" panose="020B0503020204020204" pitchFamily="34" charset="-122"/>
                  </a:rPr>
                  <a:t> P </a:t>
                </a:r>
                <a:endParaRPr lang="en-US" altLang="zh-CN" dirty="0">
                  <a:latin typeface="微软雅黑" panose="020B0503020204020204" pitchFamily="34" charset="-122"/>
                  <a:ea typeface="微软雅黑" panose="020B0503020204020204" pitchFamily="34" charset="-122"/>
                </a:endParaRPr>
              </a:p>
            </p:txBody>
          </p:sp>
          <p:grpSp>
            <p:nvGrpSpPr>
              <p:cNvPr id="32" name="Group 12"/>
              <p:cNvGrpSpPr/>
              <p:nvPr/>
            </p:nvGrpSpPr>
            <p:grpSpPr bwMode="auto">
              <a:xfrm>
                <a:off x="3125" y="220"/>
                <a:ext cx="409" cy="496"/>
                <a:chOff x="1714" y="2852"/>
                <a:chExt cx="409" cy="496"/>
              </a:xfrm>
            </p:grpSpPr>
            <p:sp>
              <p:nvSpPr>
                <p:cNvPr id="36" name="Oval 13"/>
                <p:cNvSpPr>
                  <a:spLocks noChangeArrowheads="1"/>
                </p:cNvSpPr>
                <p:nvPr/>
              </p:nvSpPr>
              <p:spPr bwMode="auto">
                <a:xfrm>
                  <a:off x="1896" y="2852"/>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S</a:t>
                  </a:r>
                  <a:endParaRPr lang="en-US" altLang="zh-CN" sz="1800">
                    <a:latin typeface="Consolas" panose="020B0609020204030204" pitchFamily="49" charset="0"/>
                  </a:endParaRPr>
                </a:p>
              </p:txBody>
            </p:sp>
            <p:sp>
              <p:nvSpPr>
                <p:cNvPr id="37" name="Oval 14"/>
                <p:cNvSpPr>
                  <a:spLocks noChangeArrowheads="1"/>
                </p:cNvSpPr>
                <p:nvPr/>
              </p:nvSpPr>
              <p:spPr bwMode="auto">
                <a:xfrm>
                  <a:off x="1714" y="3148"/>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38" name="Line 16"/>
                <p:cNvSpPr>
                  <a:spLocks noChangeShapeType="1"/>
                </p:cNvSpPr>
                <p:nvPr/>
              </p:nvSpPr>
              <p:spPr bwMode="auto">
                <a:xfrm flipH="1">
                  <a:off x="1862" y="3041"/>
                  <a:ext cx="78"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17"/>
                <p:cNvSpPr>
                  <a:spLocks noChangeShapeType="1"/>
                </p:cNvSpPr>
                <p:nvPr/>
              </p:nvSpPr>
              <p:spPr bwMode="auto">
                <a:xfrm>
                  <a:off x="2040" y="3041"/>
                  <a:ext cx="83" cy="12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3" name="Text Box 18"/>
              <p:cNvSpPr txBox="1">
                <a:spLocks noChangeArrowheads="1"/>
              </p:cNvSpPr>
              <p:nvPr/>
            </p:nvSpPr>
            <p:spPr bwMode="auto">
              <a:xfrm>
                <a:off x="2814" y="1208"/>
                <a:ext cx="1373" cy="277"/>
              </a:xfrm>
              <a:prstGeom prst="rect">
                <a:avLst/>
              </a:prstGeom>
              <a:noFill/>
              <a:ln w="9525">
                <a:noFill/>
                <a:miter lim="800000"/>
              </a:ln>
              <a:effectLst/>
            </p:spPr>
            <p:txBody>
              <a:bodyPr wrap="none" anchor="ctr">
                <a:spAutoFit/>
              </a:bodyPr>
              <a:lstStyle/>
              <a:p>
                <a:pPr eaLnBrk="1" hangingPunct="1">
                  <a:defRPr/>
                </a:pPr>
                <a:r>
                  <a:rPr lang="zh-CN" altLang="en-US" sz="2400" dirty="0">
                    <a:solidFill>
                      <a:schemeClr val="tx1"/>
                    </a:solidFill>
                    <a:latin typeface="微软雅黑" panose="020B0503020204020204" pitchFamily="34" charset="-122"/>
                    <a:ea typeface="微软雅黑" panose="020B0503020204020204" pitchFamily="34" charset="-122"/>
                  </a:rPr>
                  <a:t>中序遍历：</a:t>
                </a:r>
                <a:r>
                  <a:rPr lang="en-US" altLang="zh-CN" sz="2400" dirty="0">
                    <a:solidFill>
                      <a:schemeClr val="tx1"/>
                    </a:solidFill>
                    <a:latin typeface="微软雅黑" panose="020B0503020204020204" pitchFamily="34" charset="-122"/>
                    <a:ea typeface="微软雅黑" panose="020B0503020204020204" pitchFamily="34" charset="-122"/>
                  </a:rPr>
                  <a:t>Q  S  P</a:t>
                </a:r>
                <a:r>
                  <a:rPr lang="en-US" altLang="zh-CN" sz="2400" baseline="-25000" dirty="0">
                    <a:solidFill>
                      <a:schemeClr val="tx1"/>
                    </a:solidFill>
                    <a:latin typeface="微软雅黑" panose="020B0503020204020204" pitchFamily="34" charset="-122"/>
                    <a:ea typeface="微软雅黑" panose="020B0503020204020204" pitchFamily="34" charset="-122"/>
                  </a:rPr>
                  <a:t>L</a:t>
                </a:r>
                <a:endParaRPr lang="en-US" altLang="zh-CN" sz="2400" baseline="-25000" dirty="0">
                  <a:solidFill>
                    <a:schemeClr val="tx1"/>
                  </a:solidFill>
                  <a:latin typeface="微软雅黑" panose="020B0503020204020204" pitchFamily="34" charset="-122"/>
                  <a:ea typeface="微软雅黑" panose="020B0503020204020204" pitchFamily="34" charset="-122"/>
                </a:endParaRPr>
              </a:p>
            </p:txBody>
          </p:sp>
          <p:sp>
            <p:nvSpPr>
              <p:cNvPr id="34" name="AutoShape 19"/>
              <p:cNvSpPr>
                <a:spLocks noChangeArrowheads="1"/>
              </p:cNvSpPr>
              <p:nvPr/>
            </p:nvSpPr>
            <p:spPr bwMode="auto">
              <a:xfrm>
                <a:off x="2355" y="578"/>
                <a:ext cx="523" cy="167"/>
              </a:xfrm>
              <a:prstGeom prst="rightArrow">
                <a:avLst>
                  <a:gd name="adj1" fmla="val 50000"/>
                  <a:gd name="adj2" fmla="val 78293"/>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35" name="Text Box 20"/>
              <p:cNvSpPr txBox="1">
                <a:spLocks noChangeArrowheads="1"/>
              </p:cNvSpPr>
              <p:nvPr/>
            </p:nvSpPr>
            <p:spPr bwMode="auto">
              <a:xfrm>
                <a:off x="2460" y="1422"/>
                <a:ext cx="343" cy="291"/>
              </a:xfrm>
              <a:prstGeom prst="rect">
                <a:avLst/>
              </a:prstGeom>
              <a:noFill/>
              <a:ln w="9525">
                <a:noFill/>
                <a:miter lim="800000"/>
              </a:ln>
              <a:effectLst/>
            </p:spPr>
            <p:txBody>
              <a:bodyPr wrap="none" anchor="ctr">
                <a:spAutoFit/>
              </a:bodyPr>
              <a:lstStyle/>
              <a:p>
                <a:pPr algn="ctr" eaLnBrk="1" hangingPunct="1">
                  <a:defRPr/>
                </a:pPr>
                <a:r>
                  <a:rPr lang="en-US" altLang="zh-CN" sz="2400" dirty="0">
                    <a:solidFill>
                      <a:schemeClr val="tx1"/>
                    </a:solidFill>
                    <a:latin typeface="+mn-lt"/>
                    <a:ea typeface="+mn-ea"/>
                  </a:rPr>
                  <a:t>(2)</a:t>
                </a:r>
                <a:endParaRPr lang="en-US" altLang="zh-CN" sz="2400" dirty="0">
                  <a:solidFill>
                    <a:schemeClr val="tx1"/>
                  </a:solidFill>
                  <a:latin typeface="+mn-lt"/>
                  <a:ea typeface="+mn-ea"/>
                </a:endParaRPr>
              </a:p>
            </p:txBody>
          </p:sp>
        </p:grpSp>
        <p:sp>
          <p:nvSpPr>
            <p:cNvPr id="28" name="矩形 27"/>
            <p:cNvSpPr/>
            <p:nvPr/>
          </p:nvSpPr>
          <p:spPr bwMode="auto">
            <a:xfrm>
              <a:off x="5410200" y="45720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accent1"/>
                  </a:solidFill>
                </a:rPr>
                <a:t>P</a:t>
              </a:r>
              <a:r>
                <a:rPr lang="en-US" altLang="zh-CN" baseline="-25000" dirty="0">
                  <a:solidFill>
                    <a:schemeClr val="accent1"/>
                  </a:solidFill>
                </a:rPr>
                <a:t>L</a:t>
              </a:r>
              <a:endParaRPr lang="en-US" altLang="zh-CN" baseline="-25000" dirty="0">
                <a:solidFill>
                  <a:schemeClr val="accent1"/>
                </a:solidFill>
              </a:endParaRPr>
            </a:p>
            <a:p>
              <a:pPr algn="ctr" eaLnBrk="1" hangingPunct="1">
                <a:defRPr/>
              </a:pPr>
              <a:endParaRPr lang="zh-CN" altLang="en-US" dirty="0">
                <a:solidFill>
                  <a:schemeClr val="tx2">
                    <a:lumMod val="60000"/>
                    <a:lumOff val="40000"/>
                  </a:schemeClr>
                </a:solidFill>
              </a:endParaRPr>
            </a:p>
          </p:txBody>
        </p:sp>
        <p:sp>
          <p:nvSpPr>
            <p:cNvPr id="29" name="矩形 28"/>
            <p:cNvSpPr/>
            <p:nvPr/>
          </p:nvSpPr>
          <p:spPr bwMode="auto">
            <a:xfrm>
              <a:off x="2743200" y="51054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accent1"/>
                  </a:solidFill>
                </a:rPr>
                <a:t>P</a:t>
              </a:r>
              <a:r>
                <a:rPr lang="en-US" altLang="zh-CN" baseline="-25000" dirty="0">
                  <a:solidFill>
                    <a:schemeClr val="accent1"/>
                  </a:solidFill>
                </a:rPr>
                <a:t>L</a:t>
              </a:r>
              <a:endParaRPr lang="en-US" altLang="zh-CN" baseline="-25000" dirty="0">
                <a:solidFill>
                  <a:schemeClr val="accent1"/>
                </a:solidFill>
              </a:endParaRPr>
            </a:p>
            <a:p>
              <a:pPr algn="ctr" eaLnBrk="1" hangingPunct="1">
                <a:defRPr/>
              </a:pPr>
              <a:endParaRPr lang="zh-CN" altLang="en-US" dirty="0">
                <a:solidFill>
                  <a:schemeClr val="tx2">
                    <a:lumMod val="60000"/>
                    <a:lumOff val="40000"/>
                  </a:schemeClr>
                </a:solidFill>
              </a:endParaRPr>
            </a:p>
          </p:txBody>
        </p:sp>
      </p:grpSp>
      <p:sp>
        <p:nvSpPr>
          <p:cNvPr id="46" name="Rectangle 45"/>
          <p:cNvSpPr>
            <a:spLocks noChangeArrowheads="1"/>
          </p:cNvSpPr>
          <p:nvPr/>
        </p:nvSpPr>
        <p:spPr bwMode="auto">
          <a:xfrm>
            <a:off x="1090804" y="1499824"/>
            <a:ext cx="589475" cy="4157165"/>
          </a:xfrm>
          <a:prstGeom prst="rect">
            <a:avLst/>
          </a:prstGeom>
          <a:solidFill>
            <a:schemeClr val="bg1"/>
          </a:solidFill>
          <a:ln w="3175" algn="ctr">
            <a:solidFill>
              <a:schemeClr val="tx1"/>
            </a:solidFill>
            <a:miter lim="800000"/>
          </a:ln>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b="0" dirty="0">
                <a:latin typeface="微软雅黑" panose="020B0503020204020204" pitchFamily="34" charset="-122"/>
                <a:ea typeface="微软雅黑" panose="020B0503020204020204" pitchFamily="34" charset="-122"/>
              </a:rPr>
              <a:t>被删除的结点只有左子树</a:t>
            </a:r>
            <a:endParaRPr lang="zh-CN" altLang="en-US"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二叉排序树的删除算法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41"/>
          <p:cNvGrpSpPr/>
          <p:nvPr/>
        </p:nvGrpSpPr>
        <p:grpSpPr bwMode="auto">
          <a:xfrm>
            <a:off x="2175932" y="965082"/>
            <a:ext cx="7039856" cy="2560255"/>
            <a:chOff x="1600200" y="1447800"/>
            <a:chExt cx="5422900" cy="2092325"/>
          </a:xfrm>
        </p:grpSpPr>
        <p:grpSp>
          <p:nvGrpSpPr>
            <p:cNvPr id="3" name="Group 2"/>
            <p:cNvGrpSpPr/>
            <p:nvPr/>
          </p:nvGrpSpPr>
          <p:grpSpPr bwMode="auto">
            <a:xfrm>
              <a:off x="1600200" y="1447800"/>
              <a:ext cx="5422900" cy="2092325"/>
              <a:chOff x="976" y="1557"/>
              <a:chExt cx="3416" cy="1318"/>
            </a:xfrm>
          </p:grpSpPr>
          <p:sp>
            <p:nvSpPr>
              <p:cNvPr id="48" name="Text Box 3"/>
              <p:cNvSpPr txBox="1">
                <a:spLocks noChangeArrowheads="1"/>
              </p:cNvSpPr>
              <p:nvPr/>
            </p:nvSpPr>
            <p:spPr bwMode="auto">
              <a:xfrm>
                <a:off x="976" y="2637"/>
                <a:ext cx="1602" cy="238"/>
              </a:xfrm>
              <a:prstGeom prst="rect">
                <a:avLst/>
              </a:prstGeom>
              <a:noFill/>
              <a:ln w="9525">
                <a:noFill/>
                <a:miter lim="800000"/>
              </a:ln>
              <a:effectLst/>
            </p:spPr>
            <p:txBody>
              <a:bodyPr wrap="none" anchor="ctr">
                <a:spAutoFit/>
              </a:bodyPr>
              <a:lstStyle/>
              <a:p>
                <a:pPr eaLnBrk="1" hangingPunct="1">
                  <a:defRPr/>
                </a:pPr>
                <a:r>
                  <a:rPr lang="zh-CN" altLang="en-US" sz="2400" dirty="0">
                    <a:solidFill>
                      <a:schemeClr val="tx1"/>
                    </a:solidFill>
                    <a:latin typeface="微软雅黑" panose="020B0503020204020204" pitchFamily="34" charset="-122"/>
                    <a:ea typeface="微软雅黑" panose="020B0503020204020204" pitchFamily="34" charset="-122"/>
                  </a:rPr>
                  <a:t>中序遍历：</a:t>
                </a:r>
                <a:r>
                  <a:rPr lang="en-US" altLang="zh-CN" sz="2400" dirty="0">
                    <a:solidFill>
                      <a:schemeClr val="tx1"/>
                    </a:solidFill>
                    <a:latin typeface="微软雅黑" panose="020B0503020204020204" pitchFamily="34" charset="-122"/>
                    <a:ea typeface="微软雅黑" panose="020B0503020204020204" pitchFamily="34" charset="-122"/>
                  </a:rPr>
                  <a:t>P  P</a:t>
                </a:r>
                <a:r>
                  <a:rPr lang="en-US" altLang="zh-CN" sz="2400" baseline="-25000" dirty="0">
                    <a:solidFill>
                      <a:schemeClr val="tx1"/>
                    </a:solidFill>
                    <a:latin typeface="微软雅黑" panose="020B0503020204020204" pitchFamily="34" charset="-122"/>
                    <a:ea typeface="微软雅黑" panose="020B0503020204020204" pitchFamily="34" charset="-122"/>
                  </a:rPr>
                  <a:t>R</a:t>
                </a:r>
                <a:r>
                  <a:rPr lang="en-US" altLang="zh-CN" sz="2400" dirty="0">
                    <a:solidFill>
                      <a:schemeClr val="tx1"/>
                    </a:solidFill>
                    <a:latin typeface="微软雅黑" panose="020B0503020204020204" pitchFamily="34" charset="-122"/>
                    <a:ea typeface="微软雅黑" panose="020B0503020204020204" pitchFamily="34" charset="-122"/>
                  </a:rPr>
                  <a:t> S  Q  </a:t>
                </a:r>
                <a:endParaRPr lang="en-US" altLang="zh-CN" dirty="0">
                  <a:latin typeface="微软雅黑" panose="020B0503020204020204" pitchFamily="34" charset="-122"/>
                  <a:ea typeface="微软雅黑" panose="020B0503020204020204" pitchFamily="34" charset="-122"/>
                </a:endParaRPr>
              </a:p>
            </p:txBody>
          </p:sp>
          <p:grpSp>
            <p:nvGrpSpPr>
              <p:cNvPr id="49" name="Group 4"/>
              <p:cNvGrpSpPr/>
              <p:nvPr/>
            </p:nvGrpSpPr>
            <p:grpSpPr bwMode="auto">
              <a:xfrm>
                <a:off x="3307" y="1587"/>
                <a:ext cx="386" cy="496"/>
                <a:chOff x="1862" y="2852"/>
                <a:chExt cx="386" cy="496"/>
              </a:xfrm>
            </p:grpSpPr>
            <p:sp>
              <p:nvSpPr>
                <p:cNvPr id="59" name="Oval 5"/>
                <p:cNvSpPr>
                  <a:spLocks noChangeArrowheads="1"/>
                </p:cNvSpPr>
                <p:nvPr/>
              </p:nvSpPr>
              <p:spPr bwMode="auto">
                <a:xfrm>
                  <a:off x="1896" y="2852"/>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S</a:t>
                  </a:r>
                  <a:endParaRPr lang="en-US" altLang="zh-CN" sz="1800">
                    <a:latin typeface="Consolas" panose="020B0609020204030204" pitchFamily="49" charset="0"/>
                  </a:endParaRPr>
                </a:p>
              </p:txBody>
            </p:sp>
            <p:sp>
              <p:nvSpPr>
                <p:cNvPr id="60" name="Oval 7"/>
                <p:cNvSpPr>
                  <a:spLocks noChangeArrowheads="1"/>
                </p:cNvSpPr>
                <p:nvPr/>
              </p:nvSpPr>
              <p:spPr bwMode="auto">
                <a:xfrm>
                  <a:off x="2048" y="3148"/>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61" name="Line 8"/>
                <p:cNvSpPr>
                  <a:spLocks noChangeShapeType="1"/>
                </p:cNvSpPr>
                <p:nvPr/>
              </p:nvSpPr>
              <p:spPr bwMode="auto">
                <a:xfrm flipH="1">
                  <a:off x="1862" y="3041"/>
                  <a:ext cx="78"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9"/>
                <p:cNvSpPr>
                  <a:spLocks noChangeShapeType="1"/>
                </p:cNvSpPr>
                <p:nvPr/>
              </p:nvSpPr>
              <p:spPr bwMode="auto">
                <a:xfrm>
                  <a:off x="2040" y="3041"/>
                  <a:ext cx="67"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0" name="Text Box 10"/>
              <p:cNvSpPr txBox="1">
                <a:spLocks noChangeArrowheads="1"/>
              </p:cNvSpPr>
              <p:nvPr/>
            </p:nvSpPr>
            <p:spPr bwMode="auto">
              <a:xfrm>
                <a:off x="3014" y="2637"/>
                <a:ext cx="1378" cy="238"/>
              </a:xfrm>
              <a:prstGeom prst="rect">
                <a:avLst/>
              </a:prstGeom>
              <a:noFill/>
              <a:ln w="9525">
                <a:noFill/>
                <a:miter lim="800000"/>
              </a:ln>
              <a:effectLst/>
            </p:spPr>
            <p:txBody>
              <a:bodyPr wrap="none" anchor="ctr">
                <a:spAutoFit/>
              </a:bodyPr>
              <a:lstStyle/>
              <a:p>
                <a:pPr eaLnBrk="1" hangingPunct="1">
                  <a:defRPr/>
                </a:pPr>
                <a:r>
                  <a:rPr lang="zh-CN" altLang="en-US" sz="2400" dirty="0">
                    <a:latin typeface="微软雅黑" panose="020B0503020204020204" pitchFamily="34" charset="-122"/>
                    <a:ea typeface="微软雅黑" panose="020B0503020204020204" pitchFamily="34" charset="-122"/>
                  </a:rPr>
                  <a:t>中序遍历：</a:t>
                </a:r>
                <a:r>
                  <a:rPr lang="en-US" altLang="zh-CN" sz="2400" dirty="0">
                    <a:latin typeface="微软雅黑" panose="020B0503020204020204" pitchFamily="34" charset="-122"/>
                    <a:ea typeface="微软雅黑" panose="020B0503020204020204" pitchFamily="34" charset="-122"/>
                  </a:rPr>
                  <a:t>P</a:t>
                </a:r>
                <a:r>
                  <a:rPr lang="en-US" altLang="zh-CN" sz="2400" baseline="-25000" dirty="0">
                    <a:latin typeface="微软雅黑" panose="020B0503020204020204" pitchFamily="34" charset="-122"/>
                    <a:ea typeface="微软雅黑" panose="020B0503020204020204" pitchFamily="34" charset="-122"/>
                  </a:rPr>
                  <a:t>R</a:t>
                </a:r>
                <a:r>
                  <a:rPr lang="en-US" altLang="zh-CN" sz="2400" dirty="0">
                    <a:latin typeface="微软雅黑" panose="020B0503020204020204" pitchFamily="34" charset="-122"/>
                    <a:ea typeface="微软雅黑" panose="020B0503020204020204" pitchFamily="34" charset="-122"/>
                  </a:rPr>
                  <a:t>  S  Q</a:t>
                </a:r>
                <a:endParaRPr lang="en-US" altLang="zh-CN" sz="2400" dirty="0">
                  <a:latin typeface="微软雅黑" panose="020B0503020204020204" pitchFamily="34" charset="-122"/>
                  <a:ea typeface="微软雅黑" panose="020B0503020204020204" pitchFamily="34" charset="-122"/>
                </a:endParaRPr>
              </a:p>
            </p:txBody>
          </p:sp>
          <p:sp>
            <p:nvSpPr>
              <p:cNvPr id="51" name="AutoShape 11"/>
              <p:cNvSpPr>
                <a:spLocks noChangeArrowheads="1"/>
              </p:cNvSpPr>
              <p:nvPr/>
            </p:nvSpPr>
            <p:spPr bwMode="auto">
              <a:xfrm>
                <a:off x="2389" y="1945"/>
                <a:ext cx="523" cy="167"/>
              </a:xfrm>
              <a:prstGeom prst="rightArrow">
                <a:avLst>
                  <a:gd name="adj1" fmla="val 50000"/>
                  <a:gd name="adj2" fmla="val 78293"/>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grpSp>
            <p:nvGrpSpPr>
              <p:cNvPr id="52" name="Group 13"/>
              <p:cNvGrpSpPr/>
              <p:nvPr/>
            </p:nvGrpSpPr>
            <p:grpSpPr bwMode="auto">
              <a:xfrm>
                <a:off x="1630" y="1557"/>
                <a:ext cx="534" cy="654"/>
                <a:chOff x="1630" y="1557"/>
                <a:chExt cx="534" cy="654"/>
              </a:xfrm>
            </p:grpSpPr>
            <p:sp>
              <p:nvSpPr>
                <p:cNvPr id="53" name="Oval 14"/>
                <p:cNvSpPr>
                  <a:spLocks noChangeArrowheads="1"/>
                </p:cNvSpPr>
                <p:nvPr/>
              </p:nvSpPr>
              <p:spPr bwMode="auto">
                <a:xfrm>
                  <a:off x="1812" y="1557"/>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S</a:t>
                  </a:r>
                  <a:endParaRPr lang="en-US" altLang="zh-CN" sz="1800">
                    <a:latin typeface="Consolas" panose="020B0609020204030204" pitchFamily="49" charset="0"/>
                  </a:endParaRPr>
                </a:p>
              </p:txBody>
            </p:sp>
            <p:sp>
              <p:nvSpPr>
                <p:cNvPr id="54" name="Oval 15"/>
                <p:cNvSpPr>
                  <a:spLocks noChangeArrowheads="1"/>
                </p:cNvSpPr>
                <p:nvPr/>
              </p:nvSpPr>
              <p:spPr bwMode="auto">
                <a:xfrm>
                  <a:off x="1630" y="1853"/>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FF3300"/>
                      </a:solidFill>
                      <a:latin typeface="Consolas" panose="020B0609020204030204" pitchFamily="49" charset="0"/>
                    </a:rPr>
                    <a:t>P</a:t>
                  </a:r>
                  <a:endParaRPr lang="en-US" altLang="zh-CN" sz="1800">
                    <a:solidFill>
                      <a:srgbClr val="FFFFFF"/>
                    </a:solidFill>
                    <a:latin typeface="Consolas" panose="020B0609020204030204" pitchFamily="49" charset="0"/>
                  </a:endParaRPr>
                </a:p>
              </p:txBody>
            </p:sp>
            <p:sp>
              <p:nvSpPr>
                <p:cNvPr id="55" name="Oval 17"/>
                <p:cNvSpPr>
                  <a:spLocks noChangeArrowheads="1"/>
                </p:cNvSpPr>
                <p:nvPr/>
              </p:nvSpPr>
              <p:spPr bwMode="auto">
                <a:xfrm>
                  <a:off x="1964" y="1853"/>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56" name="Line 18"/>
                <p:cNvSpPr>
                  <a:spLocks noChangeShapeType="1"/>
                </p:cNvSpPr>
                <p:nvPr/>
              </p:nvSpPr>
              <p:spPr bwMode="auto">
                <a:xfrm flipH="1">
                  <a:off x="1778" y="1746"/>
                  <a:ext cx="78"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19"/>
                <p:cNvSpPr>
                  <a:spLocks noChangeShapeType="1"/>
                </p:cNvSpPr>
                <p:nvPr/>
              </p:nvSpPr>
              <p:spPr bwMode="auto">
                <a:xfrm>
                  <a:off x="1956" y="1746"/>
                  <a:ext cx="67"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20"/>
                <p:cNvSpPr>
                  <a:spLocks noChangeShapeType="1"/>
                </p:cNvSpPr>
                <p:nvPr/>
              </p:nvSpPr>
              <p:spPr bwMode="auto">
                <a:xfrm>
                  <a:off x="1767" y="2055"/>
                  <a:ext cx="67"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4" name="矩形 3"/>
            <p:cNvSpPr/>
            <p:nvPr/>
          </p:nvSpPr>
          <p:spPr bwMode="auto">
            <a:xfrm>
              <a:off x="2667000" y="2465388"/>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accent1"/>
                  </a:solidFill>
                </a:rPr>
                <a:t>P</a:t>
              </a:r>
              <a:r>
                <a:rPr lang="en-US" altLang="zh-CN" baseline="-25000" dirty="0">
                  <a:solidFill>
                    <a:schemeClr val="accent1"/>
                  </a:solidFill>
                </a:rPr>
                <a:t>R</a:t>
              </a:r>
              <a:endParaRPr lang="en-US" altLang="zh-CN" baseline="-25000" dirty="0">
                <a:solidFill>
                  <a:schemeClr val="accent1"/>
                </a:solidFill>
              </a:endParaRPr>
            </a:p>
            <a:p>
              <a:pPr algn="ctr" eaLnBrk="1" hangingPunct="1">
                <a:defRPr/>
              </a:pPr>
              <a:endParaRPr lang="zh-CN" altLang="en-US" dirty="0">
                <a:solidFill>
                  <a:schemeClr val="tx2">
                    <a:lumMod val="60000"/>
                    <a:lumOff val="40000"/>
                  </a:schemeClr>
                </a:solidFill>
              </a:endParaRPr>
            </a:p>
          </p:txBody>
        </p:sp>
        <p:sp>
          <p:nvSpPr>
            <p:cNvPr id="47" name="矩形 46"/>
            <p:cNvSpPr/>
            <p:nvPr/>
          </p:nvSpPr>
          <p:spPr bwMode="auto">
            <a:xfrm>
              <a:off x="5029200" y="19812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accent1"/>
                  </a:solidFill>
                </a:rPr>
                <a:t>P</a:t>
              </a:r>
              <a:r>
                <a:rPr lang="en-US" altLang="zh-CN" baseline="-25000" dirty="0">
                  <a:solidFill>
                    <a:schemeClr val="accent1"/>
                  </a:solidFill>
                </a:rPr>
                <a:t>R</a:t>
              </a:r>
              <a:endParaRPr lang="en-US" altLang="zh-CN" baseline="-25000" dirty="0">
                <a:solidFill>
                  <a:schemeClr val="accent1"/>
                </a:solidFill>
              </a:endParaRPr>
            </a:p>
            <a:p>
              <a:pPr algn="ctr" eaLnBrk="1" hangingPunct="1">
                <a:defRPr/>
              </a:pPr>
              <a:endParaRPr lang="zh-CN" altLang="en-US" dirty="0">
                <a:solidFill>
                  <a:schemeClr val="tx2">
                    <a:lumMod val="60000"/>
                    <a:lumOff val="40000"/>
                  </a:schemeClr>
                </a:solidFill>
              </a:endParaRPr>
            </a:p>
          </p:txBody>
        </p:sp>
      </p:grpSp>
      <p:grpSp>
        <p:nvGrpSpPr>
          <p:cNvPr id="63" name="组合 42"/>
          <p:cNvGrpSpPr/>
          <p:nvPr/>
        </p:nvGrpSpPr>
        <p:grpSpPr bwMode="auto">
          <a:xfrm>
            <a:off x="2252132" y="3725324"/>
            <a:ext cx="6940936" cy="2467013"/>
            <a:chOff x="1676400" y="4191000"/>
            <a:chExt cx="5346700" cy="2016125"/>
          </a:xfrm>
        </p:grpSpPr>
        <p:grpSp>
          <p:nvGrpSpPr>
            <p:cNvPr id="128" name="Group 21"/>
            <p:cNvGrpSpPr/>
            <p:nvPr/>
          </p:nvGrpSpPr>
          <p:grpSpPr bwMode="auto">
            <a:xfrm>
              <a:off x="1676400" y="4191000"/>
              <a:ext cx="5346700" cy="2016125"/>
              <a:chOff x="972" y="2808"/>
              <a:chExt cx="3368" cy="1270"/>
            </a:xfrm>
          </p:grpSpPr>
          <p:sp>
            <p:nvSpPr>
              <p:cNvPr id="131" name="Text Box 22"/>
              <p:cNvSpPr txBox="1">
                <a:spLocks noChangeArrowheads="1"/>
              </p:cNvSpPr>
              <p:nvPr/>
            </p:nvSpPr>
            <p:spPr bwMode="auto">
              <a:xfrm>
                <a:off x="972" y="3840"/>
                <a:ext cx="1602" cy="238"/>
              </a:xfrm>
              <a:prstGeom prst="rect">
                <a:avLst/>
              </a:prstGeom>
              <a:noFill/>
              <a:ln w="9525">
                <a:noFill/>
                <a:miter lim="800000"/>
              </a:ln>
              <a:effectLst/>
            </p:spPr>
            <p:txBody>
              <a:bodyPr wrap="none" anchor="ctr">
                <a:spAutoFit/>
              </a:bodyPr>
              <a:lstStyle/>
              <a:p>
                <a:pPr eaLnBrk="1" hangingPunct="1">
                  <a:defRPr/>
                </a:pPr>
                <a:r>
                  <a:rPr lang="zh-CN" altLang="en-US" sz="2400" dirty="0">
                    <a:solidFill>
                      <a:schemeClr val="tx1"/>
                    </a:solidFill>
                    <a:latin typeface="微软雅黑" panose="020B0503020204020204" pitchFamily="34" charset="-122"/>
                    <a:ea typeface="微软雅黑" panose="020B0503020204020204" pitchFamily="34" charset="-122"/>
                  </a:rPr>
                  <a:t>中序遍历：</a:t>
                </a:r>
                <a:r>
                  <a:rPr lang="en-US" altLang="zh-CN" sz="2400" dirty="0">
                    <a:solidFill>
                      <a:schemeClr val="tx1"/>
                    </a:solidFill>
                    <a:latin typeface="微软雅黑" panose="020B0503020204020204" pitchFamily="34" charset="-122"/>
                    <a:ea typeface="微软雅黑" panose="020B0503020204020204" pitchFamily="34" charset="-122"/>
                  </a:rPr>
                  <a:t>Q  S  P  P</a:t>
                </a:r>
                <a:r>
                  <a:rPr lang="en-US" altLang="zh-CN" sz="2400" baseline="-25000" dirty="0">
                    <a:solidFill>
                      <a:schemeClr val="tx1"/>
                    </a:solidFill>
                    <a:latin typeface="微软雅黑" panose="020B0503020204020204" pitchFamily="34" charset="-122"/>
                    <a:ea typeface="微软雅黑" panose="020B0503020204020204" pitchFamily="34" charset="-122"/>
                  </a:rPr>
                  <a:t>R</a:t>
                </a:r>
                <a:r>
                  <a:rPr lang="en-US" altLang="zh-CN" sz="2400" dirty="0">
                    <a:solidFill>
                      <a:schemeClr val="tx1"/>
                    </a:solidFill>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p:txBody>
          </p:sp>
          <p:grpSp>
            <p:nvGrpSpPr>
              <p:cNvPr id="132" name="Group 23"/>
              <p:cNvGrpSpPr/>
              <p:nvPr/>
            </p:nvGrpSpPr>
            <p:grpSpPr bwMode="auto">
              <a:xfrm>
                <a:off x="3155" y="2838"/>
                <a:ext cx="393" cy="496"/>
                <a:chOff x="1714" y="2852"/>
                <a:chExt cx="393" cy="496"/>
              </a:xfrm>
            </p:grpSpPr>
            <p:sp>
              <p:nvSpPr>
                <p:cNvPr id="142" name="Oval 24"/>
                <p:cNvSpPr>
                  <a:spLocks noChangeArrowheads="1"/>
                </p:cNvSpPr>
                <p:nvPr/>
              </p:nvSpPr>
              <p:spPr bwMode="auto">
                <a:xfrm>
                  <a:off x="1896" y="2852"/>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S</a:t>
                  </a:r>
                  <a:endParaRPr lang="en-US" altLang="zh-CN" sz="1800">
                    <a:latin typeface="Consolas" panose="020B0609020204030204" pitchFamily="49" charset="0"/>
                  </a:endParaRPr>
                </a:p>
              </p:txBody>
            </p:sp>
            <p:sp>
              <p:nvSpPr>
                <p:cNvPr id="143" name="Oval 25"/>
                <p:cNvSpPr>
                  <a:spLocks noChangeArrowheads="1"/>
                </p:cNvSpPr>
                <p:nvPr/>
              </p:nvSpPr>
              <p:spPr bwMode="auto">
                <a:xfrm>
                  <a:off x="1714" y="3148"/>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144" name="Line 27"/>
                <p:cNvSpPr>
                  <a:spLocks noChangeShapeType="1"/>
                </p:cNvSpPr>
                <p:nvPr/>
              </p:nvSpPr>
              <p:spPr bwMode="auto">
                <a:xfrm flipH="1">
                  <a:off x="1862" y="3041"/>
                  <a:ext cx="78"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 name="Line 28"/>
                <p:cNvSpPr>
                  <a:spLocks noChangeShapeType="1"/>
                </p:cNvSpPr>
                <p:nvPr/>
              </p:nvSpPr>
              <p:spPr bwMode="auto">
                <a:xfrm>
                  <a:off x="2040" y="3041"/>
                  <a:ext cx="67"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3" name="Text Box 29"/>
              <p:cNvSpPr txBox="1">
                <a:spLocks noChangeArrowheads="1"/>
              </p:cNvSpPr>
              <p:nvPr/>
            </p:nvSpPr>
            <p:spPr bwMode="auto">
              <a:xfrm>
                <a:off x="2962" y="3840"/>
                <a:ext cx="1378" cy="238"/>
              </a:xfrm>
              <a:prstGeom prst="rect">
                <a:avLst/>
              </a:prstGeom>
              <a:noFill/>
              <a:ln w="9525">
                <a:noFill/>
                <a:miter lim="800000"/>
              </a:ln>
              <a:effectLst/>
            </p:spPr>
            <p:txBody>
              <a:bodyPr wrap="none" anchor="ctr">
                <a:spAutoFit/>
              </a:bodyPr>
              <a:lstStyle/>
              <a:p>
                <a:pPr eaLnBrk="1" hangingPunct="1">
                  <a:defRPr/>
                </a:pPr>
                <a:r>
                  <a:rPr lang="zh-CN" altLang="en-US" sz="2400" dirty="0">
                    <a:solidFill>
                      <a:schemeClr val="tx1"/>
                    </a:solidFill>
                    <a:latin typeface="微软雅黑" panose="020B0503020204020204" pitchFamily="34" charset="-122"/>
                    <a:ea typeface="微软雅黑" panose="020B0503020204020204" pitchFamily="34" charset="-122"/>
                  </a:rPr>
                  <a:t>中序遍历：</a:t>
                </a:r>
                <a:r>
                  <a:rPr lang="en-US" altLang="zh-CN" sz="2400" dirty="0">
                    <a:solidFill>
                      <a:schemeClr val="tx1"/>
                    </a:solidFill>
                    <a:latin typeface="微软雅黑" panose="020B0503020204020204" pitchFamily="34" charset="-122"/>
                    <a:ea typeface="微软雅黑" panose="020B0503020204020204" pitchFamily="34" charset="-122"/>
                  </a:rPr>
                  <a:t>Q  S  P</a:t>
                </a:r>
                <a:r>
                  <a:rPr lang="en-US" altLang="zh-CN" sz="2400" baseline="-25000" dirty="0">
                    <a:solidFill>
                      <a:schemeClr val="tx1"/>
                    </a:solidFill>
                    <a:latin typeface="微软雅黑" panose="020B0503020204020204" pitchFamily="34" charset="-122"/>
                    <a:ea typeface="微软雅黑" panose="020B0503020204020204" pitchFamily="34" charset="-122"/>
                  </a:rPr>
                  <a:t>R</a:t>
                </a:r>
                <a:endParaRPr lang="en-US" altLang="zh-CN" sz="2400" baseline="-25000" dirty="0">
                  <a:solidFill>
                    <a:schemeClr val="tx1"/>
                  </a:solidFill>
                  <a:latin typeface="微软雅黑" panose="020B0503020204020204" pitchFamily="34" charset="-122"/>
                  <a:ea typeface="微软雅黑" panose="020B0503020204020204" pitchFamily="34" charset="-122"/>
                </a:endParaRPr>
              </a:p>
            </p:txBody>
          </p:sp>
          <p:sp>
            <p:nvSpPr>
              <p:cNvPr id="134" name="AutoShape 30"/>
              <p:cNvSpPr>
                <a:spLocks noChangeArrowheads="1"/>
              </p:cNvSpPr>
              <p:nvPr/>
            </p:nvSpPr>
            <p:spPr bwMode="auto">
              <a:xfrm>
                <a:off x="2385" y="3196"/>
                <a:ext cx="523" cy="167"/>
              </a:xfrm>
              <a:prstGeom prst="rightArrow">
                <a:avLst>
                  <a:gd name="adj1" fmla="val 50000"/>
                  <a:gd name="adj2" fmla="val 78293"/>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grpSp>
            <p:nvGrpSpPr>
              <p:cNvPr id="135" name="Group 32"/>
              <p:cNvGrpSpPr/>
              <p:nvPr/>
            </p:nvGrpSpPr>
            <p:grpSpPr bwMode="auto">
              <a:xfrm>
                <a:off x="1626" y="2808"/>
                <a:ext cx="534" cy="669"/>
                <a:chOff x="1626" y="2808"/>
                <a:chExt cx="534" cy="669"/>
              </a:xfrm>
            </p:grpSpPr>
            <p:sp>
              <p:nvSpPr>
                <p:cNvPr id="136" name="Line 39"/>
                <p:cNvSpPr>
                  <a:spLocks noChangeShapeType="1"/>
                </p:cNvSpPr>
                <p:nvPr/>
              </p:nvSpPr>
              <p:spPr bwMode="auto">
                <a:xfrm>
                  <a:off x="2067" y="3289"/>
                  <a:ext cx="67" cy="1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 name="Oval 33"/>
                <p:cNvSpPr>
                  <a:spLocks noChangeArrowheads="1"/>
                </p:cNvSpPr>
                <p:nvPr/>
              </p:nvSpPr>
              <p:spPr bwMode="auto">
                <a:xfrm>
                  <a:off x="1808" y="2808"/>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S</a:t>
                  </a:r>
                  <a:endParaRPr lang="en-US" altLang="zh-CN" sz="1800">
                    <a:latin typeface="Consolas" panose="020B0609020204030204" pitchFamily="49" charset="0"/>
                  </a:endParaRPr>
                </a:p>
              </p:txBody>
            </p:sp>
            <p:sp>
              <p:nvSpPr>
                <p:cNvPr id="138" name="Oval 34"/>
                <p:cNvSpPr>
                  <a:spLocks noChangeArrowheads="1"/>
                </p:cNvSpPr>
                <p:nvPr/>
              </p:nvSpPr>
              <p:spPr bwMode="auto">
                <a:xfrm>
                  <a:off x="1626" y="3104"/>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139" name="Oval 36"/>
                <p:cNvSpPr>
                  <a:spLocks noChangeArrowheads="1"/>
                </p:cNvSpPr>
                <p:nvPr/>
              </p:nvSpPr>
              <p:spPr bwMode="auto">
                <a:xfrm>
                  <a:off x="1960" y="3104"/>
                  <a:ext cx="200" cy="200"/>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FF3300"/>
                      </a:solidFill>
                      <a:latin typeface="Consolas" panose="020B0609020204030204" pitchFamily="49" charset="0"/>
                    </a:rPr>
                    <a:t>P</a:t>
                  </a:r>
                  <a:endParaRPr lang="en-US" altLang="zh-CN" sz="1800">
                    <a:solidFill>
                      <a:srgbClr val="FFFFFF"/>
                    </a:solidFill>
                    <a:latin typeface="Consolas" panose="020B0609020204030204" pitchFamily="49" charset="0"/>
                  </a:endParaRPr>
                </a:p>
              </p:txBody>
            </p:sp>
            <p:sp>
              <p:nvSpPr>
                <p:cNvPr id="140" name="Line 37"/>
                <p:cNvSpPr>
                  <a:spLocks noChangeShapeType="1"/>
                </p:cNvSpPr>
                <p:nvPr/>
              </p:nvSpPr>
              <p:spPr bwMode="auto">
                <a:xfrm flipH="1">
                  <a:off x="1774" y="2997"/>
                  <a:ext cx="78" cy="12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 name="Line 38"/>
                <p:cNvSpPr>
                  <a:spLocks noChangeShapeType="1"/>
                </p:cNvSpPr>
                <p:nvPr/>
              </p:nvSpPr>
              <p:spPr bwMode="auto">
                <a:xfrm>
                  <a:off x="1952" y="2997"/>
                  <a:ext cx="67" cy="13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29" name="矩形 128"/>
            <p:cNvSpPr/>
            <p:nvPr/>
          </p:nvSpPr>
          <p:spPr bwMode="auto">
            <a:xfrm>
              <a:off x="3276600" y="52578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accent1"/>
                  </a:solidFill>
                </a:rPr>
                <a:t>P</a:t>
              </a:r>
              <a:r>
                <a:rPr lang="en-US" altLang="zh-CN" baseline="-25000" dirty="0">
                  <a:solidFill>
                    <a:schemeClr val="accent1"/>
                  </a:solidFill>
                </a:rPr>
                <a:t>R</a:t>
              </a:r>
              <a:endParaRPr lang="en-US" altLang="zh-CN" baseline="-25000" dirty="0">
                <a:solidFill>
                  <a:schemeClr val="accent1"/>
                </a:solidFill>
              </a:endParaRPr>
            </a:p>
            <a:p>
              <a:pPr algn="ctr" eaLnBrk="1" hangingPunct="1">
                <a:defRPr/>
              </a:pPr>
              <a:endParaRPr lang="zh-CN" altLang="en-US" dirty="0">
                <a:solidFill>
                  <a:schemeClr val="tx2">
                    <a:lumMod val="60000"/>
                    <a:lumOff val="40000"/>
                  </a:schemeClr>
                </a:solidFill>
              </a:endParaRPr>
            </a:p>
          </p:txBody>
        </p:sp>
        <p:sp>
          <p:nvSpPr>
            <p:cNvPr id="130" name="矩形 129"/>
            <p:cNvSpPr/>
            <p:nvPr/>
          </p:nvSpPr>
          <p:spPr bwMode="auto">
            <a:xfrm>
              <a:off x="5562600" y="47244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accent1"/>
                  </a:solidFill>
                </a:rPr>
                <a:t>P</a:t>
              </a:r>
              <a:r>
                <a:rPr lang="en-US" altLang="zh-CN" baseline="-25000" dirty="0">
                  <a:solidFill>
                    <a:schemeClr val="accent1"/>
                  </a:solidFill>
                </a:rPr>
                <a:t>R</a:t>
              </a:r>
              <a:endParaRPr lang="en-US" altLang="zh-CN" baseline="-25000" dirty="0">
                <a:solidFill>
                  <a:schemeClr val="accent1"/>
                </a:solidFill>
              </a:endParaRPr>
            </a:p>
            <a:p>
              <a:pPr algn="ctr" eaLnBrk="1" hangingPunct="1">
                <a:defRPr/>
              </a:pPr>
              <a:endParaRPr lang="zh-CN" altLang="en-US" dirty="0">
                <a:solidFill>
                  <a:schemeClr val="tx2">
                    <a:lumMod val="60000"/>
                    <a:lumOff val="40000"/>
                  </a:schemeClr>
                </a:solidFill>
              </a:endParaRPr>
            </a:p>
          </p:txBody>
        </p:sp>
      </p:grpSp>
      <p:sp>
        <p:nvSpPr>
          <p:cNvPr id="146" name="Text Box 79"/>
          <p:cNvSpPr txBox="1">
            <a:spLocks noChangeArrowheads="1"/>
          </p:cNvSpPr>
          <p:nvPr/>
        </p:nvSpPr>
        <p:spPr bwMode="auto">
          <a:xfrm>
            <a:off x="5310090" y="3494491"/>
            <a:ext cx="706870" cy="461665"/>
          </a:xfrm>
          <a:prstGeom prst="rect">
            <a:avLst/>
          </a:prstGeom>
          <a:noFill/>
          <a:ln w="9525">
            <a:noFill/>
            <a:miter lim="800000"/>
          </a:ln>
          <a:effectLst/>
        </p:spPr>
        <p:txBody>
          <a:bodyPr wrap="square" anchor="ctr">
            <a:spAutoFit/>
          </a:bodyPr>
          <a:lstStyle/>
          <a:p>
            <a:pPr algn="ctr" eaLnBrk="1" hangingPunct="1">
              <a:defRPr/>
            </a:pPr>
            <a:r>
              <a:rPr lang="en-US" altLang="zh-CN" sz="2400" dirty="0">
                <a:solidFill>
                  <a:schemeClr val="tx1"/>
                </a:solidFill>
                <a:latin typeface="+mn-lt"/>
                <a:ea typeface="+mn-ea"/>
              </a:rPr>
              <a:t>(3)</a:t>
            </a:r>
            <a:endParaRPr lang="en-US" altLang="zh-CN" sz="2400" dirty="0">
              <a:solidFill>
                <a:schemeClr val="tx1"/>
              </a:solidFill>
              <a:latin typeface="+mn-lt"/>
              <a:ea typeface="+mn-ea"/>
            </a:endParaRPr>
          </a:p>
        </p:txBody>
      </p:sp>
      <p:sp>
        <p:nvSpPr>
          <p:cNvPr id="147" name="Text Box 79"/>
          <p:cNvSpPr txBox="1">
            <a:spLocks noChangeArrowheads="1"/>
          </p:cNvSpPr>
          <p:nvPr/>
        </p:nvSpPr>
        <p:spPr bwMode="auto">
          <a:xfrm>
            <a:off x="5458863" y="6203992"/>
            <a:ext cx="706870" cy="461665"/>
          </a:xfrm>
          <a:prstGeom prst="rect">
            <a:avLst/>
          </a:prstGeom>
          <a:noFill/>
          <a:ln w="9525">
            <a:noFill/>
            <a:miter lim="800000"/>
          </a:ln>
          <a:effectLst/>
        </p:spPr>
        <p:txBody>
          <a:bodyPr wrap="square" anchor="ctr">
            <a:spAutoFit/>
          </a:bodyPr>
          <a:lstStyle/>
          <a:p>
            <a:pPr algn="ctr" eaLnBrk="1" hangingPunct="1">
              <a:defRPr/>
            </a:pPr>
            <a:r>
              <a:rPr lang="en-US" altLang="zh-CN" sz="2400" dirty="0">
                <a:solidFill>
                  <a:schemeClr val="tx1"/>
                </a:solidFill>
                <a:latin typeface="+mn-lt"/>
                <a:ea typeface="+mn-ea"/>
              </a:rPr>
              <a:t>(4)</a:t>
            </a:r>
            <a:endParaRPr lang="en-US" altLang="zh-CN" sz="2400" dirty="0">
              <a:solidFill>
                <a:schemeClr val="tx1"/>
              </a:solidFill>
              <a:latin typeface="+mn-lt"/>
              <a:ea typeface="+mn-ea"/>
            </a:endParaRPr>
          </a:p>
        </p:txBody>
      </p:sp>
      <p:sp>
        <p:nvSpPr>
          <p:cNvPr id="148" name="Rectangle 44"/>
          <p:cNvSpPr>
            <a:spLocks noChangeArrowheads="1"/>
          </p:cNvSpPr>
          <p:nvPr/>
        </p:nvSpPr>
        <p:spPr bwMode="auto">
          <a:xfrm>
            <a:off x="1049867" y="1497260"/>
            <a:ext cx="620383" cy="4180307"/>
          </a:xfrm>
          <a:prstGeom prst="rect">
            <a:avLst/>
          </a:prstGeom>
          <a:solidFill>
            <a:schemeClr val="bg1"/>
          </a:solidFill>
          <a:ln w="3175" algn="ctr">
            <a:solidFill>
              <a:schemeClr val="tx1"/>
            </a:solidFill>
            <a:miter lim="800000"/>
          </a:ln>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b="0" dirty="0">
                <a:latin typeface="微软雅黑" panose="020B0503020204020204" pitchFamily="34" charset="-122"/>
                <a:ea typeface="微软雅黑" panose="020B0503020204020204" pitchFamily="34" charset="-122"/>
              </a:rPr>
              <a:t>被删除的结点只有右子树</a:t>
            </a:r>
            <a:endParaRPr lang="zh-CN" altLang="en-US"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二叉排序树的删除算法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5" name="组合 68"/>
          <p:cNvGrpSpPr/>
          <p:nvPr/>
        </p:nvGrpSpPr>
        <p:grpSpPr bwMode="auto">
          <a:xfrm>
            <a:off x="1329267" y="895462"/>
            <a:ext cx="8709025" cy="3659187"/>
            <a:chOff x="-76200" y="989013"/>
            <a:chExt cx="8709025" cy="3659187"/>
          </a:xfrm>
        </p:grpSpPr>
        <p:grpSp>
          <p:nvGrpSpPr>
            <p:cNvPr id="6" name="Group 2"/>
            <p:cNvGrpSpPr/>
            <p:nvPr/>
          </p:nvGrpSpPr>
          <p:grpSpPr bwMode="auto">
            <a:xfrm>
              <a:off x="1879600" y="989013"/>
              <a:ext cx="6753225" cy="3255963"/>
              <a:chOff x="789" y="533"/>
              <a:chExt cx="4254" cy="2051"/>
            </a:xfrm>
          </p:grpSpPr>
          <p:sp>
            <p:nvSpPr>
              <p:cNvPr id="8" name="AutoShape 3"/>
              <p:cNvSpPr>
                <a:spLocks noChangeArrowheads="1"/>
              </p:cNvSpPr>
              <p:nvPr/>
            </p:nvSpPr>
            <p:spPr bwMode="auto">
              <a:xfrm>
                <a:off x="2156" y="1355"/>
                <a:ext cx="578" cy="189"/>
              </a:xfrm>
              <a:prstGeom prst="rightArrow">
                <a:avLst>
                  <a:gd name="adj1" fmla="val 50000"/>
                  <a:gd name="adj2" fmla="val 76455"/>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grpSp>
            <p:nvGrpSpPr>
              <p:cNvPr id="9" name="Group 5"/>
              <p:cNvGrpSpPr/>
              <p:nvPr/>
            </p:nvGrpSpPr>
            <p:grpSpPr bwMode="auto">
              <a:xfrm>
                <a:off x="789" y="533"/>
                <a:ext cx="985" cy="1756"/>
                <a:chOff x="789" y="533"/>
                <a:chExt cx="985" cy="1756"/>
              </a:xfrm>
            </p:grpSpPr>
            <p:sp>
              <p:nvSpPr>
                <p:cNvPr id="25" name="Oval 6"/>
                <p:cNvSpPr>
                  <a:spLocks noChangeArrowheads="1"/>
                </p:cNvSpPr>
                <p:nvPr/>
              </p:nvSpPr>
              <p:spPr bwMode="auto">
                <a:xfrm>
                  <a:off x="1156" y="533"/>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F</a:t>
                  </a:r>
                  <a:endParaRPr lang="en-US" altLang="zh-CN" sz="1800">
                    <a:latin typeface="Consolas" panose="020B0609020204030204" pitchFamily="49" charset="0"/>
                  </a:endParaRPr>
                </a:p>
              </p:txBody>
            </p:sp>
            <p:sp>
              <p:nvSpPr>
                <p:cNvPr id="26" name="Oval 7"/>
                <p:cNvSpPr>
                  <a:spLocks noChangeArrowheads="1"/>
                </p:cNvSpPr>
                <p:nvPr/>
              </p:nvSpPr>
              <p:spPr bwMode="auto">
                <a:xfrm>
                  <a:off x="985" y="873"/>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CC3300"/>
                      </a:solidFill>
                      <a:latin typeface="Consolas" panose="020B0609020204030204" pitchFamily="49" charset="0"/>
                    </a:rPr>
                    <a:t>P</a:t>
                  </a:r>
                  <a:endParaRPr lang="en-US" altLang="zh-CN" sz="1800">
                    <a:solidFill>
                      <a:srgbClr val="FFFFFF"/>
                    </a:solidFill>
                    <a:latin typeface="Consolas" panose="020B0609020204030204" pitchFamily="49" charset="0"/>
                  </a:endParaRPr>
                </a:p>
              </p:txBody>
            </p:sp>
            <p:sp>
              <p:nvSpPr>
                <p:cNvPr id="27" name="Oval 8"/>
                <p:cNvSpPr>
                  <a:spLocks noChangeArrowheads="1"/>
                </p:cNvSpPr>
                <p:nvPr/>
              </p:nvSpPr>
              <p:spPr bwMode="auto">
                <a:xfrm>
                  <a:off x="797" y="1218"/>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chemeClr val="folHlink"/>
                      </a:solidFill>
                      <a:latin typeface="Consolas" panose="020B0609020204030204" pitchFamily="49" charset="0"/>
                    </a:rPr>
                    <a:t>C</a:t>
                  </a:r>
                  <a:endParaRPr lang="en-US" altLang="zh-CN" sz="1800">
                    <a:solidFill>
                      <a:srgbClr val="FFFFFF"/>
                    </a:solidFill>
                    <a:latin typeface="Consolas" panose="020B0609020204030204" pitchFamily="49" charset="0"/>
                  </a:endParaRPr>
                </a:p>
              </p:txBody>
            </p:sp>
            <p:sp>
              <p:nvSpPr>
                <p:cNvPr id="28" name="Oval 11"/>
                <p:cNvSpPr>
                  <a:spLocks noChangeArrowheads="1"/>
                </p:cNvSpPr>
                <p:nvPr/>
              </p:nvSpPr>
              <p:spPr bwMode="auto">
                <a:xfrm>
                  <a:off x="1230" y="1629"/>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29" name="Oval 13"/>
                <p:cNvSpPr>
                  <a:spLocks noChangeArrowheads="1"/>
                </p:cNvSpPr>
                <p:nvPr/>
              </p:nvSpPr>
              <p:spPr bwMode="auto">
                <a:xfrm>
                  <a:off x="1541" y="1906"/>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0000FF"/>
                      </a:solidFill>
                      <a:latin typeface="Consolas" panose="020B0609020204030204" pitchFamily="49" charset="0"/>
                    </a:rPr>
                    <a:t>S</a:t>
                  </a:r>
                  <a:endParaRPr lang="en-US" altLang="zh-CN" sz="1800">
                    <a:solidFill>
                      <a:srgbClr val="0000FF"/>
                    </a:solidFill>
                    <a:latin typeface="Consolas" panose="020B0609020204030204" pitchFamily="49" charset="0"/>
                  </a:endParaRPr>
                </a:p>
              </p:txBody>
            </p:sp>
            <p:sp>
              <p:nvSpPr>
                <p:cNvPr id="30" name="Line 15"/>
                <p:cNvSpPr>
                  <a:spLocks noChangeShapeType="1"/>
                </p:cNvSpPr>
                <p:nvPr/>
              </p:nvSpPr>
              <p:spPr bwMode="auto">
                <a:xfrm flipH="1">
                  <a:off x="1145" y="733"/>
                  <a:ext cx="77"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6"/>
                <p:cNvSpPr>
                  <a:spLocks noChangeShapeType="1"/>
                </p:cNvSpPr>
                <p:nvPr/>
              </p:nvSpPr>
              <p:spPr bwMode="auto">
                <a:xfrm flipH="1">
                  <a:off x="967" y="1078"/>
                  <a:ext cx="78"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17"/>
                <p:cNvSpPr>
                  <a:spLocks noChangeShapeType="1"/>
                </p:cNvSpPr>
                <p:nvPr/>
              </p:nvSpPr>
              <p:spPr bwMode="auto">
                <a:xfrm flipH="1">
                  <a:off x="789" y="1422"/>
                  <a:ext cx="100" cy="1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8"/>
                <p:cNvSpPr>
                  <a:spLocks noChangeShapeType="1"/>
                </p:cNvSpPr>
                <p:nvPr/>
              </p:nvSpPr>
              <p:spPr bwMode="auto">
                <a:xfrm>
                  <a:off x="1189" y="1067"/>
                  <a:ext cx="89" cy="15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9"/>
                <p:cNvSpPr>
                  <a:spLocks noChangeShapeType="1"/>
                </p:cNvSpPr>
                <p:nvPr/>
              </p:nvSpPr>
              <p:spPr bwMode="auto">
                <a:xfrm flipH="1">
                  <a:off x="1212" y="1830"/>
                  <a:ext cx="73" cy="13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0"/>
                <p:cNvSpPr>
                  <a:spLocks noChangeShapeType="1"/>
                </p:cNvSpPr>
                <p:nvPr/>
              </p:nvSpPr>
              <p:spPr bwMode="auto">
                <a:xfrm>
                  <a:off x="1434" y="1800"/>
                  <a:ext cx="133" cy="1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21"/>
                <p:cNvSpPr>
                  <a:spLocks noChangeShapeType="1"/>
                </p:cNvSpPr>
                <p:nvPr/>
              </p:nvSpPr>
              <p:spPr bwMode="auto">
                <a:xfrm flipH="1">
                  <a:off x="1522" y="2122"/>
                  <a:ext cx="78" cy="1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22"/>
                <p:cNvSpPr>
                  <a:spLocks noChangeShapeType="1"/>
                </p:cNvSpPr>
                <p:nvPr/>
              </p:nvSpPr>
              <p:spPr bwMode="auto">
                <a:xfrm>
                  <a:off x="1011" y="1411"/>
                  <a:ext cx="268" cy="26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24"/>
              <p:cNvGrpSpPr/>
              <p:nvPr/>
            </p:nvGrpSpPr>
            <p:grpSpPr bwMode="auto">
              <a:xfrm>
                <a:off x="2388" y="585"/>
                <a:ext cx="2655" cy="1952"/>
                <a:chOff x="2388" y="585"/>
                <a:chExt cx="2655" cy="1952"/>
              </a:xfrm>
            </p:grpSpPr>
            <p:grpSp>
              <p:nvGrpSpPr>
                <p:cNvPr id="12" name="Group 25"/>
                <p:cNvGrpSpPr/>
                <p:nvPr/>
              </p:nvGrpSpPr>
              <p:grpSpPr bwMode="auto">
                <a:xfrm>
                  <a:off x="3230" y="585"/>
                  <a:ext cx="778" cy="1468"/>
                  <a:chOff x="3230" y="585"/>
                  <a:chExt cx="778" cy="1468"/>
                </a:xfrm>
              </p:grpSpPr>
              <p:sp>
                <p:nvSpPr>
                  <p:cNvPr id="14" name="Oval 26"/>
                  <p:cNvSpPr>
                    <a:spLocks noChangeArrowheads="1"/>
                  </p:cNvSpPr>
                  <p:nvPr/>
                </p:nvSpPr>
                <p:spPr bwMode="auto">
                  <a:xfrm>
                    <a:off x="3597" y="585"/>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F</a:t>
                    </a:r>
                    <a:endParaRPr lang="en-US" altLang="zh-CN" sz="1800">
                      <a:latin typeface="Consolas" panose="020B0609020204030204" pitchFamily="49" charset="0"/>
                    </a:endParaRPr>
                  </a:p>
                </p:txBody>
              </p:sp>
              <p:sp>
                <p:nvSpPr>
                  <p:cNvPr id="15" name="Oval 27"/>
                  <p:cNvSpPr>
                    <a:spLocks noChangeArrowheads="1"/>
                  </p:cNvSpPr>
                  <p:nvPr/>
                </p:nvSpPr>
                <p:spPr bwMode="auto">
                  <a:xfrm>
                    <a:off x="3426" y="925"/>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0000FF"/>
                        </a:solidFill>
                        <a:latin typeface="Consolas" panose="020B0609020204030204" pitchFamily="49" charset="0"/>
                      </a:rPr>
                      <a:t>S</a:t>
                    </a:r>
                    <a:endParaRPr lang="en-US" altLang="zh-CN" sz="1800">
                      <a:solidFill>
                        <a:srgbClr val="FFFFFF"/>
                      </a:solidFill>
                      <a:latin typeface="Consolas" panose="020B0609020204030204" pitchFamily="49" charset="0"/>
                    </a:endParaRPr>
                  </a:p>
                </p:txBody>
              </p:sp>
              <p:sp>
                <p:nvSpPr>
                  <p:cNvPr id="16" name="Oval 28"/>
                  <p:cNvSpPr>
                    <a:spLocks noChangeArrowheads="1"/>
                  </p:cNvSpPr>
                  <p:nvPr/>
                </p:nvSpPr>
                <p:spPr bwMode="auto">
                  <a:xfrm>
                    <a:off x="3238" y="1270"/>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chemeClr val="folHlink"/>
                        </a:solidFill>
                        <a:latin typeface="Consolas" panose="020B0609020204030204" pitchFamily="49" charset="0"/>
                      </a:rPr>
                      <a:t>C</a:t>
                    </a:r>
                    <a:endParaRPr lang="en-US" altLang="zh-CN" sz="1800">
                      <a:solidFill>
                        <a:srgbClr val="FFFFFF"/>
                      </a:solidFill>
                      <a:latin typeface="Consolas" panose="020B0609020204030204" pitchFamily="49" charset="0"/>
                    </a:endParaRPr>
                  </a:p>
                </p:txBody>
              </p:sp>
              <p:sp>
                <p:nvSpPr>
                  <p:cNvPr id="17" name="Oval 31"/>
                  <p:cNvSpPr>
                    <a:spLocks noChangeArrowheads="1"/>
                  </p:cNvSpPr>
                  <p:nvPr/>
                </p:nvSpPr>
                <p:spPr bwMode="auto">
                  <a:xfrm>
                    <a:off x="3671" y="1681"/>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Q</a:t>
                    </a:r>
                    <a:endParaRPr lang="en-US" altLang="zh-CN" sz="1800">
                      <a:latin typeface="Consolas" panose="020B0609020204030204" pitchFamily="49" charset="0"/>
                    </a:endParaRPr>
                  </a:p>
                </p:txBody>
              </p:sp>
              <p:sp>
                <p:nvSpPr>
                  <p:cNvPr id="18" name="Line 34"/>
                  <p:cNvSpPr>
                    <a:spLocks noChangeShapeType="1"/>
                  </p:cNvSpPr>
                  <p:nvPr/>
                </p:nvSpPr>
                <p:spPr bwMode="auto">
                  <a:xfrm flipH="1">
                    <a:off x="3586" y="785"/>
                    <a:ext cx="77"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35"/>
                  <p:cNvSpPr>
                    <a:spLocks noChangeShapeType="1"/>
                  </p:cNvSpPr>
                  <p:nvPr/>
                </p:nvSpPr>
                <p:spPr bwMode="auto">
                  <a:xfrm flipH="1">
                    <a:off x="3408" y="1130"/>
                    <a:ext cx="78"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36"/>
                  <p:cNvSpPr>
                    <a:spLocks noChangeShapeType="1"/>
                  </p:cNvSpPr>
                  <p:nvPr/>
                </p:nvSpPr>
                <p:spPr bwMode="auto">
                  <a:xfrm flipH="1">
                    <a:off x="3230" y="1474"/>
                    <a:ext cx="100" cy="1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37"/>
                  <p:cNvSpPr>
                    <a:spLocks noChangeShapeType="1"/>
                  </p:cNvSpPr>
                  <p:nvPr/>
                </p:nvSpPr>
                <p:spPr bwMode="auto">
                  <a:xfrm>
                    <a:off x="3630" y="1119"/>
                    <a:ext cx="89" cy="15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38"/>
                  <p:cNvSpPr>
                    <a:spLocks noChangeShapeType="1"/>
                  </p:cNvSpPr>
                  <p:nvPr/>
                </p:nvSpPr>
                <p:spPr bwMode="auto">
                  <a:xfrm flipH="1">
                    <a:off x="3589" y="1868"/>
                    <a:ext cx="119" cy="18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39"/>
                  <p:cNvSpPr>
                    <a:spLocks noChangeShapeType="1"/>
                  </p:cNvSpPr>
                  <p:nvPr/>
                </p:nvSpPr>
                <p:spPr bwMode="auto">
                  <a:xfrm>
                    <a:off x="3875" y="1852"/>
                    <a:ext cx="133" cy="1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40"/>
                  <p:cNvSpPr>
                    <a:spLocks noChangeShapeType="1"/>
                  </p:cNvSpPr>
                  <p:nvPr/>
                </p:nvSpPr>
                <p:spPr bwMode="auto">
                  <a:xfrm>
                    <a:off x="3452" y="1463"/>
                    <a:ext cx="268" cy="26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3" name="Text Box 41"/>
                <p:cNvSpPr txBox="1">
                  <a:spLocks noChangeArrowheads="1"/>
                </p:cNvSpPr>
                <p:nvPr/>
              </p:nvSpPr>
              <p:spPr bwMode="auto">
                <a:xfrm>
                  <a:off x="2388" y="2304"/>
                  <a:ext cx="265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zh-CN" sz="1800" dirty="0">
                      <a:latin typeface="微软雅黑" panose="020B0503020204020204" pitchFamily="34" charset="-122"/>
                      <a:ea typeface="微软雅黑" panose="020B0503020204020204" pitchFamily="34" charset="-122"/>
                    </a:rPr>
                    <a:t>中序遍历：</a:t>
                  </a:r>
                  <a:r>
                    <a:rPr lang="en-US" altLang="zh-CN" sz="1800" dirty="0">
                      <a:latin typeface="微软雅黑" panose="020B0503020204020204" pitchFamily="34" charset="-122"/>
                      <a:ea typeface="微软雅黑" panose="020B0503020204020204" pitchFamily="34" charset="-122"/>
                    </a:rPr>
                    <a:t>C</a:t>
                  </a:r>
                  <a:r>
                    <a:rPr lang="en-US" altLang="zh-CN" sz="1400" dirty="0">
                      <a:latin typeface="微软雅黑" panose="020B0503020204020204" pitchFamily="34" charset="-122"/>
                      <a:ea typeface="微软雅黑" panose="020B0503020204020204" pitchFamily="34" charset="-122"/>
                    </a:rPr>
                    <a:t>L</a:t>
                  </a:r>
                  <a:r>
                    <a:rPr lang="en-US" altLang="zh-CN" sz="1800" dirty="0">
                      <a:latin typeface="微软雅黑" panose="020B0503020204020204" pitchFamily="34" charset="-122"/>
                      <a:ea typeface="微软雅黑" panose="020B0503020204020204" pitchFamily="34" charset="-122"/>
                    </a:rPr>
                    <a:t>  C ……Q</a:t>
                  </a:r>
                  <a:r>
                    <a:rPr lang="en-US" altLang="zh-CN" sz="1400" dirty="0">
                      <a:latin typeface="微软雅黑" panose="020B0503020204020204" pitchFamily="34" charset="-122"/>
                      <a:ea typeface="微软雅黑" panose="020B0503020204020204" pitchFamily="34" charset="-122"/>
                    </a:rPr>
                    <a:t>L</a:t>
                  </a:r>
                  <a:r>
                    <a:rPr lang="en-US" altLang="zh-CN" sz="1800" dirty="0">
                      <a:latin typeface="微软雅黑" panose="020B0503020204020204" pitchFamily="34" charset="-122"/>
                      <a:ea typeface="微软雅黑" panose="020B0503020204020204" pitchFamily="34" charset="-122"/>
                    </a:rPr>
                    <a:t>  Q  S</a:t>
                  </a:r>
                  <a:r>
                    <a:rPr lang="en-US" altLang="zh-CN" sz="1400" dirty="0">
                      <a:latin typeface="微软雅黑" panose="020B0503020204020204" pitchFamily="34" charset="-122"/>
                      <a:ea typeface="微软雅黑" panose="020B0503020204020204" pitchFamily="34" charset="-122"/>
                    </a:rPr>
                    <a:t>L</a:t>
                  </a:r>
                  <a:r>
                    <a:rPr lang="en-US" altLang="zh-CN" sz="1800" dirty="0">
                      <a:latin typeface="微软雅黑" panose="020B0503020204020204" pitchFamily="34" charset="-122"/>
                      <a:ea typeface="微软雅黑" panose="020B0503020204020204" pitchFamily="34" charset="-122"/>
                    </a:rPr>
                    <a:t>  S  P</a:t>
                  </a:r>
                  <a:r>
                    <a:rPr lang="en-US" altLang="zh-CN" sz="1400" dirty="0">
                      <a:latin typeface="微软雅黑" panose="020B0503020204020204" pitchFamily="34" charset="-122"/>
                      <a:ea typeface="微软雅黑" panose="020B0503020204020204" pitchFamily="34" charset="-122"/>
                    </a:rPr>
                    <a:t>R</a:t>
                  </a:r>
                  <a:r>
                    <a:rPr lang="en-US" altLang="zh-CN" sz="1800" dirty="0">
                      <a:latin typeface="微软雅黑" panose="020B0503020204020204" pitchFamily="34" charset="-122"/>
                      <a:ea typeface="微软雅黑" panose="020B0503020204020204" pitchFamily="34" charset="-122"/>
                    </a:rPr>
                    <a:t>  F</a:t>
                  </a:r>
                  <a:endParaRPr lang="en-US" altLang="zh-CN" sz="1800" dirty="0">
                    <a:latin typeface="微软雅黑" panose="020B0503020204020204" pitchFamily="34" charset="-122"/>
                    <a:ea typeface="微软雅黑" panose="020B0503020204020204" pitchFamily="34" charset="-122"/>
                  </a:endParaRPr>
                </a:p>
              </p:txBody>
            </p:sp>
          </p:grpSp>
          <p:sp>
            <p:nvSpPr>
              <p:cNvPr id="11" name="Text Box 42"/>
              <p:cNvSpPr txBox="1">
                <a:spLocks noChangeArrowheads="1"/>
              </p:cNvSpPr>
              <p:nvPr/>
            </p:nvSpPr>
            <p:spPr bwMode="auto">
              <a:xfrm>
                <a:off x="1901" y="2351"/>
                <a:ext cx="3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(5)</a:t>
                </a:r>
                <a:endParaRPr lang="en-US" altLang="zh-CN" sz="1800">
                  <a:latin typeface="Consolas" panose="020B0609020204030204" pitchFamily="49" charset="0"/>
                </a:endParaRPr>
              </a:p>
            </p:txBody>
          </p:sp>
        </p:grpSp>
        <p:sp>
          <p:nvSpPr>
            <p:cNvPr id="7" name="Text Box 41"/>
            <p:cNvSpPr txBox="1">
              <a:spLocks noChangeArrowheads="1"/>
            </p:cNvSpPr>
            <p:nvPr/>
          </p:nvSpPr>
          <p:spPr bwMode="auto">
            <a:xfrm>
              <a:off x="-76200" y="4278868"/>
              <a:ext cx="39421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zh-CN" sz="1800" dirty="0">
                  <a:latin typeface="微软雅黑" panose="020B0503020204020204" pitchFamily="34" charset="-122"/>
                  <a:ea typeface="微软雅黑" panose="020B0503020204020204" pitchFamily="34" charset="-122"/>
                </a:rPr>
                <a:t>中序遍历：</a:t>
              </a:r>
              <a:r>
                <a:rPr lang="en-US" altLang="zh-CN" sz="1800" dirty="0">
                  <a:latin typeface="微软雅黑" panose="020B0503020204020204" pitchFamily="34" charset="-122"/>
                  <a:ea typeface="微软雅黑" panose="020B0503020204020204" pitchFamily="34" charset="-122"/>
                </a:rPr>
                <a:t>C</a:t>
              </a:r>
              <a:r>
                <a:rPr lang="en-US" altLang="zh-CN" sz="1400" dirty="0">
                  <a:latin typeface="微软雅黑" panose="020B0503020204020204" pitchFamily="34" charset="-122"/>
                  <a:ea typeface="微软雅黑" panose="020B0503020204020204" pitchFamily="34" charset="-122"/>
                </a:rPr>
                <a:t>L</a:t>
              </a:r>
              <a:r>
                <a:rPr lang="en-US" altLang="zh-CN" sz="1800" dirty="0">
                  <a:latin typeface="微软雅黑" panose="020B0503020204020204" pitchFamily="34" charset="-122"/>
                  <a:ea typeface="微软雅黑" panose="020B0503020204020204" pitchFamily="34" charset="-122"/>
                </a:rPr>
                <a:t> C……Q</a:t>
              </a:r>
              <a:r>
                <a:rPr lang="en-US" altLang="zh-CN" sz="1400" dirty="0">
                  <a:latin typeface="微软雅黑" panose="020B0503020204020204" pitchFamily="34" charset="-122"/>
                  <a:ea typeface="微软雅黑" panose="020B0503020204020204" pitchFamily="34" charset="-122"/>
                </a:rPr>
                <a:t>L</a:t>
              </a:r>
              <a:r>
                <a:rPr lang="en-US" altLang="zh-CN" sz="1800" dirty="0">
                  <a:latin typeface="微软雅黑" panose="020B0503020204020204" pitchFamily="34" charset="-122"/>
                  <a:ea typeface="微软雅黑" panose="020B0503020204020204" pitchFamily="34" charset="-122"/>
                </a:rPr>
                <a:t> Q S</a:t>
              </a:r>
              <a:r>
                <a:rPr lang="en-US" altLang="zh-CN" sz="1400" dirty="0">
                  <a:latin typeface="微软雅黑" panose="020B0503020204020204" pitchFamily="34" charset="-122"/>
                  <a:ea typeface="微软雅黑" panose="020B0503020204020204" pitchFamily="34" charset="-122"/>
                </a:rPr>
                <a:t>L</a:t>
              </a:r>
              <a:r>
                <a:rPr lang="en-US" altLang="zh-CN" sz="1800" dirty="0">
                  <a:latin typeface="微软雅黑" panose="020B0503020204020204" pitchFamily="34" charset="-122"/>
                  <a:ea typeface="微软雅黑" panose="020B0503020204020204" pitchFamily="34" charset="-122"/>
                </a:rPr>
                <a:t> S P P</a:t>
              </a:r>
              <a:r>
                <a:rPr lang="en-US" altLang="zh-CN" sz="1400" dirty="0">
                  <a:latin typeface="微软雅黑" panose="020B0503020204020204" pitchFamily="34" charset="-122"/>
                  <a:ea typeface="微软雅黑" panose="020B0503020204020204" pitchFamily="34" charset="-122"/>
                </a:rPr>
                <a:t>R</a:t>
              </a:r>
              <a:r>
                <a:rPr lang="en-US" altLang="zh-CN" sz="1800" dirty="0">
                  <a:latin typeface="微软雅黑" panose="020B0503020204020204" pitchFamily="34" charset="-122"/>
                  <a:ea typeface="微软雅黑" panose="020B0503020204020204" pitchFamily="34" charset="-122"/>
                </a:rPr>
                <a:t> F</a:t>
              </a:r>
              <a:endParaRPr lang="en-US" altLang="zh-CN" sz="1800" dirty="0">
                <a:latin typeface="微软雅黑" panose="020B0503020204020204" pitchFamily="34" charset="-122"/>
                <a:ea typeface="微软雅黑" panose="020B0503020204020204" pitchFamily="34" charset="-122"/>
              </a:endParaRPr>
            </a:p>
          </p:txBody>
        </p:sp>
      </p:grpSp>
      <p:sp>
        <p:nvSpPr>
          <p:cNvPr id="38" name="矩形 37"/>
          <p:cNvSpPr/>
          <p:nvPr/>
        </p:nvSpPr>
        <p:spPr bwMode="auto">
          <a:xfrm>
            <a:off x="3069167" y="2600437"/>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C</a:t>
            </a:r>
            <a:r>
              <a:rPr lang="en-US" altLang="zh-CN" baseline="-25000" dirty="0">
                <a:solidFill>
                  <a:schemeClr val="tx1"/>
                </a:solidFill>
              </a:rPr>
              <a:t>L</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sp>
        <p:nvSpPr>
          <p:cNvPr id="39" name="矩形 38"/>
          <p:cNvSpPr/>
          <p:nvPr/>
        </p:nvSpPr>
        <p:spPr bwMode="auto">
          <a:xfrm>
            <a:off x="3718455" y="3156062"/>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Q</a:t>
            </a:r>
            <a:r>
              <a:rPr lang="en-US" altLang="zh-CN" baseline="-25000" dirty="0">
                <a:solidFill>
                  <a:schemeClr val="tx1"/>
                </a:solidFill>
              </a:rPr>
              <a:t>L</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sp>
        <p:nvSpPr>
          <p:cNvPr id="40" name="矩形 39"/>
          <p:cNvSpPr/>
          <p:nvPr/>
        </p:nvSpPr>
        <p:spPr bwMode="auto">
          <a:xfrm>
            <a:off x="4224867" y="3716449"/>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rgbClr val="FF9900"/>
                </a:solidFill>
              </a:rPr>
              <a:t>S</a:t>
            </a:r>
            <a:r>
              <a:rPr lang="en-US" altLang="zh-CN" sz="1400" dirty="0">
                <a:solidFill>
                  <a:srgbClr val="FF9900"/>
                </a:solidFill>
              </a:rPr>
              <a:t>L</a:t>
            </a:r>
            <a:endParaRPr lang="en-US" altLang="zh-CN" dirty="0"/>
          </a:p>
          <a:p>
            <a:pPr algn="ctr" eaLnBrk="1" hangingPunct="1">
              <a:defRPr/>
            </a:pPr>
            <a:endParaRPr lang="zh-CN" altLang="en-US" dirty="0">
              <a:solidFill>
                <a:schemeClr val="tx2">
                  <a:lumMod val="60000"/>
                  <a:lumOff val="40000"/>
                </a:schemeClr>
              </a:solidFill>
            </a:endParaRPr>
          </a:p>
        </p:txBody>
      </p:sp>
      <p:sp>
        <p:nvSpPr>
          <p:cNvPr id="41" name="矩形 40"/>
          <p:cNvSpPr/>
          <p:nvPr/>
        </p:nvSpPr>
        <p:spPr bwMode="auto">
          <a:xfrm>
            <a:off x="3843867" y="1963849"/>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P</a:t>
            </a:r>
            <a:r>
              <a:rPr lang="en-US" altLang="zh-CN" baseline="-25000" dirty="0">
                <a:solidFill>
                  <a:schemeClr val="tx1"/>
                </a:solidFill>
              </a:rPr>
              <a:t>R</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sp>
        <p:nvSpPr>
          <p:cNvPr id="42" name="矩形 41"/>
          <p:cNvSpPr/>
          <p:nvPr/>
        </p:nvSpPr>
        <p:spPr bwMode="auto">
          <a:xfrm>
            <a:off x="7730067" y="2040049"/>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P</a:t>
            </a:r>
            <a:r>
              <a:rPr lang="en-US" altLang="zh-CN" baseline="-25000" dirty="0">
                <a:solidFill>
                  <a:schemeClr val="tx1"/>
                </a:solidFill>
              </a:rPr>
              <a:t>R</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sp>
        <p:nvSpPr>
          <p:cNvPr id="43" name="矩形 42"/>
          <p:cNvSpPr/>
          <p:nvPr/>
        </p:nvSpPr>
        <p:spPr bwMode="auto">
          <a:xfrm>
            <a:off x="6918855" y="2676637"/>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C</a:t>
            </a:r>
            <a:r>
              <a:rPr lang="en-US" altLang="zh-CN" baseline="-25000" dirty="0">
                <a:solidFill>
                  <a:schemeClr val="tx1"/>
                </a:solidFill>
              </a:rPr>
              <a:t>L</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sp>
        <p:nvSpPr>
          <p:cNvPr id="44" name="矩形 43"/>
          <p:cNvSpPr/>
          <p:nvPr/>
        </p:nvSpPr>
        <p:spPr bwMode="auto">
          <a:xfrm>
            <a:off x="7577667" y="3281474"/>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Q</a:t>
            </a:r>
            <a:r>
              <a:rPr lang="en-US" altLang="zh-CN" baseline="-25000" dirty="0">
                <a:solidFill>
                  <a:schemeClr val="tx1"/>
                </a:solidFill>
              </a:rPr>
              <a:t>L</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sp>
        <p:nvSpPr>
          <p:cNvPr id="45" name="矩形 44"/>
          <p:cNvSpPr/>
          <p:nvPr/>
        </p:nvSpPr>
        <p:spPr bwMode="auto">
          <a:xfrm>
            <a:off x="8187267" y="3295762"/>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rgbClr val="FF9900"/>
                </a:solidFill>
              </a:rPr>
              <a:t>S</a:t>
            </a:r>
            <a:r>
              <a:rPr lang="en-US" altLang="zh-CN" sz="1400" dirty="0">
                <a:solidFill>
                  <a:srgbClr val="FF9900"/>
                </a:solidFill>
              </a:rPr>
              <a:t>L</a:t>
            </a:r>
            <a:endParaRPr lang="en-US" altLang="zh-CN" dirty="0"/>
          </a:p>
          <a:p>
            <a:pPr algn="ctr" eaLnBrk="1" hangingPunct="1">
              <a:defRPr/>
            </a:pPr>
            <a:endParaRPr lang="zh-CN" altLang="en-US" dirty="0">
              <a:solidFill>
                <a:schemeClr val="tx2">
                  <a:lumMod val="60000"/>
                  <a:lumOff val="40000"/>
                </a:schemeClr>
              </a:solidFill>
            </a:endParaRPr>
          </a:p>
        </p:txBody>
      </p:sp>
      <p:grpSp>
        <p:nvGrpSpPr>
          <p:cNvPr id="46" name="组合 67"/>
          <p:cNvGrpSpPr/>
          <p:nvPr/>
        </p:nvGrpSpPr>
        <p:grpSpPr bwMode="auto">
          <a:xfrm>
            <a:off x="3996267" y="4173649"/>
            <a:ext cx="6018213" cy="2578100"/>
            <a:chOff x="2590800" y="4267200"/>
            <a:chExt cx="6018213" cy="2578100"/>
          </a:xfrm>
        </p:grpSpPr>
        <p:grpSp>
          <p:nvGrpSpPr>
            <p:cNvPr id="149" name="Group 43"/>
            <p:cNvGrpSpPr/>
            <p:nvPr/>
          </p:nvGrpSpPr>
          <p:grpSpPr bwMode="auto">
            <a:xfrm>
              <a:off x="2590800" y="4267200"/>
              <a:ext cx="6018213" cy="2578100"/>
              <a:chOff x="389" y="2688"/>
              <a:chExt cx="3791" cy="1624"/>
            </a:xfrm>
          </p:grpSpPr>
          <p:sp>
            <p:nvSpPr>
              <p:cNvPr id="154" name="AutoShape 44"/>
              <p:cNvSpPr>
                <a:spLocks noChangeArrowheads="1"/>
              </p:cNvSpPr>
              <p:nvPr/>
            </p:nvSpPr>
            <p:spPr bwMode="auto">
              <a:xfrm>
                <a:off x="2252" y="3118"/>
                <a:ext cx="578" cy="189"/>
              </a:xfrm>
              <a:prstGeom prst="rightArrow">
                <a:avLst>
                  <a:gd name="adj1" fmla="val 50000"/>
                  <a:gd name="adj2" fmla="val 76455"/>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grpSp>
            <p:nvGrpSpPr>
              <p:cNvPr id="155" name="Group 45"/>
              <p:cNvGrpSpPr/>
              <p:nvPr/>
            </p:nvGrpSpPr>
            <p:grpSpPr bwMode="auto">
              <a:xfrm>
                <a:off x="1107" y="2688"/>
                <a:ext cx="619" cy="1063"/>
                <a:chOff x="930" y="2544"/>
                <a:chExt cx="619" cy="1063"/>
              </a:xfrm>
            </p:grpSpPr>
            <p:sp>
              <p:nvSpPr>
                <p:cNvPr id="165" name="Oval 46"/>
                <p:cNvSpPr>
                  <a:spLocks noChangeArrowheads="1"/>
                </p:cNvSpPr>
                <p:nvPr/>
              </p:nvSpPr>
              <p:spPr bwMode="auto">
                <a:xfrm>
                  <a:off x="1316" y="2544"/>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F</a:t>
                  </a:r>
                  <a:endParaRPr lang="en-US" altLang="zh-CN" sz="1800">
                    <a:latin typeface="Consolas" panose="020B0609020204030204" pitchFamily="49" charset="0"/>
                  </a:endParaRPr>
                </a:p>
              </p:txBody>
            </p:sp>
            <p:sp>
              <p:nvSpPr>
                <p:cNvPr id="166" name="Oval 47"/>
                <p:cNvSpPr>
                  <a:spLocks noChangeArrowheads="1"/>
                </p:cNvSpPr>
                <p:nvPr/>
              </p:nvSpPr>
              <p:spPr bwMode="auto">
                <a:xfrm>
                  <a:off x="1126" y="2869"/>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CC3300"/>
                      </a:solidFill>
                      <a:latin typeface="Consolas" panose="020B0609020204030204" pitchFamily="49" charset="0"/>
                    </a:rPr>
                    <a:t>P</a:t>
                  </a:r>
                  <a:endParaRPr lang="en-US" altLang="zh-CN" sz="1800">
                    <a:solidFill>
                      <a:srgbClr val="FFFFFF"/>
                    </a:solidFill>
                    <a:latin typeface="Consolas" panose="020B0609020204030204" pitchFamily="49" charset="0"/>
                  </a:endParaRPr>
                </a:p>
              </p:txBody>
            </p:sp>
            <p:sp>
              <p:nvSpPr>
                <p:cNvPr id="167" name="Oval 48"/>
                <p:cNvSpPr>
                  <a:spLocks noChangeArrowheads="1"/>
                </p:cNvSpPr>
                <p:nvPr/>
              </p:nvSpPr>
              <p:spPr bwMode="auto">
                <a:xfrm>
                  <a:off x="938" y="3214"/>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00CC00"/>
                      </a:solidFill>
                      <a:latin typeface="Consolas" panose="020B0609020204030204" pitchFamily="49" charset="0"/>
                    </a:rPr>
                    <a:t>C</a:t>
                  </a:r>
                  <a:endParaRPr lang="en-US" altLang="zh-CN" sz="1800">
                    <a:solidFill>
                      <a:srgbClr val="00CC00"/>
                    </a:solidFill>
                    <a:latin typeface="Consolas" panose="020B0609020204030204" pitchFamily="49" charset="0"/>
                  </a:endParaRPr>
                </a:p>
              </p:txBody>
            </p:sp>
            <p:sp>
              <p:nvSpPr>
                <p:cNvPr id="168" name="Line 51"/>
                <p:cNvSpPr>
                  <a:spLocks noChangeShapeType="1"/>
                </p:cNvSpPr>
                <p:nvPr/>
              </p:nvSpPr>
              <p:spPr bwMode="auto">
                <a:xfrm flipH="1">
                  <a:off x="1286" y="2729"/>
                  <a:ext cx="77"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 name="Line 52"/>
                <p:cNvSpPr>
                  <a:spLocks noChangeShapeType="1"/>
                </p:cNvSpPr>
                <p:nvPr/>
              </p:nvSpPr>
              <p:spPr bwMode="auto">
                <a:xfrm flipH="1">
                  <a:off x="1108" y="3074"/>
                  <a:ext cx="78"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0" name="Line 53"/>
                <p:cNvSpPr>
                  <a:spLocks noChangeShapeType="1"/>
                </p:cNvSpPr>
                <p:nvPr/>
              </p:nvSpPr>
              <p:spPr bwMode="auto">
                <a:xfrm flipH="1">
                  <a:off x="930" y="3418"/>
                  <a:ext cx="100" cy="18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1" name="Line 54"/>
                <p:cNvSpPr>
                  <a:spLocks noChangeShapeType="1"/>
                </p:cNvSpPr>
                <p:nvPr/>
              </p:nvSpPr>
              <p:spPr bwMode="auto">
                <a:xfrm>
                  <a:off x="1330" y="3063"/>
                  <a:ext cx="89" cy="15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6" name="Text Box 55"/>
              <p:cNvSpPr txBox="1">
                <a:spLocks noChangeArrowheads="1"/>
              </p:cNvSpPr>
              <p:nvPr/>
            </p:nvSpPr>
            <p:spPr bwMode="auto">
              <a:xfrm>
                <a:off x="389" y="4079"/>
                <a:ext cx="177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zh-CN" sz="1800" dirty="0">
                    <a:latin typeface="微软雅黑" panose="020B0503020204020204" pitchFamily="34" charset="-122"/>
                    <a:ea typeface="微软雅黑" panose="020B0503020204020204" pitchFamily="34" charset="-122"/>
                  </a:rPr>
                  <a:t>中序遍历：</a:t>
                </a:r>
                <a:r>
                  <a:rPr lang="en-US" altLang="zh-CN" sz="1800" dirty="0">
                    <a:latin typeface="微软雅黑" panose="020B0503020204020204" pitchFamily="34" charset="-122"/>
                    <a:ea typeface="微软雅黑" panose="020B0503020204020204" pitchFamily="34" charset="-122"/>
                  </a:rPr>
                  <a:t>C</a:t>
                </a:r>
                <a:r>
                  <a:rPr lang="en-US" altLang="zh-CN" sz="1400" dirty="0">
                    <a:latin typeface="微软雅黑" panose="020B0503020204020204" pitchFamily="34" charset="-122"/>
                    <a:ea typeface="微软雅黑" panose="020B0503020204020204" pitchFamily="34" charset="-122"/>
                  </a:rPr>
                  <a:t>L</a:t>
                </a:r>
                <a:r>
                  <a:rPr lang="en-US" altLang="zh-CN" sz="1800" dirty="0">
                    <a:latin typeface="微软雅黑" panose="020B0503020204020204" pitchFamily="34" charset="-122"/>
                    <a:ea typeface="微软雅黑" panose="020B0503020204020204" pitchFamily="34" charset="-122"/>
                  </a:rPr>
                  <a:t>  C  P  P</a:t>
                </a:r>
                <a:r>
                  <a:rPr lang="en-US" altLang="zh-CN" sz="1400" dirty="0">
                    <a:latin typeface="微软雅黑" panose="020B0503020204020204" pitchFamily="34" charset="-122"/>
                    <a:ea typeface="微软雅黑" panose="020B0503020204020204" pitchFamily="34" charset="-122"/>
                  </a:rPr>
                  <a:t>R</a:t>
                </a:r>
                <a:r>
                  <a:rPr lang="en-US" altLang="zh-CN" sz="1800" dirty="0">
                    <a:latin typeface="微软雅黑" panose="020B0503020204020204" pitchFamily="34" charset="-122"/>
                    <a:ea typeface="微软雅黑" panose="020B0503020204020204" pitchFamily="34" charset="-122"/>
                  </a:rPr>
                  <a:t>  F</a:t>
                </a:r>
                <a:endParaRPr lang="en-US" altLang="zh-CN" sz="1800" dirty="0">
                  <a:latin typeface="微软雅黑" panose="020B0503020204020204" pitchFamily="34" charset="-122"/>
                  <a:ea typeface="微软雅黑" panose="020B0503020204020204" pitchFamily="34" charset="-122"/>
                </a:endParaRPr>
              </a:p>
            </p:txBody>
          </p:sp>
          <p:grpSp>
            <p:nvGrpSpPr>
              <p:cNvPr id="157" name="Group 56"/>
              <p:cNvGrpSpPr/>
              <p:nvPr/>
            </p:nvGrpSpPr>
            <p:grpSpPr bwMode="auto">
              <a:xfrm>
                <a:off x="3104" y="2781"/>
                <a:ext cx="422" cy="689"/>
                <a:chOff x="3549" y="2581"/>
                <a:chExt cx="422" cy="689"/>
              </a:xfrm>
            </p:grpSpPr>
            <p:sp>
              <p:nvSpPr>
                <p:cNvPr id="160" name="Oval 57"/>
                <p:cNvSpPr>
                  <a:spLocks noChangeArrowheads="1"/>
                </p:cNvSpPr>
                <p:nvPr/>
              </p:nvSpPr>
              <p:spPr bwMode="auto">
                <a:xfrm>
                  <a:off x="3738" y="2581"/>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F</a:t>
                  </a:r>
                  <a:endParaRPr lang="en-US" altLang="zh-CN" sz="1800">
                    <a:latin typeface="Consolas" panose="020B0609020204030204" pitchFamily="49" charset="0"/>
                  </a:endParaRPr>
                </a:p>
              </p:txBody>
            </p:sp>
            <p:sp>
              <p:nvSpPr>
                <p:cNvPr id="161" name="Oval 58"/>
                <p:cNvSpPr>
                  <a:spLocks noChangeArrowheads="1"/>
                </p:cNvSpPr>
                <p:nvPr/>
              </p:nvSpPr>
              <p:spPr bwMode="auto">
                <a:xfrm>
                  <a:off x="3567" y="2921"/>
                  <a:ext cx="233" cy="21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00CC00"/>
                      </a:solidFill>
                      <a:latin typeface="Consolas" panose="020B0609020204030204" pitchFamily="49" charset="0"/>
                    </a:rPr>
                    <a:t>C</a:t>
                  </a:r>
                  <a:endParaRPr lang="en-US" altLang="zh-CN" sz="1800">
                    <a:solidFill>
                      <a:srgbClr val="00CC00"/>
                    </a:solidFill>
                    <a:latin typeface="Consolas" panose="020B0609020204030204" pitchFamily="49" charset="0"/>
                  </a:endParaRPr>
                </a:p>
              </p:txBody>
            </p:sp>
            <p:sp>
              <p:nvSpPr>
                <p:cNvPr id="162" name="Line 61"/>
                <p:cNvSpPr>
                  <a:spLocks noChangeShapeType="1"/>
                </p:cNvSpPr>
                <p:nvPr/>
              </p:nvSpPr>
              <p:spPr bwMode="auto">
                <a:xfrm flipH="1">
                  <a:off x="3727" y="2781"/>
                  <a:ext cx="77" cy="1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 name="Line 62"/>
                <p:cNvSpPr>
                  <a:spLocks noChangeShapeType="1"/>
                </p:cNvSpPr>
                <p:nvPr/>
              </p:nvSpPr>
              <p:spPr bwMode="auto">
                <a:xfrm flipH="1">
                  <a:off x="3549" y="3126"/>
                  <a:ext cx="78"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 name="Line 63"/>
                <p:cNvSpPr>
                  <a:spLocks noChangeShapeType="1"/>
                </p:cNvSpPr>
                <p:nvPr/>
              </p:nvSpPr>
              <p:spPr bwMode="auto">
                <a:xfrm>
                  <a:off x="3771" y="3115"/>
                  <a:ext cx="89" cy="15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8" name="Text Box 64"/>
              <p:cNvSpPr txBox="1">
                <a:spLocks noChangeArrowheads="1"/>
              </p:cNvSpPr>
              <p:nvPr/>
            </p:nvSpPr>
            <p:spPr bwMode="auto">
              <a:xfrm>
                <a:off x="2584" y="3845"/>
                <a:ext cx="15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zh-CN" sz="1800" dirty="0">
                    <a:latin typeface="微软雅黑" panose="020B0503020204020204" pitchFamily="34" charset="-122"/>
                    <a:ea typeface="微软雅黑" panose="020B0503020204020204" pitchFamily="34" charset="-122"/>
                  </a:rPr>
                  <a:t>中序遍历：</a:t>
                </a:r>
                <a:r>
                  <a:rPr lang="en-US" altLang="zh-CN" sz="1800" dirty="0">
                    <a:latin typeface="微软雅黑" panose="020B0503020204020204" pitchFamily="34" charset="-122"/>
                    <a:ea typeface="微软雅黑" panose="020B0503020204020204" pitchFamily="34" charset="-122"/>
                  </a:rPr>
                  <a:t>C</a:t>
                </a:r>
                <a:r>
                  <a:rPr lang="en-US" altLang="zh-CN" sz="1400" dirty="0">
                    <a:latin typeface="微软雅黑" panose="020B0503020204020204" pitchFamily="34" charset="-122"/>
                    <a:ea typeface="微软雅黑" panose="020B0503020204020204" pitchFamily="34" charset="-122"/>
                  </a:rPr>
                  <a:t>L</a:t>
                </a:r>
                <a:r>
                  <a:rPr lang="en-US" altLang="zh-CN" sz="1800" dirty="0">
                    <a:latin typeface="微软雅黑" panose="020B0503020204020204" pitchFamily="34" charset="-122"/>
                    <a:ea typeface="微软雅黑" panose="020B0503020204020204" pitchFamily="34" charset="-122"/>
                  </a:rPr>
                  <a:t>  C  P</a:t>
                </a:r>
                <a:r>
                  <a:rPr lang="en-US" altLang="zh-CN" sz="1400" dirty="0">
                    <a:latin typeface="微软雅黑" panose="020B0503020204020204" pitchFamily="34" charset="-122"/>
                    <a:ea typeface="微软雅黑" panose="020B0503020204020204" pitchFamily="34" charset="-122"/>
                  </a:rPr>
                  <a:t>R</a:t>
                </a:r>
                <a:r>
                  <a:rPr lang="en-US" altLang="zh-CN" sz="1800" dirty="0">
                    <a:latin typeface="微软雅黑" panose="020B0503020204020204" pitchFamily="34" charset="-122"/>
                    <a:ea typeface="微软雅黑" panose="020B0503020204020204" pitchFamily="34" charset="-122"/>
                  </a:rPr>
                  <a:t>  F</a:t>
                </a:r>
                <a:endParaRPr lang="en-US" altLang="zh-CN" sz="1800" dirty="0">
                  <a:latin typeface="微软雅黑" panose="020B0503020204020204" pitchFamily="34" charset="-122"/>
                  <a:ea typeface="微软雅黑" panose="020B0503020204020204" pitchFamily="34" charset="-122"/>
                </a:endParaRPr>
              </a:p>
            </p:txBody>
          </p:sp>
          <p:sp>
            <p:nvSpPr>
              <p:cNvPr id="159" name="Text Box 65"/>
              <p:cNvSpPr txBox="1">
                <a:spLocks noChangeArrowheads="1"/>
              </p:cNvSpPr>
              <p:nvPr/>
            </p:nvSpPr>
            <p:spPr bwMode="auto">
              <a:xfrm>
                <a:off x="2426" y="4079"/>
                <a:ext cx="3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latin typeface="Consolas" panose="020B0609020204030204" pitchFamily="49" charset="0"/>
                  </a:rPr>
                  <a:t>(6)</a:t>
                </a:r>
                <a:endParaRPr lang="en-US" altLang="zh-CN" sz="1800">
                  <a:latin typeface="Consolas" panose="020B0609020204030204" pitchFamily="49" charset="0"/>
                </a:endParaRPr>
              </a:p>
            </p:txBody>
          </p:sp>
        </p:grpSp>
        <p:sp>
          <p:nvSpPr>
            <p:cNvPr id="150" name="矩形 149"/>
            <p:cNvSpPr/>
            <p:nvPr/>
          </p:nvSpPr>
          <p:spPr bwMode="auto">
            <a:xfrm>
              <a:off x="3505200" y="59436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C</a:t>
              </a:r>
              <a:r>
                <a:rPr lang="en-US" altLang="zh-CN" baseline="-25000" dirty="0">
                  <a:solidFill>
                    <a:schemeClr val="tx1"/>
                  </a:solidFill>
                </a:rPr>
                <a:t>L</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sp>
          <p:nvSpPr>
            <p:cNvPr id="151" name="矩形 150"/>
            <p:cNvSpPr/>
            <p:nvPr/>
          </p:nvSpPr>
          <p:spPr bwMode="auto">
            <a:xfrm>
              <a:off x="4267200" y="53340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P</a:t>
              </a:r>
              <a:r>
                <a:rPr lang="en-US" altLang="zh-CN" baseline="-25000" dirty="0">
                  <a:solidFill>
                    <a:schemeClr val="tx1"/>
                  </a:solidFill>
                </a:rPr>
                <a:t>R</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sp>
          <p:nvSpPr>
            <p:cNvPr id="152" name="矩形 151"/>
            <p:cNvSpPr/>
            <p:nvPr/>
          </p:nvSpPr>
          <p:spPr bwMode="auto">
            <a:xfrm>
              <a:off x="6692900" y="54864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C</a:t>
              </a:r>
              <a:r>
                <a:rPr lang="en-US" altLang="zh-CN" baseline="-25000" dirty="0">
                  <a:solidFill>
                    <a:schemeClr val="tx1"/>
                  </a:solidFill>
                </a:rPr>
                <a:t>L</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sp>
          <p:nvSpPr>
            <p:cNvPr id="153" name="矩形 152"/>
            <p:cNvSpPr/>
            <p:nvPr/>
          </p:nvSpPr>
          <p:spPr bwMode="auto">
            <a:xfrm>
              <a:off x="7239000" y="5486400"/>
              <a:ext cx="457200" cy="457200"/>
            </a:xfrm>
            <a:prstGeom prst="rect">
              <a:avLst/>
            </a:prstGeom>
            <a:noFill/>
            <a:ln w="3175" cap="flat" cmpd="sng" algn="ctr">
              <a:solidFill>
                <a:schemeClr val="tx2"/>
              </a:solidFill>
              <a:prstDash val="solid"/>
              <a:round/>
              <a:headEnd type="none" w="med" len="med"/>
              <a:tailEnd type="none" w="med" len="med"/>
            </a:ln>
            <a:effectLst/>
          </p:spPr>
          <p:txBody>
            <a:bodyPr lIns="90000" tIns="46800" rIns="90000" bIns="46800" anchor="ctr"/>
            <a:lstStyle/>
            <a:p>
              <a:pPr algn="ctr" eaLnBrk="1" hangingPunct="1">
                <a:defRPr/>
              </a:pPr>
              <a:endParaRPr lang="en-US" altLang="zh-CN" dirty="0">
                <a:solidFill>
                  <a:schemeClr val="tx2">
                    <a:lumMod val="60000"/>
                    <a:lumOff val="40000"/>
                  </a:schemeClr>
                </a:solidFill>
              </a:endParaRPr>
            </a:p>
            <a:p>
              <a:pPr algn="ctr" eaLnBrk="1" hangingPunct="1">
                <a:defRPr/>
              </a:pPr>
              <a:r>
                <a:rPr lang="en-US" altLang="zh-CN" dirty="0">
                  <a:solidFill>
                    <a:schemeClr val="tx1"/>
                  </a:solidFill>
                </a:rPr>
                <a:t>P</a:t>
              </a:r>
              <a:r>
                <a:rPr lang="en-US" altLang="zh-CN" baseline="-25000" dirty="0">
                  <a:solidFill>
                    <a:schemeClr val="tx1"/>
                  </a:solidFill>
                </a:rPr>
                <a:t>R</a:t>
              </a:r>
              <a:endParaRPr lang="en-US" altLang="zh-CN" baseline="-25000" dirty="0">
                <a:solidFill>
                  <a:schemeClr val="tx1"/>
                </a:solidFill>
              </a:endParaRPr>
            </a:p>
            <a:p>
              <a:pPr algn="ctr" eaLnBrk="1" hangingPunct="1">
                <a:defRPr/>
              </a:pPr>
              <a:endParaRPr lang="zh-CN" altLang="en-US" dirty="0">
                <a:solidFill>
                  <a:schemeClr val="tx2">
                    <a:lumMod val="60000"/>
                    <a:lumOff val="40000"/>
                  </a:schemeClr>
                </a:solidFill>
              </a:endParaRPr>
            </a:p>
          </p:txBody>
        </p:sp>
      </p:grpSp>
      <p:sp>
        <p:nvSpPr>
          <p:cNvPr id="172" name="Rectangle 69"/>
          <p:cNvSpPr>
            <a:spLocks noChangeArrowheads="1"/>
          </p:cNvSpPr>
          <p:nvPr/>
        </p:nvSpPr>
        <p:spPr bwMode="auto">
          <a:xfrm>
            <a:off x="886355" y="1974017"/>
            <a:ext cx="1749424" cy="1571842"/>
          </a:xfrm>
          <a:prstGeom prst="rect">
            <a:avLst/>
          </a:prstGeom>
          <a:solidFill>
            <a:schemeClr val="bg1"/>
          </a:solidFill>
          <a:ln w="3175" algn="ctr">
            <a:solidFill>
              <a:schemeClr val="tx1"/>
            </a:solidFill>
            <a:miter lim="800000"/>
          </a:ln>
        </p:spPr>
        <p:txBody>
          <a:bodyPr wrap="square" lIns="90000" tIns="46800" rIns="90000" bIns="46800">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dirty="0">
                <a:latin typeface="微软雅黑" panose="020B0503020204020204" pitchFamily="34" charset="-122"/>
                <a:ea typeface="微软雅黑" panose="020B0503020204020204" pitchFamily="34" charset="-122"/>
              </a:rPr>
              <a:t>被删除的结点</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既有左子树，也有右子树</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二叉排序树的删除算法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AutoShape 23"/>
          <p:cNvSpPr>
            <a:spLocks noChangeArrowheads="1"/>
          </p:cNvSpPr>
          <p:nvPr/>
        </p:nvSpPr>
        <p:spPr bwMode="auto">
          <a:xfrm>
            <a:off x="2849563" y="2273182"/>
            <a:ext cx="1235075" cy="228600"/>
          </a:xfrm>
          <a:prstGeom prst="rightArrow">
            <a:avLst>
              <a:gd name="adj1" fmla="val 50000"/>
              <a:gd name="adj2" fmla="val 135069"/>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3" name="Text Box 24"/>
          <p:cNvSpPr txBox="1">
            <a:spLocks noChangeArrowheads="1"/>
          </p:cNvSpPr>
          <p:nvPr/>
        </p:nvSpPr>
        <p:spPr bwMode="auto">
          <a:xfrm>
            <a:off x="2844800" y="2038232"/>
            <a:ext cx="895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zh-CN" sz="1800">
                <a:latin typeface="Consolas" panose="020B0609020204030204" pitchFamily="49" charset="0"/>
              </a:rPr>
              <a:t>删除</a:t>
            </a:r>
            <a:r>
              <a:rPr lang="en-US" altLang="zh-CN" sz="1800">
                <a:latin typeface="Consolas" panose="020B0609020204030204" pitchFamily="49" charset="0"/>
              </a:rPr>
              <a:t>27</a:t>
            </a:r>
            <a:endParaRPr lang="en-US" altLang="zh-CN" sz="1800">
              <a:latin typeface="Consolas" panose="020B0609020204030204" pitchFamily="49" charset="0"/>
            </a:endParaRPr>
          </a:p>
        </p:txBody>
      </p:sp>
      <p:sp>
        <p:nvSpPr>
          <p:cNvPr id="4" name="AutoShape 42"/>
          <p:cNvSpPr>
            <a:spLocks noChangeArrowheads="1"/>
          </p:cNvSpPr>
          <p:nvPr/>
        </p:nvSpPr>
        <p:spPr bwMode="auto">
          <a:xfrm>
            <a:off x="6213475" y="2355732"/>
            <a:ext cx="1235075" cy="228600"/>
          </a:xfrm>
          <a:prstGeom prst="rightArrow">
            <a:avLst>
              <a:gd name="adj1" fmla="val 50000"/>
              <a:gd name="adj2" fmla="val 135069"/>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47" name="Text Box 43"/>
          <p:cNvSpPr txBox="1">
            <a:spLocks noChangeArrowheads="1"/>
          </p:cNvSpPr>
          <p:nvPr/>
        </p:nvSpPr>
        <p:spPr bwMode="auto">
          <a:xfrm>
            <a:off x="6208713" y="2120782"/>
            <a:ext cx="7699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zh-CN" sz="1800">
                <a:latin typeface="Consolas" panose="020B0609020204030204" pitchFamily="49" charset="0"/>
              </a:rPr>
              <a:t>删除</a:t>
            </a:r>
            <a:r>
              <a:rPr lang="en-US" altLang="zh-CN" sz="1800">
                <a:latin typeface="Consolas" panose="020B0609020204030204" pitchFamily="49" charset="0"/>
              </a:rPr>
              <a:t>1</a:t>
            </a:r>
            <a:endParaRPr lang="en-US" altLang="zh-CN" sz="1800">
              <a:latin typeface="Consolas" panose="020B0609020204030204" pitchFamily="49" charset="0"/>
            </a:endParaRPr>
          </a:p>
        </p:txBody>
      </p:sp>
      <p:sp>
        <p:nvSpPr>
          <p:cNvPr id="48" name="AutoShape 73"/>
          <p:cNvSpPr>
            <a:spLocks noChangeArrowheads="1"/>
          </p:cNvSpPr>
          <p:nvPr/>
        </p:nvSpPr>
        <p:spPr bwMode="auto">
          <a:xfrm>
            <a:off x="1125538" y="4948120"/>
            <a:ext cx="1235075" cy="228600"/>
          </a:xfrm>
          <a:prstGeom prst="rightArrow">
            <a:avLst>
              <a:gd name="adj1" fmla="val 50000"/>
              <a:gd name="adj2" fmla="val 135069"/>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49" name="Text Box 74"/>
          <p:cNvSpPr txBox="1">
            <a:spLocks noChangeArrowheads="1"/>
          </p:cNvSpPr>
          <p:nvPr/>
        </p:nvSpPr>
        <p:spPr bwMode="auto">
          <a:xfrm>
            <a:off x="1120775" y="4713170"/>
            <a:ext cx="895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zh-CN" sz="1800">
                <a:latin typeface="Consolas" panose="020B0609020204030204" pitchFamily="49" charset="0"/>
              </a:rPr>
              <a:t>删除1</a:t>
            </a:r>
            <a:r>
              <a:rPr lang="en-US" altLang="zh-CN" sz="1800">
                <a:latin typeface="Consolas" panose="020B0609020204030204" pitchFamily="49" charset="0"/>
              </a:rPr>
              <a:t>3</a:t>
            </a:r>
            <a:endParaRPr lang="en-US" altLang="zh-CN" sz="1800">
              <a:latin typeface="Consolas" panose="020B0609020204030204" pitchFamily="49" charset="0"/>
            </a:endParaRPr>
          </a:p>
        </p:txBody>
      </p:sp>
      <p:sp>
        <p:nvSpPr>
          <p:cNvPr id="50" name="AutoShape 88"/>
          <p:cNvSpPr>
            <a:spLocks noChangeArrowheads="1"/>
          </p:cNvSpPr>
          <p:nvPr/>
        </p:nvSpPr>
        <p:spPr bwMode="auto">
          <a:xfrm>
            <a:off x="4851400" y="5011620"/>
            <a:ext cx="1235075" cy="228600"/>
          </a:xfrm>
          <a:prstGeom prst="rightArrow">
            <a:avLst>
              <a:gd name="adj1" fmla="val 50000"/>
              <a:gd name="adj2" fmla="val 135069"/>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51" name="Text Box 89"/>
          <p:cNvSpPr txBox="1">
            <a:spLocks noChangeArrowheads="1"/>
          </p:cNvSpPr>
          <p:nvPr/>
        </p:nvSpPr>
        <p:spPr bwMode="auto">
          <a:xfrm>
            <a:off x="4910138" y="4776670"/>
            <a:ext cx="895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zh-CN" sz="1800">
                <a:latin typeface="Consolas" panose="020B0609020204030204" pitchFamily="49" charset="0"/>
              </a:rPr>
              <a:t>删除</a:t>
            </a:r>
            <a:r>
              <a:rPr lang="en-US" altLang="zh-CN" sz="1800">
                <a:latin typeface="Consolas" panose="020B0609020204030204" pitchFamily="49" charset="0"/>
              </a:rPr>
              <a:t>22</a:t>
            </a:r>
            <a:endParaRPr lang="en-US" altLang="zh-CN" sz="1800">
              <a:latin typeface="Consolas" panose="020B0609020204030204" pitchFamily="49" charset="0"/>
            </a:endParaRPr>
          </a:p>
        </p:txBody>
      </p:sp>
      <p:grpSp>
        <p:nvGrpSpPr>
          <p:cNvPr id="52" name="组合 191"/>
          <p:cNvGrpSpPr/>
          <p:nvPr/>
        </p:nvGrpSpPr>
        <p:grpSpPr bwMode="auto">
          <a:xfrm>
            <a:off x="660400" y="965082"/>
            <a:ext cx="1876425" cy="3352800"/>
            <a:chOff x="457201" y="1143000"/>
            <a:chExt cx="1876425" cy="3352800"/>
          </a:xfrm>
        </p:grpSpPr>
        <p:grpSp>
          <p:nvGrpSpPr>
            <p:cNvPr id="53" name="Group 104"/>
            <p:cNvGrpSpPr/>
            <p:nvPr/>
          </p:nvGrpSpPr>
          <p:grpSpPr bwMode="auto">
            <a:xfrm>
              <a:off x="457201" y="1143000"/>
              <a:ext cx="1876425" cy="2209800"/>
              <a:chOff x="288" y="720"/>
              <a:chExt cx="1182" cy="1392"/>
            </a:xfrm>
          </p:grpSpPr>
          <p:sp>
            <p:nvSpPr>
              <p:cNvPr id="59" name="Text Box 3"/>
              <p:cNvSpPr txBox="1">
                <a:spLocks noChangeArrowheads="1"/>
              </p:cNvSpPr>
              <p:nvPr/>
            </p:nvSpPr>
            <p:spPr bwMode="auto">
              <a:xfrm>
                <a:off x="288" y="720"/>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2800">
                    <a:latin typeface="Consolas" panose="020B0609020204030204" pitchFamily="49" charset="0"/>
                  </a:rPr>
                  <a:t>例</a:t>
                </a:r>
                <a:endParaRPr lang="zh-CN" altLang="en-US" sz="2800">
                  <a:latin typeface="Consolas" panose="020B0609020204030204" pitchFamily="49" charset="0"/>
                </a:endParaRPr>
              </a:p>
            </p:txBody>
          </p:sp>
          <p:grpSp>
            <p:nvGrpSpPr>
              <p:cNvPr id="60" name="Group 4"/>
              <p:cNvGrpSpPr/>
              <p:nvPr/>
            </p:nvGrpSpPr>
            <p:grpSpPr bwMode="auto">
              <a:xfrm>
                <a:off x="430" y="823"/>
                <a:ext cx="1040" cy="1289"/>
                <a:chOff x="619" y="1323"/>
                <a:chExt cx="1040" cy="1289"/>
              </a:xfrm>
            </p:grpSpPr>
            <p:sp>
              <p:nvSpPr>
                <p:cNvPr id="61" name="Line 17"/>
                <p:cNvSpPr>
                  <a:spLocks noChangeShapeType="1"/>
                </p:cNvSpPr>
                <p:nvPr/>
              </p:nvSpPr>
              <p:spPr bwMode="auto">
                <a:xfrm>
                  <a:off x="765" y="1844"/>
                  <a:ext cx="113"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62" name="Oval 5"/>
                <p:cNvSpPr>
                  <a:spLocks noChangeArrowheads="1"/>
                </p:cNvSpPr>
                <p:nvPr/>
              </p:nvSpPr>
              <p:spPr bwMode="auto">
                <a:xfrm>
                  <a:off x="909" y="1323"/>
                  <a:ext cx="245" cy="244"/>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15</a:t>
                  </a:r>
                  <a:endParaRPr lang="en-US" altLang="zh-CN">
                    <a:solidFill>
                      <a:schemeClr val="accent3">
                        <a:lumMod val="50000"/>
                      </a:schemeClr>
                    </a:solidFill>
                  </a:endParaRPr>
                </a:p>
              </p:txBody>
            </p:sp>
            <p:sp>
              <p:nvSpPr>
                <p:cNvPr id="63" name="Oval 6"/>
                <p:cNvSpPr>
                  <a:spLocks noChangeArrowheads="1"/>
                </p:cNvSpPr>
                <p:nvPr/>
              </p:nvSpPr>
              <p:spPr bwMode="auto">
                <a:xfrm>
                  <a:off x="619" y="1641"/>
                  <a:ext cx="211" cy="23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1</a:t>
                  </a:r>
                  <a:endParaRPr lang="en-US" altLang="zh-CN" sz="1800">
                    <a:solidFill>
                      <a:srgbClr val="E9560C"/>
                    </a:solidFill>
                    <a:latin typeface="Consolas" panose="020B0609020204030204" pitchFamily="49" charset="0"/>
                  </a:endParaRPr>
                </a:p>
              </p:txBody>
            </p:sp>
            <p:sp>
              <p:nvSpPr>
                <p:cNvPr id="128" name="Oval 7"/>
                <p:cNvSpPr>
                  <a:spLocks noChangeArrowheads="1"/>
                </p:cNvSpPr>
                <p:nvPr/>
              </p:nvSpPr>
              <p:spPr bwMode="auto">
                <a:xfrm>
                  <a:off x="1240" y="1641"/>
                  <a:ext cx="233"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22</a:t>
                  </a:r>
                  <a:endParaRPr lang="en-US" altLang="zh-CN">
                    <a:solidFill>
                      <a:schemeClr val="accent3">
                        <a:lumMod val="50000"/>
                      </a:schemeClr>
                    </a:solidFill>
                  </a:endParaRPr>
                </a:p>
              </p:txBody>
            </p:sp>
            <p:sp>
              <p:nvSpPr>
                <p:cNvPr id="129" name="Oval 8"/>
                <p:cNvSpPr>
                  <a:spLocks noChangeArrowheads="1"/>
                </p:cNvSpPr>
                <p:nvPr/>
              </p:nvSpPr>
              <p:spPr bwMode="auto">
                <a:xfrm>
                  <a:off x="808" y="1984"/>
                  <a:ext cx="233" cy="244"/>
                </a:xfrm>
                <a:prstGeom prst="ellipse">
                  <a:avLst/>
                </a:prstGeom>
                <a:noFill/>
                <a:ln w="9525">
                  <a:solidFill>
                    <a:schemeClr val="tx1"/>
                  </a:solidFill>
                  <a:round/>
                </a:ln>
              </p:spPr>
              <p:txBody>
                <a:bodyPr wrap="none" anchor="ctr"/>
                <a:lstStyle/>
                <a:p>
                  <a:pPr algn="ctr" eaLnBrk="1" hangingPunct="1">
                    <a:defRPr/>
                  </a:pPr>
                  <a:r>
                    <a:rPr lang="en-US" altLang="zh-CN" dirty="0">
                      <a:solidFill>
                        <a:schemeClr val="accent3">
                          <a:lumMod val="50000"/>
                        </a:schemeClr>
                      </a:solidFill>
                    </a:rPr>
                    <a:t>13</a:t>
                  </a:r>
                  <a:endParaRPr lang="en-US" altLang="zh-CN" dirty="0">
                    <a:solidFill>
                      <a:schemeClr val="accent3">
                        <a:lumMod val="50000"/>
                      </a:schemeClr>
                    </a:solidFill>
                  </a:endParaRPr>
                </a:p>
              </p:txBody>
            </p:sp>
            <p:sp>
              <p:nvSpPr>
                <p:cNvPr id="130" name="Oval 9"/>
                <p:cNvSpPr>
                  <a:spLocks noChangeArrowheads="1"/>
                </p:cNvSpPr>
                <p:nvPr/>
              </p:nvSpPr>
              <p:spPr bwMode="auto">
                <a:xfrm>
                  <a:off x="1073" y="1995"/>
                  <a:ext cx="255"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21</a:t>
                  </a:r>
                  <a:endParaRPr lang="en-US" altLang="zh-CN">
                    <a:solidFill>
                      <a:schemeClr val="accent3">
                        <a:lumMod val="50000"/>
                      </a:schemeClr>
                    </a:solidFill>
                  </a:endParaRPr>
                </a:p>
              </p:txBody>
            </p:sp>
            <p:sp>
              <p:nvSpPr>
                <p:cNvPr id="131" name="Oval 10"/>
                <p:cNvSpPr>
                  <a:spLocks noChangeArrowheads="1"/>
                </p:cNvSpPr>
                <p:nvPr/>
              </p:nvSpPr>
              <p:spPr bwMode="auto">
                <a:xfrm>
                  <a:off x="1437" y="1995"/>
                  <a:ext cx="222"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66</a:t>
                  </a:r>
                  <a:endParaRPr lang="en-US" altLang="zh-CN">
                    <a:solidFill>
                      <a:schemeClr val="accent3">
                        <a:lumMod val="50000"/>
                      </a:schemeClr>
                    </a:solidFill>
                  </a:endParaRPr>
                </a:p>
              </p:txBody>
            </p:sp>
            <p:sp>
              <p:nvSpPr>
                <p:cNvPr id="132" name="Oval 11"/>
                <p:cNvSpPr>
                  <a:spLocks noChangeArrowheads="1"/>
                </p:cNvSpPr>
                <p:nvPr/>
              </p:nvSpPr>
              <p:spPr bwMode="auto">
                <a:xfrm>
                  <a:off x="676" y="2390"/>
                  <a:ext cx="233" cy="222"/>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5</a:t>
                  </a:r>
                  <a:endParaRPr lang="en-US" altLang="zh-CN" sz="1800">
                    <a:solidFill>
                      <a:srgbClr val="E9560C"/>
                    </a:solidFill>
                    <a:latin typeface="Consolas" panose="020B0609020204030204" pitchFamily="49" charset="0"/>
                  </a:endParaRPr>
                </a:p>
              </p:txBody>
            </p:sp>
            <p:sp>
              <p:nvSpPr>
                <p:cNvPr id="133" name="Oval 12"/>
                <p:cNvSpPr>
                  <a:spLocks noChangeArrowheads="1"/>
                </p:cNvSpPr>
                <p:nvPr/>
              </p:nvSpPr>
              <p:spPr bwMode="auto">
                <a:xfrm>
                  <a:off x="995" y="2362"/>
                  <a:ext cx="233" cy="211"/>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14</a:t>
                  </a:r>
                  <a:endParaRPr lang="en-US" altLang="zh-CN">
                    <a:solidFill>
                      <a:schemeClr val="accent3">
                        <a:lumMod val="50000"/>
                      </a:schemeClr>
                    </a:solidFill>
                  </a:endParaRPr>
                </a:p>
              </p:txBody>
            </p:sp>
            <p:sp>
              <p:nvSpPr>
                <p:cNvPr id="134" name="Oval 13"/>
                <p:cNvSpPr>
                  <a:spLocks noChangeArrowheads="1"/>
                </p:cNvSpPr>
                <p:nvPr/>
              </p:nvSpPr>
              <p:spPr bwMode="auto">
                <a:xfrm>
                  <a:off x="1245" y="2372"/>
                  <a:ext cx="234" cy="222"/>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27</a:t>
                  </a:r>
                  <a:endParaRPr lang="en-US" altLang="zh-CN">
                    <a:solidFill>
                      <a:schemeClr val="accent3">
                        <a:lumMod val="50000"/>
                      </a:schemeClr>
                    </a:solidFill>
                  </a:endParaRPr>
                </a:p>
              </p:txBody>
            </p:sp>
            <p:sp>
              <p:nvSpPr>
                <p:cNvPr id="135" name="Line 14"/>
                <p:cNvSpPr>
                  <a:spLocks noChangeShapeType="1"/>
                </p:cNvSpPr>
                <p:nvPr/>
              </p:nvSpPr>
              <p:spPr bwMode="auto">
                <a:xfrm flipH="1">
                  <a:off x="811" y="1508"/>
                  <a:ext cx="146" cy="203"/>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36" name="Line 15"/>
                <p:cNvSpPr>
                  <a:spLocks noChangeShapeType="1"/>
                </p:cNvSpPr>
                <p:nvPr/>
              </p:nvSpPr>
              <p:spPr bwMode="auto">
                <a:xfrm>
                  <a:off x="1133" y="1533"/>
                  <a:ext cx="178" cy="178"/>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37" name="Line 16"/>
                <p:cNvSpPr>
                  <a:spLocks noChangeShapeType="1"/>
                </p:cNvSpPr>
                <p:nvPr/>
              </p:nvSpPr>
              <p:spPr bwMode="auto">
                <a:xfrm>
                  <a:off x="1437" y="1844"/>
                  <a:ext cx="96" cy="144"/>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38" name="Line 18"/>
                <p:cNvSpPr>
                  <a:spLocks noChangeShapeType="1"/>
                </p:cNvSpPr>
                <p:nvPr/>
              </p:nvSpPr>
              <p:spPr bwMode="auto">
                <a:xfrm>
                  <a:off x="967" y="2232"/>
                  <a:ext cx="111"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39" name="Line 19"/>
                <p:cNvSpPr>
                  <a:spLocks noChangeShapeType="1"/>
                </p:cNvSpPr>
                <p:nvPr/>
              </p:nvSpPr>
              <p:spPr bwMode="auto">
                <a:xfrm flipH="1">
                  <a:off x="1222" y="1844"/>
                  <a:ext cx="71"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40" name="Line 20"/>
                <p:cNvSpPr>
                  <a:spLocks noChangeShapeType="1"/>
                </p:cNvSpPr>
                <p:nvPr/>
              </p:nvSpPr>
              <p:spPr bwMode="auto">
                <a:xfrm flipH="1">
                  <a:off x="765" y="2228"/>
                  <a:ext cx="96" cy="162"/>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grpSp>
        </p:grpSp>
        <p:sp>
          <p:nvSpPr>
            <p:cNvPr id="54" name="Line 20"/>
            <p:cNvSpPr>
              <a:spLocks noChangeShapeType="1"/>
            </p:cNvSpPr>
            <p:nvPr/>
          </p:nvSpPr>
          <p:spPr bwMode="auto">
            <a:xfrm flipH="1">
              <a:off x="1905001" y="2724150"/>
              <a:ext cx="158750" cy="247650"/>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55" name="Oval 13"/>
            <p:cNvSpPr>
              <a:spLocks noChangeArrowheads="1"/>
            </p:cNvSpPr>
            <p:nvPr/>
          </p:nvSpPr>
          <p:spPr bwMode="auto">
            <a:xfrm>
              <a:off x="1076326" y="3505200"/>
              <a:ext cx="371475" cy="3524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8</a:t>
              </a:r>
              <a:endParaRPr lang="en-US" altLang="zh-CN" sz="1800">
                <a:solidFill>
                  <a:srgbClr val="E9560C"/>
                </a:solidFill>
                <a:latin typeface="Consolas" panose="020B0609020204030204" pitchFamily="49" charset="0"/>
              </a:endParaRPr>
            </a:p>
          </p:txBody>
        </p:sp>
        <p:sp>
          <p:nvSpPr>
            <p:cNvPr id="56" name="Line 18"/>
            <p:cNvSpPr>
              <a:spLocks noChangeShapeType="1"/>
            </p:cNvSpPr>
            <p:nvPr/>
          </p:nvSpPr>
          <p:spPr bwMode="auto">
            <a:xfrm>
              <a:off x="1042989" y="3276600"/>
              <a:ext cx="176212" cy="247650"/>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57" name="Line 18"/>
            <p:cNvSpPr>
              <a:spLocks noChangeShapeType="1"/>
            </p:cNvSpPr>
            <p:nvPr/>
          </p:nvSpPr>
          <p:spPr bwMode="auto">
            <a:xfrm flipH="1">
              <a:off x="1017589" y="3859213"/>
              <a:ext cx="152400" cy="304800"/>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58" name="Oval 13"/>
            <p:cNvSpPr>
              <a:spLocks noChangeArrowheads="1"/>
            </p:cNvSpPr>
            <p:nvPr/>
          </p:nvSpPr>
          <p:spPr bwMode="auto">
            <a:xfrm>
              <a:off x="847726" y="4143375"/>
              <a:ext cx="371475" cy="3524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7</a:t>
              </a:r>
              <a:endParaRPr lang="en-US" altLang="zh-CN" sz="1800">
                <a:solidFill>
                  <a:srgbClr val="E9560C"/>
                </a:solidFill>
                <a:latin typeface="Consolas" panose="020B0609020204030204" pitchFamily="49" charset="0"/>
              </a:endParaRPr>
            </a:p>
          </p:txBody>
        </p:sp>
      </p:grpSp>
      <p:grpSp>
        <p:nvGrpSpPr>
          <p:cNvPr id="141" name="组合 196"/>
          <p:cNvGrpSpPr/>
          <p:nvPr/>
        </p:nvGrpSpPr>
        <p:grpSpPr bwMode="auto">
          <a:xfrm>
            <a:off x="4191000" y="1280995"/>
            <a:ext cx="1651000" cy="3189287"/>
            <a:chOff x="3987800" y="1458913"/>
            <a:chExt cx="1651000" cy="3189287"/>
          </a:xfrm>
        </p:grpSpPr>
        <p:sp>
          <p:nvSpPr>
            <p:cNvPr id="142" name="Line 18"/>
            <p:cNvSpPr>
              <a:spLocks noChangeShapeType="1"/>
            </p:cNvSpPr>
            <p:nvPr/>
          </p:nvSpPr>
          <p:spPr bwMode="auto">
            <a:xfrm>
              <a:off x="4348163" y="3429000"/>
              <a:ext cx="176212" cy="247650"/>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grpSp>
          <p:nvGrpSpPr>
            <p:cNvPr id="143" name="组合 192"/>
            <p:cNvGrpSpPr/>
            <p:nvPr/>
          </p:nvGrpSpPr>
          <p:grpSpPr bwMode="auto">
            <a:xfrm>
              <a:off x="3987800" y="1458913"/>
              <a:ext cx="1651000" cy="3189287"/>
              <a:chOff x="3987800" y="1458913"/>
              <a:chExt cx="1651000" cy="3189287"/>
            </a:xfrm>
          </p:grpSpPr>
          <p:grpSp>
            <p:nvGrpSpPr>
              <p:cNvPr id="144" name="Group 4"/>
              <p:cNvGrpSpPr/>
              <p:nvPr/>
            </p:nvGrpSpPr>
            <p:grpSpPr bwMode="auto">
              <a:xfrm>
                <a:off x="3987800" y="1458913"/>
                <a:ext cx="1651000" cy="2046288"/>
                <a:chOff x="619" y="1323"/>
                <a:chExt cx="1040" cy="1289"/>
              </a:xfrm>
            </p:grpSpPr>
            <p:sp>
              <p:nvSpPr>
                <p:cNvPr id="148" name="Oval 5"/>
                <p:cNvSpPr>
                  <a:spLocks noChangeArrowheads="1"/>
                </p:cNvSpPr>
                <p:nvPr/>
              </p:nvSpPr>
              <p:spPr bwMode="auto">
                <a:xfrm>
                  <a:off x="909" y="1323"/>
                  <a:ext cx="245" cy="244"/>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15</a:t>
                  </a:r>
                  <a:endParaRPr lang="en-US" altLang="zh-CN">
                    <a:solidFill>
                      <a:schemeClr val="accent3">
                        <a:lumMod val="50000"/>
                      </a:schemeClr>
                    </a:solidFill>
                  </a:endParaRPr>
                </a:p>
              </p:txBody>
            </p:sp>
            <p:sp>
              <p:nvSpPr>
                <p:cNvPr id="173" name="Oval 6"/>
                <p:cNvSpPr>
                  <a:spLocks noChangeArrowheads="1"/>
                </p:cNvSpPr>
                <p:nvPr/>
              </p:nvSpPr>
              <p:spPr bwMode="auto">
                <a:xfrm>
                  <a:off x="619" y="1641"/>
                  <a:ext cx="211" cy="23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1</a:t>
                  </a:r>
                  <a:endParaRPr lang="en-US" altLang="zh-CN" sz="1800">
                    <a:solidFill>
                      <a:srgbClr val="E9560C"/>
                    </a:solidFill>
                    <a:latin typeface="Consolas" panose="020B0609020204030204" pitchFamily="49" charset="0"/>
                  </a:endParaRPr>
                </a:p>
              </p:txBody>
            </p:sp>
            <p:sp>
              <p:nvSpPr>
                <p:cNvPr id="174" name="Oval 7"/>
                <p:cNvSpPr>
                  <a:spLocks noChangeArrowheads="1"/>
                </p:cNvSpPr>
                <p:nvPr/>
              </p:nvSpPr>
              <p:spPr bwMode="auto">
                <a:xfrm>
                  <a:off x="1240" y="1641"/>
                  <a:ext cx="233"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22</a:t>
                  </a:r>
                  <a:endParaRPr lang="en-US" altLang="zh-CN">
                    <a:solidFill>
                      <a:schemeClr val="accent3">
                        <a:lumMod val="50000"/>
                      </a:schemeClr>
                    </a:solidFill>
                  </a:endParaRPr>
                </a:p>
              </p:txBody>
            </p:sp>
            <p:sp>
              <p:nvSpPr>
                <p:cNvPr id="175" name="Oval 8"/>
                <p:cNvSpPr>
                  <a:spLocks noChangeArrowheads="1"/>
                </p:cNvSpPr>
                <p:nvPr/>
              </p:nvSpPr>
              <p:spPr bwMode="auto">
                <a:xfrm>
                  <a:off x="808" y="1984"/>
                  <a:ext cx="233" cy="244"/>
                </a:xfrm>
                <a:prstGeom prst="ellipse">
                  <a:avLst/>
                </a:prstGeom>
                <a:noFill/>
                <a:ln w="9525">
                  <a:solidFill>
                    <a:schemeClr val="tx1"/>
                  </a:solidFill>
                  <a:round/>
                </a:ln>
              </p:spPr>
              <p:txBody>
                <a:bodyPr wrap="none" anchor="ctr"/>
                <a:lstStyle/>
                <a:p>
                  <a:pPr algn="ctr" eaLnBrk="1" hangingPunct="1">
                    <a:defRPr/>
                  </a:pPr>
                  <a:r>
                    <a:rPr lang="en-US" altLang="zh-CN" dirty="0">
                      <a:solidFill>
                        <a:schemeClr val="accent3">
                          <a:lumMod val="50000"/>
                        </a:schemeClr>
                      </a:solidFill>
                    </a:rPr>
                    <a:t>13</a:t>
                  </a:r>
                  <a:endParaRPr lang="en-US" altLang="zh-CN" dirty="0">
                    <a:solidFill>
                      <a:schemeClr val="accent3">
                        <a:lumMod val="50000"/>
                      </a:schemeClr>
                    </a:solidFill>
                  </a:endParaRPr>
                </a:p>
              </p:txBody>
            </p:sp>
            <p:sp>
              <p:nvSpPr>
                <p:cNvPr id="176" name="Oval 9"/>
                <p:cNvSpPr>
                  <a:spLocks noChangeArrowheads="1"/>
                </p:cNvSpPr>
                <p:nvPr/>
              </p:nvSpPr>
              <p:spPr bwMode="auto">
                <a:xfrm>
                  <a:off x="1073" y="1995"/>
                  <a:ext cx="255"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21</a:t>
                  </a:r>
                  <a:endParaRPr lang="en-US" altLang="zh-CN">
                    <a:solidFill>
                      <a:schemeClr val="accent3">
                        <a:lumMod val="50000"/>
                      </a:schemeClr>
                    </a:solidFill>
                  </a:endParaRPr>
                </a:p>
              </p:txBody>
            </p:sp>
            <p:sp>
              <p:nvSpPr>
                <p:cNvPr id="177" name="Oval 10"/>
                <p:cNvSpPr>
                  <a:spLocks noChangeArrowheads="1"/>
                </p:cNvSpPr>
                <p:nvPr/>
              </p:nvSpPr>
              <p:spPr bwMode="auto">
                <a:xfrm>
                  <a:off x="1437" y="1995"/>
                  <a:ext cx="222"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66</a:t>
                  </a:r>
                  <a:endParaRPr lang="en-US" altLang="zh-CN">
                    <a:solidFill>
                      <a:schemeClr val="accent3">
                        <a:lumMod val="50000"/>
                      </a:schemeClr>
                    </a:solidFill>
                  </a:endParaRPr>
                </a:p>
              </p:txBody>
            </p:sp>
            <p:sp>
              <p:nvSpPr>
                <p:cNvPr id="178" name="Oval 11"/>
                <p:cNvSpPr>
                  <a:spLocks noChangeArrowheads="1"/>
                </p:cNvSpPr>
                <p:nvPr/>
              </p:nvSpPr>
              <p:spPr bwMode="auto">
                <a:xfrm>
                  <a:off x="676" y="2390"/>
                  <a:ext cx="233" cy="222"/>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5</a:t>
                  </a:r>
                  <a:endParaRPr lang="en-US" altLang="zh-CN" sz="1800">
                    <a:solidFill>
                      <a:srgbClr val="E9560C"/>
                    </a:solidFill>
                    <a:latin typeface="Consolas" panose="020B0609020204030204" pitchFamily="49" charset="0"/>
                  </a:endParaRPr>
                </a:p>
              </p:txBody>
            </p:sp>
            <p:sp>
              <p:nvSpPr>
                <p:cNvPr id="179" name="Oval 12"/>
                <p:cNvSpPr>
                  <a:spLocks noChangeArrowheads="1"/>
                </p:cNvSpPr>
                <p:nvPr/>
              </p:nvSpPr>
              <p:spPr bwMode="auto">
                <a:xfrm>
                  <a:off x="995" y="2362"/>
                  <a:ext cx="233" cy="211"/>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14</a:t>
                  </a:r>
                  <a:endParaRPr lang="en-US" altLang="zh-CN">
                    <a:solidFill>
                      <a:schemeClr val="accent3">
                        <a:lumMod val="50000"/>
                      </a:schemeClr>
                    </a:solidFill>
                  </a:endParaRPr>
                </a:p>
              </p:txBody>
            </p:sp>
            <p:sp>
              <p:nvSpPr>
                <p:cNvPr id="182" name="Line 14"/>
                <p:cNvSpPr>
                  <a:spLocks noChangeShapeType="1"/>
                </p:cNvSpPr>
                <p:nvPr/>
              </p:nvSpPr>
              <p:spPr bwMode="auto">
                <a:xfrm flipH="1">
                  <a:off x="811" y="1508"/>
                  <a:ext cx="146" cy="203"/>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83" name="Line 15"/>
                <p:cNvSpPr>
                  <a:spLocks noChangeShapeType="1"/>
                </p:cNvSpPr>
                <p:nvPr/>
              </p:nvSpPr>
              <p:spPr bwMode="auto">
                <a:xfrm>
                  <a:off x="1133" y="1533"/>
                  <a:ext cx="178" cy="178"/>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84" name="Line 16"/>
                <p:cNvSpPr>
                  <a:spLocks noChangeShapeType="1"/>
                </p:cNvSpPr>
                <p:nvPr/>
              </p:nvSpPr>
              <p:spPr bwMode="auto">
                <a:xfrm>
                  <a:off x="1437" y="1844"/>
                  <a:ext cx="96" cy="144"/>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85" name="Line 17"/>
                <p:cNvSpPr>
                  <a:spLocks noChangeShapeType="1"/>
                </p:cNvSpPr>
                <p:nvPr/>
              </p:nvSpPr>
              <p:spPr bwMode="auto">
                <a:xfrm>
                  <a:off x="765" y="1844"/>
                  <a:ext cx="113"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86" name="Line 18"/>
                <p:cNvSpPr>
                  <a:spLocks noChangeShapeType="1"/>
                </p:cNvSpPr>
                <p:nvPr/>
              </p:nvSpPr>
              <p:spPr bwMode="auto">
                <a:xfrm>
                  <a:off x="967" y="2232"/>
                  <a:ext cx="111"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87" name="Line 19"/>
                <p:cNvSpPr>
                  <a:spLocks noChangeShapeType="1"/>
                </p:cNvSpPr>
                <p:nvPr/>
              </p:nvSpPr>
              <p:spPr bwMode="auto">
                <a:xfrm flipH="1">
                  <a:off x="1222" y="1844"/>
                  <a:ext cx="71"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89" name="Line 20"/>
                <p:cNvSpPr>
                  <a:spLocks noChangeShapeType="1"/>
                </p:cNvSpPr>
                <p:nvPr/>
              </p:nvSpPr>
              <p:spPr bwMode="auto">
                <a:xfrm flipH="1">
                  <a:off x="765" y="2228"/>
                  <a:ext cx="96" cy="162"/>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grpSp>
          <p:sp>
            <p:nvSpPr>
              <p:cNvPr id="145" name="Oval 13"/>
              <p:cNvSpPr>
                <a:spLocks noChangeArrowheads="1"/>
              </p:cNvSpPr>
              <p:nvPr/>
            </p:nvSpPr>
            <p:spPr bwMode="auto">
              <a:xfrm>
                <a:off x="4381500" y="3657600"/>
                <a:ext cx="371475" cy="3524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8</a:t>
                </a:r>
                <a:endParaRPr lang="en-US" altLang="zh-CN" sz="1800">
                  <a:solidFill>
                    <a:srgbClr val="E9560C"/>
                  </a:solidFill>
                  <a:latin typeface="Consolas" panose="020B0609020204030204" pitchFamily="49" charset="0"/>
                </a:endParaRPr>
              </a:p>
            </p:txBody>
          </p:sp>
          <p:sp>
            <p:nvSpPr>
              <p:cNvPr id="146" name="Line 18"/>
              <p:cNvSpPr>
                <a:spLocks noChangeShapeType="1"/>
              </p:cNvSpPr>
              <p:nvPr/>
            </p:nvSpPr>
            <p:spPr bwMode="auto">
              <a:xfrm flipH="1">
                <a:off x="4343400" y="3962400"/>
                <a:ext cx="152400" cy="304800"/>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47" name="Oval 13"/>
              <p:cNvSpPr>
                <a:spLocks noChangeArrowheads="1"/>
              </p:cNvSpPr>
              <p:nvPr/>
            </p:nvSpPr>
            <p:spPr bwMode="auto">
              <a:xfrm>
                <a:off x="4152900" y="4295775"/>
                <a:ext cx="371475" cy="3524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7</a:t>
                </a:r>
                <a:endParaRPr lang="en-US" altLang="zh-CN" sz="1800">
                  <a:solidFill>
                    <a:srgbClr val="E9560C"/>
                  </a:solidFill>
                  <a:latin typeface="Consolas" panose="020B0609020204030204" pitchFamily="49" charset="0"/>
                </a:endParaRPr>
              </a:p>
            </p:txBody>
          </p:sp>
        </p:grpSp>
      </p:grpSp>
      <p:grpSp>
        <p:nvGrpSpPr>
          <p:cNvPr id="190" name="组合 197"/>
          <p:cNvGrpSpPr/>
          <p:nvPr/>
        </p:nvGrpSpPr>
        <p:grpSpPr bwMode="auto">
          <a:xfrm>
            <a:off x="7289800" y="1423870"/>
            <a:ext cx="1905000" cy="2589212"/>
            <a:chOff x="7086601" y="1601788"/>
            <a:chExt cx="1905001" cy="2589212"/>
          </a:xfrm>
        </p:grpSpPr>
        <p:sp>
          <p:nvSpPr>
            <p:cNvPr id="191" name="Line 18"/>
            <p:cNvSpPr>
              <a:spLocks noChangeShapeType="1"/>
            </p:cNvSpPr>
            <p:nvPr/>
          </p:nvSpPr>
          <p:spPr bwMode="auto">
            <a:xfrm>
              <a:off x="7358064" y="2971800"/>
              <a:ext cx="176212" cy="247650"/>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grpSp>
          <p:nvGrpSpPr>
            <p:cNvPr id="192" name="组合 193"/>
            <p:cNvGrpSpPr/>
            <p:nvPr/>
          </p:nvGrpSpPr>
          <p:grpSpPr bwMode="auto">
            <a:xfrm>
              <a:off x="7086601" y="1601788"/>
              <a:ext cx="1905001" cy="2589212"/>
              <a:chOff x="7086601" y="1601788"/>
              <a:chExt cx="1905001" cy="2589212"/>
            </a:xfrm>
          </p:grpSpPr>
          <p:grpSp>
            <p:nvGrpSpPr>
              <p:cNvPr id="193" name="Group 4"/>
              <p:cNvGrpSpPr/>
              <p:nvPr/>
            </p:nvGrpSpPr>
            <p:grpSpPr bwMode="auto">
              <a:xfrm>
                <a:off x="7086601" y="1601788"/>
                <a:ext cx="1905001" cy="1436688"/>
                <a:chOff x="459" y="1323"/>
                <a:chExt cx="1200" cy="905"/>
              </a:xfrm>
            </p:grpSpPr>
            <p:sp>
              <p:nvSpPr>
                <p:cNvPr id="197" name="Oval 5"/>
                <p:cNvSpPr>
                  <a:spLocks noChangeArrowheads="1"/>
                </p:cNvSpPr>
                <p:nvPr/>
              </p:nvSpPr>
              <p:spPr bwMode="auto">
                <a:xfrm>
                  <a:off x="909" y="1323"/>
                  <a:ext cx="245" cy="244"/>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15</a:t>
                  </a:r>
                  <a:endParaRPr lang="en-US" altLang="zh-CN">
                    <a:solidFill>
                      <a:schemeClr val="accent3">
                        <a:lumMod val="50000"/>
                      </a:schemeClr>
                    </a:solidFill>
                  </a:endParaRPr>
                </a:p>
              </p:txBody>
            </p:sp>
            <p:sp>
              <p:nvSpPr>
                <p:cNvPr id="198" name="Oval 6"/>
                <p:cNvSpPr>
                  <a:spLocks noChangeArrowheads="1"/>
                </p:cNvSpPr>
                <p:nvPr/>
              </p:nvSpPr>
              <p:spPr bwMode="auto">
                <a:xfrm>
                  <a:off x="619" y="1641"/>
                  <a:ext cx="211"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13</a:t>
                  </a:r>
                  <a:endParaRPr lang="en-US" altLang="zh-CN">
                    <a:solidFill>
                      <a:schemeClr val="accent3">
                        <a:lumMod val="50000"/>
                      </a:schemeClr>
                    </a:solidFill>
                  </a:endParaRPr>
                </a:p>
              </p:txBody>
            </p:sp>
            <p:sp>
              <p:nvSpPr>
                <p:cNvPr id="199" name="Oval 7"/>
                <p:cNvSpPr>
                  <a:spLocks noChangeArrowheads="1"/>
                </p:cNvSpPr>
                <p:nvPr/>
              </p:nvSpPr>
              <p:spPr bwMode="auto">
                <a:xfrm>
                  <a:off x="1240" y="1641"/>
                  <a:ext cx="233"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22</a:t>
                  </a:r>
                  <a:endParaRPr lang="en-US" altLang="zh-CN">
                    <a:solidFill>
                      <a:schemeClr val="accent3">
                        <a:lumMod val="50000"/>
                      </a:schemeClr>
                    </a:solidFill>
                  </a:endParaRPr>
                </a:p>
              </p:txBody>
            </p:sp>
            <p:sp>
              <p:nvSpPr>
                <p:cNvPr id="200" name="Oval 9"/>
                <p:cNvSpPr>
                  <a:spLocks noChangeArrowheads="1"/>
                </p:cNvSpPr>
                <p:nvPr/>
              </p:nvSpPr>
              <p:spPr bwMode="auto">
                <a:xfrm>
                  <a:off x="1073" y="1995"/>
                  <a:ext cx="255"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21</a:t>
                  </a:r>
                  <a:endParaRPr lang="en-US" altLang="zh-CN">
                    <a:solidFill>
                      <a:schemeClr val="accent3">
                        <a:lumMod val="50000"/>
                      </a:schemeClr>
                    </a:solidFill>
                  </a:endParaRPr>
                </a:p>
              </p:txBody>
            </p:sp>
            <p:sp>
              <p:nvSpPr>
                <p:cNvPr id="201" name="Oval 10"/>
                <p:cNvSpPr>
                  <a:spLocks noChangeArrowheads="1"/>
                </p:cNvSpPr>
                <p:nvPr/>
              </p:nvSpPr>
              <p:spPr bwMode="auto">
                <a:xfrm>
                  <a:off x="1437" y="1995"/>
                  <a:ext cx="222"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66</a:t>
                  </a:r>
                  <a:endParaRPr lang="en-US" altLang="zh-CN">
                    <a:solidFill>
                      <a:schemeClr val="accent3">
                        <a:lumMod val="50000"/>
                      </a:schemeClr>
                    </a:solidFill>
                  </a:endParaRPr>
                </a:p>
              </p:txBody>
            </p:sp>
            <p:sp>
              <p:nvSpPr>
                <p:cNvPr id="202" name="Oval 11"/>
                <p:cNvSpPr>
                  <a:spLocks noChangeArrowheads="1"/>
                </p:cNvSpPr>
                <p:nvPr/>
              </p:nvSpPr>
              <p:spPr bwMode="auto">
                <a:xfrm>
                  <a:off x="459" y="1994"/>
                  <a:ext cx="233" cy="222"/>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5</a:t>
                  </a:r>
                  <a:endParaRPr lang="en-US" altLang="zh-CN" sz="1800">
                    <a:solidFill>
                      <a:srgbClr val="E9560C"/>
                    </a:solidFill>
                    <a:latin typeface="Consolas" panose="020B0609020204030204" pitchFamily="49" charset="0"/>
                  </a:endParaRPr>
                </a:p>
              </p:txBody>
            </p:sp>
            <p:sp>
              <p:nvSpPr>
                <p:cNvPr id="203" name="Oval 12"/>
                <p:cNvSpPr>
                  <a:spLocks noChangeArrowheads="1"/>
                </p:cNvSpPr>
                <p:nvPr/>
              </p:nvSpPr>
              <p:spPr bwMode="auto">
                <a:xfrm>
                  <a:off x="795" y="1994"/>
                  <a:ext cx="233" cy="211"/>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14</a:t>
                  </a:r>
                  <a:endParaRPr lang="en-US" altLang="zh-CN">
                    <a:solidFill>
                      <a:schemeClr val="accent3">
                        <a:lumMod val="50000"/>
                      </a:schemeClr>
                    </a:solidFill>
                  </a:endParaRPr>
                </a:p>
              </p:txBody>
            </p:sp>
            <p:sp>
              <p:nvSpPr>
                <p:cNvPr id="204" name="Line 14"/>
                <p:cNvSpPr>
                  <a:spLocks noChangeShapeType="1"/>
                </p:cNvSpPr>
                <p:nvPr/>
              </p:nvSpPr>
              <p:spPr bwMode="auto">
                <a:xfrm flipH="1">
                  <a:off x="811" y="1508"/>
                  <a:ext cx="146" cy="203"/>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05" name="Line 15"/>
                <p:cNvSpPr>
                  <a:spLocks noChangeShapeType="1"/>
                </p:cNvSpPr>
                <p:nvPr/>
              </p:nvSpPr>
              <p:spPr bwMode="auto">
                <a:xfrm>
                  <a:off x="1133" y="1533"/>
                  <a:ext cx="178" cy="178"/>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06" name="Line 16"/>
                <p:cNvSpPr>
                  <a:spLocks noChangeShapeType="1"/>
                </p:cNvSpPr>
                <p:nvPr/>
              </p:nvSpPr>
              <p:spPr bwMode="auto">
                <a:xfrm>
                  <a:off x="1437" y="1844"/>
                  <a:ext cx="96" cy="144"/>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07" name="Line 18"/>
                <p:cNvSpPr>
                  <a:spLocks noChangeShapeType="1"/>
                </p:cNvSpPr>
                <p:nvPr/>
              </p:nvSpPr>
              <p:spPr bwMode="auto">
                <a:xfrm>
                  <a:off x="780" y="1850"/>
                  <a:ext cx="111"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08" name="Line 19"/>
                <p:cNvSpPr>
                  <a:spLocks noChangeShapeType="1"/>
                </p:cNvSpPr>
                <p:nvPr/>
              </p:nvSpPr>
              <p:spPr bwMode="auto">
                <a:xfrm flipH="1">
                  <a:off x="1222" y="1844"/>
                  <a:ext cx="71"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09" name="Line 20"/>
                <p:cNvSpPr>
                  <a:spLocks noChangeShapeType="1"/>
                </p:cNvSpPr>
                <p:nvPr/>
              </p:nvSpPr>
              <p:spPr bwMode="auto">
                <a:xfrm flipH="1">
                  <a:off x="585" y="1850"/>
                  <a:ext cx="96" cy="162"/>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grpSp>
          <p:sp>
            <p:nvSpPr>
              <p:cNvPr id="194" name="Oval 13"/>
              <p:cNvSpPr>
                <a:spLocks noChangeArrowheads="1"/>
              </p:cNvSpPr>
              <p:nvPr/>
            </p:nvSpPr>
            <p:spPr bwMode="auto">
              <a:xfrm>
                <a:off x="7391401" y="3200400"/>
                <a:ext cx="371475" cy="3524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8</a:t>
                </a:r>
                <a:endParaRPr lang="en-US" altLang="zh-CN" sz="1800">
                  <a:solidFill>
                    <a:srgbClr val="E9560C"/>
                  </a:solidFill>
                  <a:latin typeface="Consolas" panose="020B0609020204030204" pitchFamily="49" charset="0"/>
                </a:endParaRPr>
              </a:p>
            </p:txBody>
          </p:sp>
          <p:sp>
            <p:nvSpPr>
              <p:cNvPr id="195" name="Line 18"/>
              <p:cNvSpPr>
                <a:spLocks noChangeShapeType="1"/>
              </p:cNvSpPr>
              <p:nvPr/>
            </p:nvSpPr>
            <p:spPr bwMode="auto">
              <a:xfrm flipH="1">
                <a:off x="7354889" y="3554413"/>
                <a:ext cx="142875" cy="304800"/>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196" name="Oval 13"/>
              <p:cNvSpPr>
                <a:spLocks noChangeArrowheads="1"/>
              </p:cNvSpPr>
              <p:nvPr/>
            </p:nvSpPr>
            <p:spPr bwMode="auto">
              <a:xfrm>
                <a:off x="7162801" y="3838575"/>
                <a:ext cx="371475" cy="3524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7</a:t>
                </a:r>
                <a:endParaRPr lang="en-US" altLang="zh-CN" sz="1800">
                  <a:solidFill>
                    <a:srgbClr val="E9560C"/>
                  </a:solidFill>
                  <a:latin typeface="Consolas" panose="020B0609020204030204" pitchFamily="49" charset="0"/>
                </a:endParaRPr>
              </a:p>
            </p:txBody>
          </p:sp>
        </p:grpSp>
      </p:grpSp>
      <p:grpSp>
        <p:nvGrpSpPr>
          <p:cNvPr id="210" name="组合 198"/>
          <p:cNvGrpSpPr/>
          <p:nvPr/>
        </p:nvGrpSpPr>
        <p:grpSpPr bwMode="auto">
          <a:xfrm>
            <a:off x="2489200" y="4252795"/>
            <a:ext cx="1905000" cy="1970087"/>
            <a:chOff x="2286000" y="4430713"/>
            <a:chExt cx="1905001" cy="1970087"/>
          </a:xfrm>
        </p:grpSpPr>
        <p:grpSp>
          <p:nvGrpSpPr>
            <p:cNvPr id="211" name="组合 194"/>
            <p:cNvGrpSpPr/>
            <p:nvPr/>
          </p:nvGrpSpPr>
          <p:grpSpPr bwMode="auto">
            <a:xfrm>
              <a:off x="2286000" y="4430713"/>
              <a:ext cx="1905001" cy="1970087"/>
              <a:chOff x="2286000" y="4430713"/>
              <a:chExt cx="1905001" cy="1970087"/>
            </a:xfrm>
          </p:grpSpPr>
          <p:grpSp>
            <p:nvGrpSpPr>
              <p:cNvPr id="213" name="Group 4"/>
              <p:cNvGrpSpPr/>
              <p:nvPr/>
            </p:nvGrpSpPr>
            <p:grpSpPr bwMode="auto">
              <a:xfrm>
                <a:off x="2286000" y="4430713"/>
                <a:ext cx="1905001" cy="1436688"/>
                <a:chOff x="459" y="1323"/>
                <a:chExt cx="1200" cy="905"/>
              </a:xfrm>
            </p:grpSpPr>
            <p:sp>
              <p:nvSpPr>
                <p:cNvPr id="215" name="Oval 5"/>
                <p:cNvSpPr>
                  <a:spLocks noChangeArrowheads="1"/>
                </p:cNvSpPr>
                <p:nvPr/>
              </p:nvSpPr>
              <p:spPr bwMode="auto">
                <a:xfrm>
                  <a:off x="909" y="1323"/>
                  <a:ext cx="245" cy="244"/>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15</a:t>
                  </a:r>
                  <a:endParaRPr lang="en-US" altLang="zh-CN">
                    <a:solidFill>
                      <a:schemeClr val="accent3">
                        <a:lumMod val="50000"/>
                      </a:schemeClr>
                    </a:solidFill>
                  </a:endParaRPr>
                </a:p>
              </p:txBody>
            </p:sp>
            <p:sp>
              <p:nvSpPr>
                <p:cNvPr id="216" name="Oval 6"/>
                <p:cNvSpPr>
                  <a:spLocks noChangeArrowheads="1"/>
                </p:cNvSpPr>
                <p:nvPr/>
              </p:nvSpPr>
              <p:spPr bwMode="auto">
                <a:xfrm>
                  <a:off x="619" y="1641"/>
                  <a:ext cx="211" cy="23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8</a:t>
                  </a:r>
                  <a:endParaRPr lang="en-US" altLang="zh-CN" sz="1800">
                    <a:solidFill>
                      <a:srgbClr val="E9560C"/>
                    </a:solidFill>
                    <a:latin typeface="Consolas" panose="020B0609020204030204" pitchFamily="49" charset="0"/>
                  </a:endParaRPr>
                </a:p>
              </p:txBody>
            </p:sp>
            <p:sp>
              <p:nvSpPr>
                <p:cNvPr id="217" name="Oval 7"/>
                <p:cNvSpPr>
                  <a:spLocks noChangeArrowheads="1"/>
                </p:cNvSpPr>
                <p:nvPr/>
              </p:nvSpPr>
              <p:spPr bwMode="auto">
                <a:xfrm>
                  <a:off x="1240" y="1641"/>
                  <a:ext cx="233"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22</a:t>
                  </a:r>
                  <a:endParaRPr lang="en-US" altLang="zh-CN">
                    <a:solidFill>
                      <a:schemeClr val="accent3">
                        <a:lumMod val="50000"/>
                      </a:schemeClr>
                    </a:solidFill>
                  </a:endParaRPr>
                </a:p>
              </p:txBody>
            </p:sp>
            <p:sp>
              <p:nvSpPr>
                <p:cNvPr id="218" name="Oval 9"/>
                <p:cNvSpPr>
                  <a:spLocks noChangeArrowheads="1"/>
                </p:cNvSpPr>
                <p:nvPr/>
              </p:nvSpPr>
              <p:spPr bwMode="auto">
                <a:xfrm>
                  <a:off x="1073" y="1995"/>
                  <a:ext cx="255"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21</a:t>
                  </a:r>
                  <a:endParaRPr lang="en-US" altLang="zh-CN">
                    <a:solidFill>
                      <a:schemeClr val="accent3">
                        <a:lumMod val="50000"/>
                      </a:schemeClr>
                    </a:solidFill>
                  </a:endParaRPr>
                </a:p>
              </p:txBody>
            </p:sp>
            <p:sp>
              <p:nvSpPr>
                <p:cNvPr id="219" name="Oval 10"/>
                <p:cNvSpPr>
                  <a:spLocks noChangeArrowheads="1"/>
                </p:cNvSpPr>
                <p:nvPr/>
              </p:nvSpPr>
              <p:spPr bwMode="auto">
                <a:xfrm>
                  <a:off x="1437" y="1995"/>
                  <a:ext cx="222"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66</a:t>
                  </a:r>
                  <a:endParaRPr lang="en-US" altLang="zh-CN">
                    <a:solidFill>
                      <a:schemeClr val="accent3">
                        <a:lumMod val="50000"/>
                      </a:schemeClr>
                    </a:solidFill>
                  </a:endParaRPr>
                </a:p>
              </p:txBody>
            </p:sp>
            <p:sp>
              <p:nvSpPr>
                <p:cNvPr id="220" name="Oval 11"/>
                <p:cNvSpPr>
                  <a:spLocks noChangeArrowheads="1"/>
                </p:cNvSpPr>
                <p:nvPr/>
              </p:nvSpPr>
              <p:spPr bwMode="auto">
                <a:xfrm>
                  <a:off x="459" y="1994"/>
                  <a:ext cx="233" cy="222"/>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5</a:t>
                  </a:r>
                  <a:endParaRPr lang="en-US" altLang="zh-CN" sz="1800">
                    <a:solidFill>
                      <a:srgbClr val="E9560C"/>
                    </a:solidFill>
                    <a:latin typeface="Consolas" panose="020B0609020204030204" pitchFamily="49" charset="0"/>
                  </a:endParaRPr>
                </a:p>
              </p:txBody>
            </p:sp>
            <p:sp>
              <p:nvSpPr>
                <p:cNvPr id="221" name="Oval 12"/>
                <p:cNvSpPr>
                  <a:spLocks noChangeArrowheads="1"/>
                </p:cNvSpPr>
                <p:nvPr/>
              </p:nvSpPr>
              <p:spPr bwMode="auto">
                <a:xfrm>
                  <a:off x="795" y="1994"/>
                  <a:ext cx="233" cy="211"/>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14</a:t>
                  </a:r>
                  <a:endParaRPr lang="en-US" altLang="zh-CN">
                    <a:solidFill>
                      <a:schemeClr val="accent3">
                        <a:lumMod val="50000"/>
                      </a:schemeClr>
                    </a:solidFill>
                  </a:endParaRPr>
                </a:p>
              </p:txBody>
            </p:sp>
            <p:sp>
              <p:nvSpPr>
                <p:cNvPr id="222" name="Line 14"/>
                <p:cNvSpPr>
                  <a:spLocks noChangeShapeType="1"/>
                </p:cNvSpPr>
                <p:nvPr/>
              </p:nvSpPr>
              <p:spPr bwMode="auto">
                <a:xfrm flipH="1">
                  <a:off x="811" y="1508"/>
                  <a:ext cx="146" cy="203"/>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23" name="Line 15"/>
                <p:cNvSpPr>
                  <a:spLocks noChangeShapeType="1"/>
                </p:cNvSpPr>
                <p:nvPr/>
              </p:nvSpPr>
              <p:spPr bwMode="auto">
                <a:xfrm>
                  <a:off x="1133" y="1533"/>
                  <a:ext cx="178" cy="178"/>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24" name="Line 16"/>
                <p:cNvSpPr>
                  <a:spLocks noChangeShapeType="1"/>
                </p:cNvSpPr>
                <p:nvPr/>
              </p:nvSpPr>
              <p:spPr bwMode="auto">
                <a:xfrm>
                  <a:off x="1437" y="1844"/>
                  <a:ext cx="96" cy="144"/>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25" name="Line 18"/>
                <p:cNvSpPr>
                  <a:spLocks noChangeShapeType="1"/>
                </p:cNvSpPr>
                <p:nvPr/>
              </p:nvSpPr>
              <p:spPr bwMode="auto">
                <a:xfrm>
                  <a:off x="780" y="1850"/>
                  <a:ext cx="111"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26" name="Line 19"/>
                <p:cNvSpPr>
                  <a:spLocks noChangeShapeType="1"/>
                </p:cNvSpPr>
                <p:nvPr/>
              </p:nvSpPr>
              <p:spPr bwMode="auto">
                <a:xfrm flipH="1">
                  <a:off x="1222" y="1844"/>
                  <a:ext cx="71"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27" name="Line 20"/>
                <p:cNvSpPr>
                  <a:spLocks noChangeShapeType="1"/>
                </p:cNvSpPr>
                <p:nvPr/>
              </p:nvSpPr>
              <p:spPr bwMode="auto">
                <a:xfrm flipH="1">
                  <a:off x="585" y="1850"/>
                  <a:ext cx="96" cy="162"/>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grpSp>
          <p:sp>
            <p:nvSpPr>
              <p:cNvPr id="214" name="Oval 13"/>
              <p:cNvSpPr>
                <a:spLocks noChangeArrowheads="1"/>
              </p:cNvSpPr>
              <p:nvPr/>
            </p:nvSpPr>
            <p:spPr bwMode="auto">
              <a:xfrm>
                <a:off x="2667000" y="6048375"/>
                <a:ext cx="371475" cy="3524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7</a:t>
                </a:r>
                <a:endParaRPr lang="en-US" altLang="zh-CN" sz="1800">
                  <a:solidFill>
                    <a:srgbClr val="E9560C"/>
                  </a:solidFill>
                  <a:latin typeface="Consolas" panose="020B0609020204030204" pitchFamily="49" charset="0"/>
                </a:endParaRPr>
              </a:p>
            </p:txBody>
          </p:sp>
        </p:grpSp>
        <p:sp>
          <p:nvSpPr>
            <p:cNvPr id="212" name="Line 18"/>
            <p:cNvSpPr>
              <a:spLocks noChangeShapeType="1"/>
            </p:cNvSpPr>
            <p:nvPr/>
          </p:nvSpPr>
          <p:spPr bwMode="auto">
            <a:xfrm>
              <a:off x="2590800" y="5791200"/>
              <a:ext cx="228600" cy="304800"/>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grpSp>
      <p:grpSp>
        <p:nvGrpSpPr>
          <p:cNvPr id="228" name="组合 199"/>
          <p:cNvGrpSpPr/>
          <p:nvPr/>
        </p:nvGrpSpPr>
        <p:grpSpPr bwMode="auto">
          <a:xfrm>
            <a:off x="6223000" y="4176595"/>
            <a:ext cx="1905000" cy="1970087"/>
            <a:chOff x="6019799" y="4354513"/>
            <a:chExt cx="1905001" cy="1970087"/>
          </a:xfrm>
        </p:grpSpPr>
        <p:grpSp>
          <p:nvGrpSpPr>
            <p:cNvPr id="229" name="组合 195"/>
            <p:cNvGrpSpPr/>
            <p:nvPr/>
          </p:nvGrpSpPr>
          <p:grpSpPr bwMode="auto">
            <a:xfrm>
              <a:off x="6019799" y="4354513"/>
              <a:ext cx="1905001" cy="1970087"/>
              <a:chOff x="6019799" y="4354513"/>
              <a:chExt cx="1905001" cy="1970087"/>
            </a:xfrm>
          </p:grpSpPr>
          <p:grpSp>
            <p:nvGrpSpPr>
              <p:cNvPr id="231" name="Group 4"/>
              <p:cNvGrpSpPr/>
              <p:nvPr/>
            </p:nvGrpSpPr>
            <p:grpSpPr bwMode="auto">
              <a:xfrm>
                <a:off x="6019799" y="4354513"/>
                <a:ext cx="1905001" cy="1436688"/>
                <a:chOff x="459" y="1323"/>
                <a:chExt cx="1200" cy="905"/>
              </a:xfrm>
            </p:grpSpPr>
            <p:sp>
              <p:nvSpPr>
                <p:cNvPr id="233" name="Oval 5"/>
                <p:cNvSpPr>
                  <a:spLocks noChangeArrowheads="1"/>
                </p:cNvSpPr>
                <p:nvPr/>
              </p:nvSpPr>
              <p:spPr bwMode="auto">
                <a:xfrm>
                  <a:off x="909" y="1323"/>
                  <a:ext cx="245" cy="244"/>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15</a:t>
                  </a:r>
                  <a:endParaRPr lang="en-US" altLang="zh-CN">
                    <a:solidFill>
                      <a:schemeClr val="accent3">
                        <a:lumMod val="50000"/>
                      </a:schemeClr>
                    </a:solidFill>
                  </a:endParaRPr>
                </a:p>
              </p:txBody>
            </p:sp>
            <p:sp>
              <p:nvSpPr>
                <p:cNvPr id="234" name="Oval 6"/>
                <p:cNvSpPr>
                  <a:spLocks noChangeArrowheads="1"/>
                </p:cNvSpPr>
                <p:nvPr/>
              </p:nvSpPr>
              <p:spPr bwMode="auto">
                <a:xfrm>
                  <a:off x="619" y="1641"/>
                  <a:ext cx="211" cy="233"/>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8</a:t>
                  </a:r>
                  <a:endParaRPr lang="en-US" altLang="zh-CN" sz="1800">
                    <a:solidFill>
                      <a:srgbClr val="E9560C"/>
                    </a:solidFill>
                    <a:latin typeface="Consolas" panose="020B0609020204030204" pitchFamily="49" charset="0"/>
                  </a:endParaRPr>
                </a:p>
              </p:txBody>
            </p:sp>
            <p:sp>
              <p:nvSpPr>
                <p:cNvPr id="235" name="Oval 7"/>
                <p:cNvSpPr>
                  <a:spLocks noChangeArrowheads="1"/>
                </p:cNvSpPr>
                <p:nvPr/>
              </p:nvSpPr>
              <p:spPr bwMode="auto">
                <a:xfrm>
                  <a:off x="1240" y="1641"/>
                  <a:ext cx="233"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21</a:t>
                  </a:r>
                  <a:endParaRPr lang="en-US" altLang="zh-CN">
                    <a:solidFill>
                      <a:schemeClr val="accent3">
                        <a:lumMod val="50000"/>
                      </a:schemeClr>
                    </a:solidFill>
                  </a:endParaRPr>
                </a:p>
              </p:txBody>
            </p:sp>
            <p:sp>
              <p:nvSpPr>
                <p:cNvPr id="236" name="Oval 10"/>
                <p:cNvSpPr>
                  <a:spLocks noChangeArrowheads="1"/>
                </p:cNvSpPr>
                <p:nvPr/>
              </p:nvSpPr>
              <p:spPr bwMode="auto">
                <a:xfrm>
                  <a:off x="1437" y="1995"/>
                  <a:ext cx="222" cy="233"/>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66</a:t>
                  </a:r>
                  <a:endParaRPr lang="en-US" altLang="zh-CN">
                    <a:solidFill>
                      <a:schemeClr val="accent3">
                        <a:lumMod val="50000"/>
                      </a:schemeClr>
                    </a:solidFill>
                  </a:endParaRPr>
                </a:p>
              </p:txBody>
            </p:sp>
            <p:sp>
              <p:nvSpPr>
                <p:cNvPr id="237" name="Oval 11"/>
                <p:cNvSpPr>
                  <a:spLocks noChangeArrowheads="1"/>
                </p:cNvSpPr>
                <p:nvPr/>
              </p:nvSpPr>
              <p:spPr bwMode="auto">
                <a:xfrm>
                  <a:off x="459" y="1994"/>
                  <a:ext cx="233" cy="222"/>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5</a:t>
                  </a:r>
                  <a:endParaRPr lang="en-US" altLang="zh-CN" sz="1800">
                    <a:solidFill>
                      <a:srgbClr val="E9560C"/>
                    </a:solidFill>
                    <a:latin typeface="Consolas" panose="020B0609020204030204" pitchFamily="49" charset="0"/>
                  </a:endParaRPr>
                </a:p>
              </p:txBody>
            </p:sp>
            <p:sp>
              <p:nvSpPr>
                <p:cNvPr id="238" name="Oval 12"/>
                <p:cNvSpPr>
                  <a:spLocks noChangeArrowheads="1"/>
                </p:cNvSpPr>
                <p:nvPr/>
              </p:nvSpPr>
              <p:spPr bwMode="auto">
                <a:xfrm>
                  <a:off x="795" y="1994"/>
                  <a:ext cx="233" cy="211"/>
                </a:xfrm>
                <a:prstGeom prst="ellipse">
                  <a:avLst/>
                </a:prstGeom>
                <a:noFill/>
                <a:ln w="9525">
                  <a:solidFill>
                    <a:schemeClr val="tx1"/>
                  </a:solidFill>
                  <a:round/>
                </a:ln>
              </p:spPr>
              <p:txBody>
                <a:bodyPr wrap="none" anchor="ctr"/>
                <a:lstStyle/>
                <a:p>
                  <a:pPr algn="ctr" eaLnBrk="1" hangingPunct="1">
                    <a:defRPr/>
                  </a:pPr>
                  <a:r>
                    <a:rPr lang="en-US" altLang="zh-CN">
                      <a:solidFill>
                        <a:schemeClr val="accent3">
                          <a:lumMod val="50000"/>
                        </a:schemeClr>
                      </a:solidFill>
                    </a:rPr>
                    <a:t>14</a:t>
                  </a:r>
                  <a:endParaRPr lang="en-US" altLang="zh-CN">
                    <a:solidFill>
                      <a:schemeClr val="accent3">
                        <a:lumMod val="50000"/>
                      </a:schemeClr>
                    </a:solidFill>
                  </a:endParaRPr>
                </a:p>
              </p:txBody>
            </p:sp>
            <p:sp>
              <p:nvSpPr>
                <p:cNvPr id="239" name="Line 14"/>
                <p:cNvSpPr>
                  <a:spLocks noChangeShapeType="1"/>
                </p:cNvSpPr>
                <p:nvPr/>
              </p:nvSpPr>
              <p:spPr bwMode="auto">
                <a:xfrm flipH="1">
                  <a:off x="811" y="1508"/>
                  <a:ext cx="146" cy="203"/>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40" name="Line 15"/>
                <p:cNvSpPr>
                  <a:spLocks noChangeShapeType="1"/>
                </p:cNvSpPr>
                <p:nvPr/>
              </p:nvSpPr>
              <p:spPr bwMode="auto">
                <a:xfrm>
                  <a:off x="1133" y="1533"/>
                  <a:ext cx="178" cy="178"/>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41" name="Line 16"/>
                <p:cNvSpPr>
                  <a:spLocks noChangeShapeType="1"/>
                </p:cNvSpPr>
                <p:nvPr/>
              </p:nvSpPr>
              <p:spPr bwMode="auto">
                <a:xfrm>
                  <a:off x="1437" y="1844"/>
                  <a:ext cx="96" cy="144"/>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42" name="Line 18"/>
                <p:cNvSpPr>
                  <a:spLocks noChangeShapeType="1"/>
                </p:cNvSpPr>
                <p:nvPr/>
              </p:nvSpPr>
              <p:spPr bwMode="auto">
                <a:xfrm>
                  <a:off x="780" y="1850"/>
                  <a:ext cx="111" cy="156"/>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sp>
              <p:nvSpPr>
                <p:cNvPr id="243" name="Line 20"/>
                <p:cNvSpPr>
                  <a:spLocks noChangeShapeType="1"/>
                </p:cNvSpPr>
                <p:nvPr/>
              </p:nvSpPr>
              <p:spPr bwMode="auto">
                <a:xfrm flipH="1">
                  <a:off x="585" y="1850"/>
                  <a:ext cx="96" cy="162"/>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grpSp>
          <p:sp>
            <p:nvSpPr>
              <p:cNvPr id="232" name="Oval 13"/>
              <p:cNvSpPr>
                <a:spLocks noChangeArrowheads="1"/>
              </p:cNvSpPr>
              <p:nvPr/>
            </p:nvSpPr>
            <p:spPr bwMode="auto">
              <a:xfrm>
                <a:off x="6400799" y="5972175"/>
                <a:ext cx="371475" cy="3524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1800">
                    <a:solidFill>
                      <a:srgbClr val="E9560C"/>
                    </a:solidFill>
                    <a:latin typeface="Consolas" panose="020B0609020204030204" pitchFamily="49" charset="0"/>
                  </a:rPr>
                  <a:t>7</a:t>
                </a:r>
                <a:endParaRPr lang="en-US" altLang="zh-CN" sz="1800">
                  <a:solidFill>
                    <a:srgbClr val="E9560C"/>
                  </a:solidFill>
                  <a:latin typeface="Consolas" panose="020B0609020204030204" pitchFamily="49" charset="0"/>
                </a:endParaRPr>
              </a:p>
            </p:txBody>
          </p:sp>
        </p:grpSp>
        <p:sp>
          <p:nvSpPr>
            <p:cNvPr id="230" name="Line 18"/>
            <p:cNvSpPr>
              <a:spLocks noChangeShapeType="1"/>
            </p:cNvSpPr>
            <p:nvPr/>
          </p:nvSpPr>
          <p:spPr bwMode="auto">
            <a:xfrm>
              <a:off x="6324599" y="5695950"/>
              <a:ext cx="228600" cy="323850"/>
            </a:xfrm>
            <a:prstGeom prst="line">
              <a:avLst/>
            </a:prstGeom>
            <a:noFill/>
            <a:ln w="9525">
              <a:solidFill>
                <a:schemeClr val="tx1"/>
              </a:solidFill>
              <a:round/>
            </a:ln>
          </p:spPr>
          <p:txBody>
            <a:bodyPr wrap="none" anchor="ctr"/>
            <a:lstStyle/>
            <a:p>
              <a:pPr algn="ctr" eaLnBrk="1" hangingPunct="1">
                <a:defRPr/>
              </a:pPr>
              <a:endParaRPr lang="zh-CN" altLang="en-US">
                <a:solidFill>
                  <a:schemeClr val="accent3">
                    <a:lumMod val="50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二叉排序树的删除算法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Rectangle 4"/>
          <p:cNvSpPr>
            <a:spLocks noChangeArrowheads="1"/>
          </p:cNvSpPr>
          <p:nvPr/>
        </p:nvSpPr>
        <p:spPr bwMode="auto">
          <a:xfrm>
            <a:off x="601133" y="965082"/>
            <a:ext cx="10913534" cy="5283318"/>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endParaRPr lang="en-US" altLang="zh-CN" b="0" dirty="0">
              <a:solidFill>
                <a:srgbClr val="000066"/>
              </a:solidFill>
            </a:endParaRPr>
          </a:p>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当二叉排序树</a:t>
            </a:r>
            <a:r>
              <a:rPr lang="en-US" altLang="zh-CN" b="0" dirty="0" err="1">
                <a:latin typeface="微软雅黑" panose="020B0503020204020204" pitchFamily="34" charset="-122"/>
                <a:ea typeface="微软雅黑" panose="020B0503020204020204" pitchFamily="34" charset="-122"/>
                <a:cs typeface="微软雅黑" panose="020B0503020204020204" pitchFamily="34" charset="-122"/>
              </a:rPr>
              <a:t>m_root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中存在关键字等于</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的数据元素时，删除并重接它的左</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或右子树</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否则返回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false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ElemType,class</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bool BST&lt;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&gt;::Delete(const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 &amp; key)</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*p,*f;</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(!_Search(</a:t>
            </a:r>
            <a:r>
              <a:rPr lang="en-US" altLang="zh-CN" b="0" dirty="0" err="1">
                <a:latin typeface="Times New Roman" panose="02020603050405020304" pitchFamily="18" charset="0"/>
                <a:cs typeface="Times New Roman" panose="02020603050405020304" pitchFamily="18" charset="0"/>
              </a:rPr>
              <a:t>key,f,p</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false;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查找成功，</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指向被删除结点，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f</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指向</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的双亲结点</a:t>
            </a:r>
            <a:endParaRPr lang="zh-CN" altLang="en-US"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if (!p-&gt;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右子树为空，重接它的左子树</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if (f == NULL)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的双亲为空，表明</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是根结点</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m_root</a:t>
            </a:r>
            <a:r>
              <a:rPr lang="en-US" altLang="zh-CN" b="0" dirty="0">
                <a:latin typeface="Times New Roman" panose="02020603050405020304" pitchFamily="18" charset="0"/>
                <a:cs typeface="Times New Roman" panose="02020603050405020304" pitchFamily="18" charset="0"/>
              </a:rPr>
              <a:t> = p-&gt;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else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(f-&gt;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p)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p-&gt;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else f-&gt;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 p-&gt;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delete p;</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solidFill>
                  <a:srgbClr val="000066"/>
                </a:solidFill>
              </a:rPr>
              <a:t>	</a:t>
            </a:r>
            <a:endParaRPr lang="en-US" altLang="zh-CN" b="0" dirty="0">
              <a:solidFill>
                <a:srgbClr val="000066"/>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二叉排序树的删除算法（续）</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4"/>
          <p:cNvSpPr>
            <a:spLocks noChangeArrowheads="1"/>
          </p:cNvSpPr>
          <p:nvPr/>
        </p:nvSpPr>
        <p:spPr bwMode="auto">
          <a:xfrm>
            <a:off x="647700" y="965082"/>
            <a:ext cx="10896600" cy="30988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Times New Roman" panose="02020603050405020304" pitchFamily="18" charset="0"/>
                <a:cs typeface="Times New Roman" panose="02020603050405020304" pitchFamily="18" charset="0"/>
              </a:rPr>
              <a:t>else if (!p-&gt;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左子树为空，重接它的右子树</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if (f == NULL)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的双亲为空，表明</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是根结点</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m_root</a:t>
            </a:r>
            <a:r>
              <a:rPr lang="en-US" altLang="zh-CN" b="0" dirty="0">
                <a:latin typeface="Times New Roman" panose="02020603050405020304" pitchFamily="18" charset="0"/>
                <a:cs typeface="Times New Roman" panose="02020603050405020304" pitchFamily="18" charset="0"/>
              </a:rPr>
              <a:t> = p-&gt;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else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(f-&gt;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p)</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p-&gt;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else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 p-&gt;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delete p;</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二叉排序树的删除算法（续）</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Rectangle 4"/>
          <p:cNvSpPr>
            <a:spLocks noChangeArrowheads="1"/>
          </p:cNvSpPr>
          <p:nvPr/>
        </p:nvSpPr>
        <p:spPr bwMode="auto">
          <a:xfrm>
            <a:off x="516467" y="965082"/>
            <a:ext cx="10981266" cy="4949943"/>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solidFill>
                  <a:schemeClr val="accent1"/>
                </a:solidFill>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else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左右子树均不空</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BSTNode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*s;</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 = p;</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s = p-&gt;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//s</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为</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左子树的根结点</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while (s-&gt;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沿着</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s</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右子树分支向右走到尽头，</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即为</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p</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结点的前驱结点</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f = s;</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s = s-&gt;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p-&gt;data = s-&gt;data;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(f != p)</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 s-&gt;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重接*</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f</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的右子树</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else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f-&gt;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s-&gt;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重接*</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f</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的左子树</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delete s;</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true;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二叉排序树的查找性能</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53"/>
          <p:cNvSpPr txBox="1">
            <a:spLocks noChangeArrowheads="1"/>
          </p:cNvSpPr>
          <p:nvPr/>
        </p:nvSpPr>
        <p:spPr bwMode="gray">
          <a:xfrm>
            <a:off x="628650" y="442704"/>
            <a:ext cx="9761273" cy="6036336"/>
          </a:xfrm>
          <a:prstGeom prst="rect">
            <a:avLst/>
          </a:prstGeom>
          <a:noFill/>
          <a:ln w="9525">
            <a:noFill/>
            <a:miter lim="800000"/>
          </a:ln>
        </p:spPr>
        <p:txBody>
          <a:bodyPr/>
          <a:lstStyle/>
          <a:p>
            <a:pPr marL="342900" indent="-342900">
              <a:spcBef>
                <a:spcPct val="20000"/>
              </a:spcBef>
              <a:buFontTx/>
              <a:buChar char="•"/>
              <a:defRPr/>
            </a:pPr>
            <a:endParaRPr lang="en-US" altLang="zh-CN" sz="2400" b="0" kern="0" dirty="0">
              <a:solidFill>
                <a:schemeClr val="tx1"/>
              </a:solidFill>
              <a:latin typeface="+mn-lt"/>
              <a:ea typeface="+mn-ea"/>
            </a:endParaRPr>
          </a:p>
          <a:p>
            <a:pPr marL="342900" indent="-342900">
              <a:spcBef>
                <a:spcPct val="20000"/>
              </a:spcBef>
              <a:buFontTx/>
              <a:buChar char="•"/>
              <a:defRPr/>
            </a:pPr>
            <a:r>
              <a:rPr lang="zh-CN" altLang="en-US" sz="2400" b="0" kern="0" dirty="0">
                <a:solidFill>
                  <a:schemeClr val="tx1"/>
                </a:solidFill>
                <a:latin typeface="微软雅黑" panose="020B0503020204020204" pitchFamily="34" charset="-122"/>
                <a:ea typeface="微软雅黑" panose="020B0503020204020204" pitchFamily="34" charset="-122"/>
              </a:rPr>
              <a:t>二叉排序树的查找分析：</a:t>
            </a:r>
            <a:endParaRPr lang="zh-CN" altLang="en-US" sz="2400" b="0" kern="0" dirty="0">
              <a:solidFill>
                <a:schemeClr val="tx1"/>
              </a:solidFill>
              <a:latin typeface="微软雅黑" panose="020B0503020204020204" pitchFamily="34" charset="-122"/>
              <a:ea typeface="微软雅黑" panose="020B0503020204020204" pitchFamily="34" charset="-122"/>
            </a:endParaRPr>
          </a:p>
          <a:p>
            <a:pPr marL="742950" lvl="1" indent="-285750">
              <a:spcBef>
                <a:spcPct val="20000"/>
              </a:spcBef>
              <a:buFontTx/>
              <a:buChar char="–"/>
              <a:defRPr/>
            </a:pPr>
            <a:r>
              <a:rPr lang="zh-CN" altLang="en-US" sz="2000" b="0" kern="0" dirty="0">
                <a:solidFill>
                  <a:schemeClr val="tx1"/>
                </a:solidFill>
                <a:latin typeface="微软雅黑" panose="020B0503020204020204" pitchFamily="34" charset="-122"/>
                <a:ea typeface="微软雅黑" panose="020B0503020204020204" pitchFamily="34" charset="-122"/>
              </a:rPr>
              <a:t>含有</a:t>
            </a:r>
            <a:r>
              <a:rPr lang="en-US" altLang="zh-CN" sz="2000" b="0" kern="0" dirty="0">
                <a:solidFill>
                  <a:schemeClr val="tx1"/>
                </a:solidFill>
                <a:latin typeface="微软雅黑" panose="020B0503020204020204" pitchFamily="34" charset="-122"/>
                <a:ea typeface="微软雅黑" panose="020B0503020204020204" pitchFamily="34" charset="-122"/>
              </a:rPr>
              <a:t>n</a:t>
            </a:r>
            <a:r>
              <a:rPr lang="zh-CN" altLang="en-US" sz="2000" b="0" kern="0" dirty="0">
                <a:solidFill>
                  <a:schemeClr val="tx1"/>
                </a:solidFill>
                <a:latin typeface="微软雅黑" panose="020B0503020204020204" pitchFamily="34" charset="-122"/>
                <a:ea typeface="微软雅黑" panose="020B0503020204020204" pitchFamily="34" charset="-122"/>
              </a:rPr>
              <a:t>个结点的二叉树的平均查找长度和树的形状有关</a:t>
            </a:r>
            <a:endParaRPr lang="zh-CN" altLang="en-US" sz="2000" b="0" kern="0" dirty="0">
              <a:solidFill>
                <a:schemeClr val="tx1"/>
              </a:solidFill>
              <a:latin typeface="微软雅黑" panose="020B0503020204020204" pitchFamily="34" charset="-122"/>
              <a:ea typeface="微软雅黑" panose="020B0503020204020204" pitchFamily="34" charset="-122"/>
            </a:endParaRPr>
          </a:p>
        </p:txBody>
      </p:sp>
      <p:sp>
        <p:nvSpPr>
          <p:cNvPr id="4" name="Text Box 39"/>
          <p:cNvSpPr txBox="1">
            <a:spLocks noChangeArrowheads="1"/>
          </p:cNvSpPr>
          <p:nvPr/>
        </p:nvSpPr>
        <p:spPr bwMode="auto">
          <a:xfrm>
            <a:off x="628650" y="5013325"/>
            <a:ext cx="7276586" cy="461665"/>
          </a:xfrm>
          <a:prstGeom prst="rect">
            <a:avLst/>
          </a:prstGeom>
          <a:noFill/>
          <a:ln w="9525">
            <a:noFill/>
            <a:miter lim="800000"/>
          </a:ln>
          <a:effectLst/>
        </p:spPr>
        <p:txBody>
          <a:bodyPr wrap="square">
            <a:spAutoFit/>
          </a:bodyPr>
          <a:lstStyle/>
          <a:p>
            <a:pPr algn="ctr" eaLnBrk="1" hangingPunct="1">
              <a:spcBef>
                <a:spcPct val="50000"/>
              </a:spcBef>
              <a:buFont typeface="Wingdings" panose="05000000000000000000" pitchFamily="2" charset="2"/>
              <a:buNone/>
              <a:defRPr/>
            </a:pPr>
            <a:r>
              <a:rPr lang="zh-CN" altLang="en-US" dirty="0">
                <a:solidFill>
                  <a:schemeClr val="accent2">
                    <a:lumMod val="75000"/>
                  </a:schemeClr>
                </a:solidFill>
                <a:latin typeface="Arial Narrow" panose="020B0606020202030204" pitchFamily="34" charset="0"/>
              </a:rPr>
              <a:t> </a:t>
            </a:r>
            <a:r>
              <a:rPr lang="en-US" altLang="zh-CN" sz="2400" dirty="0">
                <a:solidFill>
                  <a:srgbClr val="FF0000"/>
                </a:solidFill>
                <a:latin typeface="Times New Roman" panose="02020603050405020304" pitchFamily="18" charset="0"/>
                <a:cs typeface="Times New Roman" panose="02020603050405020304" pitchFamily="18" charset="0"/>
              </a:rPr>
              <a:t>ASL(a)＝1/6(1+2+2+3+3+3)＝14/6</a:t>
            </a:r>
            <a:endParaRPr lang="en-US" altLang="zh-CN" sz="2800" dirty="0">
              <a:solidFill>
                <a:srgbClr val="FF0000"/>
              </a:solidFill>
              <a:latin typeface="Times New Roman" panose="02020603050405020304" pitchFamily="18" charset="0"/>
              <a:cs typeface="Times New Roman" panose="02020603050405020304" pitchFamily="18" charset="0"/>
            </a:endParaRPr>
          </a:p>
        </p:txBody>
      </p:sp>
      <p:sp>
        <p:nvSpPr>
          <p:cNvPr id="5" name="Text Box 40"/>
          <p:cNvSpPr txBox="1">
            <a:spLocks noChangeArrowheads="1"/>
          </p:cNvSpPr>
          <p:nvPr/>
        </p:nvSpPr>
        <p:spPr bwMode="auto">
          <a:xfrm>
            <a:off x="684213" y="5661025"/>
            <a:ext cx="72765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zh-CN" altLang="en-US" sz="1800" dirty="0">
                <a:solidFill>
                  <a:srgbClr val="00B050"/>
                </a:solidFill>
                <a:latin typeface="Arial Narrow" panose="020B0606020202030204" pitchFamily="34" charset="0"/>
              </a:rPr>
              <a:t> </a:t>
            </a:r>
            <a:r>
              <a:rPr lang="en-US" altLang="zh-CN" dirty="0">
                <a:solidFill>
                  <a:schemeClr val="accent1"/>
                </a:solidFill>
                <a:cs typeface="Times New Roman" panose="02020603050405020304" pitchFamily="18" charset="0"/>
              </a:rPr>
              <a:t>ASL(b)＝1/6(1+2+3+4+5+6)＝21/6</a:t>
            </a:r>
            <a:endParaRPr lang="en-US" altLang="zh-CN" sz="2800" dirty="0">
              <a:solidFill>
                <a:schemeClr val="accent1"/>
              </a:solidFill>
              <a:cs typeface="Times New Roman" panose="02020603050405020304" pitchFamily="18" charset="0"/>
            </a:endParaRPr>
          </a:p>
        </p:txBody>
      </p:sp>
      <p:grpSp>
        <p:nvGrpSpPr>
          <p:cNvPr id="6" name="Group 43"/>
          <p:cNvGrpSpPr/>
          <p:nvPr/>
        </p:nvGrpSpPr>
        <p:grpSpPr bwMode="auto">
          <a:xfrm>
            <a:off x="965599" y="2251075"/>
            <a:ext cx="3360525" cy="2725868"/>
            <a:chOff x="652" y="1216"/>
            <a:chExt cx="1793" cy="1472"/>
          </a:xfrm>
        </p:grpSpPr>
        <p:grpSp>
          <p:nvGrpSpPr>
            <p:cNvPr id="7" name="Group 18"/>
            <p:cNvGrpSpPr/>
            <p:nvPr/>
          </p:nvGrpSpPr>
          <p:grpSpPr bwMode="auto">
            <a:xfrm>
              <a:off x="668" y="1343"/>
              <a:ext cx="1777" cy="1345"/>
              <a:chOff x="1083" y="816"/>
              <a:chExt cx="2901" cy="2208"/>
            </a:xfrm>
          </p:grpSpPr>
          <p:sp>
            <p:nvSpPr>
              <p:cNvPr id="9" name="Oval 5"/>
              <p:cNvSpPr>
                <a:spLocks noChangeArrowheads="1"/>
              </p:cNvSpPr>
              <p:nvPr/>
            </p:nvSpPr>
            <p:spPr bwMode="auto">
              <a:xfrm>
                <a:off x="2213" y="816"/>
                <a:ext cx="547" cy="526"/>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50</a:t>
                </a:r>
                <a:endParaRPr lang="en-US" altLang="zh-CN">
                  <a:solidFill>
                    <a:srgbClr val="FFFFFF"/>
                  </a:solidFill>
                  <a:latin typeface="Arial Narrow" panose="020B0606020202030204" pitchFamily="34" charset="0"/>
                </a:endParaRPr>
              </a:p>
            </p:txBody>
          </p:sp>
          <p:sp>
            <p:nvSpPr>
              <p:cNvPr id="10" name="Line 6"/>
              <p:cNvSpPr>
                <a:spLocks noChangeShapeType="1"/>
              </p:cNvSpPr>
              <p:nvPr/>
            </p:nvSpPr>
            <p:spPr bwMode="auto">
              <a:xfrm flipH="1">
                <a:off x="1968" y="1237"/>
                <a:ext cx="280" cy="44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1" name="Oval 7"/>
              <p:cNvSpPr>
                <a:spLocks noChangeArrowheads="1"/>
              </p:cNvSpPr>
              <p:nvPr/>
            </p:nvSpPr>
            <p:spPr bwMode="auto">
              <a:xfrm>
                <a:off x="1610" y="1658"/>
                <a:ext cx="545" cy="524"/>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40</a:t>
                </a:r>
                <a:endParaRPr lang="en-US" altLang="zh-CN">
                  <a:solidFill>
                    <a:srgbClr val="FFFFFF"/>
                  </a:solidFill>
                  <a:latin typeface="Arial Narrow" panose="020B0606020202030204" pitchFamily="34" charset="0"/>
                </a:endParaRPr>
              </a:p>
            </p:txBody>
          </p:sp>
          <p:sp>
            <p:nvSpPr>
              <p:cNvPr id="12" name="Oval 8"/>
              <p:cNvSpPr>
                <a:spLocks noChangeArrowheads="1"/>
              </p:cNvSpPr>
              <p:nvPr/>
            </p:nvSpPr>
            <p:spPr bwMode="auto">
              <a:xfrm>
                <a:off x="2802" y="1658"/>
                <a:ext cx="544" cy="524"/>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60</a:t>
                </a:r>
                <a:endParaRPr lang="en-US" altLang="zh-CN">
                  <a:solidFill>
                    <a:srgbClr val="FFFFFF"/>
                  </a:solidFill>
                  <a:latin typeface="Arial Narrow" panose="020B0606020202030204" pitchFamily="34" charset="0"/>
                </a:endParaRPr>
              </a:p>
            </p:txBody>
          </p:sp>
          <p:sp>
            <p:nvSpPr>
              <p:cNvPr id="13" name="Line 9"/>
              <p:cNvSpPr>
                <a:spLocks noChangeShapeType="1"/>
              </p:cNvSpPr>
              <p:nvPr/>
            </p:nvSpPr>
            <p:spPr bwMode="auto">
              <a:xfrm>
                <a:off x="2693" y="1237"/>
                <a:ext cx="328" cy="42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4" name="Line 10"/>
              <p:cNvSpPr>
                <a:spLocks noChangeShapeType="1"/>
              </p:cNvSpPr>
              <p:nvPr/>
            </p:nvSpPr>
            <p:spPr bwMode="auto">
              <a:xfrm flipH="1">
                <a:off x="1344" y="2079"/>
                <a:ext cx="302" cy="41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5" name="Oval 11"/>
              <p:cNvSpPr>
                <a:spLocks noChangeArrowheads="1"/>
              </p:cNvSpPr>
              <p:nvPr/>
            </p:nvSpPr>
            <p:spPr bwMode="auto">
              <a:xfrm>
                <a:off x="1083" y="2498"/>
                <a:ext cx="545" cy="526"/>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30</a:t>
                </a:r>
                <a:endParaRPr lang="en-US" altLang="zh-CN">
                  <a:solidFill>
                    <a:srgbClr val="FFFFFF"/>
                  </a:solidFill>
                  <a:latin typeface="Arial Narrow" panose="020B0606020202030204" pitchFamily="34" charset="0"/>
                </a:endParaRPr>
              </a:p>
            </p:txBody>
          </p:sp>
          <p:sp>
            <p:nvSpPr>
              <p:cNvPr id="16" name="Oval 12"/>
              <p:cNvSpPr>
                <a:spLocks noChangeArrowheads="1"/>
              </p:cNvSpPr>
              <p:nvPr/>
            </p:nvSpPr>
            <p:spPr bwMode="auto">
              <a:xfrm>
                <a:off x="2397" y="2498"/>
                <a:ext cx="545" cy="526"/>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55</a:t>
                </a:r>
                <a:endParaRPr lang="en-US" altLang="zh-CN">
                  <a:solidFill>
                    <a:srgbClr val="FFFFFF"/>
                  </a:solidFill>
                  <a:latin typeface="Arial Narrow" panose="020B0606020202030204" pitchFamily="34" charset="0"/>
                </a:endParaRPr>
              </a:p>
            </p:txBody>
          </p:sp>
          <p:sp>
            <p:nvSpPr>
              <p:cNvPr id="17" name="Line 13"/>
              <p:cNvSpPr>
                <a:spLocks noChangeShapeType="1"/>
              </p:cNvSpPr>
              <p:nvPr/>
            </p:nvSpPr>
            <p:spPr bwMode="auto">
              <a:xfrm flipH="1">
                <a:off x="2633" y="2087"/>
                <a:ext cx="232" cy="43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8" name="Oval 14"/>
              <p:cNvSpPr>
                <a:spLocks noChangeArrowheads="1"/>
              </p:cNvSpPr>
              <p:nvPr/>
            </p:nvSpPr>
            <p:spPr bwMode="auto">
              <a:xfrm>
                <a:off x="3439" y="2499"/>
                <a:ext cx="545" cy="525"/>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65</a:t>
                </a:r>
                <a:endParaRPr lang="en-US" altLang="zh-CN">
                  <a:solidFill>
                    <a:srgbClr val="FFFFFF"/>
                  </a:solidFill>
                  <a:latin typeface="Arial Narrow" panose="020B0606020202030204" pitchFamily="34" charset="0"/>
                </a:endParaRPr>
              </a:p>
            </p:txBody>
          </p:sp>
          <p:sp>
            <p:nvSpPr>
              <p:cNvPr id="19" name="Line 15"/>
              <p:cNvSpPr>
                <a:spLocks noChangeShapeType="1"/>
              </p:cNvSpPr>
              <p:nvPr/>
            </p:nvSpPr>
            <p:spPr bwMode="auto">
              <a:xfrm>
                <a:off x="3331" y="2079"/>
                <a:ext cx="328" cy="42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8" name="Text Box 41"/>
            <p:cNvSpPr txBox="1">
              <a:spLocks noChangeArrowheads="1"/>
            </p:cNvSpPr>
            <p:nvPr/>
          </p:nvSpPr>
          <p:spPr bwMode="auto">
            <a:xfrm>
              <a:off x="652" y="1216"/>
              <a:ext cx="222" cy="199"/>
            </a:xfrm>
            <a:prstGeom prst="rect">
              <a:avLst/>
            </a:prstGeom>
            <a:noFill/>
            <a:ln w="9525">
              <a:noFill/>
              <a:miter lim="800000"/>
            </a:ln>
            <a:effectLst/>
          </p:spPr>
          <p:txBody>
            <a:bodyPr wrap="none">
              <a:spAutoFit/>
            </a:bodyPr>
            <a:lstStyle/>
            <a:p>
              <a:pPr algn="ctr" eaLnBrk="1" hangingPunct="1">
                <a:buFont typeface="Wingdings" panose="05000000000000000000" pitchFamily="2" charset="2"/>
                <a:buNone/>
                <a:defRPr/>
              </a:pPr>
              <a:r>
                <a:rPr lang="en-US" altLang="zh-CN" dirty="0">
                  <a:solidFill>
                    <a:srgbClr val="FF0000"/>
                  </a:solidFill>
                  <a:latin typeface="Arial Narrow" panose="020B0606020202030204" pitchFamily="34" charset="0"/>
                </a:rPr>
                <a:t>(a)</a:t>
              </a:r>
              <a:endParaRPr lang="en-US" altLang="zh-CN" dirty="0">
                <a:solidFill>
                  <a:srgbClr val="FF0000"/>
                </a:solidFill>
                <a:latin typeface="Arial Narrow" panose="020B0606020202030204" pitchFamily="34" charset="0"/>
              </a:endParaRPr>
            </a:p>
          </p:txBody>
        </p:sp>
      </p:grpSp>
      <p:grpSp>
        <p:nvGrpSpPr>
          <p:cNvPr id="20" name="Group 49"/>
          <p:cNvGrpSpPr/>
          <p:nvPr/>
        </p:nvGrpSpPr>
        <p:grpSpPr bwMode="auto">
          <a:xfrm>
            <a:off x="4572985" y="2360613"/>
            <a:ext cx="4621815" cy="4226454"/>
            <a:chOff x="2924" y="1089"/>
            <a:chExt cx="2500" cy="2487"/>
          </a:xfrm>
        </p:grpSpPr>
        <p:sp>
          <p:nvSpPr>
            <p:cNvPr id="21" name="Line 47"/>
            <p:cNvSpPr>
              <a:spLocks noChangeShapeType="1"/>
            </p:cNvSpPr>
            <p:nvPr/>
          </p:nvSpPr>
          <p:spPr bwMode="auto">
            <a:xfrm>
              <a:off x="3648" y="1296"/>
              <a:ext cx="1632" cy="220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Oval 19"/>
            <p:cNvSpPr>
              <a:spLocks noChangeArrowheads="1"/>
            </p:cNvSpPr>
            <p:nvPr/>
          </p:nvSpPr>
          <p:spPr bwMode="auto">
            <a:xfrm>
              <a:off x="3465" y="1152"/>
              <a:ext cx="348" cy="316"/>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30</a:t>
              </a:r>
              <a:endParaRPr lang="en-US" altLang="zh-CN">
                <a:solidFill>
                  <a:srgbClr val="FFFFFF"/>
                </a:solidFill>
                <a:latin typeface="Arial Narrow" panose="020B0606020202030204" pitchFamily="34" charset="0"/>
              </a:endParaRPr>
            </a:p>
          </p:txBody>
        </p:sp>
        <p:sp>
          <p:nvSpPr>
            <p:cNvPr id="23" name="Oval 22"/>
            <p:cNvSpPr>
              <a:spLocks noChangeArrowheads="1"/>
            </p:cNvSpPr>
            <p:nvPr/>
          </p:nvSpPr>
          <p:spPr bwMode="auto">
            <a:xfrm>
              <a:off x="3753" y="1560"/>
              <a:ext cx="347" cy="315"/>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en-US" altLang="zh-CN">
                  <a:solidFill>
                    <a:srgbClr val="FFFFFF"/>
                  </a:solidFill>
                  <a:latin typeface="Arial Narrow" panose="020B0606020202030204" pitchFamily="34" charset="0"/>
                </a:rPr>
                <a:t>40	</a:t>
              </a:r>
              <a:endParaRPr lang="en-US" altLang="zh-CN">
                <a:solidFill>
                  <a:srgbClr val="FFFFFF"/>
                </a:solidFill>
                <a:latin typeface="Arial Narrow" panose="020B0606020202030204" pitchFamily="34" charset="0"/>
              </a:endParaRPr>
            </a:p>
          </p:txBody>
        </p:sp>
        <p:sp>
          <p:nvSpPr>
            <p:cNvPr id="24" name="Oval 28"/>
            <p:cNvSpPr>
              <a:spLocks noChangeArrowheads="1"/>
            </p:cNvSpPr>
            <p:nvPr/>
          </p:nvSpPr>
          <p:spPr bwMode="auto">
            <a:xfrm>
              <a:off x="4137" y="2061"/>
              <a:ext cx="347" cy="315"/>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50</a:t>
              </a:r>
              <a:endParaRPr lang="en-US" altLang="zh-CN">
                <a:solidFill>
                  <a:srgbClr val="FFFFFF"/>
                </a:solidFill>
                <a:latin typeface="Arial Narrow" panose="020B0606020202030204" pitchFamily="34" charset="0"/>
              </a:endParaRPr>
            </a:p>
          </p:txBody>
        </p:sp>
        <p:sp>
          <p:nvSpPr>
            <p:cNvPr id="25" name="Oval 30"/>
            <p:cNvSpPr>
              <a:spLocks noChangeArrowheads="1"/>
            </p:cNvSpPr>
            <p:nvPr/>
          </p:nvSpPr>
          <p:spPr bwMode="auto">
            <a:xfrm>
              <a:off x="4462" y="2444"/>
              <a:ext cx="347" cy="316"/>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55</a:t>
              </a:r>
              <a:endParaRPr lang="en-US" altLang="zh-CN">
                <a:solidFill>
                  <a:srgbClr val="FFFFFF"/>
                </a:solidFill>
                <a:latin typeface="Arial Narrow" panose="020B0606020202030204" pitchFamily="34" charset="0"/>
              </a:endParaRPr>
            </a:p>
          </p:txBody>
        </p:sp>
        <p:sp>
          <p:nvSpPr>
            <p:cNvPr id="26" name="Oval 25"/>
            <p:cNvSpPr>
              <a:spLocks noChangeArrowheads="1"/>
            </p:cNvSpPr>
            <p:nvPr/>
          </p:nvSpPr>
          <p:spPr bwMode="auto">
            <a:xfrm>
              <a:off x="5097" y="3288"/>
              <a:ext cx="327"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65</a:t>
              </a:r>
              <a:endParaRPr lang="en-US" altLang="zh-CN">
                <a:solidFill>
                  <a:srgbClr val="FFFFFF"/>
                </a:solidFill>
                <a:latin typeface="Arial Narrow" panose="020B0606020202030204" pitchFamily="34" charset="0"/>
              </a:endParaRPr>
            </a:p>
          </p:txBody>
        </p:sp>
        <p:sp>
          <p:nvSpPr>
            <p:cNvPr id="27" name="Oval 32"/>
            <p:cNvSpPr>
              <a:spLocks noChangeArrowheads="1"/>
            </p:cNvSpPr>
            <p:nvPr/>
          </p:nvSpPr>
          <p:spPr bwMode="auto">
            <a:xfrm>
              <a:off x="4809" y="2891"/>
              <a:ext cx="327" cy="301"/>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FFFFFF"/>
                  </a:solidFill>
                  <a:latin typeface="Arial Narrow" panose="020B0606020202030204" pitchFamily="34" charset="0"/>
                </a:rPr>
                <a:t>60</a:t>
              </a:r>
              <a:endParaRPr lang="en-US" altLang="zh-CN">
                <a:solidFill>
                  <a:srgbClr val="FFFFFF"/>
                </a:solidFill>
                <a:latin typeface="Arial Narrow" panose="020B0606020202030204" pitchFamily="34" charset="0"/>
              </a:endParaRPr>
            </a:p>
          </p:txBody>
        </p:sp>
        <p:sp>
          <p:nvSpPr>
            <p:cNvPr id="28" name="Text Box 42"/>
            <p:cNvSpPr txBox="1">
              <a:spLocks noChangeArrowheads="1"/>
            </p:cNvSpPr>
            <p:nvPr/>
          </p:nvSpPr>
          <p:spPr bwMode="auto">
            <a:xfrm>
              <a:off x="2924" y="1089"/>
              <a:ext cx="22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sz="1800" dirty="0">
                  <a:solidFill>
                    <a:schemeClr val="accent1"/>
                  </a:solidFill>
                  <a:latin typeface="Arial Narrow" panose="020B0606020202030204" pitchFamily="34" charset="0"/>
                </a:rPr>
                <a:t>(b)</a:t>
              </a:r>
              <a:endParaRPr lang="en-US" altLang="zh-CN" sz="1800" dirty="0">
                <a:solidFill>
                  <a:schemeClr val="accent1"/>
                </a:solidFill>
                <a:latin typeface="Arial Narrow" panose="020B060602020203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0-#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ox(in)">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0-#ppt_w/2"/>
                                          </p:val>
                                        </p:tav>
                                        <p:tav tm="100000">
                                          <p:val>
                                            <p:strVal val="#ppt_x"/>
                                          </p:val>
                                        </p:tav>
                                      </p:tavLst>
                                    </p:anim>
                                    <p:anim calcmode="lin" valueType="num">
                                      <p:cBhvr additive="base">
                                        <p:cTn id="3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build="p"/>
      <p:bldP spid="4" grpId="0" autoUpdateAnimBg="0"/>
      <p:bldP spid="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二叉排序树的查找性能</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Rectangle 5"/>
          <p:cNvSpPr txBox="1">
            <a:spLocks noChangeArrowheads="1"/>
          </p:cNvSpPr>
          <p:nvPr/>
        </p:nvSpPr>
        <p:spPr>
          <a:xfrm>
            <a:off x="584200" y="965082"/>
            <a:ext cx="11023600" cy="52071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dirty="0">
                <a:latin typeface="微软雅黑" panose="020B0503020204020204" pitchFamily="34" charset="-122"/>
                <a:ea typeface="微软雅黑" panose="020B0503020204020204" pitchFamily="34" charset="-122"/>
              </a:rPr>
              <a:t>一般的：</a:t>
            </a:r>
            <a:endParaRPr lang="zh-CN" altLang="en-US" sz="2400" dirty="0">
              <a:latin typeface="微软雅黑" panose="020B0503020204020204" pitchFamily="34" charset="-122"/>
              <a:ea typeface="微软雅黑" panose="020B0503020204020204" pitchFamily="34" charset="-122"/>
            </a:endParaRPr>
          </a:p>
          <a:p>
            <a:pPr lvl="1">
              <a:lnSpc>
                <a:spcPct val="125000"/>
              </a:lnSpc>
              <a:buFont typeface="Times New Roman" panose="02020603050405020304" pitchFamily="18" charset="0"/>
              <a:buChar char="–"/>
            </a:pPr>
            <a:r>
              <a:rPr lang="zh-CN" altLang="en-US" sz="2000" dirty="0">
                <a:latin typeface="微软雅黑" panose="020B0503020204020204" pitchFamily="34" charset="-122"/>
                <a:ea typeface="微软雅黑" panose="020B0503020204020204" pitchFamily="34" charset="-122"/>
              </a:rPr>
              <a:t>二叉排序树上查找某关键字等于结点值的过程，其实就是走了一条从根到该结点的路径，与给定值的比较次数不超过树的高度。</a:t>
            </a:r>
            <a:endParaRPr lang="en-US" altLang="zh-CN" sz="2000" dirty="0">
              <a:latin typeface="微软雅黑" panose="020B0503020204020204" pitchFamily="34" charset="-122"/>
              <a:ea typeface="微软雅黑" panose="020B0503020204020204" pitchFamily="34" charset="-122"/>
            </a:endParaRPr>
          </a:p>
          <a:p>
            <a:pPr lvl="1">
              <a:lnSpc>
                <a:spcPct val="125000"/>
              </a:lnSpc>
              <a:buFont typeface="Times New Roman" panose="02020603050405020304" pitchFamily="18" charset="0"/>
              <a:buChar char="–"/>
            </a:pPr>
            <a:r>
              <a:rPr lang="zh-CN" altLang="en-US" sz="2000" dirty="0">
                <a:latin typeface="微软雅黑" panose="020B0503020204020204" pitchFamily="34" charset="-122"/>
                <a:ea typeface="微软雅黑" panose="020B0503020204020204" pitchFamily="34" charset="-122"/>
              </a:rPr>
              <a:t>最坏情况，如上页</a:t>
            </a: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图所示的单支树，相当于顺序查找，</a:t>
            </a:r>
            <a:endParaRPr lang="en-US" altLang="zh-CN" sz="2000" dirty="0">
              <a:latin typeface="微软雅黑" panose="020B0503020204020204" pitchFamily="34" charset="-122"/>
              <a:ea typeface="微软雅黑" panose="020B0503020204020204" pitchFamily="34" charset="-122"/>
            </a:endParaRPr>
          </a:p>
          <a:p>
            <a:pPr lvl="1">
              <a:lnSpc>
                <a:spcPct val="125000"/>
              </a:lnSpc>
              <a:buFont typeface="Times New Roman" panose="02020603050405020304" pitchFamily="18" charset="0"/>
              <a:buChar char="–"/>
            </a:pPr>
            <a:r>
              <a:rPr lang="zh-CN" altLang="en-US" sz="2000" dirty="0">
                <a:latin typeface="微软雅黑" panose="020B0503020204020204" pitchFamily="34" charset="-122"/>
                <a:ea typeface="微软雅黑" panose="020B0503020204020204" pitchFamily="34" charset="-122"/>
              </a:rPr>
              <a:t>最好情况，二叉排序树的形态同折半查找的判定树，</a:t>
            </a:r>
            <a:endParaRPr lang="en-US" altLang="zh-CN" sz="2000" dirty="0">
              <a:latin typeface="微软雅黑" panose="020B0503020204020204" pitchFamily="34" charset="-122"/>
              <a:ea typeface="微软雅黑" panose="020B0503020204020204" pitchFamily="34" charset="-122"/>
            </a:endParaRPr>
          </a:p>
          <a:p>
            <a:pPr lvl="1">
              <a:lnSpc>
                <a:spcPct val="125000"/>
              </a:lnSpc>
              <a:buFontTx/>
              <a:buNone/>
            </a:pPr>
            <a:r>
              <a:rPr lang="en-US" altLang="zh-CN" sz="2000" i="1" dirty="0">
                <a:latin typeface="微软雅黑" panose="020B0503020204020204" pitchFamily="34" charset="-122"/>
                <a:ea typeface="微软雅黑" panose="020B0503020204020204" pitchFamily="34" charset="-122"/>
              </a:rPr>
              <a:t>                      ASL</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树的深度为：</a:t>
            </a:r>
            <a:r>
              <a:rPr lang="en-US" altLang="zh-CN" sz="2000" i="1" dirty="0">
                <a:latin typeface="微软雅黑" panose="020B0503020204020204" pitchFamily="34" charset="-122"/>
                <a:ea typeface="微软雅黑" panose="020B0503020204020204" pitchFamily="34" charset="-122"/>
                <a:sym typeface="Symbol" panose="05050102010706020507" pitchFamily="18" charset="2"/>
              </a:rPr>
              <a:t>log</a:t>
            </a:r>
            <a:r>
              <a:rPr lang="en-US" altLang="zh-CN" sz="2000" baseline="-25000" dirty="0">
                <a:latin typeface="微软雅黑" panose="020B0503020204020204" pitchFamily="34" charset="-122"/>
                <a:ea typeface="微软雅黑" panose="020B0503020204020204" pitchFamily="34" charset="-122"/>
                <a:sym typeface="Symbol" panose="05050102010706020507" pitchFamily="18" charset="2"/>
              </a:rPr>
              <a:t> 2</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i="1" dirty="0">
                <a:latin typeface="微软雅黑" panose="020B0503020204020204" pitchFamily="34" charset="-122"/>
                <a:ea typeface="微软雅黑" panose="020B0503020204020204" pitchFamily="34" charset="-122"/>
                <a:sym typeface="Symbol" panose="05050102010706020507" pitchFamily="18" charset="2"/>
              </a:rPr>
              <a:t>n</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1)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1 </a:t>
            </a:r>
            <a:endParaRPr lang="en-US" altLang="zh-CN" sz="2000"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125000"/>
              </a:lnSpc>
              <a:buFont typeface="Times New Roman" panose="02020603050405020304" pitchFamily="18" charset="0"/>
              <a:buChar char="–"/>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 随机情况，</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ASL</a:t>
            </a:r>
            <a:r>
              <a:rPr lang="en-US" altLang="zh-CN" sz="2000" dirty="0">
                <a:latin typeface="微软雅黑" panose="020B0503020204020204" pitchFamily="34" charset="-122"/>
                <a:ea typeface="微软雅黑" panose="020B0503020204020204" pitchFamily="34" charset="-122"/>
              </a:rPr>
              <a:t>＝O(</a:t>
            </a:r>
            <a:r>
              <a:rPr lang="en-US" altLang="zh-CN" sz="2000" i="1" dirty="0" err="1">
                <a:latin typeface="微软雅黑" panose="020B0503020204020204" pitchFamily="34" charset="-122"/>
                <a:ea typeface="微软雅黑" panose="020B0503020204020204" pitchFamily="34" charset="-122"/>
              </a:rPr>
              <a:t>log</a:t>
            </a:r>
            <a:r>
              <a:rPr lang="en-US" altLang="zh-CN" sz="2000" dirty="0" err="1">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 </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dirty="0">
                <a:latin typeface="微软雅黑" panose="020B0503020204020204" pitchFamily="34" charset="-122"/>
                <a:ea typeface="微软雅黑" panose="020B0503020204020204" pitchFamily="34" charset="-122"/>
              </a:rPr>
              <a:t>    </a:t>
            </a:r>
            <a:endParaRPr lang="zh-CN" altLang="en-US" sz="2000" dirty="0">
              <a:latin typeface="微软雅黑" panose="020B0503020204020204" pitchFamily="34" charset="-122"/>
              <a:ea typeface="微软雅黑" panose="020B0503020204020204" pitchFamily="34" charset="-122"/>
            </a:endParaRPr>
          </a:p>
        </p:txBody>
      </p:sp>
      <p:graphicFrame>
        <p:nvGraphicFramePr>
          <p:cNvPr id="29" name="Object 3"/>
          <p:cNvGraphicFramePr>
            <a:graphicFrameLocks noChangeAspect="1"/>
          </p:cNvGraphicFramePr>
          <p:nvPr/>
        </p:nvGraphicFramePr>
        <p:xfrm>
          <a:off x="7683501" y="2371600"/>
          <a:ext cx="1900766" cy="384300"/>
        </p:xfrm>
        <a:graphic>
          <a:graphicData uri="http://schemas.openxmlformats.org/presentationml/2006/ole">
            <mc:AlternateContent xmlns:mc="http://schemas.openxmlformats.org/markup-compatibility/2006">
              <mc:Choice xmlns:v="urn:schemas-microsoft-com:vml" Requires="v">
                <p:oleObj spid="_x0000_s3077" name="公式" r:id="rId1" imgW="1002665" imgH="203200" progId="Equation.3">
                  <p:embed/>
                </p:oleObj>
              </mc:Choice>
              <mc:Fallback>
                <p:oleObj name="公式" r:id="rId1" imgW="1002665" imgH="2032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1" y="2371600"/>
                        <a:ext cx="1900766" cy="384300"/>
                      </a:xfrm>
                      <a:prstGeom prst="rect">
                        <a:avLst/>
                      </a:prstGeom>
                      <a:noFill/>
                      <a:ln>
                        <a:noFill/>
                      </a:ln>
                      <a:effec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6.3.2</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5"/>
          <p:cNvSpPr txBox="1">
            <a:spLocks noChangeArrowheads="1"/>
          </p:cNvSpPr>
          <p:nvPr/>
        </p:nvSpPr>
        <p:spPr>
          <a:xfrm>
            <a:off x="541867" y="965082"/>
            <a:ext cx="10617200" cy="50207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思考：</a:t>
            </a: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如何提高二叉排序树的查找效率？</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a:lnSpc>
                <a:spcPct val="125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解决方法</a:t>
            </a: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尽量避免出现单支树，让二叉树的形状</a:t>
            </a:r>
            <a:r>
              <a:rPr lang="zh-CN" altLang="en-US" sz="2000" dirty="0">
                <a:solidFill>
                  <a:srgbClr val="FF3300"/>
                </a:solidFill>
                <a:latin typeface="微软雅黑" panose="020B0503020204020204" pitchFamily="34" charset="-122"/>
                <a:ea typeface="微软雅黑" panose="020B0503020204020204" pitchFamily="34" charset="-122"/>
                <a:sym typeface="Symbol" panose="05050102010706020507" pitchFamily="18" charset="2"/>
              </a:rPr>
              <a:t>均衡</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endParaRPr lang="zh-CN" altLang="en-US" dirty="0"/>
          </a:p>
        </p:txBody>
      </p:sp>
      <p:sp>
        <p:nvSpPr>
          <p:cNvPr id="4" name="Rectangle 6"/>
          <p:cNvSpPr>
            <a:spLocks noChangeArrowheads="1"/>
          </p:cNvSpPr>
          <p:nvPr/>
        </p:nvSpPr>
        <p:spPr bwMode="auto">
          <a:xfrm>
            <a:off x="3124200" y="3657600"/>
            <a:ext cx="2192338" cy="553357"/>
          </a:xfrm>
          <a:prstGeom prst="rect">
            <a:avLst/>
          </a:prstGeom>
          <a:noFill/>
          <a:ln w="9525">
            <a:noFill/>
            <a:miter lim="800000"/>
          </a:ln>
          <a:effectLst/>
        </p:spPr>
        <p:txBody>
          <a:bodyPr>
            <a:spAutoFit/>
          </a:bodyPr>
          <a:lstStyle/>
          <a:p>
            <a:pPr algn="ctr" eaLnBrk="1" hangingPunct="1">
              <a:lnSpc>
                <a:spcPct val="140000"/>
              </a:lnSpc>
              <a:defRPr/>
            </a:pPr>
            <a:r>
              <a:rPr lang="zh-CN" altLang="en-US" sz="240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sym typeface="Symbol" panose="05050102010706020507" pitchFamily="18" charset="2"/>
              </a:rPr>
              <a:t>平衡二叉树</a:t>
            </a:r>
            <a:endParaRPr lang="zh-CN" altLang="en-US" sz="240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6.3.2</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Rectangle 5"/>
          <p:cNvSpPr txBox="1">
            <a:spLocks noChangeArrowheads="1"/>
          </p:cNvSpPr>
          <p:nvPr/>
        </p:nvSpPr>
        <p:spPr>
          <a:xfrm>
            <a:off x="609600" y="965082"/>
            <a:ext cx="10922000" cy="52833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POSans R" panose="00020600040101010101" pitchFamily="18" charset="-122"/>
                <a:ea typeface="OPPOSans R"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POSans R" panose="00020600040101010101" pitchFamily="18" charset="-122"/>
                <a:ea typeface="OPPOSans R"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POSans R" panose="00020600040101010101" pitchFamily="18" charset="-122"/>
                <a:ea typeface="OPPOSans R"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POSans R" panose="00020600040101010101" pitchFamily="18" charset="-122"/>
                <a:ea typeface="OPPOSans R"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平衡二叉排序树（</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AVL</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a:p>
            <a:pPr>
              <a:lnSpc>
                <a:spcPct val="125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定义：</a:t>
            </a: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平衡因子（</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BF</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结点的左子树深度减去右子树深度。</a:t>
            </a:r>
            <a:endParaRPr lang="en-US" altLang="zh-CN" sz="2000" dirty="0">
              <a:latin typeface="微软雅黑" panose="020B0503020204020204" pitchFamily="34" charset="-122"/>
              <a:ea typeface="微软雅黑" panose="020B0503020204020204" pitchFamily="34" charset="-122"/>
              <a:sym typeface="Symbol" panose="05050102010706020507" pitchFamily="18" charset="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平衡二叉排序树（</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AVL</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endParaRPr lang="en-US" altLang="zh-CN" sz="2000"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125000"/>
              </a:lnSpc>
              <a:buFontTx/>
              <a:buNone/>
            </a:pPr>
            <a:r>
              <a:rPr lang="en-US" altLang="zh-CN" sz="2000" dirty="0">
                <a:latin typeface="微软雅黑" panose="020B0503020204020204" pitchFamily="34" charset="-122"/>
                <a:ea typeface="微软雅黑" panose="020B0503020204020204" pitchFamily="34" charset="-122"/>
                <a:sym typeface="Symbol" panose="05050102010706020507" pitchFamily="18" charset="2"/>
              </a:rPr>
              <a:t>   </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或是一棵空树，</a:t>
            </a:r>
            <a:r>
              <a:rPr lang="zh-CN" altLang="en-US" sz="2000" dirty="0">
                <a:latin typeface="微软雅黑" panose="020B0503020204020204" pitchFamily="34" charset="-122"/>
                <a:ea typeface="微软雅黑" panose="020B0503020204020204" pitchFamily="34" charset="-122"/>
              </a:rPr>
              <a:t>或者是具有如下性质的二叉树：</a:t>
            </a:r>
            <a:endParaRPr lang="zh-CN" altLang="en-US" sz="2000" dirty="0">
              <a:latin typeface="微软雅黑" panose="020B0503020204020204" pitchFamily="34" charset="-122"/>
              <a:ea typeface="微软雅黑" panose="020B0503020204020204" pitchFamily="34" charset="-122"/>
            </a:endParaRPr>
          </a:p>
          <a:p>
            <a:pPr marL="1371600" lvl="3"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它的左子树和右子树深度之差的绝对值不超过1  </a:t>
            </a:r>
            <a:endParaRPr lang="zh-CN" altLang="en-US" dirty="0">
              <a:latin typeface="微软雅黑" panose="020B0503020204020204" pitchFamily="34" charset="-122"/>
              <a:ea typeface="微软雅黑" panose="020B0503020204020204" pitchFamily="34" charset="-122"/>
            </a:endParaRPr>
          </a:p>
          <a:p>
            <a:pPr marL="1371600" lvl="3"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左子树和右子树都是</a:t>
            </a:r>
            <a:r>
              <a:rPr lang="en-US" altLang="zh-CN" i="1" dirty="0">
                <a:latin typeface="微软雅黑" panose="020B0503020204020204" pitchFamily="34" charset="-122"/>
                <a:ea typeface="微软雅黑" panose="020B0503020204020204" pitchFamily="34" charset="-122"/>
              </a:rPr>
              <a:t>AVL</a:t>
            </a:r>
            <a:r>
              <a:rPr lang="zh-CN" altLang="en-US" dirty="0">
                <a:latin typeface="微软雅黑" panose="020B0503020204020204" pitchFamily="34" charset="-122"/>
                <a:ea typeface="微软雅黑" panose="020B0503020204020204" pitchFamily="34" charset="-122"/>
              </a:rPr>
              <a:t>树。</a:t>
            </a:r>
            <a:endParaRPr lang="zh-CN" altLang="en-US" dirty="0">
              <a:latin typeface="微软雅黑" panose="020B0503020204020204" pitchFamily="34" charset="-122"/>
              <a:ea typeface="微软雅黑" panose="020B0503020204020204" pitchFamily="34" charset="-122"/>
            </a:endParaRPr>
          </a:p>
          <a:p>
            <a:pPr>
              <a:lnSpc>
                <a:spcPct val="125000"/>
              </a:lnSpc>
            </a:pPr>
            <a:endParaRPr lang="zh-CN" altLang="en-US" dirty="0">
              <a:latin typeface="微软雅黑" panose="020B0503020204020204" pitchFamily="34" charset="-122"/>
              <a:ea typeface="微软雅黑" panose="020B0503020204020204" pitchFamily="34" charset="-122"/>
              <a:sym typeface="Symbol" panose="05050102010706020507" pitchFamily="18" charset="2"/>
            </a:endParaRPr>
          </a:p>
          <a:p>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6.3.2</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a:spLocks noGrp="1"/>
          </p:cNvSpPr>
          <p:nvPr>
            <p:ph idx="1"/>
          </p:nvPr>
        </p:nvSpPr>
        <p:spPr>
          <a:xfrm>
            <a:off x="558799" y="990600"/>
            <a:ext cx="10888133" cy="4876800"/>
          </a:xfrm>
        </p:spPr>
        <p:txBody>
          <a:bodyPr/>
          <a:lstStyle/>
          <a:p>
            <a:r>
              <a:rPr lang="zh-CN" altLang="en-US" sz="2400" dirty="0">
                <a:latin typeface="微软雅黑" panose="020B0503020204020204" pitchFamily="34" charset="-122"/>
                <a:ea typeface="微软雅黑" panose="020B0503020204020204" pitchFamily="34" charset="-122"/>
              </a:rPr>
              <a:t>平衡二叉排序树中每个结点的平衡因子只能为</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endParaRPr lang="zh-CN" altLang="en-US" dirty="0"/>
          </a:p>
        </p:txBody>
      </p:sp>
      <p:sp>
        <p:nvSpPr>
          <p:cNvPr id="4" name="Oval 11"/>
          <p:cNvSpPr>
            <a:spLocks noChangeArrowheads="1"/>
          </p:cNvSpPr>
          <p:nvPr/>
        </p:nvSpPr>
        <p:spPr bwMode="auto">
          <a:xfrm>
            <a:off x="2463800" y="2590800"/>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006600"/>
                </a:solidFill>
                <a:latin typeface="Consolas" panose="020B0609020204030204" pitchFamily="49" charset="0"/>
              </a:rPr>
              <a:t>5</a:t>
            </a:r>
            <a:endParaRPr lang="en-US" altLang="zh-CN" sz="1800">
              <a:solidFill>
                <a:srgbClr val="FFFFFF"/>
              </a:solidFill>
              <a:latin typeface="Consolas" panose="020B0609020204030204" pitchFamily="49" charset="0"/>
            </a:endParaRPr>
          </a:p>
        </p:txBody>
      </p:sp>
      <p:sp>
        <p:nvSpPr>
          <p:cNvPr id="5" name="Oval 13"/>
          <p:cNvSpPr>
            <a:spLocks noChangeArrowheads="1"/>
          </p:cNvSpPr>
          <p:nvPr/>
        </p:nvSpPr>
        <p:spPr bwMode="auto">
          <a:xfrm>
            <a:off x="1701800" y="3352800"/>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006600"/>
                </a:solidFill>
                <a:latin typeface="Consolas" panose="020B0609020204030204" pitchFamily="49" charset="0"/>
              </a:rPr>
              <a:t>4</a:t>
            </a:r>
            <a:endParaRPr lang="en-US" altLang="zh-CN" sz="1800">
              <a:solidFill>
                <a:srgbClr val="FFFFFF"/>
              </a:solidFill>
              <a:latin typeface="Consolas" panose="020B0609020204030204" pitchFamily="49" charset="0"/>
            </a:endParaRPr>
          </a:p>
        </p:txBody>
      </p:sp>
      <p:sp>
        <p:nvSpPr>
          <p:cNvPr id="6" name="Oval 14"/>
          <p:cNvSpPr>
            <a:spLocks noChangeArrowheads="1"/>
          </p:cNvSpPr>
          <p:nvPr/>
        </p:nvSpPr>
        <p:spPr bwMode="auto">
          <a:xfrm>
            <a:off x="3225800" y="3352800"/>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006600"/>
                </a:solidFill>
                <a:latin typeface="Consolas" panose="020B0609020204030204" pitchFamily="49" charset="0"/>
              </a:rPr>
              <a:t>8</a:t>
            </a:r>
            <a:endParaRPr lang="en-US" altLang="zh-CN" sz="1800">
              <a:solidFill>
                <a:srgbClr val="FFFFFF"/>
              </a:solidFill>
              <a:latin typeface="Consolas" panose="020B0609020204030204" pitchFamily="49" charset="0"/>
            </a:endParaRPr>
          </a:p>
        </p:txBody>
      </p:sp>
      <p:sp>
        <p:nvSpPr>
          <p:cNvPr id="7" name="Oval 15"/>
          <p:cNvSpPr>
            <a:spLocks noChangeArrowheads="1"/>
          </p:cNvSpPr>
          <p:nvPr/>
        </p:nvSpPr>
        <p:spPr bwMode="auto">
          <a:xfrm>
            <a:off x="939800" y="4114800"/>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006600"/>
                </a:solidFill>
                <a:latin typeface="Consolas" panose="020B0609020204030204" pitchFamily="49" charset="0"/>
              </a:rPr>
              <a:t>2</a:t>
            </a:r>
            <a:endParaRPr lang="en-US" altLang="zh-CN" sz="1800">
              <a:solidFill>
                <a:srgbClr val="FFFFFF"/>
              </a:solidFill>
              <a:latin typeface="Consolas" panose="020B0609020204030204" pitchFamily="49" charset="0"/>
            </a:endParaRPr>
          </a:p>
        </p:txBody>
      </p:sp>
      <p:sp>
        <p:nvSpPr>
          <p:cNvPr id="8" name="Oval 16"/>
          <p:cNvSpPr>
            <a:spLocks noChangeArrowheads="1"/>
          </p:cNvSpPr>
          <p:nvPr/>
        </p:nvSpPr>
        <p:spPr bwMode="auto">
          <a:xfrm>
            <a:off x="6654800" y="2590800"/>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006600"/>
                </a:solidFill>
                <a:latin typeface="Consolas" panose="020B0609020204030204" pitchFamily="49" charset="0"/>
              </a:rPr>
              <a:t>5</a:t>
            </a:r>
            <a:endParaRPr lang="en-US" altLang="zh-CN" sz="1800">
              <a:solidFill>
                <a:srgbClr val="FFFFFF"/>
              </a:solidFill>
              <a:latin typeface="Consolas" panose="020B0609020204030204" pitchFamily="49" charset="0"/>
            </a:endParaRPr>
          </a:p>
        </p:txBody>
      </p:sp>
      <p:sp>
        <p:nvSpPr>
          <p:cNvPr id="9" name="Oval 17"/>
          <p:cNvSpPr>
            <a:spLocks noChangeArrowheads="1"/>
          </p:cNvSpPr>
          <p:nvPr/>
        </p:nvSpPr>
        <p:spPr bwMode="auto">
          <a:xfrm>
            <a:off x="5892800" y="3352800"/>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006600"/>
                </a:solidFill>
                <a:latin typeface="Consolas" panose="020B0609020204030204" pitchFamily="49" charset="0"/>
              </a:rPr>
              <a:t>4</a:t>
            </a:r>
            <a:endParaRPr lang="en-US" altLang="zh-CN" sz="1800">
              <a:solidFill>
                <a:srgbClr val="FFFFFF"/>
              </a:solidFill>
              <a:latin typeface="Consolas" panose="020B0609020204030204" pitchFamily="49" charset="0"/>
            </a:endParaRPr>
          </a:p>
        </p:txBody>
      </p:sp>
      <p:sp>
        <p:nvSpPr>
          <p:cNvPr id="10" name="Oval 18"/>
          <p:cNvSpPr>
            <a:spLocks noChangeArrowheads="1"/>
          </p:cNvSpPr>
          <p:nvPr/>
        </p:nvSpPr>
        <p:spPr bwMode="auto">
          <a:xfrm>
            <a:off x="7416800" y="3352800"/>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006600"/>
                </a:solidFill>
                <a:latin typeface="Consolas" panose="020B0609020204030204" pitchFamily="49" charset="0"/>
              </a:rPr>
              <a:t>8</a:t>
            </a:r>
            <a:endParaRPr lang="en-US" altLang="zh-CN" sz="1800">
              <a:solidFill>
                <a:srgbClr val="FFFFFF"/>
              </a:solidFill>
              <a:latin typeface="Consolas" panose="020B0609020204030204" pitchFamily="49" charset="0"/>
            </a:endParaRPr>
          </a:p>
        </p:txBody>
      </p:sp>
      <p:sp>
        <p:nvSpPr>
          <p:cNvPr id="11" name="Oval 19"/>
          <p:cNvSpPr>
            <a:spLocks noChangeArrowheads="1"/>
          </p:cNvSpPr>
          <p:nvPr/>
        </p:nvSpPr>
        <p:spPr bwMode="auto">
          <a:xfrm>
            <a:off x="5130800" y="4114800"/>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006600"/>
                </a:solidFill>
                <a:latin typeface="Consolas" panose="020B0609020204030204" pitchFamily="49" charset="0"/>
              </a:rPr>
              <a:t>2</a:t>
            </a:r>
            <a:endParaRPr lang="en-US" altLang="zh-CN" sz="1800">
              <a:solidFill>
                <a:srgbClr val="FFFFFF"/>
              </a:solidFill>
              <a:latin typeface="Consolas" panose="020B0609020204030204" pitchFamily="49" charset="0"/>
            </a:endParaRPr>
          </a:p>
        </p:txBody>
      </p:sp>
      <p:sp>
        <p:nvSpPr>
          <p:cNvPr id="12" name="Oval 20"/>
          <p:cNvSpPr>
            <a:spLocks noChangeArrowheads="1"/>
          </p:cNvSpPr>
          <p:nvPr/>
        </p:nvSpPr>
        <p:spPr bwMode="auto">
          <a:xfrm>
            <a:off x="4368800" y="4876800"/>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a:solidFill>
                  <a:srgbClr val="006600"/>
                </a:solidFill>
                <a:latin typeface="Consolas" panose="020B0609020204030204" pitchFamily="49" charset="0"/>
              </a:rPr>
              <a:t>1</a:t>
            </a:r>
            <a:endParaRPr lang="en-US" altLang="zh-CN" sz="1800">
              <a:solidFill>
                <a:srgbClr val="FFFFFF"/>
              </a:solidFill>
              <a:latin typeface="Consolas" panose="020B0609020204030204" pitchFamily="49" charset="0"/>
            </a:endParaRPr>
          </a:p>
        </p:txBody>
      </p:sp>
      <p:sp>
        <p:nvSpPr>
          <p:cNvPr id="13" name="Line 21"/>
          <p:cNvSpPr>
            <a:spLocks noChangeShapeType="1"/>
          </p:cNvSpPr>
          <p:nvPr/>
        </p:nvSpPr>
        <p:spPr bwMode="auto">
          <a:xfrm flipH="1">
            <a:off x="2082800" y="2971800"/>
            <a:ext cx="457200" cy="4572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22"/>
          <p:cNvSpPr>
            <a:spLocks noChangeShapeType="1"/>
          </p:cNvSpPr>
          <p:nvPr/>
        </p:nvSpPr>
        <p:spPr bwMode="auto">
          <a:xfrm flipH="1">
            <a:off x="1320800" y="3733800"/>
            <a:ext cx="457200" cy="4572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23"/>
          <p:cNvSpPr>
            <a:spLocks noChangeShapeType="1"/>
          </p:cNvSpPr>
          <p:nvPr/>
        </p:nvSpPr>
        <p:spPr bwMode="auto">
          <a:xfrm flipH="1">
            <a:off x="6273800" y="2971800"/>
            <a:ext cx="457200" cy="4572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24"/>
          <p:cNvSpPr>
            <a:spLocks noChangeShapeType="1"/>
          </p:cNvSpPr>
          <p:nvPr/>
        </p:nvSpPr>
        <p:spPr bwMode="auto">
          <a:xfrm flipH="1">
            <a:off x="5511800" y="3733800"/>
            <a:ext cx="457200" cy="4572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25"/>
          <p:cNvSpPr>
            <a:spLocks noChangeShapeType="1"/>
          </p:cNvSpPr>
          <p:nvPr/>
        </p:nvSpPr>
        <p:spPr bwMode="auto">
          <a:xfrm flipH="1">
            <a:off x="4749800" y="4495800"/>
            <a:ext cx="457200" cy="4572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26"/>
          <p:cNvSpPr>
            <a:spLocks noChangeShapeType="1"/>
          </p:cNvSpPr>
          <p:nvPr/>
        </p:nvSpPr>
        <p:spPr bwMode="auto">
          <a:xfrm>
            <a:off x="2844800" y="2971800"/>
            <a:ext cx="457200" cy="4572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7"/>
          <p:cNvSpPr>
            <a:spLocks noChangeShapeType="1"/>
          </p:cNvSpPr>
          <p:nvPr/>
        </p:nvSpPr>
        <p:spPr bwMode="auto">
          <a:xfrm>
            <a:off x="7035800" y="2971800"/>
            <a:ext cx="457200" cy="4572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28"/>
          <p:cNvSpPr txBox="1">
            <a:spLocks noChangeArrowheads="1"/>
          </p:cNvSpPr>
          <p:nvPr/>
        </p:nvSpPr>
        <p:spPr bwMode="auto">
          <a:xfrm>
            <a:off x="1397000" y="4587875"/>
            <a:ext cx="2646363" cy="461963"/>
          </a:xfrm>
          <a:prstGeom prst="rect">
            <a:avLst/>
          </a:prstGeom>
          <a:noFill/>
          <a:ln w="9525">
            <a:noFill/>
            <a:miter lim="800000"/>
          </a:ln>
          <a:effectLst/>
        </p:spPr>
        <p:txBody>
          <a:bodyPr wrap="none">
            <a:spAutoFit/>
          </a:bodyPr>
          <a:lstStyle/>
          <a:p>
            <a:pPr algn="ctr" eaLnBrk="1" hangingPunct="1">
              <a:defRPr/>
            </a:pPr>
            <a:r>
              <a:rPr lang="zh-CN" altLang="en-US" sz="2400" b="0" dirty="0">
                <a:solidFill>
                  <a:schemeClr val="tx1"/>
                </a:solidFill>
                <a:latin typeface="微软雅黑" panose="020B0503020204020204" pitchFamily="34" charset="-122"/>
                <a:ea typeface="微软雅黑" panose="020B0503020204020204" pitchFamily="34" charset="-122"/>
              </a:rPr>
              <a:t>是平衡二叉排序树</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sp>
        <p:nvSpPr>
          <p:cNvPr id="21" name="Text Box 28"/>
          <p:cNvSpPr txBox="1">
            <a:spLocks noChangeArrowheads="1"/>
          </p:cNvSpPr>
          <p:nvPr/>
        </p:nvSpPr>
        <p:spPr bwMode="auto">
          <a:xfrm>
            <a:off x="5970588" y="4572000"/>
            <a:ext cx="2954337" cy="461963"/>
          </a:xfrm>
          <a:prstGeom prst="rect">
            <a:avLst/>
          </a:prstGeom>
          <a:noFill/>
          <a:ln w="9525">
            <a:noFill/>
            <a:miter lim="800000"/>
          </a:ln>
          <a:effectLst/>
        </p:spPr>
        <p:txBody>
          <a:bodyPr wrap="none">
            <a:spAutoFit/>
          </a:bodyPr>
          <a:lstStyle/>
          <a:p>
            <a:pPr algn="ctr" eaLnBrk="1" hangingPunct="1">
              <a:defRPr/>
            </a:pPr>
            <a:r>
              <a:rPr lang="zh-CN" altLang="en-US" sz="2400" b="0" dirty="0">
                <a:solidFill>
                  <a:schemeClr val="tx1"/>
                </a:solidFill>
                <a:latin typeface="微软雅黑" panose="020B0503020204020204" pitchFamily="34" charset="-122"/>
                <a:ea typeface="微软雅黑" panose="020B0503020204020204" pitchFamily="34" charset="-122"/>
              </a:rPr>
              <a:t>不是平衡二叉排序树</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500"/>
                                        <p:tgtEl>
                                          <p:spTgt spid="18"/>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500"/>
                                        <p:tgtEl>
                                          <p:spTgt spid="6"/>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20"/>
                                        </p:tgtEl>
                                        <p:attrNameLst>
                                          <p:attrName>style.visibility</p:attrName>
                                        </p:attrNameLst>
                                      </p:cBhvr>
                                      <p:to>
                                        <p:strVal val="visible"/>
                                      </p:to>
                                    </p:set>
                                    <p:animEffect transition="in" filter="wipe(left)">
                                      <p:cBhvr>
                                        <p:cTn id="36" dur="3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up)">
                                      <p:cBhvr>
                                        <p:cTn id="41" dur="500"/>
                                        <p:tgtEl>
                                          <p:spTgt spid="8"/>
                                        </p:tgtEl>
                                      </p:cBhvr>
                                    </p:animEffect>
                                  </p:childTnLst>
                                </p:cTn>
                              </p:par>
                            </p:childTnLst>
                          </p:cTn>
                        </p:par>
                        <p:par>
                          <p:cTn id="42" fill="hold">
                            <p:stCondLst>
                              <p:cond delay="500"/>
                            </p:stCondLst>
                            <p:childTnLst>
                              <p:par>
                                <p:cTn id="43" presetID="22" presetClass="entr" presetSubtype="1" fill="hold"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up)">
                                      <p:cBhvr>
                                        <p:cTn id="45" dur="500"/>
                                        <p:tgtEl>
                                          <p:spTgt spid="15"/>
                                        </p:tgtEl>
                                      </p:cBhvr>
                                    </p:animEffect>
                                  </p:childTnLst>
                                </p:cTn>
                              </p:par>
                            </p:childTnLst>
                          </p:cTn>
                        </p:par>
                        <p:par>
                          <p:cTn id="46" fill="hold">
                            <p:stCondLst>
                              <p:cond delay="1000"/>
                            </p:stCondLst>
                            <p:childTnLst>
                              <p:par>
                                <p:cTn id="47" presetID="22" presetClass="entr" presetSubtype="1" fill="hold" grpId="0" nodeType="after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up)">
                                      <p:cBhvr>
                                        <p:cTn id="49" dur="500"/>
                                        <p:tgtEl>
                                          <p:spTgt spid="9"/>
                                        </p:tgtEl>
                                      </p:cBhvr>
                                    </p:animEffect>
                                  </p:childTnLst>
                                </p:cTn>
                              </p:par>
                            </p:childTnLst>
                          </p:cTn>
                        </p:par>
                        <p:par>
                          <p:cTn id="50" fill="hold">
                            <p:stCondLst>
                              <p:cond delay="1500"/>
                            </p:stCondLst>
                            <p:childTnLst>
                              <p:par>
                                <p:cTn id="51" presetID="22" presetClass="entr" presetSubtype="1" fill="hold"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up)">
                                      <p:cBhvr>
                                        <p:cTn id="53" dur="500"/>
                                        <p:tgtEl>
                                          <p:spTgt spid="19"/>
                                        </p:tgtEl>
                                      </p:cBhvr>
                                    </p:animEffect>
                                  </p:childTnLst>
                                </p:cTn>
                              </p:par>
                            </p:childTnLst>
                          </p:cTn>
                        </p:par>
                        <p:par>
                          <p:cTn id="54" fill="hold">
                            <p:stCondLst>
                              <p:cond delay="2000"/>
                            </p:stCondLst>
                            <p:childTnLst>
                              <p:par>
                                <p:cTn id="55" presetID="22" presetClass="entr" presetSubtype="1" fill="hold" grpId="0" nodeType="after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up)">
                                      <p:cBhvr>
                                        <p:cTn id="57" dur="500"/>
                                        <p:tgtEl>
                                          <p:spTgt spid="10"/>
                                        </p:tgtEl>
                                      </p:cBhvr>
                                    </p:animEffect>
                                  </p:childTnLst>
                                </p:cTn>
                              </p:par>
                            </p:childTnLst>
                          </p:cTn>
                        </p:par>
                        <p:par>
                          <p:cTn id="58" fill="hold">
                            <p:stCondLst>
                              <p:cond delay="2500"/>
                            </p:stCondLst>
                            <p:childTnLst>
                              <p:par>
                                <p:cTn id="59" presetID="22" presetClass="entr" presetSubtype="1" fill="hold" nodeType="after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up)">
                                      <p:cBhvr>
                                        <p:cTn id="61" dur="500"/>
                                        <p:tgtEl>
                                          <p:spTgt spid="16"/>
                                        </p:tgtEl>
                                      </p:cBhvr>
                                    </p:animEffect>
                                  </p:childTnLst>
                                </p:cTn>
                              </p:par>
                            </p:childTnLst>
                          </p:cTn>
                        </p:par>
                        <p:par>
                          <p:cTn id="62" fill="hold">
                            <p:stCondLst>
                              <p:cond delay="3000"/>
                            </p:stCondLst>
                            <p:childTnLst>
                              <p:par>
                                <p:cTn id="63" presetID="22" presetClass="entr" presetSubtype="1" fill="hold" grpId="0" nodeType="after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wipe(up)">
                                      <p:cBhvr>
                                        <p:cTn id="65" dur="500"/>
                                        <p:tgtEl>
                                          <p:spTgt spid="1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wipe(up)">
                                      <p:cBhvr>
                                        <p:cTn id="70" dur="500"/>
                                        <p:tgtEl>
                                          <p:spTgt spid="17"/>
                                        </p:tgtEl>
                                      </p:cBhvr>
                                    </p:animEffect>
                                  </p:childTnLst>
                                </p:cTn>
                              </p:par>
                            </p:childTnLst>
                          </p:cTn>
                        </p:par>
                        <p:par>
                          <p:cTn id="71" fill="hold">
                            <p:stCondLst>
                              <p:cond delay="500"/>
                            </p:stCondLst>
                            <p:childTnLst>
                              <p:par>
                                <p:cTn id="72" presetID="22" presetClass="entr" presetSubtype="1" fill="hold" grpId="0" nodeType="after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wipe(up)">
                                      <p:cBhvr>
                                        <p:cTn id="74" dur="500"/>
                                        <p:tgtEl>
                                          <p:spTgt spid="1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iterate type="wd">
                                    <p:tmPct val="100000"/>
                                  </p:iterate>
                                  <p:childTnLst>
                                    <p:set>
                                      <p:cBhvr>
                                        <p:cTn id="78" dur="1" fill="hold">
                                          <p:stCondLst>
                                            <p:cond delay="0"/>
                                          </p:stCondLst>
                                        </p:cTn>
                                        <p:tgtEl>
                                          <p:spTgt spid="21"/>
                                        </p:tgtEl>
                                        <p:attrNameLst>
                                          <p:attrName>style.visibility</p:attrName>
                                        </p:attrNameLst>
                                      </p:cBhvr>
                                      <p:to>
                                        <p:strVal val="visible"/>
                                      </p:to>
                                    </p:set>
                                    <p:animEffect transition="in" filter="wipe(left)">
                                      <p:cBhvr>
                                        <p:cTn id="79"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nimBg="1" autoUpdateAnimBg="0"/>
      <p:bldP spid="6" grpId="0" animBg="1" autoUpdateAnimBg="0"/>
      <p:bldP spid="7" grpId="0" animBg="1" autoUpdateAnimBg="0"/>
      <p:bldP spid="8" grpId="0" animBg="1" autoUpdateAnimBg="0"/>
      <p:bldP spid="9" grpId="0" animBg="1" autoUpdateAnimBg="0"/>
      <p:bldP spid="10" grpId="0" animBg="1" autoUpdateAnimBg="0"/>
      <p:bldP spid="11" grpId="0" animBg="1" autoUpdateAnimBg="0"/>
      <p:bldP spid="12" grpId="0" animBg="1" autoUpdateAnimBg="0"/>
      <p:bldP spid="20" grpId="0" autoUpdateAnimBg="0"/>
      <p:bldP spid="21"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平衡二叉排序树的调整</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内容占位符 2"/>
          <p:cNvSpPr>
            <a:spLocks noGrp="1"/>
          </p:cNvSpPr>
          <p:nvPr>
            <p:ph idx="1"/>
          </p:nvPr>
        </p:nvSpPr>
        <p:spPr>
          <a:xfrm>
            <a:off x="643465" y="965082"/>
            <a:ext cx="10803467" cy="4876800"/>
          </a:xfrm>
        </p:spPr>
        <p:txBody>
          <a:bodyPr/>
          <a:lstStyle/>
          <a:p>
            <a:pPr marL="342900" lvl="1" indent="-342900">
              <a:lnSpc>
                <a:spcPct val="125000"/>
              </a:lnSpc>
              <a:buFontTx/>
              <a:buChar char="•"/>
              <a:defRPr/>
            </a:pPr>
            <a:r>
              <a:rPr lang="zh-CN" altLang="en-US" dirty="0">
                <a:latin typeface="微软雅黑" panose="020B0503020204020204" pitchFamily="34" charset="-122"/>
                <a:ea typeface="微软雅黑" panose="020B0503020204020204" pitchFamily="34" charset="-122"/>
              </a:rPr>
              <a:t>在一棵</a:t>
            </a:r>
            <a:r>
              <a:rPr lang="en-US" altLang="zh-CN" i="1" dirty="0">
                <a:latin typeface="微软雅黑" panose="020B0503020204020204" pitchFamily="34" charset="-122"/>
                <a:ea typeface="微软雅黑" panose="020B0503020204020204" pitchFamily="34" charset="-122"/>
              </a:rPr>
              <a:t>AVL</a:t>
            </a:r>
            <a:r>
              <a:rPr lang="zh-CN" altLang="en-US" dirty="0">
                <a:latin typeface="微软雅黑" panose="020B0503020204020204" pitchFamily="34" charset="-122"/>
                <a:ea typeface="微软雅黑" panose="020B0503020204020204" pitchFamily="34" charset="-122"/>
              </a:rPr>
              <a:t>树中插入一个新结点，可能仍然是平衡的，也有可能造成失衡，此时必须</a:t>
            </a:r>
            <a:r>
              <a:rPr lang="zh-CN" altLang="en-US" dirty="0">
                <a:solidFill>
                  <a:srgbClr val="FF3300"/>
                </a:solidFill>
                <a:latin typeface="微软雅黑" panose="020B0503020204020204" pitchFamily="34" charset="-122"/>
                <a:ea typeface="微软雅黑" panose="020B0503020204020204" pitchFamily="34" charset="-122"/>
              </a:rPr>
              <a:t>重新调整树</a:t>
            </a:r>
            <a:r>
              <a:rPr lang="en-US" altLang="zh-CN" dirty="0">
                <a:solidFill>
                  <a:srgbClr val="FF3300"/>
                </a:solidFill>
                <a:latin typeface="微软雅黑" panose="020B0503020204020204" pitchFamily="34" charset="-122"/>
                <a:ea typeface="微软雅黑" panose="020B0503020204020204" pitchFamily="34" charset="-122"/>
              </a:rPr>
              <a:t>(</a:t>
            </a:r>
            <a:r>
              <a:rPr lang="zh-CN" altLang="en-US"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最小不平衡子树</a:t>
            </a:r>
            <a:r>
              <a:rPr lang="en-US" altLang="zh-CN" dirty="0">
                <a:solidFill>
                  <a:srgbClr val="FF3300"/>
                </a:solidFill>
                <a:latin typeface="微软雅黑" panose="020B0503020204020204" pitchFamily="34" charset="-122"/>
                <a:ea typeface="微软雅黑" panose="020B0503020204020204" pitchFamily="34" charset="-122"/>
              </a:rPr>
              <a:t>)</a:t>
            </a:r>
            <a:r>
              <a:rPr lang="zh-CN" altLang="en-US" dirty="0">
                <a:solidFill>
                  <a:srgbClr val="FF3300"/>
                </a:solidFill>
                <a:latin typeface="微软雅黑" panose="020B0503020204020204" pitchFamily="34" charset="-122"/>
                <a:ea typeface="微软雅黑" panose="020B0503020204020204" pitchFamily="34" charset="-122"/>
              </a:rPr>
              <a:t>的结构</a:t>
            </a:r>
            <a:r>
              <a:rPr lang="zh-CN" altLang="en-US" dirty="0">
                <a:latin typeface="微软雅黑" panose="020B0503020204020204" pitchFamily="34" charset="-122"/>
                <a:ea typeface="微软雅黑" panose="020B0503020204020204" pitchFamily="34" charset="-122"/>
              </a:rPr>
              <a:t>，使之恢复平衡。</a:t>
            </a:r>
            <a:endParaRPr lang="en-US" altLang="zh-CN" dirty="0">
              <a:latin typeface="微软雅黑" panose="020B0503020204020204" pitchFamily="34" charset="-122"/>
              <a:ea typeface="微软雅黑" panose="020B0503020204020204" pitchFamily="34" charset="-122"/>
            </a:endParaRPr>
          </a:p>
          <a:p>
            <a:pPr marL="342900" lvl="1" indent="-342900">
              <a:lnSpc>
                <a:spcPct val="125000"/>
              </a:lnSpc>
              <a:buFontTx/>
              <a:buChar char="•"/>
              <a:defRPr/>
            </a:pPr>
            <a:r>
              <a:rPr lang="zh-CN" altLang="en-US" dirty="0">
                <a:latin typeface="微软雅黑" panose="020B0503020204020204" pitchFamily="34" charset="-122"/>
                <a:ea typeface="微软雅黑" panose="020B0503020204020204" pitchFamily="34" charset="-122"/>
              </a:rPr>
              <a:t>平衡调整</a:t>
            </a:r>
            <a:endParaRPr lang="en-US" altLang="zh-CN" dirty="0">
              <a:latin typeface="微软雅黑" panose="020B0503020204020204" pitchFamily="34" charset="-122"/>
              <a:ea typeface="微软雅黑" panose="020B0503020204020204" pitchFamily="34" charset="-122"/>
            </a:endParaRPr>
          </a:p>
          <a:p>
            <a:pPr marL="742950" lvl="2" indent="-342900">
              <a:lnSpc>
                <a:spcPct val="125000"/>
              </a:lnSpc>
              <a:buFont typeface="Wingdings" panose="05000000000000000000" pitchFamily="2" charset="2"/>
              <a:buChar char="Ø"/>
              <a:defRPr/>
            </a:pPr>
            <a:r>
              <a:rPr lang="en-US" altLang="zh-CN" dirty="0">
                <a:latin typeface="微软雅黑" panose="020B0503020204020204" pitchFamily="34" charset="-122"/>
                <a:ea typeface="微软雅黑" panose="020B0503020204020204" pitchFamily="34" charset="-122"/>
              </a:rPr>
              <a:t>LL</a:t>
            </a:r>
            <a:r>
              <a:rPr lang="zh-CN" altLang="en-US" dirty="0">
                <a:latin typeface="微软雅黑" panose="020B0503020204020204" pitchFamily="34" charset="-122"/>
                <a:ea typeface="微软雅黑" panose="020B0503020204020204" pitchFamily="34" charset="-122"/>
              </a:rPr>
              <a:t>型平衡调整</a:t>
            </a:r>
            <a:endParaRPr lang="en-US" altLang="zh-CN" dirty="0">
              <a:latin typeface="微软雅黑" panose="020B0503020204020204" pitchFamily="34" charset="-122"/>
              <a:ea typeface="微软雅黑" panose="020B0503020204020204" pitchFamily="34" charset="-122"/>
            </a:endParaRPr>
          </a:p>
          <a:p>
            <a:pPr marL="742950" lvl="2" indent="-342900">
              <a:lnSpc>
                <a:spcPct val="125000"/>
              </a:lnSpc>
              <a:buFont typeface="Wingdings" panose="05000000000000000000" pitchFamily="2" charset="2"/>
              <a:buChar char="Ø"/>
              <a:defRPr/>
            </a:pPr>
            <a:r>
              <a:rPr lang="en-US" altLang="zh-CN" dirty="0">
                <a:latin typeface="微软雅黑" panose="020B0503020204020204" pitchFamily="34" charset="-122"/>
                <a:ea typeface="微软雅黑" panose="020B0503020204020204" pitchFamily="34" charset="-122"/>
              </a:rPr>
              <a:t>RR</a:t>
            </a:r>
            <a:r>
              <a:rPr lang="zh-CN" altLang="en-US" dirty="0">
                <a:latin typeface="微软雅黑" panose="020B0503020204020204" pitchFamily="34" charset="-122"/>
                <a:ea typeface="微软雅黑" panose="020B0503020204020204" pitchFamily="34" charset="-122"/>
              </a:rPr>
              <a:t>型平衡调整</a:t>
            </a:r>
            <a:endParaRPr lang="en-US" altLang="zh-CN" dirty="0">
              <a:latin typeface="微软雅黑" panose="020B0503020204020204" pitchFamily="34" charset="-122"/>
              <a:ea typeface="微软雅黑" panose="020B0503020204020204" pitchFamily="34" charset="-122"/>
            </a:endParaRPr>
          </a:p>
          <a:p>
            <a:pPr marL="742950" lvl="2" indent="-342900">
              <a:lnSpc>
                <a:spcPct val="125000"/>
              </a:lnSpc>
              <a:buFont typeface="Wingdings" panose="05000000000000000000" pitchFamily="2" charset="2"/>
              <a:buChar char="Ø"/>
              <a:defRPr/>
            </a:pPr>
            <a:r>
              <a:rPr lang="en-US" altLang="zh-CN" dirty="0">
                <a:latin typeface="微软雅黑" panose="020B0503020204020204" pitchFamily="34" charset="-122"/>
                <a:ea typeface="微软雅黑" panose="020B0503020204020204" pitchFamily="34" charset="-122"/>
              </a:rPr>
              <a:t>LR</a:t>
            </a:r>
            <a:r>
              <a:rPr lang="zh-CN" altLang="en-US" dirty="0">
                <a:latin typeface="微软雅黑" panose="020B0503020204020204" pitchFamily="34" charset="-122"/>
                <a:ea typeface="微软雅黑" panose="020B0503020204020204" pitchFamily="34" charset="-122"/>
              </a:rPr>
              <a:t>型平衡调整</a:t>
            </a:r>
            <a:endParaRPr lang="en-US" altLang="zh-CN" dirty="0">
              <a:latin typeface="微软雅黑" panose="020B0503020204020204" pitchFamily="34" charset="-122"/>
              <a:ea typeface="微软雅黑" panose="020B0503020204020204" pitchFamily="34" charset="-122"/>
            </a:endParaRPr>
          </a:p>
          <a:p>
            <a:pPr marL="742950" lvl="2" indent="-342900">
              <a:lnSpc>
                <a:spcPct val="125000"/>
              </a:lnSpc>
              <a:buFont typeface="Wingdings" panose="05000000000000000000" pitchFamily="2" charset="2"/>
              <a:buChar char="Ø"/>
              <a:defRPr/>
            </a:pPr>
            <a:r>
              <a:rPr lang="en-US" altLang="zh-CN" dirty="0">
                <a:latin typeface="微软雅黑" panose="020B0503020204020204" pitchFamily="34" charset="-122"/>
                <a:ea typeface="微软雅黑" panose="020B0503020204020204" pitchFamily="34" charset="-122"/>
              </a:rPr>
              <a:t>RL</a:t>
            </a:r>
            <a:r>
              <a:rPr lang="zh-CN" altLang="en-US" dirty="0">
                <a:latin typeface="微软雅黑" panose="020B0503020204020204" pitchFamily="34" charset="-122"/>
                <a:ea typeface="微软雅黑" panose="020B0503020204020204" pitchFamily="34" charset="-122"/>
              </a:rPr>
              <a:t>型平衡调整</a:t>
            </a:r>
            <a:endParaRPr lang="en-US" altLang="zh-CN" dirty="0">
              <a:latin typeface="微软雅黑" panose="020B0503020204020204" pitchFamily="34" charset="-122"/>
              <a:ea typeface="微软雅黑" panose="020B0503020204020204" pitchFamily="34" charset="-122"/>
            </a:endParaRPr>
          </a:p>
          <a:p>
            <a:pPr marL="742950" lvl="2" indent="-342900">
              <a:lnSpc>
                <a:spcPct val="125000"/>
              </a:lnSpc>
              <a:buFontTx/>
              <a:buNone/>
              <a:defRPr/>
            </a:pPr>
            <a:r>
              <a:rPr lang="en-US"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平衡二叉排序树的调整</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558800" y="965082"/>
            <a:ext cx="8229600" cy="4876800"/>
          </a:xfrm>
        </p:spPr>
        <p:txBody>
          <a:bodyPr/>
          <a:lstStyle/>
          <a:p>
            <a:pPr marL="342900" lvl="1" indent="-342900">
              <a:buFontTx/>
              <a:buChar char="•"/>
            </a:pPr>
            <a:r>
              <a:rPr lang="en-US" altLang="zh-CN" dirty="0">
                <a:latin typeface="微软雅黑" panose="020B0503020204020204" pitchFamily="34" charset="-122"/>
                <a:ea typeface="微软雅黑" panose="020B0503020204020204" pitchFamily="34" charset="-122"/>
              </a:rPr>
              <a:t>LL</a:t>
            </a:r>
            <a:r>
              <a:rPr lang="zh-CN" altLang="en-US" dirty="0">
                <a:latin typeface="微软雅黑" panose="020B0503020204020204" pitchFamily="34" charset="-122"/>
                <a:ea typeface="微软雅黑" panose="020B0503020204020204" pitchFamily="34" charset="-122"/>
              </a:rPr>
              <a:t>型平衡调整（单向右旋）</a:t>
            </a:r>
            <a:endParaRPr lang="zh-CN" altLang="en-US" dirty="0">
              <a:latin typeface="微软雅黑" panose="020B0503020204020204" pitchFamily="34" charset="-122"/>
              <a:ea typeface="微软雅黑" panose="020B0503020204020204" pitchFamily="34" charset="-122"/>
            </a:endParaRPr>
          </a:p>
        </p:txBody>
      </p:sp>
      <p:sp>
        <p:nvSpPr>
          <p:cNvPr id="5" name="AutoShape 49"/>
          <p:cNvSpPr>
            <a:spLocks noChangeArrowheads="1"/>
          </p:cNvSpPr>
          <p:nvPr/>
        </p:nvSpPr>
        <p:spPr bwMode="auto">
          <a:xfrm>
            <a:off x="4140200" y="2535120"/>
            <a:ext cx="1512888" cy="792162"/>
          </a:xfrm>
          <a:prstGeom prst="rightArrow">
            <a:avLst>
              <a:gd name="adj1" fmla="val 50000"/>
              <a:gd name="adj2" fmla="val 47745"/>
            </a:avLst>
          </a:prstGeom>
          <a:solidFill>
            <a:schemeClr val="bg1"/>
          </a:solidFill>
          <a:ln w="9525">
            <a:solidFill>
              <a:schemeClr val="tx1"/>
            </a:solidFill>
            <a:miter lim="800000"/>
          </a:ln>
          <a:effectLst/>
        </p:spPr>
        <p:txBody>
          <a:bodyPr wrap="none" anchor="ctr"/>
          <a:lstStyle/>
          <a:p>
            <a:pPr algn="ctr" eaLnBrk="1" hangingPunct="1">
              <a:buFont typeface="Wingdings" panose="05000000000000000000" pitchFamily="2" charset="2"/>
              <a:buNone/>
              <a:defRPr/>
            </a:pP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单向右旋</a:t>
            </a:r>
            <a:endParaRPr lang="en-US" altLang="zh-CN" sz="24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6" name="Text Box 53"/>
          <p:cNvSpPr txBox="1">
            <a:spLocks noChangeArrowheads="1"/>
          </p:cNvSpPr>
          <p:nvPr/>
        </p:nvSpPr>
        <p:spPr bwMode="auto">
          <a:xfrm>
            <a:off x="1001713" y="1357195"/>
            <a:ext cx="1219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zh-CN" altLang="en-US">
                <a:solidFill>
                  <a:srgbClr val="FFFFFF"/>
                </a:solidFill>
                <a:latin typeface="Arial Narrow" panose="020B0606020202030204" pitchFamily="34" charset="0"/>
              </a:rPr>
              <a:t>1.</a:t>
            </a:r>
            <a:endParaRPr lang="zh-CN" altLang="en-US">
              <a:solidFill>
                <a:srgbClr val="FFFFFF"/>
              </a:solidFill>
              <a:latin typeface="Arial Narrow" panose="020B0606020202030204" pitchFamily="34" charset="0"/>
            </a:endParaRPr>
          </a:p>
        </p:txBody>
      </p:sp>
      <p:grpSp>
        <p:nvGrpSpPr>
          <p:cNvPr id="7" name="组合 49"/>
          <p:cNvGrpSpPr/>
          <p:nvPr/>
        </p:nvGrpSpPr>
        <p:grpSpPr bwMode="auto">
          <a:xfrm>
            <a:off x="1854200" y="1679457"/>
            <a:ext cx="1981200" cy="1728788"/>
            <a:chOff x="1905000" y="1628775"/>
            <a:chExt cx="1981201" cy="1728490"/>
          </a:xfrm>
        </p:grpSpPr>
        <p:grpSp>
          <p:nvGrpSpPr>
            <p:cNvPr id="8" name="Group 14"/>
            <p:cNvGrpSpPr/>
            <p:nvPr/>
          </p:nvGrpSpPr>
          <p:grpSpPr bwMode="auto">
            <a:xfrm>
              <a:off x="2119313" y="1628775"/>
              <a:ext cx="1766888" cy="1295400"/>
              <a:chOff x="576" y="528"/>
              <a:chExt cx="1113" cy="816"/>
            </a:xfrm>
          </p:grpSpPr>
          <p:sp>
            <p:nvSpPr>
              <p:cNvPr id="11" name="Oval 2"/>
              <p:cNvSpPr>
                <a:spLocks noChangeArrowheads="1"/>
              </p:cNvSpPr>
              <p:nvPr/>
            </p:nvSpPr>
            <p:spPr bwMode="auto">
              <a:xfrm>
                <a:off x="960" y="528"/>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sp>
            <p:nvSpPr>
              <p:cNvPr id="12" name="Oval 3"/>
              <p:cNvSpPr>
                <a:spLocks noChangeArrowheads="1"/>
              </p:cNvSpPr>
              <p:nvPr/>
            </p:nvSpPr>
            <p:spPr bwMode="auto">
              <a:xfrm>
                <a:off x="672" y="912"/>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sp>
            <p:nvSpPr>
              <p:cNvPr id="13" name="Text Box 7"/>
              <p:cNvSpPr txBox="1">
                <a:spLocks noChangeArrowheads="1"/>
              </p:cNvSpPr>
              <p:nvPr/>
            </p:nvSpPr>
            <p:spPr bwMode="auto">
              <a:xfrm>
                <a:off x="1353" y="960"/>
                <a:ext cx="336" cy="291"/>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sp>
            <p:nvSpPr>
              <p:cNvPr id="14" name="Line 9"/>
              <p:cNvSpPr>
                <a:spLocks noChangeShapeType="1"/>
              </p:cNvSpPr>
              <p:nvPr/>
            </p:nvSpPr>
            <p:spPr bwMode="auto">
              <a:xfrm flipH="1">
                <a:off x="864" y="768"/>
                <a:ext cx="144" cy="14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0"/>
              <p:cNvSpPr>
                <a:spLocks noChangeShapeType="1"/>
              </p:cNvSpPr>
              <p:nvPr/>
            </p:nvSpPr>
            <p:spPr bwMode="auto">
              <a:xfrm>
                <a:off x="1200" y="768"/>
                <a:ext cx="192"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1"/>
              <p:cNvSpPr>
                <a:spLocks noChangeShapeType="1"/>
              </p:cNvSpPr>
              <p:nvPr/>
            </p:nvSpPr>
            <p:spPr bwMode="auto">
              <a:xfrm flipH="1">
                <a:off x="576" y="1152"/>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2"/>
              <p:cNvSpPr>
                <a:spLocks noChangeShapeType="1"/>
              </p:cNvSpPr>
              <p:nvPr/>
            </p:nvSpPr>
            <p:spPr bwMode="auto">
              <a:xfrm>
                <a:off x="912" y="1152"/>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 name="Text Box 7"/>
            <p:cNvSpPr txBox="1">
              <a:spLocks noChangeArrowheads="1"/>
            </p:cNvSpPr>
            <p:nvPr/>
          </p:nvSpPr>
          <p:spPr bwMode="auto">
            <a:xfrm>
              <a:off x="1905000" y="289560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10" name="Text Box 7"/>
            <p:cNvSpPr txBox="1">
              <a:spLocks noChangeArrowheads="1"/>
            </p:cNvSpPr>
            <p:nvPr/>
          </p:nvSpPr>
          <p:spPr bwMode="auto">
            <a:xfrm>
              <a:off x="2590800" y="289560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grpSp>
        <p:nvGrpSpPr>
          <p:cNvPr id="18" name="组合 50"/>
          <p:cNvGrpSpPr/>
          <p:nvPr/>
        </p:nvGrpSpPr>
        <p:grpSpPr bwMode="auto">
          <a:xfrm>
            <a:off x="1893888" y="3408246"/>
            <a:ext cx="457200" cy="752476"/>
            <a:chOff x="1945341" y="3438252"/>
            <a:chExt cx="457200" cy="752748"/>
          </a:xfrm>
        </p:grpSpPr>
        <p:sp>
          <p:nvSpPr>
            <p:cNvPr id="19" name="Oval 3"/>
            <p:cNvSpPr>
              <a:spLocks noChangeArrowheads="1"/>
            </p:cNvSpPr>
            <p:nvPr/>
          </p:nvSpPr>
          <p:spPr bwMode="auto">
            <a:xfrm>
              <a:off x="1945341" y="3733635"/>
              <a:ext cx="457200" cy="457365"/>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cxnSp>
          <p:nvCxnSpPr>
            <p:cNvPr id="20" name="直接连接符 38"/>
            <p:cNvCxnSpPr>
              <a:cxnSpLocks noChangeShapeType="1"/>
              <a:stCxn id="9" idx="2"/>
              <a:endCxn id="19" idx="0"/>
            </p:cNvCxnSpPr>
            <p:nvPr/>
          </p:nvCxnSpPr>
          <p:spPr bwMode="auto">
            <a:xfrm>
              <a:off x="2172353" y="3438252"/>
              <a:ext cx="1588" cy="295383"/>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grpSp>
      <p:grpSp>
        <p:nvGrpSpPr>
          <p:cNvPr id="21" name="组合 51"/>
          <p:cNvGrpSpPr/>
          <p:nvPr/>
        </p:nvGrpSpPr>
        <p:grpSpPr bwMode="auto">
          <a:xfrm>
            <a:off x="5865813" y="1706445"/>
            <a:ext cx="1931987" cy="2001837"/>
            <a:chOff x="5763490" y="1552575"/>
            <a:chExt cx="1932710" cy="2001115"/>
          </a:xfrm>
        </p:grpSpPr>
        <p:grpSp>
          <p:nvGrpSpPr>
            <p:cNvPr id="22" name="组合 48"/>
            <p:cNvGrpSpPr/>
            <p:nvPr/>
          </p:nvGrpSpPr>
          <p:grpSpPr bwMode="auto">
            <a:xfrm>
              <a:off x="5763490" y="1552575"/>
              <a:ext cx="1932710" cy="2001115"/>
              <a:chOff x="5763490" y="1552575"/>
              <a:chExt cx="1932710" cy="2001115"/>
            </a:xfrm>
          </p:grpSpPr>
          <p:grpSp>
            <p:nvGrpSpPr>
              <p:cNvPr id="25" name="Group 60"/>
              <p:cNvGrpSpPr/>
              <p:nvPr/>
            </p:nvGrpSpPr>
            <p:grpSpPr bwMode="auto">
              <a:xfrm>
                <a:off x="6019803" y="1552575"/>
                <a:ext cx="1395413" cy="1447800"/>
                <a:chOff x="3945" y="240"/>
                <a:chExt cx="879" cy="912"/>
              </a:xfrm>
            </p:grpSpPr>
            <p:sp>
              <p:nvSpPr>
                <p:cNvPr id="30" name="Oval 15"/>
                <p:cNvSpPr>
                  <a:spLocks noChangeArrowheads="1"/>
                </p:cNvSpPr>
                <p:nvPr/>
              </p:nvSpPr>
              <p:spPr bwMode="auto">
                <a:xfrm>
                  <a:off x="4428" y="696"/>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sp>
              <p:nvSpPr>
                <p:cNvPr id="31" name="Oval 16"/>
                <p:cNvSpPr>
                  <a:spLocks noChangeArrowheads="1"/>
                </p:cNvSpPr>
                <p:nvPr/>
              </p:nvSpPr>
              <p:spPr bwMode="auto">
                <a:xfrm>
                  <a:off x="4068" y="240"/>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sp>
              <p:nvSpPr>
                <p:cNvPr id="32" name="Line 20"/>
                <p:cNvSpPr>
                  <a:spLocks noChangeShapeType="1"/>
                </p:cNvSpPr>
                <p:nvPr/>
              </p:nvSpPr>
              <p:spPr bwMode="auto">
                <a:xfrm flipH="1">
                  <a:off x="3945" y="480"/>
                  <a:ext cx="171" cy="22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Line 21"/>
                <p:cNvSpPr>
                  <a:spLocks noChangeShapeType="1"/>
                </p:cNvSpPr>
                <p:nvPr/>
              </p:nvSpPr>
              <p:spPr bwMode="auto">
                <a:xfrm>
                  <a:off x="4320" y="480"/>
                  <a:ext cx="180"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Line 22"/>
                <p:cNvSpPr>
                  <a:spLocks noChangeShapeType="1"/>
                </p:cNvSpPr>
                <p:nvPr/>
              </p:nvSpPr>
              <p:spPr bwMode="auto">
                <a:xfrm flipH="1">
                  <a:off x="4356" y="960"/>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Line 23"/>
                <p:cNvSpPr>
                  <a:spLocks noChangeShapeType="1"/>
                </p:cNvSpPr>
                <p:nvPr/>
              </p:nvSpPr>
              <p:spPr bwMode="auto">
                <a:xfrm>
                  <a:off x="4680" y="936"/>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6" name="Text Box 7"/>
              <p:cNvSpPr txBox="1">
                <a:spLocks noChangeArrowheads="1"/>
              </p:cNvSpPr>
              <p:nvPr/>
            </p:nvSpPr>
            <p:spPr bwMode="auto">
              <a:xfrm>
                <a:off x="7162800" y="2971800"/>
                <a:ext cx="533400" cy="461963"/>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sp>
            <p:nvSpPr>
              <p:cNvPr id="27" name="Text Box 7"/>
              <p:cNvSpPr txBox="1">
                <a:spLocks noChangeArrowheads="1"/>
              </p:cNvSpPr>
              <p:nvPr/>
            </p:nvSpPr>
            <p:spPr bwMode="auto">
              <a:xfrm>
                <a:off x="6400800" y="297180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sp>
            <p:nvSpPr>
              <p:cNvPr id="28" name="Text Box 7"/>
              <p:cNvSpPr txBox="1">
                <a:spLocks noChangeArrowheads="1"/>
              </p:cNvSpPr>
              <p:nvPr/>
            </p:nvSpPr>
            <p:spPr bwMode="auto">
              <a:xfrm>
                <a:off x="5763490" y="225829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29" name="Oval 3"/>
              <p:cNvSpPr>
                <a:spLocks noChangeArrowheads="1"/>
              </p:cNvSpPr>
              <p:nvPr/>
            </p:nvSpPr>
            <p:spPr bwMode="auto">
              <a:xfrm>
                <a:off x="5803192" y="3096655"/>
                <a:ext cx="457371" cy="457035"/>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grpSp>
        <p:cxnSp>
          <p:nvCxnSpPr>
            <p:cNvPr id="24" name="直接连接符 47"/>
            <p:cNvCxnSpPr>
              <a:cxnSpLocks noChangeShapeType="1"/>
              <a:stCxn id="28" idx="2"/>
              <a:endCxn id="29" idx="0"/>
            </p:cNvCxnSpPr>
            <p:nvPr/>
          </p:nvCxnSpPr>
          <p:spPr bwMode="auto">
            <a:xfrm rot="16200000" flipH="1">
              <a:off x="5843043" y="2907101"/>
              <a:ext cx="376535" cy="2241"/>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ppt_x"/>
                                          </p:val>
                                        </p:tav>
                                        <p:tav tm="100000">
                                          <p:val>
                                            <p:strVal val="#ppt_x"/>
                                          </p:val>
                                        </p:tav>
                                      </p:tavLst>
                                    </p:anim>
                                    <p:anim calcmode="lin" valueType="num">
                                      <p:cBhvr additive="base">
                                        <p:cTn id="1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1+#ppt_w/2"/>
                                          </p:val>
                                        </p:tav>
                                        <p:tav tm="100000">
                                          <p:val>
                                            <p:strVal val="#ppt_x"/>
                                          </p:val>
                                        </p:tav>
                                      </p:tavLst>
                                    </p:anim>
                                    <p:anim calcmode="lin" valueType="num">
                                      <p:cBhvr additive="base">
                                        <p:cTn id="24"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平衡二叉排序树的调整</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a:spLocks noGrp="1"/>
          </p:cNvSpPr>
          <p:nvPr>
            <p:ph idx="1"/>
          </p:nvPr>
        </p:nvSpPr>
        <p:spPr>
          <a:xfrm>
            <a:off x="626533" y="965082"/>
            <a:ext cx="8229600" cy="4876800"/>
          </a:xfrm>
        </p:spPr>
        <p:txBody>
          <a:bodyPr/>
          <a:lstStyle/>
          <a:p>
            <a:pPr marL="342900" lvl="1" indent="-342900">
              <a:buFontTx/>
              <a:buChar char="•"/>
            </a:pPr>
            <a:r>
              <a:rPr lang="en-US" altLang="zh-CN" dirty="0">
                <a:latin typeface="微软雅黑" panose="020B0503020204020204" pitchFamily="34" charset="-122"/>
                <a:ea typeface="微软雅黑" panose="020B0503020204020204" pitchFamily="34" charset="-122"/>
              </a:rPr>
              <a:t>RR</a:t>
            </a:r>
            <a:r>
              <a:rPr lang="zh-CN" altLang="en-US" dirty="0">
                <a:latin typeface="微软雅黑" panose="020B0503020204020204" pitchFamily="34" charset="-122"/>
                <a:ea typeface="微软雅黑" panose="020B0503020204020204" pitchFamily="34" charset="-122"/>
              </a:rPr>
              <a:t>型平衡调整（单向左旋）</a:t>
            </a:r>
            <a:endParaRPr lang="zh-CN" altLang="en-US" dirty="0">
              <a:latin typeface="微软雅黑" panose="020B0503020204020204" pitchFamily="34" charset="-122"/>
              <a:ea typeface="微软雅黑" panose="020B0503020204020204" pitchFamily="34" charset="-122"/>
            </a:endParaRPr>
          </a:p>
        </p:txBody>
      </p:sp>
      <p:sp>
        <p:nvSpPr>
          <p:cNvPr id="23" name="AutoShape 49"/>
          <p:cNvSpPr>
            <a:spLocks noChangeArrowheads="1"/>
          </p:cNvSpPr>
          <p:nvPr/>
        </p:nvSpPr>
        <p:spPr bwMode="auto">
          <a:xfrm>
            <a:off x="4055533" y="2535120"/>
            <a:ext cx="1512888" cy="792162"/>
          </a:xfrm>
          <a:prstGeom prst="rightArrow">
            <a:avLst>
              <a:gd name="adj1" fmla="val 50000"/>
              <a:gd name="adj2" fmla="val 47745"/>
            </a:avLst>
          </a:prstGeom>
          <a:solidFill>
            <a:schemeClr val="bg1"/>
          </a:solidFill>
          <a:ln w="9525">
            <a:solidFill>
              <a:schemeClr val="tx1"/>
            </a:solidFill>
            <a:miter lim="800000"/>
          </a:ln>
          <a:effectLst/>
        </p:spPr>
        <p:txBody>
          <a:bodyPr wrap="none" anchor="ctr"/>
          <a:lstStyle/>
          <a:p>
            <a:pPr algn="ctr" eaLnBrk="1" hangingPunct="1">
              <a:buFont typeface="Wingdings" panose="05000000000000000000" pitchFamily="2" charset="2"/>
              <a:buNone/>
              <a:defRPr/>
            </a:pP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单向左旋</a:t>
            </a:r>
            <a:endParaRPr lang="en-US" altLang="zh-CN" sz="24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36" name="Text Box 53"/>
          <p:cNvSpPr txBox="1">
            <a:spLocks noChangeArrowheads="1"/>
          </p:cNvSpPr>
          <p:nvPr/>
        </p:nvSpPr>
        <p:spPr bwMode="auto">
          <a:xfrm>
            <a:off x="1069446" y="1357195"/>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zh-CN" altLang="en-US">
                <a:solidFill>
                  <a:srgbClr val="FFFFFF"/>
                </a:solidFill>
                <a:latin typeface="Arial Narrow" panose="020B0606020202030204" pitchFamily="34" charset="0"/>
              </a:rPr>
              <a:t>1.</a:t>
            </a:r>
            <a:endParaRPr lang="zh-CN" altLang="en-US">
              <a:solidFill>
                <a:srgbClr val="FFFFFF"/>
              </a:solidFill>
              <a:latin typeface="Arial Narrow" panose="020B0606020202030204" pitchFamily="34" charset="0"/>
            </a:endParaRPr>
          </a:p>
        </p:txBody>
      </p:sp>
      <p:grpSp>
        <p:nvGrpSpPr>
          <p:cNvPr id="37" name="组合 49"/>
          <p:cNvGrpSpPr/>
          <p:nvPr/>
        </p:nvGrpSpPr>
        <p:grpSpPr bwMode="auto">
          <a:xfrm>
            <a:off x="1845733" y="1831857"/>
            <a:ext cx="1828800" cy="1876425"/>
            <a:chOff x="2286000" y="1628775"/>
            <a:chExt cx="1828800" cy="1876425"/>
          </a:xfrm>
        </p:grpSpPr>
        <p:grpSp>
          <p:nvGrpSpPr>
            <p:cNvPr id="38" name="Group 14"/>
            <p:cNvGrpSpPr/>
            <p:nvPr/>
          </p:nvGrpSpPr>
          <p:grpSpPr bwMode="auto">
            <a:xfrm>
              <a:off x="2286000" y="1628775"/>
              <a:ext cx="1585913" cy="1443038"/>
              <a:chOff x="681" y="528"/>
              <a:chExt cx="999" cy="909"/>
            </a:xfrm>
          </p:grpSpPr>
          <p:sp>
            <p:nvSpPr>
              <p:cNvPr id="41" name="Oval 2"/>
              <p:cNvSpPr>
                <a:spLocks noChangeArrowheads="1"/>
              </p:cNvSpPr>
              <p:nvPr/>
            </p:nvSpPr>
            <p:spPr bwMode="auto">
              <a:xfrm>
                <a:off x="960" y="528"/>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sp>
            <p:nvSpPr>
              <p:cNvPr id="42" name="Oval 3"/>
              <p:cNvSpPr>
                <a:spLocks noChangeArrowheads="1"/>
              </p:cNvSpPr>
              <p:nvPr/>
            </p:nvSpPr>
            <p:spPr bwMode="auto">
              <a:xfrm>
                <a:off x="1257" y="973"/>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sp>
            <p:nvSpPr>
              <p:cNvPr id="43" name="Text Box 7"/>
              <p:cNvSpPr txBox="1">
                <a:spLocks noChangeArrowheads="1"/>
              </p:cNvSpPr>
              <p:nvPr/>
            </p:nvSpPr>
            <p:spPr bwMode="auto">
              <a:xfrm>
                <a:off x="681" y="987"/>
                <a:ext cx="336" cy="291"/>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44" name="Line 9"/>
              <p:cNvSpPr>
                <a:spLocks noChangeShapeType="1"/>
              </p:cNvSpPr>
              <p:nvPr/>
            </p:nvSpPr>
            <p:spPr bwMode="auto">
              <a:xfrm flipH="1">
                <a:off x="825" y="768"/>
                <a:ext cx="183" cy="22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10"/>
              <p:cNvSpPr>
                <a:spLocks noChangeShapeType="1"/>
              </p:cNvSpPr>
              <p:nvPr/>
            </p:nvSpPr>
            <p:spPr bwMode="auto">
              <a:xfrm>
                <a:off x="1200" y="768"/>
                <a:ext cx="201" cy="22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11"/>
              <p:cNvSpPr>
                <a:spLocks noChangeShapeType="1"/>
              </p:cNvSpPr>
              <p:nvPr/>
            </p:nvSpPr>
            <p:spPr bwMode="auto">
              <a:xfrm flipH="1">
                <a:off x="1200" y="1245"/>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12"/>
              <p:cNvSpPr>
                <a:spLocks noChangeShapeType="1"/>
              </p:cNvSpPr>
              <p:nvPr/>
            </p:nvSpPr>
            <p:spPr bwMode="auto">
              <a:xfrm>
                <a:off x="1497" y="1230"/>
                <a:ext cx="183" cy="20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9" name="Text Box 7"/>
            <p:cNvSpPr txBox="1">
              <a:spLocks noChangeArrowheads="1"/>
            </p:cNvSpPr>
            <p:nvPr/>
          </p:nvSpPr>
          <p:spPr bwMode="auto">
            <a:xfrm>
              <a:off x="2895600" y="3043535"/>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40" name="Text Box 7"/>
            <p:cNvSpPr txBox="1">
              <a:spLocks noChangeArrowheads="1"/>
            </p:cNvSpPr>
            <p:nvPr/>
          </p:nvSpPr>
          <p:spPr bwMode="auto">
            <a:xfrm>
              <a:off x="3581400" y="3043535"/>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sp>
        <p:nvSpPr>
          <p:cNvPr id="48" name="Oval 3"/>
          <p:cNvSpPr>
            <a:spLocks noChangeArrowheads="1"/>
          </p:cNvSpPr>
          <p:nvPr/>
        </p:nvSpPr>
        <p:spPr bwMode="auto">
          <a:xfrm>
            <a:off x="3218921" y="4089282"/>
            <a:ext cx="457200" cy="457200"/>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grpSp>
        <p:nvGrpSpPr>
          <p:cNvPr id="49" name="组合 51"/>
          <p:cNvGrpSpPr/>
          <p:nvPr/>
        </p:nvGrpSpPr>
        <p:grpSpPr bwMode="auto">
          <a:xfrm>
            <a:off x="5884333" y="1935045"/>
            <a:ext cx="2133600" cy="2001837"/>
            <a:chOff x="5257800" y="1552575"/>
            <a:chExt cx="2133600" cy="2001115"/>
          </a:xfrm>
        </p:grpSpPr>
        <p:grpSp>
          <p:nvGrpSpPr>
            <p:cNvPr id="50" name="组合 48"/>
            <p:cNvGrpSpPr/>
            <p:nvPr/>
          </p:nvGrpSpPr>
          <p:grpSpPr bwMode="auto">
            <a:xfrm>
              <a:off x="5257800" y="1552575"/>
              <a:ext cx="2133600" cy="2001115"/>
              <a:chOff x="5257800" y="1552575"/>
              <a:chExt cx="2133600" cy="2001115"/>
            </a:xfrm>
          </p:grpSpPr>
          <p:grpSp>
            <p:nvGrpSpPr>
              <p:cNvPr id="52" name="Group 60"/>
              <p:cNvGrpSpPr/>
              <p:nvPr/>
            </p:nvGrpSpPr>
            <p:grpSpPr bwMode="auto">
              <a:xfrm>
                <a:off x="5529268" y="1552575"/>
                <a:ext cx="1557339" cy="1443038"/>
                <a:chOff x="3636" y="240"/>
                <a:chExt cx="981" cy="909"/>
              </a:xfrm>
            </p:grpSpPr>
            <p:sp>
              <p:nvSpPr>
                <p:cNvPr id="57" name="Oval 15"/>
                <p:cNvSpPr>
                  <a:spLocks noChangeArrowheads="1"/>
                </p:cNvSpPr>
                <p:nvPr/>
              </p:nvSpPr>
              <p:spPr bwMode="auto">
                <a:xfrm>
                  <a:off x="3708" y="693"/>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sp>
              <p:nvSpPr>
                <p:cNvPr id="58" name="Oval 16"/>
                <p:cNvSpPr>
                  <a:spLocks noChangeArrowheads="1"/>
                </p:cNvSpPr>
                <p:nvPr/>
              </p:nvSpPr>
              <p:spPr bwMode="auto">
                <a:xfrm>
                  <a:off x="4068" y="240"/>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sp>
              <p:nvSpPr>
                <p:cNvPr id="59" name="Line 20"/>
                <p:cNvSpPr>
                  <a:spLocks noChangeShapeType="1"/>
                </p:cNvSpPr>
                <p:nvPr/>
              </p:nvSpPr>
              <p:spPr bwMode="auto">
                <a:xfrm flipH="1">
                  <a:off x="3897" y="480"/>
                  <a:ext cx="219" cy="20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0" name="Line 21"/>
                <p:cNvSpPr>
                  <a:spLocks noChangeShapeType="1"/>
                </p:cNvSpPr>
                <p:nvPr/>
              </p:nvSpPr>
              <p:spPr bwMode="auto">
                <a:xfrm>
                  <a:off x="4320" y="480"/>
                  <a:ext cx="297" cy="20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 name="Line 22"/>
                <p:cNvSpPr>
                  <a:spLocks noChangeShapeType="1"/>
                </p:cNvSpPr>
                <p:nvPr/>
              </p:nvSpPr>
              <p:spPr bwMode="auto">
                <a:xfrm flipH="1">
                  <a:off x="3636" y="957"/>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23"/>
                <p:cNvSpPr>
                  <a:spLocks noChangeShapeType="1"/>
                </p:cNvSpPr>
                <p:nvPr/>
              </p:nvSpPr>
              <p:spPr bwMode="auto">
                <a:xfrm>
                  <a:off x="3960" y="933"/>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3" name="Text Box 7"/>
              <p:cNvSpPr txBox="1">
                <a:spLocks noChangeArrowheads="1"/>
              </p:cNvSpPr>
              <p:nvPr/>
            </p:nvSpPr>
            <p:spPr bwMode="auto">
              <a:xfrm>
                <a:off x="6019800" y="2967037"/>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54" name="Text Box 7"/>
              <p:cNvSpPr txBox="1">
                <a:spLocks noChangeArrowheads="1"/>
              </p:cNvSpPr>
              <p:nvPr/>
            </p:nvSpPr>
            <p:spPr bwMode="auto">
              <a:xfrm>
                <a:off x="5257800" y="2967037"/>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55" name="Text Box 7"/>
              <p:cNvSpPr txBox="1">
                <a:spLocks noChangeArrowheads="1"/>
              </p:cNvSpPr>
              <p:nvPr/>
            </p:nvSpPr>
            <p:spPr bwMode="auto">
              <a:xfrm>
                <a:off x="6858000" y="225829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sp>
            <p:nvSpPr>
              <p:cNvPr id="56" name="Oval 3"/>
              <p:cNvSpPr>
                <a:spLocks noChangeArrowheads="1"/>
              </p:cNvSpPr>
              <p:nvPr/>
            </p:nvSpPr>
            <p:spPr bwMode="auto">
              <a:xfrm>
                <a:off x="6897688" y="3096655"/>
                <a:ext cx="457200" cy="457035"/>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grpSp>
        <p:cxnSp>
          <p:nvCxnSpPr>
            <p:cNvPr id="51" name="直接连接符 47"/>
            <p:cNvCxnSpPr>
              <a:cxnSpLocks noChangeShapeType="1"/>
              <a:stCxn id="55" idx="2"/>
              <a:endCxn id="56" idx="0"/>
            </p:cNvCxnSpPr>
            <p:nvPr/>
          </p:nvCxnSpPr>
          <p:spPr bwMode="auto">
            <a:xfrm rot="16200000" flipH="1">
              <a:off x="6937553" y="2907101"/>
              <a:ext cx="376535" cy="2241"/>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grpSp>
      <p:cxnSp>
        <p:nvCxnSpPr>
          <p:cNvPr id="63" name="直接连接符 39"/>
          <p:cNvCxnSpPr>
            <a:cxnSpLocks noChangeShapeType="1"/>
          </p:cNvCxnSpPr>
          <p:nvPr/>
        </p:nvCxnSpPr>
        <p:spPr bwMode="auto">
          <a:xfrm rot="16200000" flipH="1">
            <a:off x="3257021" y="3900370"/>
            <a:ext cx="376237" cy="1587"/>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additive="base">
                                        <p:cTn id="12" dur="500" fill="hold"/>
                                        <p:tgtEl>
                                          <p:spTgt spid="63"/>
                                        </p:tgtEl>
                                        <p:attrNameLst>
                                          <p:attrName>ppt_x</p:attrName>
                                        </p:attrNameLst>
                                      </p:cBhvr>
                                      <p:tavLst>
                                        <p:tav tm="0">
                                          <p:val>
                                            <p:strVal val="#ppt_x"/>
                                          </p:val>
                                        </p:tav>
                                        <p:tav tm="100000">
                                          <p:val>
                                            <p:strVal val="#ppt_x"/>
                                          </p:val>
                                        </p:tav>
                                      </p:tavLst>
                                    </p:anim>
                                    <p:anim calcmode="lin" valueType="num">
                                      <p:cBhvr additive="base">
                                        <p:cTn id="13" dur="500" fill="hold"/>
                                        <p:tgtEl>
                                          <p:spTgt spid="63"/>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48"/>
                                        </p:tgtEl>
                                        <p:attrNameLst>
                                          <p:attrName>style.visibility</p:attrName>
                                        </p:attrNameLst>
                                      </p:cBhvr>
                                      <p:to>
                                        <p:strVal val="visible"/>
                                      </p:to>
                                    </p:set>
                                    <p:anim calcmode="lin" valueType="num">
                                      <p:cBhvr additive="base">
                                        <p:cTn id="16" dur="500" fill="hold"/>
                                        <p:tgtEl>
                                          <p:spTgt spid="48"/>
                                        </p:tgtEl>
                                        <p:attrNameLst>
                                          <p:attrName>ppt_x</p:attrName>
                                        </p:attrNameLst>
                                      </p:cBhvr>
                                      <p:tavLst>
                                        <p:tav tm="0">
                                          <p:val>
                                            <p:strVal val="#ppt_x"/>
                                          </p:val>
                                        </p:tav>
                                        <p:tav tm="100000">
                                          <p:val>
                                            <p:strVal val="#ppt_x"/>
                                          </p:val>
                                        </p:tav>
                                      </p:tavLst>
                                    </p:anim>
                                    <p:anim calcmode="lin" valueType="num">
                                      <p:cBhvr additive="base">
                                        <p:cTn id="17"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linds(horizontal)">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1+#ppt_w/2"/>
                                          </p:val>
                                        </p:tav>
                                        <p:tav tm="100000">
                                          <p:val>
                                            <p:strVal val="#ppt_x"/>
                                          </p:val>
                                        </p:tav>
                                      </p:tavLst>
                                    </p:anim>
                                    <p:anim calcmode="lin" valueType="num">
                                      <p:cBhvr additive="base">
                                        <p:cTn id="28"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autoUpdateAnimBg="0"/>
      <p:bldP spid="36" grpId="0" autoUpdateAnimBg="0"/>
      <p:bldP spid="4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平衡二叉排序树的调整</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647700" y="960577"/>
            <a:ext cx="8229600" cy="4876800"/>
          </a:xfrm>
        </p:spPr>
        <p:txBody>
          <a:bodyPr/>
          <a:lstStyle/>
          <a:p>
            <a:pPr marL="342900" lvl="1" indent="-342900">
              <a:buFontTx/>
              <a:buChar char="•"/>
            </a:pPr>
            <a:r>
              <a:rPr lang="en-US" altLang="zh-CN" dirty="0">
                <a:latin typeface="微软雅黑" panose="020B0503020204020204" pitchFamily="34" charset="-122"/>
                <a:ea typeface="微软雅黑" panose="020B0503020204020204" pitchFamily="34" charset="-122"/>
              </a:rPr>
              <a:t>LR</a:t>
            </a:r>
            <a:r>
              <a:rPr lang="zh-CN" altLang="en-US" dirty="0">
                <a:latin typeface="微软雅黑" panose="020B0503020204020204" pitchFamily="34" charset="-122"/>
                <a:ea typeface="微软雅黑" panose="020B0503020204020204" pitchFamily="34" charset="-122"/>
              </a:rPr>
              <a:t>型平衡调整（先单向左旋再单向右旋）</a:t>
            </a:r>
            <a:endParaRPr lang="zh-CN" altLang="en-US" dirty="0">
              <a:latin typeface="微软雅黑" panose="020B0503020204020204" pitchFamily="34" charset="-122"/>
              <a:ea typeface="微软雅黑" panose="020B0503020204020204" pitchFamily="34" charset="-122"/>
            </a:endParaRPr>
          </a:p>
        </p:txBody>
      </p:sp>
      <p:sp>
        <p:nvSpPr>
          <p:cNvPr id="5" name="AutoShape 49"/>
          <p:cNvSpPr>
            <a:spLocks noChangeArrowheads="1"/>
          </p:cNvSpPr>
          <p:nvPr/>
        </p:nvSpPr>
        <p:spPr bwMode="auto">
          <a:xfrm>
            <a:off x="2133600" y="4645548"/>
            <a:ext cx="1776394" cy="815334"/>
          </a:xfrm>
          <a:prstGeom prst="rightArrow">
            <a:avLst>
              <a:gd name="adj1" fmla="val 50000"/>
              <a:gd name="adj2" fmla="val 47745"/>
            </a:avLst>
          </a:prstGeom>
          <a:solidFill>
            <a:schemeClr val="bg1"/>
          </a:solidFill>
          <a:ln w="9525">
            <a:solidFill>
              <a:schemeClr val="tx1"/>
            </a:solidFill>
            <a:miter lim="800000"/>
          </a:ln>
          <a:effectLst/>
        </p:spPr>
        <p:txBody>
          <a:bodyPr wrap="none" anchor="ctr"/>
          <a:lstStyle/>
          <a:p>
            <a:pPr algn="ctr" eaLnBrk="1" hangingPunct="1">
              <a:buFont typeface="Wingdings" panose="05000000000000000000" pitchFamily="2" charset="2"/>
              <a:buNone/>
              <a:defRPr/>
            </a:pP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单向左旋</a:t>
            </a:r>
            <a:endParaRPr lang="en-US" altLang="zh-CN" sz="24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6" name="Text Box 53"/>
          <p:cNvSpPr txBox="1">
            <a:spLocks noChangeArrowheads="1"/>
          </p:cNvSpPr>
          <p:nvPr/>
        </p:nvSpPr>
        <p:spPr bwMode="auto">
          <a:xfrm>
            <a:off x="1204913" y="1357195"/>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zh-CN" altLang="en-US">
                <a:solidFill>
                  <a:srgbClr val="FFFFFF"/>
                </a:solidFill>
                <a:latin typeface="Arial Narrow" panose="020B0606020202030204" pitchFamily="34" charset="0"/>
              </a:rPr>
              <a:t>1.</a:t>
            </a:r>
            <a:endParaRPr lang="zh-CN" altLang="en-US">
              <a:solidFill>
                <a:srgbClr val="FFFFFF"/>
              </a:solidFill>
              <a:latin typeface="Arial Narrow" panose="020B0606020202030204" pitchFamily="34" charset="0"/>
            </a:endParaRPr>
          </a:p>
        </p:txBody>
      </p:sp>
      <p:grpSp>
        <p:nvGrpSpPr>
          <p:cNvPr id="7" name="组合 50"/>
          <p:cNvGrpSpPr/>
          <p:nvPr/>
        </p:nvGrpSpPr>
        <p:grpSpPr bwMode="auto">
          <a:xfrm>
            <a:off x="1258888" y="4317881"/>
            <a:ext cx="536832" cy="761999"/>
            <a:chOff x="1183994" y="2993030"/>
            <a:chExt cx="457200" cy="740613"/>
          </a:xfrm>
        </p:grpSpPr>
        <p:sp>
          <p:nvSpPr>
            <p:cNvPr id="8" name="Oval 3"/>
            <p:cNvSpPr>
              <a:spLocks noChangeArrowheads="1"/>
            </p:cNvSpPr>
            <p:nvPr/>
          </p:nvSpPr>
          <p:spPr bwMode="auto">
            <a:xfrm>
              <a:off x="1183994" y="3276277"/>
              <a:ext cx="457200" cy="457366"/>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cxnSp>
          <p:nvCxnSpPr>
            <p:cNvPr id="9" name="直接连接符 38"/>
            <p:cNvCxnSpPr>
              <a:cxnSpLocks noChangeShapeType="1"/>
              <a:stCxn id="17" idx="2"/>
              <a:endCxn id="8" idx="0"/>
            </p:cNvCxnSpPr>
            <p:nvPr/>
          </p:nvCxnSpPr>
          <p:spPr bwMode="auto">
            <a:xfrm flipH="1">
              <a:off x="1412594" y="2993030"/>
              <a:ext cx="72120" cy="283247"/>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grpSp>
      <p:grpSp>
        <p:nvGrpSpPr>
          <p:cNvPr id="10" name="组合 96"/>
          <p:cNvGrpSpPr/>
          <p:nvPr/>
        </p:nvGrpSpPr>
        <p:grpSpPr bwMode="auto">
          <a:xfrm>
            <a:off x="762000" y="1518951"/>
            <a:ext cx="2326274" cy="2798932"/>
            <a:chOff x="457200" y="1852612"/>
            <a:chExt cx="1981200" cy="2719388"/>
          </a:xfrm>
        </p:grpSpPr>
        <p:sp>
          <p:nvSpPr>
            <p:cNvPr id="11" name="Line 11"/>
            <p:cNvSpPr>
              <a:spLocks noChangeShapeType="1"/>
            </p:cNvSpPr>
            <p:nvPr/>
          </p:nvSpPr>
          <p:spPr bwMode="auto">
            <a:xfrm flipH="1">
              <a:off x="1357313" y="3805535"/>
              <a:ext cx="228600" cy="3048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12"/>
            <p:cNvSpPr>
              <a:spLocks noChangeShapeType="1"/>
            </p:cNvSpPr>
            <p:nvPr/>
          </p:nvSpPr>
          <p:spPr bwMode="auto">
            <a:xfrm>
              <a:off x="1676400" y="3805535"/>
              <a:ext cx="228600" cy="3048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3" name="组合 62"/>
            <p:cNvGrpSpPr/>
            <p:nvPr/>
          </p:nvGrpSpPr>
          <p:grpSpPr bwMode="auto">
            <a:xfrm>
              <a:off x="457200" y="1852612"/>
              <a:ext cx="1981200" cy="2719388"/>
              <a:chOff x="685800" y="1852612"/>
              <a:chExt cx="1981200" cy="2719388"/>
            </a:xfrm>
          </p:grpSpPr>
          <p:grpSp>
            <p:nvGrpSpPr>
              <p:cNvPr id="14" name="组合 48"/>
              <p:cNvGrpSpPr/>
              <p:nvPr/>
            </p:nvGrpSpPr>
            <p:grpSpPr bwMode="auto">
              <a:xfrm>
                <a:off x="685800" y="1852612"/>
                <a:ext cx="1981200" cy="2719388"/>
                <a:chOff x="685800" y="1852612"/>
                <a:chExt cx="1981200" cy="2719388"/>
              </a:xfrm>
            </p:grpSpPr>
            <p:grpSp>
              <p:nvGrpSpPr>
                <p:cNvPr id="16" name="组合 49"/>
                <p:cNvGrpSpPr/>
                <p:nvPr/>
              </p:nvGrpSpPr>
              <p:grpSpPr bwMode="auto">
                <a:xfrm>
                  <a:off x="685800" y="1852612"/>
                  <a:ext cx="1981200" cy="2185988"/>
                  <a:chOff x="1905000" y="1628775"/>
                  <a:chExt cx="1981201" cy="1728409"/>
                </a:xfrm>
              </p:grpSpPr>
              <p:grpSp>
                <p:nvGrpSpPr>
                  <p:cNvPr id="19" name="Group 14"/>
                  <p:cNvGrpSpPr/>
                  <p:nvPr/>
                </p:nvGrpSpPr>
                <p:grpSpPr bwMode="auto">
                  <a:xfrm>
                    <a:off x="2119313" y="1628775"/>
                    <a:ext cx="1766888" cy="1295400"/>
                    <a:chOff x="576" y="528"/>
                    <a:chExt cx="1113" cy="816"/>
                  </a:xfrm>
                </p:grpSpPr>
                <p:sp>
                  <p:nvSpPr>
                    <p:cNvPr id="21" name="Oval 2"/>
                    <p:cNvSpPr>
                      <a:spLocks noChangeArrowheads="1"/>
                    </p:cNvSpPr>
                    <p:nvPr/>
                  </p:nvSpPr>
                  <p:spPr bwMode="auto">
                    <a:xfrm>
                      <a:off x="960" y="528"/>
                      <a:ext cx="288" cy="254"/>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sp>
                  <p:nvSpPr>
                    <p:cNvPr id="22" name="Oval 3"/>
                    <p:cNvSpPr>
                      <a:spLocks noChangeArrowheads="1"/>
                    </p:cNvSpPr>
                    <p:nvPr/>
                  </p:nvSpPr>
                  <p:spPr bwMode="auto">
                    <a:xfrm>
                      <a:off x="672" y="912"/>
                      <a:ext cx="288" cy="249"/>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sp>
                  <p:nvSpPr>
                    <p:cNvPr id="24" name="Text Box 7"/>
                    <p:cNvSpPr txBox="1">
                      <a:spLocks noChangeArrowheads="1"/>
                    </p:cNvSpPr>
                    <p:nvPr/>
                  </p:nvSpPr>
                  <p:spPr bwMode="auto">
                    <a:xfrm>
                      <a:off x="1353" y="960"/>
                      <a:ext cx="336" cy="291"/>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sp>
                  <p:nvSpPr>
                    <p:cNvPr id="25" name="Line 9"/>
                    <p:cNvSpPr>
                      <a:spLocks noChangeShapeType="1"/>
                    </p:cNvSpPr>
                    <p:nvPr/>
                  </p:nvSpPr>
                  <p:spPr bwMode="auto">
                    <a:xfrm flipH="1">
                      <a:off x="864" y="744"/>
                      <a:ext cx="153" cy="16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10"/>
                    <p:cNvSpPr>
                      <a:spLocks noChangeShapeType="1"/>
                    </p:cNvSpPr>
                    <p:nvPr/>
                  </p:nvSpPr>
                  <p:spPr bwMode="auto">
                    <a:xfrm>
                      <a:off x="1161" y="744"/>
                      <a:ext cx="231" cy="21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Line 11"/>
                    <p:cNvSpPr>
                      <a:spLocks noChangeShapeType="1"/>
                    </p:cNvSpPr>
                    <p:nvPr/>
                  </p:nvSpPr>
                  <p:spPr bwMode="auto">
                    <a:xfrm flipH="1">
                      <a:off x="576" y="1123"/>
                      <a:ext cx="153" cy="22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12"/>
                    <p:cNvSpPr>
                      <a:spLocks noChangeShapeType="1"/>
                    </p:cNvSpPr>
                    <p:nvPr/>
                  </p:nvSpPr>
                  <p:spPr bwMode="auto">
                    <a:xfrm>
                      <a:off x="873" y="1123"/>
                      <a:ext cx="183" cy="22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0" name="Text Box 7"/>
                  <p:cNvSpPr txBox="1">
                    <a:spLocks noChangeArrowheads="1"/>
                  </p:cNvSpPr>
                  <p:nvPr/>
                </p:nvSpPr>
                <p:spPr bwMode="auto">
                  <a:xfrm>
                    <a:off x="1905000" y="2895599"/>
                    <a:ext cx="533400" cy="46158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grpSp>
            <p:sp>
              <p:nvSpPr>
                <p:cNvPr id="17" name="Text Box 7"/>
                <p:cNvSpPr txBox="1">
                  <a:spLocks noChangeArrowheads="1"/>
                </p:cNvSpPr>
                <p:nvPr/>
              </p:nvSpPr>
              <p:spPr bwMode="auto">
                <a:xfrm>
                  <a:off x="1143000" y="4110335"/>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18" name="Text Box 7"/>
                <p:cNvSpPr txBox="1">
                  <a:spLocks noChangeArrowheads="1"/>
                </p:cNvSpPr>
                <p:nvPr/>
              </p:nvSpPr>
              <p:spPr bwMode="auto">
                <a:xfrm>
                  <a:off x="1828800" y="4110335"/>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sp>
            <p:nvSpPr>
              <p:cNvPr id="15" name="Oval 3"/>
              <p:cNvSpPr>
                <a:spLocks noChangeArrowheads="1"/>
              </p:cNvSpPr>
              <p:nvPr/>
            </p:nvSpPr>
            <p:spPr bwMode="auto">
              <a:xfrm>
                <a:off x="1600200" y="3424456"/>
                <a:ext cx="457200" cy="457279"/>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C</a:t>
                </a:r>
                <a:endParaRPr lang="en-US" altLang="zh-CN">
                  <a:solidFill>
                    <a:srgbClr val="FFFFFF"/>
                  </a:solidFill>
                  <a:latin typeface="Arial Narrow" panose="020B0606020202030204" pitchFamily="34" charset="0"/>
                </a:endParaRPr>
              </a:p>
            </p:txBody>
          </p:sp>
        </p:grpSp>
      </p:grpSp>
      <p:grpSp>
        <p:nvGrpSpPr>
          <p:cNvPr id="29" name="组合 83"/>
          <p:cNvGrpSpPr/>
          <p:nvPr/>
        </p:nvGrpSpPr>
        <p:grpSpPr bwMode="auto">
          <a:xfrm>
            <a:off x="3428999" y="1649061"/>
            <a:ext cx="2773635" cy="3583221"/>
            <a:chOff x="2971800" y="2005009"/>
            <a:chExt cx="2362198" cy="3481393"/>
          </a:xfrm>
        </p:grpSpPr>
        <p:sp>
          <p:nvSpPr>
            <p:cNvPr id="30" name="Oval 3"/>
            <p:cNvSpPr>
              <a:spLocks noChangeArrowheads="1"/>
            </p:cNvSpPr>
            <p:nvPr/>
          </p:nvSpPr>
          <p:spPr bwMode="auto">
            <a:xfrm>
              <a:off x="3276600" y="3505200"/>
              <a:ext cx="457200" cy="500605"/>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sp>
          <p:nvSpPr>
            <p:cNvPr id="31" name="Line 11"/>
            <p:cNvSpPr>
              <a:spLocks noChangeShapeType="1"/>
            </p:cNvSpPr>
            <p:nvPr/>
          </p:nvSpPr>
          <p:spPr bwMode="auto">
            <a:xfrm flipH="1">
              <a:off x="3146612" y="3908601"/>
              <a:ext cx="228600" cy="38549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2" name="Line 12"/>
            <p:cNvSpPr>
              <a:spLocks noChangeShapeType="1"/>
            </p:cNvSpPr>
            <p:nvPr/>
          </p:nvSpPr>
          <p:spPr bwMode="auto">
            <a:xfrm>
              <a:off x="3657598" y="3962400"/>
              <a:ext cx="228602" cy="304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3" name="组合 82"/>
            <p:cNvGrpSpPr/>
            <p:nvPr/>
          </p:nvGrpSpPr>
          <p:grpSpPr bwMode="auto">
            <a:xfrm>
              <a:off x="2971800" y="2005009"/>
              <a:ext cx="2362198" cy="3481393"/>
              <a:chOff x="2895600" y="2005009"/>
              <a:chExt cx="2362198" cy="3481393"/>
            </a:xfrm>
          </p:grpSpPr>
          <p:grpSp>
            <p:nvGrpSpPr>
              <p:cNvPr id="34" name="组合 49"/>
              <p:cNvGrpSpPr/>
              <p:nvPr/>
            </p:nvGrpSpPr>
            <p:grpSpPr bwMode="auto">
              <a:xfrm>
                <a:off x="2895600" y="2005009"/>
                <a:ext cx="2362198" cy="2845976"/>
                <a:chOff x="304800" y="1852609"/>
                <a:chExt cx="2362198" cy="2845976"/>
              </a:xfrm>
            </p:grpSpPr>
            <p:grpSp>
              <p:nvGrpSpPr>
                <p:cNvPr id="130" name="组合 49"/>
                <p:cNvGrpSpPr/>
                <p:nvPr/>
              </p:nvGrpSpPr>
              <p:grpSpPr bwMode="auto">
                <a:xfrm>
                  <a:off x="304800" y="1852609"/>
                  <a:ext cx="2362198" cy="2845976"/>
                  <a:chOff x="1524001" y="1628774"/>
                  <a:chExt cx="2362200" cy="2250247"/>
                </a:xfrm>
              </p:grpSpPr>
              <p:grpSp>
                <p:nvGrpSpPr>
                  <p:cNvPr id="133" name="Group 14"/>
                  <p:cNvGrpSpPr/>
                  <p:nvPr/>
                </p:nvGrpSpPr>
                <p:grpSpPr bwMode="auto">
                  <a:xfrm>
                    <a:off x="2119313" y="1628774"/>
                    <a:ext cx="1766888" cy="1249363"/>
                    <a:chOff x="576" y="528"/>
                    <a:chExt cx="1113" cy="787"/>
                  </a:xfrm>
                </p:grpSpPr>
                <p:sp>
                  <p:nvSpPr>
                    <p:cNvPr id="135" name="Oval 2"/>
                    <p:cNvSpPr>
                      <a:spLocks noChangeArrowheads="1"/>
                    </p:cNvSpPr>
                    <p:nvPr/>
                  </p:nvSpPr>
                  <p:spPr bwMode="auto">
                    <a:xfrm>
                      <a:off x="960" y="528"/>
                      <a:ext cx="288" cy="254"/>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sp>
                  <p:nvSpPr>
                    <p:cNvPr id="136" name="Oval 3"/>
                    <p:cNvSpPr>
                      <a:spLocks noChangeArrowheads="1"/>
                    </p:cNvSpPr>
                    <p:nvPr/>
                  </p:nvSpPr>
                  <p:spPr bwMode="auto">
                    <a:xfrm>
                      <a:off x="672" y="912"/>
                      <a:ext cx="288" cy="249"/>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C</a:t>
                      </a:r>
                      <a:endParaRPr lang="en-US" altLang="zh-CN">
                        <a:solidFill>
                          <a:srgbClr val="FFFFFF"/>
                        </a:solidFill>
                        <a:latin typeface="Arial Narrow" panose="020B0606020202030204" pitchFamily="34" charset="0"/>
                      </a:endParaRPr>
                    </a:p>
                  </p:txBody>
                </p:sp>
                <p:sp>
                  <p:nvSpPr>
                    <p:cNvPr id="137" name="Text Box 7"/>
                    <p:cNvSpPr txBox="1">
                      <a:spLocks noChangeArrowheads="1"/>
                    </p:cNvSpPr>
                    <p:nvPr/>
                  </p:nvSpPr>
                  <p:spPr bwMode="auto">
                    <a:xfrm>
                      <a:off x="1353" y="960"/>
                      <a:ext cx="336" cy="291"/>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sp>
                  <p:nvSpPr>
                    <p:cNvPr id="138" name="Line 9"/>
                    <p:cNvSpPr>
                      <a:spLocks noChangeShapeType="1"/>
                    </p:cNvSpPr>
                    <p:nvPr/>
                  </p:nvSpPr>
                  <p:spPr bwMode="auto">
                    <a:xfrm flipH="1">
                      <a:off x="864" y="744"/>
                      <a:ext cx="153" cy="16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9" name="Line 10"/>
                    <p:cNvSpPr>
                      <a:spLocks noChangeShapeType="1"/>
                    </p:cNvSpPr>
                    <p:nvPr/>
                  </p:nvSpPr>
                  <p:spPr bwMode="auto">
                    <a:xfrm>
                      <a:off x="1209" y="744"/>
                      <a:ext cx="183" cy="21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0" name="Line 11"/>
                    <p:cNvSpPr>
                      <a:spLocks noChangeShapeType="1"/>
                    </p:cNvSpPr>
                    <p:nvPr/>
                  </p:nvSpPr>
                  <p:spPr bwMode="auto">
                    <a:xfrm flipH="1">
                      <a:off x="576" y="1123"/>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1" name="Line 12"/>
                    <p:cNvSpPr>
                      <a:spLocks noChangeShapeType="1"/>
                    </p:cNvSpPr>
                    <p:nvPr/>
                  </p:nvSpPr>
                  <p:spPr bwMode="auto">
                    <a:xfrm>
                      <a:off x="912" y="1123"/>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34" name="Text Box 7"/>
                  <p:cNvSpPr txBox="1">
                    <a:spLocks noChangeArrowheads="1"/>
                  </p:cNvSpPr>
                  <p:nvPr/>
                </p:nvSpPr>
                <p:spPr bwMode="auto">
                  <a:xfrm>
                    <a:off x="1524001" y="3417436"/>
                    <a:ext cx="533399" cy="46158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grpSp>
            <p:sp>
              <p:nvSpPr>
                <p:cNvPr id="131" name="Text Box 7"/>
                <p:cNvSpPr txBox="1">
                  <a:spLocks noChangeArrowheads="1"/>
                </p:cNvSpPr>
                <p:nvPr/>
              </p:nvSpPr>
              <p:spPr bwMode="auto">
                <a:xfrm>
                  <a:off x="1143000" y="4110335"/>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132" name="Text Box 7"/>
                <p:cNvSpPr txBox="1">
                  <a:spLocks noChangeArrowheads="1"/>
                </p:cNvSpPr>
                <p:nvPr/>
              </p:nvSpPr>
              <p:spPr bwMode="auto">
                <a:xfrm>
                  <a:off x="1371600" y="342900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grpSp>
            <p:nvGrpSpPr>
              <p:cNvPr id="35" name="组合 50"/>
              <p:cNvGrpSpPr/>
              <p:nvPr/>
            </p:nvGrpSpPr>
            <p:grpSpPr bwMode="auto">
              <a:xfrm>
                <a:off x="3733800" y="4724400"/>
                <a:ext cx="457200" cy="762002"/>
                <a:chOff x="1183994" y="2971366"/>
                <a:chExt cx="457200" cy="762277"/>
              </a:xfrm>
            </p:grpSpPr>
            <p:sp>
              <p:nvSpPr>
                <p:cNvPr id="128" name="Oval 3"/>
                <p:cNvSpPr>
                  <a:spLocks noChangeArrowheads="1"/>
                </p:cNvSpPr>
                <p:nvPr/>
              </p:nvSpPr>
              <p:spPr bwMode="auto">
                <a:xfrm>
                  <a:off x="1183993" y="3276277"/>
                  <a:ext cx="457200" cy="457366"/>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cxnSp>
              <p:nvCxnSpPr>
                <p:cNvPr id="129" name="直接连接符 38"/>
                <p:cNvCxnSpPr>
                  <a:cxnSpLocks noChangeShapeType="1"/>
                  <a:endCxn id="128" idx="0"/>
                </p:cNvCxnSpPr>
                <p:nvPr/>
              </p:nvCxnSpPr>
              <p:spPr bwMode="auto">
                <a:xfrm rot="16200000" flipH="1">
                  <a:off x="1259018" y="3122700"/>
                  <a:ext cx="304910" cy="2241"/>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grpSp>
        </p:grpSp>
      </p:grpSp>
      <p:grpSp>
        <p:nvGrpSpPr>
          <p:cNvPr id="142" name="组合 93"/>
          <p:cNvGrpSpPr/>
          <p:nvPr/>
        </p:nvGrpSpPr>
        <p:grpSpPr bwMode="auto">
          <a:xfrm>
            <a:off x="6324599" y="1625601"/>
            <a:ext cx="3310467" cy="2844682"/>
            <a:chOff x="6019800" y="1731962"/>
            <a:chExt cx="2819399" cy="2764306"/>
          </a:xfrm>
        </p:grpSpPr>
        <p:sp>
          <p:nvSpPr>
            <p:cNvPr id="143" name="Oval 3"/>
            <p:cNvSpPr>
              <a:spLocks noChangeArrowheads="1"/>
            </p:cNvSpPr>
            <p:nvPr/>
          </p:nvSpPr>
          <p:spPr bwMode="auto">
            <a:xfrm>
              <a:off x="6400800" y="2438401"/>
              <a:ext cx="457200" cy="457200"/>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grpSp>
          <p:nvGrpSpPr>
            <p:cNvPr id="144" name="组合 92"/>
            <p:cNvGrpSpPr/>
            <p:nvPr/>
          </p:nvGrpSpPr>
          <p:grpSpPr bwMode="auto">
            <a:xfrm>
              <a:off x="6019800" y="1731962"/>
              <a:ext cx="2819399" cy="2764306"/>
              <a:chOff x="6248401" y="1731962"/>
              <a:chExt cx="2819399" cy="2764306"/>
            </a:xfrm>
          </p:grpSpPr>
          <p:sp>
            <p:nvSpPr>
              <p:cNvPr id="145" name="Text Box 7"/>
              <p:cNvSpPr txBox="1">
                <a:spLocks noChangeArrowheads="1"/>
              </p:cNvSpPr>
              <p:nvPr/>
            </p:nvSpPr>
            <p:spPr bwMode="auto">
              <a:xfrm>
                <a:off x="8534400" y="3177521"/>
                <a:ext cx="533400" cy="584263"/>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nvGrpSpPr>
              <p:cNvPr id="146" name="组合 91"/>
              <p:cNvGrpSpPr/>
              <p:nvPr/>
            </p:nvGrpSpPr>
            <p:grpSpPr bwMode="auto">
              <a:xfrm>
                <a:off x="6248401" y="1731962"/>
                <a:ext cx="2590798" cy="2764306"/>
                <a:chOff x="6248401" y="1731962"/>
                <a:chExt cx="2590798" cy="2764306"/>
              </a:xfrm>
            </p:grpSpPr>
            <p:grpSp>
              <p:nvGrpSpPr>
                <p:cNvPr id="147" name="组合 51"/>
                <p:cNvGrpSpPr/>
                <p:nvPr/>
              </p:nvGrpSpPr>
              <p:grpSpPr bwMode="auto">
                <a:xfrm>
                  <a:off x="6858741" y="1731962"/>
                  <a:ext cx="1980458" cy="2764306"/>
                  <a:chOff x="5715005" y="1552575"/>
                  <a:chExt cx="1981201" cy="2763303"/>
                </a:xfrm>
              </p:grpSpPr>
              <p:grpSp>
                <p:nvGrpSpPr>
                  <p:cNvPr id="151" name="组合 48"/>
                  <p:cNvGrpSpPr/>
                  <p:nvPr/>
                </p:nvGrpSpPr>
                <p:grpSpPr bwMode="auto">
                  <a:xfrm>
                    <a:off x="5715005" y="1552575"/>
                    <a:ext cx="1981201" cy="2763303"/>
                    <a:chOff x="5715005" y="1552575"/>
                    <a:chExt cx="1981201" cy="2763303"/>
                  </a:xfrm>
                </p:grpSpPr>
                <p:grpSp>
                  <p:nvGrpSpPr>
                    <p:cNvPr id="153" name="Group 60"/>
                    <p:cNvGrpSpPr/>
                    <p:nvPr/>
                  </p:nvGrpSpPr>
                  <p:grpSpPr bwMode="auto">
                    <a:xfrm>
                      <a:off x="5715005" y="1552575"/>
                      <a:ext cx="1981201" cy="1468438"/>
                      <a:chOff x="3753" y="240"/>
                      <a:chExt cx="1248" cy="925"/>
                    </a:xfrm>
                  </p:grpSpPr>
                  <p:sp>
                    <p:nvSpPr>
                      <p:cNvPr id="157" name="Oval 15"/>
                      <p:cNvSpPr>
                        <a:spLocks noChangeArrowheads="1"/>
                      </p:cNvSpPr>
                      <p:nvPr/>
                    </p:nvSpPr>
                    <p:spPr bwMode="auto">
                      <a:xfrm>
                        <a:off x="4592" y="676"/>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sp>
                    <p:nvSpPr>
                      <p:cNvPr id="158" name="Oval 16"/>
                      <p:cNvSpPr>
                        <a:spLocks noChangeArrowheads="1"/>
                      </p:cNvSpPr>
                      <p:nvPr/>
                    </p:nvSpPr>
                    <p:spPr bwMode="auto">
                      <a:xfrm>
                        <a:off x="4068" y="240"/>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C</a:t>
                        </a:r>
                        <a:endParaRPr lang="en-US" altLang="zh-CN">
                          <a:solidFill>
                            <a:srgbClr val="FFFFFF"/>
                          </a:solidFill>
                          <a:latin typeface="Arial Narrow" panose="020B0606020202030204" pitchFamily="34" charset="0"/>
                        </a:endParaRPr>
                      </a:p>
                    </p:txBody>
                  </p:sp>
                  <p:sp>
                    <p:nvSpPr>
                      <p:cNvPr id="159" name="Line 20"/>
                      <p:cNvSpPr>
                        <a:spLocks noChangeShapeType="1"/>
                      </p:cNvSpPr>
                      <p:nvPr/>
                    </p:nvSpPr>
                    <p:spPr bwMode="auto">
                      <a:xfrm flipH="1">
                        <a:off x="3753" y="480"/>
                        <a:ext cx="363" cy="20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0" name="Line 21"/>
                      <p:cNvSpPr>
                        <a:spLocks noChangeShapeType="1"/>
                      </p:cNvSpPr>
                      <p:nvPr/>
                    </p:nvSpPr>
                    <p:spPr bwMode="auto">
                      <a:xfrm>
                        <a:off x="4320" y="480"/>
                        <a:ext cx="393" cy="20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1" name="Line 22"/>
                      <p:cNvSpPr>
                        <a:spLocks noChangeShapeType="1"/>
                      </p:cNvSpPr>
                      <p:nvPr/>
                    </p:nvSpPr>
                    <p:spPr bwMode="auto">
                      <a:xfrm flipH="1">
                        <a:off x="4473" y="925"/>
                        <a:ext cx="171"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2" name="Line 23"/>
                      <p:cNvSpPr>
                        <a:spLocks noChangeShapeType="1"/>
                      </p:cNvSpPr>
                      <p:nvPr/>
                    </p:nvSpPr>
                    <p:spPr bwMode="auto">
                      <a:xfrm>
                        <a:off x="4809" y="925"/>
                        <a:ext cx="192"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54" name="Text Box 7"/>
                    <p:cNvSpPr txBox="1">
                      <a:spLocks noChangeArrowheads="1"/>
                    </p:cNvSpPr>
                    <p:nvPr/>
                  </p:nvSpPr>
                  <p:spPr bwMode="auto">
                    <a:xfrm>
                      <a:off x="6629207" y="3016017"/>
                      <a:ext cx="533400" cy="461497"/>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sp>
                  <p:nvSpPr>
                    <p:cNvPr id="155" name="Text Box 7"/>
                    <p:cNvSpPr txBox="1">
                      <a:spLocks noChangeArrowheads="1"/>
                    </p:cNvSpPr>
                    <p:nvPr/>
                  </p:nvSpPr>
                  <p:spPr bwMode="auto">
                    <a:xfrm>
                      <a:off x="5790492" y="3016017"/>
                      <a:ext cx="533400" cy="461497"/>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156" name="Oval 3"/>
                    <p:cNvSpPr>
                      <a:spLocks noChangeArrowheads="1"/>
                    </p:cNvSpPr>
                    <p:nvPr/>
                  </p:nvSpPr>
                  <p:spPr bwMode="auto">
                    <a:xfrm>
                      <a:off x="5830196" y="3858766"/>
                      <a:ext cx="457371" cy="457112"/>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grpSp>
              <p:cxnSp>
                <p:nvCxnSpPr>
                  <p:cNvPr id="152" name="直接连接符 47"/>
                  <p:cNvCxnSpPr>
                    <a:cxnSpLocks noChangeShapeType="1"/>
                    <a:stCxn id="155" idx="2"/>
                    <a:endCxn id="156" idx="0"/>
                  </p:cNvCxnSpPr>
                  <p:nvPr/>
                </p:nvCxnSpPr>
                <p:spPr bwMode="auto">
                  <a:xfrm rot="16200000" flipH="1">
                    <a:off x="5867371" y="3667335"/>
                    <a:ext cx="381330" cy="1688"/>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grpSp>
            <p:sp>
              <p:nvSpPr>
                <p:cNvPr id="148" name="Line 11"/>
                <p:cNvSpPr>
                  <a:spLocks noChangeShapeType="1"/>
                </p:cNvSpPr>
                <p:nvPr/>
              </p:nvSpPr>
              <p:spPr bwMode="auto">
                <a:xfrm flipH="1">
                  <a:off x="6423212" y="2819400"/>
                  <a:ext cx="282387" cy="38549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9" name="Text Box 7"/>
                <p:cNvSpPr txBox="1">
                  <a:spLocks noChangeArrowheads="1"/>
                </p:cNvSpPr>
                <p:nvPr/>
              </p:nvSpPr>
              <p:spPr bwMode="auto">
                <a:xfrm>
                  <a:off x="6248401" y="3177999"/>
                  <a:ext cx="533399" cy="58378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150" name="Line 12"/>
                <p:cNvSpPr>
                  <a:spLocks noChangeShapeType="1"/>
                </p:cNvSpPr>
                <p:nvPr/>
              </p:nvSpPr>
              <p:spPr bwMode="auto">
                <a:xfrm>
                  <a:off x="7010400" y="2819400"/>
                  <a:ext cx="228600" cy="3810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163" name="AutoShape 49"/>
          <p:cNvSpPr>
            <a:spLocks noChangeArrowheads="1"/>
          </p:cNvSpPr>
          <p:nvPr/>
        </p:nvSpPr>
        <p:spPr bwMode="auto">
          <a:xfrm>
            <a:off x="5334000" y="4645548"/>
            <a:ext cx="1776394" cy="815334"/>
          </a:xfrm>
          <a:prstGeom prst="rightArrow">
            <a:avLst>
              <a:gd name="adj1" fmla="val 50000"/>
              <a:gd name="adj2" fmla="val 47745"/>
            </a:avLst>
          </a:prstGeom>
          <a:solidFill>
            <a:schemeClr val="bg1"/>
          </a:solidFill>
          <a:ln w="9525">
            <a:solidFill>
              <a:schemeClr val="tx1"/>
            </a:solidFill>
            <a:miter lim="800000"/>
          </a:ln>
          <a:effectLst/>
        </p:spPr>
        <p:txBody>
          <a:bodyPr wrap="none" anchor="ctr"/>
          <a:lstStyle/>
          <a:p>
            <a:pPr algn="ctr">
              <a:defRPr/>
            </a:pP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单向右旋</a:t>
            </a:r>
            <a:endParaRPr lang="en-US" altLang="zh-CN" sz="2400" dirty="0">
              <a:solidFill>
                <a:schemeClr val="accent2">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63"/>
                                        </p:tgtEl>
                                        <p:attrNameLst>
                                          <p:attrName>style.visibility</p:attrName>
                                        </p:attrNameLst>
                                      </p:cBhvr>
                                      <p:to>
                                        <p:strVal val="visible"/>
                                      </p:to>
                                    </p:set>
                                    <p:animEffect transition="in" filter="blinds(horizontal)">
                                      <p:cBhvr>
                                        <p:cTn id="26" dur="500"/>
                                        <p:tgtEl>
                                          <p:spTgt spid="163"/>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163"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平衡二叉排序树的调整</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a:spLocks noGrp="1"/>
          </p:cNvSpPr>
          <p:nvPr>
            <p:ph idx="1"/>
          </p:nvPr>
        </p:nvSpPr>
        <p:spPr>
          <a:xfrm>
            <a:off x="592667" y="965082"/>
            <a:ext cx="8229600" cy="4876800"/>
          </a:xfrm>
        </p:spPr>
        <p:txBody>
          <a:bodyPr/>
          <a:lstStyle/>
          <a:p>
            <a:pPr marL="342900" lvl="1" indent="-342900">
              <a:buFontTx/>
              <a:buChar char="•"/>
            </a:pPr>
            <a:r>
              <a:rPr lang="en-US" altLang="zh-CN" dirty="0">
                <a:latin typeface="微软雅黑" panose="020B0503020204020204" pitchFamily="34" charset="-122"/>
                <a:ea typeface="微软雅黑" panose="020B0503020204020204" pitchFamily="34" charset="-122"/>
              </a:rPr>
              <a:t>RL</a:t>
            </a:r>
            <a:r>
              <a:rPr lang="zh-CN" altLang="en-US" dirty="0">
                <a:latin typeface="微软雅黑" panose="020B0503020204020204" pitchFamily="34" charset="-122"/>
                <a:ea typeface="微软雅黑" panose="020B0503020204020204" pitchFamily="34" charset="-122"/>
              </a:rPr>
              <a:t>型平衡调整（先单向右旋再单向左旋）</a:t>
            </a:r>
            <a:endParaRPr lang="zh-CN" altLang="en-US" dirty="0">
              <a:latin typeface="微软雅黑" panose="020B0503020204020204" pitchFamily="34" charset="-122"/>
              <a:ea typeface="微软雅黑" panose="020B0503020204020204" pitchFamily="34" charset="-122"/>
            </a:endParaRPr>
          </a:p>
        </p:txBody>
      </p:sp>
      <p:sp>
        <p:nvSpPr>
          <p:cNvPr id="23" name="Text Box 53"/>
          <p:cNvSpPr txBox="1">
            <a:spLocks noChangeArrowheads="1"/>
          </p:cNvSpPr>
          <p:nvPr/>
        </p:nvSpPr>
        <p:spPr bwMode="auto">
          <a:xfrm>
            <a:off x="1035580" y="1357195"/>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zh-CN" altLang="en-US">
                <a:solidFill>
                  <a:srgbClr val="FFFFFF"/>
                </a:solidFill>
                <a:latin typeface="Arial Narrow" panose="020B0606020202030204" pitchFamily="34" charset="0"/>
              </a:rPr>
              <a:t>1.</a:t>
            </a:r>
            <a:endParaRPr lang="zh-CN" altLang="en-US">
              <a:solidFill>
                <a:srgbClr val="FFFFFF"/>
              </a:solidFill>
              <a:latin typeface="Arial Narrow" panose="020B0606020202030204" pitchFamily="34" charset="0"/>
            </a:endParaRPr>
          </a:p>
        </p:txBody>
      </p:sp>
      <p:sp>
        <p:nvSpPr>
          <p:cNvPr id="36" name="AutoShape 49"/>
          <p:cNvSpPr>
            <a:spLocks noChangeArrowheads="1"/>
          </p:cNvSpPr>
          <p:nvPr/>
        </p:nvSpPr>
        <p:spPr bwMode="auto">
          <a:xfrm>
            <a:off x="1964266" y="4660109"/>
            <a:ext cx="1839999" cy="800773"/>
          </a:xfrm>
          <a:prstGeom prst="rightArrow">
            <a:avLst>
              <a:gd name="adj1" fmla="val 50000"/>
              <a:gd name="adj2" fmla="val 47745"/>
            </a:avLst>
          </a:prstGeom>
          <a:solidFill>
            <a:schemeClr val="bg1"/>
          </a:solidFill>
          <a:ln w="9525">
            <a:solidFill>
              <a:schemeClr val="tx1"/>
            </a:solidFill>
            <a:miter lim="800000"/>
          </a:ln>
          <a:effectLst/>
        </p:spPr>
        <p:txBody>
          <a:bodyPr wrap="none" anchor="ctr"/>
          <a:lstStyle/>
          <a:p>
            <a:pPr algn="ctr" eaLnBrk="1" hangingPunct="1">
              <a:buFont typeface="Wingdings" panose="05000000000000000000" pitchFamily="2" charset="2"/>
              <a:buNone/>
              <a:defRPr/>
            </a:pP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单向右旋</a:t>
            </a:r>
            <a:endParaRPr lang="en-US" altLang="zh-CN" sz="2400" dirty="0">
              <a:solidFill>
                <a:schemeClr val="accent2">
                  <a:lumMod val="75000"/>
                </a:schemeClr>
              </a:solidFill>
              <a:latin typeface="微软雅黑" panose="020B0503020204020204" pitchFamily="34" charset="-122"/>
              <a:ea typeface="微软雅黑" panose="020B0503020204020204" pitchFamily="34" charset="-122"/>
            </a:endParaRPr>
          </a:p>
        </p:txBody>
      </p:sp>
      <p:grpSp>
        <p:nvGrpSpPr>
          <p:cNvPr id="37" name="组合 82"/>
          <p:cNvGrpSpPr/>
          <p:nvPr/>
        </p:nvGrpSpPr>
        <p:grpSpPr bwMode="auto">
          <a:xfrm>
            <a:off x="6155267" y="1676401"/>
            <a:ext cx="3429000" cy="2793882"/>
            <a:chOff x="6019800" y="1731962"/>
            <a:chExt cx="2819399" cy="2764306"/>
          </a:xfrm>
        </p:grpSpPr>
        <p:sp>
          <p:nvSpPr>
            <p:cNvPr id="38" name="Oval 3"/>
            <p:cNvSpPr>
              <a:spLocks noChangeArrowheads="1"/>
            </p:cNvSpPr>
            <p:nvPr/>
          </p:nvSpPr>
          <p:spPr bwMode="auto">
            <a:xfrm>
              <a:off x="6400800" y="2438401"/>
              <a:ext cx="457200" cy="457200"/>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grpSp>
          <p:nvGrpSpPr>
            <p:cNvPr id="39" name="组合 92"/>
            <p:cNvGrpSpPr/>
            <p:nvPr/>
          </p:nvGrpSpPr>
          <p:grpSpPr bwMode="auto">
            <a:xfrm>
              <a:off x="6019800" y="1731962"/>
              <a:ext cx="2819399" cy="2764306"/>
              <a:chOff x="6248401" y="1731962"/>
              <a:chExt cx="2819399" cy="2764306"/>
            </a:xfrm>
          </p:grpSpPr>
          <p:sp>
            <p:nvSpPr>
              <p:cNvPr id="40" name="Text Box 7"/>
              <p:cNvSpPr txBox="1">
                <a:spLocks noChangeArrowheads="1"/>
              </p:cNvSpPr>
              <p:nvPr/>
            </p:nvSpPr>
            <p:spPr bwMode="auto">
              <a:xfrm>
                <a:off x="8534400" y="3177520"/>
                <a:ext cx="533400" cy="583200"/>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nvGrpSpPr>
              <p:cNvPr id="41" name="组合 91"/>
              <p:cNvGrpSpPr/>
              <p:nvPr/>
            </p:nvGrpSpPr>
            <p:grpSpPr bwMode="auto">
              <a:xfrm>
                <a:off x="6248401" y="1731962"/>
                <a:ext cx="2590796" cy="2764306"/>
                <a:chOff x="6248401" y="1731962"/>
                <a:chExt cx="2590796" cy="2764306"/>
              </a:xfrm>
            </p:grpSpPr>
            <p:grpSp>
              <p:nvGrpSpPr>
                <p:cNvPr id="42" name="组合 51"/>
                <p:cNvGrpSpPr/>
                <p:nvPr/>
              </p:nvGrpSpPr>
              <p:grpSpPr bwMode="auto">
                <a:xfrm>
                  <a:off x="6858739" y="1731962"/>
                  <a:ext cx="1980458" cy="2764306"/>
                  <a:chOff x="5715003" y="1552575"/>
                  <a:chExt cx="1981201" cy="2763303"/>
                </a:xfrm>
              </p:grpSpPr>
              <p:grpSp>
                <p:nvGrpSpPr>
                  <p:cNvPr id="46" name="组合 48"/>
                  <p:cNvGrpSpPr/>
                  <p:nvPr/>
                </p:nvGrpSpPr>
                <p:grpSpPr bwMode="auto">
                  <a:xfrm>
                    <a:off x="5715003" y="1552575"/>
                    <a:ext cx="1981201" cy="2763303"/>
                    <a:chOff x="5715003" y="1552575"/>
                    <a:chExt cx="1981201" cy="2763303"/>
                  </a:xfrm>
                </p:grpSpPr>
                <p:grpSp>
                  <p:nvGrpSpPr>
                    <p:cNvPr id="48" name="Group 60"/>
                    <p:cNvGrpSpPr/>
                    <p:nvPr/>
                  </p:nvGrpSpPr>
                  <p:grpSpPr bwMode="auto">
                    <a:xfrm>
                      <a:off x="5715003" y="1552575"/>
                      <a:ext cx="1981201" cy="1468438"/>
                      <a:chOff x="3753" y="240"/>
                      <a:chExt cx="1248" cy="925"/>
                    </a:xfrm>
                  </p:grpSpPr>
                  <p:sp>
                    <p:nvSpPr>
                      <p:cNvPr id="52" name="Oval 15"/>
                      <p:cNvSpPr>
                        <a:spLocks noChangeArrowheads="1"/>
                      </p:cNvSpPr>
                      <p:nvPr/>
                    </p:nvSpPr>
                    <p:spPr bwMode="auto">
                      <a:xfrm>
                        <a:off x="4592" y="676"/>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sp>
                    <p:nvSpPr>
                      <p:cNvPr id="53" name="Oval 16"/>
                      <p:cNvSpPr>
                        <a:spLocks noChangeArrowheads="1"/>
                      </p:cNvSpPr>
                      <p:nvPr/>
                    </p:nvSpPr>
                    <p:spPr bwMode="auto">
                      <a:xfrm>
                        <a:off x="4068" y="240"/>
                        <a:ext cx="288" cy="288"/>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C</a:t>
                        </a:r>
                        <a:endParaRPr lang="en-US" altLang="zh-CN">
                          <a:solidFill>
                            <a:srgbClr val="FFFFFF"/>
                          </a:solidFill>
                          <a:latin typeface="Arial Narrow" panose="020B0606020202030204" pitchFamily="34" charset="0"/>
                        </a:endParaRPr>
                      </a:p>
                    </p:txBody>
                  </p:sp>
                  <p:sp>
                    <p:nvSpPr>
                      <p:cNvPr id="54" name="Line 20"/>
                      <p:cNvSpPr>
                        <a:spLocks noChangeShapeType="1"/>
                      </p:cNvSpPr>
                      <p:nvPr/>
                    </p:nvSpPr>
                    <p:spPr bwMode="auto">
                      <a:xfrm flipH="1">
                        <a:off x="3753" y="480"/>
                        <a:ext cx="363" cy="20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5" name="Line 21"/>
                      <p:cNvSpPr>
                        <a:spLocks noChangeShapeType="1"/>
                      </p:cNvSpPr>
                      <p:nvPr/>
                    </p:nvSpPr>
                    <p:spPr bwMode="auto">
                      <a:xfrm>
                        <a:off x="4320" y="480"/>
                        <a:ext cx="393" cy="20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 name="Line 22"/>
                      <p:cNvSpPr>
                        <a:spLocks noChangeShapeType="1"/>
                      </p:cNvSpPr>
                      <p:nvPr/>
                    </p:nvSpPr>
                    <p:spPr bwMode="auto">
                      <a:xfrm flipH="1">
                        <a:off x="4473" y="925"/>
                        <a:ext cx="171"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7" name="Line 23"/>
                      <p:cNvSpPr>
                        <a:spLocks noChangeShapeType="1"/>
                      </p:cNvSpPr>
                      <p:nvPr/>
                    </p:nvSpPr>
                    <p:spPr bwMode="auto">
                      <a:xfrm>
                        <a:off x="4809" y="925"/>
                        <a:ext cx="192" cy="2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9" name="Text Box 7"/>
                    <p:cNvSpPr txBox="1">
                      <a:spLocks noChangeArrowheads="1"/>
                    </p:cNvSpPr>
                    <p:nvPr/>
                  </p:nvSpPr>
                  <p:spPr bwMode="auto">
                    <a:xfrm>
                      <a:off x="6629207" y="2997609"/>
                      <a:ext cx="533400" cy="461497"/>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sp>
                  <p:nvSpPr>
                    <p:cNvPr id="50" name="Text Box 7"/>
                    <p:cNvSpPr txBox="1">
                      <a:spLocks noChangeArrowheads="1"/>
                    </p:cNvSpPr>
                    <p:nvPr/>
                  </p:nvSpPr>
                  <p:spPr bwMode="auto">
                    <a:xfrm>
                      <a:off x="5790492" y="3016017"/>
                      <a:ext cx="533400" cy="461497"/>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51" name="Oval 3"/>
                    <p:cNvSpPr>
                      <a:spLocks noChangeArrowheads="1"/>
                    </p:cNvSpPr>
                    <p:nvPr/>
                  </p:nvSpPr>
                  <p:spPr bwMode="auto">
                    <a:xfrm>
                      <a:off x="5830196" y="3858766"/>
                      <a:ext cx="457371" cy="457112"/>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grpSp>
              <p:cxnSp>
                <p:nvCxnSpPr>
                  <p:cNvPr id="47" name="直接连接符 47"/>
                  <p:cNvCxnSpPr>
                    <a:cxnSpLocks noChangeShapeType="1"/>
                    <a:stCxn id="50" idx="2"/>
                    <a:endCxn id="51" idx="0"/>
                  </p:cNvCxnSpPr>
                  <p:nvPr/>
                </p:nvCxnSpPr>
                <p:spPr bwMode="auto">
                  <a:xfrm rot="16200000" flipH="1">
                    <a:off x="5867371" y="3667335"/>
                    <a:ext cx="381330" cy="1688"/>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grpSp>
            <p:sp>
              <p:nvSpPr>
                <p:cNvPr id="43" name="Line 11"/>
                <p:cNvSpPr>
                  <a:spLocks noChangeShapeType="1"/>
                </p:cNvSpPr>
                <p:nvPr/>
              </p:nvSpPr>
              <p:spPr bwMode="auto">
                <a:xfrm flipH="1">
                  <a:off x="6423212" y="2819400"/>
                  <a:ext cx="282387" cy="38549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 name="Text Box 7"/>
                <p:cNvSpPr txBox="1">
                  <a:spLocks noChangeArrowheads="1"/>
                </p:cNvSpPr>
                <p:nvPr/>
              </p:nvSpPr>
              <p:spPr bwMode="auto">
                <a:xfrm>
                  <a:off x="6248401" y="3200867"/>
                  <a:ext cx="533399" cy="583200"/>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45" name="Line 12"/>
                <p:cNvSpPr>
                  <a:spLocks noChangeShapeType="1"/>
                </p:cNvSpPr>
                <p:nvPr/>
              </p:nvSpPr>
              <p:spPr bwMode="auto">
                <a:xfrm>
                  <a:off x="7010400" y="2819400"/>
                  <a:ext cx="228600" cy="3810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grpSp>
      <p:sp>
        <p:nvSpPr>
          <p:cNvPr id="58" name="AutoShape 49"/>
          <p:cNvSpPr>
            <a:spLocks noChangeArrowheads="1"/>
          </p:cNvSpPr>
          <p:nvPr/>
        </p:nvSpPr>
        <p:spPr bwMode="auto">
          <a:xfrm>
            <a:off x="5404380" y="4660109"/>
            <a:ext cx="1839998" cy="800773"/>
          </a:xfrm>
          <a:prstGeom prst="rightArrow">
            <a:avLst>
              <a:gd name="adj1" fmla="val 50000"/>
              <a:gd name="adj2" fmla="val 47745"/>
            </a:avLst>
          </a:prstGeom>
          <a:solidFill>
            <a:schemeClr val="bg1"/>
          </a:solidFill>
          <a:ln w="9525">
            <a:solidFill>
              <a:schemeClr val="tx1"/>
            </a:solidFill>
            <a:miter lim="800000"/>
          </a:ln>
          <a:effectLst/>
        </p:spPr>
        <p:txBody>
          <a:bodyPr wrap="none" anchor="ctr"/>
          <a:lstStyle/>
          <a:p>
            <a:pPr algn="ctr" eaLnBrk="1" hangingPunct="1">
              <a:buFont typeface="Wingdings" panose="05000000000000000000" pitchFamily="2" charset="2"/>
              <a:buNone/>
              <a:defRPr/>
            </a:pPr>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单向左旋</a:t>
            </a:r>
            <a:endParaRPr lang="en-US" altLang="zh-CN" sz="2400" dirty="0">
              <a:solidFill>
                <a:schemeClr val="accent2">
                  <a:lumMod val="75000"/>
                </a:schemeClr>
              </a:solidFill>
              <a:latin typeface="微软雅黑" panose="020B0503020204020204" pitchFamily="34" charset="-122"/>
              <a:ea typeface="微软雅黑" panose="020B0503020204020204" pitchFamily="34" charset="-122"/>
            </a:endParaRPr>
          </a:p>
        </p:txBody>
      </p:sp>
      <p:grpSp>
        <p:nvGrpSpPr>
          <p:cNvPr id="59" name="组合 120"/>
          <p:cNvGrpSpPr/>
          <p:nvPr/>
        </p:nvGrpSpPr>
        <p:grpSpPr bwMode="auto">
          <a:xfrm>
            <a:off x="973666" y="1618783"/>
            <a:ext cx="2131541" cy="2984849"/>
            <a:chOff x="838200" y="1905000"/>
            <a:chExt cx="1752599" cy="2952456"/>
          </a:xfrm>
        </p:grpSpPr>
        <p:grpSp>
          <p:nvGrpSpPr>
            <p:cNvPr id="60" name="组合 42"/>
            <p:cNvGrpSpPr/>
            <p:nvPr/>
          </p:nvGrpSpPr>
          <p:grpSpPr bwMode="auto">
            <a:xfrm>
              <a:off x="914400" y="1905000"/>
              <a:ext cx="1676399" cy="2952456"/>
              <a:chOff x="990600" y="1852609"/>
              <a:chExt cx="1676399" cy="2952456"/>
            </a:xfrm>
          </p:grpSpPr>
          <p:sp>
            <p:nvSpPr>
              <p:cNvPr id="62" name="Line 11"/>
              <p:cNvSpPr>
                <a:spLocks noChangeShapeType="1"/>
              </p:cNvSpPr>
              <p:nvPr/>
            </p:nvSpPr>
            <p:spPr bwMode="auto">
              <a:xfrm flipH="1">
                <a:off x="1371599" y="4038600"/>
                <a:ext cx="228598" cy="3048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12"/>
              <p:cNvSpPr>
                <a:spLocks noChangeShapeType="1"/>
              </p:cNvSpPr>
              <p:nvPr/>
            </p:nvSpPr>
            <p:spPr bwMode="auto">
              <a:xfrm>
                <a:off x="1752600" y="4038600"/>
                <a:ext cx="228600" cy="30485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64" name="组合 62"/>
              <p:cNvGrpSpPr/>
              <p:nvPr/>
            </p:nvGrpSpPr>
            <p:grpSpPr bwMode="auto">
              <a:xfrm>
                <a:off x="990600" y="1852609"/>
                <a:ext cx="1676399" cy="2952456"/>
                <a:chOff x="1219200" y="1852609"/>
                <a:chExt cx="1676399" cy="2952456"/>
              </a:xfrm>
            </p:grpSpPr>
            <p:grpSp>
              <p:nvGrpSpPr>
                <p:cNvPr id="165" name="组合 48"/>
                <p:cNvGrpSpPr/>
                <p:nvPr/>
              </p:nvGrpSpPr>
              <p:grpSpPr bwMode="auto">
                <a:xfrm>
                  <a:off x="1219200" y="1852609"/>
                  <a:ext cx="1676399" cy="2952456"/>
                  <a:chOff x="1219200" y="1852609"/>
                  <a:chExt cx="1676399" cy="2952456"/>
                </a:xfrm>
              </p:grpSpPr>
              <p:grpSp>
                <p:nvGrpSpPr>
                  <p:cNvPr id="167" name="组合 49"/>
                  <p:cNvGrpSpPr/>
                  <p:nvPr/>
                </p:nvGrpSpPr>
                <p:grpSpPr bwMode="auto">
                  <a:xfrm>
                    <a:off x="1357313" y="1852609"/>
                    <a:ext cx="1538286" cy="2388191"/>
                    <a:chOff x="2576514" y="1628774"/>
                    <a:chExt cx="1538288" cy="1888287"/>
                  </a:xfrm>
                </p:grpSpPr>
                <p:grpSp>
                  <p:nvGrpSpPr>
                    <p:cNvPr id="170" name="Group 14"/>
                    <p:cNvGrpSpPr/>
                    <p:nvPr/>
                  </p:nvGrpSpPr>
                  <p:grpSpPr bwMode="auto">
                    <a:xfrm>
                      <a:off x="2576514" y="1628774"/>
                      <a:ext cx="1295401" cy="1427164"/>
                      <a:chOff x="864" y="528"/>
                      <a:chExt cx="816" cy="899"/>
                    </a:xfrm>
                  </p:grpSpPr>
                  <p:sp>
                    <p:nvSpPr>
                      <p:cNvPr id="172" name="Line 10"/>
                      <p:cNvSpPr>
                        <a:spLocks noChangeShapeType="1"/>
                      </p:cNvSpPr>
                      <p:nvPr/>
                    </p:nvSpPr>
                    <p:spPr bwMode="auto">
                      <a:xfrm>
                        <a:off x="1161" y="744"/>
                        <a:ext cx="231" cy="21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3" name="Line 12"/>
                      <p:cNvSpPr>
                        <a:spLocks noChangeShapeType="1"/>
                      </p:cNvSpPr>
                      <p:nvPr/>
                    </p:nvSpPr>
                    <p:spPr bwMode="auto">
                      <a:xfrm>
                        <a:off x="1449" y="1161"/>
                        <a:ext cx="231" cy="26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 name="Oval 2"/>
                      <p:cNvSpPr>
                        <a:spLocks noChangeArrowheads="1"/>
                      </p:cNvSpPr>
                      <p:nvPr/>
                    </p:nvSpPr>
                    <p:spPr bwMode="auto">
                      <a:xfrm>
                        <a:off x="960" y="528"/>
                        <a:ext cx="288" cy="254"/>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sp>
                    <p:nvSpPr>
                      <p:cNvPr id="175" name="Oval 3"/>
                      <p:cNvSpPr>
                        <a:spLocks noChangeArrowheads="1"/>
                      </p:cNvSpPr>
                      <p:nvPr/>
                    </p:nvSpPr>
                    <p:spPr bwMode="auto">
                      <a:xfrm>
                        <a:off x="1257" y="950"/>
                        <a:ext cx="288" cy="249"/>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sp>
                    <p:nvSpPr>
                      <p:cNvPr id="176" name="Line 9"/>
                      <p:cNvSpPr>
                        <a:spLocks noChangeShapeType="1"/>
                      </p:cNvSpPr>
                      <p:nvPr/>
                    </p:nvSpPr>
                    <p:spPr bwMode="auto">
                      <a:xfrm flipH="1">
                        <a:off x="864" y="744"/>
                        <a:ext cx="153" cy="16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7" name="Line 11"/>
                      <p:cNvSpPr>
                        <a:spLocks noChangeShapeType="1"/>
                      </p:cNvSpPr>
                      <p:nvPr/>
                    </p:nvSpPr>
                    <p:spPr bwMode="auto">
                      <a:xfrm flipH="1">
                        <a:off x="1200" y="1199"/>
                        <a:ext cx="153" cy="22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1" name="Text Box 7"/>
                    <p:cNvSpPr txBox="1">
                      <a:spLocks noChangeArrowheads="1"/>
                    </p:cNvSpPr>
                    <p:nvPr/>
                  </p:nvSpPr>
                  <p:spPr bwMode="auto">
                    <a:xfrm>
                      <a:off x="3581402" y="3055938"/>
                      <a:ext cx="533400" cy="461123"/>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sp>
                <p:nvSpPr>
                  <p:cNvPr id="168" name="Text Box 7"/>
                  <p:cNvSpPr txBox="1">
                    <a:spLocks noChangeArrowheads="1"/>
                  </p:cNvSpPr>
                  <p:nvPr/>
                </p:nvSpPr>
                <p:spPr bwMode="auto">
                  <a:xfrm>
                    <a:off x="1219200" y="434340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169" name="Text Box 7"/>
                  <p:cNvSpPr txBox="1">
                    <a:spLocks noChangeArrowheads="1"/>
                  </p:cNvSpPr>
                  <p:nvPr/>
                </p:nvSpPr>
                <p:spPr bwMode="auto">
                  <a:xfrm>
                    <a:off x="1981200" y="434340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sp>
              <p:nvSpPr>
                <p:cNvPr id="166" name="Oval 3"/>
                <p:cNvSpPr>
                  <a:spLocks noChangeArrowheads="1"/>
                </p:cNvSpPr>
                <p:nvPr/>
              </p:nvSpPr>
              <p:spPr bwMode="auto">
                <a:xfrm>
                  <a:off x="1676400" y="3581321"/>
                  <a:ext cx="457200" cy="457279"/>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C</a:t>
                  </a:r>
                  <a:endParaRPr lang="en-US" altLang="zh-CN">
                    <a:solidFill>
                      <a:srgbClr val="FFFFFF"/>
                    </a:solidFill>
                    <a:latin typeface="Arial Narrow" panose="020B0606020202030204" pitchFamily="34" charset="0"/>
                  </a:endParaRPr>
                </a:p>
              </p:txBody>
            </p:sp>
          </p:grpSp>
        </p:grpSp>
        <p:sp>
          <p:nvSpPr>
            <p:cNvPr id="61" name="Text Box 7"/>
            <p:cNvSpPr txBox="1">
              <a:spLocks noChangeArrowheads="1"/>
            </p:cNvSpPr>
            <p:nvPr/>
          </p:nvSpPr>
          <p:spPr bwMode="auto">
            <a:xfrm>
              <a:off x="838200" y="2590799"/>
              <a:ext cx="533399" cy="583200"/>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grpSp>
      <p:grpSp>
        <p:nvGrpSpPr>
          <p:cNvPr id="178" name="组合 113"/>
          <p:cNvGrpSpPr/>
          <p:nvPr/>
        </p:nvGrpSpPr>
        <p:grpSpPr bwMode="auto">
          <a:xfrm>
            <a:off x="3412067" y="1718313"/>
            <a:ext cx="2780270" cy="3029782"/>
            <a:chOff x="3733800" y="2005010"/>
            <a:chExt cx="2285998" cy="2997790"/>
          </a:xfrm>
        </p:grpSpPr>
        <p:sp>
          <p:nvSpPr>
            <p:cNvPr id="179" name="Line 12"/>
            <p:cNvSpPr>
              <a:spLocks noChangeShapeType="1"/>
            </p:cNvSpPr>
            <p:nvPr/>
          </p:nvSpPr>
          <p:spPr bwMode="auto">
            <a:xfrm>
              <a:off x="5486400" y="3962401"/>
              <a:ext cx="304799" cy="4572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82" name="组合 112"/>
            <p:cNvGrpSpPr/>
            <p:nvPr/>
          </p:nvGrpSpPr>
          <p:grpSpPr bwMode="auto">
            <a:xfrm>
              <a:off x="3733800" y="2005010"/>
              <a:ext cx="2285998" cy="2997790"/>
              <a:chOff x="3886201" y="2005010"/>
              <a:chExt cx="2285998" cy="2997790"/>
            </a:xfrm>
          </p:grpSpPr>
          <p:grpSp>
            <p:nvGrpSpPr>
              <p:cNvPr id="183" name="组合 111"/>
              <p:cNvGrpSpPr/>
              <p:nvPr/>
            </p:nvGrpSpPr>
            <p:grpSpPr bwMode="auto">
              <a:xfrm>
                <a:off x="4176713" y="2005010"/>
                <a:ext cx="1995486" cy="2997790"/>
                <a:chOff x="4176713" y="2005010"/>
                <a:chExt cx="1995486" cy="2997790"/>
              </a:xfrm>
            </p:grpSpPr>
            <p:grpSp>
              <p:nvGrpSpPr>
                <p:cNvPr id="185" name="组合 61"/>
                <p:cNvGrpSpPr/>
                <p:nvPr/>
              </p:nvGrpSpPr>
              <p:grpSpPr bwMode="auto">
                <a:xfrm>
                  <a:off x="4176713" y="2005010"/>
                  <a:ext cx="1614487" cy="2876258"/>
                  <a:chOff x="4024313" y="2005010"/>
                  <a:chExt cx="1614487" cy="2876258"/>
                </a:xfrm>
              </p:grpSpPr>
              <p:sp>
                <p:nvSpPr>
                  <p:cNvPr id="187" name="Oval 3"/>
                  <p:cNvSpPr>
                    <a:spLocks noChangeArrowheads="1"/>
                  </p:cNvSpPr>
                  <p:nvPr/>
                </p:nvSpPr>
                <p:spPr bwMode="auto">
                  <a:xfrm>
                    <a:off x="5181600" y="3581400"/>
                    <a:ext cx="457200" cy="500605"/>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B</a:t>
                    </a:r>
                    <a:endParaRPr lang="en-US" altLang="zh-CN">
                      <a:solidFill>
                        <a:srgbClr val="FFFFFF"/>
                      </a:solidFill>
                      <a:latin typeface="Arial Narrow" panose="020B0606020202030204" pitchFamily="34" charset="0"/>
                    </a:endParaRPr>
                  </a:p>
                </p:txBody>
              </p:sp>
              <p:sp>
                <p:nvSpPr>
                  <p:cNvPr id="189" name="Line 11"/>
                  <p:cNvSpPr>
                    <a:spLocks noChangeShapeType="1"/>
                  </p:cNvSpPr>
                  <p:nvPr/>
                </p:nvSpPr>
                <p:spPr bwMode="auto">
                  <a:xfrm flipH="1">
                    <a:off x="5029200" y="4034107"/>
                    <a:ext cx="228600" cy="38549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0" name="Line 12"/>
                  <p:cNvSpPr>
                    <a:spLocks noChangeShapeType="1"/>
                  </p:cNvSpPr>
                  <p:nvPr/>
                </p:nvSpPr>
                <p:spPr bwMode="auto">
                  <a:xfrm flipH="1">
                    <a:off x="4572000" y="3200400"/>
                    <a:ext cx="304800" cy="4572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91" name="组合 82"/>
                  <p:cNvGrpSpPr/>
                  <p:nvPr/>
                </p:nvGrpSpPr>
                <p:grpSpPr bwMode="auto">
                  <a:xfrm>
                    <a:off x="4024313" y="2005010"/>
                    <a:ext cx="1309687" cy="2876258"/>
                    <a:chOff x="3948113" y="2005010"/>
                    <a:chExt cx="1309687" cy="2876258"/>
                  </a:xfrm>
                </p:grpSpPr>
                <p:grpSp>
                  <p:nvGrpSpPr>
                    <p:cNvPr id="192" name="组合 49"/>
                    <p:cNvGrpSpPr/>
                    <p:nvPr/>
                  </p:nvGrpSpPr>
                  <p:grpSpPr bwMode="auto">
                    <a:xfrm>
                      <a:off x="3948113" y="2005010"/>
                      <a:ext cx="1309687" cy="2876255"/>
                      <a:chOff x="1357313" y="1852610"/>
                      <a:chExt cx="1309687" cy="2876255"/>
                    </a:xfrm>
                  </p:grpSpPr>
                  <p:grpSp>
                    <p:nvGrpSpPr>
                      <p:cNvPr id="196" name="Group 14"/>
                      <p:cNvGrpSpPr/>
                      <p:nvPr/>
                    </p:nvGrpSpPr>
                    <p:grpSpPr bwMode="auto">
                      <a:xfrm>
                        <a:off x="1357313" y="1852610"/>
                        <a:ext cx="1309687" cy="1580119"/>
                        <a:chOff x="864" y="528"/>
                        <a:chExt cx="825" cy="787"/>
                      </a:xfrm>
                    </p:grpSpPr>
                    <p:sp>
                      <p:nvSpPr>
                        <p:cNvPr id="199" name="Line 12"/>
                        <p:cNvSpPr>
                          <a:spLocks noChangeShapeType="1"/>
                        </p:cNvSpPr>
                        <p:nvPr/>
                      </p:nvSpPr>
                      <p:spPr bwMode="auto">
                        <a:xfrm>
                          <a:off x="1545" y="1123"/>
                          <a:ext cx="144"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0" name="Oval 2"/>
                        <p:cNvSpPr>
                          <a:spLocks noChangeArrowheads="1"/>
                        </p:cNvSpPr>
                        <p:nvPr/>
                      </p:nvSpPr>
                      <p:spPr bwMode="auto">
                        <a:xfrm>
                          <a:off x="960" y="528"/>
                          <a:ext cx="288" cy="254"/>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A</a:t>
                          </a:r>
                          <a:endParaRPr lang="en-US" altLang="zh-CN">
                            <a:solidFill>
                              <a:srgbClr val="FFFFFF"/>
                            </a:solidFill>
                            <a:latin typeface="Arial Narrow" panose="020B0606020202030204" pitchFamily="34" charset="0"/>
                          </a:endParaRPr>
                        </a:p>
                      </p:txBody>
                    </p:sp>
                    <p:sp>
                      <p:nvSpPr>
                        <p:cNvPr id="201" name="Oval 3"/>
                        <p:cNvSpPr>
                          <a:spLocks noChangeArrowheads="1"/>
                        </p:cNvSpPr>
                        <p:nvPr/>
                      </p:nvSpPr>
                      <p:spPr bwMode="auto">
                        <a:xfrm>
                          <a:off x="1353" y="912"/>
                          <a:ext cx="288" cy="249"/>
                        </a:xfrm>
                        <a:prstGeom prst="ellipse">
                          <a:avLst/>
                        </a:prstGeom>
                        <a:solidFill>
                          <a:schemeClr val="accent1"/>
                        </a:solidFill>
                        <a:ln w="9525">
                          <a:solidFill>
                            <a:schemeClr val="tx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 typeface="Wingdings" panose="05000000000000000000" pitchFamily="2" charset="2"/>
                            <a:buNone/>
                          </a:pPr>
                          <a:r>
                            <a:rPr lang="en-US" altLang="zh-CN">
                              <a:solidFill>
                                <a:srgbClr val="FFFFFF"/>
                              </a:solidFill>
                              <a:latin typeface="Arial Narrow" panose="020B0606020202030204" pitchFamily="34" charset="0"/>
                            </a:rPr>
                            <a:t>C</a:t>
                          </a:r>
                          <a:endParaRPr lang="en-US" altLang="zh-CN">
                            <a:solidFill>
                              <a:srgbClr val="FFFFFF"/>
                            </a:solidFill>
                            <a:latin typeface="Arial Narrow" panose="020B0606020202030204" pitchFamily="34" charset="0"/>
                          </a:endParaRPr>
                        </a:p>
                      </p:txBody>
                    </p:sp>
                    <p:sp>
                      <p:nvSpPr>
                        <p:cNvPr id="202" name="Line 9"/>
                        <p:cNvSpPr>
                          <a:spLocks noChangeShapeType="1"/>
                        </p:cNvSpPr>
                        <p:nvPr/>
                      </p:nvSpPr>
                      <p:spPr bwMode="auto">
                        <a:xfrm flipH="1">
                          <a:off x="864" y="744"/>
                          <a:ext cx="153" cy="16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3" name="Line 10"/>
                        <p:cNvSpPr>
                          <a:spLocks noChangeShapeType="1"/>
                        </p:cNvSpPr>
                        <p:nvPr/>
                      </p:nvSpPr>
                      <p:spPr bwMode="auto">
                        <a:xfrm>
                          <a:off x="1209" y="744"/>
                          <a:ext cx="183" cy="21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97" name="Text Box 7"/>
                      <p:cNvSpPr txBox="1">
                        <a:spLocks noChangeArrowheads="1"/>
                      </p:cNvSpPr>
                      <p:nvPr/>
                    </p:nvSpPr>
                    <p:spPr bwMode="auto">
                      <a:xfrm>
                        <a:off x="1600200" y="350520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sp>
                    <p:nvSpPr>
                      <p:cNvPr id="198" name="Text Box 7"/>
                      <p:cNvSpPr txBox="1">
                        <a:spLocks noChangeArrowheads="1"/>
                      </p:cNvSpPr>
                      <p:nvPr/>
                    </p:nvSpPr>
                    <p:spPr bwMode="auto">
                      <a:xfrm>
                        <a:off x="2133600" y="4267200"/>
                        <a:ext cx="533400" cy="461665"/>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C</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grpSp>
                  <p:nvGrpSpPr>
                    <p:cNvPr id="193" name="组合 50"/>
                    <p:cNvGrpSpPr/>
                    <p:nvPr/>
                  </p:nvGrpSpPr>
                  <p:grpSpPr bwMode="auto">
                    <a:xfrm>
                      <a:off x="4191000" y="4119264"/>
                      <a:ext cx="457200" cy="762004"/>
                      <a:chOff x="1641194" y="2366010"/>
                      <a:chExt cx="457200" cy="762279"/>
                    </a:xfrm>
                  </p:grpSpPr>
                  <p:sp>
                    <p:nvSpPr>
                      <p:cNvPr id="194" name="Oval 3"/>
                      <p:cNvSpPr>
                        <a:spLocks noChangeArrowheads="1"/>
                      </p:cNvSpPr>
                      <p:nvPr/>
                    </p:nvSpPr>
                    <p:spPr bwMode="auto">
                      <a:xfrm>
                        <a:off x="1641195" y="2654220"/>
                        <a:ext cx="457199" cy="473339"/>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cxnSp>
                    <p:nvCxnSpPr>
                      <p:cNvPr id="195" name="直接连接符 38"/>
                      <p:cNvCxnSpPr>
                        <a:cxnSpLocks noChangeShapeType="1"/>
                        <a:endCxn id="194" idx="0"/>
                      </p:cNvCxnSpPr>
                      <p:nvPr/>
                    </p:nvCxnSpPr>
                    <p:spPr bwMode="auto">
                      <a:xfrm rot="16200000" flipH="1">
                        <a:off x="1716218" y="2517344"/>
                        <a:ext cx="304910" cy="2241"/>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grpSp>
              </p:grpSp>
            </p:grpSp>
            <p:sp>
              <p:nvSpPr>
                <p:cNvPr id="186" name="Text Box 7"/>
                <p:cNvSpPr txBox="1">
                  <a:spLocks noChangeArrowheads="1"/>
                </p:cNvSpPr>
                <p:nvPr/>
              </p:nvSpPr>
              <p:spPr bwMode="auto">
                <a:xfrm>
                  <a:off x="5638800" y="4419600"/>
                  <a:ext cx="533399" cy="583200"/>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B</a:t>
                  </a:r>
                  <a:r>
                    <a:rPr lang="en-US" altLang="zh-CN" baseline="-25000">
                      <a:solidFill>
                        <a:srgbClr val="FFFFFF"/>
                      </a:solidFill>
                      <a:latin typeface="Arial Narrow" panose="020B0606020202030204" pitchFamily="34" charset="0"/>
                    </a:rPr>
                    <a:t>R</a:t>
                  </a:r>
                  <a:endParaRPr lang="en-US" altLang="zh-CN" baseline="-25000">
                    <a:solidFill>
                      <a:srgbClr val="FFFFFF"/>
                    </a:solidFill>
                    <a:latin typeface="Arial Narrow" panose="020B0606020202030204" pitchFamily="34" charset="0"/>
                  </a:endParaRPr>
                </a:p>
              </p:txBody>
            </p:sp>
          </p:grpSp>
          <p:sp>
            <p:nvSpPr>
              <p:cNvPr id="184" name="Text Box 7"/>
              <p:cNvSpPr txBox="1">
                <a:spLocks noChangeArrowheads="1"/>
              </p:cNvSpPr>
              <p:nvPr/>
            </p:nvSpPr>
            <p:spPr bwMode="auto">
              <a:xfrm>
                <a:off x="3886201" y="2743199"/>
                <a:ext cx="533399" cy="583200"/>
              </a:xfrm>
              <a:prstGeom prst="rect">
                <a:avLst/>
              </a:prstGeom>
              <a:solidFill>
                <a:schemeClr val="accent1"/>
              </a:solidFill>
              <a:ln w="9525">
                <a:solidFill>
                  <a:schemeClr val="tx1"/>
                </a:solidFill>
                <a:miter lim="800000"/>
              </a:ln>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50000"/>
                  </a:spcBef>
                  <a:buFont typeface="Wingdings" panose="05000000000000000000" pitchFamily="2" charset="2"/>
                  <a:buNone/>
                </a:pPr>
                <a:r>
                  <a:rPr lang="en-US" altLang="zh-CN">
                    <a:solidFill>
                      <a:srgbClr val="FFFFFF"/>
                    </a:solidFill>
                    <a:latin typeface="Arial Narrow" panose="020B0606020202030204" pitchFamily="34" charset="0"/>
                  </a:rPr>
                  <a:t>A</a:t>
                </a:r>
                <a:r>
                  <a:rPr lang="en-US" altLang="zh-CN" baseline="-25000">
                    <a:solidFill>
                      <a:srgbClr val="FFFFFF"/>
                    </a:solidFill>
                    <a:latin typeface="Arial Narrow" panose="020B0606020202030204" pitchFamily="34" charset="0"/>
                  </a:rPr>
                  <a:t>L</a:t>
                </a:r>
                <a:endParaRPr lang="en-US" altLang="zh-CN" baseline="-25000">
                  <a:solidFill>
                    <a:srgbClr val="FFFFFF"/>
                  </a:solidFill>
                  <a:latin typeface="Arial Narrow" panose="020B0606020202030204" pitchFamily="34" charset="0"/>
                </a:endParaRPr>
              </a:p>
            </p:txBody>
          </p:sp>
        </p:grpSp>
      </p:grpSp>
      <p:grpSp>
        <p:nvGrpSpPr>
          <p:cNvPr id="204" name="组合 119"/>
          <p:cNvGrpSpPr/>
          <p:nvPr/>
        </p:nvGrpSpPr>
        <p:grpSpPr bwMode="auto">
          <a:xfrm>
            <a:off x="1049867" y="4587411"/>
            <a:ext cx="556054" cy="770284"/>
            <a:chOff x="914400" y="5029200"/>
            <a:chExt cx="457200" cy="762000"/>
          </a:xfrm>
        </p:grpSpPr>
        <p:sp>
          <p:nvSpPr>
            <p:cNvPr id="205" name="Oval 3"/>
            <p:cNvSpPr>
              <a:spLocks noChangeArrowheads="1"/>
            </p:cNvSpPr>
            <p:nvPr/>
          </p:nvSpPr>
          <p:spPr bwMode="auto">
            <a:xfrm>
              <a:off x="914400" y="5334000"/>
              <a:ext cx="457200" cy="457200"/>
            </a:xfrm>
            <a:prstGeom prst="ellipse">
              <a:avLst/>
            </a:prstGeom>
            <a:solidFill>
              <a:schemeClr val="accent3">
                <a:lumMod val="50000"/>
              </a:schemeClr>
            </a:solidFill>
            <a:ln w="9525">
              <a:solidFill>
                <a:schemeClr val="tx1"/>
              </a:solidFill>
              <a:round/>
            </a:ln>
            <a:effectLst/>
          </p:spPr>
          <p:txBody>
            <a:bodyPr wrap="none" anchor="ctr"/>
            <a:lstStyle/>
            <a:p>
              <a:pPr algn="ctr" eaLnBrk="1" hangingPunct="1">
                <a:buFont typeface="Wingdings" panose="05000000000000000000" pitchFamily="2" charset="2"/>
                <a:buNone/>
                <a:defRPr/>
              </a:pPr>
              <a:endParaRPr lang="en-US" altLang="zh-CN" sz="2400" dirty="0">
                <a:latin typeface="Arial Narrow" panose="020B0606020202030204" pitchFamily="34" charset="0"/>
              </a:endParaRPr>
            </a:p>
          </p:txBody>
        </p:sp>
        <p:cxnSp>
          <p:nvCxnSpPr>
            <p:cNvPr id="206" name="直接连接符 38"/>
            <p:cNvCxnSpPr>
              <a:cxnSpLocks noChangeShapeType="1"/>
            </p:cNvCxnSpPr>
            <p:nvPr/>
          </p:nvCxnSpPr>
          <p:spPr bwMode="auto">
            <a:xfrm rot="16200000" flipH="1">
              <a:off x="991721" y="5180479"/>
              <a:ext cx="304800" cy="2241"/>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anim calcmode="lin" valueType="num">
                                      <p:cBhvr additive="base">
                                        <p:cTn id="7" dur="500" fill="hold"/>
                                        <p:tgtEl>
                                          <p:spTgt spid="204"/>
                                        </p:tgtEl>
                                        <p:attrNameLst>
                                          <p:attrName>ppt_x</p:attrName>
                                        </p:attrNameLst>
                                      </p:cBhvr>
                                      <p:tavLst>
                                        <p:tav tm="0">
                                          <p:val>
                                            <p:strVal val="#ppt_x"/>
                                          </p:val>
                                        </p:tav>
                                        <p:tav tm="100000">
                                          <p:val>
                                            <p:strVal val="#ppt_x"/>
                                          </p:val>
                                        </p:tav>
                                      </p:tavLst>
                                    </p:anim>
                                    <p:anim calcmode="lin" valueType="num">
                                      <p:cBhvr additive="base">
                                        <p:cTn id="8" dur="500" fill="hold"/>
                                        <p:tgtEl>
                                          <p:spTgt spid="2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blinds(horizontal)">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7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blinds(horizontal)">
                                      <p:cBhvr>
                                        <p:cTn id="22" dur="500"/>
                                        <p:tgtEl>
                                          <p:spTgt spid="5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autoUpdateAnimBg="0"/>
      <p:bldP spid="58"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545205" y="990600"/>
            <a:ext cx="11003328" cy="4876800"/>
          </a:xfrm>
        </p:spPr>
        <p:txBody>
          <a:bodyPr/>
          <a:lstStyle/>
          <a:p>
            <a:r>
              <a:rPr lang="zh-CN" altLang="en-US" sz="2400" dirty="0">
                <a:latin typeface="微软雅黑" panose="020B0503020204020204" pitchFamily="34" charset="-122"/>
                <a:ea typeface="微软雅黑" panose="020B0503020204020204" pitchFamily="34" charset="-122"/>
              </a:rPr>
              <a:t>构造二叉平衡（查找）树的方法是：在插入过程中，采用平衡旋转技术。</a:t>
            </a:r>
            <a:endParaRPr lang="zh-CN" altLang="en-US"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例如</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依次插入的关键字为</a:t>
            </a:r>
            <a:r>
              <a:rPr lang="en-US" altLang="zh-CN" sz="2400" dirty="0">
                <a:latin typeface="微软雅黑" panose="020B0503020204020204" pitchFamily="34" charset="-122"/>
                <a:ea typeface="微软雅黑" panose="020B0503020204020204" pitchFamily="34" charset="-122"/>
              </a:rPr>
              <a:t>34, 16, 8, 29, 32, 50</a:t>
            </a:r>
            <a:endParaRPr lang="en-US" altLang="zh-CN" sz="2400" dirty="0">
              <a:latin typeface="微软雅黑" panose="020B0503020204020204" pitchFamily="34" charset="-122"/>
              <a:ea typeface="微软雅黑" panose="020B0503020204020204" pitchFamily="34" charset="-122"/>
            </a:endParaRPr>
          </a:p>
          <a:p>
            <a:endParaRPr lang="zh-CN" altLang="en-US" dirty="0"/>
          </a:p>
        </p:txBody>
      </p:sp>
      <p:sp>
        <p:nvSpPr>
          <p:cNvPr id="5" name="Oval 4"/>
          <p:cNvSpPr>
            <a:spLocks noChangeArrowheads="1"/>
          </p:cNvSpPr>
          <p:nvPr/>
        </p:nvSpPr>
        <p:spPr bwMode="auto">
          <a:xfrm>
            <a:off x="1916805" y="2946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34</a:t>
            </a:r>
            <a:endParaRPr lang="en-US" altLang="zh-CN">
              <a:solidFill>
                <a:srgbClr val="00B050"/>
              </a:solidFill>
              <a:latin typeface="Consolas" panose="020B0609020204030204" pitchFamily="49" charset="0"/>
            </a:endParaRPr>
          </a:p>
        </p:txBody>
      </p:sp>
      <p:sp>
        <p:nvSpPr>
          <p:cNvPr id="6" name="Oval 5"/>
          <p:cNvSpPr>
            <a:spLocks noChangeArrowheads="1"/>
          </p:cNvSpPr>
          <p:nvPr/>
        </p:nvSpPr>
        <p:spPr bwMode="auto">
          <a:xfrm>
            <a:off x="1154805" y="3708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16</a:t>
            </a:r>
            <a:endParaRPr lang="en-US" altLang="zh-CN">
              <a:solidFill>
                <a:srgbClr val="00B050"/>
              </a:solidFill>
              <a:latin typeface="Consolas" panose="020B0609020204030204" pitchFamily="49" charset="0"/>
            </a:endParaRPr>
          </a:p>
        </p:txBody>
      </p:sp>
      <p:sp>
        <p:nvSpPr>
          <p:cNvPr id="7" name="Oval 6"/>
          <p:cNvSpPr>
            <a:spLocks noChangeArrowheads="1"/>
          </p:cNvSpPr>
          <p:nvPr/>
        </p:nvSpPr>
        <p:spPr bwMode="auto">
          <a:xfrm>
            <a:off x="392805" y="4470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8</a:t>
            </a:r>
            <a:endParaRPr lang="en-US" altLang="zh-CN">
              <a:solidFill>
                <a:srgbClr val="00B050"/>
              </a:solidFill>
              <a:latin typeface="Consolas" panose="020B0609020204030204" pitchFamily="49" charset="0"/>
            </a:endParaRPr>
          </a:p>
        </p:txBody>
      </p:sp>
      <p:sp>
        <p:nvSpPr>
          <p:cNvPr id="8" name="Line 7"/>
          <p:cNvSpPr>
            <a:spLocks noChangeShapeType="1"/>
          </p:cNvSpPr>
          <p:nvPr/>
        </p:nvSpPr>
        <p:spPr bwMode="auto">
          <a:xfrm flipH="1">
            <a:off x="1535805" y="3327400"/>
            <a:ext cx="394595" cy="4064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8"/>
          <p:cNvSpPr>
            <a:spLocks noChangeShapeType="1"/>
          </p:cNvSpPr>
          <p:nvPr/>
        </p:nvSpPr>
        <p:spPr bwMode="auto">
          <a:xfrm flipH="1">
            <a:off x="773805" y="4089400"/>
            <a:ext cx="394595" cy="4064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AutoShape 9"/>
          <p:cNvSpPr>
            <a:spLocks noChangeArrowheads="1"/>
          </p:cNvSpPr>
          <p:nvPr/>
        </p:nvSpPr>
        <p:spPr bwMode="auto">
          <a:xfrm>
            <a:off x="2450205" y="3937000"/>
            <a:ext cx="328829" cy="406400"/>
          </a:xfrm>
          <a:prstGeom prst="rightArrow">
            <a:avLst>
              <a:gd name="adj1" fmla="val 50000"/>
              <a:gd name="adj2" fmla="val 25000"/>
            </a:avLst>
          </a:prstGeom>
          <a:solidFill>
            <a:srgbClr val="FFCC99"/>
          </a:solidFill>
          <a:ln w="9525">
            <a:solidFill>
              <a:srgbClr val="993300"/>
            </a:solidFill>
            <a:miter lim="800000"/>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11" name="Oval 10"/>
          <p:cNvSpPr>
            <a:spLocks noChangeArrowheads="1"/>
          </p:cNvSpPr>
          <p:nvPr/>
        </p:nvSpPr>
        <p:spPr bwMode="auto">
          <a:xfrm>
            <a:off x="3745605" y="2946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16</a:t>
            </a:r>
            <a:endParaRPr lang="en-US" altLang="zh-CN">
              <a:solidFill>
                <a:srgbClr val="00B050"/>
              </a:solidFill>
              <a:latin typeface="Consolas" panose="020B0609020204030204" pitchFamily="49" charset="0"/>
            </a:endParaRPr>
          </a:p>
        </p:txBody>
      </p:sp>
      <p:sp>
        <p:nvSpPr>
          <p:cNvPr id="12" name="Oval 11"/>
          <p:cNvSpPr>
            <a:spLocks noChangeArrowheads="1"/>
          </p:cNvSpPr>
          <p:nvPr/>
        </p:nvSpPr>
        <p:spPr bwMode="auto">
          <a:xfrm>
            <a:off x="2983605" y="3708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8</a:t>
            </a:r>
            <a:endParaRPr lang="en-US" altLang="zh-CN">
              <a:solidFill>
                <a:srgbClr val="00B050"/>
              </a:solidFill>
              <a:latin typeface="Consolas" panose="020B0609020204030204" pitchFamily="49" charset="0"/>
            </a:endParaRPr>
          </a:p>
        </p:txBody>
      </p:sp>
      <p:sp>
        <p:nvSpPr>
          <p:cNvPr id="13" name="Line 12"/>
          <p:cNvSpPr>
            <a:spLocks noChangeShapeType="1"/>
          </p:cNvSpPr>
          <p:nvPr/>
        </p:nvSpPr>
        <p:spPr bwMode="auto">
          <a:xfrm flipH="1">
            <a:off x="3364605" y="3327400"/>
            <a:ext cx="394595" cy="4064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Oval 13"/>
          <p:cNvSpPr>
            <a:spLocks noChangeArrowheads="1"/>
          </p:cNvSpPr>
          <p:nvPr/>
        </p:nvSpPr>
        <p:spPr bwMode="auto">
          <a:xfrm>
            <a:off x="4507605" y="3708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34</a:t>
            </a:r>
            <a:endParaRPr lang="en-US" altLang="zh-CN">
              <a:solidFill>
                <a:srgbClr val="00B050"/>
              </a:solidFill>
              <a:latin typeface="Consolas" panose="020B0609020204030204" pitchFamily="49" charset="0"/>
            </a:endParaRPr>
          </a:p>
        </p:txBody>
      </p:sp>
      <p:sp>
        <p:nvSpPr>
          <p:cNvPr id="15" name="Line 14"/>
          <p:cNvSpPr>
            <a:spLocks noChangeShapeType="1"/>
          </p:cNvSpPr>
          <p:nvPr/>
        </p:nvSpPr>
        <p:spPr bwMode="auto">
          <a:xfrm>
            <a:off x="4126605" y="3327400"/>
            <a:ext cx="394595" cy="406400"/>
          </a:xfrm>
          <a:prstGeom prst="line">
            <a:avLst/>
          </a:prstGeom>
          <a:noFill/>
          <a:ln w="317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5"/>
          <p:cNvSpPr>
            <a:spLocks noChangeShapeType="1"/>
          </p:cNvSpPr>
          <p:nvPr/>
        </p:nvSpPr>
        <p:spPr bwMode="auto">
          <a:xfrm>
            <a:off x="1459605" y="2497666"/>
            <a:ext cx="460361" cy="474133"/>
          </a:xfrm>
          <a:prstGeom prst="line">
            <a:avLst/>
          </a:prstGeom>
          <a:noFill/>
          <a:ln w="28575">
            <a:solidFill>
              <a:srgbClr val="A50021"/>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6"/>
          <p:cNvSpPr>
            <a:spLocks noChangeShapeType="1"/>
          </p:cNvSpPr>
          <p:nvPr/>
        </p:nvSpPr>
        <p:spPr bwMode="auto">
          <a:xfrm>
            <a:off x="3364605" y="2565400"/>
            <a:ext cx="394595" cy="406400"/>
          </a:xfrm>
          <a:prstGeom prst="line">
            <a:avLst/>
          </a:prstGeom>
          <a:noFill/>
          <a:ln w="28575">
            <a:solidFill>
              <a:srgbClr val="FF0000"/>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AutoShape 17"/>
          <p:cNvSpPr>
            <a:spLocks noChangeArrowheads="1"/>
          </p:cNvSpPr>
          <p:nvPr/>
        </p:nvSpPr>
        <p:spPr bwMode="auto">
          <a:xfrm>
            <a:off x="5726805" y="3937000"/>
            <a:ext cx="328829" cy="406400"/>
          </a:xfrm>
          <a:prstGeom prst="rightArrow">
            <a:avLst>
              <a:gd name="adj1" fmla="val 50000"/>
              <a:gd name="adj2" fmla="val 25000"/>
            </a:avLst>
          </a:prstGeom>
          <a:solidFill>
            <a:srgbClr val="FFCC99"/>
          </a:solidFill>
          <a:ln w="9525">
            <a:solidFill>
              <a:srgbClr val="993300"/>
            </a:solidFill>
            <a:miter lim="800000"/>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19" name="Oval 18"/>
          <p:cNvSpPr>
            <a:spLocks noChangeArrowheads="1"/>
          </p:cNvSpPr>
          <p:nvPr/>
        </p:nvSpPr>
        <p:spPr bwMode="auto">
          <a:xfrm>
            <a:off x="4126605" y="46228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29</a:t>
            </a:r>
            <a:endParaRPr lang="en-US" altLang="zh-CN">
              <a:solidFill>
                <a:srgbClr val="00B050"/>
              </a:solidFill>
              <a:latin typeface="Consolas" panose="020B0609020204030204" pitchFamily="49" charset="0"/>
            </a:endParaRPr>
          </a:p>
        </p:txBody>
      </p:sp>
      <p:sp>
        <p:nvSpPr>
          <p:cNvPr id="20" name="Line 19"/>
          <p:cNvSpPr>
            <a:spLocks noChangeShapeType="1"/>
          </p:cNvSpPr>
          <p:nvPr/>
        </p:nvSpPr>
        <p:spPr bwMode="auto">
          <a:xfrm flipH="1">
            <a:off x="4355205" y="4165600"/>
            <a:ext cx="263063" cy="4064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Oval 20"/>
          <p:cNvSpPr>
            <a:spLocks noChangeArrowheads="1"/>
          </p:cNvSpPr>
          <p:nvPr/>
        </p:nvSpPr>
        <p:spPr bwMode="auto">
          <a:xfrm>
            <a:off x="4583805" y="53086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6600"/>
                </a:solidFill>
                <a:latin typeface="Consolas" panose="020B0609020204030204" pitchFamily="49" charset="0"/>
              </a:rPr>
              <a:t>32</a:t>
            </a:r>
            <a:endParaRPr lang="en-US" altLang="zh-CN">
              <a:solidFill>
                <a:srgbClr val="FFFFFF"/>
              </a:solidFill>
              <a:latin typeface="Consolas" panose="020B0609020204030204" pitchFamily="49" charset="0"/>
            </a:endParaRPr>
          </a:p>
        </p:txBody>
      </p:sp>
      <p:sp>
        <p:nvSpPr>
          <p:cNvPr id="22" name="Line 21"/>
          <p:cNvSpPr>
            <a:spLocks noChangeShapeType="1"/>
          </p:cNvSpPr>
          <p:nvPr/>
        </p:nvSpPr>
        <p:spPr bwMode="auto">
          <a:xfrm>
            <a:off x="4507605" y="4986866"/>
            <a:ext cx="263063" cy="270933"/>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Rectangle 22"/>
          <p:cNvSpPr>
            <a:spLocks noChangeArrowheads="1"/>
          </p:cNvSpPr>
          <p:nvPr/>
        </p:nvSpPr>
        <p:spPr bwMode="auto">
          <a:xfrm>
            <a:off x="3974205" y="3894666"/>
            <a:ext cx="1183785" cy="1896533"/>
          </a:xfrm>
          <a:prstGeom prst="rect">
            <a:avLst/>
          </a:prstGeom>
          <a:solidFill>
            <a:srgbClr val="FFFF99">
              <a:alpha val="50195"/>
            </a:srgbClr>
          </a:solidFill>
          <a:ln w="9525">
            <a:solidFill>
              <a:srgbClr val="FFFFCC"/>
            </a:solidFill>
            <a:miter lim="800000"/>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25" name="Line 26"/>
          <p:cNvSpPr>
            <a:spLocks noChangeShapeType="1"/>
          </p:cNvSpPr>
          <p:nvPr/>
        </p:nvSpPr>
        <p:spPr bwMode="auto">
          <a:xfrm>
            <a:off x="7403205" y="3327400"/>
            <a:ext cx="394595" cy="406400"/>
          </a:xfrm>
          <a:prstGeom prst="line">
            <a:avLst/>
          </a:prstGeom>
          <a:noFill/>
          <a:ln w="31750">
            <a:solidFill>
              <a:srgbClr val="FF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7"/>
          <p:cNvSpPr>
            <a:spLocks noChangeShapeType="1"/>
          </p:cNvSpPr>
          <p:nvPr/>
        </p:nvSpPr>
        <p:spPr bwMode="auto">
          <a:xfrm>
            <a:off x="6565005" y="2497666"/>
            <a:ext cx="460361" cy="474133"/>
          </a:xfrm>
          <a:prstGeom prst="line">
            <a:avLst/>
          </a:prstGeom>
          <a:noFill/>
          <a:ln w="28575">
            <a:solidFill>
              <a:srgbClr val="A50021"/>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Oval 28"/>
          <p:cNvSpPr>
            <a:spLocks noChangeArrowheads="1"/>
          </p:cNvSpPr>
          <p:nvPr/>
        </p:nvSpPr>
        <p:spPr bwMode="auto">
          <a:xfrm>
            <a:off x="7784205" y="3708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32</a:t>
            </a:r>
            <a:endParaRPr lang="en-US" altLang="zh-CN">
              <a:solidFill>
                <a:srgbClr val="00B050"/>
              </a:solidFill>
              <a:latin typeface="Consolas" panose="020B0609020204030204" pitchFamily="49" charset="0"/>
            </a:endParaRPr>
          </a:p>
        </p:txBody>
      </p:sp>
      <p:sp>
        <p:nvSpPr>
          <p:cNvPr id="28" name="Oval 29"/>
          <p:cNvSpPr>
            <a:spLocks noChangeArrowheads="1"/>
          </p:cNvSpPr>
          <p:nvPr/>
        </p:nvSpPr>
        <p:spPr bwMode="auto">
          <a:xfrm>
            <a:off x="7022205" y="4470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29</a:t>
            </a:r>
            <a:endParaRPr lang="en-US" altLang="zh-CN">
              <a:solidFill>
                <a:srgbClr val="00B050"/>
              </a:solidFill>
              <a:latin typeface="Consolas" panose="020B0609020204030204" pitchFamily="49" charset="0"/>
            </a:endParaRPr>
          </a:p>
        </p:txBody>
      </p:sp>
      <p:sp>
        <p:nvSpPr>
          <p:cNvPr id="29" name="Line 30"/>
          <p:cNvSpPr>
            <a:spLocks noChangeShapeType="1"/>
          </p:cNvSpPr>
          <p:nvPr/>
        </p:nvSpPr>
        <p:spPr bwMode="auto">
          <a:xfrm flipH="1">
            <a:off x="7403205" y="4089400"/>
            <a:ext cx="394595" cy="40640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31"/>
          <p:cNvSpPr>
            <a:spLocks noChangeShapeType="1"/>
          </p:cNvSpPr>
          <p:nvPr/>
        </p:nvSpPr>
        <p:spPr bwMode="auto">
          <a:xfrm>
            <a:off x="8165205" y="4089400"/>
            <a:ext cx="394595" cy="406400"/>
          </a:xfrm>
          <a:prstGeom prst="line">
            <a:avLst/>
          </a:prstGeom>
          <a:noFill/>
          <a:ln w="31750">
            <a:solidFill>
              <a:srgbClr val="FF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Oval 33"/>
          <p:cNvSpPr>
            <a:spLocks noChangeArrowheads="1"/>
          </p:cNvSpPr>
          <p:nvPr/>
        </p:nvSpPr>
        <p:spPr bwMode="auto">
          <a:xfrm>
            <a:off x="8546205" y="4470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34</a:t>
            </a:r>
            <a:endParaRPr lang="en-US" altLang="zh-CN">
              <a:solidFill>
                <a:srgbClr val="00B050"/>
              </a:solidFill>
              <a:latin typeface="Consolas" panose="020B0609020204030204" pitchFamily="49" charset="0"/>
            </a:endParaRPr>
          </a:p>
        </p:txBody>
      </p:sp>
      <p:sp>
        <p:nvSpPr>
          <p:cNvPr id="32" name="Oval 34"/>
          <p:cNvSpPr>
            <a:spLocks noChangeArrowheads="1"/>
          </p:cNvSpPr>
          <p:nvPr/>
        </p:nvSpPr>
        <p:spPr bwMode="auto">
          <a:xfrm>
            <a:off x="7022205" y="2946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16</a:t>
            </a:r>
            <a:endParaRPr lang="en-US" altLang="zh-CN">
              <a:solidFill>
                <a:srgbClr val="00B050"/>
              </a:solidFill>
              <a:latin typeface="Consolas" panose="020B0609020204030204" pitchFamily="49" charset="0"/>
            </a:endParaRPr>
          </a:p>
        </p:txBody>
      </p:sp>
      <p:sp>
        <p:nvSpPr>
          <p:cNvPr id="33" name="Oval 35"/>
          <p:cNvSpPr>
            <a:spLocks noChangeArrowheads="1"/>
          </p:cNvSpPr>
          <p:nvPr/>
        </p:nvSpPr>
        <p:spPr bwMode="auto">
          <a:xfrm>
            <a:off x="6260205" y="3708400"/>
            <a:ext cx="394595" cy="406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8</a:t>
            </a:r>
            <a:endParaRPr lang="en-US" altLang="zh-CN">
              <a:solidFill>
                <a:srgbClr val="00B050"/>
              </a:solidFill>
              <a:latin typeface="Consolas" panose="020B0609020204030204" pitchFamily="49" charset="0"/>
            </a:endParaRPr>
          </a:p>
        </p:txBody>
      </p:sp>
      <p:sp>
        <p:nvSpPr>
          <p:cNvPr id="34" name="Line 36"/>
          <p:cNvSpPr>
            <a:spLocks noChangeShapeType="1"/>
          </p:cNvSpPr>
          <p:nvPr/>
        </p:nvSpPr>
        <p:spPr bwMode="auto">
          <a:xfrm flipH="1">
            <a:off x="6641205" y="3327400"/>
            <a:ext cx="394595" cy="4064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AutoShape 37"/>
          <p:cNvSpPr>
            <a:spLocks noChangeArrowheads="1"/>
          </p:cNvSpPr>
          <p:nvPr/>
        </p:nvSpPr>
        <p:spPr bwMode="auto">
          <a:xfrm>
            <a:off x="2450205" y="5274732"/>
            <a:ext cx="1315317" cy="745067"/>
          </a:xfrm>
          <a:prstGeom prst="wedgeRoundRectCallout">
            <a:avLst>
              <a:gd name="adj1" fmla="val -43125"/>
              <a:gd name="adj2" fmla="val -158144"/>
              <a:gd name="adj3" fmla="val 16667"/>
            </a:avLst>
          </a:prstGeom>
          <a:solidFill>
            <a:srgbClr val="FFFFCC"/>
          </a:solidFill>
          <a:ln w="9525">
            <a:solidFill>
              <a:srgbClr val="800000"/>
            </a:solidFill>
            <a:miter lim="800000"/>
          </a:ln>
        </p:spPr>
        <p:txBody>
          <a:bodyPr wrap="none" anchor="ctr"/>
          <a:lstStyle/>
          <a:p>
            <a:pPr algn="ctr" eaLnBrk="1" hangingPunct="1">
              <a:defRPr/>
            </a:pPr>
            <a:r>
              <a:rPr lang="zh-CN" altLang="en-US" sz="2400" dirty="0">
                <a:solidFill>
                  <a:srgbClr val="A50021"/>
                </a:solidFill>
                <a:latin typeface="微软雅黑" panose="020B0503020204020204" pitchFamily="34" charset="-122"/>
                <a:ea typeface="微软雅黑" panose="020B0503020204020204" pitchFamily="34" charset="-122"/>
              </a:rPr>
              <a:t>向右旋转</a:t>
            </a:r>
            <a:endParaRPr lang="zh-CN" altLang="en-US" sz="2400" dirty="0">
              <a:solidFill>
                <a:srgbClr val="A50021"/>
              </a:solidFill>
              <a:latin typeface="微软雅黑" panose="020B0503020204020204" pitchFamily="34" charset="-122"/>
              <a:ea typeface="微软雅黑" panose="020B0503020204020204" pitchFamily="34" charset="-122"/>
            </a:endParaRPr>
          </a:p>
          <a:p>
            <a:pPr algn="ctr" eaLnBrk="1" hangingPunct="1">
              <a:defRPr/>
            </a:pPr>
            <a:r>
              <a:rPr lang="zh-CN" altLang="en-US" sz="2400" dirty="0">
                <a:solidFill>
                  <a:srgbClr val="A50021"/>
                </a:solidFill>
                <a:latin typeface="微软雅黑" panose="020B0503020204020204" pitchFamily="34" charset="-122"/>
                <a:ea typeface="微软雅黑" panose="020B0503020204020204" pitchFamily="34" charset="-122"/>
              </a:rPr>
              <a:t>一次</a:t>
            </a:r>
            <a:endParaRPr lang="zh-CN" altLang="en-US" sz="2400" dirty="0">
              <a:latin typeface="微软雅黑" panose="020B0503020204020204" pitchFamily="34" charset="-122"/>
              <a:ea typeface="微软雅黑" panose="020B0503020204020204" pitchFamily="34" charset="-122"/>
            </a:endParaRPr>
          </a:p>
        </p:txBody>
      </p:sp>
      <p:sp>
        <p:nvSpPr>
          <p:cNvPr id="128" name="AutoShape 38"/>
          <p:cNvSpPr>
            <a:spLocks noChangeArrowheads="1"/>
          </p:cNvSpPr>
          <p:nvPr/>
        </p:nvSpPr>
        <p:spPr bwMode="auto">
          <a:xfrm>
            <a:off x="6107805" y="5283200"/>
            <a:ext cx="1709912" cy="812800"/>
          </a:xfrm>
          <a:prstGeom prst="wedgeRoundRectCallout">
            <a:avLst>
              <a:gd name="adj1" fmla="val -65384"/>
              <a:gd name="adj2" fmla="val -150870"/>
              <a:gd name="adj3" fmla="val 16667"/>
            </a:avLst>
          </a:prstGeom>
          <a:solidFill>
            <a:srgbClr val="FFFFCC"/>
          </a:solidFill>
          <a:ln w="9525">
            <a:solidFill>
              <a:srgbClr val="993300"/>
            </a:solidFill>
            <a:miter lim="800000"/>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dirty="0">
                <a:solidFill>
                  <a:srgbClr val="A50021"/>
                </a:solidFill>
                <a:latin typeface="微软雅黑" panose="020B0503020204020204" pitchFamily="34" charset="-122"/>
                <a:ea typeface="微软雅黑" panose="020B0503020204020204" pitchFamily="34" charset="-122"/>
              </a:rPr>
              <a:t>先向左旋转</a:t>
            </a:r>
            <a:endParaRPr lang="zh-CN" altLang="en-US" dirty="0">
              <a:solidFill>
                <a:srgbClr val="A50021"/>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lang="zh-CN" altLang="en-US" dirty="0">
                <a:solidFill>
                  <a:srgbClr val="A50021"/>
                </a:solidFill>
                <a:latin typeface="微软雅黑" panose="020B0503020204020204" pitchFamily="34" charset="-122"/>
                <a:ea typeface="微软雅黑" panose="020B0503020204020204" pitchFamily="34" charset="-122"/>
              </a:rPr>
              <a:t>再向右旋转</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up)">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500"/>
                                        <p:tgtEl>
                                          <p:spTgt spid="9"/>
                                        </p:tgtEl>
                                      </p:cBhvr>
                                    </p:animEffect>
                                  </p:childTnLst>
                                </p:cTn>
                              </p:par>
                            </p:childTnLst>
                          </p:cTn>
                        </p:par>
                        <p:par>
                          <p:cTn id="26" fill="hold">
                            <p:stCondLst>
                              <p:cond delay="500"/>
                            </p:stCondLst>
                            <p:childTnLst>
                              <p:par>
                                <p:cTn id="27" presetID="22" presetClass="entr" presetSubtype="1"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17" presetClass="entr" presetSubtype="8"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p:cTn id="34" dur="500" fill="hold"/>
                                        <p:tgtEl>
                                          <p:spTgt spid="10"/>
                                        </p:tgtEl>
                                        <p:attrNameLst>
                                          <p:attrName>ppt_x</p:attrName>
                                        </p:attrNameLst>
                                      </p:cBhvr>
                                      <p:tavLst>
                                        <p:tav tm="0">
                                          <p:val>
                                            <p:strVal val="#ppt_x-#ppt_w/2"/>
                                          </p:val>
                                        </p:tav>
                                        <p:tav tm="100000">
                                          <p:val>
                                            <p:strVal val="#ppt_x"/>
                                          </p:val>
                                        </p:tav>
                                      </p:tavLst>
                                    </p:anim>
                                    <p:anim calcmode="lin" valueType="num">
                                      <p:cBhvr>
                                        <p:cTn id="35" dur="500" fill="hold"/>
                                        <p:tgtEl>
                                          <p:spTgt spid="10"/>
                                        </p:tgtEl>
                                        <p:attrNameLst>
                                          <p:attrName>ppt_y</p:attrName>
                                        </p:attrNameLst>
                                      </p:cBhvr>
                                      <p:tavLst>
                                        <p:tav tm="0">
                                          <p:val>
                                            <p:strVal val="#ppt_y"/>
                                          </p:val>
                                        </p:tav>
                                        <p:tav tm="100000">
                                          <p:val>
                                            <p:strVal val="#ppt_y"/>
                                          </p:val>
                                        </p:tav>
                                      </p:tavLst>
                                    </p:anim>
                                    <p:anim calcmode="lin" valueType="num">
                                      <p:cBhvr>
                                        <p:cTn id="36" dur="500" fill="hold"/>
                                        <p:tgtEl>
                                          <p:spTgt spid="10"/>
                                        </p:tgtEl>
                                        <p:attrNameLst>
                                          <p:attrName>ppt_w</p:attrName>
                                        </p:attrNameLst>
                                      </p:cBhvr>
                                      <p:tavLst>
                                        <p:tav tm="0">
                                          <p:val>
                                            <p:fltVal val="0"/>
                                          </p:val>
                                        </p:tav>
                                        <p:tav tm="100000">
                                          <p:val>
                                            <p:strVal val="#ppt_w"/>
                                          </p:val>
                                        </p:tav>
                                      </p:tavLst>
                                    </p:anim>
                                    <p:anim calcmode="lin" valueType="num">
                                      <p:cBhvr>
                                        <p:cTn id="37" dur="500" fill="hold"/>
                                        <p:tgtEl>
                                          <p:spTgt spid="10"/>
                                        </p:tgtEl>
                                        <p:attrNameLst>
                                          <p:attrName>ppt_h</p:attrName>
                                        </p:attrNameLst>
                                      </p:cBhvr>
                                      <p:tavLst>
                                        <p:tav tm="0">
                                          <p:val>
                                            <p:strVal val="#ppt_h"/>
                                          </p:val>
                                        </p:tav>
                                        <p:tav tm="100000">
                                          <p:val>
                                            <p:strVal val="#ppt_h"/>
                                          </p:val>
                                        </p:tav>
                                      </p:tavLst>
                                    </p:anim>
                                  </p:childTnLst>
                                </p:cTn>
                              </p:par>
                            </p:childTnLst>
                          </p:cTn>
                        </p:par>
                        <p:par>
                          <p:cTn id="38" fill="hold">
                            <p:stCondLst>
                              <p:cond delay="500"/>
                            </p:stCondLst>
                            <p:childTnLst>
                              <p:par>
                                <p:cTn id="39" presetID="12" presetClass="entr" presetSubtype="4" fill="hold" grpId="0" nodeType="after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slide(fromBottom)">
                                      <p:cBhvr>
                                        <p:cTn id="41" dur="500"/>
                                        <p:tgtEl>
                                          <p:spTgt spid="3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wipe(up)">
                                      <p:cBhvr>
                                        <p:cTn id="46" dur="500"/>
                                        <p:tgtEl>
                                          <p:spTgt spid="17"/>
                                        </p:tgtEl>
                                      </p:cBhvr>
                                    </p:animEffect>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up)">
                                      <p:cBhvr>
                                        <p:cTn id="50" dur="500"/>
                                        <p:tgtEl>
                                          <p:spTgt spid="11"/>
                                        </p:tgtEl>
                                      </p:cBhvr>
                                    </p:animEffect>
                                  </p:childTnLst>
                                </p:cTn>
                              </p:par>
                            </p:childTnLst>
                          </p:cTn>
                        </p:par>
                        <p:par>
                          <p:cTn id="51" fill="hold">
                            <p:stCondLst>
                              <p:cond delay="1000"/>
                            </p:stCondLst>
                            <p:childTnLst>
                              <p:par>
                                <p:cTn id="52" presetID="1" presetClass="entr" presetSubtype="0" fill="hold" nodeType="afterEffect">
                                  <p:stCondLst>
                                    <p:cond delay="0"/>
                                  </p:stCondLst>
                                  <p:childTnLst>
                                    <p:set>
                                      <p:cBhvr>
                                        <p:cTn id="53" dur="1" fill="hold">
                                          <p:stCondLst>
                                            <p:cond delay="499"/>
                                          </p:stCondLst>
                                        </p:cTn>
                                        <p:tgtEl>
                                          <p:spTgt spid="13"/>
                                        </p:tgtEl>
                                        <p:attrNameLst>
                                          <p:attrName>style.visibility</p:attrName>
                                        </p:attrNameLst>
                                      </p:cBhvr>
                                      <p:to>
                                        <p:strVal val="visible"/>
                                      </p:to>
                                    </p:set>
                                  </p:childTnLst>
                                </p:cTn>
                              </p:par>
                            </p:childTnLst>
                          </p:cTn>
                        </p:par>
                        <p:par>
                          <p:cTn id="54" fill="hold">
                            <p:stCondLst>
                              <p:cond delay="1500"/>
                            </p:stCondLst>
                            <p:childTnLst>
                              <p:par>
                                <p:cTn id="55" presetID="1" presetClass="entr" presetSubtype="0" fill="hold" grpId="0" nodeType="afterEffect">
                                  <p:stCondLst>
                                    <p:cond delay="0"/>
                                  </p:stCondLst>
                                  <p:childTnLst>
                                    <p:set>
                                      <p:cBhvr>
                                        <p:cTn id="56" dur="1" fill="hold">
                                          <p:stCondLst>
                                            <p:cond delay="499"/>
                                          </p:stCondLst>
                                        </p:cTn>
                                        <p:tgtEl>
                                          <p:spTgt spid="1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up)">
                                      <p:cBhvr>
                                        <p:cTn id="61" dur="500"/>
                                        <p:tgtEl>
                                          <p:spTgt spid="15"/>
                                        </p:tgtEl>
                                      </p:cBhvr>
                                    </p:animEffect>
                                  </p:childTnLst>
                                </p:cTn>
                              </p:par>
                            </p:childTnLst>
                          </p:cTn>
                        </p:par>
                        <p:par>
                          <p:cTn id="62" fill="hold">
                            <p:stCondLst>
                              <p:cond delay="500"/>
                            </p:stCondLst>
                            <p:childTnLst>
                              <p:par>
                                <p:cTn id="63" presetID="22" presetClass="entr" presetSubtype="1"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up)">
                                      <p:cBhvr>
                                        <p:cTn id="65" dur="500"/>
                                        <p:tgtEl>
                                          <p:spTgt spid="1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up)">
                                      <p:cBhvr>
                                        <p:cTn id="70" dur="500"/>
                                        <p:tgtEl>
                                          <p:spTgt spid="20"/>
                                        </p:tgtEl>
                                      </p:cBhvr>
                                    </p:animEffect>
                                  </p:childTnLst>
                                </p:cTn>
                              </p:par>
                            </p:childTnLst>
                          </p:cTn>
                        </p:par>
                        <p:par>
                          <p:cTn id="71" fill="hold">
                            <p:stCondLst>
                              <p:cond delay="500"/>
                            </p:stCondLst>
                            <p:childTnLst>
                              <p:par>
                                <p:cTn id="72" presetID="22" presetClass="entr" presetSubtype="1" fill="hold" grpId="0" nodeType="after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wipe(up)">
                                      <p:cBhvr>
                                        <p:cTn id="74" dur="500"/>
                                        <p:tgtEl>
                                          <p:spTgt spid="1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up)">
                                      <p:cBhvr>
                                        <p:cTn id="79" dur="500"/>
                                        <p:tgtEl>
                                          <p:spTgt spid="22"/>
                                        </p:tgtEl>
                                      </p:cBhvr>
                                    </p:animEffect>
                                  </p:childTnLst>
                                </p:cTn>
                              </p:par>
                            </p:childTnLst>
                          </p:cTn>
                        </p:par>
                        <p:par>
                          <p:cTn id="80" fill="hold">
                            <p:stCondLst>
                              <p:cond delay="500"/>
                            </p:stCondLst>
                            <p:childTnLst>
                              <p:par>
                                <p:cTn id="81" presetID="22" presetClass="entr" presetSubtype="1" fill="hold" grpId="0" nodeType="after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wipe(up)">
                                      <p:cBhvr>
                                        <p:cTn id="83" dur="500"/>
                                        <p:tgtEl>
                                          <p:spTgt spid="21"/>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ipe(left)">
                                      <p:cBhvr>
                                        <p:cTn id="88" dur="500"/>
                                        <p:tgtEl>
                                          <p:spTgt spid="24"/>
                                        </p:tgtEl>
                                      </p:cBhvr>
                                    </p:animEffect>
                                  </p:childTnLst>
                                </p:cTn>
                              </p:par>
                            </p:childTnLst>
                          </p:cTn>
                        </p:par>
                      </p:childTnLst>
                    </p:cTn>
                  </p:par>
                  <p:par>
                    <p:cTn id="89" fill="hold">
                      <p:stCondLst>
                        <p:cond delay="indefinite"/>
                      </p:stCondLst>
                      <p:childTnLst>
                        <p:par>
                          <p:cTn id="90" fill="hold">
                            <p:stCondLst>
                              <p:cond delay="0"/>
                            </p:stCondLst>
                            <p:childTnLst>
                              <p:par>
                                <p:cTn id="91" presetID="17" presetClass="entr" presetSubtype="8" fill="hold" grpId="0" nodeType="clickEffect">
                                  <p:stCondLst>
                                    <p:cond delay="0"/>
                                  </p:stCondLst>
                                  <p:childTnLst>
                                    <p:set>
                                      <p:cBhvr>
                                        <p:cTn id="92" dur="1" fill="hold">
                                          <p:stCondLst>
                                            <p:cond delay="0"/>
                                          </p:stCondLst>
                                        </p:cTn>
                                        <p:tgtEl>
                                          <p:spTgt spid="18"/>
                                        </p:tgtEl>
                                        <p:attrNameLst>
                                          <p:attrName>style.visibility</p:attrName>
                                        </p:attrNameLst>
                                      </p:cBhvr>
                                      <p:to>
                                        <p:strVal val="visible"/>
                                      </p:to>
                                    </p:set>
                                    <p:anim calcmode="lin" valueType="num">
                                      <p:cBhvr>
                                        <p:cTn id="93" dur="500" fill="hold"/>
                                        <p:tgtEl>
                                          <p:spTgt spid="18"/>
                                        </p:tgtEl>
                                        <p:attrNameLst>
                                          <p:attrName>ppt_x</p:attrName>
                                        </p:attrNameLst>
                                      </p:cBhvr>
                                      <p:tavLst>
                                        <p:tav tm="0">
                                          <p:val>
                                            <p:strVal val="#ppt_x-#ppt_w/2"/>
                                          </p:val>
                                        </p:tav>
                                        <p:tav tm="100000">
                                          <p:val>
                                            <p:strVal val="#ppt_x"/>
                                          </p:val>
                                        </p:tav>
                                      </p:tavLst>
                                    </p:anim>
                                    <p:anim calcmode="lin" valueType="num">
                                      <p:cBhvr>
                                        <p:cTn id="94" dur="500" fill="hold"/>
                                        <p:tgtEl>
                                          <p:spTgt spid="18"/>
                                        </p:tgtEl>
                                        <p:attrNameLst>
                                          <p:attrName>ppt_y</p:attrName>
                                        </p:attrNameLst>
                                      </p:cBhvr>
                                      <p:tavLst>
                                        <p:tav tm="0">
                                          <p:val>
                                            <p:strVal val="#ppt_y"/>
                                          </p:val>
                                        </p:tav>
                                        <p:tav tm="100000">
                                          <p:val>
                                            <p:strVal val="#ppt_y"/>
                                          </p:val>
                                        </p:tav>
                                      </p:tavLst>
                                    </p:anim>
                                    <p:anim calcmode="lin" valueType="num">
                                      <p:cBhvr>
                                        <p:cTn id="95" dur="500" fill="hold"/>
                                        <p:tgtEl>
                                          <p:spTgt spid="18"/>
                                        </p:tgtEl>
                                        <p:attrNameLst>
                                          <p:attrName>ppt_w</p:attrName>
                                        </p:attrNameLst>
                                      </p:cBhvr>
                                      <p:tavLst>
                                        <p:tav tm="0">
                                          <p:val>
                                            <p:fltVal val="0"/>
                                          </p:val>
                                        </p:tav>
                                        <p:tav tm="100000">
                                          <p:val>
                                            <p:strVal val="#ppt_w"/>
                                          </p:val>
                                        </p:tav>
                                      </p:tavLst>
                                    </p:anim>
                                    <p:anim calcmode="lin" valueType="num">
                                      <p:cBhvr>
                                        <p:cTn id="96" dur="500" fill="hold"/>
                                        <p:tgtEl>
                                          <p:spTgt spid="18"/>
                                        </p:tgtEl>
                                        <p:attrNameLst>
                                          <p:attrName>ppt_h</p:attrName>
                                        </p:attrNameLst>
                                      </p:cBhvr>
                                      <p:tavLst>
                                        <p:tav tm="0">
                                          <p:val>
                                            <p:strVal val="#ppt_h"/>
                                          </p:val>
                                        </p:tav>
                                        <p:tav tm="100000">
                                          <p:val>
                                            <p:strVal val="#ppt_h"/>
                                          </p:val>
                                        </p:tav>
                                      </p:tavLst>
                                    </p:anim>
                                  </p:childTnLst>
                                </p:cTn>
                              </p:par>
                            </p:childTnLst>
                          </p:cTn>
                        </p:par>
                        <p:par>
                          <p:cTn id="97" fill="hold">
                            <p:stCondLst>
                              <p:cond delay="500"/>
                            </p:stCondLst>
                            <p:childTnLst>
                              <p:par>
                                <p:cTn id="98" presetID="12" presetClass="entr" presetSubtype="4" fill="hold" grpId="0" nodeType="afterEffect">
                                  <p:stCondLst>
                                    <p:cond delay="0"/>
                                  </p:stCondLst>
                                  <p:childTnLst>
                                    <p:set>
                                      <p:cBhvr>
                                        <p:cTn id="99" dur="1" fill="hold">
                                          <p:stCondLst>
                                            <p:cond delay="0"/>
                                          </p:stCondLst>
                                        </p:cTn>
                                        <p:tgtEl>
                                          <p:spTgt spid="128"/>
                                        </p:tgtEl>
                                        <p:attrNameLst>
                                          <p:attrName>style.visibility</p:attrName>
                                        </p:attrNameLst>
                                      </p:cBhvr>
                                      <p:to>
                                        <p:strVal val="visible"/>
                                      </p:to>
                                    </p:set>
                                    <p:animEffect transition="in" filter="slide(fromBottom)">
                                      <p:cBhvr>
                                        <p:cTn id="100" dur="500"/>
                                        <p:tgtEl>
                                          <p:spTgt spid="128"/>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nodeType="clickEffect">
                                  <p:stCondLst>
                                    <p:cond delay="0"/>
                                  </p:stCondLst>
                                  <p:childTnLst>
                                    <p:set>
                                      <p:cBhvr>
                                        <p:cTn id="104" dur="1" fill="hold">
                                          <p:stCondLst>
                                            <p:cond delay="0"/>
                                          </p:stCondLst>
                                        </p:cTn>
                                        <p:tgtEl>
                                          <p:spTgt spid="26"/>
                                        </p:tgtEl>
                                        <p:attrNameLst>
                                          <p:attrName>style.visibility</p:attrName>
                                        </p:attrNameLst>
                                      </p:cBhvr>
                                      <p:to>
                                        <p:strVal val="visible"/>
                                      </p:to>
                                    </p:set>
                                    <p:animEffect transition="in" filter="wipe(up)">
                                      <p:cBhvr>
                                        <p:cTn id="105" dur="500"/>
                                        <p:tgtEl>
                                          <p:spTgt spid="26"/>
                                        </p:tgtEl>
                                      </p:cBhvr>
                                    </p:animEffect>
                                  </p:childTnLst>
                                </p:cTn>
                              </p:par>
                            </p:childTnLst>
                          </p:cTn>
                        </p:par>
                        <p:par>
                          <p:cTn id="106" fill="hold">
                            <p:stCondLst>
                              <p:cond delay="500"/>
                            </p:stCondLst>
                            <p:childTnLst>
                              <p:par>
                                <p:cTn id="107" presetID="22" presetClass="entr" presetSubtype="1" fill="hold" grpId="0" nodeType="afterEffect">
                                  <p:stCondLst>
                                    <p:cond delay="0"/>
                                  </p:stCondLst>
                                  <p:childTnLst>
                                    <p:set>
                                      <p:cBhvr>
                                        <p:cTn id="108" dur="1" fill="hold">
                                          <p:stCondLst>
                                            <p:cond delay="0"/>
                                          </p:stCondLst>
                                        </p:cTn>
                                        <p:tgtEl>
                                          <p:spTgt spid="32"/>
                                        </p:tgtEl>
                                        <p:attrNameLst>
                                          <p:attrName>style.visibility</p:attrName>
                                        </p:attrNameLst>
                                      </p:cBhvr>
                                      <p:to>
                                        <p:strVal val="visible"/>
                                      </p:to>
                                    </p:set>
                                    <p:animEffect transition="in" filter="wipe(up)">
                                      <p:cBhvr>
                                        <p:cTn id="109" dur="500"/>
                                        <p:tgtEl>
                                          <p:spTgt spid="32"/>
                                        </p:tgtEl>
                                      </p:cBhvr>
                                    </p:animEffect>
                                  </p:childTnLst>
                                </p:cTn>
                              </p:par>
                            </p:childTnLst>
                          </p:cTn>
                        </p:par>
                        <p:par>
                          <p:cTn id="110" fill="hold">
                            <p:stCondLst>
                              <p:cond delay="1000"/>
                            </p:stCondLst>
                            <p:childTnLst>
                              <p:par>
                                <p:cTn id="111" presetID="1" presetClass="entr" presetSubtype="0" fill="hold" nodeType="afterEffect">
                                  <p:stCondLst>
                                    <p:cond delay="0"/>
                                  </p:stCondLst>
                                  <p:childTnLst>
                                    <p:set>
                                      <p:cBhvr>
                                        <p:cTn id="112" dur="1" fill="hold">
                                          <p:stCondLst>
                                            <p:cond delay="499"/>
                                          </p:stCondLst>
                                        </p:cTn>
                                        <p:tgtEl>
                                          <p:spTgt spid="34"/>
                                        </p:tgtEl>
                                        <p:attrNameLst>
                                          <p:attrName>style.visibility</p:attrName>
                                        </p:attrNameLst>
                                      </p:cBhvr>
                                      <p:to>
                                        <p:strVal val="visible"/>
                                      </p:to>
                                    </p:set>
                                  </p:childTnLst>
                                </p:cTn>
                              </p:par>
                            </p:childTnLst>
                          </p:cTn>
                        </p:par>
                        <p:par>
                          <p:cTn id="113" fill="hold">
                            <p:stCondLst>
                              <p:cond delay="1500"/>
                            </p:stCondLst>
                            <p:childTnLst>
                              <p:par>
                                <p:cTn id="114" presetID="1" presetClass="entr" presetSubtype="0" fill="hold" grpId="0" nodeType="afterEffect">
                                  <p:stCondLst>
                                    <p:cond delay="0"/>
                                  </p:stCondLst>
                                  <p:childTnLst>
                                    <p:set>
                                      <p:cBhvr>
                                        <p:cTn id="115" dur="1" fill="hold">
                                          <p:stCondLst>
                                            <p:cond delay="499"/>
                                          </p:stCondLst>
                                        </p:cTn>
                                        <p:tgtEl>
                                          <p:spTgt spid="33"/>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22" presetClass="entr" presetSubtype="1" fill="hold" grpId="0" nodeType="clickEffect">
                                  <p:stCondLst>
                                    <p:cond delay="0"/>
                                  </p:stCondLst>
                                  <p:childTnLst>
                                    <p:set>
                                      <p:cBhvr>
                                        <p:cTn id="119" dur="1" fill="hold">
                                          <p:stCondLst>
                                            <p:cond delay="0"/>
                                          </p:stCondLst>
                                        </p:cTn>
                                        <p:tgtEl>
                                          <p:spTgt spid="27"/>
                                        </p:tgtEl>
                                        <p:attrNameLst>
                                          <p:attrName>style.visibility</p:attrName>
                                        </p:attrNameLst>
                                      </p:cBhvr>
                                      <p:to>
                                        <p:strVal val="visible"/>
                                      </p:to>
                                    </p:set>
                                    <p:animEffect transition="in" filter="wipe(up)">
                                      <p:cBhvr>
                                        <p:cTn id="120" dur="500"/>
                                        <p:tgtEl>
                                          <p:spTgt spid="27"/>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1" fill="hold" nodeType="clickEffect">
                                  <p:stCondLst>
                                    <p:cond delay="0"/>
                                  </p:stCondLst>
                                  <p:childTnLst>
                                    <p:set>
                                      <p:cBhvr>
                                        <p:cTn id="124" dur="1" fill="hold">
                                          <p:stCondLst>
                                            <p:cond delay="0"/>
                                          </p:stCondLst>
                                        </p:cTn>
                                        <p:tgtEl>
                                          <p:spTgt spid="30"/>
                                        </p:tgtEl>
                                        <p:attrNameLst>
                                          <p:attrName>style.visibility</p:attrName>
                                        </p:attrNameLst>
                                      </p:cBhvr>
                                      <p:to>
                                        <p:strVal val="visible"/>
                                      </p:to>
                                    </p:set>
                                    <p:animEffect transition="in" filter="wipe(up)">
                                      <p:cBhvr>
                                        <p:cTn id="125" dur="500"/>
                                        <p:tgtEl>
                                          <p:spTgt spid="30"/>
                                        </p:tgtEl>
                                      </p:cBhvr>
                                    </p:animEffect>
                                  </p:childTnLst>
                                </p:cTn>
                              </p:par>
                            </p:childTnLst>
                          </p:cTn>
                        </p:par>
                        <p:par>
                          <p:cTn id="126" fill="hold">
                            <p:stCondLst>
                              <p:cond delay="500"/>
                            </p:stCondLst>
                            <p:childTnLst>
                              <p:par>
                                <p:cTn id="127" presetID="22" presetClass="entr" presetSubtype="1" fill="hold" grpId="0" nodeType="afterEffect">
                                  <p:stCondLst>
                                    <p:cond delay="0"/>
                                  </p:stCondLst>
                                  <p:childTnLst>
                                    <p:set>
                                      <p:cBhvr>
                                        <p:cTn id="128" dur="1" fill="hold">
                                          <p:stCondLst>
                                            <p:cond delay="0"/>
                                          </p:stCondLst>
                                        </p:cTn>
                                        <p:tgtEl>
                                          <p:spTgt spid="31"/>
                                        </p:tgtEl>
                                        <p:attrNameLst>
                                          <p:attrName>style.visibility</p:attrName>
                                        </p:attrNameLst>
                                      </p:cBhvr>
                                      <p:to>
                                        <p:strVal val="visible"/>
                                      </p:to>
                                    </p:set>
                                    <p:animEffect transition="in" filter="wipe(up)">
                                      <p:cBhvr>
                                        <p:cTn id="129" dur="500"/>
                                        <p:tgtEl>
                                          <p:spTgt spid="31"/>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1" fill="hold" nodeType="click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wipe(up)">
                                      <p:cBhvr>
                                        <p:cTn id="134" dur="500"/>
                                        <p:tgtEl>
                                          <p:spTgt spid="29"/>
                                        </p:tgtEl>
                                      </p:cBhvr>
                                    </p:animEffect>
                                  </p:childTnLst>
                                </p:cTn>
                              </p:par>
                            </p:childTnLst>
                          </p:cTn>
                        </p:par>
                        <p:par>
                          <p:cTn id="135" fill="hold">
                            <p:stCondLst>
                              <p:cond delay="500"/>
                            </p:stCondLst>
                            <p:childTnLst>
                              <p:par>
                                <p:cTn id="136" presetID="22" presetClass="entr" presetSubtype="1" fill="hold" grpId="0" nodeType="afterEffect">
                                  <p:stCondLst>
                                    <p:cond delay="0"/>
                                  </p:stCondLst>
                                  <p:childTnLst>
                                    <p:set>
                                      <p:cBhvr>
                                        <p:cTn id="137" dur="1" fill="hold">
                                          <p:stCondLst>
                                            <p:cond delay="0"/>
                                          </p:stCondLst>
                                        </p:cTn>
                                        <p:tgtEl>
                                          <p:spTgt spid="28"/>
                                        </p:tgtEl>
                                        <p:attrNameLst>
                                          <p:attrName>style.visibility</p:attrName>
                                        </p:attrNameLst>
                                      </p:cBhvr>
                                      <p:to>
                                        <p:strVal val="visible"/>
                                      </p:to>
                                    </p:set>
                                    <p:animEffect transition="in" filter="wipe(up)">
                                      <p:cBhvr>
                                        <p:cTn id="138" dur="500"/>
                                        <p:tgtEl>
                                          <p:spTgt spid="28"/>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nodeType="clickEffect">
                                  <p:stCondLst>
                                    <p:cond delay="0"/>
                                  </p:stCondLst>
                                  <p:childTnLst>
                                    <p:set>
                                      <p:cBhvr>
                                        <p:cTn id="142" dur="1" fill="hold">
                                          <p:stCondLst>
                                            <p:cond delay="0"/>
                                          </p:stCondLst>
                                        </p:cTn>
                                        <p:tgtEl>
                                          <p:spTgt spid="25"/>
                                        </p:tgtEl>
                                        <p:attrNameLst>
                                          <p:attrName>style.visibility</p:attrName>
                                        </p:attrNameLst>
                                      </p:cBhvr>
                                      <p:to>
                                        <p:strVal val="visible"/>
                                      </p:to>
                                    </p:set>
                                    <p:animEffect transition="in" filter="wipe(up)">
                                      <p:cBhvr>
                                        <p:cTn id="1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P spid="10" grpId="0" animBg="1"/>
      <p:bldP spid="11" grpId="0" animBg="1" autoUpdateAnimBg="0"/>
      <p:bldP spid="12" grpId="0" animBg="1" autoUpdateAnimBg="0"/>
      <p:bldP spid="14" grpId="0" animBg="1" autoUpdateAnimBg="0"/>
      <p:bldP spid="18" grpId="0" animBg="1"/>
      <p:bldP spid="19" grpId="0" animBg="1" autoUpdateAnimBg="0"/>
      <p:bldP spid="21" grpId="0" animBg="1" autoUpdateAnimBg="0"/>
      <p:bldP spid="24" grpId="0" animBg="1"/>
      <p:bldP spid="27" grpId="0" animBg="1" autoUpdateAnimBg="0"/>
      <p:bldP spid="28" grpId="0" animBg="1" autoUpdateAnimBg="0"/>
      <p:bldP spid="31" grpId="0" animBg="1" autoUpdateAnimBg="0"/>
      <p:bldP spid="32" grpId="0" animBg="1" autoUpdateAnimBg="0"/>
      <p:bldP spid="33" grpId="0" animBg="1" autoUpdateAnimBg="0"/>
      <p:bldP spid="35" grpId="0" animBg="1" autoUpdateAnimBg="0"/>
      <p:bldP spid="128"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Oval 2"/>
          <p:cNvSpPr>
            <a:spLocks noChangeArrowheads="1"/>
          </p:cNvSpPr>
          <p:nvPr/>
        </p:nvSpPr>
        <p:spPr bwMode="auto">
          <a:xfrm>
            <a:off x="1955800" y="16848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16</a:t>
            </a:r>
            <a:endParaRPr lang="en-US" altLang="zh-CN">
              <a:solidFill>
                <a:srgbClr val="00B050"/>
              </a:solidFill>
              <a:latin typeface="Consolas" panose="020B0609020204030204" pitchFamily="49" charset="0"/>
            </a:endParaRPr>
          </a:p>
        </p:txBody>
      </p:sp>
      <p:sp>
        <p:nvSpPr>
          <p:cNvPr id="36" name="Oval 3"/>
          <p:cNvSpPr>
            <a:spLocks noChangeArrowheads="1"/>
          </p:cNvSpPr>
          <p:nvPr/>
        </p:nvSpPr>
        <p:spPr bwMode="auto">
          <a:xfrm>
            <a:off x="1193800" y="24468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8</a:t>
            </a:r>
            <a:endParaRPr lang="en-US" altLang="zh-CN">
              <a:solidFill>
                <a:srgbClr val="00B050"/>
              </a:solidFill>
              <a:latin typeface="Consolas" panose="020B0609020204030204" pitchFamily="49" charset="0"/>
            </a:endParaRPr>
          </a:p>
        </p:txBody>
      </p:sp>
      <p:sp>
        <p:nvSpPr>
          <p:cNvPr id="37" name="Line 4"/>
          <p:cNvSpPr>
            <a:spLocks noChangeShapeType="1"/>
          </p:cNvSpPr>
          <p:nvPr/>
        </p:nvSpPr>
        <p:spPr bwMode="auto">
          <a:xfrm flipH="1">
            <a:off x="1574800" y="2065867"/>
            <a:ext cx="457200" cy="4572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5"/>
          <p:cNvSpPr>
            <a:spLocks noChangeShapeType="1"/>
          </p:cNvSpPr>
          <p:nvPr/>
        </p:nvSpPr>
        <p:spPr bwMode="auto">
          <a:xfrm>
            <a:off x="2336800" y="2065867"/>
            <a:ext cx="457200" cy="457200"/>
          </a:xfrm>
          <a:prstGeom prst="line">
            <a:avLst/>
          </a:prstGeom>
          <a:noFill/>
          <a:ln w="3175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6"/>
          <p:cNvSpPr>
            <a:spLocks noChangeShapeType="1"/>
          </p:cNvSpPr>
          <p:nvPr/>
        </p:nvSpPr>
        <p:spPr bwMode="auto">
          <a:xfrm>
            <a:off x="1574800" y="1303867"/>
            <a:ext cx="457200" cy="457200"/>
          </a:xfrm>
          <a:prstGeom prst="line">
            <a:avLst/>
          </a:prstGeom>
          <a:noFill/>
          <a:ln w="28575">
            <a:solidFill>
              <a:srgbClr val="A50021"/>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Oval 7"/>
          <p:cNvSpPr>
            <a:spLocks noChangeArrowheads="1"/>
          </p:cNvSpPr>
          <p:nvPr/>
        </p:nvSpPr>
        <p:spPr bwMode="auto">
          <a:xfrm>
            <a:off x="2717800" y="24468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32</a:t>
            </a:r>
            <a:endParaRPr lang="en-US" altLang="zh-CN">
              <a:solidFill>
                <a:srgbClr val="00B050"/>
              </a:solidFill>
              <a:latin typeface="Consolas" panose="020B0609020204030204" pitchFamily="49" charset="0"/>
            </a:endParaRPr>
          </a:p>
        </p:txBody>
      </p:sp>
      <p:sp>
        <p:nvSpPr>
          <p:cNvPr id="41" name="Oval 8"/>
          <p:cNvSpPr>
            <a:spLocks noChangeArrowheads="1"/>
          </p:cNvSpPr>
          <p:nvPr/>
        </p:nvSpPr>
        <p:spPr bwMode="auto">
          <a:xfrm>
            <a:off x="1955800" y="32088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29</a:t>
            </a:r>
            <a:endParaRPr lang="en-US" altLang="zh-CN">
              <a:solidFill>
                <a:srgbClr val="00B050"/>
              </a:solidFill>
              <a:latin typeface="Consolas" panose="020B0609020204030204" pitchFamily="49" charset="0"/>
            </a:endParaRPr>
          </a:p>
        </p:txBody>
      </p:sp>
      <p:sp>
        <p:nvSpPr>
          <p:cNvPr id="42" name="Line 9"/>
          <p:cNvSpPr>
            <a:spLocks noChangeShapeType="1"/>
          </p:cNvSpPr>
          <p:nvPr/>
        </p:nvSpPr>
        <p:spPr bwMode="auto">
          <a:xfrm flipH="1">
            <a:off x="2336800" y="2827867"/>
            <a:ext cx="457200" cy="45720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10"/>
          <p:cNvSpPr>
            <a:spLocks noChangeShapeType="1"/>
          </p:cNvSpPr>
          <p:nvPr/>
        </p:nvSpPr>
        <p:spPr bwMode="auto">
          <a:xfrm>
            <a:off x="3098800" y="2827867"/>
            <a:ext cx="457200" cy="457200"/>
          </a:xfrm>
          <a:prstGeom prst="line">
            <a:avLst/>
          </a:prstGeom>
          <a:noFill/>
          <a:ln w="3175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Oval 11"/>
          <p:cNvSpPr>
            <a:spLocks noChangeArrowheads="1"/>
          </p:cNvSpPr>
          <p:nvPr/>
        </p:nvSpPr>
        <p:spPr bwMode="auto">
          <a:xfrm>
            <a:off x="3479800" y="32088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34</a:t>
            </a:r>
            <a:endParaRPr lang="en-US" altLang="zh-CN">
              <a:solidFill>
                <a:srgbClr val="00B050"/>
              </a:solidFill>
              <a:latin typeface="Consolas" panose="020B0609020204030204" pitchFamily="49" charset="0"/>
            </a:endParaRPr>
          </a:p>
        </p:txBody>
      </p:sp>
      <p:sp>
        <p:nvSpPr>
          <p:cNvPr id="45" name="Oval 12"/>
          <p:cNvSpPr>
            <a:spLocks noChangeArrowheads="1"/>
          </p:cNvSpPr>
          <p:nvPr/>
        </p:nvSpPr>
        <p:spPr bwMode="auto">
          <a:xfrm>
            <a:off x="4241800" y="39708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50</a:t>
            </a:r>
            <a:endParaRPr lang="en-US" altLang="zh-CN">
              <a:solidFill>
                <a:srgbClr val="00B050"/>
              </a:solidFill>
              <a:latin typeface="Consolas" panose="020B0609020204030204" pitchFamily="49" charset="0"/>
            </a:endParaRPr>
          </a:p>
        </p:txBody>
      </p:sp>
      <p:sp>
        <p:nvSpPr>
          <p:cNvPr id="46" name="Line 13"/>
          <p:cNvSpPr>
            <a:spLocks noChangeShapeType="1"/>
          </p:cNvSpPr>
          <p:nvPr/>
        </p:nvSpPr>
        <p:spPr bwMode="auto">
          <a:xfrm>
            <a:off x="3860800" y="3589867"/>
            <a:ext cx="457200" cy="457200"/>
          </a:xfrm>
          <a:prstGeom prst="line">
            <a:avLst/>
          </a:prstGeom>
          <a:noFill/>
          <a:ln w="3175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Rectangle 14"/>
          <p:cNvSpPr>
            <a:spLocks noChangeArrowheads="1"/>
          </p:cNvSpPr>
          <p:nvPr/>
        </p:nvSpPr>
        <p:spPr bwMode="auto">
          <a:xfrm>
            <a:off x="965200" y="1456267"/>
            <a:ext cx="3962400" cy="3352800"/>
          </a:xfrm>
          <a:prstGeom prst="rect">
            <a:avLst/>
          </a:prstGeom>
          <a:solidFill>
            <a:srgbClr val="FFFFCC">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endParaRPr lang="zh-CN" altLang="en-US" sz="1800">
              <a:solidFill>
                <a:srgbClr val="FFFFFF"/>
              </a:solidFill>
              <a:latin typeface="Consolas" panose="020B0609020204030204" pitchFamily="49" charset="0"/>
            </a:endParaRPr>
          </a:p>
        </p:txBody>
      </p:sp>
      <p:sp>
        <p:nvSpPr>
          <p:cNvPr id="48" name="Oval 15"/>
          <p:cNvSpPr>
            <a:spLocks noChangeArrowheads="1"/>
          </p:cNvSpPr>
          <p:nvPr/>
        </p:nvSpPr>
        <p:spPr bwMode="auto">
          <a:xfrm>
            <a:off x="6832600" y="38946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32</a:t>
            </a:r>
            <a:endParaRPr lang="en-US" altLang="zh-CN">
              <a:solidFill>
                <a:srgbClr val="00B050"/>
              </a:solidFill>
              <a:latin typeface="Consolas" panose="020B0609020204030204" pitchFamily="49" charset="0"/>
            </a:endParaRPr>
          </a:p>
        </p:txBody>
      </p:sp>
      <p:sp>
        <p:nvSpPr>
          <p:cNvPr id="49" name="Oval 16"/>
          <p:cNvSpPr>
            <a:spLocks noChangeArrowheads="1"/>
          </p:cNvSpPr>
          <p:nvPr/>
        </p:nvSpPr>
        <p:spPr bwMode="auto">
          <a:xfrm>
            <a:off x="5994400" y="46566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16</a:t>
            </a:r>
            <a:endParaRPr lang="en-US" altLang="zh-CN">
              <a:solidFill>
                <a:srgbClr val="00B050"/>
              </a:solidFill>
              <a:latin typeface="Consolas" panose="020B0609020204030204" pitchFamily="49" charset="0"/>
            </a:endParaRPr>
          </a:p>
        </p:txBody>
      </p:sp>
      <p:sp>
        <p:nvSpPr>
          <p:cNvPr id="50" name="Oval 17"/>
          <p:cNvSpPr>
            <a:spLocks noChangeArrowheads="1"/>
          </p:cNvSpPr>
          <p:nvPr/>
        </p:nvSpPr>
        <p:spPr bwMode="auto">
          <a:xfrm>
            <a:off x="5232400" y="54186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8</a:t>
            </a:r>
            <a:endParaRPr lang="en-US" altLang="zh-CN">
              <a:solidFill>
                <a:srgbClr val="00B050"/>
              </a:solidFill>
              <a:latin typeface="Consolas" panose="020B0609020204030204" pitchFamily="49" charset="0"/>
            </a:endParaRPr>
          </a:p>
        </p:txBody>
      </p:sp>
      <p:sp>
        <p:nvSpPr>
          <p:cNvPr id="51" name="Line 18"/>
          <p:cNvSpPr>
            <a:spLocks noChangeShapeType="1"/>
          </p:cNvSpPr>
          <p:nvPr/>
        </p:nvSpPr>
        <p:spPr bwMode="auto">
          <a:xfrm flipH="1">
            <a:off x="5613400" y="5037667"/>
            <a:ext cx="457200" cy="457200"/>
          </a:xfrm>
          <a:prstGeom prst="line">
            <a:avLst/>
          </a:prstGeom>
          <a:noFill/>
          <a:ln w="28575">
            <a:solidFill>
              <a:srgbClr val="00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19"/>
          <p:cNvSpPr>
            <a:spLocks noChangeShapeType="1"/>
          </p:cNvSpPr>
          <p:nvPr/>
        </p:nvSpPr>
        <p:spPr bwMode="auto">
          <a:xfrm flipH="1">
            <a:off x="6375400" y="4275667"/>
            <a:ext cx="457200" cy="457200"/>
          </a:xfrm>
          <a:prstGeom prst="line">
            <a:avLst/>
          </a:prstGeom>
          <a:noFill/>
          <a:ln w="38100">
            <a:solidFill>
              <a:srgbClr val="FF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20"/>
          <p:cNvSpPr>
            <a:spLocks noChangeShapeType="1"/>
          </p:cNvSpPr>
          <p:nvPr/>
        </p:nvSpPr>
        <p:spPr bwMode="auto">
          <a:xfrm>
            <a:off x="7213600" y="4275667"/>
            <a:ext cx="457200" cy="457200"/>
          </a:xfrm>
          <a:prstGeom prst="line">
            <a:avLst/>
          </a:prstGeom>
          <a:noFill/>
          <a:ln w="3175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Oval 21"/>
          <p:cNvSpPr>
            <a:spLocks noChangeArrowheads="1"/>
          </p:cNvSpPr>
          <p:nvPr/>
        </p:nvSpPr>
        <p:spPr bwMode="auto">
          <a:xfrm>
            <a:off x="7594600" y="46566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34</a:t>
            </a:r>
            <a:endParaRPr lang="en-US" altLang="zh-CN">
              <a:solidFill>
                <a:srgbClr val="00B050"/>
              </a:solidFill>
              <a:latin typeface="Consolas" panose="020B0609020204030204" pitchFamily="49" charset="0"/>
            </a:endParaRPr>
          </a:p>
        </p:txBody>
      </p:sp>
      <p:sp>
        <p:nvSpPr>
          <p:cNvPr id="55" name="Oval 22"/>
          <p:cNvSpPr>
            <a:spLocks noChangeArrowheads="1"/>
          </p:cNvSpPr>
          <p:nvPr/>
        </p:nvSpPr>
        <p:spPr bwMode="auto">
          <a:xfrm>
            <a:off x="8356600" y="54186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50</a:t>
            </a:r>
            <a:endParaRPr lang="en-US" altLang="zh-CN">
              <a:solidFill>
                <a:srgbClr val="00B050"/>
              </a:solidFill>
              <a:latin typeface="Consolas" panose="020B0609020204030204" pitchFamily="49" charset="0"/>
            </a:endParaRPr>
          </a:p>
        </p:txBody>
      </p:sp>
      <p:sp>
        <p:nvSpPr>
          <p:cNvPr id="56" name="Line 23"/>
          <p:cNvSpPr>
            <a:spLocks noChangeShapeType="1"/>
          </p:cNvSpPr>
          <p:nvPr/>
        </p:nvSpPr>
        <p:spPr bwMode="auto">
          <a:xfrm>
            <a:off x="7975600" y="5037667"/>
            <a:ext cx="457200" cy="457200"/>
          </a:xfrm>
          <a:prstGeom prst="line">
            <a:avLst/>
          </a:prstGeom>
          <a:noFill/>
          <a:ln w="3175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24"/>
          <p:cNvSpPr>
            <a:spLocks noChangeShapeType="1"/>
          </p:cNvSpPr>
          <p:nvPr/>
        </p:nvSpPr>
        <p:spPr bwMode="auto">
          <a:xfrm>
            <a:off x="6451600" y="3513667"/>
            <a:ext cx="457200" cy="457200"/>
          </a:xfrm>
          <a:prstGeom prst="line">
            <a:avLst/>
          </a:prstGeom>
          <a:noFill/>
          <a:ln w="28575">
            <a:solidFill>
              <a:srgbClr val="FF00FF"/>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Oval 25"/>
          <p:cNvSpPr>
            <a:spLocks noChangeArrowheads="1"/>
          </p:cNvSpPr>
          <p:nvPr/>
        </p:nvSpPr>
        <p:spPr bwMode="auto">
          <a:xfrm>
            <a:off x="6756400" y="5494867"/>
            <a:ext cx="457200" cy="4572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a:solidFill>
                  <a:srgbClr val="00B050"/>
                </a:solidFill>
                <a:latin typeface="Consolas" panose="020B0609020204030204" pitchFamily="49" charset="0"/>
              </a:rPr>
              <a:t>29</a:t>
            </a:r>
            <a:endParaRPr lang="en-US" altLang="zh-CN">
              <a:solidFill>
                <a:srgbClr val="00B050"/>
              </a:solidFill>
              <a:latin typeface="Consolas" panose="020B0609020204030204" pitchFamily="49" charset="0"/>
            </a:endParaRPr>
          </a:p>
        </p:txBody>
      </p:sp>
      <p:sp>
        <p:nvSpPr>
          <p:cNvPr id="59" name="Line 26"/>
          <p:cNvSpPr>
            <a:spLocks noChangeShapeType="1"/>
          </p:cNvSpPr>
          <p:nvPr/>
        </p:nvSpPr>
        <p:spPr bwMode="auto">
          <a:xfrm>
            <a:off x="6375400" y="5037667"/>
            <a:ext cx="533400" cy="533400"/>
          </a:xfrm>
          <a:prstGeom prst="line">
            <a:avLst/>
          </a:prstGeom>
          <a:noFill/>
          <a:ln w="31750">
            <a:solidFill>
              <a:srgbClr val="FF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AutoShape 27"/>
          <p:cNvSpPr>
            <a:spLocks noChangeArrowheads="1"/>
          </p:cNvSpPr>
          <p:nvPr/>
        </p:nvSpPr>
        <p:spPr bwMode="auto">
          <a:xfrm rot="5487719">
            <a:off x="5650707" y="1952361"/>
            <a:ext cx="760412" cy="14478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00 h 21600"/>
              <a:gd name="T14" fmla="*/ 18227 w 21600"/>
              <a:gd name="T15" fmla="*/ 9258 h 21600"/>
            </a:gdLst>
            <a:ahLst/>
            <a:cxnLst>
              <a:cxn ang="T8">
                <a:pos x="T0" y="T1"/>
              </a:cxn>
              <a:cxn ang="T9">
                <a:pos x="T2" y="T3"/>
              </a:cxn>
              <a:cxn ang="T10">
                <a:pos x="T4" y="T5"/>
              </a:cxn>
              <a:cxn ang="T11">
                <a:pos x="T6" y="T7"/>
              </a:cxn>
            </a:cxnLst>
            <a:rect l="T12" t="T13" r="T14" b="T15"/>
            <a:pathLst>
              <a:path w="21600" h="21600">
                <a:moveTo>
                  <a:pt x="21600" y="6079"/>
                </a:moveTo>
                <a:lnTo>
                  <a:pt x="15150" y="0"/>
                </a:lnTo>
                <a:lnTo>
                  <a:pt x="15150" y="2900"/>
                </a:lnTo>
                <a:lnTo>
                  <a:pt x="12427" y="2900"/>
                </a:lnTo>
                <a:cubicBezTo>
                  <a:pt x="5564" y="2900"/>
                  <a:pt x="0" y="7045"/>
                  <a:pt x="0" y="12158"/>
                </a:cubicBezTo>
                <a:lnTo>
                  <a:pt x="0" y="21600"/>
                </a:lnTo>
                <a:lnTo>
                  <a:pt x="6499" y="21600"/>
                </a:lnTo>
                <a:lnTo>
                  <a:pt x="6499" y="12158"/>
                </a:lnTo>
                <a:cubicBezTo>
                  <a:pt x="6499" y="10556"/>
                  <a:pt x="9153" y="9258"/>
                  <a:pt x="12427" y="9258"/>
                </a:cubicBezTo>
                <a:lnTo>
                  <a:pt x="15150" y="9258"/>
                </a:lnTo>
                <a:lnTo>
                  <a:pt x="15150" y="12158"/>
                </a:lnTo>
                <a:lnTo>
                  <a:pt x="21600" y="6079"/>
                </a:lnTo>
                <a:close/>
              </a:path>
            </a:pathLst>
          </a:custGeom>
          <a:solidFill>
            <a:srgbClr val="FFCC99"/>
          </a:solidFill>
          <a:ln w="9525">
            <a:solidFill>
              <a:srgbClr val="993300"/>
            </a:solidFill>
            <a:miter lim="800000"/>
          </a:ln>
        </p:spPr>
        <p:txBody>
          <a:bodyPr wrap="none" anchor="ctr"/>
          <a:lstStyle/>
          <a:p>
            <a:endParaRPr lang="zh-CN" altLang="en-US"/>
          </a:p>
        </p:txBody>
      </p:sp>
      <p:sp>
        <p:nvSpPr>
          <p:cNvPr id="61" name="AutoShape 28"/>
          <p:cNvSpPr>
            <a:spLocks noChangeArrowheads="1"/>
          </p:cNvSpPr>
          <p:nvPr/>
        </p:nvSpPr>
        <p:spPr bwMode="auto">
          <a:xfrm>
            <a:off x="6070600" y="1151467"/>
            <a:ext cx="2209800" cy="533400"/>
          </a:xfrm>
          <a:prstGeom prst="wedgeRoundRectCallout">
            <a:avLst>
              <a:gd name="adj1" fmla="val -63361"/>
              <a:gd name="adj2" fmla="val 153569"/>
              <a:gd name="adj3" fmla="val 16667"/>
            </a:avLst>
          </a:prstGeom>
          <a:solidFill>
            <a:srgbClr val="FFFFCC"/>
          </a:solidFill>
          <a:ln w="9525">
            <a:solidFill>
              <a:srgbClr val="993300"/>
            </a:solidFill>
            <a:miter lim="800000"/>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2800">
                <a:solidFill>
                  <a:srgbClr val="A50021"/>
                </a:solidFill>
                <a:latin typeface="楷体_GB2312" panose="02010609030101010101" pitchFamily="49" charset="-122"/>
              </a:rPr>
              <a:t>向左旋转一次</a:t>
            </a:r>
            <a:endParaRPr lang="zh-CN" altLang="en-US" sz="2800">
              <a:solidFill>
                <a:srgbClr val="A50021"/>
              </a:solidFill>
              <a:latin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up)">
                                      <p:cBhvr>
                                        <p:cTn id="7" dur="500"/>
                                        <p:tgtEl>
                                          <p:spTgt spid="3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3"/>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499"/>
                                          </p:stCondLst>
                                        </p:cTn>
                                        <p:tgtEl>
                                          <p:spTgt spid="37"/>
                                        </p:tgtEl>
                                        <p:attrNameLst>
                                          <p:attrName>style.visibility</p:attrName>
                                        </p:attrNameLst>
                                      </p:cBhvr>
                                      <p:to>
                                        <p:strVal val="visible"/>
                                      </p:to>
                                    </p:se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499"/>
                                          </p:stCondLst>
                                        </p:cTn>
                                        <p:tgtEl>
                                          <p:spTgt spid="36"/>
                                        </p:tgtEl>
                                        <p:attrNameLst>
                                          <p:attrName>style.visibility</p:attrName>
                                        </p:attrNameLst>
                                      </p:cBhvr>
                                      <p:to>
                                        <p:strVal val="visible"/>
                                      </p:to>
                                    </p:set>
                                  </p:childTnLst>
                                </p:cTn>
                              </p:par>
                            </p:childTnLst>
                          </p:cTn>
                        </p:par>
                        <p:par>
                          <p:cTn id="17" fill="hold">
                            <p:stCondLst>
                              <p:cond delay="2000"/>
                            </p:stCondLst>
                            <p:childTnLst>
                              <p:par>
                                <p:cTn id="18" presetID="1" presetClass="entr" presetSubtype="0" fill="hold" nodeType="afterEffect">
                                  <p:stCondLst>
                                    <p:cond delay="0"/>
                                  </p:stCondLst>
                                  <p:childTnLst>
                                    <p:set>
                                      <p:cBhvr>
                                        <p:cTn id="19" dur="1" fill="hold">
                                          <p:stCondLst>
                                            <p:cond delay="499"/>
                                          </p:stCondLst>
                                        </p:cTn>
                                        <p:tgtEl>
                                          <p:spTgt spid="38"/>
                                        </p:tgtEl>
                                        <p:attrNameLst>
                                          <p:attrName>style.visibility</p:attrName>
                                        </p:attrNameLst>
                                      </p:cBhvr>
                                      <p:to>
                                        <p:strVal val="visible"/>
                                      </p:to>
                                    </p:set>
                                  </p:childTnLst>
                                </p:cTn>
                              </p:par>
                            </p:childTnLst>
                          </p:cTn>
                        </p:par>
                        <p:par>
                          <p:cTn id="20" fill="hold">
                            <p:stCondLst>
                              <p:cond delay="2500"/>
                            </p:stCondLst>
                            <p:childTnLst>
                              <p:par>
                                <p:cTn id="21" presetID="1" presetClass="entr" presetSubtype="0" fill="hold" grpId="0" nodeType="afterEffect">
                                  <p:stCondLst>
                                    <p:cond delay="0"/>
                                  </p:stCondLst>
                                  <p:childTnLst>
                                    <p:set>
                                      <p:cBhvr>
                                        <p:cTn id="22" dur="1" fill="hold">
                                          <p:stCondLst>
                                            <p:cond delay="499"/>
                                          </p:stCondLst>
                                        </p:cTn>
                                        <p:tgtEl>
                                          <p:spTgt spid="40"/>
                                        </p:tgtEl>
                                        <p:attrNameLst>
                                          <p:attrName>style.visibility</p:attrName>
                                        </p:attrNameLst>
                                      </p:cBhvr>
                                      <p:to>
                                        <p:strVal val="visible"/>
                                      </p:to>
                                    </p:set>
                                  </p:childTnLst>
                                </p:cTn>
                              </p:par>
                            </p:childTnLst>
                          </p:cTn>
                        </p:par>
                        <p:par>
                          <p:cTn id="23" fill="hold">
                            <p:stCondLst>
                              <p:cond delay="3000"/>
                            </p:stCondLst>
                            <p:childTnLst>
                              <p:par>
                                <p:cTn id="24" presetID="1" presetClass="entr" presetSubtype="0" fill="hold" nodeType="afterEffect">
                                  <p:stCondLst>
                                    <p:cond delay="0"/>
                                  </p:stCondLst>
                                  <p:childTnLst>
                                    <p:set>
                                      <p:cBhvr>
                                        <p:cTn id="25" dur="1" fill="hold">
                                          <p:stCondLst>
                                            <p:cond delay="499"/>
                                          </p:stCondLst>
                                        </p:cTn>
                                        <p:tgtEl>
                                          <p:spTgt spid="42"/>
                                        </p:tgtEl>
                                        <p:attrNameLst>
                                          <p:attrName>style.visibility</p:attrName>
                                        </p:attrNameLst>
                                      </p:cBhvr>
                                      <p:to>
                                        <p:strVal val="visible"/>
                                      </p:to>
                                    </p:set>
                                  </p:childTnLst>
                                </p:cTn>
                              </p:par>
                            </p:childTnLst>
                          </p:cTn>
                        </p:par>
                        <p:par>
                          <p:cTn id="26" fill="hold">
                            <p:stCondLst>
                              <p:cond delay="3500"/>
                            </p:stCondLst>
                            <p:childTnLst>
                              <p:par>
                                <p:cTn id="27" presetID="1" presetClass="entr" presetSubtype="0" fill="hold" grpId="0" nodeType="afterEffect">
                                  <p:stCondLst>
                                    <p:cond delay="0"/>
                                  </p:stCondLst>
                                  <p:childTnLst>
                                    <p:set>
                                      <p:cBhvr>
                                        <p:cTn id="28" dur="1" fill="hold">
                                          <p:stCondLst>
                                            <p:cond delay="499"/>
                                          </p:stCondLst>
                                        </p:cTn>
                                        <p:tgtEl>
                                          <p:spTgt spid="41"/>
                                        </p:tgtEl>
                                        <p:attrNameLst>
                                          <p:attrName>style.visibility</p:attrName>
                                        </p:attrNameLst>
                                      </p:cBhvr>
                                      <p:to>
                                        <p:strVal val="visible"/>
                                      </p:to>
                                    </p:set>
                                  </p:childTnLst>
                                </p:cTn>
                              </p:par>
                            </p:childTnLst>
                          </p:cTn>
                        </p:par>
                        <p:par>
                          <p:cTn id="29" fill="hold">
                            <p:stCondLst>
                              <p:cond delay="4000"/>
                            </p:stCondLst>
                            <p:childTnLst>
                              <p:par>
                                <p:cTn id="30" presetID="1" presetClass="entr" presetSubtype="0" fill="hold" nodeType="afterEffect">
                                  <p:stCondLst>
                                    <p:cond delay="0"/>
                                  </p:stCondLst>
                                  <p:childTnLst>
                                    <p:set>
                                      <p:cBhvr>
                                        <p:cTn id="31" dur="1" fill="hold">
                                          <p:stCondLst>
                                            <p:cond delay="499"/>
                                          </p:stCondLst>
                                        </p:cTn>
                                        <p:tgtEl>
                                          <p:spTgt spid="43"/>
                                        </p:tgtEl>
                                        <p:attrNameLst>
                                          <p:attrName>style.visibility</p:attrName>
                                        </p:attrNameLst>
                                      </p:cBhvr>
                                      <p:to>
                                        <p:strVal val="visible"/>
                                      </p:to>
                                    </p:set>
                                  </p:childTnLst>
                                </p:cTn>
                              </p:par>
                            </p:childTnLst>
                          </p:cTn>
                        </p:par>
                        <p:par>
                          <p:cTn id="32" fill="hold">
                            <p:stCondLst>
                              <p:cond delay="4500"/>
                            </p:stCondLst>
                            <p:childTnLst>
                              <p:par>
                                <p:cTn id="33" presetID="1" presetClass="entr" presetSubtype="0" fill="hold" grpId="0" nodeType="afterEffect">
                                  <p:stCondLst>
                                    <p:cond delay="0"/>
                                  </p:stCondLst>
                                  <p:childTnLst>
                                    <p:set>
                                      <p:cBhvr>
                                        <p:cTn id="34" dur="1" fill="hold">
                                          <p:stCondLst>
                                            <p:cond delay="499"/>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wipe(up)">
                                      <p:cBhvr>
                                        <p:cTn id="39" dur="500"/>
                                        <p:tgtEl>
                                          <p:spTgt spid="46"/>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up)">
                                      <p:cBhvr>
                                        <p:cTn id="43" dur="500"/>
                                        <p:tgtEl>
                                          <p:spTgt spid="4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left)">
                                      <p:cBhvr>
                                        <p:cTn id="48" dur="500"/>
                                        <p:tgtEl>
                                          <p:spTgt spid="4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60"/>
                                        </p:tgtEl>
                                        <p:attrNameLst>
                                          <p:attrName>style.visibility</p:attrName>
                                        </p:attrNameLst>
                                      </p:cBhvr>
                                      <p:to>
                                        <p:strVal val="visible"/>
                                      </p:to>
                                    </p:set>
                                    <p:animEffect transition="in" filter="wipe(left)">
                                      <p:cBhvr>
                                        <p:cTn id="53" dur="500"/>
                                        <p:tgtEl>
                                          <p:spTgt spid="60"/>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wipe(left)">
                                      <p:cBhvr>
                                        <p:cTn id="57" dur="500"/>
                                        <p:tgtEl>
                                          <p:spTgt spid="6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57"/>
                                        </p:tgtEl>
                                        <p:attrNameLst>
                                          <p:attrName>style.visibility</p:attrName>
                                        </p:attrNameLst>
                                      </p:cBhvr>
                                      <p:to>
                                        <p:strVal val="visible"/>
                                      </p:to>
                                    </p:set>
                                    <p:animEffect transition="in" filter="wipe(up)">
                                      <p:cBhvr>
                                        <p:cTn id="62" dur="500"/>
                                        <p:tgtEl>
                                          <p:spTgt spid="57"/>
                                        </p:tgtEl>
                                      </p:cBhvr>
                                    </p:animEffect>
                                  </p:childTnLst>
                                </p:cTn>
                              </p:par>
                            </p:childTnLst>
                          </p:cTn>
                        </p:par>
                        <p:par>
                          <p:cTn id="63" fill="hold">
                            <p:stCondLst>
                              <p:cond delay="500"/>
                            </p:stCondLst>
                            <p:childTnLst>
                              <p:par>
                                <p:cTn id="64" presetID="22" presetClass="entr" presetSubtype="1" fill="hold" grpId="0" nodeType="after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wipe(up)">
                                      <p:cBhvr>
                                        <p:cTn id="66" dur="500"/>
                                        <p:tgtEl>
                                          <p:spTgt spid="48"/>
                                        </p:tgtEl>
                                      </p:cBhvr>
                                    </p:animEffect>
                                  </p:childTnLst>
                                </p:cTn>
                              </p:par>
                            </p:childTnLst>
                          </p:cTn>
                        </p:par>
                        <p:par>
                          <p:cTn id="67" fill="hold">
                            <p:stCondLst>
                              <p:cond delay="1000"/>
                            </p:stCondLst>
                            <p:childTnLst>
                              <p:par>
                                <p:cTn id="68" presetID="22" presetClass="entr" presetSubtype="1" fill="hold" nodeType="afterEffect">
                                  <p:stCondLst>
                                    <p:cond delay="0"/>
                                  </p:stCondLst>
                                  <p:childTnLst>
                                    <p:set>
                                      <p:cBhvr>
                                        <p:cTn id="69" dur="1" fill="hold">
                                          <p:stCondLst>
                                            <p:cond delay="0"/>
                                          </p:stCondLst>
                                        </p:cTn>
                                        <p:tgtEl>
                                          <p:spTgt spid="53"/>
                                        </p:tgtEl>
                                        <p:attrNameLst>
                                          <p:attrName>style.visibility</p:attrName>
                                        </p:attrNameLst>
                                      </p:cBhvr>
                                      <p:to>
                                        <p:strVal val="visible"/>
                                      </p:to>
                                    </p:set>
                                    <p:animEffect transition="in" filter="wipe(up)">
                                      <p:cBhvr>
                                        <p:cTn id="70" dur="500"/>
                                        <p:tgtEl>
                                          <p:spTgt spid="53"/>
                                        </p:tgtEl>
                                      </p:cBhvr>
                                    </p:animEffect>
                                  </p:childTnLst>
                                </p:cTn>
                              </p:par>
                            </p:childTnLst>
                          </p:cTn>
                        </p:par>
                        <p:par>
                          <p:cTn id="71" fill="hold">
                            <p:stCondLst>
                              <p:cond delay="1500"/>
                            </p:stCondLst>
                            <p:childTnLst>
                              <p:par>
                                <p:cTn id="72" presetID="22" presetClass="entr" presetSubtype="1" fill="hold" grpId="0" nodeType="afterEffect">
                                  <p:stCondLst>
                                    <p:cond delay="0"/>
                                  </p:stCondLst>
                                  <p:childTnLst>
                                    <p:set>
                                      <p:cBhvr>
                                        <p:cTn id="73" dur="1" fill="hold">
                                          <p:stCondLst>
                                            <p:cond delay="0"/>
                                          </p:stCondLst>
                                        </p:cTn>
                                        <p:tgtEl>
                                          <p:spTgt spid="54"/>
                                        </p:tgtEl>
                                        <p:attrNameLst>
                                          <p:attrName>style.visibility</p:attrName>
                                        </p:attrNameLst>
                                      </p:cBhvr>
                                      <p:to>
                                        <p:strVal val="visible"/>
                                      </p:to>
                                    </p:set>
                                    <p:animEffect transition="in" filter="wipe(up)">
                                      <p:cBhvr>
                                        <p:cTn id="74" dur="500"/>
                                        <p:tgtEl>
                                          <p:spTgt spid="54"/>
                                        </p:tgtEl>
                                      </p:cBhvr>
                                    </p:animEffect>
                                  </p:childTnLst>
                                </p:cTn>
                              </p:par>
                            </p:childTnLst>
                          </p:cTn>
                        </p:par>
                        <p:par>
                          <p:cTn id="75" fill="hold">
                            <p:stCondLst>
                              <p:cond delay="2000"/>
                            </p:stCondLst>
                            <p:childTnLst>
                              <p:par>
                                <p:cTn id="76" presetID="22" presetClass="entr" presetSubtype="1" fill="hold" nodeType="afterEffect">
                                  <p:stCondLst>
                                    <p:cond delay="0"/>
                                  </p:stCondLst>
                                  <p:childTnLst>
                                    <p:set>
                                      <p:cBhvr>
                                        <p:cTn id="77" dur="1" fill="hold">
                                          <p:stCondLst>
                                            <p:cond delay="0"/>
                                          </p:stCondLst>
                                        </p:cTn>
                                        <p:tgtEl>
                                          <p:spTgt spid="56"/>
                                        </p:tgtEl>
                                        <p:attrNameLst>
                                          <p:attrName>style.visibility</p:attrName>
                                        </p:attrNameLst>
                                      </p:cBhvr>
                                      <p:to>
                                        <p:strVal val="visible"/>
                                      </p:to>
                                    </p:set>
                                    <p:animEffect transition="in" filter="wipe(up)">
                                      <p:cBhvr>
                                        <p:cTn id="78" dur="500"/>
                                        <p:tgtEl>
                                          <p:spTgt spid="56"/>
                                        </p:tgtEl>
                                      </p:cBhvr>
                                    </p:animEffect>
                                  </p:childTnLst>
                                </p:cTn>
                              </p:par>
                            </p:childTnLst>
                          </p:cTn>
                        </p:par>
                        <p:par>
                          <p:cTn id="79" fill="hold">
                            <p:stCondLst>
                              <p:cond delay="2500"/>
                            </p:stCondLst>
                            <p:childTnLst>
                              <p:par>
                                <p:cTn id="80" presetID="22" presetClass="entr" presetSubtype="1" fill="hold" grpId="0" nodeType="afterEffect">
                                  <p:stCondLst>
                                    <p:cond delay="0"/>
                                  </p:stCondLst>
                                  <p:childTnLst>
                                    <p:set>
                                      <p:cBhvr>
                                        <p:cTn id="81" dur="1" fill="hold">
                                          <p:stCondLst>
                                            <p:cond delay="0"/>
                                          </p:stCondLst>
                                        </p:cTn>
                                        <p:tgtEl>
                                          <p:spTgt spid="55"/>
                                        </p:tgtEl>
                                        <p:attrNameLst>
                                          <p:attrName>style.visibility</p:attrName>
                                        </p:attrNameLst>
                                      </p:cBhvr>
                                      <p:to>
                                        <p:strVal val="visible"/>
                                      </p:to>
                                    </p:set>
                                    <p:animEffect transition="in" filter="wipe(up)">
                                      <p:cBhvr>
                                        <p:cTn id="82" dur="500"/>
                                        <p:tgtEl>
                                          <p:spTgt spid="5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wipe(up)">
                                      <p:cBhvr>
                                        <p:cTn id="87" dur="500"/>
                                        <p:tgtEl>
                                          <p:spTgt spid="52"/>
                                        </p:tgtEl>
                                      </p:cBhvr>
                                    </p:animEffect>
                                  </p:childTnLst>
                                </p:cTn>
                              </p:par>
                            </p:childTnLst>
                          </p:cTn>
                        </p:par>
                        <p:par>
                          <p:cTn id="88" fill="hold">
                            <p:stCondLst>
                              <p:cond delay="500"/>
                            </p:stCondLst>
                            <p:childTnLst>
                              <p:par>
                                <p:cTn id="89" presetID="22" presetClass="entr" presetSubtype="1" fill="hold" grpId="0" nodeType="afterEffect">
                                  <p:stCondLst>
                                    <p:cond delay="0"/>
                                  </p:stCondLst>
                                  <p:childTnLst>
                                    <p:set>
                                      <p:cBhvr>
                                        <p:cTn id="90" dur="1" fill="hold">
                                          <p:stCondLst>
                                            <p:cond delay="0"/>
                                          </p:stCondLst>
                                        </p:cTn>
                                        <p:tgtEl>
                                          <p:spTgt spid="49"/>
                                        </p:tgtEl>
                                        <p:attrNameLst>
                                          <p:attrName>style.visibility</p:attrName>
                                        </p:attrNameLst>
                                      </p:cBhvr>
                                      <p:to>
                                        <p:strVal val="visible"/>
                                      </p:to>
                                    </p:set>
                                    <p:animEffect transition="in" filter="wipe(up)">
                                      <p:cBhvr>
                                        <p:cTn id="91" dur="500"/>
                                        <p:tgtEl>
                                          <p:spTgt spid="49"/>
                                        </p:tgtEl>
                                      </p:cBhvr>
                                    </p:animEffect>
                                  </p:childTnLst>
                                </p:cTn>
                              </p:par>
                            </p:childTnLst>
                          </p:cTn>
                        </p:par>
                        <p:par>
                          <p:cTn id="92" fill="hold">
                            <p:stCondLst>
                              <p:cond delay="1000"/>
                            </p:stCondLst>
                            <p:childTnLst>
                              <p:par>
                                <p:cTn id="93" presetID="1" presetClass="entr" presetSubtype="0" fill="hold" nodeType="afterEffect">
                                  <p:stCondLst>
                                    <p:cond delay="0"/>
                                  </p:stCondLst>
                                  <p:childTnLst>
                                    <p:set>
                                      <p:cBhvr>
                                        <p:cTn id="94" dur="1" fill="hold">
                                          <p:stCondLst>
                                            <p:cond delay="499"/>
                                          </p:stCondLst>
                                        </p:cTn>
                                        <p:tgtEl>
                                          <p:spTgt spid="51"/>
                                        </p:tgtEl>
                                        <p:attrNameLst>
                                          <p:attrName>style.visibility</p:attrName>
                                        </p:attrNameLst>
                                      </p:cBhvr>
                                      <p:to>
                                        <p:strVal val="visible"/>
                                      </p:to>
                                    </p:set>
                                  </p:childTnLst>
                                </p:cTn>
                              </p:par>
                            </p:childTnLst>
                          </p:cTn>
                        </p:par>
                        <p:par>
                          <p:cTn id="95" fill="hold">
                            <p:stCondLst>
                              <p:cond delay="1500"/>
                            </p:stCondLst>
                            <p:childTnLst>
                              <p:par>
                                <p:cTn id="96" presetID="1" presetClass="entr" presetSubtype="0" fill="hold" grpId="0" nodeType="afterEffect">
                                  <p:stCondLst>
                                    <p:cond delay="0"/>
                                  </p:stCondLst>
                                  <p:childTnLst>
                                    <p:set>
                                      <p:cBhvr>
                                        <p:cTn id="97" dur="1" fill="hold">
                                          <p:stCondLst>
                                            <p:cond delay="499"/>
                                          </p:stCondLst>
                                        </p:cTn>
                                        <p:tgtEl>
                                          <p:spTgt spid="50"/>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59"/>
                                        </p:tgtEl>
                                        <p:attrNameLst>
                                          <p:attrName>style.visibility</p:attrName>
                                        </p:attrNameLst>
                                      </p:cBhvr>
                                      <p:to>
                                        <p:strVal val="visible"/>
                                      </p:to>
                                    </p:set>
                                    <p:animEffect transition="in" filter="wipe(up)">
                                      <p:cBhvr>
                                        <p:cTn id="102" dur="500"/>
                                        <p:tgtEl>
                                          <p:spTgt spid="59"/>
                                        </p:tgtEl>
                                      </p:cBhvr>
                                    </p:animEffect>
                                  </p:childTnLst>
                                </p:cTn>
                              </p:par>
                            </p:childTnLst>
                          </p:cTn>
                        </p:par>
                        <p:par>
                          <p:cTn id="103" fill="hold">
                            <p:stCondLst>
                              <p:cond delay="500"/>
                            </p:stCondLst>
                            <p:childTnLst>
                              <p:par>
                                <p:cTn id="104" presetID="22" presetClass="entr" presetSubtype="1" fill="hold" grpId="0" nodeType="afterEffect">
                                  <p:stCondLst>
                                    <p:cond delay="0"/>
                                  </p:stCondLst>
                                  <p:childTnLst>
                                    <p:set>
                                      <p:cBhvr>
                                        <p:cTn id="105" dur="1" fill="hold">
                                          <p:stCondLst>
                                            <p:cond delay="0"/>
                                          </p:stCondLst>
                                        </p:cTn>
                                        <p:tgtEl>
                                          <p:spTgt spid="58"/>
                                        </p:tgtEl>
                                        <p:attrNameLst>
                                          <p:attrName>style.visibility</p:attrName>
                                        </p:attrNameLst>
                                      </p:cBhvr>
                                      <p:to>
                                        <p:strVal val="visible"/>
                                      </p:to>
                                    </p:set>
                                    <p:animEffect transition="in" filter="wipe(up)">
                                      <p:cBhvr>
                                        <p:cTn id="10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autoUpdateAnimBg="0"/>
      <p:bldP spid="36" grpId="0" animBg="1" autoUpdateAnimBg="0"/>
      <p:bldP spid="40" grpId="0" animBg="1" autoUpdateAnimBg="0"/>
      <p:bldP spid="41" grpId="0" animBg="1" autoUpdateAnimBg="0"/>
      <p:bldP spid="44" grpId="0" animBg="1" autoUpdateAnimBg="0"/>
      <p:bldP spid="45" grpId="0" animBg="1" autoUpdateAnimBg="0"/>
      <p:bldP spid="47" grpId="0" animBg="1"/>
      <p:bldP spid="48" grpId="0" animBg="1" autoUpdateAnimBg="0"/>
      <p:bldP spid="49" grpId="0" animBg="1" autoUpdateAnimBg="0"/>
      <p:bldP spid="50" grpId="0" animBg="1" autoUpdateAnimBg="0"/>
      <p:bldP spid="54" grpId="0" animBg="1" autoUpdateAnimBg="0"/>
      <p:bldP spid="55" grpId="0" animBg="1" autoUpdateAnimBg="0"/>
      <p:bldP spid="58" grpId="0" animBg="1" autoUpdateAnimBg="0"/>
      <p:bldP spid="61"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平衡二叉排序树的算法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2" name="Rectangle 4"/>
          <p:cNvSpPr>
            <a:spLocks noChangeArrowheads="1"/>
          </p:cNvSpPr>
          <p:nvPr/>
        </p:nvSpPr>
        <p:spPr bwMode="auto">
          <a:xfrm>
            <a:off x="579966" y="965082"/>
            <a:ext cx="11032067" cy="3459691"/>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对以</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为根的二叉排序树作左旋操作。操作后</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指向新的树根结点</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ElemType,class</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void AVL&lt;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::_</a:t>
            </a:r>
            <a:r>
              <a:rPr lang="en-US" altLang="zh-CN" b="0" dirty="0" err="1">
                <a:latin typeface="Times New Roman" panose="02020603050405020304" pitchFamily="18" charset="0"/>
                <a:cs typeface="Times New Roman" panose="02020603050405020304" pitchFamily="18" charset="0"/>
              </a:rPr>
              <a:t>LRotate</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AVLNode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 &amp;T)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AVLNode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 = T-&gt;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0" dirty="0" err="1">
                <a:latin typeface="微软雅黑" panose="020B0503020204020204" pitchFamily="34" charset="-122"/>
                <a:ea typeface="微软雅黑" panose="020B0503020204020204" pitchFamily="34" charset="-122"/>
                <a:cs typeface="微软雅黑" panose="020B0503020204020204" pitchFamily="34" charset="-122"/>
              </a:rPr>
              <a:t>TempAVL</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指向</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的右子树的根结点</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T-&gt;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b="0" dirty="0" err="1">
                <a:latin typeface="微软雅黑" panose="020B0503020204020204" pitchFamily="34" charset="-122"/>
                <a:ea typeface="微软雅黑" panose="020B0503020204020204" pitchFamily="34" charset="-122"/>
                <a:cs typeface="微软雅黑" panose="020B0503020204020204" pitchFamily="34" charset="-122"/>
              </a:rPr>
              <a:t>TempAVL</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的左子树挂接作为</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的右子树</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T =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指向新的树根结点</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平衡二叉排序树的算法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2" name="Rectangle 4"/>
          <p:cNvSpPr>
            <a:spLocks noChangeArrowheads="1"/>
          </p:cNvSpPr>
          <p:nvPr/>
        </p:nvSpPr>
        <p:spPr bwMode="auto">
          <a:xfrm>
            <a:off x="579966" y="965082"/>
            <a:ext cx="11032067" cy="3316816"/>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对以</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为根的二叉排序树作右旋操作，操作后</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指向新的树根结点</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ElemType,class</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void AVL&lt;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_</a:t>
            </a:r>
            <a:r>
              <a:rPr lang="en-US" altLang="zh-CN" b="0" dirty="0" err="1">
                <a:latin typeface="Times New Roman" panose="02020603050405020304" pitchFamily="18" charset="0"/>
                <a:cs typeface="Times New Roman" panose="02020603050405020304" pitchFamily="18" charset="0"/>
              </a:rPr>
              <a:t>RRotate</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AVLNode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 &amp;T)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AVLNode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 *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 = T-&gt;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0" dirty="0" err="1">
                <a:latin typeface="微软雅黑" panose="020B0503020204020204" pitchFamily="34" charset="-122"/>
                <a:ea typeface="微软雅黑" panose="020B0503020204020204" pitchFamily="34" charset="-122"/>
                <a:cs typeface="微软雅黑" panose="020B0503020204020204" pitchFamily="34" charset="-122"/>
              </a:rPr>
              <a:t>TempAVL</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指向</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的左子树的根结点</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T-&gt;</a:t>
            </a:r>
            <a:r>
              <a:rPr lang="en-US" altLang="zh-CN" b="0" dirty="0" err="1">
                <a:latin typeface="Times New Roman" panose="02020603050405020304" pitchFamily="18" charset="0"/>
                <a:cs typeface="Times New Roman" panose="02020603050405020304" pitchFamily="18" charset="0"/>
              </a:rPr>
              <a:t>lchild</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b="0" dirty="0" err="1">
                <a:latin typeface="微软雅黑" panose="020B0503020204020204" pitchFamily="34" charset="-122"/>
                <a:ea typeface="微软雅黑" panose="020B0503020204020204" pitchFamily="34" charset="-122"/>
                <a:cs typeface="微软雅黑" panose="020B0503020204020204" pitchFamily="34" charset="-122"/>
              </a:rPr>
              <a:t>TempAVL</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的右子树挂接作为</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的左子树</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-&gt;</a:t>
            </a:r>
            <a:r>
              <a:rPr lang="en-US" altLang="zh-CN" b="0" dirty="0" err="1">
                <a:latin typeface="Times New Roman" panose="02020603050405020304" pitchFamily="18" charset="0"/>
                <a:cs typeface="Times New Roman" panose="02020603050405020304" pitchFamily="18" charset="0"/>
              </a:rPr>
              <a:t>rchild</a:t>
            </a:r>
            <a:r>
              <a:rPr lang="en-US" altLang="zh-CN" b="0" dirty="0">
                <a:latin typeface="Times New Roman" panose="02020603050405020304" pitchFamily="18" charset="0"/>
                <a:cs typeface="Times New Roman" panose="02020603050405020304" pitchFamily="18" charset="0"/>
              </a:rPr>
              <a:t> = 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T = </a:t>
            </a:r>
            <a:r>
              <a:rPr lang="en-US" altLang="zh-CN" b="0" dirty="0" err="1">
                <a:latin typeface="Times New Roman" panose="02020603050405020304" pitchFamily="18" charset="0"/>
                <a:cs typeface="Times New Roman" panose="02020603050405020304" pitchFamily="18" charset="0"/>
              </a:rPr>
              <a:t>TempAVL</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指向新的树根结点</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平衡二叉排序树查找性能</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Text Box 2"/>
          <p:cNvSpPr txBox="1">
            <a:spLocks noChangeArrowheads="1"/>
          </p:cNvSpPr>
          <p:nvPr/>
        </p:nvSpPr>
        <p:spPr bwMode="auto">
          <a:xfrm>
            <a:off x="634999" y="965082"/>
            <a:ext cx="10704643" cy="979755"/>
          </a:xfrm>
          <a:prstGeom prst="rect">
            <a:avLst/>
          </a:prstGeom>
          <a:noFill/>
          <a:ln w="9525">
            <a:noFill/>
            <a:miter lim="800000"/>
          </a:ln>
          <a:effectLst/>
        </p:spPr>
        <p:txBody>
          <a:bodyPr wrap="square">
            <a:spAutoFit/>
          </a:bodyPr>
          <a:lstStyle/>
          <a:p>
            <a:pPr eaLnBrk="1" hangingPunct="1">
              <a:lnSpc>
                <a:spcPct val="125000"/>
              </a:lnSpc>
              <a:defRPr/>
            </a:pPr>
            <a:r>
              <a:rPr lang="zh-CN" altLang="en-US" sz="2400" b="0" dirty="0">
                <a:solidFill>
                  <a:schemeClr val="tx1"/>
                </a:solidFill>
                <a:latin typeface="微软雅黑" panose="020B0503020204020204" pitchFamily="34" charset="-122"/>
                <a:ea typeface="微软雅黑" panose="020B0503020204020204" pitchFamily="34" charset="-122"/>
              </a:rPr>
              <a:t>在平衡二叉排序树上进行查找的过程和二叉排序树相同，因此，查找过程中和给定值进行比较的关键字的个数不超过平衡 二叉排序树的深度。</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sp>
        <p:nvSpPr>
          <p:cNvPr id="3" name="Text Box 4"/>
          <p:cNvSpPr txBox="1">
            <a:spLocks noChangeArrowheads="1"/>
          </p:cNvSpPr>
          <p:nvPr/>
        </p:nvSpPr>
        <p:spPr bwMode="auto">
          <a:xfrm>
            <a:off x="635000" y="2946282"/>
            <a:ext cx="10704642" cy="979755"/>
          </a:xfrm>
          <a:prstGeom prst="rect">
            <a:avLst/>
          </a:prstGeom>
          <a:noFill/>
          <a:ln w="9525">
            <a:noFill/>
            <a:miter lim="800000"/>
          </a:ln>
          <a:effectLst/>
        </p:spPr>
        <p:txBody>
          <a:bodyPr wrap="square">
            <a:spAutoFit/>
          </a:bodyPr>
          <a:lstStyle/>
          <a:p>
            <a:pPr>
              <a:lnSpc>
                <a:spcPct val="125000"/>
              </a:lnSpc>
              <a:defRPr/>
            </a:pPr>
            <a:r>
              <a:rPr lang="zh-CN" altLang="en-US" sz="2400" dirty="0">
                <a:latin typeface="微软雅黑" panose="020B0503020204020204" pitchFamily="34" charset="-122"/>
                <a:ea typeface="微软雅黑" panose="020B0503020204020204" pitchFamily="34" charset="-122"/>
              </a:rPr>
              <a:t>在平衡二叉排序树上进行查找时，查找过程中和给定值进行比较的关键字的个数和 </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log n</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相当。即查找的时间复杂度为</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O(log n)</a:t>
            </a:r>
            <a:r>
              <a:rPr lang="zh-CN" altLang="en-US"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Righ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6.3.3 B-</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树和</a:t>
            </a:r>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516467" y="965082"/>
            <a:ext cx="10981266" cy="5638800"/>
          </a:xfrm>
        </p:spPr>
        <p:txBody>
          <a:bodyPr>
            <a:normAutofit/>
          </a:bodyPr>
          <a:lstStyle/>
          <a:p>
            <a:pPr>
              <a:lnSpc>
                <a:spcPct val="125000"/>
              </a:lnSpc>
            </a:pP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树是一种多路平衡查找树。</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定义：一棵</a:t>
            </a:r>
            <a:r>
              <a:rPr lang="en-US" altLang="zh-CN" sz="2400" i="1"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阶的</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树，或者是空树，或者为满足如下性质的</a:t>
            </a:r>
            <a:r>
              <a:rPr lang="en-US" altLang="zh-CN" sz="2400" i="1"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叉树。</a:t>
            </a:r>
            <a:endParaRPr lang="en-US" altLang="zh-CN" sz="2400" dirty="0">
              <a:latin typeface="微软雅黑" panose="020B0503020204020204" pitchFamily="34" charset="-122"/>
              <a:ea typeface="微软雅黑" panose="020B0503020204020204" pitchFamily="34" charset="-122"/>
            </a:endParaRPr>
          </a:p>
          <a:p>
            <a:pPr lvl="1">
              <a:lnSpc>
                <a:spcPct val="125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树中每个结点至多有</a:t>
            </a:r>
            <a:r>
              <a:rPr lang="en-US" altLang="zh-CN" sz="2000" i="1" dirty="0">
                <a:solidFill>
                  <a:srgbClr val="C00000"/>
                </a:solidFill>
                <a:latin typeface="微软雅黑" panose="020B0503020204020204" pitchFamily="34" charset="-122"/>
                <a:ea typeface="微软雅黑" panose="020B0503020204020204" pitchFamily="34" charset="-122"/>
              </a:rPr>
              <a:t>m </a:t>
            </a:r>
            <a:r>
              <a:rPr lang="zh-CN" altLang="en-US" sz="2000" dirty="0">
                <a:latin typeface="微软雅黑" panose="020B0503020204020204" pitchFamily="34" charset="-122"/>
                <a:ea typeface="微软雅黑" panose="020B0503020204020204" pitchFamily="34" charset="-122"/>
              </a:rPr>
              <a:t>棵子树。</a:t>
            </a:r>
            <a:endParaRPr lang="en-US" altLang="zh-CN" sz="2000" dirty="0">
              <a:latin typeface="微软雅黑" panose="020B0503020204020204" pitchFamily="34" charset="-122"/>
              <a:ea typeface="微软雅黑" panose="020B0503020204020204" pitchFamily="34" charset="-122"/>
            </a:endParaRPr>
          </a:p>
          <a:p>
            <a:pPr lvl="1">
              <a:lnSpc>
                <a:spcPct val="125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若根结点不是叶子结点，则至少有</a:t>
            </a:r>
            <a:r>
              <a:rPr lang="zh-CN" altLang="en-US" sz="2000" dirty="0">
                <a:solidFill>
                  <a:srgbClr val="C00000"/>
                </a:solidFill>
                <a:latin typeface="微软雅黑" panose="020B0503020204020204" pitchFamily="34" charset="-122"/>
                <a:ea typeface="微软雅黑" panose="020B0503020204020204" pitchFamily="34" charset="-122"/>
              </a:rPr>
              <a:t>两</a:t>
            </a:r>
            <a:r>
              <a:rPr lang="zh-CN" altLang="en-US" sz="2000" dirty="0">
                <a:latin typeface="微软雅黑" panose="020B0503020204020204" pitchFamily="34" charset="-122"/>
                <a:ea typeface="微软雅黑" panose="020B0503020204020204" pitchFamily="34" charset="-122"/>
              </a:rPr>
              <a:t>棵子树。</a:t>
            </a:r>
            <a:endParaRPr lang="en-US" altLang="zh-CN" sz="2000" dirty="0">
              <a:latin typeface="微软雅黑" panose="020B0503020204020204" pitchFamily="34" charset="-122"/>
              <a:ea typeface="微软雅黑" panose="020B0503020204020204" pitchFamily="34" charset="-122"/>
            </a:endParaRPr>
          </a:p>
          <a:p>
            <a:pPr lvl="1">
              <a:lnSpc>
                <a:spcPct val="125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除根结点之外的所有非终端结点至少有</a:t>
            </a:r>
            <a:r>
              <a:rPr lang="zh-CN" altLang="en-US" sz="2000" dirty="0">
                <a:solidFill>
                  <a:srgbClr val="A50021"/>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b="1" i="1" dirty="0">
                <a:solidFill>
                  <a:srgbClr val="A50021"/>
                </a:solidFill>
                <a:latin typeface="微软雅黑" panose="020B0503020204020204" pitchFamily="34" charset="-122"/>
                <a:ea typeface="微软雅黑" panose="020B0503020204020204" pitchFamily="34" charset="-122"/>
                <a:sym typeface="Symbol" panose="05050102010706020507" pitchFamily="18" charset="2"/>
              </a:rPr>
              <a:t>m/2</a:t>
            </a:r>
            <a:r>
              <a:rPr lang="en-US" altLang="zh-CN" sz="2000" dirty="0">
                <a:solidFill>
                  <a:srgbClr val="A50021"/>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棵子树。</a:t>
            </a:r>
            <a:endParaRPr lang="en-US" altLang="zh-CN" sz="2000" dirty="0">
              <a:latin typeface="微软雅黑" panose="020B0503020204020204" pitchFamily="34" charset="-122"/>
              <a:ea typeface="微软雅黑" panose="020B0503020204020204" pitchFamily="34" charset="-122"/>
              <a:sym typeface="Symbol" panose="05050102010706020507" pitchFamily="18" charset="2"/>
            </a:endParaRPr>
          </a:p>
          <a:p>
            <a:pPr lvl="1">
              <a:lnSpc>
                <a:spcPct val="125000"/>
              </a:lnSpc>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所有的非终端结点中包含以下信息数据：</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A</a:t>
            </a:r>
            <a:r>
              <a:rPr lang="en-US" altLang="zh-CN" sz="2000" baseline="-25000" dirty="0">
                <a:latin typeface="微软雅黑" panose="020B0503020204020204" pitchFamily="34" charset="-122"/>
                <a:ea typeface="微软雅黑" panose="020B0503020204020204" pitchFamily="34" charset="-122"/>
              </a:rPr>
              <a:t>0</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K</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A</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K</a:t>
            </a:r>
            <a:r>
              <a:rPr lang="en-US" altLang="zh-CN" sz="2000" baseline="-25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 …, </a:t>
            </a:r>
            <a:r>
              <a:rPr lang="en-US" altLang="zh-CN" sz="2000" i="1" dirty="0" err="1">
                <a:latin typeface="微软雅黑" panose="020B0503020204020204" pitchFamily="34" charset="-122"/>
                <a:ea typeface="微软雅黑" panose="020B0503020204020204" pitchFamily="34" charset="-122"/>
              </a:rPr>
              <a:t>K</a:t>
            </a:r>
            <a:r>
              <a:rPr lang="en-US" altLang="zh-CN" sz="2000" i="1" baseline="-25000" dirty="0" err="1">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 </a:t>
            </a:r>
            <a:r>
              <a:rPr lang="en-US" altLang="zh-CN" sz="2000" i="1" dirty="0">
                <a:latin typeface="微软雅黑" panose="020B0503020204020204" pitchFamily="34" charset="-122"/>
                <a:ea typeface="微软雅黑" panose="020B0503020204020204" pitchFamily="34" charset="-122"/>
              </a:rPr>
              <a:t>A</a:t>
            </a:r>
            <a:r>
              <a:rPr lang="en-US" altLang="zh-CN" sz="2000" i="1" baseline="-25000"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。其中：</a:t>
            </a:r>
            <a:r>
              <a:rPr lang="en-US" altLang="zh-CN" sz="2000" i="1" dirty="0">
                <a:latin typeface="微软雅黑" panose="020B0503020204020204" pitchFamily="34" charset="-122"/>
                <a:ea typeface="微软雅黑" panose="020B0503020204020204" pitchFamily="34" charset="-122"/>
              </a:rPr>
              <a:t>K</a:t>
            </a:r>
            <a:r>
              <a:rPr lang="en-US" altLang="zh-CN" sz="2000" i="1" baseline="-25000" dirty="0">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en-US" altLang="zh-CN" sz="2000" i="1" dirty="0" err="1">
                <a:latin typeface="微软雅黑" panose="020B0503020204020204" pitchFamily="34" charset="-122"/>
                <a:ea typeface="微软雅黑" panose="020B0503020204020204" pitchFamily="34" charset="-122"/>
              </a:rPr>
              <a:t>i</a:t>
            </a:r>
            <a:r>
              <a:rPr lang="en-US" altLang="zh-CN" sz="2000" i="1"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1,…,</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为关键字，且</a:t>
            </a:r>
            <a:r>
              <a:rPr lang="en-US" altLang="zh-CN" sz="2000" i="1" dirty="0">
                <a:latin typeface="微软雅黑" panose="020B0503020204020204" pitchFamily="34" charset="-122"/>
                <a:ea typeface="微软雅黑" panose="020B0503020204020204" pitchFamily="34" charset="-122"/>
              </a:rPr>
              <a:t>K</a:t>
            </a:r>
            <a:r>
              <a:rPr lang="en-US" altLang="zh-CN" sz="2000" i="1" baseline="-25000" dirty="0">
                <a:latin typeface="微软雅黑" panose="020B0503020204020204" pitchFamily="34" charset="-122"/>
                <a:ea typeface="微软雅黑" panose="020B0503020204020204" pitchFamily="34" charset="-122"/>
              </a:rPr>
              <a:t>i </a:t>
            </a:r>
            <a:r>
              <a:rPr lang="en-US" altLang="zh-CN" sz="2000" dirty="0">
                <a:latin typeface="微软雅黑" panose="020B0503020204020204" pitchFamily="34" charset="-122"/>
                <a:ea typeface="微软雅黑" panose="020B0503020204020204" pitchFamily="34" charset="-122"/>
              </a:rPr>
              <a:t>&lt; </a:t>
            </a:r>
            <a:r>
              <a:rPr lang="en-US" altLang="zh-CN" sz="2000" i="1" dirty="0">
                <a:latin typeface="微软雅黑" panose="020B0503020204020204" pitchFamily="34" charset="-122"/>
                <a:ea typeface="微软雅黑" panose="020B0503020204020204" pitchFamily="34" charset="-122"/>
              </a:rPr>
              <a:t>K</a:t>
            </a:r>
            <a:r>
              <a:rPr lang="en-US" altLang="zh-CN" sz="2000" i="1" baseline="-25000" dirty="0">
                <a:latin typeface="微软雅黑" panose="020B0503020204020204" pitchFamily="34" charset="-122"/>
                <a:ea typeface="微软雅黑" panose="020B0503020204020204" pitchFamily="34" charset="-122"/>
              </a:rPr>
              <a:t>i</a:t>
            </a:r>
            <a:r>
              <a:rPr lang="en-US" altLang="zh-CN" sz="2000" baseline="-25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a:t>
            </a:r>
            <a:r>
              <a:rPr lang="en-US" altLang="zh-CN" sz="2000" i="1"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 = 1,…, </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A</a:t>
            </a:r>
            <a:r>
              <a:rPr lang="en-US" altLang="zh-CN" sz="2000" i="1" baseline="-25000" dirty="0">
                <a:latin typeface="微软雅黑" panose="020B0503020204020204" pitchFamily="34" charset="-122"/>
                <a:ea typeface="微软雅黑" panose="020B0503020204020204" pitchFamily="34" charset="-122"/>
              </a:rPr>
              <a:t>i </a:t>
            </a:r>
            <a:r>
              <a:rPr lang="en-US" altLang="zh-CN" sz="2000" dirty="0">
                <a:latin typeface="微软雅黑" panose="020B0503020204020204" pitchFamily="34" charset="-122"/>
                <a:ea typeface="微软雅黑" panose="020B0503020204020204" pitchFamily="34" charset="-122"/>
              </a:rPr>
              <a:t>(</a:t>
            </a:r>
            <a:r>
              <a:rPr lang="en-US" altLang="zh-CN" sz="2000" i="1" dirty="0" err="1">
                <a:latin typeface="微软雅黑" panose="020B0503020204020204" pitchFamily="34" charset="-122"/>
                <a:ea typeface="微软雅黑" panose="020B0503020204020204" pitchFamily="34" charset="-122"/>
              </a:rPr>
              <a:t>i</a:t>
            </a:r>
            <a:r>
              <a:rPr lang="en-US" altLang="zh-CN" sz="2000" i="1"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0, …, </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为指向子树根结点的指针，且指针</a:t>
            </a:r>
            <a:r>
              <a:rPr lang="en-US" altLang="zh-CN" sz="2000" i="1" dirty="0">
                <a:latin typeface="微软雅黑" panose="020B0503020204020204" pitchFamily="34" charset="-122"/>
                <a:ea typeface="微软雅黑" panose="020B0503020204020204" pitchFamily="34" charset="-122"/>
              </a:rPr>
              <a:t>A</a:t>
            </a:r>
            <a:r>
              <a:rPr lang="en-US" altLang="zh-CN" sz="2000" i="1" baseline="-25000" dirty="0">
                <a:latin typeface="微软雅黑" panose="020B0503020204020204" pitchFamily="34" charset="-122"/>
                <a:ea typeface="微软雅黑" panose="020B0503020204020204" pitchFamily="34" charset="-122"/>
              </a:rPr>
              <a:t>i</a:t>
            </a:r>
            <a:r>
              <a:rPr lang="en-US" altLang="zh-CN" sz="2000" baseline="-25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所指子树中所有结点的关键字均小于</a:t>
            </a:r>
            <a:r>
              <a:rPr lang="en-US" altLang="zh-CN" sz="2000" i="1" dirty="0">
                <a:latin typeface="微软雅黑" panose="020B0503020204020204" pitchFamily="34" charset="-122"/>
                <a:ea typeface="微软雅黑" panose="020B0503020204020204" pitchFamily="34" charset="-122"/>
              </a:rPr>
              <a:t>K</a:t>
            </a:r>
            <a:r>
              <a:rPr lang="en-US" altLang="zh-CN" sz="2000" i="1" baseline="-25000" dirty="0">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 (</a:t>
            </a:r>
            <a:r>
              <a:rPr lang="en-US" altLang="zh-CN" sz="2000" i="1" dirty="0" err="1">
                <a:latin typeface="微软雅黑" panose="020B0503020204020204" pitchFamily="34" charset="-122"/>
                <a:ea typeface="微软雅黑" panose="020B0503020204020204" pitchFamily="34" charset="-122"/>
              </a:rPr>
              <a:t>i</a:t>
            </a:r>
            <a:r>
              <a:rPr lang="en-US" altLang="zh-CN" sz="2000" i="1"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1, 2, …, </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A</a:t>
            </a:r>
            <a:r>
              <a:rPr lang="en-US" altLang="zh-CN" sz="2000" i="1" baseline="-25000" dirty="0">
                <a:latin typeface="微软雅黑" panose="020B0503020204020204" pitchFamily="34" charset="-122"/>
                <a:ea typeface="微软雅黑" panose="020B0503020204020204" pitchFamily="34" charset="-122"/>
              </a:rPr>
              <a:t>n</a:t>
            </a:r>
            <a:r>
              <a:rPr lang="zh-CN" altLang="zh-CN" sz="2000" dirty="0">
                <a:latin typeface="微软雅黑" panose="020B0503020204020204" pitchFamily="34" charset="-122"/>
                <a:ea typeface="微软雅黑" panose="020B0503020204020204" pitchFamily="34" charset="-122"/>
              </a:rPr>
              <a:t>所指子树中所有结点的关键字均大于</a:t>
            </a:r>
            <a:r>
              <a:rPr lang="en-US" altLang="zh-CN" sz="2000" i="1" dirty="0" err="1">
                <a:latin typeface="微软雅黑" panose="020B0503020204020204" pitchFamily="34" charset="-122"/>
                <a:ea typeface="微软雅黑" panose="020B0503020204020204" pitchFamily="34" charset="-122"/>
              </a:rPr>
              <a:t>K</a:t>
            </a:r>
            <a:r>
              <a:rPr lang="en-US" altLang="zh-CN" sz="2000" i="1" baseline="-25000" dirty="0" err="1">
                <a:latin typeface="微软雅黑" panose="020B0503020204020204" pitchFamily="34" charset="-122"/>
                <a:ea typeface="微软雅黑" panose="020B0503020204020204" pitchFamily="34" charset="-122"/>
              </a:rPr>
              <a:t>n</a:t>
            </a:r>
            <a:r>
              <a:rPr lang="zh-CN"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n </a:t>
            </a:r>
            <a:r>
              <a:rPr lang="en-US"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i="1" dirty="0">
                <a:latin typeface="微软雅黑" panose="020B0503020204020204" pitchFamily="34" charset="-122"/>
                <a:ea typeface="微软雅黑" panose="020B0503020204020204" pitchFamily="34" charset="-122"/>
              </a:rPr>
              <a:t>m</a:t>
            </a:r>
            <a:r>
              <a:rPr lang="en-US" altLang="zh-CN" sz="2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1≤</a:t>
            </a:r>
            <a:r>
              <a:rPr lang="en-US" altLang="zh-CN" sz="2000" i="1" dirty="0">
                <a:latin typeface="微软雅黑" panose="020B0503020204020204" pitchFamily="34" charset="-122"/>
                <a:ea typeface="微软雅黑" panose="020B0503020204020204" pitchFamily="34" charset="-122"/>
              </a:rPr>
              <a:t>n</a:t>
            </a:r>
            <a:r>
              <a:rPr lang="en-US" altLang="zh-CN" sz="2000" dirty="0">
                <a:latin typeface="微软雅黑" panose="020B0503020204020204" pitchFamily="34" charset="-122"/>
                <a:ea typeface="微软雅黑" panose="020B0503020204020204" pitchFamily="34" charset="-122"/>
              </a:rPr>
              <a:t>≤</a:t>
            </a:r>
            <a:r>
              <a:rPr lang="en-US" altLang="zh-CN" sz="2000" i="1" dirty="0">
                <a:latin typeface="微软雅黑" panose="020B0503020204020204" pitchFamily="34" charset="-122"/>
                <a:ea typeface="微软雅黑" panose="020B0503020204020204" pitchFamily="34" charset="-122"/>
              </a:rPr>
              <a:t>m</a:t>
            </a:r>
            <a:r>
              <a:rPr lang="en-US" altLang="zh-CN"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为关键字的个数。</a:t>
            </a:r>
            <a:endParaRPr lang="en-US" altLang="zh-CN" sz="2000" dirty="0">
              <a:latin typeface="微软雅黑" panose="020B0503020204020204" pitchFamily="34" charset="-122"/>
              <a:ea typeface="微软雅黑" panose="020B0503020204020204" pitchFamily="34" charset="-122"/>
            </a:endParaRPr>
          </a:p>
          <a:p>
            <a:pPr lvl="1">
              <a:lnSpc>
                <a:spcPct val="125000"/>
              </a:lnSpc>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所有的叶子结点都出现在同一层次，</a:t>
            </a:r>
            <a:r>
              <a:rPr lang="zh-CN" altLang="en-US" sz="2000" dirty="0">
                <a:latin typeface="微软雅黑" panose="020B0503020204020204" pitchFamily="34" charset="-122"/>
                <a:ea typeface="微软雅黑" panose="020B0503020204020204" pitchFamily="34" charset="-122"/>
              </a:rPr>
              <a:t>不</a:t>
            </a:r>
            <a:r>
              <a:rPr lang="zh-CN" altLang="zh-CN" sz="2000" dirty="0">
                <a:latin typeface="微软雅黑" panose="020B0503020204020204" pitchFamily="34" charset="-122"/>
                <a:ea typeface="微软雅黑" panose="020B0503020204020204" pitchFamily="34" charset="-122"/>
              </a:rPr>
              <a:t>含任何信息</a:t>
            </a:r>
            <a:r>
              <a:rPr lang="zh-CN" altLang="en-US" sz="2000" dirty="0">
                <a:latin typeface="微软雅黑" panose="020B0503020204020204" pitchFamily="34" charset="-122"/>
                <a:ea typeface="微软雅黑" panose="020B0503020204020204" pitchFamily="34" charset="-122"/>
              </a:rPr>
              <a:t>。可看作是查找失败的结点（实际上，这些结点并不存在）</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519803" y="990600"/>
            <a:ext cx="10135449" cy="5178994"/>
          </a:xfrm>
        </p:spPr>
        <p:txBody>
          <a:bodyPr/>
          <a:lstStyle/>
          <a:p>
            <a:pPr lvl="1">
              <a:buFontTx/>
              <a:buNone/>
            </a:pPr>
            <a:r>
              <a:rPr lang="zh-CN" altLang="en-US"/>
              <a:t>例：一棵</a:t>
            </a:r>
            <a:r>
              <a:rPr lang="en-US" altLang="zh-CN"/>
              <a:t>5</a:t>
            </a:r>
            <a:r>
              <a:rPr lang="zh-CN" altLang="en-US"/>
              <a:t>阶的</a:t>
            </a:r>
            <a:r>
              <a:rPr lang="en-US" altLang="zh-CN"/>
              <a:t>B-</a:t>
            </a:r>
            <a:r>
              <a:rPr lang="zh-CN" altLang="en-US"/>
              <a:t>树</a:t>
            </a:r>
            <a:endParaRPr lang="zh-CN" altLang="en-US"/>
          </a:p>
        </p:txBody>
      </p:sp>
      <p:graphicFrame>
        <p:nvGraphicFramePr>
          <p:cNvPr id="6" name="Object 1"/>
          <p:cNvGraphicFramePr>
            <a:graphicFrameLocks noChangeAspect="1"/>
          </p:cNvGraphicFramePr>
          <p:nvPr/>
        </p:nvGraphicFramePr>
        <p:xfrm>
          <a:off x="291203" y="1600199"/>
          <a:ext cx="10698529" cy="4880031"/>
        </p:xfrm>
        <a:graphic>
          <a:graphicData uri="http://schemas.openxmlformats.org/presentationml/2006/ole">
            <mc:AlternateContent xmlns:mc="http://schemas.openxmlformats.org/markup-compatibility/2006">
              <mc:Choice xmlns:v="urn:schemas-microsoft-com:vml" Requires="v">
                <p:oleObj spid="_x0000_s3077" name="Visio" r:id="rId1" imgW="6562090" imgH="2752090" progId="Visio.Drawing.11">
                  <p:embed/>
                </p:oleObj>
              </mc:Choice>
              <mc:Fallback>
                <p:oleObj name="Visio" r:id="rId1" imgW="6562090" imgH="275209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203" y="1600199"/>
                        <a:ext cx="10698529" cy="4880031"/>
                      </a:xfrm>
                      <a:prstGeom prst="rect">
                        <a:avLst/>
                      </a:prstGeom>
                      <a:noFill/>
                      <a:ln>
                        <a:noFill/>
                      </a:ln>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树的查找</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Text Box 2"/>
          <p:cNvSpPr txBox="1">
            <a:spLocks noGrp="1" noChangeArrowheads="1"/>
          </p:cNvSpPr>
          <p:nvPr>
            <p:ph idx="1"/>
          </p:nvPr>
        </p:nvSpPr>
        <p:spPr bwMode="auto">
          <a:xfrm>
            <a:off x="533400" y="1007266"/>
            <a:ext cx="11049000" cy="1085810"/>
          </a:xfrm>
        </p:spPr>
        <p:txBody>
          <a:bodyPr wrap="square">
            <a:spAutoFit/>
          </a:bodyPr>
          <a:lstStyle/>
          <a:p>
            <a:pPr>
              <a:lnSpc>
                <a:spcPct val="130000"/>
              </a:lnSpc>
              <a:buFontTx/>
              <a:buNone/>
              <a:defRPr/>
            </a:pPr>
            <a:r>
              <a:rPr lang="en-US" altLang="zh-CN" dirty="0">
                <a:latin typeface="+mn-ea"/>
              </a:rPr>
              <a:t> </a:t>
            </a:r>
            <a:r>
              <a:rPr lang="zh-CN" altLang="en-US" sz="2400" dirty="0">
                <a:latin typeface="微软雅黑" panose="020B0503020204020204" pitchFamily="34" charset="-122"/>
                <a:ea typeface="微软雅黑" panose="020B0503020204020204" pitchFamily="34" charset="-122"/>
              </a:rPr>
              <a:t>从根结点出发，沿指针搜索结点和在结点内进行顺序（或折半）查找 两个过程交叉进行。</a:t>
            </a:r>
            <a:endParaRPr lang="zh-CN" altLang="en-US" dirty="0">
              <a:latin typeface="微软雅黑" panose="020B0503020204020204" pitchFamily="34" charset="-122"/>
              <a:ea typeface="微软雅黑" panose="020B0503020204020204" pitchFamily="34" charset="-122"/>
            </a:endParaRPr>
          </a:p>
        </p:txBody>
      </p:sp>
      <p:graphicFrame>
        <p:nvGraphicFramePr>
          <p:cNvPr id="7" name="Object 1"/>
          <p:cNvGraphicFramePr>
            <a:graphicFrameLocks noChangeAspect="1"/>
          </p:cNvGraphicFramePr>
          <p:nvPr/>
        </p:nvGraphicFramePr>
        <p:xfrm>
          <a:off x="1418166" y="2093076"/>
          <a:ext cx="9355667" cy="4267497"/>
        </p:xfrm>
        <a:graphic>
          <a:graphicData uri="http://schemas.openxmlformats.org/presentationml/2006/ole">
            <mc:AlternateContent xmlns:mc="http://schemas.openxmlformats.org/markup-compatibility/2006">
              <mc:Choice xmlns:v="urn:schemas-microsoft-com:vml" Requires="v">
                <p:oleObj spid="_x0000_s3077" name="Visio" r:id="rId1" imgW="6562090" imgH="2752090" progId="Visio.Drawing.11">
                  <p:embed/>
                </p:oleObj>
              </mc:Choice>
              <mc:Fallback>
                <p:oleObj name="Visio" r:id="rId1" imgW="6562090" imgH="275209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8166" y="2093076"/>
                        <a:ext cx="9355667" cy="4267497"/>
                      </a:xfrm>
                      <a:prstGeom prst="rect">
                        <a:avLst/>
                      </a:prstGeom>
                      <a:noFill/>
                      <a:ln>
                        <a:noFill/>
                      </a:ln>
                    </p:spPr>
                  </p:pic>
                </p:oleObj>
              </mc:Fallback>
            </mc:AlternateContent>
          </a:graphicData>
        </a:graphic>
      </p:graphicFrame>
      <p:sp>
        <p:nvSpPr>
          <p:cNvPr id="8" name="椭圆形标注 4"/>
          <p:cNvSpPr>
            <a:spLocks noChangeArrowheads="1"/>
          </p:cNvSpPr>
          <p:nvPr/>
        </p:nvSpPr>
        <p:spPr bwMode="auto">
          <a:xfrm>
            <a:off x="7361766" y="1746559"/>
            <a:ext cx="1477211" cy="651614"/>
          </a:xfrm>
          <a:prstGeom prst="wedgeEllipseCallout">
            <a:avLst>
              <a:gd name="adj1" fmla="val -49264"/>
              <a:gd name="adj2" fmla="val 106616"/>
            </a:avLst>
          </a:prstGeom>
          <a:solidFill>
            <a:schemeClr val="accent1"/>
          </a:solidFill>
          <a:ln w="3175" algn="ctr">
            <a:solidFill>
              <a:schemeClr val="tx2"/>
            </a:solidFill>
            <a:round/>
          </a:ln>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a:solidFill>
                  <a:srgbClr val="FFFFFF"/>
                </a:solidFill>
                <a:latin typeface="Consolas" panose="020B0609020204030204" pitchFamily="49" charset="0"/>
              </a:rPr>
              <a:t>查找</a:t>
            </a:r>
            <a:r>
              <a:rPr lang="en-US" altLang="zh-CN" sz="1800">
                <a:solidFill>
                  <a:srgbClr val="FFFFFF"/>
                </a:solidFill>
                <a:latin typeface="Consolas" panose="020B0609020204030204" pitchFamily="49" charset="0"/>
              </a:rPr>
              <a:t>48</a:t>
            </a:r>
            <a:endParaRPr lang="zh-CN" altLang="en-US" sz="1800">
              <a:solidFill>
                <a:srgbClr val="FFFFFF"/>
              </a:solidFill>
              <a:latin typeface="Consolas" panose="020B0609020204030204" pitchFamily="49" charset="0"/>
            </a:endParaRPr>
          </a:p>
        </p:txBody>
      </p:sp>
      <p:cxnSp>
        <p:nvCxnSpPr>
          <p:cNvPr id="9" name="直接箭头连接符 8"/>
          <p:cNvCxnSpPr/>
          <p:nvPr/>
        </p:nvCxnSpPr>
        <p:spPr bwMode="auto">
          <a:xfrm flipH="1">
            <a:off x="5837767" y="1697329"/>
            <a:ext cx="681565" cy="410330"/>
          </a:xfrm>
          <a:prstGeom prst="straightConnector1">
            <a:avLst/>
          </a:prstGeom>
          <a:ln>
            <a:solidFill>
              <a:srgbClr val="FF0000"/>
            </a:solidFill>
            <a:headEnd type="none" w="med" len="med"/>
            <a:tailEnd type="arrow"/>
          </a:ln>
        </p:spPr>
        <p:style>
          <a:lnRef idx="2">
            <a:schemeClr val="accent2"/>
          </a:lnRef>
          <a:fillRef idx="0">
            <a:schemeClr val="accent2"/>
          </a:fillRef>
          <a:effectRef idx="1">
            <a:schemeClr val="accent2"/>
          </a:effectRef>
          <a:fontRef idx="minor">
            <a:schemeClr val="tx1"/>
          </a:fontRef>
        </p:style>
      </p:cxnSp>
      <p:cxnSp>
        <p:nvCxnSpPr>
          <p:cNvPr id="10" name="直接箭头连接符 9"/>
          <p:cNvCxnSpPr/>
          <p:nvPr/>
        </p:nvCxnSpPr>
        <p:spPr bwMode="auto">
          <a:xfrm>
            <a:off x="6216649" y="2693468"/>
            <a:ext cx="990600" cy="609600"/>
          </a:xfrm>
          <a:prstGeom prst="straightConnector1">
            <a:avLst/>
          </a:prstGeom>
          <a:ln>
            <a:solidFill>
              <a:srgbClr val="FF0000"/>
            </a:solidFill>
            <a:headEnd type="none" w="med" len="med"/>
            <a:tailEnd type="arrow"/>
          </a:ln>
        </p:spPr>
        <p:style>
          <a:lnRef idx="2">
            <a:schemeClr val="accent2"/>
          </a:lnRef>
          <a:fillRef idx="0">
            <a:schemeClr val="accent2"/>
          </a:fillRef>
          <a:effectRef idx="1">
            <a:schemeClr val="accent2"/>
          </a:effectRef>
          <a:fontRef idx="minor">
            <a:schemeClr val="tx1"/>
          </a:fontRef>
        </p:style>
      </p:cxnSp>
      <p:cxnSp>
        <p:nvCxnSpPr>
          <p:cNvPr id="11" name="直接箭头连接符 10"/>
          <p:cNvCxnSpPr/>
          <p:nvPr/>
        </p:nvCxnSpPr>
        <p:spPr bwMode="auto">
          <a:xfrm flipH="1">
            <a:off x="6807198" y="3744676"/>
            <a:ext cx="457200" cy="685800"/>
          </a:xfrm>
          <a:prstGeom prst="straightConnector1">
            <a:avLst/>
          </a:prstGeom>
          <a:ln>
            <a:solidFill>
              <a:srgbClr val="FF0000"/>
            </a:solidFill>
            <a:headEnd type="none" w="med" len="med"/>
            <a:tailEnd type="arrow"/>
          </a:ln>
        </p:spPr>
        <p:style>
          <a:lnRef idx="2">
            <a:schemeClr val="accent2"/>
          </a:lnRef>
          <a:fillRef idx="0">
            <a:schemeClr val="accent2"/>
          </a:fillRef>
          <a:effectRef idx="1">
            <a:schemeClr val="accent2"/>
          </a:effectRef>
          <a:fontRef idx="minor">
            <a:schemeClr val="tx1"/>
          </a:fontRef>
        </p:style>
      </p:cxnSp>
      <p:sp>
        <p:nvSpPr>
          <p:cNvPr id="12" name="TextBox 18"/>
          <p:cNvSpPr txBox="1"/>
          <p:nvPr/>
        </p:nvSpPr>
        <p:spPr>
          <a:xfrm>
            <a:off x="8868018" y="2564052"/>
            <a:ext cx="2379950" cy="1200329"/>
          </a:xfrm>
          <a:prstGeom prst="rect">
            <a:avLst/>
          </a:prstGeom>
          <a:noFill/>
        </p:spPr>
        <p:txBody>
          <a:bodyPr wrap="square">
            <a:spAutoFit/>
          </a:bodyPr>
          <a:lstStyle/>
          <a:p>
            <a:pPr algn="ctr" eaLnBrk="1" hangingPunct="1">
              <a:defRPr/>
            </a:pPr>
            <a:r>
              <a:rPr lang="zh-CN" altLang="en-US" sz="2400" dirty="0">
                <a:solidFill>
                  <a:srgbClr val="FF0000"/>
                </a:solidFill>
                <a:latin typeface="微软雅黑" panose="020B0503020204020204" pitchFamily="34" charset="-122"/>
                <a:ea typeface="微软雅黑" panose="020B0503020204020204" pitchFamily="34" charset="-122"/>
              </a:rPr>
              <a:t>在</a:t>
            </a:r>
            <a:r>
              <a:rPr lang="en-US" altLang="zh-CN" sz="2400" dirty="0">
                <a:solidFill>
                  <a:srgbClr val="FF0000"/>
                </a:solidFill>
                <a:latin typeface="微软雅黑" panose="020B0503020204020204" pitchFamily="34" charset="-122"/>
                <a:ea typeface="微软雅黑" panose="020B0503020204020204" pitchFamily="34" charset="-122"/>
              </a:rPr>
              <a:t>g</a:t>
            </a:r>
            <a:r>
              <a:rPr lang="zh-CN" altLang="en-US" sz="2400" dirty="0">
                <a:solidFill>
                  <a:srgbClr val="FF0000"/>
                </a:solidFill>
                <a:latin typeface="微软雅黑" panose="020B0503020204020204" pitchFamily="34" charset="-122"/>
                <a:ea typeface="微软雅黑" panose="020B0503020204020204" pitchFamily="34" charset="-122"/>
              </a:rPr>
              <a:t>结点中找到关键字</a:t>
            </a:r>
            <a:r>
              <a:rPr lang="en-US" altLang="zh-CN" sz="2400" dirty="0">
                <a:solidFill>
                  <a:srgbClr val="FF0000"/>
                </a:solidFill>
                <a:latin typeface="微软雅黑" panose="020B0503020204020204" pitchFamily="34" charset="-122"/>
                <a:ea typeface="微软雅黑" panose="020B0503020204020204" pitchFamily="34" charset="-122"/>
              </a:rPr>
              <a:t>48</a:t>
            </a:r>
            <a:r>
              <a:rPr lang="zh-CN" altLang="en-US" sz="2400" dirty="0">
                <a:solidFill>
                  <a:srgbClr val="FF0000"/>
                </a:solidFill>
                <a:latin typeface="微软雅黑" panose="020B0503020204020204" pitchFamily="34" charset="-122"/>
                <a:ea typeface="微软雅黑" panose="020B0503020204020204" pitchFamily="34" charset="-122"/>
              </a:rPr>
              <a:t>，查找成功。</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up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1+#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0-#ppt_w/2"/>
                                          </p:val>
                                        </p:tav>
                                        <p:tav tm="100000">
                                          <p:val>
                                            <p:strVal val="#ppt_x"/>
                                          </p:val>
                                        </p:tav>
                                      </p:tavLst>
                                    </p:anim>
                                    <p:anim calcmode="lin" valueType="num">
                                      <p:cBhvr additive="base">
                                        <p:cTn id="3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0-#ppt_w/2"/>
                                          </p:val>
                                        </p:tav>
                                        <p:tav tm="100000">
                                          <p:val>
                                            <p:strVal val="#ppt_x"/>
                                          </p:val>
                                        </p:tav>
                                      </p:tavLst>
                                    </p:anim>
                                    <p:anim calcmode="lin" valueType="num">
                                      <p:cBhvr additive="base">
                                        <p:cTn id="36"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1+#ppt_w/2"/>
                                          </p:val>
                                        </p:tav>
                                        <p:tav tm="100000">
                                          <p:val>
                                            <p:strVal val="#ppt_x"/>
                                          </p:val>
                                        </p:tav>
                                      </p:tavLst>
                                    </p:anim>
                                    <p:anim calcmode="lin" valueType="num">
                                      <p:cBhvr additive="base">
                                        <p:cTn id="4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8" grpId="0" animBg="1"/>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树的查找</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Text Box 2"/>
          <p:cNvSpPr txBox="1">
            <a:spLocks noGrp="1" noChangeArrowheads="1"/>
          </p:cNvSpPr>
          <p:nvPr>
            <p:ph idx="1"/>
          </p:nvPr>
        </p:nvSpPr>
        <p:spPr bwMode="auto">
          <a:xfrm>
            <a:off x="575734" y="1009649"/>
            <a:ext cx="10854266" cy="2235356"/>
          </a:xfrm>
        </p:spPr>
        <p:txBody>
          <a:bodyPr wrap="square">
            <a:spAutoFit/>
          </a:bodyPr>
          <a:lstStyle/>
          <a:p>
            <a:pPr>
              <a:lnSpc>
                <a:spcPct val="125000"/>
              </a:lnSpc>
              <a:spcBef>
                <a:spcPct val="50000"/>
              </a:spcBef>
              <a:buFont typeface="Arial" panose="020B0604020202020204" pitchFamily="34" charset="0"/>
              <a:buChar char="•"/>
              <a:defRPr/>
            </a:pPr>
            <a:r>
              <a:rPr lang="zh-CN" altLang="en-US" sz="2400" dirty="0">
                <a:latin typeface="微软雅黑" panose="020B0503020204020204" pitchFamily="34" charset="-122"/>
                <a:ea typeface="微软雅黑" panose="020B0503020204020204" pitchFamily="34" charset="-122"/>
              </a:rPr>
              <a:t>查找时间取决因素</a:t>
            </a:r>
            <a:endParaRPr lang="zh-CN" altLang="en-US" sz="2400" dirty="0">
              <a:latin typeface="微软雅黑" panose="020B0503020204020204" pitchFamily="34" charset="-122"/>
              <a:ea typeface="微软雅黑" panose="020B0503020204020204" pitchFamily="34" charset="-122"/>
            </a:endParaRPr>
          </a:p>
          <a:p>
            <a:pPr lvl="1">
              <a:lnSpc>
                <a:spcPct val="125000"/>
              </a:lnSpc>
              <a:spcBef>
                <a:spcPct val="50000"/>
              </a:spcBef>
              <a:buFont typeface="Wingdings" panose="05000000000000000000" pitchFamily="2" charset="2"/>
              <a:buChar char="Ø"/>
              <a:defRPr/>
            </a:pP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给定值的关键字所在结点的层次；</a:t>
            </a:r>
            <a:endParaRPr lang="en-US" altLang="zh-CN" sz="2000" dirty="0">
              <a:latin typeface="微软雅黑" panose="020B0503020204020204" pitchFamily="34" charset="-122"/>
              <a:ea typeface="微软雅黑" panose="020B0503020204020204" pitchFamily="34" charset="-122"/>
              <a:sym typeface="Wingdings" panose="05000000000000000000" pitchFamily="2" charset="2"/>
            </a:endParaRPr>
          </a:p>
          <a:p>
            <a:pPr lvl="1">
              <a:lnSpc>
                <a:spcPct val="125000"/>
              </a:lnSpc>
              <a:spcBef>
                <a:spcPct val="50000"/>
              </a:spcBef>
              <a:buFont typeface="Wingdings" panose="05000000000000000000" pitchFamily="2" charset="2"/>
              <a:buChar char="Ø"/>
              <a:defRPr/>
            </a:pP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结点中关键字的个数。</a:t>
            </a:r>
            <a:endParaRPr lang="en-US" altLang="zh-CN" sz="2000" dirty="0">
              <a:latin typeface="微软雅黑" panose="020B0503020204020204" pitchFamily="34" charset="-122"/>
              <a:ea typeface="微软雅黑" panose="020B0503020204020204" pitchFamily="34" charset="-122"/>
              <a:sym typeface="Wingdings" panose="05000000000000000000" pitchFamily="2" charset="2"/>
            </a:endParaRPr>
          </a:p>
          <a:p>
            <a:pPr>
              <a:lnSpc>
                <a:spcPct val="125000"/>
              </a:lnSpc>
              <a:spcBef>
                <a:spcPct val="50000"/>
              </a:spcBef>
              <a:buFont typeface="Wingdings" panose="05000000000000000000" pitchFamily="2" charset="2"/>
              <a:buNone/>
              <a:defRPr/>
            </a:pPr>
            <a:r>
              <a:rPr lang="zh-CN" altLang="en-US" sz="2400" dirty="0">
                <a:latin typeface="微软雅黑" panose="020B0503020204020204" pitchFamily="34" charset="-122"/>
                <a:ea typeface="微软雅黑" panose="020B0503020204020204" pitchFamily="34" charset="-122"/>
                <a:sym typeface="Wingdings" panose="05000000000000000000" pitchFamily="2" charset="2"/>
              </a:rPr>
              <a:t>注意：当查找到叶子结点时，查找失败！</a:t>
            </a:r>
            <a:endParaRPr lang="zh-CN" altLang="en-US" sz="24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up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树的插入</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Text Box 2"/>
          <p:cNvSpPr>
            <a:spLocks noGrp="1" noChangeArrowheads="1"/>
          </p:cNvSpPr>
          <p:nvPr>
            <p:ph idx="1"/>
          </p:nvPr>
        </p:nvSpPr>
        <p:spPr bwMode="auto">
          <a:xfrm>
            <a:off x="609599" y="965081"/>
            <a:ext cx="10905067" cy="4458400"/>
          </a:xfrm>
        </p:spPr>
        <p:txBody>
          <a:bodyPr wrap="square">
            <a:spAutoFit/>
          </a:bodyPr>
          <a:lstStyle/>
          <a:p>
            <a:pPr>
              <a:lnSpc>
                <a:spcPct val="125000"/>
              </a:lnSpc>
              <a:spcBef>
                <a:spcPct val="50000"/>
              </a:spcBef>
            </a:pPr>
            <a:r>
              <a:rPr lang="zh-CN" altLang="en-US" sz="2400" dirty="0">
                <a:latin typeface="微软雅黑" panose="020B0503020204020204" pitchFamily="34" charset="-122"/>
                <a:ea typeface="微软雅黑" panose="020B0503020204020204" pitchFamily="34" charset="-122"/>
              </a:rPr>
              <a:t>插入都是基于查找不成功操作的。</a:t>
            </a:r>
            <a:endParaRPr lang="en-US" altLang="zh-CN" sz="2400" dirty="0">
              <a:latin typeface="微软雅黑" panose="020B0503020204020204" pitchFamily="34" charset="-122"/>
              <a:ea typeface="微软雅黑" panose="020B0503020204020204" pitchFamily="34" charset="-122"/>
            </a:endParaRPr>
          </a:p>
          <a:p>
            <a:pPr>
              <a:lnSpc>
                <a:spcPct val="125000"/>
              </a:lnSpc>
              <a:spcBef>
                <a:spcPct val="50000"/>
              </a:spcBef>
            </a:pPr>
            <a:r>
              <a:rPr lang="zh-CN" altLang="zh-CN" sz="2400" dirty="0">
                <a:latin typeface="微软雅黑" panose="020B0503020204020204" pitchFamily="34" charset="-122"/>
                <a:ea typeface="微软雅黑" panose="020B0503020204020204" pitchFamily="34" charset="-122"/>
              </a:rPr>
              <a:t>对于一棵</a:t>
            </a:r>
            <a:r>
              <a:rPr lang="en-US" altLang="zh-CN" sz="2400" i="1" dirty="0">
                <a:latin typeface="微软雅黑" panose="020B0503020204020204" pitchFamily="34" charset="-122"/>
                <a:ea typeface="微软雅黑" panose="020B0503020204020204" pitchFamily="34" charset="-122"/>
              </a:rPr>
              <a:t>m </a:t>
            </a:r>
            <a:r>
              <a:rPr lang="zh-CN" altLang="zh-CN" sz="2400" dirty="0">
                <a:latin typeface="微软雅黑" panose="020B0503020204020204" pitchFamily="34" charset="-122"/>
                <a:ea typeface="微软雅黑" panose="020B0503020204020204" pitchFamily="34" charset="-122"/>
              </a:rPr>
              <a:t>阶的</a:t>
            </a:r>
            <a:r>
              <a:rPr lang="en-US" altLang="zh-CN" sz="2400" dirty="0">
                <a:latin typeface="微软雅黑" panose="020B0503020204020204" pitchFamily="34" charset="-122"/>
                <a:ea typeface="微软雅黑" panose="020B0503020204020204" pitchFamily="34" charset="-122"/>
              </a:rPr>
              <a:t>B-</a:t>
            </a:r>
            <a:r>
              <a:rPr lang="zh-CN" altLang="zh-CN" sz="2400" dirty="0">
                <a:latin typeface="微软雅黑" panose="020B0503020204020204" pitchFamily="34" charset="-122"/>
                <a:ea typeface="微软雅黑" panose="020B0503020204020204" pitchFamily="34" charset="-122"/>
              </a:rPr>
              <a:t>树，每个结点的关键字不超过</a:t>
            </a:r>
            <a:r>
              <a:rPr lang="en-US" altLang="zh-CN" sz="2400" i="1" dirty="0">
                <a:latin typeface="微软雅黑" panose="020B0503020204020204" pitchFamily="34" charset="-122"/>
                <a:ea typeface="微软雅黑" panose="020B0503020204020204" pitchFamily="34" charset="-122"/>
              </a:rPr>
              <a:t>m</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个。</a:t>
            </a:r>
            <a:endParaRPr lang="en-US" altLang="zh-CN" sz="2400" dirty="0">
              <a:latin typeface="微软雅黑" panose="020B0503020204020204" pitchFamily="34" charset="-122"/>
              <a:ea typeface="微软雅黑" panose="020B0503020204020204" pitchFamily="34" charset="-122"/>
            </a:endParaRPr>
          </a:p>
          <a:p>
            <a:pPr lvl="1">
              <a:lnSpc>
                <a:spcPct val="125000"/>
              </a:lnSpc>
              <a:spcBef>
                <a:spcPct val="50000"/>
              </a:spcBef>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如果插入后仍保持这一状态，则操作完毕；</a:t>
            </a:r>
            <a:endParaRPr lang="en-US" altLang="zh-CN" sz="2000" dirty="0">
              <a:latin typeface="微软雅黑" panose="020B0503020204020204" pitchFamily="34" charset="-122"/>
              <a:ea typeface="微软雅黑" panose="020B0503020204020204" pitchFamily="34" charset="-122"/>
            </a:endParaRPr>
          </a:p>
          <a:p>
            <a:pPr lvl="1">
              <a:lnSpc>
                <a:spcPct val="125000"/>
              </a:lnSpc>
              <a:spcBef>
                <a:spcPct val="50000"/>
              </a:spcBef>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如果插入后关键字个数大于</a:t>
            </a:r>
            <a:r>
              <a:rPr lang="en-US" altLang="zh-CN" sz="2000" i="1" dirty="0">
                <a:latin typeface="微软雅黑" panose="020B0503020204020204" pitchFamily="34" charset="-122"/>
                <a:ea typeface="微软雅黑" panose="020B0503020204020204" pitchFamily="34" charset="-122"/>
              </a:rPr>
              <a:t>m</a:t>
            </a: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，则需要分裂该结点</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ct val="125000"/>
              </a:lnSpc>
              <a:spcBef>
                <a:spcPct val="50000"/>
              </a:spcBef>
              <a:buFontTx/>
              <a:buNone/>
            </a:pPr>
            <a:r>
              <a:rPr lang="en-US" altLang="zh-CN"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在分裂前结点可表示为</a:t>
            </a:r>
            <a:r>
              <a:rPr lang="zh-CN" altLang="en-US" sz="2000" dirty="0">
                <a:latin typeface="微软雅黑" panose="020B0503020204020204" pitchFamily="34" charset="-122"/>
                <a:ea typeface="微软雅黑" panose="020B0503020204020204" pitchFamily="34" charset="-122"/>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K</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rPr>
              <a:t>，分裂后变成两个结点</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ct val="125000"/>
              </a:lnSpc>
              <a:spcBef>
                <a:spcPct val="50000"/>
              </a:spcBef>
              <a:buFontTx/>
              <a:buNone/>
            </a:pPr>
            <a:r>
              <a:rPr lang="en-US" altLang="zh-CN" sz="2000" dirty="0">
                <a:latin typeface="微软雅黑" panose="020B0503020204020204" pitchFamily="34" charset="-122"/>
                <a:ea typeface="微软雅黑" panose="020B0503020204020204" pitchFamily="34" charset="-122"/>
              </a:rPr>
              <a:t>     </a:t>
            </a:r>
            <a:r>
              <a:rPr lang="zh-CN" altLang="zh-CN" sz="2000" dirty="0">
                <a:latin typeface="微软雅黑" panose="020B0503020204020204" pitchFamily="34" charset="-122"/>
                <a:ea typeface="微软雅黑" panose="020B0503020204020204" pitchFamily="34" charset="-122"/>
              </a:rPr>
              <a:t>可表示为</a:t>
            </a:r>
            <a:r>
              <a:rPr lang="zh-CN" altLang="en-US" sz="2000" dirty="0">
                <a:latin typeface="微软雅黑" panose="020B0503020204020204" pitchFamily="34" charset="-122"/>
                <a:ea typeface="微软雅黑" panose="020B0503020204020204" pitchFamily="34" charset="-122"/>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25000"/>
              </a:lnSpc>
              <a:spcBef>
                <a:spcPct val="50000"/>
              </a:spcBef>
              <a:buFontTx/>
              <a:buNone/>
            </a:pPr>
            <a:r>
              <a:rPr lang="zh-CN" altLang="en-US"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baseline="-25000"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i="1" baseline="-25000"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rPr>
              <a:t>，</a:t>
            </a:r>
            <a:r>
              <a:rPr lang="zh-CN" altLang="zh-CN" sz="2000" dirty="0">
                <a:solidFill>
                  <a:srgbClr val="FF0000"/>
                </a:solidFill>
                <a:latin typeface="微软雅黑" panose="020B0503020204020204" pitchFamily="34" charset="-122"/>
                <a:ea typeface="微软雅黑" panose="020B0503020204020204" pitchFamily="34" charset="-122"/>
              </a:rPr>
              <a:t>将关键字</a:t>
            </a:r>
            <a:r>
              <a:rPr lang="en-US" altLang="zh-CN" sz="2000" b="1" i="1" dirty="0">
                <a:solidFill>
                  <a:srgbClr val="FF0000"/>
                </a:solidFill>
                <a:latin typeface="微软雅黑" panose="020B0503020204020204" pitchFamily="34" charset="-122"/>
                <a:ea typeface="微软雅黑" panose="020B0503020204020204" pitchFamily="34" charset="-122"/>
              </a:rPr>
              <a:t>K </a:t>
            </a:r>
            <a:r>
              <a:rPr lang="en-US" altLang="zh-CN" sz="2000" b="1" baseline="-250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000" b="1" baseline="-25000" dirty="0">
                <a:solidFill>
                  <a:srgbClr val="FF0000"/>
                </a:solidFill>
                <a:latin typeface="微软雅黑" panose="020B0503020204020204" pitchFamily="34" charset="-122"/>
                <a:ea typeface="微软雅黑" panose="020B0503020204020204" pitchFamily="34" charset="-122"/>
              </a:rPr>
              <a:t>m/2</a:t>
            </a:r>
            <a:r>
              <a:rPr lang="en-US" altLang="zh-CN" sz="2000" b="1" baseline="-250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 </a:t>
            </a:r>
            <a:r>
              <a:rPr lang="zh-CN" altLang="zh-CN" sz="2000" dirty="0">
                <a:solidFill>
                  <a:srgbClr val="FF0000"/>
                </a:solidFill>
                <a:latin typeface="微软雅黑" panose="020B0503020204020204" pitchFamily="34" charset="-122"/>
                <a:ea typeface="微软雅黑" panose="020B0503020204020204" pitchFamily="34" charset="-122"/>
              </a:rPr>
              <a:t>和指向新结点</a:t>
            </a:r>
            <a:r>
              <a:rPr lang="en-US" altLang="zh-CN" sz="2000" i="1" dirty="0">
                <a:solidFill>
                  <a:srgbClr val="FF0000"/>
                </a:solidFill>
                <a:latin typeface="微软雅黑" panose="020B0503020204020204" pitchFamily="34" charset="-122"/>
                <a:ea typeface="微软雅黑" panose="020B0503020204020204" pitchFamily="34" charset="-122"/>
              </a:rPr>
              <a:t>q </a:t>
            </a:r>
            <a:r>
              <a:rPr lang="zh-CN" altLang="zh-CN" sz="2000" dirty="0">
                <a:solidFill>
                  <a:srgbClr val="FF0000"/>
                </a:solidFill>
                <a:latin typeface="微软雅黑" panose="020B0503020204020204" pitchFamily="34" charset="-122"/>
                <a:ea typeface="微软雅黑" panose="020B0503020204020204" pitchFamily="34" charset="-122"/>
              </a:rPr>
              <a:t>的指针一起插入到</a:t>
            </a:r>
            <a:r>
              <a:rPr lang="en-US" altLang="zh-CN" sz="2000" i="1" dirty="0">
                <a:solidFill>
                  <a:srgbClr val="FF0000"/>
                </a:solidFill>
                <a:latin typeface="微软雅黑" panose="020B0503020204020204" pitchFamily="34" charset="-122"/>
                <a:ea typeface="微软雅黑" panose="020B0503020204020204" pitchFamily="34" charset="-122"/>
              </a:rPr>
              <a:t>p </a:t>
            </a:r>
            <a:r>
              <a:rPr lang="zh-CN" altLang="zh-CN" sz="2000" dirty="0">
                <a:solidFill>
                  <a:srgbClr val="FF0000"/>
                </a:solidFill>
                <a:latin typeface="微软雅黑" panose="020B0503020204020204" pitchFamily="34" charset="-122"/>
                <a:ea typeface="微软雅黑" panose="020B0503020204020204" pitchFamily="34" charset="-122"/>
              </a:rPr>
              <a:t>的父结点中</a:t>
            </a:r>
            <a:r>
              <a:rPr lang="zh-CN"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up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树的插入</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Text Box 2"/>
          <p:cNvSpPr>
            <a:spLocks noGrp="1" noChangeArrowheads="1"/>
          </p:cNvSpPr>
          <p:nvPr>
            <p:ph idx="1"/>
          </p:nvPr>
        </p:nvSpPr>
        <p:spPr bwMode="auto">
          <a:xfrm>
            <a:off x="533400" y="940593"/>
            <a:ext cx="8382000" cy="497957"/>
          </a:xfrm>
        </p:spPr>
        <p:txBody>
          <a:bodyPr>
            <a:spAutoFit/>
          </a:bodyPr>
          <a:lstStyle/>
          <a:p>
            <a:pPr>
              <a:lnSpc>
                <a:spcPct val="120000"/>
              </a:lnSpc>
              <a:spcBef>
                <a:spcPct val="50000"/>
              </a:spcBef>
              <a:buFontTx/>
              <a:buNone/>
            </a:pPr>
            <a:r>
              <a:rPr lang="zh-CN" altLang="en-US" sz="2400" dirty="0">
                <a:latin typeface="微软雅黑" panose="020B0503020204020204" pitchFamily="34" charset="-122"/>
                <a:ea typeface="微软雅黑" panose="020B0503020204020204" pitchFamily="34" charset="-122"/>
                <a:sym typeface="Wingdings" panose="05000000000000000000" pitchFamily="2" charset="2"/>
              </a:rPr>
              <a:t>例：下列为</a:t>
            </a: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3</a:t>
            </a:r>
            <a:r>
              <a:rPr lang="zh-CN" altLang="en-US" sz="2400" dirty="0">
                <a:latin typeface="微软雅黑" panose="020B0503020204020204" pitchFamily="34" charset="-122"/>
                <a:ea typeface="微软雅黑" panose="020B0503020204020204" pitchFamily="34" charset="-122"/>
                <a:sym typeface="Wingdings" panose="05000000000000000000" pitchFamily="2" charset="2"/>
              </a:rPr>
              <a:t>阶</a:t>
            </a: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B-</a:t>
            </a:r>
            <a:r>
              <a:rPr lang="zh-CN" altLang="en-US" sz="2400" dirty="0">
                <a:latin typeface="微软雅黑" panose="020B0503020204020204" pitchFamily="34" charset="-122"/>
                <a:ea typeface="微软雅黑" panose="020B0503020204020204" pitchFamily="34" charset="-122"/>
                <a:sym typeface="Wingdings" panose="05000000000000000000" pitchFamily="2" charset="2"/>
              </a:rPr>
              <a:t>树</a:t>
            </a:r>
            <a:endParaRPr lang="zh-CN" altLang="en-US" sz="2400" dirty="0">
              <a:latin typeface="微软雅黑" panose="020B0503020204020204" pitchFamily="34" charset="-122"/>
              <a:ea typeface="微软雅黑" panose="020B0503020204020204" pitchFamily="34" charset="-122"/>
              <a:sym typeface="Wingdings" panose="05000000000000000000" pitchFamily="2" charset="2"/>
            </a:endParaRPr>
          </a:p>
        </p:txBody>
      </p:sp>
      <p:sp>
        <p:nvSpPr>
          <p:cNvPr id="6" name="Oval 3"/>
          <p:cNvSpPr>
            <a:spLocks noChangeArrowheads="1"/>
          </p:cNvSpPr>
          <p:nvPr/>
        </p:nvSpPr>
        <p:spPr bwMode="auto">
          <a:xfrm>
            <a:off x="3200400" y="3124200"/>
            <a:ext cx="1981200" cy="533400"/>
          </a:xfrm>
          <a:prstGeom prst="ellipse">
            <a:avLst/>
          </a:prstGeom>
          <a:solidFill>
            <a:srgbClr val="FFFFCC"/>
          </a:solidFill>
          <a:ln w="19050">
            <a:solidFill>
              <a:srgbClr val="993300"/>
            </a:solidFill>
            <a:round/>
          </a:ln>
          <a:effectLst/>
        </p:spPr>
        <p:txBody>
          <a:bodyPr wrap="none" anchor="ctr"/>
          <a:lstStyle/>
          <a:p>
            <a:pPr algn="ctr" eaLnBrk="1" hangingPunct="1">
              <a:defRPr/>
            </a:pPr>
            <a:r>
              <a:rPr lang="en-US" altLang="zh-CN" sz="2800" dirty="0">
                <a:solidFill>
                  <a:schemeClr val="accent2">
                    <a:lumMod val="50000"/>
                  </a:schemeClr>
                </a:solidFill>
              </a:rPr>
              <a:t>25</a:t>
            </a:r>
            <a:endParaRPr lang="en-US" altLang="zh-CN" sz="2800" dirty="0">
              <a:solidFill>
                <a:schemeClr val="accent2">
                  <a:lumMod val="50000"/>
                </a:schemeClr>
              </a:solidFill>
            </a:endParaRPr>
          </a:p>
        </p:txBody>
      </p:sp>
      <p:sp>
        <p:nvSpPr>
          <p:cNvPr id="7" name="Oval 5"/>
          <p:cNvSpPr>
            <a:spLocks noChangeArrowheads="1"/>
          </p:cNvSpPr>
          <p:nvPr/>
        </p:nvSpPr>
        <p:spPr bwMode="auto">
          <a:xfrm>
            <a:off x="1143000" y="4419600"/>
            <a:ext cx="1981200" cy="533400"/>
          </a:xfrm>
          <a:prstGeom prst="ellipse">
            <a:avLst/>
          </a:prstGeom>
          <a:solidFill>
            <a:srgbClr val="FFFFCC"/>
          </a:solidFill>
          <a:ln w="19050">
            <a:solidFill>
              <a:srgbClr val="99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sym typeface="Symbol" panose="05050102010706020507" pitchFamily="18" charset="2"/>
              </a:rPr>
              <a:t> 15</a:t>
            </a:r>
            <a:r>
              <a:rPr lang="en-US" altLang="zh-CN" sz="2800">
                <a:solidFill>
                  <a:srgbClr val="A50021"/>
                </a:solidFill>
                <a:latin typeface="Consolas" panose="020B0609020204030204" pitchFamily="49" charset="0"/>
              </a:rPr>
              <a:t> </a:t>
            </a:r>
            <a:r>
              <a:rPr lang="en-US" altLang="zh-CN" sz="2800">
                <a:solidFill>
                  <a:srgbClr val="A50021"/>
                </a:solidFill>
                <a:latin typeface="Consolas" panose="020B0609020204030204" pitchFamily="49" charset="0"/>
                <a:sym typeface="Symbol" panose="05050102010706020507" pitchFamily="18" charset="2"/>
              </a:rPr>
              <a:t></a:t>
            </a:r>
            <a:r>
              <a:rPr lang="en-US" altLang="zh-CN" sz="2800">
                <a:solidFill>
                  <a:srgbClr val="A50021"/>
                </a:solidFill>
                <a:latin typeface="Consolas" panose="020B0609020204030204" pitchFamily="49" charset="0"/>
              </a:rPr>
              <a:t> 20 </a:t>
            </a:r>
            <a:r>
              <a:rPr lang="en-US" altLang="zh-CN" sz="2800">
                <a:solidFill>
                  <a:srgbClr val="A50021"/>
                </a:solidFill>
                <a:latin typeface="Consolas" panose="020B0609020204030204" pitchFamily="49" charset="0"/>
                <a:sym typeface="Symbol" panose="05050102010706020507" pitchFamily="18" charset="2"/>
              </a:rPr>
              <a:t></a:t>
            </a:r>
            <a:endParaRPr lang="en-US" altLang="zh-CN" sz="2800">
              <a:solidFill>
                <a:srgbClr val="A50021"/>
              </a:solidFill>
              <a:latin typeface="Consolas" panose="020B0609020204030204" pitchFamily="49" charset="0"/>
              <a:sym typeface="Symbol" panose="05050102010706020507" pitchFamily="18" charset="2"/>
            </a:endParaRPr>
          </a:p>
        </p:txBody>
      </p:sp>
      <p:sp>
        <p:nvSpPr>
          <p:cNvPr id="8" name="Oval 6"/>
          <p:cNvSpPr>
            <a:spLocks noChangeArrowheads="1"/>
          </p:cNvSpPr>
          <p:nvPr/>
        </p:nvSpPr>
        <p:spPr bwMode="auto">
          <a:xfrm>
            <a:off x="4953000" y="4419600"/>
            <a:ext cx="1981200" cy="533400"/>
          </a:xfrm>
          <a:prstGeom prst="ellipse">
            <a:avLst/>
          </a:prstGeom>
          <a:solidFill>
            <a:srgbClr val="FFFFCC"/>
          </a:solidFill>
          <a:ln w="19050">
            <a:solidFill>
              <a:srgbClr val="99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sym typeface="Symbol" panose="05050102010706020507" pitchFamily="18" charset="2"/>
              </a:rPr>
              <a:t></a:t>
            </a:r>
            <a:r>
              <a:rPr lang="en-US" altLang="zh-CN" sz="2800">
                <a:solidFill>
                  <a:srgbClr val="A50021"/>
                </a:solidFill>
                <a:latin typeface="Consolas" panose="020B0609020204030204" pitchFamily="49" charset="0"/>
              </a:rPr>
              <a:t> 47 </a:t>
            </a:r>
            <a:r>
              <a:rPr lang="en-US" altLang="zh-CN" sz="2800">
                <a:solidFill>
                  <a:srgbClr val="A50021"/>
                </a:solidFill>
                <a:latin typeface="Consolas" panose="020B0609020204030204" pitchFamily="49" charset="0"/>
                <a:sym typeface="Symbol" panose="05050102010706020507" pitchFamily="18" charset="2"/>
              </a:rPr>
              <a:t></a:t>
            </a:r>
            <a:endParaRPr lang="en-US" altLang="zh-CN" sz="2800">
              <a:solidFill>
                <a:srgbClr val="A50021"/>
              </a:solidFill>
              <a:latin typeface="Consolas" panose="020B0609020204030204" pitchFamily="49" charset="0"/>
              <a:sym typeface="Symbol" panose="05050102010706020507" pitchFamily="18" charset="2"/>
            </a:endParaRPr>
          </a:p>
        </p:txBody>
      </p:sp>
      <p:sp>
        <p:nvSpPr>
          <p:cNvPr id="9" name="Line 7"/>
          <p:cNvSpPr>
            <a:spLocks noChangeShapeType="1"/>
          </p:cNvSpPr>
          <p:nvPr/>
        </p:nvSpPr>
        <p:spPr bwMode="auto">
          <a:xfrm flipH="1">
            <a:off x="2133600" y="3352800"/>
            <a:ext cx="1219200" cy="1066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8"/>
          <p:cNvSpPr>
            <a:spLocks noChangeShapeType="1"/>
          </p:cNvSpPr>
          <p:nvPr/>
        </p:nvSpPr>
        <p:spPr bwMode="auto">
          <a:xfrm>
            <a:off x="4648200" y="3352800"/>
            <a:ext cx="1295400" cy="1066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Freeform 9"/>
          <p:cNvSpPr/>
          <p:nvPr/>
        </p:nvSpPr>
        <p:spPr bwMode="auto">
          <a:xfrm>
            <a:off x="2667000" y="2438400"/>
            <a:ext cx="1066800" cy="609600"/>
          </a:xfrm>
          <a:custGeom>
            <a:avLst/>
            <a:gdLst>
              <a:gd name="T0" fmla="*/ 0 w 672"/>
              <a:gd name="T1" fmla="*/ 0 h 384"/>
              <a:gd name="T2" fmla="*/ 2147483646 w 672"/>
              <a:gd name="T3" fmla="*/ 2147483646 h 384"/>
              <a:gd name="T4" fmla="*/ 2147483646 w 672"/>
              <a:gd name="T5" fmla="*/ 2147483646 h 384"/>
              <a:gd name="T6" fmla="*/ 2147483646 w 672"/>
              <a:gd name="T7" fmla="*/ 2147483646 h 384"/>
              <a:gd name="T8" fmla="*/ 0 60000 65536"/>
              <a:gd name="T9" fmla="*/ 0 60000 65536"/>
              <a:gd name="T10" fmla="*/ 0 60000 65536"/>
              <a:gd name="T11" fmla="*/ 0 60000 65536"/>
              <a:gd name="T12" fmla="*/ 0 w 672"/>
              <a:gd name="T13" fmla="*/ 0 h 384"/>
              <a:gd name="T14" fmla="*/ 672 w 672"/>
              <a:gd name="T15" fmla="*/ 384 h 384"/>
            </a:gdLst>
            <a:ahLst/>
            <a:cxnLst>
              <a:cxn ang="T8">
                <a:pos x="T0" y="T1"/>
              </a:cxn>
              <a:cxn ang="T9">
                <a:pos x="T2" y="T3"/>
              </a:cxn>
              <a:cxn ang="T10">
                <a:pos x="T4" y="T5"/>
              </a:cxn>
              <a:cxn ang="T11">
                <a:pos x="T6" y="T7"/>
              </a:cxn>
            </a:cxnLst>
            <a:rect l="T12" t="T13" r="T14" b="T15"/>
            <a:pathLst>
              <a:path w="672" h="384">
                <a:moveTo>
                  <a:pt x="0" y="0"/>
                </a:moveTo>
                <a:cubicBezTo>
                  <a:pt x="180" y="36"/>
                  <a:pt x="360" y="72"/>
                  <a:pt x="384" y="96"/>
                </a:cubicBezTo>
                <a:cubicBezTo>
                  <a:pt x="408" y="120"/>
                  <a:pt x="96" y="96"/>
                  <a:pt x="144" y="144"/>
                </a:cubicBezTo>
                <a:cubicBezTo>
                  <a:pt x="192" y="192"/>
                  <a:pt x="584" y="344"/>
                  <a:pt x="672" y="384"/>
                </a:cubicBezTo>
              </a:path>
            </a:pathLst>
          </a:custGeom>
          <a:noFill/>
          <a:ln w="28575">
            <a:solidFill>
              <a:srgbClr val="FF0000"/>
            </a:solidFill>
            <a:rou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 name="Text Box 10"/>
          <p:cNvSpPr txBox="1">
            <a:spLocks noChangeArrowheads="1"/>
          </p:cNvSpPr>
          <p:nvPr/>
        </p:nvSpPr>
        <p:spPr bwMode="auto">
          <a:xfrm>
            <a:off x="981923" y="5581650"/>
            <a:ext cx="2746266" cy="584775"/>
          </a:xfrm>
          <a:prstGeom prst="rect">
            <a:avLst/>
          </a:prstGeom>
          <a:noFill/>
          <a:ln w="9525">
            <a:noFill/>
            <a:miter lim="800000"/>
          </a:ln>
          <a:effectLst/>
        </p:spPr>
        <p:txBody>
          <a:bodyPr wrap="none">
            <a:spAutoFit/>
          </a:bodyPr>
          <a:lstStyle/>
          <a:p>
            <a:pPr algn="ctr" eaLnBrk="1" hangingPunct="1">
              <a:defRPr/>
            </a:pPr>
            <a:r>
              <a:rPr lang="zh-CN" altLang="en-US" sz="2400" dirty="0">
                <a:solidFill>
                  <a:srgbClr val="A50021"/>
                </a:solidFill>
                <a:latin typeface="微软雅黑" panose="020B0503020204020204" pitchFamily="34" charset="-122"/>
                <a:ea typeface="微软雅黑" panose="020B0503020204020204" pitchFamily="34" charset="-122"/>
              </a:rPr>
              <a:t>插入关键字 </a:t>
            </a:r>
            <a:r>
              <a:rPr lang="en-US" altLang="zh-CN" sz="2400" dirty="0">
                <a:solidFill>
                  <a:srgbClr val="A50021"/>
                </a:solidFill>
                <a:latin typeface="微软雅黑" panose="020B0503020204020204" pitchFamily="34" charset="-122"/>
                <a:ea typeface="微软雅黑" panose="020B0503020204020204" pitchFamily="34" charset="-122"/>
              </a:rPr>
              <a:t>= </a:t>
            </a:r>
            <a:r>
              <a:rPr lang="en-US" altLang="zh-CN" sz="3200" dirty="0">
                <a:solidFill>
                  <a:schemeClr val="accent2">
                    <a:lumMod val="75000"/>
                  </a:schemeClr>
                </a:solidFill>
              </a:rPr>
              <a:t>35</a:t>
            </a:r>
            <a:r>
              <a:rPr lang="en-US" altLang="zh-CN" sz="3200" dirty="0">
                <a:solidFill>
                  <a:srgbClr val="FF00FF"/>
                </a:solidFill>
              </a:rPr>
              <a:t>,</a:t>
            </a:r>
            <a:r>
              <a:rPr lang="en-US" altLang="zh-CN" sz="3200" dirty="0">
                <a:solidFill>
                  <a:srgbClr val="A50021"/>
                </a:solidFill>
              </a:rPr>
              <a:t> </a:t>
            </a:r>
            <a:endParaRPr lang="en-US" altLang="zh-CN" sz="3200" dirty="0"/>
          </a:p>
        </p:txBody>
      </p:sp>
      <p:sp>
        <p:nvSpPr>
          <p:cNvPr id="13" name="Oval 11"/>
          <p:cNvSpPr>
            <a:spLocks noChangeArrowheads="1"/>
          </p:cNvSpPr>
          <p:nvPr/>
        </p:nvSpPr>
        <p:spPr bwMode="auto">
          <a:xfrm>
            <a:off x="4953000" y="4419600"/>
            <a:ext cx="1981200" cy="533400"/>
          </a:xfrm>
          <a:prstGeom prst="ellipse">
            <a:avLst/>
          </a:prstGeom>
          <a:solidFill>
            <a:srgbClr val="FFFFCC"/>
          </a:solidFill>
          <a:ln w="19050">
            <a:solidFill>
              <a:srgbClr val="993300"/>
            </a:solidFill>
            <a:round/>
          </a:ln>
          <a:effectLst/>
        </p:spPr>
        <p:txBody>
          <a:bodyPr wrap="none" anchor="ctr"/>
          <a:lstStyle/>
          <a:p>
            <a:pPr algn="ctr" eaLnBrk="1" hangingPunct="1">
              <a:defRPr/>
            </a:pPr>
            <a:r>
              <a:rPr lang="en-US" altLang="zh-CN" sz="2800" dirty="0">
                <a:solidFill>
                  <a:srgbClr val="A50021"/>
                </a:solidFill>
                <a:sym typeface="Symbol" panose="05050102010706020507" pitchFamily="18" charset="2"/>
              </a:rPr>
              <a:t></a:t>
            </a:r>
            <a:r>
              <a:rPr lang="en-US" altLang="zh-CN" sz="2800" dirty="0">
                <a:solidFill>
                  <a:srgbClr val="A50021"/>
                </a:solidFill>
              </a:rPr>
              <a:t> </a:t>
            </a:r>
            <a:r>
              <a:rPr lang="en-US" altLang="zh-CN" sz="2800" dirty="0">
                <a:solidFill>
                  <a:schemeClr val="accent2">
                    <a:lumMod val="75000"/>
                  </a:schemeClr>
                </a:solidFill>
              </a:rPr>
              <a:t>35</a:t>
            </a:r>
            <a:r>
              <a:rPr lang="en-US" altLang="zh-CN" sz="2800" dirty="0">
                <a:solidFill>
                  <a:srgbClr val="FF00FF"/>
                </a:solidFill>
              </a:rPr>
              <a:t> </a:t>
            </a:r>
            <a:r>
              <a:rPr lang="en-US" altLang="zh-CN" sz="2800" dirty="0">
                <a:solidFill>
                  <a:srgbClr val="FF00FF"/>
                </a:solidFill>
                <a:sym typeface="Symbol" panose="05050102010706020507" pitchFamily="18" charset="2"/>
              </a:rPr>
              <a:t></a:t>
            </a:r>
            <a:r>
              <a:rPr lang="en-US" altLang="zh-CN" sz="2800" dirty="0">
                <a:solidFill>
                  <a:srgbClr val="A50021"/>
                </a:solidFill>
              </a:rPr>
              <a:t> 47 </a:t>
            </a:r>
            <a:r>
              <a:rPr lang="en-US" altLang="zh-CN" sz="2800" dirty="0">
                <a:solidFill>
                  <a:srgbClr val="A50021"/>
                </a:solidFill>
                <a:sym typeface="Symbol" panose="05050102010706020507" pitchFamily="18" charset="2"/>
              </a:rPr>
              <a:t></a:t>
            </a:r>
            <a:endParaRPr lang="en-US" altLang="zh-CN" sz="2800" dirty="0">
              <a:solidFill>
                <a:srgbClr val="A50021"/>
              </a:solidFill>
              <a:sym typeface="Symbol" panose="05050102010706020507" pitchFamily="18" charset="2"/>
            </a:endParaRPr>
          </a:p>
        </p:txBody>
      </p:sp>
      <p:sp>
        <p:nvSpPr>
          <p:cNvPr id="14" name="Rectangle 13"/>
          <p:cNvSpPr>
            <a:spLocks noChangeArrowheads="1"/>
          </p:cNvSpPr>
          <p:nvPr/>
        </p:nvSpPr>
        <p:spPr bwMode="auto">
          <a:xfrm>
            <a:off x="3596056" y="5562600"/>
            <a:ext cx="8620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a:solidFill>
                  <a:srgbClr val="3333FF"/>
                </a:solidFill>
                <a:latin typeface="Consolas" panose="020B0609020204030204" pitchFamily="49" charset="0"/>
              </a:rPr>
              <a:t>56,</a:t>
            </a:r>
            <a:endParaRPr lang="en-US" altLang="zh-CN" sz="3200" dirty="0">
              <a:solidFill>
                <a:srgbClr val="A50021"/>
              </a:solidFill>
              <a:latin typeface="Consolas" panose="020B0609020204030204" pitchFamily="49" charset="0"/>
            </a:endParaRPr>
          </a:p>
        </p:txBody>
      </p:sp>
      <p:sp>
        <p:nvSpPr>
          <p:cNvPr id="15" name="Oval 14"/>
          <p:cNvSpPr>
            <a:spLocks noChangeArrowheads="1"/>
          </p:cNvSpPr>
          <p:nvPr/>
        </p:nvSpPr>
        <p:spPr bwMode="auto">
          <a:xfrm>
            <a:off x="4953000" y="4419600"/>
            <a:ext cx="2362200" cy="533400"/>
          </a:xfrm>
          <a:prstGeom prst="ellipse">
            <a:avLst/>
          </a:prstGeom>
          <a:solidFill>
            <a:srgbClr val="FFFFCC"/>
          </a:solidFill>
          <a:ln w="19050">
            <a:solidFill>
              <a:srgbClr val="A5002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sym typeface="Symbol" panose="05050102010706020507" pitchFamily="18" charset="2"/>
              </a:rPr>
              <a:t>35</a:t>
            </a:r>
            <a:r>
              <a:rPr lang="en-US" altLang="zh-CN" sz="2800">
                <a:solidFill>
                  <a:srgbClr val="FF00FF"/>
                </a:solidFill>
                <a:latin typeface="Consolas" panose="020B0609020204030204" pitchFamily="49" charset="0"/>
                <a:sym typeface="Symbol" panose="05050102010706020507" pitchFamily="18" charset="2"/>
              </a:rPr>
              <a:t>47</a:t>
            </a:r>
            <a:r>
              <a:rPr lang="en-US" altLang="zh-CN" sz="2800">
                <a:solidFill>
                  <a:srgbClr val="A50021"/>
                </a:solidFill>
                <a:latin typeface="Consolas" panose="020B0609020204030204" pitchFamily="49" charset="0"/>
                <a:sym typeface="Symbol" panose="05050102010706020507" pitchFamily="18" charset="2"/>
              </a:rPr>
              <a:t>56</a:t>
            </a:r>
            <a:r>
              <a:rPr lang="en-US" altLang="zh-CN" sz="2800">
                <a:solidFill>
                  <a:srgbClr val="3333FF"/>
                </a:solidFill>
                <a:latin typeface="Consolas" panose="020B0609020204030204" pitchFamily="49" charset="0"/>
                <a:sym typeface="Symbol" panose="05050102010706020507" pitchFamily="18" charset="2"/>
              </a:rPr>
              <a:t></a:t>
            </a:r>
            <a:endParaRPr lang="en-US" altLang="zh-CN" sz="2800">
              <a:solidFill>
                <a:srgbClr val="A50021"/>
              </a:solidFill>
              <a:latin typeface="Consolas" panose="020B0609020204030204" pitchFamily="49" charset="0"/>
              <a:sym typeface="Symbol" panose="05050102010706020507" pitchFamily="18" charset="2"/>
            </a:endParaRPr>
          </a:p>
        </p:txBody>
      </p:sp>
      <p:sp>
        <p:nvSpPr>
          <p:cNvPr id="16" name="Oval 15"/>
          <p:cNvSpPr>
            <a:spLocks noChangeArrowheads="1"/>
          </p:cNvSpPr>
          <p:nvPr/>
        </p:nvSpPr>
        <p:spPr bwMode="auto">
          <a:xfrm>
            <a:off x="7391400" y="4419600"/>
            <a:ext cx="1676400" cy="533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sym typeface="Symbol" panose="05050102010706020507" pitchFamily="18" charset="2"/>
              </a:rPr>
              <a:t>56</a:t>
            </a:r>
            <a:r>
              <a:rPr lang="en-US" altLang="zh-CN" sz="2800">
                <a:solidFill>
                  <a:srgbClr val="3333FF"/>
                </a:solidFill>
                <a:latin typeface="Consolas" panose="020B0609020204030204" pitchFamily="49" charset="0"/>
                <a:sym typeface="Symbol" panose="05050102010706020507" pitchFamily="18" charset="2"/>
              </a:rPr>
              <a:t></a:t>
            </a:r>
            <a:r>
              <a:rPr lang="en-US" altLang="zh-CN" sz="2800">
                <a:solidFill>
                  <a:srgbClr val="A50021"/>
                </a:solidFill>
                <a:latin typeface="Consolas" panose="020B0609020204030204" pitchFamily="49" charset="0"/>
              </a:rPr>
              <a:t> </a:t>
            </a:r>
            <a:endParaRPr lang="en-US" altLang="zh-CN" sz="2800">
              <a:solidFill>
                <a:srgbClr val="A50021"/>
              </a:solidFill>
              <a:latin typeface="Consolas" panose="020B0609020204030204" pitchFamily="49" charset="0"/>
            </a:endParaRPr>
          </a:p>
        </p:txBody>
      </p:sp>
      <p:sp>
        <p:nvSpPr>
          <p:cNvPr id="17" name="Oval 17"/>
          <p:cNvSpPr>
            <a:spLocks noChangeArrowheads="1"/>
          </p:cNvSpPr>
          <p:nvPr/>
        </p:nvSpPr>
        <p:spPr bwMode="auto">
          <a:xfrm>
            <a:off x="3048000" y="3048000"/>
            <a:ext cx="3505200" cy="685800"/>
          </a:xfrm>
          <a:prstGeom prst="ellipse">
            <a:avLst/>
          </a:prstGeom>
          <a:solidFill>
            <a:srgbClr val="FFFFCC"/>
          </a:solidFill>
          <a:ln w="19050">
            <a:solidFill>
              <a:srgbClr val="99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rPr>
              <a:t>25    47</a:t>
            </a:r>
            <a:endParaRPr lang="en-US" altLang="zh-CN" sz="2800">
              <a:solidFill>
                <a:srgbClr val="FFFFFF"/>
              </a:solidFill>
              <a:latin typeface="Consolas" panose="020B0609020204030204" pitchFamily="49" charset="0"/>
            </a:endParaRPr>
          </a:p>
        </p:txBody>
      </p:sp>
      <p:sp>
        <p:nvSpPr>
          <p:cNvPr id="18" name="Line 20"/>
          <p:cNvSpPr>
            <a:spLocks noChangeShapeType="1"/>
          </p:cNvSpPr>
          <p:nvPr/>
        </p:nvSpPr>
        <p:spPr bwMode="auto">
          <a:xfrm>
            <a:off x="4724400" y="3352800"/>
            <a:ext cx="381000" cy="3810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2"/>
          <p:cNvSpPr>
            <a:spLocks noChangeShapeType="1"/>
          </p:cNvSpPr>
          <p:nvPr/>
        </p:nvSpPr>
        <p:spPr bwMode="auto">
          <a:xfrm flipV="1">
            <a:off x="3200400" y="3352800"/>
            <a:ext cx="152400" cy="1524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3"/>
          <p:cNvSpPr>
            <a:spLocks noChangeShapeType="1"/>
          </p:cNvSpPr>
          <p:nvPr/>
        </p:nvSpPr>
        <p:spPr bwMode="auto">
          <a:xfrm>
            <a:off x="5867400" y="3352800"/>
            <a:ext cx="2362200" cy="10668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Oval 24"/>
          <p:cNvSpPr>
            <a:spLocks noChangeArrowheads="1"/>
          </p:cNvSpPr>
          <p:nvPr/>
        </p:nvSpPr>
        <p:spPr bwMode="auto">
          <a:xfrm>
            <a:off x="4953000" y="4419600"/>
            <a:ext cx="2362200" cy="533400"/>
          </a:xfrm>
          <a:prstGeom prst="ellipse">
            <a:avLst/>
          </a:prstGeom>
          <a:solidFill>
            <a:srgbClr val="FFFFCC"/>
          </a:solidFill>
          <a:ln w="19050">
            <a:solidFill>
              <a:srgbClr val="A50021"/>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sym typeface="Symbol" panose="05050102010706020507" pitchFamily="18" charset="2"/>
              </a:rPr>
              <a:t>35</a:t>
            </a:r>
            <a:r>
              <a:rPr lang="en-US" altLang="zh-CN" sz="2800">
                <a:solidFill>
                  <a:srgbClr val="FF00FF"/>
                </a:solidFill>
                <a:latin typeface="Consolas" panose="020B0609020204030204" pitchFamily="49" charset="0"/>
                <a:sym typeface="Symbol" panose="05050102010706020507" pitchFamily="18" charset="2"/>
              </a:rPr>
              <a:t></a:t>
            </a:r>
            <a:endParaRPr lang="en-US" altLang="zh-CN" sz="2800">
              <a:solidFill>
                <a:srgbClr val="A50021"/>
              </a:solidFill>
              <a:latin typeface="Consolas" panose="020B0609020204030204" pitchFamily="49" charset="0"/>
              <a:sym typeface="Symbol" panose="05050102010706020507" pitchFamily="18" charset="2"/>
            </a:endParaRPr>
          </a:p>
        </p:txBody>
      </p:sp>
      <p:sp>
        <p:nvSpPr>
          <p:cNvPr id="22" name="Rectangle 25"/>
          <p:cNvSpPr>
            <a:spLocks noChangeArrowheads="1"/>
          </p:cNvSpPr>
          <p:nvPr/>
        </p:nvSpPr>
        <p:spPr bwMode="auto">
          <a:xfrm>
            <a:off x="4378325" y="5567362"/>
            <a:ext cx="692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3200" dirty="0">
                <a:solidFill>
                  <a:srgbClr val="006600"/>
                </a:solidFill>
                <a:latin typeface="Consolas" panose="020B0609020204030204" pitchFamily="49" charset="0"/>
              </a:rPr>
              <a:t>30,</a:t>
            </a:r>
            <a:endParaRPr lang="en-US" altLang="zh-CN" sz="3200" dirty="0">
              <a:solidFill>
                <a:srgbClr val="A50021"/>
              </a:solidFill>
              <a:latin typeface="Consolas" panose="020B0609020204030204" pitchFamily="49" charset="0"/>
            </a:endParaRPr>
          </a:p>
        </p:txBody>
      </p:sp>
      <p:sp>
        <p:nvSpPr>
          <p:cNvPr id="23" name="Oval 28"/>
          <p:cNvSpPr>
            <a:spLocks noChangeArrowheads="1"/>
          </p:cNvSpPr>
          <p:nvPr/>
        </p:nvSpPr>
        <p:spPr bwMode="auto">
          <a:xfrm>
            <a:off x="3048000" y="3048000"/>
            <a:ext cx="3505200" cy="685800"/>
          </a:xfrm>
          <a:prstGeom prst="ellipse">
            <a:avLst/>
          </a:prstGeom>
          <a:solidFill>
            <a:srgbClr val="FFFFCC"/>
          </a:solidFill>
          <a:ln w="19050">
            <a:solidFill>
              <a:srgbClr val="99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rPr>
              <a:t>20   25    47</a:t>
            </a:r>
            <a:endParaRPr lang="en-US" altLang="zh-CN" sz="2800">
              <a:solidFill>
                <a:srgbClr val="FFFFFF"/>
              </a:solidFill>
              <a:latin typeface="Consolas" panose="020B0609020204030204" pitchFamily="49" charset="0"/>
            </a:endParaRPr>
          </a:p>
        </p:txBody>
      </p:sp>
      <p:sp>
        <p:nvSpPr>
          <p:cNvPr id="24" name="Line 29"/>
          <p:cNvSpPr>
            <a:spLocks noChangeShapeType="1"/>
          </p:cNvSpPr>
          <p:nvPr/>
        </p:nvSpPr>
        <p:spPr bwMode="auto">
          <a:xfrm flipV="1">
            <a:off x="3200400" y="3352800"/>
            <a:ext cx="228600" cy="1524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31"/>
          <p:cNvSpPr>
            <a:spLocks noChangeShapeType="1"/>
          </p:cNvSpPr>
          <p:nvPr/>
        </p:nvSpPr>
        <p:spPr bwMode="auto">
          <a:xfrm flipH="1" flipV="1">
            <a:off x="6096000" y="3352800"/>
            <a:ext cx="228600" cy="2286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33"/>
          <p:cNvSpPr>
            <a:spLocks noChangeShapeType="1"/>
          </p:cNvSpPr>
          <p:nvPr/>
        </p:nvSpPr>
        <p:spPr bwMode="auto">
          <a:xfrm flipH="1">
            <a:off x="5105400" y="3429000"/>
            <a:ext cx="152400" cy="304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35"/>
          <p:cNvSpPr>
            <a:spLocks noChangeShapeType="1"/>
          </p:cNvSpPr>
          <p:nvPr/>
        </p:nvSpPr>
        <p:spPr bwMode="auto">
          <a:xfrm flipH="1">
            <a:off x="3962400" y="3429000"/>
            <a:ext cx="152400" cy="9906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Oval 36"/>
          <p:cNvSpPr>
            <a:spLocks noChangeArrowheads="1"/>
          </p:cNvSpPr>
          <p:nvPr/>
        </p:nvSpPr>
        <p:spPr bwMode="auto">
          <a:xfrm>
            <a:off x="5029200" y="2971800"/>
            <a:ext cx="1524000" cy="838200"/>
          </a:xfrm>
          <a:prstGeom prst="ellipse">
            <a:avLst/>
          </a:prstGeom>
          <a:solidFill>
            <a:srgbClr val="CCFFCC"/>
          </a:solidFill>
          <a:ln w="9525">
            <a:solidFill>
              <a:srgbClr val="003300"/>
            </a:solidFill>
            <a:round/>
          </a:ln>
          <a:effectLst/>
        </p:spPr>
        <p:txBody>
          <a:bodyPr wrap="none" anchor="ctr"/>
          <a:lstStyle/>
          <a:p>
            <a:pPr algn="ctr" eaLnBrk="1" hangingPunct="1">
              <a:defRPr/>
            </a:pPr>
            <a:r>
              <a:rPr lang="en-US" altLang="zh-CN" sz="2800" dirty="0">
                <a:solidFill>
                  <a:schemeClr val="accent2">
                    <a:lumMod val="75000"/>
                  </a:schemeClr>
                </a:solidFill>
              </a:rPr>
              <a:t>47</a:t>
            </a:r>
            <a:endParaRPr lang="en-US" altLang="zh-CN" sz="2800" dirty="0">
              <a:solidFill>
                <a:schemeClr val="accent2">
                  <a:lumMod val="75000"/>
                </a:schemeClr>
              </a:solidFill>
            </a:endParaRPr>
          </a:p>
        </p:txBody>
      </p:sp>
      <p:sp>
        <p:nvSpPr>
          <p:cNvPr id="29" name="Line 38"/>
          <p:cNvSpPr>
            <a:spLocks noChangeShapeType="1"/>
          </p:cNvSpPr>
          <p:nvPr/>
        </p:nvSpPr>
        <p:spPr bwMode="auto">
          <a:xfrm flipV="1">
            <a:off x="5105400" y="3429000"/>
            <a:ext cx="304800" cy="304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40"/>
          <p:cNvSpPr>
            <a:spLocks noChangeShapeType="1"/>
          </p:cNvSpPr>
          <p:nvPr/>
        </p:nvSpPr>
        <p:spPr bwMode="auto">
          <a:xfrm>
            <a:off x="6248400" y="3505200"/>
            <a:ext cx="1981200" cy="9144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Oval 41"/>
          <p:cNvSpPr>
            <a:spLocks noChangeArrowheads="1"/>
          </p:cNvSpPr>
          <p:nvPr/>
        </p:nvSpPr>
        <p:spPr bwMode="auto">
          <a:xfrm>
            <a:off x="2971800" y="3048000"/>
            <a:ext cx="1295400" cy="685800"/>
          </a:xfrm>
          <a:prstGeom prst="ellipse">
            <a:avLst/>
          </a:prstGeom>
          <a:solidFill>
            <a:srgbClr val="FFFFCC"/>
          </a:solidFill>
          <a:ln w="19050">
            <a:solidFill>
              <a:srgbClr val="99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rPr>
              <a:t>  20   </a:t>
            </a:r>
            <a:endParaRPr lang="en-US" altLang="zh-CN" sz="2800">
              <a:solidFill>
                <a:srgbClr val="FFFFFF"/>
              </a:solidFill>
              <a:latin typeface="Consolas" panose="020B0609020204030204" pitchFamily="49" charset="0"/>
            </a:endParaRPr>
          </a:p>
        </p:txBody>
      </p:sp>
      <p:sp>
        <p:nvSpPr>
          <p:cNvPr id="32" name="Line 42"/>
          <p:cNvSpPr>
            <a:spLocks noChangeShapeType="1"/>
          </p:cNvSpPr>
          <p:nvPr/>
        </p:nvSpPr>
        <p:spPr bwMode="auto">
          <a:xfrm flipH="1">
            <a:off x="3124200" y="3429000"/>
            <a:ext cx="152400" cy="1524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44"/>
          <p:cNvSpPr>
            <a:spLocks noChangeShapeType="1"/>
          </p:cNvSpPr>
          <p:nvPr/>
        </p:nvSpPr>
        <p:spPr bwMode="auto">
          <a:xfrm flipH="1">
            <a:off x="3962400" y="3429000"/>
            <a:ext cx="152400" cy="1066800"/>
          </a:xfrm>
          <a:prstGeom prst="line">
            <a:avLst/>
          </a:prstGeom>
          <a:noFill/>
          <a:ln w="3810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useBgFill="1">
        <p:nvSpPr>
          <p:cNvPr id="34" name="Freeform 45"/>
          <p:cNvSpPr/>
          <p:nvPr/>
        </p:nvSpPr>
        <p:spPr bwMode="auto">
          <a:xfrm>
            <a:off x="3810000" y="2971800"/>
            <a:ext cx="1600200" cy="896938"/>
          </a:xfrm>
          <a:custGeom>
            <a:avLst/>
            <a:gdLst>
              <a:gd name="T0" fmla="*/ 2147483646 w 908"/>
              <a:gd name="T1" fmla="*/ 2147483646 h 521"/>
              <a:gd name="T2" fmla="*/ 2147483646 w 908"/>
              <a:gd name="T3" fmla="*/ 2147483646 h 521"/>
              <a:gd name="T4" fmla="*/ 2147483646 w 908"/>
              <a:gd name="T5" fmla="*/ 2147483646 h 521"/>
              <a:gd name="T6" fmla="*/ 2147483646 w 908"/>
              <a:gd name="T7" fmla="*/ 2147483646 h 521"/>
              <a:gd name="T8" fmla="*/ 2147483646 w 908"/>
              <a:gd name="T9" fmla="*/ 2147483646 h 521"/>
              <a:gd name="T10" fmla="*/ 2147483646 w 908"/>
              <a:gd name="T11" fmla="*/ 2147483646 h 521"/>
              <a:gd name="T12" fmla="*/ 2147483646 w 908"/>
              <a:gd name="T13" fmla="*/ 2147483646 h 521"/>
              <a:gd name="T14" fmla="*/ 2147483646 w 908"/>
              <a:gd name="T15" fmla="*/ 2147483646 h 521"/>
              <a:gd name="T16" fmla="*/ 2147483646 w 908"/>
              <a:gd name="T17" fmla="*/ 2147483646 h 521"/>
              <a:gd name="T18" fmla="*/ 2147483646 w 908"/>
              <a:gd name="T19" fmla="*/ 2147483646 h 521"/>
              <a:gd name="T20" fmla="*/ 2147483646 w 908"/>
              <a:gd name="T21" fmla="*/ 2147483646 h 521"/>
              <a:gd name="T22" fmla="*/ 2147483646 w 908"/>
              <a:gd name="T23" fmla="*/ 2147483646 h 521"/>
              <a:gd name="T24" fmla="*/ 2147483646 w 908"/>
              <a:gd name="T25" fmla="*/ 2147483646 h 521"/>
              <a:gd name="T26" fmla="*/ 2147483646 w 908"/>
              <a:gd name="T27" fmla="*/ 2147483646 h 521"/>
              <a:gd name="T28" fmla="*/ 2147483646 w 908"/>
              <a:gd name="T29" fmla="*/ 2147483646 h 521"/>
              <a:gd name="T30" fmla="*/ 2147483646 w 908"/>
              <a:gd name="T31" fmla="*/ 2147483646 h 521"/>
              <a:gd name="T32" fmla="*/ 2147483646 w 908"/>
              <a:gd name="T33" fmla="*/ 2147483646 h 5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8"/>
              <a:gd name="T52" fmla="*/ 0 h 521"/>
              <a:gd name="T53" fmla="*/ 908 w 908"/>
              <a:gd name="T54" fmla="*/ 521 h 5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8" h="521">
                <a:moveTo>
                  <a:pt x="74" y="28"/>
                </a:moveTo>
                <a:cubicBezTo>
                  <a:pt x="382" y="0"/>
                  <a:pt x="0" y="28"/>
                  <a:pt x="398" y="28"/>
                </a:cubicBezTo>
                <a:cubicBezTo>
                  <a:pt x="474" y="28"/>
                  <a:pt x="550" y="11"/>
                  <a:pt x="626" y="4"/>
                </a:cubicBezTo>
                <a:cubicBezTo>
                  <a:pt x="698" y="12"/>
                  <a:pt x="770" y="19"/>
                  <a:pt x="842" y="28"/>
                </a:cubicBezTo>
                <a:cubicBezTo>
                  <a:pt x="862" y="31"/>
                  <a:pt x="908" y="21"/>
                  <a:pt x="902" y="40"/>
                </a:cubicBezTo>
                <a:cubicBezTo>
                  <a:pt x="894" y="64"/>
                  <a:pt x="851" y="50"/>
                  <a:pt x="830" y="64"/>
                </a:cubicBezTo>
                <a:cubicBezTo>
                  <a:pt x="806" y="80"/>
                  <a:pt x="758" y="112"/>
                  <a:pt x="758" y="112"/>
                </a:cubicBezTo>
                <a:cubicBezTo>
                  <a:pt x="741" y="138"/>
                  <a:pt x="713" y="157"/>
                  <a:pt x="698" y="184"/>
                </a:cubicBezTo>
                <a:cubicBezTo>
                  <a:pt x="686" y="206"/>
                  <a:pt x="674" y="256"/>
                  <a:pt x="674" y="256"/>
                </a:cubicBezTo>
                <a:cubicBezTo>
                  <a:pt x="683" y="310"/>
                  <a:pt x="693" y="360"/>
                  <a:pt x="710" y="412"/>
                </a:cubicBezTo>
                <a:cubicBezTo>
                  <a:pt x="547" y="521"/>
                  <a:pt x="282" y="428"/>
                  <a:pt x="86" y="412"/>
                </a:cubicBezTo>
                <a:cubicBezTo>
                  <a:pt x="172" y="383"/>
                  <a:pt x="137" y="402"/>
                  <a:pt x="194" y="364"/>
                </a:cubicBezTo>
                <a:cubicBezTo>
                  <a:pt x="230" y="310"/>
                  <a:pt x="266" y="264"/>
                  <a:pt x="266" y="196"/>
                </a:cubicBezTo>
                <a:cubicBezTo>
                  <a:pt x="245" y="132"/>
                  <a:pt x="211" y="98"/>
                  <a:pt x="146" y="76"/>
                </a:cubicBezTo>
                <a:cubicBezTo>
                  <a:pt x="138" y="64"/>
                  <a:pt x="135" y="47"/>
                  <a:pt x="122" y="40"/>
                </a:cubicBezTo>
                <a:cubicBezTo>
                  <a:pt x="97" y="26"/>
                  <a:pt x="66" y="23"/>
                  <a:pt x="38" y="16"/>
                </a:cubicBezTo>
                <a:cubicBezTo>
                  <a:pt x="26" y="13"/>
                  <a:pt x="62" y="24"/>
                  <a:pt x="74" y="28"/>
                </a:cubicBezTo>
                <a:close/>
              </a:path>
            </a:pathLst>
          </a:custGeom>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35" name="Oval 46"/>
          <p:cNvSpPr>
            <a:spLocks noChangeArrowheads="1"/>
          </p:cNvSpPr>
          <p:nvPr/>
        </p:nvSpPr>
        <p:spPr bwMode="auto">
          <a:xfrm>
            <a:off x="4267200" y="1752600"/>
            <a:ext cx="990600" cy="609600"/>
          </a:xfrm>
          <a:prstGeom prst="ellipse">
            <a:avLst/>
          </a:prstGeom>
          <a:solidFill>
            <a:srgbClr val="99CCFF"/>
          </a:solidFill>
          <a:ln w="9525">
            <a:solidFill>
              <a:srgbClr val="000080"/>
            </a:solidFill>
            <a:round/>
          </a:ln>
          <a:effectLst/>
        </p:spPr>
        <p:txBody>
          <a:bodyPr wrap="none" anchor="ctr"/>
          <a:lstStyle/>
          <a:p>
            <a:pPr algn="ctr" eaLnBrk="1" hangingPunct="1">
              <a:defRPr/>
            </a:pPr>
            <a:r>
              <a:rPr lang="en-US" altLang="zh-CN" sz="2800" dirty="0">
                <a:solidFill>
                  <a:schemeClr val="accent2">
                    <a:lumMod val="75000"/>
                  </a:schemeClr>
                </a:solidFill>
              </a:rPr>
              <a:t>25</a:t>
            </a:r>
            <a:endParaRPr lang="en-US" altLang="zh-CN" sz="2800" dirty="0">
              <a:solidFill>
                <a:schemeClr val="accent2">
                  <a:lumMod val="75000"/>
                </a:schemeClr>
              </a:solidFill>
            </a:endParaRPr>
          </a:p>
        </p:txBody>
      </p:sp>
      <p:sp>
        <p:nvSpPr>
          <p:cNvPr id="36" name="Freeform 48"/>
          <p:cNvSpPr/>
          <p:nvPr/>
        </p:nvSpPr>
        <p:spPr bwMode="auto">
          <a:xfrm>
            <a:off x="3733800" y="1143000"/>
            <a:ext cx="1066800" cy="609600"/>
          </a:xfrm>
          <a:custGeom>
            <a:avLst/>
            <a:gdLst>
              <a:gd name="T0" fmla="*/ 0 w 672"/>
              <a:gd name="T1" fmla="*/ 0 h 384"/>
              <a:gd name="T2" fmla="*/ 2147483646 w 672"/>
              <a:gd name="T3" fmla="*/ 2147483646 h 384"/>
              <a:gd name="T4" fmla="*/ 2147483646 w 672"/>
              <a:gd name="T5" fmla="*/ 2147483646 h 384"/>
              <a:gd name="T6" fmla="*/ 2147483646 w 672"/>
              <a:gd name="T7" fmla="*/ 2147483646 h 384"/>
              <a:gd name="T8" fmla="*/ 0 60000 65536"/>
              <a:gd name="T9" fmla="*/ 0 60000 65536"/>
              <a:gd name="T10" fmla="*/ 0 60000 65536"/>
              <a:gd name="T11" fmla="*/ 0 60000 65536"/>
              <a:gd name="T12" fmla="*/ 0 w 672"/>
              <a:gd name="T13" fmla="*/ 0 h 384"/>
              <a:gd name="T14" fmla="*/ 672 w 672"/>
              <a:gd name="T15" fmla="*/ 384 h 384"/>
            </a:gdLst>
            <a:ahLst/>
            <a:cxnLst>
              <a:cxn ang="T8">
                <a:pos x="T0" y="T1"/>
              </a:cxn>
              <a:cxn ang="T9">
                <a:pos x="T2" y="T3"/>
              </a:cxn>
              <a:cxn ang="T10">
                <a:pos x="T4" y="T5"/>
              </a:cxn>
              <a:cxn ang="T11">
                <a:pos x="T6" y="T7"/>
              </a:cxn>
            </a:cxnLst>
            <a:rect l="T12" t="T13" r="T14" b="T15"/>
            <a:pathLst>
              <a:path w="672" h="384">
                <a:moveTo>
                  <a:pt x="0" y="0"/>
                </a:moveTo>
                <a:cubicBezTo>
                  <a:pt x="180" y="36"/>
                  <a:pt x="360" y="72"/>
                  <a:pt x="384" y="96"/>
                </a:cubicBezTo>
                <a:cubicBezTo>
                  <a:pt x="408" y="120"/>
                  <a:pt x="96" y="96"/>
                  <a:pt x="144" y="144"/>
                </a:cubicBezTo>
                <a:cubicBezTo>
                  <a:pt x="192" y="192"/>
                  <a:pt x="584" y="344"/>
                  <a:pt x="672" y="384"/>
                </a:cubicBezTo>
              </a:path>
            </a:pathLst>
          </a:custGeom>
          <a:noFill/>
          <a:ln w="28575">
            <a:solidFill>
              <a:srgbClr val="FF00FF"/>
            </a:solidFill>
            <a:rou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7" name="Line 49"/>
          <p:cNvSpPr>
            <a:spLocks noChangeShapeType="1"/>
          </p:cNvSpPr>
          <p:nvPr/>
        </p:nvSpPr>
        <p:spPr bwMode="auto">
          <a:xfrm flipH="1">
            <a:off x="3733800" y="2057400"/>
            <a:ext cx="685800" cy="990600"/>
          </a:xfrm>
          <a:prstGeom prst="line">
            <a:avLst/>
          </a:prstGeom>
          <a:noFill/>
          <a:ln w="57150">
            <a:solidFill>
              <a:srgbClr val="A5002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50"/>
          <p:cNvSpPr>
            <a:spLocks noChangeShapeType="1"/>
          </p:cNvSpPr>
          <p:nvPr/>
        </p:nvSpPr>
        <p:spPr bwMode="auto">
          <a:xfrm>
            <a:off x="5105400" y="2057400"/>
            <a:ext cx="685800" cy="99060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Oval 26"/>
          <p:cNvSpPr>
            <a:spLocks noChangeArrowheads="1"/>
          </p:cNvSpPr>
          <p:nvPr/>
        </p:nvSpPr>
        <p:spPr bwMode="auto">
          <a:xfrm>
            <a:off x="1143000" y="4419600"/>
            <a:ext cx="3733800" cy="533400"/>
          </a:xfrm>
          <a:prstGeom prst="ellipse">
            <a:avLst/>
          </a:prstGeom>
          <a:solidFill>
            <a:srgbClr val="CCFFCC"/>
          </a:solidFill>
          <a:ln w="19050">
            <a:solidFill>
              <a:srgbClr val="00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sym typeface="Symbol" panose="05050102010706020507" pitchFamily="18" charset="2"/>
              </a:rPr>
              <a:t>15</a:t>
            </a:r>
            <a:r>
              <a:rPr lang="en-US" altLang="zh-CN" sz="2800">
                <a:solidFill>
                  <a:srgbClr val="A50021"/>
                </a:solidFill>
                <a:latin typeface="Consolas" panose="020B0609020204030204" pitchFamily="49" charset="0"/>
              </a:rPr>
              <a:t> </a:t>
            </a:r>
            <a:r>
              <a:rPr lang="en-US" altLang="zh-CN" sz="1800">
                <a:solidFill>
                  <a:srgbClr val="A50021"/>
                </a:solidFill>
                <a:latin typeface="Consolas" panose="020B0609020204030204" pitchFamily="49" charset="0"/>
                <a:sym typeface="Symbol" panose="05050102010706020507" pitchFamily="18" charset="2"/>
              </a:rPr>
              <a:t></a:t>
            </a:r>
            <a:r>
              <a:rPr lang="en-US" altLang="zh-CN" sz="1800">
                <a:solidFill>
                  <a:srgbClr val="FFFFFF"/>
                </a:solidFill>
                <a:latin typeface="Consolas" panose="020B0609020204030204" pitchFamily="49" charset="0"/>
              </a:rPr>
              <a:t> </a:t>
            </a:r>
            <a:r>
              <a:rPr lang="en-US" altLang="zh-CN" sz="2800">
                <a:solidFill>
                  <a:srgbClr val="A50021"/>
                </a:solidFill>
                <a:latin typeface="Consolas" panose="020B0609020204030204" pitchFamily="49" charset="0"/>
              </a:rPr>
              <a:t>20</a:t>
            </a:r>
            <a:r>
              <a:rPr lang="en-US" altLang="zh-CN" sz="1800">
                <a:solidFill>
                  <a:srgbClr val="A50021"/>
                </a:solidFill>
                <a:latin typeface="Consolas" panose="020B0609020204030204" pitchFamily="49" charset="0"/>
                <a:sym typeface="Symbol" panose="05050102010706020507" pitchFamily="18" charset="2"/>
              </a:rPr>
              <a:t></a:t>
            </a:r>
            <a:r>
              <a:rPr lang="en-US" altLang="zh-CN" sz="1800">
                <a:solidFill>
                  <a:srgbClr val="FFFFFF"/>
                </a:solidFill>
                <a:latin typeface="Consolas" panose="020B0609020204030204" pitchFamily="49" charset="0"/>
              </a:rPr>
              <a:t> </a:t>
            </a:r>
            <a:r>
              <a:rPr lang="en-US" altLang="zh-CN" sz="2800">
                <a:solidFill>
                  <a:srgbClr val="A50021"/>
                </a:solidFill>
                <a:latin typeface="Consolas" panose="020B0609020204030204" pitchFamily="49" charset="0"/>
              </a:rPr>
              <a:t>30 </a:t>
            </a:r>
            <a:r>
              <a:rPr lang="en-US" altLang="zh-CN" sz="2800">
                <a:solidFill>
                  <a:srgbClr val="A50021"/>
                </a:solidFill>
                <a:latin typeface="Consolas" panose="020B0609020204030204" pitchFamily="49" charset="0"/>
                <a:sym typeface="Symbol" panose="05050102010706020507" pitchFamily="18" charset="2"/>
              </a:rPr>
              <a:t></a:t>
            </a:r>
            <a:endParaRPr lang="en-US" altLang="zh-CN" sz="2800">
              <a:solidFill>
                <a:srgbClr val="A50021"/>
              </a:solidFill>
              <a:latin typeface="Consolas" panose="020B0609020204030204" pitchFamily="49" charset="0"/>
              <a:sym typeface="Symbol" panose="05050102010706020507" pitchFamily="18" charset="2"/>
            </a:endParaRPr>
          </a:p>
        </p:txBody>
      </p:sp>
      <p:sp>
        <p:nvSpPr>
          <p:cNvPr id="40" name="Oval 27"/>
          <p:cNvSpPr>
            <a:spLocks noChangeArrowheads="1"/>
          </p:cNvSpPr>
          <p:nvPr/>
        </p:nvSpPr>
        <p:spPr bwMode="auto">
          <a:xfrm>
            <a:off x="762000" y="4419600"/>
            <a:ext cx="1981200" cy="533400"/>
          </a:xfrm>
          <a:prstGeom prst="ellipse">
            <a:avLst/>
          </a:prstGeom>
          <a:solidFill>
            <a:srgbClr val="FFFFCC"/>
          </a:solidFill>
          <a:ln w="19050">
            <a:solidFill>
              <a:srgbClr val="99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sym typeface="Symbol" panose="05050102010706020507" pitchFamily="18" charset="2"/>
              </a:rPr>
              <a:t> 15</a:t>
            </a:r>
            <a:r>
              <a:rPr lang="en-US" altLang="zh-CN" sz="2800">
                <a:solidFill>
                  <a:srgbClr val="A50021"/>
                </a:solidFill>
                <a:latin typeface="Consolas" panose="020B0609020204030204" pitchFamily="49" charset="0"/>
              </a:rPr>
              <a:t> </a:t>
            </a:r>
            <a:r>
              <a:rPr lang="en-US" altLang="zh-CN" sz="2800">
                <a:solidFill>
                  <a:srgbClr val="A50021"/>
                </a:solidFill>
                <a:latin typeface="Consolas" panose="020B0609020204030204" pitchFamily="49" charset="0"/>
                <a:sym typeface="Symbol" panose="05050102010706020507" pitchFamily="18" charset="2"/>
              </a:rPr>
              <a:t></a:t>
            </a:r>
            <a:endParaRPr lang="en-US" altLang="zh-CN" sz="2800">
              <a:solidFill>
                <a:srgbClr val="A50021"/>
              </a:solidFill>
              <a:latin typeface="Consolas" panose="020B0609020204030204" pitchFamily="49" charset="0"/>
              <a:sym typeface="Symbol" panose="05050102010706020507" pitchFamily="18" charset="2"/>
            </a:endParaRPr>
          </a:p>
        </p:txBody>
      </p:sp>
      <p:sp>
        <p:nvSpPr>
          <p:cNvPr id="41" name="Oval 27"/>
          <p:cNvSpPr>
            <a:spLocks noChangeArrowheads="1"/>
          </p:cNvSpPr>
          <p:nvPr/>
        </p:nvSpPr>
        <p:spPr bwMode="auto">
          <a:xfrm>
            <a:off x="2895600" y="4419600"/>
            <a:ext cx="1981200" cy="533400"/>
          </a:xfrm>
          <a:prstGeom prst="ellipse">
            <a:avLst/>
          </a:prstGeom>
          <a:solidFill>
            <a:srgbClr val="FFFFCC"/>
          </a:solidFill>
          <a:ln w="19050">
            <a:solidFill>
              <a:srgbClr val="993300"/>
            </a:solidFill>
            <a:round/>
          </a:ln>
        </p:spPr>
        <p:txBody>
          <a:bodyPr wrap="none"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sz="2800">
                <a:solidFill>
                  <a:srgbClr val="A50021"/>
                </a:solidFill>
                <a:latin typeface="Consolas" panose="020B0609020204030204" pitchFamily="49" charset="0"/>
                <a:sym typeface="Symbol" panose="05050102010706020507" pitchFamily="18" charset="2"/>
              </a:rPr>
              <a:t> 30</a:t>
            </a:r>
            <a:r>
              <a:rPr lang="en-US" altLang="zh-CN" sz="2800">
                <a:solidFill>
                  <a:srgbClr val="A50021"/>
                </a:solidFill>
                <a:latin typeface="Consolas" panose="020B0609020204030204" pitchFamily="49" charset="0"/>
              </a:rPr>
              <a:t> </a:t>
            </a:r>
            <a:r>
              <a:rPr lang="en-US" altLang="zh-CN" sz="2800">
                <a:solidFill>
                  <a:srgbClr val="A50021"/>
                </a:solidFill>
                <a:latin typeface="Consolas" panose="020B0609020204030204" pitchFamily="49" charset="0"/>
                <a:sym typeface="Symbol" panose="05050102010706020507" pitchFamily="18" charset="2"/>
              </a:rPr>
              <a:t></a:t>
            </a:r>
            <a:endParaRPr lang="en-US" altLang="zh-CN" sz="2800">
              <a:solidFill>
                <a:srgbClr val="A50021"/>
              </a:solidFill>
              <a:latin typeface="Consolas" panose="020B0609020204030204" pitchFamily="49"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upRight)">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up)">
                                      <p:cBhvr>
                                        <p:cTn id="19" dur="500"/>
                                        <p:tgtEl>
                                          <p:spTgt spid="9"/>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up)">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iterate type="wd">
                                    <p:tmPct val="100000"/>
                                  </p:iterate>
                                  <p:childTnLst>
                                    <p:set>
                                      <p:cBhvr>
                                        <p:cTn id="40" dur="1" fill="hold">
                                          <p:stCondLst>
                                            <p:cond delay="0"/>
                                          </p:stCondLst>
                                        </p:cTn>
                                        <p:tgtEl>
                                          <p:spTgt spid="13"/>
                                        </p:tgtEl>
                                        <p:attrNameLst>
                                          <p:attrName>style.visibility</p:attrName>
                                        </p:attrNameLst>
                                      </p:cBhvr>
                                      <p:to>
                                        <p:strVal val="visible"/>
                                      </p:to>
                                    </p:set>
                                    <p:animEffect transition="in" filter="wipe(left)">
                                      <p:cBhvr>
                                        <p:cTn id="41" dur="3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iterate type="wd">
                                    <p:tmPct val="100000"/>
                                  </p:iterate>
                                  <p:childTnLst>
                                    <p:set>
                                      <p:cBhvr>
                                        <p:cTn id="50" dur="1" fill="hold">
                                          <p:stCondLst>
                                            <p:cond delay="0"/>
                                          </p:stCondLst>
                                        </p:cTn>
                                        <p:tgtEl>
                                          <p:spTgt spid="15"/>
                                        </p:tgtEl>
                                        <p:attrNameLst>
                                          <p:attrName>style.visibility</p:attrName>
                                        </p:attrNameLst>
                                      </p:cBhvr>
                                      <p:to>
                                        <p:strVal val="visible"/>
                                      </p:to>
                                    </p:set>
                                    <p:animEffect transition="in" filter="wipe(left)">
                                      <p:cBhvr>
                                        <p:cTn id="51" dur="3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left)">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50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iterate type="wd">
                                    <p:tmPct val="100000"/>
                                  </p:iterate>
                                  <p:childTnLst>
                                    <p:set>
                                      <p:cBhvr>
                                        <p:cTn id="65" dur="1" fill="hold">
                                          <p:stCondLst>
                                            <p:cond delay="0"/>
                                          </p:stCondLst>
                                        </p:cTn>
                                        <p:tgtEl>
                                          <p:spTgt spid="17"/>
                                        </p:tgtEl>
                                        <p:attrNameLst>
                                          <p:attrName>style.visibility</p:attrName>
                                        </p:attrNameLst>
                                      </p:cBhvr>
                                      <p:to>
                                        <p:strVal val="visible"/>
                                      </p:to>
                                    </p:set>
                                    <p:animEffect transition="in" filter="wipe(left)">
                                      <p:cBhvr>
                                        <p:cTn id="66" dur="300"/>
                                        <p:tgtEl>
                                          <p:spTgt spid="17"/>
                                        </p:tgtEl>
                                      </p:cBhvr>
                                    </p:animEffect>
                                  </p:childTnLst>
                                </p:cTn>
                              </p:par>
                            </p:childTnLst>
                          </p:cTn>
                        </p:par>
                        <p:par>
                          <p:cTn id="67" fill="hold">
                            <p:stCondLst>
                              <p:cond delay="2400"/>
                            </p:stCondLst>
                            <p:childTnLst>
                              <p:par>
                                <p:cTn id="68" presetID="1" presetClass="entr" presetSubtype="0" fill="hold" nodeType="afterEffect">
                                  <p:stCondLst>
                                    <p:cond delay="0"/>
                                  </p:stCondLst>
                                  <p:childTnLst>
                                    <p:set>
                                      <p:cBhvr>
                                        <p:cTn id="69" dur="1" fill="hold">
                                          <p:stCondLst>
                                            <p:cond delay="499"/>
                                          </p:stCondLst>
                                        </p:cTn>
                                        <p:tgtEl>
                                          <p:spTgt spid="18"/>
                                        </p:tgtEl>
                                        <p:attrNameLst>
                                          <p:attrName>style.visibility</p:attrName>
                                        </p:attrNameLst>
                                      </p:cBhvr>
                                      <p:to>
                                        <p:strVal val="visible"/>
                                      </p:to>
                                    </p:set>
                                  </p:childTnLst>
                                </p:cTn>
                              </p:par>
                            </p:childTnLst>
                          </p:cTn>
                        </p:par>
                        <p:par>
                          <p:cTn id="70" fill="hold">
                            <p:stCondLst>
                              <p:cond delay="2900"/>
                            </p:stCondLst>
                            <p:childTnLst>
                              <p:par>
                                <p:cTn id="71" presetID="1" presetClass="entr" presetSubtype="0" fill="hold" nodeType="afterEffect">
                                  <p:stCondLst>
                                    <p:cond delay="0"/>
                                  </p:stCondLst>
                                  <p:childTnLst>
                                    <p:set>
                                      <p:cBhvr>
                                        <p:cTn id="72" dur="1" fill="hold">
                                          <p:stCondLst>
                                            <p:cond delay="499"/>
                                          </p:stCondLst>
                                        </p:cTn>
                                        <p:tgtEl>
                                          <p:spTgt spid="19"/>
                                        </p:tgtEl>
                                        <p:attrNameLst>
                                          <p:attrName>style.visibility</p:attrName>
                                        </p:attrNameLst>
                                      </p:cBhvr>
                                      <p:to>
                                        <p:strVal val="visible"/>
                                      </p:to>
                                    </p:set>
                                  </p:childTnLst>
                                </p:cTn>
                              </p:par>
                            </p:childTnLst>
                          </p:cTn>
                        </p:par>
                        <p:par>
                          <p:cTn id="73" fill="hold">
                            <p:stCondLst>
                              <p:cond delay="3400"/>
                            </p:stCondLst>
                            <p:childTnLst>
                              <p:par>
                                <p:cTn id="74" presetID="22" presetClass="entr" presetSubtype="1" fill="hold"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wipe(up)">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left)">
                                      <p:cBhvr>
                                        <p:cTn id="81" dur="500"/>
                                        <p:tgtEl>
                                          <p:spTgt spid="2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9"/>
                                        </p:tgtEl>
                                        <p:attrNameLst>
                                          <p:attrName>style.visibility</p:attrName>
                                        </p:attrNameLst>
                                      </p:cBhvr>
                                      <p:to>
                                        <p:strVal val="visible"/>
                                      </p:to>
                                    </p:set>
                                    <p:animEffect transition="in" filter="wipe(left)">
                                      <p:cBhvr>
                                        <p:cTn id="86" dur="500"/>
                                        <p:tgtEl>
                                          <p:spTgt spid="39"/>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wipe(left)">
                                      <p:cBhvr>
                                        <p:cTn id="91" dur="500"/>
                                        <p:tgtEl>
                                          <p:spTgt spid="40"/>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wipe(left)">
                                      <p:cBhvr>
                                        <p:cTn id="96" dur="500"/>
                                        <p:tgtEl>
                                          <p:spTgt spid="41"/>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iterate type="wd">
                                    <p:tmPct val="100000"/>
                                  </p:iterate>
                                  <p:childTnLst>
                                    <p:set>
                                      <p:cBhvr>
                                        <p:cTn id="100" dur="1" fill="hold">
                                          <p:stCondLst>
                                            <p:cond delay="0"/>
                                          </p:stCondLst>
                                        </p:cTn>
                                        <p:tgtEl>
                                          <p:spTgt spid="23"/>
                                        </p:tgtEl>
                                        <p:attrNameLst>
                                          <p:attrName>style.visibility</p:attrName>
                                        </p:attrNameLst>
                                      </p:cBhvr>
                                      <p:to>
                                        <p:strVal val="visible"/>
                                      </p:to>
                                    </p:set>
                                    <p:animEffect transition="in" filter="wipe(left)">
                                      <p:cBhvr>
                                        <p:cTn id="101" dur="300"/>
                                        <p:tgtEl>
                                          <p:spTgt spid="23"/>
                                        </p:tgtEl>
                                      </p:cBhvr>
                                    </p:animEffect>
                                  </p:childTnLst>
                                </p:cTn>
                              </p:par>
                            </p:childTnLst>
                          </p:cTn>
                        </p:par>
                        <p:par>
                          <p:cTn id="102" fill="hold">
                            <p:stCondLst>
                              <p:cond delay="3900"/>
                            </p:stCondLst>
                            <p:childTnLst>
                              <p:par>
                                <p:cTn id="103" presetID="1" presetClass="entr" presetSubtype="0" fill="hold" nodeType="afterEffect">
                                  <p:stCondLst>
                                    <p:cond delay="0"/>
                                  </p:stCondLst>
                                  <p:childTnLst>
                                    <p:set>
                                      <p:cBhvr>
                                        <p:cTn id="104" dur="1" fill="hold">
                                          <p:stCondLst>
                                            <p:cond delay="499"/>
                                          </p:stCondLst>
                                        </p:cTn>
                                        <p:tgtEl>
                                          <p:spTgt spid="24"/>
                                        </p:tgtEl>
                                        <p:attrNameLst>
                                          <p:attrName>style.visibility</p:attrName>
                                        </p:attrNameLst>
                                      </p:cBhvr>
                                      <p:to>
                                        <p:strVal val="visible"/>
                                      </p:to>
                                    </p:set>
                                  </p:childTnLst>
                                </p:cTn>
                              </p:par>
                            </p:childTnLst>
                          </p:cTn>
                        </p:par>
                        <p:par>
                          <p:cTn id="105" fill="hold">
                            <p:stCondLst>
                              <p:cond delay="4400"/>
                            </p:stCondLst>
                            <p:childTnLst>
                              <p:par>
                                <p:cTn id="106" presetID="1" presetClass="entr" presetSubtype="0" fill="hold" nodeType="afterEffect">
                                  <p:stCondLst>
                                    <p:cond delay="0"/>
                                  </p:stCondLst>
                                  <p:childTnLst>
                                    <p:set>
                                      <p:cBhvr>
                                        <p:cTn id="107" dur="1" fill="hold">
                                          <p:stCondLst>
                                            <p:cond delay="499"/>
                                          </p:stCondLst>
                                        </p:cTn>
                                        <p:tgtEl>
                                          <p:spTgt spid="25"/>
                                        </p:tgtEl>
                                        <p:attrNameLst>
                                          <p:attrName>style.visibility</p:attrName>
                                        </p:attrNameLst>
                                      </p:cBhvr>
                                      <p:to>
                                        <p:strVal val="visible"/>
                                      </p:to>
                                    </p:set>
                                  </p:childTnLst>
                                </p:cTn>
                              </p:par>
                            </p:childTnLst>
                          </p:cTn>
                        </p:par>
                        <p:par>
                          <p:cTn id="108" fill="hold">
                            <p:stCondLst>
                              <p:cond delay="4900"/>
                            </p:stCondLst>
                            <p:childTnLst>
                              <p:par>
                                <p:cTn id="109" presetID="1" presetClass="entr" presetSubtype="0" fill="hold" nodeType="afterEffect">
                                  <p:stCondLst>
                                    <p:cond delay="0"/>
                                  </p:stCondLst>
                                  <p:childTnLst>
                                    <p:set>
                                      <p:cBhvr>
                                        <p:cTn id="110" dur="1" fill="hold">
                                          <p:stCondLst>
                                            <p:cond delay="499"/>
                                          </p:stCondLst>
                                        </p:cTn>
                                        <p:tgtEl>
                                          <p:spTgt spid="26"/>
                                        </p:tgtEl>
                                        <p:attrNameLst>
                                          <p:attrName>style.visibility</p:attrName>
                                        </p:attrNameLst>
                                      </p:cBhvr>
                                      <p:to>
                                        <p:strVal val="visible"/>
                                      </p:to>
                                    </p:set>
                                  </p:childTnLst>
                                </p:cTn>
                              </p:par>
                            </p:childTnLst>
                          </p:cTn>
                        </p:par>
                        <p:par>
                          <p:cTn id="111" fill="hold">
                            <p:stCondLst>
                              <p:cond delay="5400"/>
                            </p:stCondLst>
                            <p:childTnLst>
                              <p:par>
                                <p:cTn id="112" presetID="1" presetClass="entr" presetSubtype="0" fill="hold" nodeType="afterEffect">
                                  <p:stCondLst>
                                    <p:cond delay="0"/>
                                  </p:stCondLst>
                                  <p:childTnLst>
                                    <p:set>
                                      <p:cBhvr>
                                        <p:cTn id="113" dur="1" fill="hold">
                                          <p:stCondLst>
                                            <p:cond delay="499"/>
                                          </p:stCondLst>
                                        </p:cTn>
                                        <p:tgtEl>
                                          <p:spTgt spid="27"/>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wipe(left)">
                                      <p:cBhvr>
                                        <p:cTn id="118" dur="500"/>
                                        <p:tgtEl>
                                          <p:spTgt spid="28"/>
                                        </p:tgtEl>
                                      </p:cBhvr>
                                    </p:animEffect>
                                  </p:childTnLst>
                                </p:cTn>
                              </p:par>
                            </p:childTnLst>
                          </p:cTn>
                        </p:par>
                        <p:par>
                          <p:cTn id="119" fill="hold">
                            <p:stCondLst>
                              <p:cond delay="500"/>
                            </p:stCondLst>
                            <p:childTnLst>
                              <p:par>
                                <p:cTn id="120" presetID="1" presetClass="entr" presetSubtype="0" fill="hold" nodeType="afterEffect">
                                  <p:stCondLst>
                                    <p:cond delay="0"/>
                                  </p:stCondLst>
                                  <p:childTnLst>
                                    <p:set>
                                      <p:cBhvr>
                                        <p:cTn id="121" dur="1" fill="hold">
                                          <p:stCondLst>
                                            <p:cond delay="499"/>
                                          </p:stCondLst>
                                        </p:cTn>
                                        <p:tgtEl>
                                          <p:spTgt spid="29"/>
                                        </p:tgtEl>
                                        <p:attrNameLst>
                                          <p:attrName>style.visibility</p:attrName>
                                        </p:attrNameLst>
                                      </p:cBhvr>
                                      <p:to>
                                        <p:strVal val="visible"/>
                                      </p:to>
                                    </p:set>
                                  </p:childTnLst>
                                </p:cTn>
                              </p:par>
                            </p:childTnLst>
                          </p:cTn>
                        </p:par>
                        <p:par>
                          <p:cTn id="122" fill="hold">
                            <p:stCondLst>
                              <p:cond delay="1000"/>
                            </p:stCondLst>
                            <p:childTnLst>
                              <p:par>
                                <p:cTn id="123" presetID="1" presetClass="entr" presetSubtype="0" fill="hold" nodeType="afterEffect">
                                  <p:stCondLst>
                                    <p:cond delay="0"/>
                                  </p:stCondLst>
                                  <p:childTnLst>
                                    <p:set>
                                      <p:cBhvr>
                                        <p:cTn id="124" dur="1" fill="hold">
                                          <p:stCondLst>
                                            <p:cond delay="499"/>
                                          </p:stCondLst>
                                        </p:cTn>
                                        <p:tgtEl>
                                          <p:spTgt spid="3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iterate type="wd">
                                    <p:tmPct val="100000"/>
                                  </p:iterate>
                                  <p:childTnLst>
                                    <p:set>
                                      <p:cBhvr>
                                        <p:cTn id="128" dur="1" fill="hold">
                                          <p:stCondLst>
                                            <p:cond delay="0"/>
                                          </p:stCondLst>
                                        </p:cTn>
                                        <p:tgtEl>
                                          <p:spTgt spid="31"/>
                                        </p:tgtEl>
                                        <p:attrNameLst>
                                          <p:attrName>style.visibility</p:attrName>
                                        </p:attrNameLst>
                                      </p:cBhvr>
                                      <p:to>
                                        <p:strVal val="visible"/>
                                      </p:to>
                                    </p:set>
                                    <p:animEffect transition="in" filter="wipe(left)">
                                      <p:cBhvr>
                                        <p:cTn id="129" dur="300"/>
                                        <p:tgtEl>
                                          <p:spTgt spid="31"/>
                                        </p:tgtEl>
                                      </p:cBhvr>
                                    </p:animEffect>
                                  </p:childTnLst>
                                </p:cTn>
                              </p:par>
                            </p:childTnLst>
                          </p:cTn>
                        </p:par>
                        <p:par>
                          <p:cTn id="130" fill="hold">
                            <p:stCondLst>
                              <p:cond delay="2100"/>
                            </p:stCondLst>
                            <p:childTnLst>
                              <p:par>
                                <p:cTn id="131" presetID="1" presetClass="entr" presetSubtype="0" fill="hold" nodeType="afterEffect">
                                  <p:stCondLst>
                                    <p:cond delay="0"/>
                                  </p:stCondLst>
                                  <p:childTnLst>
                                    <p:set>
                                      <p:cBhvr>
                                        <p:cTn id="132" dur="1" fill="hold">
                                          <p:stCondLst>
                                            <p:cond delay="499"/>
                                          </p:stCondLst>
                                        </p:cTn>
                                        <p:tgtEl>
                                          <p:spTgt spid="32"/>
                                        </p:tgtEl>
                                        <p:attrNameLst>
                                          <p:attrName>style.visibility</p:attrName>
                                        </p:attrNameLst>
                                      </p:cBhvr>
                                      <p:to>
                                        <p:strVal val="visible"/>
                                      </p:to>
                                    </p:set>
                                  </p:childTnLst>
                                </p:cTn>
                              </p:par>
                            </p:childTnLst>
                          </p:cTn>
                        </p:par>
                        <p:par>
                          <p:cTn id="133" fill="hold">
                            <p:stCondLst>
                              <p:cond delay="2600"/>
                            </p:stCondLst>
                            <p:childTnLst>
                              <p:par>
                                <p:cTn id="134" presetID="1" presetClass="entr" presetSubtype="0" fill="hold" nodeType="afterEffect">
                                  <p:stCondLst>
                                    <p:cond delay="0"/>
                                  </p:stCondLst>
                                  <p:childTnLst>
                                    <p:set>
                                      <p:cBhvr>
                                        <p:cTn id="135" dur="1" fill="hold">
                                          <p:stCondLst>
                                            <p:cond delay="499"/>
                                          </p:stCondLst>
                                        </p:cTn>
                                        <p:tgtEl>
                                          <p:spTgt spid="33"/>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35"/>
                                        </p:tgtEl>
                                        <p:attrNameLst>
                                          <p:attrName>style.visibility</p:attrName>
                                        </p:attrNameLst>
                                      </p:cBhvr>
                                      <p:to>
                                        <p:strVal val="visible"/>
                                      </p:to>
                                    </p:set>
                                    <p:animEffect transition="in" filter="wipe(left)">
                                      <p:cBhvr>
                                        <p:cTn id="140" dur="500"/>
                                        <p:tgtEl>
                                          <p:spTgt spid="35"/>
                                        </p:tgtEl>
                                      </p:cBhvr>
                                    </p:animEffect>
                                  </p:childTnLst>
                                </p:cTn>
                              </p:par>
                            </p:childTnLst>
                          </p:cTn>
                        </p:par>
                        <p:par>
                          <p:cTn id="141" fill="hold">
                            <p:stCondLst>
                              <p:cond delay="500"/>
                            </p:stCondLst>
                            <p:childTnLst>
                              <p:par>
                                <p:cTn id="142" presetID="1" presetClass="entr" presetSubtype="0" fill="hold" nodeType="afterEffect">
                                  <p:stCondLst>
                                    <p:cond delay="0"/>
                                  </p:stCondLst>
                                  <p:childTnLst>
                                    <p:set>
                                      <p:cBhvr>
                                        <p:cTn id="143" dur="1" fill="hold">
                                          <p:stCondLst>
                                            <p:cond delay="499"/>
                                          </p:stCondLst>
                                        </p:cTn>
                                        <p:tgtEl>
                                          <p:spTgt spid="37"/>
                                        </p:tgtEl>
                                        <p:attrNameLst>
                                          <p:attrName>style.visibility</p:attrName>
                                        </p:attrNameLst>
                                      </p:cBhvr>
                                      <p:to>
                                        <p:strVal val="visible"/>
                                      </p:to>
                                    </p:set>
                                  </p:childTnLst>
                                </p:cTn>
                              </p:par>
                            </p:childTnLst>
                          </p:cTn>
                        </p:par>
                        <p:par>
                          <p:cTn id="144" fill="hold">
                            <p:stCondLst>
                              <p:cond delay="1000"/>
                            </p:stCondLst>
                            <p:childTnLst>
                              <p:par>
                                <p:cTn id="145" presetID="1" presetClass="entr" presetSubtype="0" fill="hold" nodeType="afterEffect">
                                  <p:stCondLst>
                                    <p:cond delay="0"/>
                                  </p:stCondLst>
                                  <p:childTnLst>
                                    <p:set>
                                      <p:cBhvr>
                                        <p:cTn id="146" dur="1" fill="hold">
                                          <p:stCondLst>
                                            <p:cond delay="499"/>
                                          </p:stCondLst>
                                        </p:cTn>
                                        <p:tgtEl>
                                          <p:spTgt spid="38"/>
                                        </p:tgtEl>
                                        <p:attrNameLst>
                                          <p:attrName>style.visibility</p:attrName>
                                        </p:attrNameLst>
                                      </p:cBhvr>
                                      <p:to>
                                        <p:strVal val="visible"/>
                                      </p:to>
                                    </p:set>
                                  </p:childTnLst>
                                </p:cTn>
                              </p:par>
                            </p:childTnLst>
                          </p:cTn>
                        </p:par>
                        <p:par>
                          <p:cTn id="147" fill="hold">
                            <p:stCondLst>
                              <p:cond delay="1500"/>
                            </p:stCondLst>
                            <p:childTnLst>
                              <p:par>
                                <p:cTn id="148" presetID="22" presetClass="entr" presetSubtype="8" fill="hold" nodeType="afterEffect">
                                  <p:stCondLst>
                                    <p:cond delay="0"/>
                                  </p:stCondLst>
                                  <p:childTnLst>
                                    <p:set>
                                      <p:cBhvr>
                                        <p:cTn id="149" dur="1" fill="hold">
                                          <p:stCondLst>
                                            <p:cond delay="0"/>
                                          </p:stCondLst>
                                        </p:cTn>
                                        <p:tgtEl>
                                          <p:spTgt spid="34"/>
                                        </p:tgtEl>
                                        <p:attrNameLst>
                                          <p:attrName>style.visibility</p:attrName>
                                        </p:attrNameLst>
                                      </p:cBhvr>
                                      <p:to>
                                        <p:strVal val="visible"/>
                                      </p:to>
                                    </p:set>
                                    <p:animEffect transition="in" filter="wipe(left)">
                                      <p:cBhvr>
                                        <p:cTn id="150" dur="500"/>
                                        <p:tgtEl>
                                          <p:spTgt spid="34"/>
                                        </p:tgtEl>
                                      </p:cBhvr>
                                    </p:animEffect>
                                  </p:childTnLst>
                                </p:cTn>
                              </p:par>
                            </p:childTnLst>
                          </p:cTn>
                        </p:par>
                      </p:childTnLst>
                    </p:cTn>
                  </p:par>
                  <p:par>
                    <p:cTn id="151" fill="hold">
                      <p:stCondLst>
                        <p:cond delay="indefinite"/>
                      </p:stCondLst>
                      <p:childTnLst>
                        <p:par>
                          <p:cTn id="152" fill="hold">
                            <p:stCondLst>
                              <p:cond delay="0"/>
                            </p:stCondLst>
                            <p:childTnLst>
                              <p:par>
                                <p:cTn id="153" presetID="22" presetClass="entr" presetSubtype="1" fill="hold" nodeType="clickEffect">
                                  <p:stCondLst>
                                    <p:cond delay="0"/>
                                  </p:stCondLst>
                                  <p:childTnLst>
                                    <p:set>
                                      <p:cBhvr>
                                        <p:cTn id="154" dur="1" fill="hold">
                                          <p:stCondLst>
                                            <p:cond delay="0"/>
                                          </p:stCondLst>
                                        </p:cTn>
                                        <p:tgtEl>
                                          <p:spTgt spid="36"/>
                                        </p:tgtEl>
                                        <p:attrNameLst>
                                          <p:attrName>style.visibility</p:attrName>
                                        </p:attrNameLst>
                                      </p:cBhvr>
                                      <p:to>
                                        <p:strVal val="visible"/>
                                      </p:to>
                                    </p:set>
                                    <p:animEffect transition="in" filter="wipe(up)">
                                      <p:cBhvr>
                                        <p:cTn id="15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nimBg="1" autoUpdateAnimBg="0"/>
      <p:bldP spid="7" grpId="0" animBg="1" autoUpdateAnimBg="0"/>
      <p:bldP spid="8" grpId="0" animBg="1" autoUpdateAnimBg="0"/>
      <p:bldP spid="12" grpId="0" autoUpdateAnimBg="0"/>
      <p:bldP spid="13" grpId="0" animBg="1" autoUpdateAnimBg="0"/>
      <p:bldP spid="14" grpId="0" autoUpdateAnimBg="0"/>
      <p:bldP spid="15" grpId="0" animBg="1" autoUpdateAnimBg="0"/>
      <p:bldP spid="16" grpId="0" animBg="1" autoUpdateAnimBg="0"/>
      <p:bldP spid="17" grpId="0" animBg="1" autoUpdateAnimBg="0"/>
      <p:bldP spid="21" grpId="0" animBg="1" autoUpdateAnimBg="0"/>
      <p:bldP spid="22" grpId="0" autoUpdateAnimBg="0"/>
      <p:bldP spid="23" grpId="0" animBg="1" autoUpdateAnimBg="0"/>
      <p:bldP spid="28" grpId="0" animBg="1" autoUpdateAnimBg="0"/>
      <p:bldP spid="31" grpId="0" animBg="1" autoUpdateAnimBg="0"/>
      <p:bldP spid="35" grpId="0" animBg="1" autoUpdateAnimBg="0"/>
      <p:bldP spid="39" grpId="0" animBg="1" autoUpdateAnimBg="0"/>
      <p:bldP spid="40" grpId="0" animBg="1" autoUpdateAnimBg="0"/>
      <p:bldP spid="41" grpId="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树的删除</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Text Box 2"/>
          <p:cNvSpPr>
            <a:spLocks noGrp="1" noChangeArrowheads="1"/>
          </p:cNvSpPr>
          <p:nvPr>
            <p:ph idx="1"/>
          </p:nvPr>
        </p:nvSpPr>
        <p:spPr bwMode="auto">
          <a:xfrm>
            <a:off x="592667" y="965082"/>
            <a:ext cx="10922000" cy="2081467"/>
          </a:xfrm>
        </p:spPr>
        <p:txBody>
          <a:bodyPr wrap="square">
            <a:spAutoFit/>
          </a:bodyPr>
          <a:lstStyle/>
          <a:p>
            <a:pPr>
              <a:lnSpc>
                <a:spcPct val="125000"/>
              </a:lnSpc>
              <a:spcBef>
                <a:spcPct val="50000"/>
              </a:spcBef>
            </a:pPr>
            <a:r>
              <a:rPr lang="zh-CN" altLang="en-US" sz="2400" dirty="0">
                <a:latin typeface="微软雅黑" panose="020B0503020204020204" pitchFamily="34" charset="-122"/>
                <a:ea typeface="微软雅黑" panose="020B0503020204020204" pitchFamily="34" charset="-122"/>
              </a:rPr>
              <a:t>删除都是基于查找成功操作的。</a:t>
            </a:r>
            <a:endParaRPr lang="en-US" altLang="zh-CN" sz="2400" dirty="0">
              <a:latin typeface="微软雅黑" panose="020B0503020204020204" pitchFamily="34" charset="-122"/>
              <a:ea typeface="微软雅黑" panose="020B0503020204020204" pitchFamily="34" charset="-122"/>
            </a:endParaRPr>
          </a:p>
          <a:p>
            <a:pPr>
              <a:lnSpc>
                <a:spcPct val="125000"/>
              </a:lnSpc>
              <a:spcBef>
                <a:spcPct val="50000"/>
              </a:spcBef>
            </a:pPr>
            <a:r>
              <a:rPr lang="zh-CN" altLang="en-US" sz="2400" dirty="0">
                <a:latin typeface="微软雅黑" panose="020B0503020204020204" pitchFamily="34" charset="-122"/>
                <a:ea typeface="微软雅黑" panose="020B0503020204020204" pitchFamily="34" charset="-122"/>
              </a:rPr>
              <a:t>要求删除之后，结点中关键字的个数不能小于</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微软雅黑" panose="020B0503020204020204" pitchFamily="34" charset="-122"/>
                <a:ea typeface="微软雅黑" panose="020B0503020204020204" pitchFamily="34" charset="-122"/>
              </a:rPr>
              <a:t>，否则，要从其左</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或右</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兄弟结点“借”关键字，若其左和右兄弟结点均无关键字可借</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结点中只有最少量的关键字</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，则必须进行结点的“合并”。</a:t>
            </a:r>
            <a:endParaRPr lang="zh-CN" altLang="en-US" sz="24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up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Text Box 2"/>
          <p:cNvSpPr txBox="1">
            <a:spLocks noGrp="1" noChangeArrowheads="1"/>
          </p:cNvSpPr>
          <p:nvPr>
            <p:ph idx="1"/>
          </p:nvPr>
        </p:nvSpPr>
        <p:spPr bwMode="auto">
          <a:xfrm>
            <a:off x="609599" y="965082"/>
            <a:ext cx="10803467" cy="4148380"/>
          </a:xfrm>
        </p:spPr>
        <p:txBody>
          <a:bodyPr wrap="square">
            <a:spAutoFit/>
          </a:bodyPr>
          <a:lstStyle/>
          <a:p>
            <a:pPr>
              <a:lnSpc>
                <a:spcPct val="125000"/>
              </a:lnSpc>
              <a:defRPr/>
            </a:pPr>
            <a:r>
              <a:rPr lang="en-US" sz="2400" dirty="0">
                <a:latin typeface="微软雅黑" panose="020B0503020204020204" pitchFamily="34" charset="-122"/>
                <a:ea typeface="微软雅黑" panose="020B0503020204020204" pitchFamily="34" charset="-122"/>
              </a:rPr>
              <a:t>B+</a:t>
            </a:r>
            <a:r>
              <a:rPr lang="zh-CN" sz="2400" dirty="0">
                <a:latin typeface="微软雅黑" panose="020B0503020204020204" pitchFamily="34" charset="-122"/>
                <a:ea typeface="微软雅黑" panose="020B0503020204020204" pitchFamily="34" charset="-122"/>
              </a:rPr>
              <a:t>树是</a:t>
            </a:r>
            <a:r>
              <a:rPr lang="en-US" sz="2400" dirty="0">
                <a:latin typeface="微软雅黑" panose="020B0503020204020204" pitchFamily="34" charset="-122"/>
                <a:ea typeface="微软雅黑" panose="020B0503020204020204" pitchFamily="34" charset="-122"/>
              </a:rPr>
              <a:t>B-</a:t>
            </a:r>
            <a:r>
              <a:rPr lang="zh-CN" sz="2400" dirty="0">
                <a:latin typeface="微软雅黑" panose="020B0503020204020204" pitchFamily="34" charset="-122"/>
                <a:ea typeface="微软雅黑" panose="020B0503020204020204" pitchFamily="34" charset="-122"/>
              </a:rPr>
              <a:t>树的一种变形，是在叶子结点上存储信息的树。</a:t>
            </a:r>
            <a:endParaRPr lang="zh-CN" sz="2400" dirty="0">
              <a:latin typeface="微软雅黑" panose="020B0503020204020204" pitchFamily="34" charset="-122"/>
              <a:ea typeface="微软雅黑" panose="020B0503020204020204" pitchFamily="34" charset="-122"/>
            </a:endParaRPr>
          </a:p>
          <a:p>
            <a:pPr>
              <a:lnSpc>
                <a:spcPct val="125000"/>
              </a:lnSpc>
              <a:defRPr/>
            </a:pPr>
            <a:r>
              <a:rPr lang="en-US" sz="2400" i="1" dirty="0">
                <a:latin typeface="微软雅黑" panose="020B0503020204020204" pitchFamily="34" charset="-122"/>
                <a:ea typeface="微软雅黑" panose="020B0503020204020204" pitchFamily="34" charset="-122"/>
              </a:rPr>
              <a:t>m </a:t>
            </a:r>
            <a:r>
              <a:rPr lang="zh-CN" sz="2400" dirty="0">
                <a:latin typeface="微软雅黑" panose="020B0503020204020204" pitchFamily="34" charset="-122"/>
                <a:ea typeface="微软雅黑" panose="020B0503020204020204" pitchFamily="34" charset="-122"/>
              </a:rPr>
              <a:t>阶</a:t>
            </a:r>
            <a:r>
              <a:rPr lang="en-US" sz="2400" dirty="0">
                <a:latin typeface="微软雅黑" panose="020B0503020204020204" pitchFamily="34" charset="-122"/>
                <a:ea typeface="微软雅黑" panose="020B0503020204020204" pitchFamily="34" charset="-122"/>
              </a:rPr>
              <a:t>B+</a:t>
            </a:r>
            <a:r>
              <a:rPr lang="zh-CN" sz="2400" dirty="0">
                <a:latin typeface="微软雅黑" panose="020B0503020204020204" pitchFamily="34" charset="-122"/>
                <a:ea typeface="微软雅黑" panose="020B0503020204020204" pitchFamily="34" charset="-122"/>
              </a:rPr>
              <a:t>树的定义如下：</a:t>
            </a:r>
            <a:r>
              <a:rPr lang="en-US" sz="2400" i="1" dirty="0">
                <a:latin typeface="微软雅黑" panose="020B0503020204020204" pitchFamily="34" charset="-122"/>
                <a:ea typeface="微软雅黑" panose="020B0503020204020204" pitchFamily="34" charset="-122"/>
              </a:rPr>
              <a:t>m</a:t>
            </a:r>
            <a:r>
              <a:rPr lang="zh-CN" sz="2400" dirty="0">
                <a:latin typeface="微软雅黑" panose="020B0503020204020204" pitchFamily="34" charset="-122"/>
                <a:ea typeface="微软雅黑" panose="020B0503020204020204" pitchFamily="34" charset="-122"/>
              </a:rPr>
              <a:t>阶</a:t>
            </a:r>
            <a:r>
              <a:rPr lang="en-US" sz="2400" dirty="0">
                <a:latin typeface="微软雅黑" panose="020B0503020204020204" pitchFamily="34" charset="-122"/>
                <a:ea typeface="微软雅黑" panose="020B0503020204020204" pitchFamily="34" charset="-122"/>
              </a:rPr>
              <a:t>B+</a:t>
            </a:r>
            <a:r>
              <a:rPr lang="zh-CN" sz="2400" dirty="0">
                <a:latin typeface="微软雅黑" panose="020B0503020204020204" pitchFamily="34" charset="-122"/>
                <a:ea typeface="微软雅黑" panose="020B0503020204020204" pitchFamily="34" charset="-122"/>
              </a:rPr>
              <a:t>树或为空树，或为满足下列性质的</a:t>
            </a:r>
            <a:r>
              <a:rPr lang="en-US" sz="2400" i="1" dirty="0">
                <a:latin typeface="微软雅黑" panose="020B0503020204020204" pitchFamily="34" charset="-122"/>
                <a:ea typeface="微软雅黑" panose="020B0503020204020204" pitchFamily="34" charset="-122"/>
              </a:rPr>
              <a:t>m</a:t>
            </a:r>
            <a:r>
              <a:rPr lang="zh-CN" sz="2400" dirty="0">
                <a:latin typeface="微软雅黑" panose="020B0503020204020204" pitchFamily="34" charset="-122"/>
                <a:ea typeface="微软雅黑" panose="020B0503020204020204" pitchFamily="34" charset="-122"/>
              </a:rPr>
              <a:t>叉树：</a:t>
            </a:r>
            <a:endParaRPr lang="zh-CN" sz="2400" dirty="0">
              <a:latin typeface="微软雅黑" panose="020B0503020204020204" pitchFamily="34" charset="-122"/>
              <a:ea typeface="微软雅黑" panose="020B0503020204020204" pitchFamily="34" charset="-122"/>
            </a:endParaRPr>
          </a:p>
          <a:p>
            <a:pPr lvl="1">
              <a:lnSpc>
                <a:spcPct val="125000"/>
              </a:lnSpc>
              <a:buFont typeface="Wingdings" panose="05000000000000000000" pitchFamily="2" charset="2"/>
              <a:buChar char="Ø"/>
              <a:defRPr/>
            </a:pPr>
            <a:r>
              <a:rPr lang="en-US" dirty="0">
                <a:latin typeface="微软雅黑" panose="020B0503020204020204" pitchFamily="34" charset="-122"/>
                <a:ea typeface="微软雅黑" panose="020B0503020204020204" pitchFamily="34" charset="-122"/>
              </a:rPr>
              <a:t> </a:t>
            </a:r>
            <a:r>
              <a:rPr lang="zh-CN" sz="2000" dirty="0">
                <a:latin typeface="微软雅黑" panose="020B0503020204020204" pitchFamily="34" charset="-122"/>
                <a:ea typeface="微软雅黑" panose="020B0503020204020204" pitchFamily="34" charset="-122"/>
              </a:rPr>
              <a:t>根结点至少有两棵子树，最多有</a:t>
            </a:r>
            <a:r>
              <a:rPr lang="en-US" sz="2000" i="1" dirty="0">
                <a:latin typeface="微软雅黑" panose="020B0503020204020204" pitchFamily="34" charset="-122"/>
                <a:ea typeface="微软雅黑" panose="020B0503020204020204" pitchFamily="34" charset="-122"/>
              </a:rPr>
              <a:t>m</a:t>
            </a:r>
            <a:r>
              <a:rPr lang="zh-CN" sz="2000" dirty="0">
                <a:latin typeface="微软雅黑" panose="020B0503020204020204" pitchFamily="34" charset="-122"/>
                <a:ea typeface="微软雅黑" panose="020B0503020204020204" pitchFamily="34" charset="-122"/>
              </a:rPr>
              <a:t>棵子树。</a:t>
            </a:r>
            <a:endParaRPr lang="en-US" altLang="zh-CN" sz="2000" dirty="0">
              <a:latin typeface="微软雅黑" panose="020B0503020204020204" pitchFamily="34" charset="-122"/>
              <a:ea typeface="微软雅黑" panose="020B0503020204020204" pitchFamily="34" charset="-122"/>
            </a:endParaRPr>
          </a:p>
          <a:p>
            <a:pPr lvl="1">
              <a:lnSpc>
                <a:spcPct val="125000"/>
              </a:lnSpc>
              <a:buFont typeface="Wingdings" panose="05000000000000000000" pitchFamily="2" charset="2"/>
              <a:buChar char="Ø"/>
              <a:defRPr/>
            </a:pPr>
            <a:r>
              <a:rPr lang="zh-CN" sz="2000" dirty="0">
                <a:latin typeface="微软雅黑" panose="020B0503020204020204" pitchFamily="34" charset="-122"/>
                <a:ea typeface="微软雅黑" panose="020B0503020204020204" pitchFamily="34" charset="-122"/>
              </a:rPr>
              <a:t>每个结点（除根外），至少有</a:t>
            </a:r>
            <a:r>
              <a:rPr lang="en-US" sz="2000" dirty="0">
                <a:latin typeface="微软雅黑" panose="020B0503020204020204" pitchFamily="34" charset="-122"/>
                <a:ea typeface="微软雅黑" panose="020B0503020204020204" pitchFamily="34" charset="-122"/>
                <a:sym typeface="Symbol" panose="05050102010706020507"/>
              </a:rPr>
              <a:t></a:t>
            </a:r>
            <a:r>
              <a:rPr lang="en-US" sz="2000" i="1" dirty="0">
                <a:latin typeface="微软雅黑" panose="020B0503020204020204" pitchFamily="34" charset="-122"/>
                <a:ea typeface="微软雅黑" panose="020B0503020204020204" pitchFamily="34" charset="-122"/>
              </a:rPr>
              <a:t>m</a:t>
            </a:r>
            <a:r>
              <a:rPr lang="en-US" sz="2000" dirty="0">
                <a:latin typeface="微软雅黑" panose="020B0503020204020204" pitchFamily="34" charset="-122"/>
                <a:ea typeface="微软雅黑" panose="020B0503020204020204" pitchFamily="34" charset="-122"/>
              </a:rPr>
              <a:t>/2</a:t>
            </a:r>
            <a:r>
              <a:rPr lang="en-US" sz="2000" dirty="0">
                <a:latin typeface="微软雅黑" panose="020B0503020204020204" pitchFamily="34" charset="-122"/>
                <a:ea typeface="微软雅黑" panose="020B0503020204020204" pitchFamily="34" charset="-122"/>
                <a:sym typeface="Symbol" panose="05050102010706020507"/>
              </a:rPr>
              <a:t></a:t>
            </a:r>
            <a:r>
              <a:rPr lang="zh-CN" sz="2000" dirty="0">
                <a:latin typeface="微软雅黑" panose="020B0503020204020204" pitchFamily="34" charset="-122"/>
                <a:ea typeface="微软雅黑" panose="020B0503020204020204" pitchFamily="34" charset="-122"/>
              </a:rPr>
              <a:t>棵子树，最多有</a:t>
            </a:r>
            <a:r>
              <a:rPr lang="en-US" sz="2000" i="1" dirty="0">
                <a:latin typeface="微软雅黑" panose="020B0503020204020204" pitchFamily="34" charset="-122"/>
                <a:ea typeface="微软雅黑" panose="020B0503020204020204" pitchFamily="34" charset="-122"/>
              </a:rPr>
              <a:t>m</a:t>
            </a:r>
            <a:r>
              <a:rPr lang="zh-CN" sz="2000" dirty="0">
                <a:latin typeface="微软雅黑" panose="020B0503020204020204" pitchFamily="34" charset="-122"/>
                <a:ea typeface="微软雅黑" panose="020B0503020204020204" pitchFamily="34" charset="-122"/>
              </a:rPr>
              <a:t>棵子树。</a:t>
            </a:r>
            <a:endParaRPr lang="en-US" altLang="zh-CN" sz="2000" dirty="0">
              <a:latin typeface="微软雅黑" panose="020B0503020204020204" pitchFamily="34" charset="-122"/>
              <a:ea typeface="微软雅黑" panose="020B0503020204020204" pitchFamily="34" charset="-122"/>
            </a:endParaRPr>
          </a:p>
          <a:p>
            <a:pPr lvl="1">
              <a:lnSpc>
                <a:spcPct val="125000"/>
              </a:lnSpc>
              <a:buFont typeface="Wingdings" panose="05000000000000000000" pitchFamily="2" charset="2"/>
              <a:buChar char="Ø"/>
              <a:defRPr/>
            </a:pPr>
            <a:r>
              <a:rPr lang="zh-CN" sz="2000" dirty="0">
                <a:latin typeface="微软雅黑" panose="020B0503020204020204" pitchFamily="34" charset="-122"/>
                <a:ea typeface="微软雅黑" panose="020B0503020204020204" pitchFamily="34" charset="-122"/>
              </a:rPr>
              <a:t>有</a:t>
            </a:r>
            <a:r>
              <a:rPr lang="en-US" sz="2000" i="1" dirty="0">
                <a:latin typeface="微软雅黑" panose="020B0503020204020204" pitchFamily="34" charset="-122"/>
                <a:ea typeface="微软雅黑" panose="020B0503020204020204" pitchFamily="34" charset="-122"/>
              </a:rPr>
              <a:t>n</a:t>
            </a:r>
            <a:r>
              <a:rPr lang="zh-CN" sz="2000" dirty="0">
                <a:latin typeface="微软雅黑" panose="020B0503020204020204" pitchFamily="34" charset="-122"/>
                <a:ea typeface="微软雅黑" panose="020B0503020204020204" pitchFamily="34" charset="-122"/>
              </a:rPr>
              <a:t>棵子树的结点包含了</a:t>
            </a:r>
            <a:r>
              <a:rPr lang="en-US" sz="2000" i="1" dirty="0">
                <a:latin typeface="微软雅黑" panose="020B0503020204020204" pitchFamily="34" charset="-122"/>
                <a:ea typeface="微软雅黑" panose="020B0503020204020204" pitchFamily="34" charset="-122"/>
              </a:rPr>
              <a:t>n</a:t>
            </a:r>
            <a:r>
              <a:rPr lang="zh-CN" sz="2000" dirty="0">
                <a:latin typeface="微软雅黑" panose="020B0503020204020204" pitchFamily="34" charset="-122"/>
                <a:ea typeface="微软雅黑" panose="020B0503020204020204" pitchFamily="34" charset="-122"/>
              </a:rPr>
              <a:t>个关键字。</a:t>
            </a:r>
            <a:endParaRPr lang="en-US" altLang="zh-CN" sz="2000" dirty="0">
              <a:latin typeface="微软雅黑" panose="020B0503020204020204" pitchFamily="34" charset="-122"/>
              <a:ea typeface="微软雅黑" panose="020B0503020204020204" pitchFamily="34" charset="-122"/>
            </a:endParaRPr>
          </a:p>
          <a:p>
            <a:pPr lvl="1">
              <a:lnSpc>
                <a:spcPct val="125000"/>
              </a:lnSpc>
              <a:buFont typeface="Wingdings" panose="05000000000000000000" pitchFamily="2" charset="2"/>
              <a:buChar char="Ø"/>
              <a:defRPr/>
            </a:pPr>
            <a:r>
              <a:rPr lang="zh-CN" sz="2000" dirty="0">
                <a:latin typeface="微软雅黑" panose="020B0503020204020204" pitchFamily="34" charset="-122"/>
                <a:ea typeface="微软雅黑" panose="020B0503020204020204" pitchFamily="34" charset="-122"/>
              </a:rPr>
              <a:t>所有叶子结点在同一层，并包含了所有关键字，按关键字从小到大顺序链接。</a:t>
            </a:r>
            <a:endParaRPr lang="en-US" altLang="zh-CN" sz="2000" dirty="0">
              <a:latin typeface="微软雅黑" panose="020B0503020204020204" pitchFamily="34" charset="-122"/>
              <a:ea typeface="微软雅黑" panose="020B0503020204020204" pitchFamily="34" charset="-122"/>
            </a:endParaRPr>
          </a:p>
          <a:p>
            <a:pPr lvl="1">
              <a:lnSpc>
                <a:spcPct val="125000"/>
              </a:lnSpc>
              <a:buFont typeface="Wingdings" panose="05000000000000000000" pitchFamily="2" charset="2"/>
              <a:buChar char="Ø"/>
              <a:defRPr/>
            </a:pPr>
            <a:r>
              <a:rPr lang="zh-CN" sz="2000" dirty="0">
                <a:latin typeface="微软雅黑" panose="020B0503020204020204" pitchFamily="34" charset="-122"/>
                <a:ea typeface="微软雅黑" panose="020B0503020204020204" pitchFamily="34" charset="-122"/>
              </a:rPr>
              <a:t>所有非终端结点可以作为叶结点的索引，结点中仅包含其子树中最大（或最小）的关键字。</a:t>
            </a:r>
            <a:endParaRPr lang="zh-CN" sz="2000" dirty="0">
              <a:latin typeface="微软雅黑" panose="020B0503020204020204" pitchFamily="34" charset="-122"/>
              <a:ea typeface="微软雅黑" panose="020B0503020204020204" pitchFamily="34" charset="-122"/>
            </a:endParaRPr>
          </a:p>
          <a:p>
            <a:pPr>
              <a:lnSpc>
                <a:spcPct val="120000"/>
              </a:lnSpc>
              <a:spcBef>
                <a:spcPct val="50000"/>
              </a:spcBef>
              <a:buFont typeface="Arial" panose="020B0604020202020204" pitchFamily="34" charset="0"/>
              <a:buChar char="•"/>
              <a:defRPr/>
            </a:pPr>
            <a:endParaRPr lang="zh-CN" altLang="en-US" dirty="0">
              <a:latin typeface="Arial Narrow" panose="020B0606020202030204" pitchFamily="34" charset="0"/>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up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树</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392805" y="990600"/>
            <a:ext cx="8229600" cy="4876800"/>
          </a:xfrm>
        </p:spPr>
        <p:txBody>
          <a:bodyPr/>
          <a:lstStyle/>
          <a:p>
            <a:pPr lvl="1">
              <a:buFontTx/>
              <a:buNone/>
            </a:pPr>
            <a:r>
              <a:rPr lang="zh-CN" altLang="en-US" dirty="0">
                <a:latin typeface="微软雅黑" panose="020B0503020204020204" pitchFamily="34" charset="-122"/>
                <a:ea typeface="微软雅黑" panose="020B0503020204020204" pitchFamily="34" charset="-122"/>
              </a:rPr>
              <a:t>例：一棵</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阶的</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树</a:t>
            </a:r>
            <a:endParaRPr lang="zh-CN" altLang="en-US" dirty="0">
              <a:latin typeface="微软雅黑" panose="020B0503020204020204" pitchFamily="34" charset="-122"/>
              <a:ea typeface="微软雅黑" panose="020B0503020204020204" pitchFamily="34" charset="-122"/>
            </a:endParaRPr>
          </a:p>
        </p:txBody>
      </p:sp>
      <p:graphicFrame>
        <p:nvGraphicFramePr>
          <p:cNvPr id="6" name="Object 3"/>
          <p:cNvGraphicFramePr>
            <a:graphicFrameLocks noChangeAspect="1"/>
          </p:cNvGraphicFramePr>
          <p:nvPr/>
        </p:nvGraphicFramePr>
        <p:xfrm>
          <a:off x="878841" y="1507015"/>
          <a:ext cx="10185400" cy="3843969"/>
        </p:xfrm>
        <a:graphic>
          <a:graphicData uri="http://schemas.openxmlformats.org/presentationml/2006/ole">
            <mc:AlternateContent xmlns:mc="http://schemas.openxmlformats.org/markup-compatibility/2006">
              <mc:Choice xmlns:v="urn:schemas-microsoft-com:vml" Requires="v">
                <p:oleObj spid="_x0000_s3077" name="Visio" r:id="rId1" imgW="4213225" imgH="1595755" progId="Visio.Drawing.11">
                  <p:embed/>
                </p:oleObj>
              </mc:Choice>
              <mc:Fallback>
                <p:oleObj name="Visio" r:id="rId1" imgW="4213225" imgH="1595755"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841" y="1507015"/>
                        <a:ext cx="10185400" cy="3843969"/>
                      </a:xfrm>
                      <a:prstGeom prst="rect">
                        <a:avLst/>
                      </a:prstGeom>
                      <a:noFill/>
                      <a:ln>
                        <a:noFill/>
                      </a:ln>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9.3 </a:t>
            </a:r>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哈希表</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592666" y="965081"/>
            <a:ext cx="10938934" cy="4944651"/>
          </a:xfrm>
        </p:spPr>
        <p:txBody>
          <a:bodyPr>
            <a:normAutofit/>
          </a:bodyPr>
          <a:lstStyle/>
          <a:p>
            <a:pPr>
              <a:lnSpc>
                <a:spcPct val="125000"/>
              </a:lnSpc>
            </a:pPr>
            <a:r>
              <a:rPr lang="zh-CN" altLang="en-US" sz="2400" dirty="0">
                <a:latin typeface="微软雅黑" panose="020B0503020204020204" pitchFamily="34" charset="-122"/>
                <a:ea typeface="微软雅黑" panose="020B0503020204020204" pitchFamily="34" charset="-122"/>
              </a:rPr>
              <a:t>基本思想</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在记录的存储地址和它的关键字之间建立一个确定的对应关系；这样，不经过比较，一次存取就能得到所查元素的查找方法</a:t>
            </a:r>
            <a:endParaRPr lang="zh-CN" altLang="en-US" sz="20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哈希函数</a:t>
            </a:r>
            <a:endParaRPr lang="en-US" altLang="zh-CN"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在记录的关键字与记录的存储地址之间建立的一种对应关系叫哈希函数。</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哈希函数是一种映象，是从关键字空间到存储地址空间的一种映象</a:t>
            </a:r>
            <a:endParaRPr lang="zh-CN" altLang="en-US" sz="18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哈希函数可写成：</a:t>
            </a:r>
            <a:r>
              <a:rPr lang="en-US" altLang="zh-CN" sz="1800" i="1" dirty="0" err="1">
                <a:latin typeface="Times New Roman" panose="02020603050405020304" pitchFamily="18" charset="0"/>
                <a:ea typeface="微软雅黑" panose="020B0503020204020204" pitchFamily="34" charset="-122"/>
                <a:cs typeface="Times New Roman" panose="02020603050405020304" pitchFamily="18" charset="0"/>
              </a:rPr>
              <a:t>addr</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8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18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dirty="0">
                <a:latin typeface="微软雅黑" panose="020B0503020204020204" pitchFamily="34" charset="-122"/>
                <a:ea typeface="微软雅黑" panose="020B0503020204020204" pitchFamily="34" charset="-122"/>
              </a:rPr>
              <a:t>                      	</a:t>
            </a:r>
            <a:r>
              <a:rPr lang="en-US" altLang="zh-CN" sz="1800" i="1" dirty="0">
                <a:latin typeface="微软雅黑" panose="020B0503020204020204" pitchFamily="34" charset="-122"/>
                <a:ea typeface="微软雅黑" panose="020B0503020204020204" pitchFamily="34" charset="-122"/>
              </a:rPr>
              <a:t>a</a:t>
            </a:r>
            <a:r>
              <a:rPr lang="en-US" altLang="zh-CN" sz="1800" i="1" baseline="-25000" dirty="0">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是表中的一个元素</a:t>
            </a:r>
            <a:endParaRPr lang="zh-CN" altLang="en-US" sz="1800" dirty="0">
              <a:latin typeface="微软雅黑" panose="020B0503020204020204" pitchFamily="34" charset="-122"/>
              <a:ea typeface="微软雅黑" panose="020B0503020204020204" pitchFamily="34" charset="-122"/>
            </a:endParaRPr>
          </a:p>
          <a:p>
            <a:pPr>
              <a:lnSpc>
                <a:spcPct val="125000"/>
              </a:lnSpc>
              <a:buFontTx/>
              <a:buNone/>
            </a:pPr>
            <a:r>
              <a:rPr lang="en-US" altLang="zh-CN" sz="1800" dirty="0">
                <a:latin typeface="微软雅黑" panose="020B0503020204020204" pitchFamily="34" charset="-122"/>
                <a:ea typeface="微软雅黑" panose="020B0503020204020204" pitchFamily="34" charset="-122"/>
              </a:rPr>
              <a:t>			        </a:t>
            </a:r>
            <a:r>
              <a:rPr lang="en-US" altLang="zh-CN" sz="1800" i="1" dirty="0" err="1">
                <a:latin typeface="微软雅黑" panose="020B0503020204020204" pitchFamily="34" charset="-122"/>
                <a:ea typeface="微软雅黑" panose="020B0503020204020204" pitchFamily="34" charset="-122"/>
              </a:rPr>
              <a:t>addr</a:t>
            </a:r>
            <a:r>
              <a:rPr lang="en-US" altLang="zh-CN" sz="1800" dirty="0">
                <a:latin typeface="微软雅黑" panose="020B0503020204020204" pitchFamily="34" charset="-122"/>
                <a:ea typeface="微软雅黑" panose="020B0503020204020204" pitchFamily="34" charset="-122"/>
              </a:rPr>
              <a:t>(</a:t>
            </a:r>
            <a:r>
              <a:rPr lang="en-US" altLang="zh-CN" sz="1800" i="1" dirty="0">
                <a:latin typeface="微软雅黑" panose="020B0503020204020204" pitchFamily="34" charset="-122"/>
                <a:ea typeface="微软雅黑" panose="020B0503020204020204" pitchFamily="34" charset="-122"/>
              </a:rPr>
              <a:t>a</a:t>
            </a:r>
            <a:r>
              <a:rPr lang="en-US" altLang="zh-CN" sz="1800" i="1" baseline="-25000" dirty="0">
                <a:latin typeface="微软雅黑" panose="020B0503020204020204" pitchFamily="34" charset="-122"/>
                <a:ea typeface="微软雅黑" panose="020B0503020204020204" pitchFamily="34" charset="-122"/>
              </a:rPr>
              <a:t>i</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是</a:t>
            </a:r>
            <a:r>
              <a:rPr lang="en-US" altLang="zh-CN" sz="1800" i="1" dirty="0">
                <a:latin typeface="微软雅黑" panose="020B0503020204020204" pitchFamily="34" charset="-122"/>
                <a:ea typeface="微软雅黑" panose="020B0503020204020204" pitchFamily="34" charset="-122"/>
              </a:rPr>
              <a:t>a</a:t>
            </a:r>
            <a:r>
              <a:rPr lang="en-US" altLang="zh-CN" sz="1800" i="1" baseline="-25000" dirty="0">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的存储地址，</a:t>
            </a:r>
            <a:r>
              <a:rPr lang="en-US" altLang="zh-CN" sz="1800" i="1" dirty="0">
                <a:latin typeface="微软雅黑" panose="020B0503020204020204" pitchFamily="34" charset="-122"/>
                <a:ea typeface="微软雅黑" panose="020B0503020204020204" pitchFamily="34" charset="-122"/>
              </a:rPr>
              <a:t>k</a:t>
            </a:r>
            <a:r>
              <a:rPr lang="en-US" altLang="zh-CN" sz="1800" i="1" baseline="-25000" dirty="0">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是</a:t>
            </a:r>
            <a:r>
              <a:rPr lang="en-US" altLang="zh-CN" sz="1800" i="1" dirty="0">
                <a:latin typeface="微软雅黑" panose="020B0503020204020204" pitchFamily="34" charset="-122"/>
                <a:ea typeface="微软雅黑" panose="020B0503020204020204" pitchFamily="34" charset="-122"/>
              </a:rPr>
              <a:t>a</a:t>
            </a:r>
            <a:r>
              <a:rPr lang="en-US" altLang="zh-CN" sz="1800" i="1" baseline="-25000" dirty="0">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的关键字</a:t>
            </a:r>
            <a:endParaRPr lang="zh-CN" altLang="en-US" sz="18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定义</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541866" y="990600"/>
            <a:ext cx="11040534" cy="4876800"/>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哈希表</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应用哈希函数，由记录的关键字确定记录在表中的地址，并将记录放入此地址，这样构成的表叫哈希表</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哈希查找</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又叫散列查找，利用哈希函数进行查找的过程叫哈希查找</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哈希函数只是一种映象，所以哈希函数的设定很灵活，只要使任何关键字的哈希函数值都落在表长允许的范围之内即可</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定义</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635000" y="1083616"/>
            <a:ext cx="10922000" cy="5105400"/>
          </a:xfrm>
        </p:spPr>
        <p:txBody>
          <a:bodyPr>
            <a:noAutofit/>
          </a:bodyPr>
          <a:lstStyle/>
          <a:p>
            <a:pPr>
              <a:lnSpc>
                <a:spcPct val="125000"/>
              </a:lnSpc>
              <a:buFontTx/>
              <a:buNone/>
            </a:pPr>
            <a:r>
              <a:rPr lang="zh-CN" altLang="en-US" sz="2000" dirty="0">
                <a:latin typeface="微软雅黑" panose="020B0503020204020204" pitchFamily="34" charset="-122"/>
                <a:ea typeface="微软雅黑" panose="020B0503020204020204" pitchFamily="34" charset="-122"/>
              </a:rPr>
              <a:t>例：</a:t>
            </a:r>
            <a:r>
              <a:rPr lang="zh-CN" altLang="zh-CN" sz="2000" dirty="0">
                <a:latin typeface="微软雅黑" panose="020B0503020204020204" pitchFamily="34" charset="-122"/>
                <a:ea typeface="微软雅黑" panose="020B0503020204020204" pitchFamily="34" charset="-122"/>
              </a:rPr>
              <a:t>一组关键字的集合为</a:t>
            </a:r>
            <a:r>
              <a:rPr lang="en-US" altLang="zh-CN" sz="2000" dirty="0">
                <a:latin typeface="微软雅黑" panose="020B0503020204020204" pitchFamily="34" charset="-122"/>
                <a:ea typeface="微软雅黑" panose="020B0503020204020204" pitchFamily="34" charset="-122"/>
              </a:rPr>
              <a:t>{“cat”, “dog”, “pig”, “horse”, “tiger”, “monkey”, “bird” }</a:t>
            </a:r>
            <a:r>
              <a:rPr lang="zh-CN" altLang="zh-CN" sz="2000" dirty="0">
                <a:latin typeface="微软雅黑" panose="020B0503020204020204" pitchFamily="34" charset="-122"/>
                <a:ea typeface="微软雅黑" panose="020B0503020204020204" pitchFamily="34" charset="-122"/>
              </a:rPr>
              <a:t>要求构建一个哈希函数，将这些关键字放入哈希表中。</a:t>
            </a:r>
            <a:endParaRPr lang="zh-CN" altLang="zh-CN" sz="20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解决办法：</a:t>
            </a:r>
            <a:r>
              <a:rPr lang="zh-CN" altLang="zh-CN" sz="2000" dirty="0">
                <a:latin typeface="微软雅黑" panose="020B0503020204020204" pitchFamily="34" charset="-122"/>
                <a:ea typeface="微软雅黑" panose="020B0503020204020204" pitchFamily="34" charset="-122"/>
              </a:rPr>
              <a:t>取关键字的首字母在</a:t>
            </a:r>
            <a:r>
              <a:rPr lang="en-US" altLang="zh-CN" sz="2000" dirty="0">
                <a:latin typeface="微软雅黑" panose="020B0503020204020204" pitchFamily="34" charset="-122"/>
                <a:ea typeface="微软雅黑" panose="020B0503020204020204" pitchFamily="34" charset="-122"/>
              </a:rPr>
              <a:t>26</a:t>
            </a:r>
            <a:r>
              <a:rPr lang="zh-CN" altLang="zh-CN" sz="2000" dirty="0">
                <a:latin typeface="微软雅黑" panose="020B0503020204020204" pitchFamily="34" charset="-122"/>
                <a:ea typeface="微软雅黑" panose="020B0503020204020204" pitchFamily="34" charset="-122"/>
              </a:rPr>
              <a:t>个英文字母表</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a..z</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中的位序作为哈希地址，此处地址从</a:t>
            </a:r>
            <a:r>
              <a:rPr lang="en-US" altLang="zh-CN" sz="2000" dirty="0">
                <a:latin typeface="微软雅黑" panose="020B0503020204020204" pitchFamily="34" charset="-122"/>
                <a:ea typeface="微软雅黑" panose="020B0503020204020204" pitchFamily="34" charset="-122"/>
              </a:rPr>
              <a:t>0</a:t>
            </a:r>
            <a:r>
              <a:rPr lang="zh-CN" altLang="zh-CN"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25</a:t>
            </a:r>
            <a:r>
              <a:rPr lang="zh-CN" altLang="zh-CN"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i="1" dirty="0">
                <a:latin typeface="微软雅黑" panose="020B0503020204020204" pitchFamily="34" charset="-122"/>
                <a:ea typeface="微软雅黑" panose="020B0503020204020204" pitchFamily="34" charset="-122"/>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(“cat”)=2</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(“dog”)=3</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(“pig”)=15</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(“horse”)=7</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(“tiger”)=19</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(“monkey”)=12</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(“bird”)=1</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TextBox 3"/>
          <p:cNvSpPr txBox="1"/>
          <p:nvPr/>
        </p:nvSpPr>
        <p:spPr>
          <a:xfrm>
            <a:off x="4986867" y="3517782"/>
            <a:ext cx="5562600" cy="830997"/>
          </a:xfrm>
          <a:prstGeom prst="rect">
            <a:avLst/>
          </a:prstGeom>
          <a:noFill/>
        </p:spPr>
        <p:txBody>
          <a:bodyPr>
            <a:spAutoFit/>
          </a:bodyPr>
          <a:lstStyle/>
          <a:p>
            <a:pPr algn="ctr" eaLnBrk="1" hangingPunct="1">
              <a:defRPr/>
            </a:pPr>
            <a:r>
              <a:rPr lang="zh-CN" altLang="en-US" sz="2400" b="0" dirty="0">
                <a:solidFill>
                  <a:srgbClr val="FF0000"/>
                </a:solidFill>
                <a:latin typeface="微软雅黑" panose="020B0503020204020204" pitchFamily="34" charset="-122"/>
                <a:ea typeface="微软雅黑" panose="020B0503020204020204" pitchFamily="34" charset="-122"/>
              </a:rPr>
              <a:t>如果再添加两个关键字“</a:t>
            </a:r>
            <a:r>
              <a:rPr lang="en-US" altLang="zh-CN" sz="2400" b="0" dirty="0">
                <a:solidFill>
                  <a:srgbClr val="FF0000"/>
                </a:solidFill>
                <a:latin typeface="微软雅黑" panose="020B0503020204020204" pitchFamily="34" charset="-122"/>
                <a:ea typeface="微软雅黑" panose="020B0503020204020204" pitchFamily="34" charset="-122"/>
              </a:rPr>
              <a:t>cow</a:t>
            </a:r>
            <a:r>
              <a:rPr lang="zh-CN" altLang="en-US" sz="2400" b="0" dirty="0">
                <a:solidFill>
                  <a:srgbClr val="FF0000"/>
                </a:solidFill>
                <a:latin typeface="微软雅黑" panose="020B0503020204020204" pitchFamily="34" charset="-122"/>
                <a:ea typeface="微软雅黑" panose="020B0503020204020204" pitchFamily="34" charset="-122"/>
              </a:rPr>
              <a:t>”，“</a:t>
            </a:r>
            <a:r>
              <a:rPr lang="en-US" altLang="zh-CN" sz="2400" b="0" dirty="0">
                <a:solidFill>
                  <a:srgbClr val="FF0000"/>
                </a:solidFill>
                <a:latin typeface="微软雅黑" panose="020B0503020204020204" pitchFamily="34" charset="-122"/>
                <a:ea typeface="微软雅黑" panose="020B0503020204020204" pitchFamily="34" charset="-122"/>
              </a:rPr>
              <a:t>mouse</a:t>
            </a:r>
            <a:r>
              <a:rPr lang="zh-CN" altLang="en-US" sz="2400" b="0" dirty="0">
                <a:solidFill>
                  <a:srgbClr val="FF0000"/>
                </a:solidFill>
                <a:latin typeface="微软雅黑" panose="020B0503020204020204" pitchFamily="34" charset="-122"/>
                <a:ea typeface="微软雅黑" panose="020B0503020204020204" pitchFamily="34" charset="-122"/>
              </a:rPr>
              <a:t>”，会发生什么现象？</a:t>
            </a:r>
            <a:endParaRPr lang="zh-CN" altLang="en-US" sz="2400" b="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additive="base">
                                        <p:cTn id="2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 calcmode="lin" valueType="num">
                                      <p:cBhvr additive="base">
                                        <p:cTn id="3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 calcmode="lin" valueType="num">
                                      <p:cBhvr additive="base">
                                        <p:cTn id="3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anim calcmode="lin" valueType="num">
                                      <p:cBhvr additive="base">
                                        <p:cTn id="3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ox(in)">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定义</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728134" y="547949"/>
            <a:ext cx="10752666" cy="4876800"/>
          </a:xfrm>
        </p:spPr>
        <p:txBody>
          <a:bodyPr/>
          <a:lstStyle/>
          <a:p>
            <a:endParaRPr lang="en-US" altLang="zh-CN" dirty="0"/>
          </a:p>
          <a:p>
            <a:pPr>
              <a:lnSpc>
                <a:spcPct val="125000"/>
              </a:lnSpc>
            </a:pPr>
            <a:r>
              <a:rPr lang="zh-CN" altLang="en-US" sz="2400" dirty="0">
                <a:latin typeface="微软雅黑" panose="020B0503020204020204" pitchFamily="34" charset="-122"/>
                <a:ea typeface="微软雅黑" panose="020B0503020204020204" pitchFamily="34" charset="-122"/>
              </a:rPr>
              <a:t>冲突</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key</a:t>
            </a:r>
            <a:r>
              <a:rPr lang="en-US" altLang="zh-CN" sz="2400" dirty="0">
                <a:latin typeface="微软雅黑" panose="020B0503020204020204" pitchFamily="34" charset="-122"/>
                <a:ea typeface="微软雅黑" panose="020B0503020204020204" pitchFamily="34" charset="-122"/>
              </a:rPr>
              <a:t>1≠</a:t>
            </a:r>
            <a:r>
              <a:rPr lang="en-US" altLang="zh-CN" sz="2400" i="1" dirty="0">
                <a:latin typeface="微软雅黑" panose="020B0503020204020204" pitchFamily="34" charset="-122"/>
                <a:ea typeface="微软雅黑" panose="020B0503020204020204" pitchFamily="34" charset="-122"/>
              </a:rPr>
              <a:t>key</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，但</a:t>
            </a:r>
            <a:r>
              <a:rPr lang="en-US" altLang="zh-CN" sz="2400" i="1" dirty="0">
                <a:latin typeface="微软雅黑" panose="020B0503020204020204" pitchFamily="34" charset="-122"/>
                <a:ea typeface="微软雅黑" panose="020B0503020204020204" pitchFamily="34" charset="-122"/>
              </a:rPr>
              <a:t>H</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key</a:t>
            </a:r>
            <a:r>
              <a:rPr lang="en-US" altLang="zh-CN" sz="2400" dirty="0">
                <a:latin typeface="微软雅黑" panose="020B0503020204020204" pitchFamily="34" charset="-122"/>
                <a:ea typeface="微软雅黑" panose="020B0503020204020204" pitchFamily="34" charset="-122"/>
              </a:rPr>
              <a:t>1)=</a:t>
            </a:r>
            <a:r>
              <a:rPr lang="en-US" altLang="zh-CN" sz="2400" i="1" dirty="0">
                <a:latin typeface="微软雅黑" panose="020B0503020204020204" pitchFamily="34" charset="-122"/>
                <a:ea typeface="微软雅黑" panose="020B0503020204020204" pitchFamily="34" charset="-122"/>
              </a:rPr>
              <a:t>H</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key</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的现象叫</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同义词</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具有相同函数值的两个关键字，叫该哈希函数的同义词</a:t>
            </a:r>
            <a:endParaRPr lang="en-US" altLang="zh-CN" sz="2400" dirty="0">
              <a:latin typeface="微软雅黑" panose="020B0503020204020204" pitchFamily="34" charset="-122"/>
              <a:ea typeface="微软雅黑" panose="020B0503020204020204" pitchFamily="34" charset="-122"/>
            </a:endParaRPr>
          </a:p>
          <a:p>
            <a:pPr>
              <a:lnSpc>
                <a:spcPct val="125000"/>
              </a:lnSpc>
              <a:buFontTx/>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上例中“</a:t>
            </a:r>
            <a:r>
              <a:rPr lang="en-US" altLang="zh-CN" sz="2400" dirty="0">
                <a:latin typeface="微软雅黑" panose="020B0503020204020204" pitchFamily="34" charset="-122"/>
                <a:ea typeface="微软雅黑" panose="020B0503020204020204" pitchFamily="34" charset="-122"/>
              </a:rPr>
              <a:t>mouse</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monkey</a:t>
            </a:r>
            <a:r>
              <a:rPr lang="zh-CN" altLang="en-US" sz="2400" dirty="0">
                <a:latin typeface="微软雅黑" panose="020B0503020204020204" pitchFamily="34" charset="-122"/>
                <a:ea typeface="微软雅黑" panose="020B0503020204020204" pitchFamily="34" charset="-122"/>
              </a:rPr>
              <a:t>”是同义词</a:t>
            </a:r>
            <a:endParaRPr lang="en-US" altLang="zh-CN" sz="2400" dirty="0">
              <a:latin typeface="微软雅黑" panose="020B0503020204020204" pitchFamily="34" charset="-122"/>
              <a:ea typeface="微软雅黑" panose="020B0503020204020204" pitchFamily="34" charset="-122"/>
            </a:endParaRPr>
          </a:p>
          <a:p>
            <a:pPr>
              <a:lnSpc>
                <a:spcPct val="125000"/>
              </a:lnSpc>
              <a:buFontTx/>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cow</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cat</a:t>
            </a:r>
            <a:r>
              <a:rPr lang="zh-CN" altLang="en-US" sz="2400" dirty="0">
                <a:latin typeface="微软雅黑" panose="020B0503020204020204" pitchFamily="34" charset="-122"/>
                <a:ea typeface="微软雅黑" panose="020B0503020204020204" pitchFamily="34" charset="-122"/>
              </a:rPr>
              <a:t>”是同义词</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哈希函数通常是一种压缩映象，所以冲突不可避免，只能尽量减少；同时，冲突发生后，应该有处理冲突的方法</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Hash</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函数的构造方法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609599" y="990600"/>
            <a:ext cx="10837333" cy="4876800"/>
          </a:xfrm>
        </p:spPr>
        <p:txBody>
          <a:bodyPr/>
          <a:lstStyle/>
          <a:p>
            <a:pPr marL="457200" indent="-457200">
              <a:lnSpc>
                <a:spcPct val="125000"/>
              </a:lnSpc>
            </a:pPr>
            <a:r>
              <a:rPr lang="zh-CN" altLang="en-US" sz="2400" b="1" u="sng" dirty="0">
                <a:latin typeface="微软雅黑" panose="020B0503020204020204" pitchFamily="34" charset="-122"/>
                <a:ea typeface="微软雅黑" panose="020B0503020204020204" pitchFamily="34" charset="-122"/>
              </a:rPr>
              <a:t>直接定址法</a:t>
            </a:r>
            <a:endParaRPr lang="en-US" altLang="zh-CN" sz="2400" b="1" u="sng" dirty="0">
              <a:latin typeface="微软雅黑" panose="020B0503020204020204" pitchFamily="34" charset="-122"/>
              <a:ea typeface="微软雅黑" panose="020B0503020204020204" pitchFamily="34" charset="-122"/>
            </a:endParaRPr>
          </a:p>
          <a:p>
            <a:pPr marL="400050" lvl="1"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构造</a:t>
            </a:r>
            <a:endParaRPr lang="en-US" altLang="zh-CN" dirty="0">
              <a:latin typeface="微软雅黑" panose="020B0503020204020204" pitchFamily="34" charset="-122"/>
              <a:ea typeface="微软雅黑" panose="020B0503020204020204" pitchFamily="34" charset="-122"/>
            </a:endParaRPr>
          </a:p>
          <a:p>
            <a:pPr marL="1257300" lvl="2" indent="-457200">
              <a:lnSpc>
                <a:spcPct val="125000"/>
              </a:lnSpc>
            </a:pPr>
            <a:r>
              <a:rPr lang="zh-CN" altLang="en-US" sz="2400" dirty="0">
                <a:latin typeface="微软雅黑" panose="020B0503020204020204" pitchFamily="34" charset="-122"/>
                <a:ea typeface="微软雅黑" panose="020B0503020204020204" pitchFamily="34" charset="-122"/>
              </a:rPr>
              <a:t>取关键字或关键字的某个线性函数作哈希地址，即</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key</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key</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微软雅黑" panose="020B0503020204020204" pitchFamily="34" charset="-122"/>
                <a:ea typeface="微软雅黑" panose="020B0503020204020204" pitchFamily="34" charset="-122"/>
              </a:rPr>
              <a:t>或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H(key</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key</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b</a:t>
            </a:r>
            <a:endPar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endParaRPr>
          </a:p>
          <a:p>
            <a:pPr marL="400050" lvl="1"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特点：</a:t>
            </a:r>
            <a:endParaRPr lang="zh-CN" altLang="en-US" dirty="0">
              <a:latin typeface="微软雅黑" panose="020B0503020204020204" pitchFamily="34" charset="-122"/>
              <a:ea typeface="微软雅黑" panose="020B0503020204020204" pitchFamily="34" charset="-122"/>
            </a:endParaRPr>
          </a:p>
          <a:p>
            <a:pPr marL="1257300" lvl="2" indent="-457200">
              <a:lnSpc>
                <a:spcPct val="125000"/>
              </a:lnSpc>
            </a:pPr>
            <a:r>
              <a:rPr lang="zh-CN" altLang="en-US" sz="2400" dirty="0">
                <a:latin typeface="微软雅黑" panose="020B0503020204020204" pitchFamily="34" charset="-122"/>
                <a:ea typeface="微软雅黑" panose="020B0503020204020204" pitchFamily="34" charset="-122"/>
              </a:rPr>
              <a:t>直接定址法所得地址集合与关键字集合大小相等，不会发生冲突</a:t>
            </a:r>
            <a:endParaRPr lang="zh-CN" altLang="en-US" sz="2400" dirty="0">
              <a:latin typeface="微软雅黑" panose="020B0503020204020204" pitchFamily="34" charset="-122"/>
              <a:ea typeface="微软雅黑" panose="020B0503020204020204" pitchFamily="34" charset="-122"/>
            </a:endParaRPr>
          </a:p>
          <a:p>
            <a:pPr marL="1257300" lvl="2" indent="-457200">
              <a:lnSpc>
                <a:spcPct val="125000"/>
              </a:lnSpc>
            </a:pPr>
            <a:r>
              <a:rPr lang="zh-CN" altLang="en-US" sz="2400" dirty="0">
                <a:latin typeface="微软雅黑" panose="020B0503020204020204" pitchFamily="34" charset="-122"/>
                <a:ea typeface="微软雅黑" panose="020B0503020204020204" pitchFamily="34" charset="-122"/>
              </a:rPr>
              <a:t>实际中能用这种哈希函数的情况很少</a:t>
            </a:r>
            <a:endParaRPr lang="zh-CN" altLang="en-US" sz="2400" dirty="0">
              <a:latin typeface="微软雅黑" panose="020B0503020204020204" pitchFamily="34" charset="-122"/>
              <a:ea typeface="微软雅黑" panose="020B0503020204020204" pitchFamily="34" charset="-122"/>
            </a:endParaRPr>
          </a:p>
          <a:p>
            <a:pPr marL="457200" indent="-457200"/>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Hash</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函数的构造方法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541866" y="990600"/>
            <a:ext cx="10906897" cy="4876800"/>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例：</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假设有一学生信息表中记录了</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个学生的信息。关键字为学号，取值在</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96001</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96010</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之间，可构建哈希函数为</a:t>
            </a:r>
            <a:r>
              <a:rPr lang="en-US" altLang="zh-CN" sz="2400" i="1" dirty="0">
                <a:latin typeface="微软雅黑" panose="020B0503020204020204" pitchFamily="34" charset="-122"/>
                <a:ea typeface="微软雅黑" panose="020B0503020204020204" pitchFamily="34" charset="-122"/>
                <a:cs typeface="Times New Roman" panose="02020603050405020304" pitchFamily="18" charset="0"/>
              </a:rPr>
              <a:t>H</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i="1" dirty="0">
                <a:latin typeface="微软雅黑" panose="020B0503020204020204" pitchFamily="34" charset="-122"/>
                <a:ea typeface="微软雅黑" panose="020B0503020204020204" pitchFamily="34" charset="-122"/>
                <a:cs typeface="Times New Roman" panose="02020603050405020304" pitchFamily="18" charset="0"/>
              </a:rPr>
              <a:t>key</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i="1" dirty="0">
                <a:latin typeface="微软雅黑" panose="020B0503020204020204" pitchFamily="34" charset="-122"/>
                <a:ea typeface="微软雅黑" panose="020B0503020204020204" pitchFamily="34" charset="-122"/>
                <a:cs typeface="Times New Roman" panose="02020603050405020304" pitchFamily="18" charset="0"/>
              </a:rPr>
              <a:t>key</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-96000</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endParaRPr lang="zh-CN" altLang="en-US" dirty="0"/>
          </a:p>
        </p:txBody>
      </p:sp>
      <p:graphicFrame>
        <p:nvGraphicFramePr>
          <p:cNvPr id="6" name="表格 5"/>
          <p:cNvGraphicFramePr>
            <a:graphicFrameLocks noGrp="1"/>
          </p:cNvGraphicFramePr>
          <p:nvPr/>
        </p:nvGraphicFramePr>
        <p:xfrm>
          <a:off x="541867" y="2743200"/>
          <a:ext cx="11209863" cy="1482724"/>
        </p:xfrm>
        <a:graphic>
          <a:graphicData uri="http://schemas.openxmlformats.org/drawingml/2006/table">
            <a:tbl>
              <a:tblPr firstRow="1" bandRow="1">
                <a:tableStyleId>{2D5ABB26-0587-4C30-8999-92F81FD0307C}</a:tableStyleId>
              </a:tblPr>
              <a:tblGrid>
                <a:gridCol w="970081"/>
                <a:gridCol w="1049712"/>
                <a:gridCol w="1037446"/>
                <a:gridCol w="1019078"/>
                <a:gridCol w="1019078"/>
                <a:gridCol w="1019078"/>
                <a:gridCol w="1019078"/>
                <a:gridCol w="1019078"/>
                <a:gridCol w="1019078"/>
                <a:gridCol w="1019078"/>
                <a:gridCol w="1019078"/>
              </a:tblGrid>
              <a:tr h="370681">
                <a:tc>
                  <a:txBody>
                    <a:bodyPr/>
                    <a:lstStyle/>
                    <a:p>
                      <a:r>
                        <a:rPr lang="zh-CN" altLang="en-US" sz="1800" dirty="0"/>
                        <a:t>地址</a:t>
                      </a:r>
                      <a:endParaRPr lang="zh-CN" altLang="en-US" sz="1800" dirty="0"/>
                    </a:p>
                  </a:txBody>
                  <a:tcPr marT="45700" marB="45700"/>
                </a:tc>
                <a:tc>
                  <a:txBody>
                    <a:bodyPr/>
                    <a:lstStyle/>
                    <a:p>
                      <a:r>
                        <a:rPr lang="en-US" altLang="zh-CN" sz="1800" dirty="0"/>
                        <a:t>01</a:t>
                      </a:r>
                      <a:endParaRPr lang="zh-CN" altLang="en-US" sz="1800" dirty="0"/>
                    </a:p>
                  </a:txBody>
                  <a:tcPr marT="45700" marB="45700"/>
                </a:tc>
                <a:tc>
                  <a:txBody>
                    <a:bodyPr/>
                    <a:lstStyle/>
                    <a:p>
                      <a:r>
                        <a:rPr lang="en-US" altLang="zh-CN" sz="1800" dirty="0"/>
                        <a:t>02</a:t>
                      </a:r>
                      <a:endParaRPr lang="zh-CN" altLang="en-US" sz="1800" dirty="0"/>
                    </a:p>
                  </a:txBody>
                  <a:tcPr marT="45700" marB="45700"/>
                </a:tc>
                <a:tc>
                  <a:txBody>
                    <a:bodyPr/>
                    <a:lstStyle/>
                    <a:p>
                      <a:r>
                        <a:rPr lang="en-US" altLang="zh-CN" sz="1800" dirty="0"/>
                        <a:t>03</a:t>
                      </a:r>
                      <a:endParaRPr lang="zh-CN" altLang="en-US" sz="1800" dirty="0"/>
                    </a:p>
                  </a:txBody>
                  <a:tcPr marT="45700" marB="45700"/>
                </a:tc>
                <a:tc>
                  <a:txBody>
                    <a:bodyPr/>
                    <a:lstStyle/>
                    <a:p>
                      <a:r>
                        <a:rPr lang="en-US" altLang="zh-CN" sz="1800" dirty="0"/>
                        <a:t>04</a:t>
                      </a:r>
                      <a:endParaRPr lang="zh-CN" altLang="en-US" sz="1800" dirty="0"/>
                    </a:p>
                  </a:txBody>
                  <a:tcPr marT="45700" marB="45700"/>
                </a:tc>
                <a:tc>
                  <a:txBody>
                    <a:bodyPr/>
                    <a:lstStyle/>
                    <a:p>
                      <a:r>
                        <a:rPr lang="en-US" altLang="zh-CN" sz="1800" dirty="0"/>
                        <a:t>05</a:t>
                      </a:r>
                      <a:endParaRPr lang="zh-CN" altLang="en-US" sz="1800" dirty="0"/>
                    </a:p>
                  </a:txBody>
                  <a:tcPr marT="45700" marB="45700"/>
                </a:tc>
                <a:tc>
                  <a:txBody>
                    <a:bodyPr/>
                    <a:lstStyle/>
                    <a:p>
                      <a:r>
                        <a:rPr lang="en-US" altLang="zh-CN" sz="1800" dirty="0"/>
                        <a:t>06</a:t>
                      </a:r>
                      <a:endParaRPr lang="zh-CN" altLang="en-US" sz="1800" dirty="0"/>
                    </a:p>
                  </a:txBody>
                  <a:tcPr marT="45700" marB="45700"/>
                </a:tc>
                <a:tc>
                  <a:txBody>
                    <a:bodyPr/>
                    <a:lstStyle/>
                    <a:p>
                      <a:r>
                        <a:rPr lang="en-US" altLang="zh-CN" sz="1800" dirty="0"/>
                        <a:t>07</a:t>
                      </a:r>
                      <a:endParaRPr lang="zh-CN" altLang="en-US" sz="1800" dirty="0"/>
                    </a:p>
                  </a:txBody>
                  <a:tcPr marT="45700" marB="45700"/>
                </a:tc>
                <a:tc>
                  <a:txBody>
                    <a:bodyPr/>
                    <a:lstStyle/>
                    <a:p>
                      <a:r>
                        <a:rPr lang="en-US" altLang="zh-CN" sz="1800" dirty="0"/>
                        <a:t>08</a:t>
                      </a:r>
                      <a:endParaRPr lang="zh-CN" altLang="en-US" sz="1800" dirty="0"/>
                    </a:p>
                  </a:txBody>
                  <a:tcPr marT="45700" marB="45700"/>
                </a:tc>
                <a:tc>
                  <a:txBody>
                    <a:bodyPr/>
                    <a:lstStyle/>
                    <a:p>
                      <a:r>
                        <a:rPr lang="en-US" altLang="zh-CN" sz="1800" dirty="0"/>
                        <a:t>09</a:t>
                      </a:r>
                      <a:endParaRPr lang="zh-CN" altLang="en-US" sz="1800" dirty="0"/>
                    </a:p>
                  </a:txBody>
                  <a:tcPr marT="45700" marB="45700"/>
                </a:tc>
                <a:tc>
                  <a:txBody>
                    <a:bodyPr/>
                    <a:lstStyle/>
                    <a:p>
                      <a:r>
                        <a:rPr lang="en-US" altLang="zh-CN" sz="1800" dirty="0"/>
                        <a:t>10</a:t>
                      </a:r>
                      <a:endParaRPr lang="zh-CN" altLang="en-US" sz="1800" dirty="0"/>
                    </a:p>
                  </a:txBody>
                  <a:tcPr marT="45700" marB="45700"/>
                </a:tc>
              </a:tr>
              <a:tr h="370681">
                <a:tc>
                  <a:txBody>
                    <a:bodyPr/>
                    <a:lstStyle/>
                    <a:p>
                      <a:r>
                        <a:rPr lang="zh-CN" altLang="en-US" sz="1800" dirty="0"/>
                        <a:t>学号</a:t>
                      </a:r>
                      <a:endParaRPr lang="zh-CN" altLang="en-US" sz="1800" dirty="0"/>
                    </a:p>
                  </a:txBody>
                  <a:tcPr marT="45700" marB="45700"/>
                </a:tc>
                <a:tc>
                  <a:txBody>
                    <a:bodyPr/>
                    <a:lstStyle/>
                    <a:p>
                      <a:r>
                        <a:rPr lang="en-US" altLang="zh-CN" sz="1800" dirty="0"/>
                        <a:t>96001</a:t>
                      </a:r>
                      <a:endParaRPr lang="zh-CN" altLang="en-US" sz="1800" dirty="0"/>
                    </a:p>
                  </a:txBody>
                  <a:tcPr marT="45700" marB="45700"/>
                </a:tc>
                <a:tc>
                  <a:txBody>
                    <a:bodyPr/>
                    <a:lstStyle/>
                    <a:p>
                      <a:r>
                        <a:rPr lang="en-US" altLang="zh-CN" sz="1800" dirty="0"/>
                        <a:t>96002</a:t>
                      </a:r>
                      <a:endParaRPr lang="zh-CN" altLang="en-US" sz="1800" dirty="0"/>
                    </a:p>
                  </a:txBody>
                  <a:tcPr marT="45700" marB="45700"/>
                </a:tc>
                <a:tc>
                  <a:txBody>
                    <a:bodyPr/>
                    <a:lstStyle/>
                    <a:p>
                      <a:r>
                        <a:rPr lang="en-US" altLang="zh-CN" sz="1800" dirty="0"/>
                        <a:t>96003</a:t>
                      </a:r>
                      <a:endParaRPr lang="zh-CN" altLang="en-US" sz="1800" dirty="0"/>
                    </a:p>
                  </a:txBody>
                  <a:tcPr marT="45700" marB="45700"/>
                </a:tc>
                <a:tc>
                  <a:txBody>
                    <a:bodyPr/>
                    <a:lstStyle/>
                    <a:p>
                      <a:r>
                        <a:rPr lang="en-US" altLang="zh-CN" sz="1800" dirty="0"/>
                        <a:t>96004</a:t>
                      </a:r>
                      <a:endParaRPr lang="zh-CN" altLang="en-US" sz="1800" dirty="0"/>
                    </a:p>
                  </a:txBody>
                  <a:tcPr marT="45700" marB="45700"/>
                </a:tc>
                <a:tc>
                  <a:txBody>
                    <a:bodyPr/>
                    <a:lstStyle/>
                    <a:p>
                      <a:r>
                        <a:rPr lang="en-US" altLang="zh-CN" sz="1800" dirty="0"/>
                        <a:t>96005</a:t>
                      </a:r>
                      <a:endParaRPr lang="zh-CN" altLang="en-US" sz="1800" dirty="0"/>
                    </a:p>
                  </a:txBody>
                  <a:tcPr marT="45700" marB="45700"/>
                </a:tc>
                <a:tc>
                  <a:txBody>
                    <a:bodyPr/>
                    <a:lstStyle/>
                    <a:p>
                      <a:r>
                        <a:rPr lang="en-US" altLang="zh-CN" sz="1800" dirty="0"/>
                        <a:t>96006</a:t>
                      </a:r>
                      <a:endParaRPr lang="zh-CN" altLang="en-US" sz="1800" dirty="0"/>
                    </a:p>
                  </a:txBody>
                  <a:tcPr marT="45700" marB="45700"/>
                </a:tc>
                <a:tc>
                  <a:txBody>
                    <a:bodyPr/>
                    <a:lstStyle/>
                    <a:p>
                      <a:r>
                        <a:rPr lang="en-US" altLang="zh-CN" sz="1800" dirty="0"/>
                        <a:t>96007</a:t>
                      </a:r>
                      <a:endParaRPr lang="zh-CN" altLang="en-US" sz="1800" dirty="0"/>
                    </a:p>
                  </a:txBody>
                  <a:tcPr marT="45700" marB="45700"/>
                </a:tc>
                <a:tc>
                  <a:txBody>
                    <a:bodyPr/>
                    <a:lstStyle/>
                    <a:p>
                      <a:r>
                        <a:rPr lang="en-US" altLang="zh-CN" sz="1800" dirty="0"/>
                        <a:t>96008</a:t>
                      </a:r>
                      <a:endParaRPr lang="zh-CN" altLang="en-US" sz="1800" dirty="0"/>
                    </a:p>
                  </a:txBody>
                  <a:tcPr marT="45700" marB="45700"/>
                </a:tc>
                <a:tc>
                  <a:txBody>
                    <a:bodyPr/>
                    <a:lstStyle/>
                    <a:p>
                      <a:r>
                        <a:rPr lang="en-US" altLang="zh-CN" sz="1800" dirty="0"/>
                        <a:t>96009</a:t>
                      </a:r>
                      <a:endParaRPr lang="zh-CN" altLang="en-US" sz="1800" dirty="0"/>
                    </a:p>
                  </a:txBody>
                  <a:tcPr marT="45700" marB="45700"/>
                </a:tc>
                <a:tc>
                  <a:txBody>
                    <a:bodyPr/>
                    <a:lstStyle/>
                    <a:p>
                      <a:r>
                        <a:rPr lang="en-US" altLang="zh-CN" sz="1800" dirty="0"/>
                        <a:t>96010</a:t>
                      </a:r>
                      <a:endParaRPr lang="zh-CN" altLang="en-US" sz="1800" dirty="0"/>
                    </a:p>
                  </a:txBody>
                  <a:tcPr marT="45700" marB="45700"/>
                </a:tc>
              </a:tr>
              <a:tr h="370681">
                <a:tc>
                  <a:txBody>
                    <a:bodyPr/>
                    <a:lstStyle/>
                    <a:p>
                      <a:r>
                        <a:rPr lang="zh-CN" altLang="en-US" sz="1800" dirty="0"/>
                        <a:t>年龄</a:t>
                      </a:r>
                      <a:endParaRPr lang="zh-CN" altLang="en-US" sz="1800" dirty="0"/>
                    </a:p>
                  </a:txBody>
                  <a:tcPr marT="45700" marB="45700"/>
                </a:tc>
                <a:tc>
                  <a:txBody>
                    <a:bodyPr/>
                    <a:lstStyle/>
                    <a:p>
                      <a:r>
                        <a:rPr lang="en-US" altLang="zh-CN" sz="1800" dirty="0"/>
                        <a:t>18</a:t>
                      </a:r>
                      <a:endParaRPr lang="zh-CN" altLang="en-US" sz="1800" dirty="0"/>
                    </a:p>
                  </a:txBody>
                  <a:tcPr marT="45700" marB="45700"/>
                </a:tc>
                <a:tc>
                  <a:txBody>
                    <a:bodyPr/>
                    <a:lstStyle/>
                    <a:p>
                      <a:r>
                        <a:rPr lang="en-US" altLang="zh-CN" sz="1800" dirty="0"/>
                        <a:t>19</a:t>
                      </a:r>
                      <a:endParaRPr lang="zh-CN" altLang="en-US" sz="1800" dirty="0"/>
                    </a:p>
                  </a:txBody>
                  <a:tcPr marT="45700" marB="45700"/>
                </a:tc>
                <a:tc>
                  <a:txBody>
                    <a:bodyPr/>
                    <a:lstStyle/>
                    <a:p>
                      <a:r>
                        <a:rPr lang="en-US" altLang="zh-CN" sz="1800" dirty="0"/>
                        <a:t>18</a:t>
                      </a:r>
                      <a:endParaRPr lang="zh-CN" altLang="en-US" sz="1800" dirty="0"/>
                    </a:p>
                  </a:txBody>
                  <a:tcPr marT="45700" marB="45700"/>
                </a:tc>
                <a:tc>
                  <a:txBody>
                    <a:bodyPr/>
                    <a:lstStyle/>
                    <a:p>
                      <a:r>
                        <a:rPr lang="en-US" altLang="zh-CN" sz="1800" dirty="0"/>
                        <a:t>19</a:t>
                      </a:r>
                      <a:endParaRPr lang="zh-CN" altLang="en-US" sz="1800" dirty="0"/>
                    </a:p>
                  </a:txBody>
                  <a:tcPr marT="45700" marB="45700"/>
                </a:tc>
                <a:tc>
                  <a:txBody>
                    <a:bodyPr/>
                    <a:lstStyle/>
                    <a:p>
                      <a:r>
                        <a:rPr lang="en-US" altLang="zh-CN" sz="1800" dirty="0"/>
                        <a:t>20</a:t>
                      </a:r>
                      <a:endParaRPr lang="zh-CN" altLang="en-US" sz="1800" dirty="0"/>
                    </a:p>
                  </a:txBody>
                  <a:tcPr marT="45700" marB="45700"/>
                </a:tc>
                <a:tc>
                  <a:txBody>
                    <a:bodyPr/>
                    <a:lstStyle/>
                    <a:p>
                      <a:r>
                        <a:rPr lang="en-US" altLang="zh-CN" sz="1800" dirty="0"/>
                        <a:t>21</a:t>
                      </a:r>
                      <a:endParaRPr lang="zh-CN" altLang="en-US" sz="1800" dirty="0"/>
                    </a:p>
                  </a:txBody>
                  <a:tcPr marT="45700" marB="45700"/>
                </a:tc>
                <a:tc>
                  <a:txBody>
                    <a:bodyPr/>
                    <a:lstStyle/>
                    <a:p>
                      <a:r>
                        <a:rPr lang="en-US" altLang="zh-CN" sz="1800" dirty="0"/>
                        <a:t>18</a:t>
                      </a:r>
                      <a:endParaRPr lang="zh-CN" altLang="en-US" sz="1800" dirty="0"/>
                    </a:p>
                  </a:txBody>
                  <a:tcPr marT="45700" marB="45700"/>
                </a:tc>
                <a:tc>
                  <a:txBody>
                    <a:bodyPr/>
                    <a:lstStyle/>
                    <a:p>
                      <a:r>
                        <a:rPr lang="en-US" altLang="zh-CN" sz="1800" dirty="0"/>
                        <a:t>19</a:t>
                      </a:r>
                      <a:endParaRPr lang="zh-CN" altLang="en-US" sz="1800" dirty="0"/>
                    </a:p>
                  </a:txBody>
                  <a:tcPr marT="45700" marB="45700"/>
                </a:tc>
                <a:tc>
                  <a:txBody>
                    <a:bodyPr/>
                    <a:lstStyle/>
                    <a:p>
                      <a:r>
                        <a:rPr lang="en-US" altLang="zh-CN" sz="1800" dirty="0"/>
                        <a:t>20</a:t>
                      </a:r>
                      <a:endParaRPr lang="zh-CN" altLang="en-US" sz="1800" dirty="0"/>
                    </a:p>
                  </a:txBody>
                  <a:tcPr marT="45700" marB="45700"/>
                </a:tc>
                <a:tc>
                  <a:txBody>
                    <a:bodyPr/>
                    <a:lstStyle/>
                    <a:p>
                      <a:r>
                        <a:rPr lang="en-US" altLang="zh-CN" sz="1800" dirty="0"/>
                        <a:t>20</a:t>
                      </a:r>
                      <a:endParaRPr lang="zh-CN" altLang="en-US" sz="1800" dirty="0"/>
                    </a:p>
                  </a:txBody>
                  <a:tcPr marT="45700" marB="45700"/>
                </a:tc>
              </a:tr>
              <a:tr h="370681">
                <a:tc>
                  <a:txBody>
                    <a:bodyPr/>
                    <a:lstStyle/>
                    <a:p>
                      <a:r>
                        <a:rPr lang="en-US" altLang="zh-CN" sz="1800" dirty="0"/>
                        <a:t>……</a:t>
                      </a:r>
                      <a:endParaRPr lang="zh-CN" altLang="en-US" sz="1800" dirty="0"/>
                    </a:p>
                  </a:txBody>
                  <a:tcPr marT="45700" marB="45700"/>
                </a:tc>
                <a:tc>
                  <a:txBody>
                    <a:bodyPr/>
                    <a:lstStyle/>
                    <a:p>
                      <a:r>
                        <a:rPr lang="en-US" altLang="zh-CN" sz="1800" dirty="0"/>
                        <a:t>…….</a:t>
                      </a:r>
                      <a:endParaRPr lang="zh-CN" altLang="en-US" sz="1800" dirty="0"/>
                    </a:p>
                  </a:txBody>
                  <a:tcPr marT="45700" marB="45700"/>
                </a:tc>
                <a:tc>
                  <a:txBody>
                    <a:bodyPr/>
                    <a:lstStyle/>
                    <a:p>
                      <a:r>
                        <a:rPr lang="en-US" altLang="zh-CN" sz="1800" dirty="0"/>
                        <a:t>…….</a:t>
                      </a:r>
                      <a:endParaRPr lang="zh-CN" altLang="en-US" sz="1800" dirty="0"/>
                    </a:p>
                  </a:txBody>
                  <a:tcPr marT="45700" marB="45700"/>
                </a:tc>
                <a:tc>
                  <a:txBody>
                    <a:bodyPr/>
                    <a:lstStyle/>
                    <a:p>
                      <a:r>
                        <a:rPr lang="en-US" altLang="zh-CN" sz="1800" dirty="0"/>
                        <a:t>…….</a:t>
                      </a:r>
                      <a:endParaRPr lang="zh-CN" altLang="en-US" sz="1800" dirty="0"/>
                    </a:p>
                  </a:txBody>
                  <a:tcPr marT="45700" marB="45700"/>
                </a:tc>
                <a:tc>
                  <a:txBody>
                    <a:bodyPr/>
                    <a:lstStyle/>
                    <a:p>
                      <a:endParaRPr lang="zh-CN" altLang="en-US" sz="1800" dirty="0"/>
                    </a:p>
                  </a:txBody>
                  <a:tcPr marT="45700" marB="45700"/>
                </a:tc>
                <a:tc>
                  <a:txBody>
                    <a:bodyPr/>
                    <a:lstStyle/>
                    <a:p>
                      <a:endParaRPr lang="zh-CN" altLang="en-US" sz="1800" dirty="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dirty="0"/>
                    </a:p>
                  </a:txBody>
                  <a:tcPr marT="45700" marB="45700"/>
                </a:tc>
                <a:tc>
                  <a:txBody>
                    <a:bodyPr/>
                    <a:lstStyle/>
                    <a:p>
                      <a:endParaRPr lang="zh-CN" altLang="en-US" sz="1800" dirty="0"/>
                    </a:p>
                  </a:txBody>
                  <a:tcPr marT="45700" marB="45700"/>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Hash</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函数的构造方法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592666" y="965082"/>
            <a:ext cx="10837333" cy="4876800"/>
          </a:xfrm>
        </p:spPr>
        <p:txBody>
          <a:bodyPr/>
          <a:lstStyle/>
          <a:p>
            <a:pPr marL="457200" indent="-457200">
              <a:lnSpc>
                <a:spcPct val="125000"/>
              </a:lnSpc>
            </a:pPr>
            <a:r>
              <a:rPr lang="zh-CN" altLang="en-US" sz="2400" b="1" u="sng" dirty="0">
                <a:latin typeface="微软雅黑" panose="020B0503020204020204" pitchFamily="34" charset="-122"/>
                <a:ea typeface="微软雅黑" panose="020B0503020204020204" pitchFamily="34" charset="-122"/>
              </a:rPr>
              <a:t>数字分析法</a:t>
            </a:r>
            <a:endParaRPr lang="en-US" altLang="zh-CN" sz="2400" b="1" u="sng" dirty="0">
              <a:latin typeface="微软雅黑" panose="020B0503020204020204" pitchFamily="34" charset="-122"/>
              <a:ea typeface="微软雅黑" panose="020B0503020204020204" pitchFamily="34" charset="-122"/>
            </a:endParaRPr>
          </a:p>
          <a:p>
            <a:pPr marL="40005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构造</a:t>
            </a:r>
            <a:endParaRPr lang="en-US" altLang="zh-CN" sz="2000" dirty="0">
              <a:latin typeface="微软雅黑" panose="020B0503020204020204" pitchFamily="34" charset="-122"/>
              <a:ea typeface="微软雅黑" panose="020B0503020204020204" pitchFamily="34" charset="-122"/>
            </a:endParaRPr>
          </a:p>
          <a:p>
            <a:pPr marL="1257300" lvl="2" indent="-457200">
              <a:lnSpc>
                <a:spcPct val="125000"/>
              </a:lnSpc>
            </a:pPr>
            <a:r>
              <a:rPr lang="zh-CN" altLang="en-US" sz="1800" dirty="0">
                <a:latin typeface="微软雅黑" panose="020B0503020204020204" pitchFamily="34" charset="-122"/>
                <a:ea typeface="微软雅黑" panose="020B0503020204020204" pitchFamily="34" charset="-122"/>
              </a:rPr>
              <a:t>对关键字进行分析，取关键字的若干位或其组合作哈希地址</a:t>
            </a:r>
            <a:endParaRPr lang="en-US" altLang="zh-CN" sz="1800" dirty="0">
              <a:latin typeface="微软雅黑" panose="020B0503020204020204" pitchFamily="34" charset="-122"/>
              <a:ea typeface="微软雅黑" panose="020B0503020204020204" pitchFamily="34" charset="-122"/>
            </a:endParaRPr>
          </a:p>
          <a:p>
            <a:pPr marL="1257300" lvl="2" indent="-457200">
              <a:lnSpc>
                <a:spcPct val="125000"/>
              </a:lnSpc>
            </a:pPr>
            <a:r>
              <a:rPr lang="zh-CN" altLang="en-US" sz="1800" dirty="0">
                <a:latin typeface="微软雅黑" panose="020B0503020204020204" pitchFamily="34" charset="-122"/>
                <a:ea typeface="微软雅黑" panose="020B0503020204020204" pitchFamily="34" charset="-122"/>
              </a:rPr>
              <a:t>特点</a:t>
            </a:r>
            <a:endParaRPr lang="en-US" altLang="zh-CN" sz="1800" dirty="0">
              <a:latin typeface="微软雅黑" panose="020B0503020204020204" pitchFamily="34" charset="-122"/>
              <a:ea typeface="微软雅黑" panose="020B0503020204020204" pitchFamily="34" charset="-122"/>
            </a:endParaRPr>
          </a:p>
          <a:p>
            <a:pPr marL="1257300" lvl="3"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适于关键字位数比哈希地址位数大，且可能出现的关键字事先知道的情况</a:t>
            </a:r>
            <a:endParaRPr lang="zh-CN" altLang="en-US" dirty="0">
              <a:latin typeface="微软雅黑" panose="020B0503020204020204" pitchFamily="34" charset="-122"/>
              <a:ea typeface="微软雅黑" panose="020B0503020204020204" pitchFamily="34" charset="-122"/>
            </a:endParaRPr>
          </a:p>
          <a:p>
            <a:pPr marL="457200" indent="-457200">
              <a:buFontTx/>
              <a:buNone/>
            </a:pP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Hash</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函数的构造方法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 name="内容占位符 13"/>
          <p:cNvGraphicFramePr>
            <a:graphicFrameLocks noGrp="1"/>
          </p:cNvGraphicFramePr>
          <p:nvPr>
            <p:ph idx="1"/>
          </p:nvPr>
        </p:nvGraphicFramePr>
        <p:xfrm>
          <a:off x="941388" y="1765974"/>
          <a:ext cx="4495800" cy="2967040"/>
        </p:xfrm>
        <a:graphic>
          <a:graphicData uri="http://schemas.openxmlformats.org/drawingml/2006/table">
            <a:tbl>
              <a:tblPr firstRow="1" bandRow="1">
                <a:tableStyleId>{5C22544A-7EE6-4342-B048-85BDC9FD1C3A}</a:tableStyleId>
              </a:tblPr>
              <a:tblGrid>
                <a:gridCol w="437091"/>
                <a:gridCol w="462069"/>
                <a:gridCol w="449580"/>
                <a:gridCol w="449580"/>
                <a:gridCol w="449580"/>
                <a:gridCol w="449580"/>
                <a:gridCol w="449580"/>
                <a:gridCol w="449580"/>
                <a:gridCol w="449580"/>
                <a:gridCol w="449580"/>
              </a:tblGrid>
              <a:tr h="370880">
                <a:tc>
                  <a:txBody>
                    <a:bodyPr/>
                    <a:lstStyle/>
                    <a:p>
                      <a:r>
                        <a:rPr lang="en-US" altLang="zh-CN" sz="1800" dirty="0"/>
                        <a:t>1</a:t>
                      </a:r>
                      <a:endParaRPr lang="zh-CN" altLang="en-US" sz="1800" dirty="0"/>
                    </a:p>
                  </a:txBody>
                  <a:tcPr marT="45725" marB="45725"/>
                </a:tc>
                <a:tc>
                  <a:txBody>
                    <a:bodyPr/>
                    <a:lstStyle/>
                    <a:p>
                      <a:r>
                        <a:rPr lang="en-US" altLang="zh-CN" sz="1800" dirty="0"/>
                        <a:t>2</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4</a:t>
                      </a:r>
                      <a:endParaRPr lang="zh-CN" altLang="en-US" sz="1800" dirty="0"/>
                    </a:p>
                  </a:txBody>
                  <a:tcPr marT="45725" marB="45725"/>
                </a:tc>
                <a:tc>
                  <a:txBody>
                    <a:bodyPr/>
                    <a:lstStyle/>
                    <a:p>
                      <a:r>
                        <a:rPr lang="en-US" altLang="zh-CN" sz="1800" dirty="0"/>
                        <a:t>5</a:t>
                      </a:r>
                      <a:endParaRPr lang="zh-CN" altLang="en-US" sz="1800" dirty="0"/>
                    </a:p>
                  </a:txBody>
                  <a:tcPr marT="45725" marB="45725"/>
                </a:tc>
                <a:tc>
                  <a:txBody>
                    <a:bodyPr/>
                    <a:lstStyle/>
                    <a:p>
                      <a:r>
                        <a:rPr lang="en-US" altLang="zh-CN" sz="1800" dirty="0"/>
                        <a:t>6</a:t>
                      </a:r>
                      <a:endParaRPr lang="zh-CN" altLang="en-US" sz="1800" dirty="0"/>
                    </a:p>
                  </a:txBody>
                  <a:tcPr marT="45725" marB="45725"/>
                </a:tc>
                <a:tc>
                  <a:txBody>
                    <a:bodyPr/>
                    <a:lstStyle/>
                    <a:p>
                      <a:r>
                        <a:rPr lang="en-US" altLang="zh-CN" sz="1800" dirty="0"/>
                        <a:t>7</a:t>
                      </a:r>
                      <a:endParaRPr lang="zh-CN" altLang="en-US" sz="1800" dirty="0"/>
                    </a:p>
                  </a:txBody>
                  <a:tcPr marT="45725" marB="45725"/>
                </a:tc>
                <a:tc>
                  <a:txBody>
                    <a:bodyPr/>
                    <a:lstStyle/>
                    <a:p>
                      <a:r>
                        <a:rPr lang="en-US" altLang="zh-CN" sz="1800" dirty="0"/>
                        <a:t>8</a:t>
                      </a:r>
                      <a:endParaRPr lang="zh-CN" altLang="en-US" sz="1800" dirty="0"/>
                    </a:p>
                  </a:txBody>
                  <a:tcPr marT="45725" marB="45725"/>
                </a:tc>
                <a:tc>
                  <a:txBody>
                    <a:bodyPr/>
                    <a:lstStyle/>
                    <a:p>
                      <a:r>
                        <a:rPr lang="en-US" altLang="zh-CN" sz="1800" dirty="0"/>
                        <a:t>9</a:t>
                      </a:r>
                      <a:endParaRPr lang="zh-CN" altLang="en-US" sz="1800" dirty="0"/>
                    </a:p>
                  </a:txBody>
                  <a:tcPr marT="45725" marB="45725"/>
                </a:tc>
                <a:tc>
                  <a:txBody>
                    <a:bodyPr/>
                    <a:lstStyle/>
                    <a:p>
                      <a:r>
                        <a:rPr lang="en-US" altLang="zh-CN" sz="1800" dirty="0"/>
                        <a:t>10</a:t>
                      </a:r>
                      <a:endParaRPr lang="zh-CN" altLang="en-US" sz="1800" dirty="0"/>
                    </a:p>
                  </a:txBody>
                  <a:tcPr marT="45725" marB="45725"/>
                </a:tc>
              </a:tr>
              <a:tr h="370880">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4</a:t>
                      </a:r>
                      <a:endParaRPr lang="zh-CN" altLang="en-US" sz="1800" dirty="0"/>
                    </a:p>
                  </a:txBody>
                  <a:tcPr marT="45725" marB="45725"/>
                </a:tc>
                <a:tc>
                  <a:txBody>
                    <a:bodyPr/>
                    <a:lstStyle/>
                    <a:p>
                      <a:r>
                        <a:rPr lang="en-US" altLang="zh-CN" sz="1800" dirty="0"/>
                        <a:t>5</a:t>
                      </a:r>
                      <a:endParaRPr lang="zh-CN" altLang="en-US" sz="1800" dirty="0"/>
                    </a:p>
                  </a:txBody>
                  <a:tcPr marT="45725" marB="45725"/>
                </a:tc>
                <a:tc>
                  <a:txBody>
                    <a:bodyPr/>
                    <a:lstStyle/>
                    <a:p>
                      <a:r>
                        <a:rPr lang="en-US" altLang="zh-CN" sz="1800" dirty="0"/>
                        <a:t>6</a:t>
                      </a:r>
                      <a:endParaRPr lang="zh-CN" altLang="en-US" sz="1800" dirty="0"/>
                    </a:p>
                  </a:txBody>
                  <a:tcPr marT="45725" marB="45725"/>
                </a:tc>
                <a:tc>
                  <a:txBody>
                    <a:bodyPr/>
                    <a:lstStyle/>
                    <a:p>
                      <a:r>
                        <a:rPr lang="en-US" altLang="zh-CN" sz="1800" dirty="0"/>
                        <a:t>8</a:t>
                      </a:r>
                      <a:endParaRPr lang="zh-CN" altLang="en-US" sz="1800" dirty="0"/>
                    </a:p>
                  </a:txBody>
                  <a:tcPr marT="45725" marB="45725"/>
                </a:tc>
                <a:tc>
                  <a:txBody>
                    <a:bodyPr/>
                    <a:lstStyle/>
                    <a:p>
                      <a:r>
                        <a:rPr lang="en-US" altLang="zh-CN" sz="1800" dirty="0"/>
                        <a:t>6</a:t>
                      </a:r>
                      <a:endParaRPr lang="zh-CN" altLang="en-US" sz="1800" dirty="0"/>
                    </a:p>
                  </a:txBody>
                  <a:tcPr marT="45725" marB="45725"/>
                </a:tc>
                <a:tc>
                  <a:txBody>
                    <a:bodyPr/>
                    <a:lstStyle/>
                    <a:p>
                      <a:r>
                        <a:rPr lang="en-US" altLang="zh-CN" sz="1800" dirty="0"/>
                        <a:t>4</a:t>
                      </a:r>
                      <a:endParaRPr lang="zh-CN" altLang="en-US" sz="1800" dirty="0"/>
                    </a:p>
                  </a:txBody>
                  <a:tcPr marT="45725" marB="45725"/>
                </a:tc>
              </a:tr>
              <a:tr h="370880">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4</a:t>
                      </a:r>
                      <a:endParaRPr lang="zh-CN" altLang="en-US" sz="1800" dirty="0"/>
                    </a:p>
                  </a:txBody>
                  <a:tcPr marT="45725" marB="45725"/>
                </a:tc>
                <a:tc>
                  <a:txBody>
                    <a:bodyPr/>
                    <a:lstStyle/>
                    <a:p>
                      <a:r>
                        <a:rPr lang="en-US" altLang="zh-CN" sz="1800" dirty="0"/>
                        <a:t>7</a:t>
                      </a:r>
                      <a:endParaRPr lang="zh-CN" altLang="en-US" sz="1800" dirty="0"/>
                    </a:p>
                  </a:txBody>
                  <a:tcPr marT="45725" marB="45725"/>
                </a:tc>
                <a:tc>
                  <a:txBody>
                    <a:bodyPr/>
                    <a:lstStyle/>
                    <a:p>
                      <a:r>
                        <a:rPr lang="en-US" altLang="zh-CN" sz="1800" dirty="0"/>
                        <a:t>8</a:t>
                      </a:r>
                      <a:endParaRPr lang="zh-CN" altLang="en-US" sz="1800" dirty="0"/>
                    </a:p>
                  </a:txBody>
                  <a:tcPr marT="45725" marB="45725"/>
                </a:tc>
                <a:tc>
                  <a:txBody>
                    <a:bodyPr/>
                    <a:lstStyle/>
                    <a:p>
                      <a:r>
                        <a:rPr lang="en-US" altLang="zh-CN" sz="1800" dirty="0"/>
                        <a:t>7</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3</a:t>
                      </a:r>
                      <a:endParaRPr lang="zh-CN" altLang="en-US" sz="1800" dirty="0"/>
                    </a:p>
                  </a:txBody>
                  <a:tcPr marT="45725" marB="45725"/>
                </a:tc>
              </a:tr>
              <a:tr h="370880">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5</a:t>
                      </a:r>
                      <a:endParaRPr lang="zh-CN" altLang="en-US" sz="1800" dirty="0"/>
                    </a:p>
                  </a:txBody>
                  <a:tcPr marT="45725" marB="45725"/>
                </a:tc>
                <a:tc>
                  <a:txBody>
                    <a:bodyPr/>
                    <a:lstStyle/>
                    <a:p>
                      <a:r>
                        <a:rPr lang="en-US" altLang="zh-CN" sz="1800" dirty="0"/>
                        <a:t>9</a:t>
                      </a:r>
                      <a:endParaRPr lang="zh-CN" altLang="en-US" sz="1800" dirty="0"/>
                    </a:p>
                  </a:txBody>
                  <a:tcPr marT="45725" marB="45725"/>
                </a:tc>
                <a:tc>
                  <a:txBody>
                    <a:bodyPr/>
                    <a:lstStyle/>
                    <a:p>
                      <a:r>
                        <a:rPr lang="en-US" altLang="zh-CN" sz="1800" dirty="0"/>
                        <a:t>8</a:t>
                      </a:r>
                      <a:endParaRPr lang="zh-CN" altLang="en-US" sz="1800" dirty="0"/>
                    </a:p>
                  </a:txBody>
                  <a:tcPr marT="45725" marB="45725"/>
                </a:tc>
                <a:tc>
                  <a:txBody>
                    <a:bodyPr/>
                    <a:lstStyle/>
                    <a:p>
                      <a:r>
                        <a:rPr lang="en-US" altLang="zh-CN" sz="1800" dirty="0"/>
                        <a:t>0</a:t>
                      </a:r>
                      <a:endParaRPr lang="zh-CN" altLang="en-US" sz="1800" dirty="0"/>
                    </a:p>
                  </a:txBody>
                  <a:tcPr marT="45725" marB="45725"/>
                </a:tc>
                <a:tc>
                  <a:txBody>
                    <a:bodyPr/>
                    <a:lstStyle/>
                    <a:p>
                      <a:r>
                        <a:rPr lang="en-US" altLang="zh-CN" sz="1800" dirty="0"/>
                        <a:t>2</a:t>
                      </a:r>
                      <a:endParaRPr lang="zh-CN" altLang="en-US" sz="1800" dirty="0"/>
                    </a:p>
                  </a:txBody>
                  <a:tcPr marT="45725" marB="45725"/>
                </a:tc>
                <a:tc>
                  <a:txBody>
                    <a:bodyPr/>
                    <a:lstStyle/>
                    <a:p>
                      <a:r>
                        <a:rPr lang="en-US" altLang="zh-CN" sz="1800" dirty="0"/>
                        <a:t>4</a:t>
                      </a:r>
                      <a:endParaRPr lang="zh-CN" altLang="en-US" sz="1800" dirty="0"/>
                    </a:p>
                  </a:txBody>
                  <a:tcPr marT="45725" marB="45725"/>
                </a:tc>
              </a:tr>
              <a:tr h="370880">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8</a:t>
                      </a:r>
                      <a:endParaRPr lang="zh-CN" altLang="en-US" sz="1800" dirty="0"/>
                    </a:p>
                  </a:txBody>
                  <a:tcPr marT="45725" marB="45725"/>
                </a:tc>
                <a:tc>
                  <a:txBody>
                    <a:bodyPr/>
                    <a:lstStyle/>
                    <a:p>
                      <a:r>
                        <a:rPr lang="en-US" altLang="zh-CN" sz="1800" dirty="0"/>
                        <a:t>4</a:t>
                      </a:r>
                      <a:endParaRPr lang="zh-CN" altLang="en-US" sz="1800" dirty="0"/>
                    </a:p>
                  </a:txBody>
                  <a:tcPr marT="45725" marB="45725"/>
                </a:tc>
                <a:tc>
                  <a:txBody>
                    <a:bodyPr/>
                    <a:lstStyle/>
                    <a:p>
                      <a:r>
                        <a:rPr lang="en-US" altLang="zh-CN" sz="1800" dirty="0"/>
                        <a:t>2</a:t>
                      </a:r>
                      <a:endParaRPr lang="zh-CN" altLang="en-US" sz="1800" dirty="0"/>
                    </a:p>
                  </a:txBody>
                  <a:tcPr marT="45725" marB="45725"/>
                </a:tc>
                <a:tc>
                  <a:txBody>
                    <a:bodyPr/>
                    <a:lstStyle/>
                    <a:p>
                      <a:r>
                        <a:rPr lang="en-US" altLang="zh-CN" sz="1800" dirty="0"/>
                        <a:t>5</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6</a:t>
                      </a:r>
                      <a:endParaRPr lang="zh-CN" altLang="en-US" sz="1800" dirty="0"/>
                    </a:p>
                  </a:txBody>
                  <a:tcPr marT="45725" marB="45725"/>
                </a:tc>
                <a:tc>
                  <a:txBody>
                    <a:bodyPr/>
                    <a:lstStyle/>
                    <a:p>
                      <a:r>
                        <a:rPr lang="en-US" altLang="zh-CN" sz="1800" dirty="0"/>
                        <a:t>4</a:t>
                      </a:r>
                      <a:endParaRPr lang="zh-CN" altLang="en-US" sz="1800" dirty="0"/>
                    </a:p>
                  </a:txBody>
                  <a:tcPr marT="45725" marB="45725"/>
                </a:tc>
              </a:tr>
              <a:tr h="370880">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5</a:t>
                      </a:r>
                      <a:endParaRPr lang="zh-CN" altLang="en-US" sz="1800" dirty="0"/>
                    </a:p>
                  </a:txBody>
                  <a:tcPr marT="45725" marB="45725"/>
                </a:tc>
                <a:tc>
                  <a:txBody>
                    <a:bodyPr/>
                    <a:lstStyle/>
                    <a:p>
                      <a:r>
                        <a:rPr lang="en-US" altLang="zh-CN" sz="1800" dirty="0"/>
                        <a:t>0</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7</a:t>
                      </a:r>
                      <a:endParaRPr lang="zh-CN" altLang="en-US" sz="1800" dirty="0"/>
                    </a:p>
                  </a:txBody>
                  <a:tcPr marT="45725" marB="45725"/>
                </a:tc>
                <a:tc>
                  <a:txBody>
                    <a:bodyPr/>
                    <a:lstStyle/>
                    <a:p>
                      <a:r>
                        <a:rPr lang="en-US" altLang="zh-CN" sz="1800" dirty="0"/>
                        <a:t>8</a:t>
                      </a:r>
                      <a:endParaRPr lang="zh-CN" altLang="en-US" sz="1800" dirty="0"/>
                    </a:p>
                  </a:txBody>
                  <a:tcPr marT="45725" marB="45725"/>
                </a:tc>
                <a:tc>
                  <a:txBody>
                    <a:bodyPr/>
                    <a:lstStyle/>
                    <a:p>
                      <a:r>
                        <a:rPr lang="en-US" altLang="zh-CN" sz="1800" dirty="0"/>
                        <a:t>3</a:t>
                      </a:r>
                      <a:endParaRPr lang="zh-CN" altLang="en-US" sz="1800" dirty="0"/>
                    </a:p>
                  </a:txBody>
                  <a:tcPr marT="45725" marB="45725"/>
                </a:tc>
              </a:tr>
              <a:tr h="370880">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8</a:t>
                      </a:r>
                      <a:endParaRPr lang="zh-CN" altLang="en-US" sz="1800" dirty="0"/>
                    </a:p>
                  </a:txBody>
                  <a:tcPr marT="45725" marB="45725"/>
                </a:tc>
                <a:tc>
                  <a:txBody>
                    <a:bodyPr/>
                    <a:lstStyle/>
                    <a:p>
                      <a:r>
                        <a:rPr lang="en-US" altLang="zh-CN" sz="1800" dirty="0"/>
                        <a:t>4</a:t>
                      </a:r>
                      <a:endParaRPr lang="zh-CN" altLang="en-US" sz="1800" dirty="0"/>
                    </a:p>
                  </a:txBody>
                  <a:tcPr marT="45725" marB="45725"/>
                </a:tc>
                <a:tc>
                  <a:txBody>
                    <a:bodyPr/>
                    <a:lstStyle/>
                    <a:p>
                      <a:r>
                        <a:rPr lang="en-US" altLang="zh-CN" sz="1800" dirty="0"/>
                        <a:t>6</a:t>
                      </a:r>
                      <a:endParaRPr lang="zh-CN" altLang="en-US" sz="1800" dirty="0"/>
                    </a:p>
                  </a:txBody>
                  <a:tcPr marT="45725" marB="45725"/>
                </a:tc>
                <a:tc>
                  <a:txBody>
                    <a:bodyPr/>
                    <a:lstStyle/>
                    <a:p>
                      <a:r>
                        <a:rPr lang="en-US" altLang="zh-CN" sz="1800" dirty="0"/>
                        <a:t>9</a:t>
                      </a:r>
                      <a:endParaRPr lang="zh-CN" altLang="en-US" sz="1800" dirty="0"/>
                    </a:p>
                  </a:txBody>
                  <a:tcPr marT="45725" marB="45725"/>
                </a:tc>
                <a:tc>
                  <a:txBody>
                    <a:bodyPr/>
                    <a:lstStyle/>
                    <a:p>
                      <a:r>
                        <a:rPr lang="en-US" altLang="zh-CN" sz="1800" dirty="0"/>
                        <a:t>6</a:t>
                      </a:r>
                      <a:endParaRPr lang="zh-CN" altLang="en-US" sz="1800" dirty="0"/>
                    </a:p>
                  </a:txBody>
                  <a:tcPr marT="45725" marB="45725"/>
                </a:tc>
                <a:tc>
                  <a:txBody>
                    <a:bodyPr/>
                    <a:lstStyle/>
                    <a:p>
                      <a:r>
                        <a:rPr lang="en-US" altLang="zh-CN" sz="1800" dirty="0"/>
                        <a:t>5</a:t>
                      </a:r>
                      <a:endParaRPr lang="zh-CN" altLang="en-US" sz="1800" dirty="0"/>
                    </a:p>
                  </a:txBody>
                  <a:tcPr marT="45725" marB="45725"/>
                </a:tc>
                <a:tc>
                  <a:txBody>
                    <a:bodyPr/>
                    <a:lstStyle/>
                    <a:p>
                      <a:r>
                        <a:rPr lang="en-US" altLang="zh-CN" sz="1800" dirty="0"/>
                        <a:t>3</a:t>
                      </a:r>
                      <a:endParaRPr lang="zh-CN" altLang="en-US" sz="1800" dirty="0"/>
                    </a:p>
                  </a:txBody>
                  <a:tcPr marT="45725" marB="45725"/>
                </a:tc>
              </a:tr>
              <a:tr h="370880">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6</a:t>
                      </a:r>
                      <a:endParaRPr lang="zh-CN" altLang="en-US" sz="1800" dirty="0"/>
                    </a:p>
                  </a:txBody>
                  <a:tcPr marT="45725" marB="45725"/>
                </a:tc>
                <a:tc>
                  <a:txBody>
                    <a:bodyPr/>
                    <a:lstStyle/>
                    <a:p>
                      <a:r>
                        <a:rPr lang="en-US" altLang="zh-CN" sz="1800" dirty="0"/>
                        <a:t>1</a:t>
                      </a:r>
                      <a:endParaRPr lang="zh-CN" altLang="en-US" sz="1800" dirty="0"/>
                    </a:p>
                  </a:txBody>
                  <a:tcPr marT="45725" marB="45725"/>
                </a:tc>
                <a:tc>
                  <a:txBody>
                    <a:bodyPr/>
                    <a:lstStyle/>
                    <a:p>
                      <a:r>
                        <a:rPr lang="en-US" altLang="zh-CN" sz="1800" dirty="0"/>
                        <a:t>2</a:t>
                      </a:r>
                      <a:endParaRPr lang="zh-CN" altLang="en-US" sz="1800" dirty="0"/>
                    </a:p>
                  </a:txBody>
                  <a:tcPr marT="45725" marB="45725"/>
                </a:tc>
                <a:tc>
                  <a:txBody>
                    <a:bodyPr/>
                    <a:lstStyle/>
                    <a:p>
                      <a:r>
                        <a:rPr lang="en-US" altLang="zh-CN" sz="1800" dirty="0"/>
                        <a:t>3</a:t>
                      </a:r>
                      <a:endParaRPr lang="zh-CN" altLang="en-US" sz="1800" dirty="0"/>
                    </a:p>
                  </a:txBody>
                  <a:tcPr marT="45725" marB="45725"/>
                </a:tc>
                <a:tc>
                  <a:txBody>
                    <a:bodyPr/>
                    <a:lstStyle/>
                    <a:p>
                      <a:r>
                        <a:rPr lang="en-US" altLang="zh-CN" sz="1800" dirty="0"/>
                        <a:t>4</a:t>
                      </a:r>
                      <a:endParaRPr lang="zh-CN" altLang="en-US" sz="1800" dirty="0"/>
                    </a:p>
                  </a:txBody>
                  <a:tcPr marT="45725" marB="45725"/>
                </a:tc>
                <a:tc>
                  <a:txBody>
                    <a:bodyPr/>
                    <a:lstStyle/>
                    <a:p>
                      <a:r>
                        <a:rPr lang="en-US" altLang="zh-CN" sz="1800" dirty="0"/>
                        <a:t>3</a:t>
                      </a:r>
                      <a:endParaRPr lang="zh-CN" altLang="en-US" sz="1800" dirty="0"/>
                    </a:p>
                  </a:txBody>
                  <a:tcPr marT="45725" marB="45725"/>
                </a:tc>
              </a:tr>
            </a:tbl>
          </a:graphicData>
        </a:graphic>
      </p:graphicFrame>
      <p:sp>
        <p:nvSpPr>
          <p:cNvPr id="6" name="Text Box 3"/>
          <p:cNvSpPr txBox="1">
            <a:spLocks noChangeArrowheads="1"/>
          </p:cNvSpPr>
          <p:nvPr/>
        </p:nvSpPr>
        <p:spPr bwMode="auto">
          <a:xfrm>
            <a:off x="558800" y="965082"/>
            <a:ext cx="10998200" cy="461665"/>
          </a:xfrm>
          <a:prstGeom prst="rect">
            <a:avLst/>
          </a:prstGeom>
          <a:noFill/>
          <a:ln w="9525">
            <a:noFill/>
            <a:miter lim="800000"/>
          </a:ln>
        </p:spPr>
        <p:txBody>
          <a:bodyPr wrap="square">
            <a:spAutoFit/>
          </a:bodyPr>
          <a:lstStyle/>
          <a:p>
            <a:pPr eaLnBrk="1" hangingPunct="1">
              <a:defRPr/>
            </a:pPr>
            <a:r>
              <a:rPr lang="zh-CN" altLang="en-US" sz="2400" b="0" dirty="0">
                <a:solidFill>
                  <a:schemeClr val="tx1"/>
                </a:solidFill>
                <a:latin typeface="微软雅黑" panose="020B0503020204020204" pitchFamily="34" charset="-122"/>
                <a:ea typeface="微软雅黑" panose="020B0503020204020204" pitchFamily="34" charset="-122"/>
              </a:rPr>
              <a:t>有一组记录，关键码为</a:t>
            </a:r>
            <a:r>
              <a:rPr lang="en-US" altLang="zh-CN" sz="2400" b="0" dirty="0">
                <a:solidFill>
                  <a:schemeClr val="tx1"/>
                </a:solidFill>
                <a:latin typeface="微软雅黑" panose="020B0503020204020204" pitchFamily="34" charset="-122"/>
                <a:ea typeface="微软雅黑" panose="020B0503020204020204" pitchFamily="34" charset="-122"/>
              </a:rPr>
              <a:t>10</a:t>
            </a:r>
            <a:r>
              <a:rPr lang="zh-CN" altLang="en-US" sz="2400" b="0" dirty="0">
                <a:solidFill>
                  <a:schemeClr val="tx1"/>
                </a:solidFill>
                <a:latin typeface="微软雅黑" panose="020B0503020204020204" pitchFamily="34" charset="-122"/>
                <a:ea typeface="微软雅黑" panose="020B0503020204020204" pitchFamily="34" charset="-122"/>
              </a:rPr>
              <a:t>位十进制数，哈希地址为</a:t>
            </a:r>
            <a:r>
              <a:rPr lang="en-US" altLang="zh-CN" sz="2400" b="0" dirty="0">
                <a:solidFill>
                  <a:schemeClr val="tx1"/>
                </a:solidFill>
                <a:latin typeface="微软雅黑" panose="020B0503020204020204" pitchFamily="34" charset="-122"/>
                <a:ea typeface="微软雅黑" panose="020B0503020204020204" pitchFamily="34" charset="-122"/>
              </a:rPr>
              <a:t>2</a:t>
            </a:r>
            <a:r>
              <a:rPr lang="zh-CN" altLang="en-US" sz="2400" b="0" dirty="0">
                <a:solidFill>
                  <a:schemeClr val="tx1"/>
                </a:solidFill>
                <a:latin typeface="微软雅黑" panose="020B0503020204020204" pitchFamily="34" charset="-122"/>
                <a:ea typeface="微软雅黑" panose="020B0503020204020204" pitchFamily="34" charset="-122"/>
              </a:rPr>
              <a:t>位十进制数</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sp>
        <p:nvSpPr>
          <p:cNvPr id="7" name="AutoShape 12"/>
          <p:cNvSpPr>
            <a:spLocks noChangeArrowheads="1"/>
          </p:cNvSpPr>
          <p:nvPr/>
        </p:nvSpPr>
        <p:spPr bwMode="auto">
          <a:xfrm>
            <a:off x="6519332" y="2274887"/>
            <a:ext cx="3960812" cy="2308225"/>
          </a:xfrm>
          <a:prstGeom prst="wedgeRectCallout">
            <a:avLst>
              <a:gd name="adj1" fmla="val -57258"/>
              <a:gd name="adj2" fmla="val -23924"/>
            </a:avLst>
          </a:prstGeom>
          <a:noFill/>
          <a:ln w="9525">
            <a:solidFill>
              <a:schemeClr val="tx1"/>
            </a:solidFill>
            <a:miter lim="800000"/>
          </a:ln>
        </p:spPr>
        <p:txBody>
          <a:bodyPr wrap="none" anchor="ctr">
            <a:spAutoFit/>
          </a:bodyPr>
          <a:lstStyle/>
          <a:p>
            <a:pPr eaLnBrk="1" hangingPunct="1">
              <a:defRPr/>
            </a:pPr>
            <a:r>
              <a:rPr lang="zh-CN" altLang="en-US" sz="2400" dirty="0">
                <a:solidFill>
                  <a:srgbClr val="FF0000"/>
                </a:solidFill>
                <a:latin typeface="微软雅黑" panose="020B0503020204020204" pitchFamily="34" charset="-122"/>
                <a:ea typeface="微软雅黑" panose="020B0503020204020204" pitchFamily="34" charset="-122"/>
              </a:rPr>
              <a:t>分析：</a:t>
            </a:r>
            <a:endParaRPr lang="en-US" altLang="zh-CN" sz="2400" dirty="0">
              <a:solidFill>
                <a:srgbClr val="FF0000"/>
              </a:solidFill>
              <a:latin typeface="微软雅黑" panose="020B0503020204020204" pitchFamily="34" charset="-122"/>
              <a:ea typeface="微软雅黑" panose="020B0503020204020204" pitchFamily="34" charset="-122"/>
            </a:endParaRPr>
          </a:p>
          <a:p>
            <a:pPr eaLnBrk="1" hangingPunct="1">
              <a:defRPr/>
            </a:pPr>
            <a:r>
              <a:rPr lang="zh-CN" altLang="en-US" sz="2400" dirty="0">
                <a:solidFill>
                  <a:srgbClr val="FF0000"/>
                </a:solidFill>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 </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三位均为</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1</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3</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1</a:t>
            </a:r>
            <a:endPar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a:p>
            <a:pPr eaLnBrk="1" hangingPunct="1">
              <a:defRPr/>
            </a:pP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只取</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3</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8</a:t>
            </a:r>
            <a:endPar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a:p>
            <a:pPr eaLnBrk="1" hangingPunct="1">
              <a:defRPr/>
            </a:pP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只取</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4</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5</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6</a:t>
            </a:r>
            <a:endPar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a:p>
            <a:pPr eaLnBrk="1" hangingPunct="1">
              <a:defRPr/>
            </a:pP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⑩</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只取</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4</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3</a:t>
            </a:r>
            <a:endPar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a:p>
            <a:pPr eaLnBrk="1" hangingPunct="1">
              <a:defRPr/>
            </a:pPr>
            <a:r>
              <a:rPr lang="en-US" altLang="zh-CN"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⑨</a:t>
            </a:r>
            <a:r>
              <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数字分布近乎随机</a:t>
            </a:r>
            <a:endParaRPr lang="zh-CN" altLang="en-US" sz="24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endParaRPr>
          </a:p>
        </p:txBody>
      </p:sp>
      <p:sp>
        <p:nvSpPr>
          <p:cNvPr id="8" name="TextBox 15"/>
          <p:cNvSpPr txBox="1">
            <a:spLocks noChangeArrowheads="1"/>
          </p:cNvSpPr>
          <p:nvPr/>
        </p:nvSpPr>
        <p:spPr bwMode="auto">
          <a:xfrm>
            <a:off x="558799" y="5027116"/>
            <a:ext cx="1078653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en-US"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所以：</a:t>
            </a:r>
            <a:endParaRPr lang="en-US" altLang="zh-CN"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endParaRPr>
          </a:p>
          <a:p>
            <a:pPr eaLnBrk="1" hangingPunct="1">
              <a:spcBef>
                <a:spcPct val="0"/>
              </a:spcBef>
              <a:buFontTx/>
              <a:buNone/>
            </a:pPr>
            <a:r>
              <a:rPr lang="zh-CN" altLang="en-US"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取</a:t>
            </a:r>
            <a:r>
              <a:rPr lang="en-US" altLang="zh-CN"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⑨</a:t>
            </a:r>
            <a:r>
              <a:rPr lang="zh-CN" altLang="en-US"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任意两位或两位与另两位的叠加作哈希地址。</a:t>
            </a:r>
            <a:endParaRPr lang="zh-CN" altLang="en-US"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endParaRPr>
          </a:p>
          <a:p>
            <a:pPr algn="ctr" eaLnBrk="1" hangingPunct="1">
              <a:spcBef>
                <a:spcPct val="0"/>
              </a:spcBef>
              <a:buFontTx/>
              <a:buNone/>
            </a:pPr>
            <a:endParaRPr lang="zh-CN" altLang="en-US" sz="1800" dirty="0">
              <a:solidFill>
                <a:srgbClr val="FFFFFF"/>
              </a:solidFill>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Hash</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函数的构造方法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a:spLocks noGrp="1"/>
          </p:cNvSpPr>
          <p:nvPr>
            <p:ph idx="1"/>
          </p:nvPr>
        </p:nvSpPr>
        <p:spPr>
          <a:xfrm>
            <a:off x="592666" y="990600"/>
            <a:ext cx="11040533" cy="4876800"/>
          </a:xfrm>
        </p:spPr>
        <p:txBody>
          <a:bodyPr/>
          <a:lstStyle/>
          <a:p>
            <a:pPr>
              <a:lnSpc>
                <a:spcPct val="125000"/>
              </a:lnSpc>
            </a:pPr>
            <a:r>
              <a:rPr lang="zh-CN" altLang="en-US" sz="2400" b="1" u="sng" dirty="0">
                <a:latin typeface="微软雅黑" panose="020B0503020204020204" pitchFamily="34" charset="-122"/>
                <a:ea typeface="微软雅黑" panose="020B0503020204020204" pitchFamily="34" charset="-122"/>
              </a:rPr>
              <a:t>平方取中法</a:t>
            </a:r>
            <a:endParaRPr lang="en-US" altLang="zh-CN" sz="2400" b="1" u="sng"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构造</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取关键字平方后中间几位作哈希地址</a:t>
            </a:r>
            <a:endParaRPr lang="en-US" altLang="zh-CN" sz="18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特点</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适于不知道全部关键字情况</a:t>
            </a:r>
            <a:endParaRPr lang="zh-CN" altLang="en-US" sz="1800" dirty="0">
              <a:latin typeface="微软雅黑" panose="020B0503020204020204" pitchFamily="34" charset="-122"/>
              <a:ea typeface="微软雅黑" panose="020B0503020204020204" pitchFamily="34" charset="-122"/>
            </a:endParaRPr>
          </a:p>
          <a:p>
            <a:pPr>
              <a:buFontTx/>
              <a:buNone/>
            </a:pP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Hash</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函数的构造方法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643466" y="990600"/>
            <a:ext cx="10888134" cy="4876800"/>
          </a:xfrm>
        </p:spPr>
        <p:txBody>
          <a:bodyPr/>
          <a:lstStyle/>
          <a:p>
            <a:pPr marL="457200" indent="-457200">
              <a:lnSpc>
                <a:spcPct val="125000"/>
              </a:lnSpc>
            </a:pPr>
            <a:r>
              <a:rPr lang="zh-CN" altLang="en-US" sz="2400" b="1" u="sng" dirty="0">
                <a:latin typeface="微软雅黑" panose="020B0503020204020204" pitchFamily="34" charset="-122"/>
                <a:ea typeface="微软雅黑" panose="020B0503020204020204" pitchFamily="34" charset="-122"/>
              </a:rPr>
              <a:t>折叠法</a:t>
            </a:r>
            <a:endParaRPr lang="en-US" altLang="zh-CN" sz="2400" b="1" u="sng" dirty="0">
              <a:latin typeface="微软雅黑" panose="020B0503020204020204" pitchFamily="34" charset="-122"/>
              <a:ea typeface="微软雅黑" panose="020B0503020204020204" pitchFamily="34" charset="-122"/>
            </a:endParaRPr>
          </a:p>
          <a:p>
            <a:pPr marL="400050" lvl="1"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构造</a:t>
            </a:r>
            <a:endParaRPr lang="en-US" altLang="zh-CN" dirty="0">
              <a:latin typeface="微软雅黑" panose="020B0503020204020204" pitchFamily="34" charset="-122"/>
              <a:ea typeface="微软雅黑" panose="020B0503020204020204" pitchFamily="34" charset="-122"/>
            </a:endParaRPr>
          </a:p>
          <a:p>
            <a:pPr marL="1257300" lvl="2" indent="-457200">
              <a:lnSpc>
                <a:spcPct val="125000"/>
              </a:lnSpc>
            </a:pPr>
            <a:r>
              <a:rPr lang="zh-CN" altLang="en-US" dirty="0">
                <a:latin typeface="微软雅黑" panose="020B0503020204020204" pitchFamily="34" charset="-122"/>
                <a:ea typeface="微软雅黑" panose="020B0503020204020204" pitchFamily="34" charset="-122"/>
              </a:rPr>
              <a:t>将关键字分割成位数相同的几部分，然后取这几部分的叠加和（舍去进位）做哈希地址</a:t>
            </a:r>
            <a:endParaRPr lang="en-US" altLang="zh-CN" dirty="0">
              <a:latin typeface="微软雅黑" panose="020B0503020204020204" pitchFamily="34" charset="-122"/>
              <a:ea typeface="微软雅黑" panose="020B0503020204020204" pitchFamily="34" charset="-122"/>
            </a:endParaRPr>
          </a:p>
          <a:p>
            <a:pPr marL="1257300" lvl="2" indent="-457200">
              <a:lnSpc>
                <a:spcPct val="125000"/>
              </a:lnSpc>
            </a:pPr>
            <a:r>
              <a:rPr lang="zh-CN" altLang="en-US" dirty="0">
                <a:latin typeface="微软雅黑" panose="020B0503020204020204" pitchFamily="34" charset="-122"/>
                <a:ea typeface="微软雅黑" panose="020B0503020204020204" pitchFamily="34" charset="-122"/>
              </a:rPr>
              <a:t>种类</a:t>
            </a:r>
            <a:endParaRPr lang="en-US" altLang="zh-CN" dirty="0">
              <a:latin typeface="微软雅黑" panose="020B0503020204020204" pitchFamily="34" charset="-122"/>
              <a:ea typeface="微软雅黑" panose="020B0503020204020204" pitchFamily="34" charset="-122"/>
            </a:endParaRPr>
          </a:p>
          <a:p>
            <a:pPr marL="1257300" lvl="3"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移位叠加：将分割后的几部分低位对齐相加</a:t>
            </a:r>
            <a:endParaRPr lang="en-US" altLang="zh-CN" dirty="0">
              <a:latin typeface="微软雅黑" panose="020B0503020204020204" pitchFamily="34" charset="-122"/>
              <a:ea typeface="微软雅黑" panose="020B0503020204020204" pitchFamily="34" charset="-122"/>
            </a:endParaRPr>
          </a:p>
          <a:p>
            <a:pPr marL="1257300" lvl="3"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间界叠加：从一端沿分割界来回折送，然后对齐相加</a:t>
            </a:r>
            <a:endParaRPr lang="en-US" altLang="zh-CN" dirty="0">
              <a:latin typeface="微软雅黑" panose="020B0503020204020204" pitchFamily="34" charset="-122"/>
              <a:ea typeface="微软雅黑" panose="020B0503020204020204" pitchFamily="34" charset="-122"/>
            </a:endParaRPr>
          </a:p>
          <a:p>
            <a:pPr marL="400050" lvl="1" indent="0">
              <a:lnSpc>
                <a:spcPct val="125000"/>
              </a:lnSpc>
              <a:buNone/>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特点</a:t>
            </a:r>
            <a:endParaRPr lang="en-US" altLang="zh-CN" dirty="0">
              <a:latin typeface="微软雅黑" panose="020B0503020204020204" pitchFamily="34" charset="-122"/>
              <a:ea typeface="微软雅黑" panose="020B0503020204020204" pitchFamily="34" charset="-122"/>
            </a:endParaRPr>
          </a:p>
          <a:p>
            <a:pPr marL="1257300" lvl="2" indent="-457200">
              <a:lnSpc>
                <a:spcPct val="125000"/>
              </a:lnSpc>
            </a:pPr>
            <a:r>
              <a:rPr lang="zh-CN" altLang="en-US" dirty="0">
                <a:latin typeface="微软雅黑" panose="020B0503020204020204" pitchFamily="34" charset="-122"/>
                <a:ea typeface="微软雅黑" panose="020B0503020204020204" pitchFamily="34" charset="-122"/>
              </a:rPr>
              <a:t>适于关键字位数很多，且每一位上数字分布大致均匀情况</a:t>
            </a:r>
            <a:endParaRPr lang="zh-CN" altLang="en-US" dirty="0">
              <a:latin typeface="微软雅黑" panose="020B0503020204020204" pitchFamily="34" charset="-122"/>
              <a:ea typeface="微软雅黑" panose="020B0503020204020204" pitchFamily="34" charset="-122"/>
            </a:endParaRPr>
          </a:p>
          <a:p>
            <a:pPr marL="457200" indent="-457200"/>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Hash</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函数的构造方法例</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643467" y="990600"/>
            <a:ext cx="10752666" cy="4876800"/>
          </a:xfrm>
        </p:spPr>
        <p:txBody>
          <a:bodyPr/>
          <a:lstStyle/>
          <a:p>
            <a:r>
              <a:rPr lang="zh-CN" altLang="en-US" sz="2400" dirty="0">
                <a:latin typeface="微软雅黑" panose="020B0503020204020204" pitchFamily="34" charset="-122"/>
                <a:ea typeface="微软雅黑" panose="020B0503020204020204" pitchFamily="34" charset="-122"/>
              </a:rPr>
              <a:t>关键字为 ：</a:t>
            </a:r>
            <a:r>
              <a:rPr lang="en-US" altLang="zh-CN" sz="2400" dirty="0">
                <a:latin typeface="微软雅黑" panose="020B0503020204020204" pitchFamily="34" charset="-122"/>
                <a:ea typeface="微软雅黑" panose="020B0503020204020204" pitchFamily="34" charset="-122"/>
              </a:rPr>
              <a:t>45923526012</a:t>
            </a:r>
            <a:r>
              <a:rPr lang="zh-CN" altLang="en-US" sz="2400" dirty="0">
                <a:latin typeface="微软雅黑" panose="020B0503020204020204" pitchFamily="34" charset="-122"/>
                <a:ea typeface="微软雅黑" panose="020B0503020204020204" pitchFamily="34" charset="-122"/>
              </a:rPr>
              <a:t>，哈希地址位数为</a:t>
            </a:r>
            <a:r>
              <a:rPr lang="en-US" altLang="zh-CN" sz="2400" dirty="0">
                <a:latin typeface="微软雅黑" panose="020B0503020204020204" pitchFamily="34" charset="-122"/>
                <a:ea typeface="微软雅黑" panose="020B0503020204020204" pitchFamily="34" charset="-122"/>
              </a:rPr>
              <a:t>3</a:t>
            </a:r>
            <a:endParaRPr lang="en-US" altLang="zh-CN" sz="2400" dirty="0">
              <a:latin typeface="微软雅黑" panose="020B0503020204020204" pitchFamily="34" charset="-122"/>
              <a:ea typeface="微软雅黑" panose="020B0503020204020204" pitchFamily="34" charset="-122"/>
            </a:endParaRPr>
          </a:p>
          <a:p>
            <a:pPr>
              <a:buFontTx/>
              <a:buNone/>
            </a:pPr>
            <a:endParaRPr lang="zh-CN" altLang="en-US" dirty="0"/>
          </a:p>
        </p:txBody>
      </p:sp>
      <p:cxnSp>
        <p:nvCxnSpPr>
          <p:cNvPr id="6" name="直接连接符 6"/>
          <p:cNvCxnSpPr>
            <a:cxnSpLocks noChangeShapeType="1"/>
          </p:cNvCxnSpPr>
          <p:nvPr/>
        </p:nvCxnSpPr>
        <p:spPr bwMode="auto">
          <a:xfrm>
            <a:off x="1430867" y="3852334"/>
            <a:ext cx="2667000" cy="0"/>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cxnSp>
        <p:nvCxnSpPr>
          <p:cNvPr id="7" name="直接连接符 8"/>
          <p:cNvCxnSpPr>
            <a:cxnSpLocks noChangeShapeType="1"/>
          </p:cNvCxnSpPr>
          <p:nvPr/>
        </p:nvCxnSpPr>
        <p:spPr bwMode="auto">
          <a:xfrm>
            <a:off x="5850467" y="3852334"/>
            <a:ext cx="2667000" cy="0"/>
          </a:xfrm>
          <a:prstGeom prst="line">
            <a:avLst/>
          </a:prstGeom>
          <a:noFill/>
          <a:ln w="3175" algn="ctr">
            <a:solidFill>
              <a:schemeClr val="tx2"/>
            </a:solidFill>
            <a:round/>
          </a:ln>
          <a:extLst>
            <a:ext uri="{909E8E84-426E-40DD-AFC4-6F175D3DCCD1}">
              <a14:hiddenFill xmlns:a14="http://schemas.microsoft.com/office/drawing/2010/main">
                <a:noFill/>
              </a14:hiddenFill>
            </a:ext>
          </a:extLst>
        </p:spPr>
      </p:cxnSp>
      <p:sp>
        <p:nvSpPr>
          <p:cNvPr id="8" name="椭圆形标注 9"/>
          <p:cNvSpPr>
            <a:spLocks noChangeArrowheads="1"/>
          </p:cNvSpPr>
          <p:nvPr/>
        </p:nvSpPr>
        <p:spPr bwMode="auto">
          <a:xfrm>
            <a:off x="3945467" y="1794934"/>
            <a:ext cx="1143000" cy="838200"/>
          </a:xfrm>
          <a:prstGeom prst="wedgeEllipseCallout">
            <a:avLst>
              <a:gd name="adj1" fmla="val -20833"/>
              <a:gd name="adj2" fmla="val 62500"/>
            </a:avLst>
          </a:prstGeom>
          <a:solidFill>
            <a:schemeClr val="accent1"/>
          </a:solidFill>
          <a:ln w="3175" algn="ctr">
            <a:solidFill>
              <a:schemeClr val="tx2"/>
            </a:solidFill>
            <a:round/>
          </a:ln>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a:solidFill>
                  <a:srgbClr val="FFFFFF"/>
                </a:solidFill>
                <a:latin typeface="Consolas" panose="020B0609020204030204" pitchFamily="49" charset="0"/>
              </a:rPr>
              <a:t>移位叠加</a:t>
            </a:r>
            <a:endParaRPr lang="zh-CN" altLang="en-US" sz="1800">
              <a:solidFill>
                <a:srgbClr val="FFFFFF"/>
              </a:solidFill>
              <a:latin typeface="Consolas" panose="020B0609020204030204" pitchFamily="49" charset="0"/>
            </a:endParaRPr>
          </a:p>
        </p:txBody>
      </p:sp>
      <p:sp>
        <p:nvSpPr>
          <p:cNvPr id="9" name="椭圆形标注 10"/>
          <p:cNvSpPr>
            <a:spLocks noChangeArrowheads="1"/>
          </p:cNvSpPr>
          <p:nvPr/>
        </p:nvSpPr>
        <p:spPr bwMode="auto">
          <a:xfrm>
            <a:off x="8517467" y="1642534"/>
            <a:ext cx="1143000" cy="838200"/>
          </a:xfrm>
          <a:prstGeom prst="wedgeEllipseCallout">
            <a:avLst>
              <a:gd name="adj1" fmla="val -20833"/>
              <a:gd name="adj2" fmla="val 62500"/>
            </a:avLst>
          </a:prstGeom>
          <a:solidFill>
            <a:schemeClr val="accent1"/>
          </a:solidFill>
          <a:ln w="3175" algn="ctr">
            <a:solidFill>
              <a:schemeClr val="tx2"/>
            </a:solidFill>
            <a:round/>
          </a:ln>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sz="1800">
                <a:solidFill>
                  <a:srgbClr val="FFFFFF"/>
                </a:solidFill>
                <a:latin typeface="Consolas" panose="020B0609020204030204" pitchFamily="49" charset="0"/>
              </a:rPr>
              <a:t>间界叠加</a:t>
            </a:r>
            <a:endParaRPr lang="zh-CN" altLang="en-US" sz="1800">
              <a:solidFill>
                <a:srgbClr val="FFFFFF"/>
              </a:solidFill>
              <a:latin typeface="Consolas" panose="020B0609020204030204" pitchFamily="49" charset="0"/>
            </a:endParaRPr>
          </a:p>
        </p:txBody>
      </p:sp>
      <p:sp>
        <p:nvSpPr>
          <p:cNvPr id="10" name="TextBox 11"/>
          <p:cNvSpPr txBox="1"/>
          <p:nvPr/>
        </p:nvSpPr>
        <p:spPr>
          <a:xfrm>
            <a:off x="1354667" y="4309534"/>
            <a:ext cx="3048000" cy="461963"/>
          </a:xfrm>
          <a:prstGeom prst="rect">
            <a:avLst/>
          </a:prstGeom>
          <a:noFill/>
        </p:spPr>
        <p:txBody>
          <a:bodyPr>
            <a:spAutoFit/>
          </a:bodyPr>
          <a:lstStyle/>
          <a:p>
            <a:pPr algn="ctr" eaLnBrk="1" hangingPunct="1">
              <a:defRPr/>
            </a:pPr>
            <a:r>
              <a:rPr lang="en-US" altLang="zh-CN" sz="2400" b="0" i="1" dirty="0">
                <a:solidFill>
                  <a:schemeClr val="tx1"/>
                </a:solidFill>
                <a:latin typeface="+mn-lt"/>
                <a:ea typeface="+mn-ea"/>
              </a:rPr>
              <a:t>H</a:t>
            </a:r>
            <a:r>
              <a:rPr lang="en-US" altLang="zh-CN" sz="2400" b="0" dirty="0">
                <a:solidFill>
                  <a:schemeClr val="tx1"/>
                </a:solidFill>
                <a:latin typeface="+mn-lt"/>
                <a:ea typeface="+mn-ea"/>
              </a:rPr>
              <a:t>(</a:t>
            </a:r>
            <a:r>
              <a:rPr lang="en-US" altLang="zh-CN" sz="2400" b="0" i="1" dirty="0">
                <a:solidFill>
                  <a:schemeClr val="tx1"/>
                </a:solidFill>
                <a:latin typeface="+mn-lt"/>
                <a:ea typeface="+mn-ea"/>
              </a:rPr>
              <a:t>key</a:t>
            </a:r>
            <a:r>
              <a:rPr lang="en-US" altLang="zh-CN" sz="2400" b="0" dirty="0">
                <a:solidFill>
                  <a:schemeClr val="tx1"/>
                </a:solidFill>
                <a:latin typeface="+mn-lt"/>
                <a:ea typeface="+mn-ea"/>
              </a:rPr>
              <a:t>)=506</a:t>
            </a:r>
            <a:endParaRPr lang="zh-CN" altLang="en-US" sz="2400" b="0" dirty="0">
              <a:solidFill>
                <a:schemeClr val="tx1"/>
              </a:solidFill>
              <a:latin typeface="+mn-lt"/>
              <a:ea typeface="+mn-ea"/>
            </a:endParaRPr>
          </a:p>
        </p:txBody>
      </p:sp>
      <p:sp>
        <p:nvSpPr>
          <p:cNvPr id="11" name="TextBox 12"/>
          <p:cNvSpPr txBox="1"/>
          <p:nvPr/>
        </p:nvSpPr>
        <p:spPr>
          <a:xfrm>
            <a:off x="5850467" y="4309534"/>
            <a:ext cx="3048000" cy="461963"/>
          </a:xfrm>
          <a:prstGeom prst="rect">
            <a:avLst/>
          </a:prstGeom>
          <a:noFill/>
        </p:spPr>
        <p:txBody>
          <a:bodyPr>
            <a:spAutoFit/>
          </a:bodyPr>
          <a:lstStyle/>
          <a:p>
            <a:pPr algn="ctr" eaLnBrk="1" hangingPunct="1">
              <a:defRPr/>
            </a:pPr>
            <a:r>
              <a:rPr lang="en-US" altLang="zh-CN" sz="2400" b="0" i="1" dirty="0">
                <a:solidFill>
                  <a:schemeClr val="tx1"/>
                </a:solidFill>
                <a:latin typeface="+mn-lt"/>
                <a:ea typeface="+mn-ea"/>
              </a:rPr>
              <a:t>H</a:t>
            </a:r>
            <a:r>
              <a:rPr lang="en-US" altLang="zh-CN" sz="2400" b="0" dirty="0">
                <a:solidFill>
                  <a:schemeClr val="tx1"/>
                </a:solidFill>
                <a:latin typeface="+mn-lt"/>
                <a:ea typeface="+mn-ea"/>
              </a:rPr>
              <a:t>(</a:t>
            </a:r>
            <a:r>
              <a:rPr lang="en-US" altLang="zh-CN" sz="2400" b="0" i="1" dirty="0">
                <a:solidFill>
                  <a:schemeClr val="tx1"/>
                </a:solidFill>
                <a:latin typeface="+mn-lt"/>
                <a:ea typeface="+mn-ea"/>
              </a:rPr>
              <a:t>key</a:t>
            </a:r>
            <a:r>
              <a:rPr lang="en-US" altLang="zh-CN" sz="2400" b="0" dirty="0">
                <a:solidFill>
                  <a:schemeClr val="tx1"/>
                </a:solidFill>
                <a:latin typeface="+mn-lt"/>
                <a:ea typeface="+mn-ea"/>
              </a:rPr>
              <a:t>)=614</a:t>
            </a:r>
            <a:endParaRPr lang="zh-CN" altLang="en-US" sz="2400" b="0" dirty="0">
              <a:solidFill>
                <a:schemeClr val="tx1"/>
              </a:solidFill>
              <a:latin typeface="+mn-lt"/>
              <a:ea typeface="+mn-ea"/>
            </a:endParaRPr>
          </a:p>
        </p:txBody>
      </p:sp>
      <p:graphicFrame>
        <p:nvGraphicFramePr>
          <p:cNvPr id="12" name="表格 11"/>
          <p:cNvGraphicFramePr>
            <a:graphicFrameLocks noGrp="1"/>
          </p:cNvGraphicFramePr>
          <p:nvPr/>
        </p:nvGraphicFramePr>
        <p:xfrm>
          <a:off x="1507067" y="2379134"/>
          <a:ext cx="2438400" cy="1854200"/>
        </p:xfrm>
        <a:graphic>
          <a:graphicData uri="http://schemas.openxmlformats.org/drawingml/2006/table">
            <a:tbl>
              <a:tblPr firstRow="1" bandRow="1">
                <a:tableStyleId>{2D5ABB26-0587-4C30-8999-92F81FD0307C}</a:tableStyleId>
              </a:tblPr>
              <a:tblGrid>
                <a:gridCol w="609600"/>
                <a:gridCol w="609600"/>
                <a:gridCol w="609600"/>
                <a:gridCol w="609600"/>
              </a:tblGrid>
              <a:tr h="370840">
                <a:tc>
                  <a:txBody>
                    <a:bodyPr/>
                    <a:lstStyle/>
                    <a:p>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r>
              <a:tr h="370840">
                <a:tc>
                  <a:txBody>
                    <a:bodyPr/>
                    <a:lstStyle/>
                    <a:p>
                      <a:endParaRPr lang="zh-CN" altLang="en-US" dirty="0"/>
                    </a:p>
                  </a:txBody>
                  <a:tcPr/>
                </a:tc>
                <a:tc>
                  <a:txBody>
                    <a:bodyPr/>
                    <a:lstStyle/>
                    <a:p>
                      <a:r>
                        <a:rPr lang="en-US" altLang="zh-CN" dirty="0"/>
                        <a:t>5</a:t>
                      </a:r>
                      <a:endParaRPr lang="zh-CN" altLang="en-US" dirty="0"/>
                    </a:p>
                  </a:txBody>
                  <a:tcPr/>
                </a:tc>
                <a:tc>
                  <a:txBody>
                    <a:bodyPr/>
                    <a:lstStyle/>
                    <a:p>
                      <a:r>
                        <a:rPr lang="en-US" altLang="zh-CN" dirty="0"/>
                        <a:t>2</a:t>
                      </a:r>
                      <a:endParaRPr lang="zh-CN" altLang="en-US" dirty="0"/>
                    </a:p>
                  </a:txBody>
                  <a:tcPr/>
                </a:tc>
                <a:tc>
                  <a:txBody>
                    <a:bodyPr/>
                    <a:lstStyle/>
                    <a:p>
                      <a:r>
                        <a:rPr lang="en-US" altLang="zh-CN" dirty="0"/>
                        <a:t>6</a:t>
                      </a:r>
                      <a:endParaRPr lang="zh-CN" altLang="en-US" dirty="0"/>
                    </a:p>
                  </a:txBody>
                  <a:tcPr/>
                </a:tc>
              </a:tr>
              <a:tr h="370840">
                <a:tc>
                  <a:txBody>
                    <a:bodyPr/>
                    <a:lstStyle/>
                    <a:p>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r>
              <a:tr h="370840">
                <a:tc>
                  <a:txBody>
                    <a:bodyPr/>
                    <a:lstStyle/>
                    <a:p>
                      <a:r>
                        <a:rPr lang="en-US" altLang="zh-CN" dirty="0"/>
                        <a:t>+</a:t>
                      </a:r>
                      <a:endParaRPr lang="zh-CN" altLang="en-US" dirty="0"/>
                    </a:p>
                  </a:txBody>
                  <a:tcPr/>
                </a:tc>
                <a:tc>
                  <a:txBody>
                    <a:bodyPr/>
                    <a:lstStyle/>
                    <a:p>
                      <a:endParaRPr lang="zh-CN" altLang="en-US" dirty="0"/>
                    </a:p>
                  </a:txBody>
                  <a:tcPr/>
                </a:tc>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r>
              <a:tr h="370840">
                <a:tc>
                  <a:txBody>
                    <a:bodyPr/>
                    <a:lstStyle/>
                    <a:p>
                      <a:r>
                        <a:rPr lang="en-US" altLang="zh-CN" dirty="0"/>
                        <a:t>1</a:t>
                      </a:r>
                      <a:endParaRPr lang="zh-CN" altLang="en-US" dirty="0"/>
                    </a:p>
                  </a:txBody>
                  <a:tcPr/>
                </a:tc>
                <a:tc>
                  <a:txBody>
                    <a:bodyPr/>
                    <a:lstStyle/>
                    <a:p>
                      <a:r>
                        <a:rPr lang="en-US" altLang="zh-CN" dirty="0"/>
                        <a:t>5</a:t>
                      </a:r>
                      <a:endParaRPr lang="zh-CN" altLang="en-US" dirty="0"/>
                    </a:p>
                  </a:txBody>
                  <a:tcPr/>
                </a:tc>
                <a:tc>
                  <a:txBody>
                    <a:bodyPr/>
                    <a:lstStyle/>
                    <a:p>
                      <a:r>
                        <a:rPr lang="en-US" altLang="zh-CN" dirty="0"/>
                        <a:t>0</a:t>
                      </a:r>
                      <a:endParaRPr lang="zh-CN" altLang="en-US" dirty="0"/>
                    </a:p>
                  </a:txBody>
                  <a:tcPr/>
                </a:tc>
                <a:tc>
                  <a:txBody>
                    <a:bodyPr/>
                    <a:lstStyle/>
                    <a:p>
                      <a:r>
                        <a:rPr lang="en-US" altLang="zh-CN" dirty="0"/>
                        <a:t>6</a:t>
                      </a:r>
                      <a:endParaRPr lang="zh-CN" altLang="en-US" dirty="0"/>
                    </a:p>
                  </a:txBody>
                  <a:tcPr/>
                </a:tc>
              </a:tr>
            </a:tbl>
          </a:graphicData>
        </a:graphic>
      </p:graphicFrame>
      <p:graphicFrame>
        <p:nvGraphicFramePr>
          <p:cNvPr id="13" name="表格 12"/>
          <p:cNvGraphicFramePr>
            <a:graphicFrameLocks noGrp="1"/>
          </p:cNvGraphicFramePr>
          <p:nvPr/>
        </p:nvGraphicFramePr>
        <p:xfrm>
          <a:off x="6002867" y="2379134"/>
          <a:ext cx="2438400" cy="1854200"/>
        </p:xfrm>
        <a:graphic>
          <a:graphicData uri="http://schemas.openxmlformats.org/drawingml/2006/table">
            <a:tbl>
              <a:tblPr firstRow="1" bandRow="1">
                <a:tableStyleId>{2D5ABB26-0587-4C30-8999-92F81FD0307C}</a:tableStyleId>
              </a:tblPr>
              <a:tblGrid>
                <a:gridCol w="609600"/>
                <a:gridCol w="609600"/>
                <a:gridCol w="609600"/>
                <a:gridCol w="609600"/>
              </a:tblGrid>
              <a:tr h="370840">
                <a:tc>
                  <a:txBody>
                    <a:bodyPr/>
                    <a:lstStyle/>
                    <a:p>
                      <a:endParaRPr lang="zh-CN" altLang="en-US" dirty="0"/>
                    </a:p>
                  </a:txBody>
                  <a:tcPr/>
                </a:tc>
                <a:tc>
                  <a:txBody>
                    <a:bodyPr/>
                    <a:lstStyle/>
                    <a:p>
                      <a:r>
                        <a:rPr lang="en-US" altLang="zh-CN" dirty="0"/>
                        <a:t>0</a:t>
                      </a:r>
                      <a:endParaRPr lang="zh-CN" altLang="en-US" dirty="0"/>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r>
              <a:tr h="370840">
                <a:tc>
                  <a:txBody>
                    <a:bodyPr/>
                    <a:lstStyle/>
                    <a:p>
                      <a:endParaRPr lang="zh-CN" altLang="en-US" dirty="0"/>
                    </a:p>
                  </a:txBody>
                  <a:tcPr/>
                </a:tc>
                <a:tc>
                  <a:txBody>
                    <a:bodyPr/>
                    <a:lstStyle/>
                    <a:p>
                      <a:r>
                        <a:rPr lang="en-US" altLang="zh-CN" dirty="0"/>
                        <a:t>6</a:t>
                      </a:r>
                      <a:endParaRPr lang="zh-CN" altLang="en-US" dirty="0"/>
                    </a:p>
                  </a:txBody>
                  <a:tcPr/>
                </a:tc>
                <a:tc>
                  <a:txBody>
                    <a:bodyPr/>
                    <a:lstStyle/>
                    <a:p>
                      <a:r>
                        <a:rPr lang="en-US" altLang="zh-CN" dirty="0"/>
                        <a:t>2</a:t>
                      </a:r>
                      <a:endParaRPr lang="zh-CN" altLang="en-US" dirty="0"/>
                    </a:p>
                  </a:txBody>
                  <a:tcPr/>
                </a:tc>
                <a:tc>
                  <a:txBody>
                    <a:bodyPr/>
                    <a:lstStyle/>
                    <a:p>
                      <a:r>
                        <a:rPr lang="en-US" altLang="zh-CN" dirty="0"/>
                        <a:t>5</a:t>
                      </a:r>
                      <a:endParaRPr lang="zh-CN" altLang="en-US" dirty="0"/>
                    </a:p>
                  </a:txBody>
                  <a:tcPr/>
                </a:tc>
              </a:tr>
              <a:tr h="370840">
                <a:tc>
                  <a:txBody>
                    <a:bodyPr/>
                    <a:lstStyle/>
                    <a:p>
                      <a:endParaRPr lang="zh-CN" altLang="en-US" dirty="0"/>
                    </a:p>
                  </a:txBody>
                  <a:tcPr/>
                </a:tc>
                <a:tc>
                  <a:txBody>
                    <a:bodyPr/>
                    <a:lstStyle/>
                    <a:p>
                      <a:r>
                        <a:rPr lang="en-US" altLang="zh-CN" dirty="0"/>
                        <a:t>9</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r>
              <a:tr h="370840">
                <a:tc>
                  <a:txBody>
                    <a:bodyPr/>
                    <a:lstStyle/>
                    <a:p>
                      <a:r>
                        <a:rPr lang="en-US" altLang="zh-CN" dirty="0"/>
                        <a:t>+</a:t>
                      </a:r>
                      <a:endParaRPr lang="zh-CN" altLang="en-US" dirty="0"/>
                    </a:p>
                  </a:txBody>
                  <a:tcPr/>
                </a:tc>
                <a:tc>
                  <a:txBody>
                    <a:bodyPr/>
                    <a:lstStyle/>
                    <a:p>
                      <a:endParaRPr lang="zh-CN" altLang="en-US" dirty="0"/>
                    </a:p>
                  </a:txBody>
                  <a:tcPr/>
                </a:tc>
                <a:tc>
                  <a:txBody>
                    <a:bodyPr/>
                    <a:lstStyle/>
                    <a:p>
                      <a:r>
                        <a:rPr lang="en-US" altLang="zh-CN" dirty="0"/>
                        <a:t>5</a:t>
                      </a:r>
                      <a:endParaRPr lang="zh-CN" altLang="en-US" dirty="0"/>
                    </a:p>
                  </a:txBody>
                  <a:tcPr/>
                </a:tc>
                <a:tc>
                  <a:txBody>
                    <a:bodyPr/>
                    <a:lstStyle/>
                    <a:p>
                      <a:r>
                        <a:rPr lang="en-US" altLang="zh-CN" dirty="0"/>
                        <a:t>4</a:t>
                      </a:r>
                      <a:endParaRPr lang="zh-CN" altLang="en-US" dirty="0"/>
                    </a:p>
                  </a:txBody>
                  <a:tcPr/>
                </a:tc>
              </a:tr>
              <a:tr h="370840">
                <a:tc>
                  <a:txBody>
                    <a:bodyPr/>
                    <a:lstStyle/>
                    <a:p>
                      <a:r>
                        <a:rPr lang="en-US" altLang="zh-CN" dirty="0"/>
                        <a:t>1</a:t>
                      </a:r>
                      <a:endParaRPr lang="zh-CN" altLang="en-US" dirty="0"/>
                    </a:p>
                  </a:txBody>
                  <a:tcPr/>
                </a:tc>
                <a:tc>
                  <a:txBody>
                    <a:bodyPr/>
                    <a:lstStyle/>
                    <a:p>
                      <a:r>
                        <a:rPr lang="en-US" altLang="zh-CN" dirty="0"/>
                        <a:t>6</a:t>
                      </a:r>
                      <a:endParaRPr lang="zh-CN" altLang="en-US" dirty="0"/>
                    </a:p>
                  </a:txBody>
                  <a:tcPr/>
                </a:tc>
                <a:tc>
                  <a:txBody>
                    <a:bodyPr/>
                    <a:lstStyle/>
                    <a:p>
                      <a:r>
                        <a:rPr lang="en-US" altLang="zh-CN" dirty="0"/>
                        <a:t>1</a:t>
                      </a:r>
                      <a:endParaRPr lang="zh-CN" altLang="en-US" dirty="0"/>
                    </a:p>
                  </a:txBody>
                  <a:tcPr/>
                </a:tc>
                <a:tc>
                  <a:txBody>
                    <a:bodyPr/>
                    <a:lstStyle/>
                    <a:p>
                      <a:r>
                        <a:rPr lang="en-US" altLang="zh-CN" dirty="0"/>
                        <a:t>4</a:t>
                      </a:r>
                      <a:endParaRPr lang="zh-CN" altLang="en-US" dirty="0"/>
                    </a:p>
                  </a:txBody>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Hash</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函数的构造方法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677333" y="965082"/>
            <a:ext cx="10888134" cy="5181600"/>
          </a:xfrm>
        </p:spPr>
        <p:txBody>
          <a:bodyPr>
            <a:normAutofit/>
          </a:bodyPr>
          <a:lstStyle/>
          <a:p>
            <a:pPr>
              <a:lnSpc>
                <a:spcPct val="125000"/>
              </a:lnSpc>
            </a:pPr>
            <a:r>
              <a:rPr lang="zh-CN" altLang="en-US" sz="2400" b="1" dirty="0">
                <a:solidFill>
                  <a:srgbClr val="FF0000"/>
                </a:solidFill>
                <a:latin typeface="微软雅黑" panose="020B0503020204020204" pitchFamily="34" charset="-122"/>
                <a:ea typeface="微软雅黑" panose="020B0503020204020204" pitchFamily="34" charset="-122"/>
              </a:rPr>
              <a:t>除留余数法</a:t>
            </a:r>
            <a:endParaRPr lang="en-US" altLang="zh-CN" sz="2400" b="1" dirty="0">
              <a:solidFill>
                <a:srgbClr val="FF0000"/>
              </a:solidFill>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构造</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取关键字被某个不大于哈希表表长</a:t>
            </a:r>
            <a:r>
              <a:rPr lang="en-US" altLang="zh-CN" sz="1800" i="1" dirty="0">
                <a:latin typeface="微软雅黑" panose="020B0503020204020204" pitchFamily="34" charset="-122"/>
                <a:ea typeface="微软雅黑" panose="020B0503020204020204" pitchFamily="34" charset="-122"/>
              </a:rPr>
              <a:t>m</a:t>
            </a:r>
            <a:r>
              <a:rPr lang="zh-CN" altLang="en-US" sz="1800" dirty="0">
                <a:latin typeface="微软雅黑" panose="020B0503020204020204" pitchFamily="34" charset="-122"/>
                <a:ea typeface="微软雅黑" panose="020B0503020204020204" pitchFamily="34" charset="-122"/>
              </a:rPr>
              <a:t>的数</a:t>
            </a:r>
            <a:r>
              <a:rPr lang="en-US" altLang="zh-CN" sz="1800" i="1" dirty="0">
                <a:latin typeface="微软雅黑" panose="020B0503020204020204" pitchFamily="34" charset="-122"/>
                <a:ea typeface="微软雅黑" panose="020B0503020204020204" pitchFamily="34" charset="-122"/>
              </a:rPr>
              <a:t>p</a:t>
            </a:r>
            <a:r>
              <a:rPr lang="zh-CN" altLang="en-US" sz="1800" dirty="0">
                <a:latin typeface="微软雅黑" panose="020B0503020204020204" pitchFamily="34" charset="-122"/>
                <a:ea typeface="微软雅黑" panose="020B0503020204020204" pitchFamily="34" charset="-122"/>
              </a:rPr>
              <a:t>除后所得余数作哈希地址，即</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H(key)=key MOD </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1800" i="1" dirty="0" err="1">
                <a:latin typeface="Times New Roman" panose="02020603050405020304" pitchFamily="18" charset="0"/>
                <a:ea typeface="微软雅黑" panose="020B0503020204020204" pitchFamily="34" charset="-122"/>
                <a:cs typeface="Times New Roman" panose="02020603050405020304" pitchFamily="18" charset="0"/>
              </a:rPr>
              <a:t>m</a:t>
            </a:r>
            <a:endPar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特点：</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简单、常用，可与上述几种方法结合使用</a:t>
            </a:r>
            <a:endParaRPr lang="zh-CN" altLang="en-US" sz="1800" dirty="0">
              <a:latin typeface="微软雅黑" panose="020B0503020204020204" pitchFamily="34" charset="-122"/>
              <a:ea typeface="微软雅黑" panose="020B0503020204020204" pitchFamily="34" charset="-122"/>
            </a:endParaRPr>
          </a:p>
          <a:p>
            <a:pPr lvl="2">
              <a:lnSpc>
                <a:spcPct val="125000"/>
              </a:lnSpc>
            </a:pPr>
            <a:r>
              <a:rPr lang="en-US" altLang="zh-CN" sz="1800" i="1" dirty="0">
                <a:latin typeface="微软雅黑" panose="020B0503020204020204" pitchFamily="34" charset="-122"/>
                <a:ea typeface="微软雅黑" panose="020B0503020204020204" pitchFamily="34" charset="-122"/>
              </a:rPr>
              <a:t>p </a:t>
            </a:r>
            <a:r>
              <a:rPr lang="zh-CN" altLang="en-US" sz="1800" dirty="0">
                <a:latin typeface="微软雅黑" panose="020B0503020204020204" pitchFamily="34" charset="-122"/>
                <a:ea typeface="微软雅黑" panose="020B0503020204020204" pitchFamily="34" charset="-122"/>
              </a:rPr>
              <a:t>的选取很重要；</a:t>
            </a:r>
            <a:r>
              <a:rPr lang="en-US" altLang="zh-CN" sz="1800" i="1" dirty="0">
                <a:latin typeface="微软雅黑" panose="020B0503020204020204" pitchFamily="34" charset="-122"/>
                <a:ea typeface="微软雅黑" panose="020B0503020204020204" pitchFamily="34" charset="-122"/>
              </a:rPr>
              <a:t>p</a:t>
            </a:r>
            <a:r>
              <a:rPr lang="zh-CN" altLang="en-US" sz="1800" dirty="0">
                <a:latin typeface="微软雅黑" panose="020B0503020204020204" pitchFamily="34" charset="-122"/>
                <a:ea typeface="微软雅黑" panose="020B0503020204020204" pitchFamily="34" charset="-122"/>
              </a:rPr>
              <a:t>选的不好，容易产生同义词</a:t>
            </a:r>
            <a:endParaRPr lang="en-US" altLang="zh-CN" sz="1800" dirty="0">
              <a:latin typeface="微软雅黑" panose="020B0503020204020204" pitchFamily="34" charset="-122"/>
              <a:ea typeface="微软雅黑" panose="020B0503020204020204" pitchFamily="34" charset="-122"/>
            </a:endParaRPr>
          </a:p>
          <a:p>
            <a:pPr>
              <a:lnSpc>
                <a:spcPct val="125000"/>
              </a:lnSpc>
            </a:pPr>
            <a:r>
              <a:rPr lang="zh-CN" altLang="en-US" sz="2400" b="1" u="sng" dirty="0">
                <a:latin typeface="微软雅黑" panose="020B0503020204020204" pitchFamily="34" charset="-122"/>
                <a:ea typeface="微软雅黑" panose="020B0503020204020204" pitchFamily="34" charset="-122"/>
              </a:rPr>
              <a:t>随机数法</a:t>
            </a:r>
            <a:endParaRPr lang="en-US" altLang="zh-CN" sz="2400" b="1" u="sng" dirty="0">
              <a:latin typeface="微软雅黑" panose="020B0503020204020204" pitchFamily="34" charset="-122"/>
              <a:ea typeface="微软雅黑" panose="020B0503020204020204" pitchFamily="34" charset="-122"/>
            </a:endParaRPr>
          </a:p>
          <a:p>
            <a:pPr lvl="1">
              <a:lnSpc>
                <a:spcPct val="125000"/>
              </a:lnSpc>
            </a:pPr>
            <a:r>
              <a:rPr lang="zh-CN" altLang="en-US" sz="2000" dirty="0">
                <a:latin typeface="微软雅黑" panose="020B0503020204020204" pitchFamily="34" charset="-122"/>
                <a:ea typeface="微软雅黑" panose="020B0503020204020204" pitchFamily="34" charset="-122"/>
              </a:rPr>
              <a:t>构造：取关键字的随机函数值作哈希地址，即</a:t>
            </a:r>
            <a:endParaRPr lang="zh-CN" altLang="en-US" sz="2000" dirty="0">
              <a:latin typeface="微软雅黑" panose="020B0503020204020204" pitchFamily="34" charset="-122"/>
              <a:ea typeface="微软雅黑" panose="020B0503020204020204" pitchFamily="34" charset="-122"/>
            </a:endParaRPr>
          </a:p>
          <a:p>
            <a:pPr lvl="1">
              <a:lnSpc>
                <a:spcPct val="125000"/>
              </a:lnSpc>
              <a:buFontTx/>
              <a:buNone/>
            </a:pPr>
            <a:r>
              <a:rPr lang="en-US" altLang="zh-CN" sz="2000" i="1" dirty="0">
                <a:latin typeface="微软雅黑" panose="020B0503020204020204" pitchFamily="34" charset="-122"/>
                <a:ea typeface="微软雅黑" panose="020B0503020204020204" pitchFamily="34" charset="-122"/>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key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=random</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key</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25000"/>
              </a:lnSpc>
            </a:pPr>
            <a:r>
              <a:rPr lang="zh-CN" altLang="en-US" sz="2000" dirty="0">
                <a:latin typeface="微软雅黑" panose="020B0503020204020204" pitchFamily="34" charset="-122"/>
                <a:ea typeface="微软雅黑" panose="020B0503020204020204" pitchFamily="34" charset="-122"/>
              </a:rPr>
              <a:t>特点：适于关键字长度不等的情况</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Hash</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函数的构造方法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660400" y="990600"/>
            <a:ext cx="10769600" cy="4876800"/>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选取哈希函数，考虑以下因素：</a:t>
            </a:r>
            <a:endParaRPr lang="zh-CN" altLang="en-US" sz="24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计算哈希函数所需时间</a:t>
            </a:r>
            <a:endParaRPr lang="zh-CN" altLang="en-US"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关键字长度</a:t>
            </a:r>
            <a:endParaRPr lang="zh-CN" altLang="en-US"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哈希表长度（哈希地址范围）</a:t>
            </a:r>
            <a:endParaRPr lang="zh-CN" altLang="en-US"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关键字分布情况</a:t>
            </a:r>
            <a:endParaRPr lang="zh-CN" altLang="en-US"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记录的查找频率</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处理冲突的办法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592666" y="990600"/>
            <a:ext cx="10837334" cy="4876800"/>
          </a:xfrm>
        </p:spPr>
        <p:txBody>
          <a:bodyPr/>
          <a:lstStyle/>
          <a:p>
            <a:pPr>
              <a:lnSpc>
                <a:spcPct val="125000"/>
              </a:lnSpc>
            </a:pPr>
            <a:r>
              <a:rPr lang="zh-CN" altLang="en-US" sz="2400" b="1" u="sng" dirty="0">
                <a:latin typeface="微软雅黑" panose="020B0503020204020204" pitchFamily="34" charset="-122"/>
                <a:ea typeface="微软雅黑" panose="020B0503020204020204" pitchFamily="34" charset="-122"/>
              </a:rPr>
              <a:t>开放定址法</a:t>
            </a:r>
            <a:endParaRPr lang="en-US" altLang="zh-CN" sz="2400" b="1" u="sng"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方法：</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当冲突发生时，形成一个探查序列；沿此序列逐个地址探查，直到找到一个空位置（开放的地址），将发生冲突的记录放到该地址中，即</a:t>
            </a:r>
            <a:br>
              <a:rPr lang="en-US" altLang="zh-CN" sz="1800" dirty="0">
                <a:latin typeface="微软雅黑" panose="020B0503020204020204" pitchFamily="34" charset="-122"/>
                <a:ea typeface="微软雅黑" panose="020B0503020204020204" pitchFamily="34" charset="-122"/>
              </a:rPr>
            </a:br>
            <a:r>
              <a:rPr lang="en-US" altLang="zh-CN" sz="1800" dirty="0">
                <a:latin typeface="微软雅黑" panose="020B0503020204020204" pitchFamily="34" charset="-122"/>
                <a:ea typeface="微软雅黑" panose="020B0503020204020204" pitchFamily="34" charset="-122"/>
              </a:rPr>
              <a:t>	</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800" i="1"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key</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800" i="1"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MOD  </a:t>
            </a:r>
            <a:r>
              <a:rPr lang="en-US" altLang="zh-CN" sz="1800" i="1" u="sng"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=1,2,……</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a:t>
            </a:r>
            <a:r>
              <a:rPr lang="en-US" altLang="zh-CN" sz="18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buFontTx/>
              <a:buNone/>
            </a:pP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其中：</a:t>
            </a:r>
            <a:r>
              <a:rPr lang="en-US" altLang="zh-CN" sz="1800" i="1" dirty="0">
                <a:latin typeface="微软雅黑" panose="020B0503020204020204" pitchFamily="34" charset="-122"/>
                <a:ea typeface="微软雅黑" panose="020B0503020204020204" pitchFamily="34" charset="-122"/>
              </a:rPr>
              <a:t>H</a:t>
            </a:r>
            <a:r>
              <a:rPr lang="en-US" altLang="zh-CN" sz="1800" dirty="0">
                <a:latin typeface="微软雅黑" panose="020B0503020204020204" pitchFamily="34" charset="-122"/>
                <a:ea typeface="微软雅黑" panose="020B0503020204020204" pitchFamily="34" charset="-122"/>
              </a:rPr>
              <a:t>(</a:t>
            </a:r>
            <a:r>
              <a:rPr lang="en-US" altLang="zh-CN" sz="1800" i="1" dirty="0">
                <a:latin typeface="微软雅黑" panose="020B0503020204020204" pitchFamily="34" charset="-122"/>
                <a:ea typeface="微软雅黑" panose="020B0503020204020204" pitchFamily="34" charset="-122"/>
              </a:rPr>
              <a:t>key</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为哈希函数， </a:t>
            </a:r>
            <a:r>
              <a:rPr lang="en-US" altLang="zh-CN" sz="1800" i="1" dirty="0">
                <a:solidFill>
                  <a:srgbClr val="0000CC"/>
                </a:solidFill>
                <a:latin typeface="微软雅黑" panose="020B0503020204020204" pitchFamily="34" charset="-122"/>
                <a:ea typeface="微软雅黑" panose="020B0503020204020204" pitchFamily="34" charset="-122"/>
              </a:rPr>
              <a:t>m</a:t>
            </a:r>
            <a:r>
              <a:rPr lang="zh-CN" altLang="en-US" sz="1800" dirty="0">
                <a:solidFill>
                  <a:srgbClr val="0000CC"/>
                </a:solidFill>
                <a:latin typeface="微软雅黑" panose="020B0503020204020204" pitchFamily="34" charset="-122"/>
                <a:ea typeface="微软雅黑" panose="020B0503020204020204" pitchFamily="34" charset="-122"/>
              </a:rPr>
              <a:t>为哈希表表长</a:t>
            </a:r>
            <a:r>
              <a:rPr lang="zh-CN" altLang="en-US" sz="1800" dirty="0">
                <a:latin typeface="微软雅黑" panose="020B0503020204020204" pitchFamily="34" charset="-122"/>
                <a:ea typeface="微软雅黑" panose="020B0503020204020204" pitchFamily="34" charset="-122"/>
              </a:rPr>
              <a:t>，</a:t>
            </a:r>
            <a:r>
              <a:rPr lang="en-US" altLang="zh-CN" sz="1800" i="1" dirty="0">
                <a:latin typeface="微软雅黑" panose="020B0503020204020204" pitchFamily="34" charset="-122"/>
                <a:ea typeface="微软雅黑" panose="020B0503020204020204" pitchFamily="34" charset="-122"/>
              </a:rPr>
              <a:t>d</a:t>
            </a:r>
            <a:r>
              <a:rPr lang="en-US" altLang="zh-CN" sz="1800" i="1" baseline="-25000" dirty="0">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为增量序列</a:t>
            </a:r>
            <a:endParaRPr lang="en-US" altLang="zh-CN" sz="18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分类：</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线性探测再散列：</a:t>
            </a:r>
            <a:r>
              <a:rPr lang="en-US" altLang="zh-CN" sz="1800" dirty="0">
                <a:latin typeface="微软雅黑" panose="020B0503020204020204" pitchFamily="34" charset="-122"/>
                <a:ea typeface="微软雅黑" panose="020B0503020204020204" pitchFamily="34" charset="-122"/>
              </a:rPr>
              <a:t> di =1, 2, 3, …, m-1</a:t>
            </a:r>
            <a:endParaRPr lang="en-US" altLang="zh-CN" sz="18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二次探测再散列：</a:t>
            </a:r>
            <a:r>
              <a:rPr lang="en-US" altLang="zh-CN" sz="1800" dirty="0">
                <a:latin typeface="微软雅黑" panose="020B0503020204020204" pitchFamily="34" charset="-122"/>
                <a:ea typeface="微软雅黑" panose="020B0503020204020204" pitchFamily="34" charset="-122"/>
              </a:rPr>
              <a:t> di =1², -1², 2², -2², 3², ……±k²(k</a:t>
            </a:r>
            <a:r>
              <a:rPr lang="en-US" altLang="zh-CN" sz="1800" dirty="0">
                <a:latin typeface="微软雅黑" panose="020B0503020204020204" pitchFamily="34" charset="-122"/>
                <a:ea typeface="微软雅黑" panose="020B0503020204020204" pitchFamily="34" charset="-122"/>
                <a:sym typeface="Symbol" panose="05050102010706020507" pitchFamily="18" charset="2"/>
              </a:rPr>
              <a:t>  </a:t>
            </a:r>
            <a:r>
              <a:rPr lang="en-US" altLang="zh-CN" sz="1800" dirty="0">
                <a:latin typeface="微软雅黑" panose="020B0503020204020204" pitchFamily="34" charset="-122"/>
                <a:ea typeface="微软雅黑" panose="020B0503020204020204" pitchFamily="34" charset="-122"/>
              </a:rPr>
              <a:t>m/2)</a:t>
            </a:r>
            <a:endParaRPr lang="en-US" altLang="zh-CN" sz="18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伪随机探测再散列：</a:t>
            </a:r>
            <a:r>
              <a:rPr lang="en-US" altLang="zh-CN" sz="1800" dirty="0">
                <a:latin typeface="微软雅黑" panose="020B0503020204020204" pitchFamily="34" charset="-122"/>
                <a:ea typeface="微软雅黑" panose="020B0503020204020204" pitchFamily="34" charset="-122"/>
              </a:rPr>
              <a:t> di =</a:t>
            </a:r>
            <a:r>
              <a:rPr lang="zh-CN" altLang="en-US" sz="1800" dirty="0">
                <a:latin typeface="微软雅黑" panose="020B0503020204020204" pitchFamily="34" charset="-122"/>
                <a:ea typeface="微软雅黑" panose="020B0503020204020204" pitchFamily="34" charset="-122"/>
              </a:rPr>
              <a:t>伪随机数序列</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开放定址法例 </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677333" y="990600"/>
            <a:ext cx="10684934" cy="4876800"/>
          </a:xfrm>
        </p:spPr>
        <p:txBody>
          <a:bodyPr>
            <a:normAutofit/>
          </a:bodyPr>
          <a:lstStyle/>
          <a:p>
            <a:r>
              <a:rPr lang="zh-CN" altLang="zh-CN" sz="2400" dirty="0">
                <a:latin typeface="微软雅黑" panose="020B0503020204020204" pitchFamily="34" charset="-122"/>
                <a:ea typeface="微软雅黑" panose="020B0503020204020204" pitchFamily="34" charset="-122"/>
              </a:rPr>
              <a:t>假设结点的关键字序列为</a:t>
            </a:r>
            <a:r>
              <a:rPr lang="en-US" altLang="zh-CN" sz="2400" dirty="0">
                <a:latin typeface="微软雅黑" panose="020B0503020204020204" pitchFamily="34" charset="-122"/>
                <a:ea typeface="微软雅黑" panose="020B0503020204020204" pitchFamily="34" charset="-122"/>
              </a:rPr>
              <a:t>{26, 25, 20, 33, 46, 21, 24, 45, 204, 42, 60, 74}</a:t>
            </a:r>
            <a:r>
              <a:rPr lang="zh-CN" altLang="zh-CN" sz="2400" dirty="0">
                <a:latin typeface="微软雅黑" panose="020B0503020204020204" pitchFamily="34" charset="-122"/>
                <a:ea typeface="微软雅黑" panose="020B0503020204020204" pitchFamily="34" charset="-122"/>
              </a:rPr>
              <a:t>，哈希表长为</a:t>
            </a:r>
            <a:r>
              <a:rPr lang="en-US" altLang="zh-CN" sz="2400" dirty="0">
                <a:latin typeface="微软雅黑" panose="020B0503020204020204" pitchFamily="34" charset="-122"/>
                <a:ea typeface="微软雅黑" panose="020B0503020204020204" pitchFamily="34" charset="-122"/>
              </a:rPr>
              <a:t>15</a:t>
            </a:r>
            <a:r>
              <a:rPr lang="zh-CN" altLang="zh-CN" sz="2400" dirty="0">
                <a:latin typeface="微软雅黑" panose="020B0503020204020204" pitchFamily="34" charset="-122"/>
                <a:ea typeface="微软雅黑" panose="020B0503020204020204" pitchFamily="34" charset="-122"/>
              </a:rPr>
              <a:t>，用除留余数法构造一个哈希函数，并用</a:t>
            </a:r>
            <a:r>
              <a:rPr lang="zh-CN" altLang="zh-CN" sz="2400" b="1" u="sng" dirty="0">
                <a:solidFill>
                  <a:srgbClr val="0000CC"/>
                </a:solidFill>
                <a:latin typeface="微软雅黑" panose="020B0503020204020204" pitchFamily="34" charset="-122"/>
                <a:ea typeface="微软雅黑" panose="020B0503020204020204" pitchFamily="34" charset="-122"/>
              </a:rPr>
              <a:t>线性探测法</a:t>
            </a:r>
            <a:r>
              <a:rPr lang="zh-CN" altLang="zh-CN" sz="2400" dirty="0">
                <a:latin typeface="微软雅黑" panose="020B0503020204020204" pitchFamily="34" charset="-122"/>
                <a:ea typeface="微软雅黑" panose="020B0503020204020204" pitchFamily="34" charset="-122"/>
              </a:rPr>
              <a:t>解决冲突，构造出哈希表。</a:t>
            </a:r>
            <a:endParaRPr lang="zh-CN" altLang="en-US" sz="2400" dirty="0">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nvGraphicFramePr>
        <p:xfrm>
          <a:off x="2189074" y="2810933"/>
          <a:ext cx="7848595" cy="741364"/>
        </p:xfrm>
        <a:graphic>
          <a:graphicData uri="http://schemas.openxmlformats.org/drawingml/2006/table">
            <a:tbl>
              <a:tblPr firstRow="1" bandRow="1">
                <a:tableStyleId>{69012ECD-51FC-41F1-AA8D-1B2483CD663E}</a:tableStyleId>
              </a:tblPr>
              <a:tblGrid>
                <a:gridCol w="764022"/>
                <a:gridCol w="531377"/>
                <a:gridCol w="515816"/>
                <a:gridCol w="603738"/>
                <a:gridCol w="603738"/>
                <a:gridCol w="603738"/>
                <a:gridCol w="603738"/>
                <a:gridCol w="603738"/>
                <a:gridCol w="603738"/>
                <a:gridCol w="603738"/>
                <a:gridCol w="603738"/>
                <a:gridCol w="603738"/>
                <a:gridCol w="603738"/>
              </a:tblGrid>
              <a:tr h="370682">
                <a:tc>
                  <a:txBody>
                    <a:bodyPr/>
                    <a:lstStyle/>
                    <a:p>
                      <a:r>
                        <a:rPr lang="en-US" altLang="zh-CN" sz="1800" b="0" dirty="0">
                          <a:solidFill>
                            <a:schemeClr val="tx1"/>
                          </a:solidFill>
                        </a:rPr>
                        <a:t>key</a:t>
                      </a:r>
                      <a:endParaRPr lang="zh-CN" altLang="en-US" sz="1800" b="0" dirty="0">
                        <a:solidFill>
                          <a:schemeClr val="tx1"/>
                        </a:solidFill>
                      </a:endParaRPr>
                    </a:p>
                  </a:txBody>
                  <a:tcPr marT="45700" marB="45700"/>
                </a:tc>
                <a:tc>
                  <a:txBody>
                    <a:bodyPr/>
                    <a:lstStyle/>
                    <a:p>
                      <a:r>
                        <a:rPr lang="en-US" altLang="zh-CN" sz="1800" dirty="0">
                          <a:solidFill>
                            <a:schemeClr val="tx1"/>
                          </a:solidFill>
                        </a:rPr>
                        <a:t>26</a:t>
                      </a:r>
                      <a:endParaRPr lang="zh-CN" altLang="en-US" sz="1800" dirty="0">
                        <a:solidFill>
                          <a:schemeClr val="tx1"/>
                        </a:solidFill>
                      </a:endParaRPr>
                    </a:p>
                  </a:txBody>
                  <a:tcPr marT="45700" marB="45700"/>
                </a:tc>
                <a:tc>
                  <a:txBody>
                    <a:bodyPr/>
                    <a:lstStyle/>
                    <a:p>
                      <a:r>
                        <a:rPr lang="en-US" altLang="zh-CN" sz="1800" dirty="0">
                          <a:solidFill>
                            <a:schemeClr val="tx1"/>
                          </a:solidFill>
                        </a:rPr>
                        <a:t>25</a:t>
                      </a:r>
                      <a:endParaRPr lang="zh-CN" altLang="en-US" sz="1800" dirty="0">
                        <a:solidFill>
                          <a:schemeClr val="tx1"/>
                        </a:solidFill>
                      </a:endParaRPr>
                    </a:p>
                  </a:txBody>
                  <a:tcPr marT="45700" marB="45700"/>
                </a:tc>
                <a:tc>
                  <a:txBody>
                    <a:bodyPr/>
                    <a:lstStyle/>
                    <a:p>
                      <a:r>
                        <a:rPr lang="en-US" altLang="zh-CN" sz="1800" dirty="0">
                          <a:solidFill>
                            <a:schemeClr val="tx1"/>
                          </a:solidFill>
                        </a:rPr>
                        <a:t>20</a:t>
                      </a:r>
                      <a:endParaRPr lang="zh-CN" altLang="en-US" sz="1800" dirty="0">
                        <a:solidFill>
                          <a:schemeClr val="tx1"/>
                        </a:solidFill>
                      </a:endParaRPr>
                    </a:p>
                  </a:txBody>
                  <a:tcPr marT="45700" marB="45700"/>
                </a:tc>
                <a:tc>
                  <a:txBody>
                    <a:bodyPr/>
                    <a:lstStyle/>
                    <a:p>
                      <a:r>
                        <a:rPr lang="en-US" altLang="zh-CN" sz="1800" dirty="0">
                          <a:solidFill>
                            <a:schemeClr val="tx1"/>
                          </a:solidFill>
                        </a:rPr>
                        <a:t>33</a:t>
                      </a:r>
                      <a:endParaRPr lang="zh-CN" altLang="en-US" sz="1800" dirty="0">
                        <a:solidFill>
                          <a:schemeClr val="tx1"/>
                        </a:solidFill>
                      </a:endParaRPr>
                    </a:p>
                  </a:txBody>
                  <a:tcPr marT="45700" marB="45700"/>
                </a:tc>
                <a:tc>
                  <a:txBody>
                    <a:bodyPr/>
                    <a:lstStyle/>
                    <a:p>
                      <a:r>
                        <a:rPr lang="en-US" altLang="zh-CN" sz="1800" dirty="0">
                          <a:solidFill>
                            <a:schemeClr val="tx1"/>
                          </a:solidFill>
                        </a:rPr>
                        <a:t>46</a:t>
                      </a:r>
                      <a:endParaRPr lang="zh-CN" altLang="en-US" sz="1800" dirty="0">
                        <a:solidFill>
                          <a:schemeClr val="tx1"/>
                        </a:solidFill>
                      </a:endParaRPr>
                    </a:p>
                  </a:txBody>
                  <a:tcPr marT="45700" marB="45700"/>
                </a:tc>
                <a:tc>
                  <a:txBody>
                    <a:bodyPr/>
                    <a:lstStyle/>
                    <a:p>
                      <a:r>
                        <a:rPr lang="en-US" altLang="zh-CN" sz="1800" dirty="0">
                          <a:solidFill>
                            <a:schemeClr val="tx1"/>
                          </a:solidFill>
                        </a:rPr>
                        <a:t>21</a:t>
                      </a:r>
                      <a:endParaRPr lang="zh-CN" altLang="en-US" sz="1800" dirty="0">
                        <a:solidFill>
                          <a:schemeClr val="tx1"/>
                        </a:solidFill>
                      </a:endParaRPr>
                    </a:p>
                  </a:txBody>
                  <a:tcPr marT="45700" marB="45700"/>
                </a:tc>
                <a:tc>
                  <a:txBody>
                    <a:bodyPr/>
                    <a:lstStyle/>
                    <a:p>
                      <a:r>
                        <a:rPr lang="en-US" altLang="zh-CN" sz="1800" dirty="0">
                          <a:solidFill>
                            <a:schemeClr val="tx1"/>
                          </a:solidFill>
                        </a:rPr>
                        <a:t>24</a:t>
                      </a:r>
                      <a:endParaRPr lang="zh-CN" altLang="en-US" sz="1800" dirty="0">
                        <a:solidFill>
                          <a:schemeClr val="tx1"/>
                        </a:solidFill>
                      </a:endParaRPr>
                    </a:p>
                  </a:txBody>
                  <a:tcPr marT="45700" marB="45700"/>
                </a:tc>
                <a:tc>
                  <a:txBody>
                    <a:bodyPr/>
                    <a:lstStyle/>
                    <a:p>
                      <a:r>
                        <a:rPr lang="en-US" altLang="zh-CN" sz="1800" dirty="0">
                          <a:solidFill>
                            <a:schemeClr val="tx1"/>
                          </a:solidFill>
                        </a:rPr>
                        <a:t>45</a:t>
                      </a:r>
                      <a:endParaRPr lang="zh-CN" altLang="en-US" sz="1800" dirty="0">
                        <a:solidFill>
                          <a:schemeClr val="tx1"/>
                        </a:solidFill>
                      </a:endParaRPr>
                    </a:p>
                  </a:txBody>
                  <a:tcPr marT="45700" marB="45700"/>
                </a:tc>
                <a:tc>
                  <a:txBody>
                    <a:bodyPr/>
                    <a:lstStyle/>
                    <a:p>
                      <a:r>
                        <a:rPr lang="en-US" altLang="zh-CN" sz="1800" dirty="0">
                          <a:solidFill>
                            <a:schemeClr val="tx1"/>
                          </a:solidFill>
                        </a:rPr>
                        <a:t>204</a:t>
                      </a:r>
                      <a:endParaRPr lang="zh-CN" altLang="en-US" sz="1800" dirty="0">
                        <a:solidFill>
                          <a:schemeClr val="tx1"/>
                        </a:solidFill>
                      </a:endParaRPr>
                    </a:p>
                  </a:txBody>
                  <a:tcPr marT="45700" marB="45700"/>
                </a:tc>
                <a:tc>
                  <a:txBody>
                    <a:bodyPr/>
                    <a:lstStyle/>
                    <a:p>
                      <a:r>
                        <a:rPr lang="en-US" altLang="zh-CN" sz="1800" dirty="0">
                          <a:solidFill>
                            <a:schemeClr val="tx1"/>
                          </a:solidFill>
                        </a:rPr>
                        <a:t>42</a:t>
                      </a:r>
                      <a:endParaRPr lang="zh-CN" altLang="en-US" sz="1800" dirty="0">
                        <a:solidFill>
                          <a:schemeClr val="tx1"/>
                        </a:solidFill>
                      </a:endParaRPr>
                    </a:p>
                  </a:txBody>
                  <a:tcPr marT="45700" marB="45700"/>
                </a:tc>
                <a:tc>
                  <a:txBody>
                    <a:bodyPr/>
                    <a:lstStyle/>
                    <a:p>
                      <a:r>
                        <a:rPr lang="en-US" altLang="zh-CN" sz="1800" dirty="0">
                          <a:solidFill>
                            <a:schemeClr val="tx1"/>
                          </a:solidFill>
                        </a:rPr>
                        <a:t>60</a:t>
                      </a:r>
                      <a:endParaRPr lang="zh-CN" altLang="en-US" sz="1800" dirty="0">
                        <a:solidFill>
                          <a:schemeClr val="tx1"/>
                        </a:solidFill>
                      </a:endParaRPr>
                    </a:p>
                  </a:txBody>
                  <a:tcPr marT="45700" marB="45700"/>
                </a:tc>
                <a:tc>
                  <a:txBody>
                    <a:bodyPr/>
                    <a:lstStyle/>
                    <a:p>
                      <a:r>
                        <a:rPr lang="en-US" altLang="zh-CN" sz="1800" dirty="0">
                          <a:solidFill>
                            <a:schemeClr val="tx1"/>
                          </a:solidFill>
                        </a:rPr>
                        <a:t>74</a:t>
                      </a:r>
                      <a:endParaRPr lang="zh-CN" altLang="en-US" sz="1800" dirty="0">
                        <a:solidFill>
                          <a:schemeClr val="tx1"/>
                        </a:solidFill>
                      </a:endParaRPr>
                    </a:p>
                  </a:txBody>
                  <a:tcPr marT="45700" marB="45700"/>
                </a:tc>
              </a:tr>
              <a:tr h="370682">
                <a:tc>
                  <a:txBody>
                    <a:bodyPr/>
                    <a:lstStyle/>
                    <a:p>
                      <a:r>
                        <a:rPr lang="en-US" altLang="zh-CN" sz="1800" dirty="0"/>
                        <a:t>H(key)</a:t>
                      </a:r>
                      <a:endParaRPr lang="zh-CN" altLang="en-US" sz="1800" dirty="0"/>
                    </a:p>
                  </a:txBody>
                  <a:tcPr marT="45700" marB="45700"/>
                </a:tc>
                <a:tc>
                  <a:txBody>
                    <a:bodyPr/>
                    <a:lstStyle/>
                    <a:p>
                      <a:r>
                        <a:rPr lang="en-US" altLang="zh-CN" sz="1800" dirty="0"/>
                        <a:t>0</a:t>
                      </a:r>
                      <a:endParaRPr lang="zh-CN" altLang="en-US" sz="1800" dirty="0"/>
                    </a:p>
                  </a:txBody>
                  <a:tcPr marT="45700" marB="45700"/>
                </a:tc>
                <a:tc>
                  <a:txBody>
                    <a:bodyPr/>
                    <a:lstStyle/>
                    <a:p>
                      <a:r>
                        <a:rPr lang="en-US" altLang="zh-CN" sz="1800" dirty="0"/>
                        <a:t>12</a:t>
                      </a:r>
                      <a:endParaRPr lang="zh-CN" altLang="en-US" sz="1800" dirty="0"/>
                    </a:p>
                  </a:txBody>
                  <a:tcPr marT="45700" marB="45700"/>
                </a:tc>
                <a:tc>
                  <a:txBody>
                    <a:bodyPr/>
                    <a:lstStyle/>
                    <a:p>
                      <a:r>
                        <a:rPr lang="en-US" altLang="zh-CN" sz="1800" dirty="0"/>
                        <a:t>7</a:t>
                      </a:r>
                      <a:endParaRPr lang="zh-CN" altLang="en-US" sz="1800" dirty="0"/>
                    </a:p>
                  </a:txBody>
                  <a:tcPr marT="45700" marB="45700"/>
                </a:tc>
                <a:tc>
                  <a:txBody>
                    <a:bodyPr/>
                    <a:lstStyle/>
                    <a:p>
                      <a:r>
                        <a:rPr lang="en-US" altLang="zh-CN" sz="1800" dirty="0"/>
                        <a:t>7</a:t>
                      </a:r>
                      <a:endParaRPr lang="zh-CN" altLang="en-US" sz="1800" dirty="0"/>
                    </a:p>
                  </a:txBody>
                  <a:tcPr marT="45700" marB="45700"/>
                </a:tc>
                <a:tc>
                  <a:txBody>
                    <a:bodyPr/>
                    <a:lstStyle/>
                    <a:p>
                      <a:r>
                        <a:rPr lang="en-US" altLang="zh-CN" sz="1800" dirty="0"/>
                        <a:t>7</a:t>
                      </a:r>
                      <a:endParaRPr lang="zh-CN" altLang="en-US" sz="1800" dirty="0"/>
                    </a:p>
                  </a:txBody>
                  <a:tcPr marT="45700" marB="45700"/>
                </a:tc>
                <a:tc>
                  <a:txBody>
                    <a:bodyPr/>
                    <a:lstStyle/>
                    <a:p>
                      <a:r>
                        <a:rPr lang="en-US" altLang="zh-CN" sz="1800" dirty="0"/>
                        <a:t>8</a:t>
                      </a:r>
                      <a:endParaRPr lang="zh-CN" altLang="en-US" sz="1800" dirty="0"/>
                    </a:p>
                  </a:txBody>
                  <a:tcPr marT="45700" marB="45700"/>
                </a:tc>
                <a:tc>
                  <a:txBody>
                    <a:bodyPr/>
                    <a:lstStyle/>
                    <a:p>
                      <a:r>
                        <a:rPr lang="en-US" altLang="zh-CN" sz="1800" dirty="0"/>
                        <a:t>11</a:t>
                      </a:r>
                      <a:endParaRPr lang="zh-CN" altLang="en-US" sz="1800" dirty="0"/>
                    </a:p>
                  </a:txBody>
                  <a:tcPr marT="45700" marB="45700"/>
                </a:tc>
                <a:tc>
                  <a:txBody>
                    <a:bodyPr/>
                    <a:lstStyle/>
                    <a:p>
                      <a:r>
                        <a:rPr lang="en-US" altLang="zh-CN" sz="1800" dirty="0"/>
                        <a:t>6</a:t>
                      </a:r>
                      <a:endParaRPr lang="zh-CN" altLang="en-US" sz="1800" dirty="0"/>
                    </a:p>
                  </a:txBody>
                  <a:tcPr marT="45700" marB="45700"/>
                </a:tc>
                <a:tc>
                  <a:txBody>
                    <a:bodyPr/>
                    <a:lstStyle/>
                    <a:p>
                      <a:r>
                        <a:rPr lang="en-US" altLang="zh-CN" sz="1800" dirty="0"/>
                        <a:t>9</a:t>
                      </a:r>
                      <a:endParaRPr lang="zh-CN" altLang="en-US" sz="1800" dirty="0"/>
                    </a:p>
                  </a:txBody>
                  <a:tcPr marT="45700" marB="45700"/>
                </a:tc>
                <a:tc>
                  <a:txBody>
                    <a:bodyPr/>
                    <a:lstStyle/>
                    <a:p>
                      <a:r>
                        <a:rPr lang="en-US" altLang="zh-CN" sz="1800" dirty="0"/>
                        <a:t>3</a:t>
                      </a:r>
                      <a:endParaRPr lang="zh-CN" altLang="en-US" sz="1800" dirty="0"/>
                    </a:p>
                  </a:txBody>
                  <a:tcPr marT="45700" marB="45700"/>
                </a:tc>
                <a:tc>
                  <a:txBody>
                    <a:bodyPr/>
                    <a:lstStyle/>
                    <a:p>
                      <a:r>
                        <a:rPr lang="en-US" altLang="zh-CN" sz="1800" dirty="0"/>
                        <a:t>8</a:t>
                      </a:r>
                      <a:endParaRPr lang="zh-CN" altLang="en-US" sz="1800" dirty="0"/>
                    </a:p>
                  </a:txBody>
                  <a:tcPr marT="45700" marB="45700"/>
                </a:tc>
                <a:tc>
                  <a:txBody>
                    <a:bodyPr/>
                    <a:lstStyle/>
                    <a:p>
                      <a:r>
                        <a:rPr lang="en-US" altLang="zh-CN" sz="1800" dirty="0"/>
                        <a:t>9</a:t>
                      </a:r>
                      <a:endParaRPr lang="zh-CN" altLang="en-US" sz="1800" dirty="0"/>
                    </a:p>
                  </a:txBody>
                  <a:tcPr marT="45700" marB="45700"/>
                </a:tc>
              </a:tr>
            </a:tbl>
          </a:graphicData>
        </a:graphic>
      </p:graphicFrame>
      <p:sp>
        <p:nvSpPr>
          <p:cNvPr id="7" name="TextBox 7"/>
          <p:cNvSpPr txBox="1"/>
          <p:nvPr/>
        </p:nvSpPr>
        <p:spPr>
          <a:xfrm>
            <a:off x="2722474" y="2201333"/>
            <a:ext cx="6781800" cy="461963"/>
          </a:xfrm>
          <a:prstGeom prst="rect">
            <a:avLst/>
          </a:prstGeom>
          <a:noFill/>
        </p:spPr>
        <p:txBody>
          <a:bodyPr>
            <a:spAutoFit/>
          </a:bodyPr>
          <a:lstStyle/>
          <a:p>
            <a:pPr algn="ctr" eaLnBrk="1" hangingPunct="1">
              <a:defRPr/>
            </a:pPr>
            <a:r>
              <a:rPr lang="zh-CN" altLang="en-US" sz="2400" dirty="0">
                <a:solidFill>
                  <a:srgbClr val="FF0000"/>
                </a:solidFill>
                <a:latin typeface="微软雅黑" panose="020B0503020204020204" pitchFamily="34" charset="-122"/>
                <a:ea typeface="微软雅黑" panose="020B0503020204020204" pitchFamily="34" charset="-122"/>
              </a:rPr>
              <a:t>关键字总个数为</a:t>
            </a:r>
            <a:r>
              <a:rPr lang="en-US" altLang="zh-CN" sz="2400" dirty="0">
                <a:solidFill>
                  <a:srgbClr val="FF0000"/>
                </a:solidFill>
                <a:latin typeface="微软雅黑" panose="020B0503020204020204" pitchFamily="34" charset="-122"/>
                <a:ea typeface="微软雅黑" panose="020B0503020204020204" pitchFamily="34" charset="-122"/>
              </a:rPr>
              <a:t>n=12,</a:t>
            </a:r>
            <a:r>
              <a:rPr lang="zh-CN" altLang="en-US" sz="2400" dirty="0">
                <a:solidFill>
                  <a:srgbClr val="FF0000"/>
                </a:solidFill>
                <a:latin typeface="微软雅黑" panose="020B0503020204020204" pitchFamily="34" charset="-122"/>
                <a:ea typeface="微软雅黑" panose="020B0503020204020204" pitchFamily="34" charset="-122"/>
              </a:rPr>
              <a:t>取</a:t>
            </a:r>
            <a:r>
              <a:rPr lang="en-US" altLang="zh-CN" sz="2400" dirty="0">
                <a:solidFill>
                  <a:srgbClr val="FF0000"/>
                </a:solidFill>
                <a:latin typeface="微软雅黑" panose="020B0503020204020204" pitchFamily="34" charset="-122"/>
                <a:ea typeface="微软雅黑" panose="020B0503020204020204" pitchFamily="34" charset="-122"/>
              </a:rPr>
              <a:t>p</a:t>
            </a:r>
            <a:r>
              <a:rPr lang="zh-CN" altLang="en-US" sz="2400" dirty="0">
                <a:solidFill>
                  <a:srgbClr val="FF0000"/>
                </a:solidFill>
                <a:latin typeface="微软雅黑" panose="020B0503020204020204" pitchFamily="34" charset="-122"/>
                <a:ea typeface="微软雅黑" panose="020B0503020204020204" pitchFamily="34" charset="-122"/>
              </a:rPr>
              <a:t>不超过表长，设为</a:t>
            </a:r>
            <a:r>
              <a:rPr lang="en-US" altLang="zh-CN" sz="2400" dirty="0">
                <a:solidFill>
                  <a:srgbClr val="FF0000"/>
                </a:solidFill>
                <a:latin typeface="微软雅黑" panose="020B0503020204020204" pitchFamily="34" charset="-122"/>
                <a:ea typeface="微软雅黑" panose="020B0503020204020204" pitchFamily="34" charset="-122"/>
              </a:rPr>
              <a:t>13</a:t>
            </a:r>
            <a:endParaRPr lang="zh-CN" altLang="en-US" sz="2400" dirty="0">
              <a:solidFill>
                <a:srgbClr val="FF0000"/>
              </a:solidFill>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nvGraphicFramePr>
        <p:xfrm>
          <a:off x="2417674" y="4639733"/>
          <a:ext cx="7086600" cy="741364"/>
        </p:xfrm>
        <a:graphic>
          <a:graphicData uri="http://schemas.openxmlformats.org/drawingml/2006/table">
            <a:tbl>
              <a:tblPr firstRow="1" bandRow="1">
                <a:tableStyleId>{5C22544A-7EE6-4342-B048-85BDC9FD1C3A}</a:tableStyleId>
              </a:tblPr>
              <a:tblGrid>
                <a:gridCol w="472440"/>
                <a:gridCol w="472440"/>
                <a:gridCol w="472440"/>
                <a:gridCol w="472440"/>
                <a:gridCol w="472440"/>
                <a:gridCol w="472440"/>
                <a:gridCol w="472440"/>
                <a:gridCol w="472440"/>
                <a:gridCol w="472440"/>
                <a:gridCol w="472440"/>
                <a:gridCol w="472440"/>
                <a:gridCol w="472440"/>
                <a:gridCol w="472440"/>
                <a:gridCol w="472440"/>
                <a:gridCol w="472440"/>
              </a:tblGrid>
              <a:tr h="370682">
                <a:tc>
                  <a:txBody>
                    <a:bodyPr/>
                    <a:lstStyle/>
                    <a:p>
                      <a:r>
                        <a:rPr lang="en-US" altLang="zh-CN" sz="1800" dirty="0">
                          <a:solidFill>
                            <a:schemeClr val="tx1"/>
                          </a:solidFill>
                        </a:rPr>
                        <a:t>0</a:t>
                      </a:r>
                      <a:endParaRPr lang="zh-CN" altLang="en-US" sz="1800" dirty="0">
                        <a:solidFill>
                          <a:schemeClr val="tx1"/>
                        </a:solidFill>
                      </a:endParaRPr>
                    </a:p>
                  </a:txBody>
                  <a:tcPr marT="45700" marB="45700"/>
                </a:tc>
                <a:tc>
                  <a:txBody>
                    <a:bodyPr/>
                    <a:lstStyle/>
                    <a:p>
                      <a:r>
                        <a:rPr lang="en-US" altLang="zh-CN" sz="1800" dirty="0">
                          <a:solidFill>
                            <a:schemeClr val="tx1"/>
                          </a:solidFill>
                        </a:rPr>
                        <a:t>1</a:t>
                      </a:r>
                      <a:endParaRPr lang="zh-CN" altLang="en-US" sz="1800" dirty="0">
                        <a:solidFill>
                          <a:schemeClr val="tx1"/>
                        </a:solidFill>
                      </a:endParaRPr>
                    </a:p>
                  </a:txBody>
                  <a:tcPr marT="45700" marB="45700"/>
                </a:tc>
                <a:tc>
                  <a:txBody>
                    <a:bodyPr/>
                    <a:lstStyle/>
                    <a:p>
                      <a:r>
                        <a:rPr lang="en-US" altLang="zh-CN" sz="1800" dirty="0">
                          <a:solidFill>
                            <a:schemeClr val="tx1"/>
                          </a:solidFill>
                        </a:rPr>
                        <a:t>2</a:t>
                      </a:r>
                      <a:endParaRPr lang="zh-CN" altLang="en-US" sz="1800" dirty="0">
                        <a:solidFill>
                          <a:schemeClr val="tx1"/>
                        </a:solidFill>
                      </a:endParaRPr>
                    </a:p>
                  </a:txBody>
                  <a:tcPr marT="45700" marB="45700"/>
                </a:tc>
                <a:tc>
                  <a:txBody>
                    <a:bodyPr/>
                    <a:lstStyle/>
                    <a:p>
                      <a:r>
                        <a:rPr lang="en-US" altLang="zh-CN" sz="1800" dirty="0">
                          <a:solidFill>
                            <a:schemeClr val="tx1"/>
                          </a:solidFill>
                        </a:rPr>
                        <a:t>3</a:t>
                      </a:r>
                      <a:endParaRPr lang="zh-CN" altLang="en-US" sz="1800" dirty="0">
                        <a:solidFill>
                          <a:schemeClr val="tx1"/>
                        </a:solidFill>
                      </a:endParaRPr>
                    </a:p>
                  </a:txBody>
                  <a:tcPr marT="45700" marB="45700"/>
                </a:tc>
                <a:tc>
                  <a:txBody>
                    <a:bodyPr/>
                    <a:lstStyle/>
                    <a:p>
                      <a:r>
                        <a:rPr lang="en-US" altLang="zh-CN" sz="1800" dirty="0">
                          <a:solidFill>
                            <a:schemeClr val="tx1"/>
                          </a:solidFill>
                        </a:rPr>
                        <a:t>4</a:t>
                      </a:r>
                      <a:endParaRPr lang="zh-CN" altLang="en-US" sz="1800" dirty="0">
                        <a:solidFill>
                          <a:schemeClr val="tx1"/>
                        </a:solidFill>
                      </a:endParaRPr>
                    </a:p>
                  </a:txBody>
                  <a:tcPr marT="45700" marB="45700"/>
                </a:tc>
                <a:tc>
                  <a:txBody>
                    <a:bodyPr/>
                    <a:lstStyle/>
                    <a:p>
                      <a:r>
                        <a:rPr lang="en-US" altLang="zh-CN" sz="1800" dirty="0">
                          <a:solidFill>
                            <a:schemeClr val="tx1"/>
                          </a:solidFill>
                        </a:rPr>
                        <a:t>5</a:t>
                      </a:r>
                      <a:endParaRPr lang="zh-CN" altLang="en-US" sz="1800" dirty="0">
                        <a:solidFill>
                          <a:schemeClr val="tx1"/>
                        </a:solidFill>
                      </a:endParaRPr>
                    </a:p>
                  </a:txBody>
                  <a:tcPr marT="45700" marB="45700"/>
                </a:tc>
                <a:tc>
                  <a:txBody>
                    <a:bodyPr/>
                    <a:lstStyle/>
                    <a:p>
                      <a:r>
                        <a:rPr lang="en-US" altLang="zh-CN" sz="1800" dirty="0">
                          <a:solidFill>
                            <a:schemeClr val="tx1"/>
                          </a:solidFill>
                        </a:rPr>
                        <a:t>6</a:t>
                      </a:r>
                      <a:endParaRPr lang="zh-CN" altLang="en-US" sz="1800" dirty="0">
                        <a:solidFill>
                          <a:schemeClr val="tx1"/>
                        </a:solidFill>
                      </a:endParaRPr>
                    </a:p>
                  </a:txBody>
                  <a:tcPr marT="45700" marB="45700"/>
                </a:tc>
                <a:tc>
                  <a:txBody>
                    <a:bodyPr/>
                    <a:lstStyle/>
                    <a:p>
                      <a:r>
                        <a:rPr lang="en-US" altLang="zh-CN" sz="1800" dirty="0">
                          <a:solidFill>
                            <a:schemeClr val="tx1"/>
                          </a:solidFill>
                        </a:rPr>
                        <a:t>7</a:t>
                      </a:r>
                      <a:endParaRPr lang="zh-CN" altLang="en-US" sz="1800" dirty="0">
                        <a:solidFill>
                          <a:schemeClr val="tx1"/>
                        </a:solidFill>
                      </a:endParaRPr>
                    </a:p>
                  </a:txBody>
                  <a:tcPr marT="45700" marB="45700"/>
                </a:tc>
                <a:tc>
                  <a:txBody>
                    <a:bodyPr/>
                    <a:lstStyle/>
                    <a:p>
                      <a:r>
                        <a:rPr lang="en-US" altLang="zh-CN" sz="1800" dirty="0">
                          <a:solidFill>
                            <a:schemeClr val="tx1"/>
                          </a:solidFill>
                        </a:rPr>
                        <a:t>8</a:t>
                      </a:r>
                      <a:endParaRPr lang="zh-CN" altLang="en-US" sz="1800" dirty="0">
                        <a:solidFill>
                          <a:schemeClr val="tx1"/>
                        </a:solidFill>
                      </a:endParaRPr>
                    </a:p>
                  </a:txBody>
                  <a:tcPr marT="45700" marB="45700"/>
                </a:tc>
                <a:tc>
                  <a:txBody>
                    <a:bodyPr/>
                    <a:lstStyle/>
                    <a:p>
                      <a:r>
                        <a:rPr lang="en-US" altLang="zh-CN" sz="1800" dirty="0">
                          <a:solidFill>
                            <a:schemeClr val="tx1"/>
                          </a:solidFill>
                        </a:rPr>
                        <a:t>9</a:t>
                      </a:r>
                      <a:endParaRPr lang="zh-CN" altLang="en-US" sz="1800" dirty="0">
                        <a:solidFill>
                          <a:schemeClr val="tx1"/>
                        </a:solidFill>
                      </a:endParaRPr>
                    </a:p>
                  </a:txBody>
                  <a:tcPr marT="45700" marB="45700"/>
                </a:tc>
                <a:tc>
                  <a:txBody>
                    <a:bodyPr/>
                    <a:lstStyle/>
                    <a:p>
                      <a:r>
                        <a:rPr lang="en-US" altLang="zh-CN" sz="1800" dirty="0">
                          <a:solidFill>
                            <a:schemeClr val="tx1"/>
                          </a:solidFill>
                        </a:rPr>
                        <a:t>10</a:t>
                      </a:r>
                      <a:endParaRPr lang="zh-CN" altLang="en-US" sz="1800" dirty="0">
                        <a:solidFill>
                          <a:schemeClr val="tx1"/>
                        </a:solidFill>
                      </a:endParaRPr>
                    </a:p>
                  </a:txBody>
                  <a:tcPr marT="45700" marB="45700"/>
                </a:tc>
                <a:tc>
                  <a:txBody>
                    <a:bodyPr/>
                    <a:lstStyle/>
                    <a:p>
                      <a:r>
                        <a:rPr lang="en-US" altLang="zh-CN" sz="1800" dirty="0">
                          <a:solidFill>
                            <a:schemeClr val="tx1"/>
                          </a:solidFill>
                        </a:rPr>
                        <a:t>11</a:t>
                      </a:r>
                      <a:endParaRPr lang="zh-CN" altLang="en-US" sz="1800" dirty="0">
                        <a:solidFill>
                          <a:schemeClr val="tx1"/>
                        </a:solidFill>
                      </a:endParaRPr>
                    </a:p>
                  </a:txBody>
                  <a:tcPr marT="45700" marB="45700"/>
                </a:tc>
                <a:tc>
                  <a:txBody>
                    <a:bodyPr/>
                    <a:lstStyle/>
                    <a:p>
                      <a:r>
                        <a:rPr lang="en-US" altLang="zh-CN" sz="1800" dirty="0">
                          <a:solidFill>
                            <a:schemeClr val="tx1"/>
                          </a:solidFill>
                        </a:rPr>
                        <a:t>12</a:t>
                      </a:r>
                      <a:endParaRPr lang="zh-CN" altLang="en-US" sz="1800" dirty="0">
                        <a:solidFill>
                          <a:schemeClr val="tx1"/>
                        </a:solidFill>
                      </a:endParaRPr>
                    </a:p>
                  </a:txBody>
                  <a:tcPr marT="45700" marB="45700"/>
                </a:tc>
                <a:tc>
                  <a:txBody>
                    <a:bodyPr/>
                    <a:lstStyle/>
                    <a:p>
                      <a:r>
                        <a:rPr lang="en-US" altLang="zh-CN" sz="1800" dirty="0">
                          <a:solidFill>
                            <a:schemeClr val="tx1"/>
                          </a:solidFill>
                        </a:rPr>
                        <a:t>13</a:t>
                      </a:r>
                      <a:endParaRPr lang="zh-CN" altLang="en-US" sz="1800" dirty="0">
                        <a:solidFill>
                          <a:schemeClr val="tx1"/>
                        </a:solidFill>
                      </a:endParaRPr>
                    </a:p>
                  </a:txBody>
                  <a:tcPr marT="45700" marB="45700"/>
                </a:tc>
                <a:tc>
                  <a:txBody>
                    <a:bodyPr/>
                    <a:lstStyle/>
                    <a:p>
                      <a:r>
                        <a:rPr lang="en-US" altLang="zh-CN" sz="1800" dirty="0">
                          <a:solidFill>
                            <a:schemeClr val="tx1"/>
                          </a:solidFill>
                        </a:rPr>
                        <a:t>14</a:t>
                      </a:r>
                      <a:endParaRPr lang="zh-CN" altLang="en-US" sz="1800" dirty="0">
                        <a:solidFill>
                          <a:schemeClr val="tx1"/>
                        </a:solidFill>
                      </a:endParaRPr>
                    </a:p>
                  </a:txBody>
                  <a:tcPr marT="45700" marB="45700"/>
                </a:tc>
              </a:tr>
              <a:tr h="370682">
                <a:tc>
                  <a:txBody>
                    <a:bodyPr/>
                    <a:lstStyle/>
                    <a:p>
                      <a:endParaRPr lang="zh-CN" altLang="en-US" sz="1800" dirty="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dirty="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endParaRPr lang="zh-CN" altLang="en-US" sz="1800" dirty="0"/>
                    </a:p>
                  </a:txBody>
                  <a:tcPr marT="45700" marB="45700"/>
                </a:tc>
              </a:tr>
            </a:tbl>
          </a:graphicData>
        </a:graphic>
      </p:graphicFrame>
      <p:sp>
        <p:nvSpPr>
          <p:cNvPr id="9" name="TextBox 9"/>
          <p:cNvSpPr txBox="1">
            <a:spLocks noChangeArrowheads="1"/>
          </p:cNvSpPr>
          <p:nvPr/>
        </p:nvSpPr>
        <p:spPr bwMode="auto">
          <a:xfrm>
            <a:off x="2493874" y="3872971"/>
            <a:ext cx="426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en-US" b="0" dirty="0">
                <a:latin typeface="微软雅黑" panose="020B0503020204020204" pitchFamily="34" charset="-122"/>
                <a:ea typeface="微软雅黑" panose="020B0503020204020204" pitchFamily="34" charset="-122"/>
              </a:rPr>
              <a:t>构造哈希表如下：</a:t>
            </a:r>
            <a:endParaRPr lang="zh-CN" altLang="en-US" b="0" dirty="0">
              <a:latin typeface="微软雅黑" panose="020B0503020204020204" pitchFamily="34" charset="-122"/>
              <a:ea typeface="微软雅黑" panose="020B0503020204020204" pitchFamily="34" charset="-122"/>
            </a:endParaRPr>
          </a:p>
        </p:txBody>
      </p:sp>
      <p:sp>
        <p:nvSpPr>
          <p:cNvPr id="10" name="TextBox 10"/>
          <p:cNvSpPr txBox="1"/>
          <p:nvPr/>
        </p:nvSpPr>
        <p:spPr>
          <a:xfrm>
            <a:off x="2341474" y="5020733"/>
            <a:ext cx="457200" cy="338138"/>
          </a:xfrm>
          <a:prstGeom prst="rect">
            <a:avLst/>
          </a:prstGeom>
          <a:noFill/>
        </p:spPr>
        <p:txBody>
          <a:bodyPr>
            <a:spAutoFit/>
          </a:bodyPr>
          <a:lstStyle/>
          <a:p>
            <a:pPr algn="ctr" eaLnBrk="1" hangingPunct="1">
              <a:defRPr/>
            </a:pPr>
            <a:r>
              <a:rPr lang="en-US" altLang="zh-CN" sz="1600" dirty="0">
                <a:solidFill>
                  <a:schemeClr val="tx2"/>
                </a:solidFill>
                <a:latin typeface="+mj-lt"/>
              </a:rPr>
              <a:t>26</a:t>
            </a:r>
            <a:endParaRPr lang="zh-CN" altLang="en-US" sz="1600" dirty="0">
              <a:solidFill>
                <a:schemeClr val="tx2"/>
              </a:solidFill>
              <a:latin typeface="+mj-lt"/>
            </a:endParaRPr>
          </a:p>
        </p:txBody>
      </p:sp>
      <p:sp>
        <p:nvSpPr>
          <p:cNvPr id="11" name="TextBox 11"/>
          <p:cNvSpPr txBox="1"/>
          <p:nvPr/>
        </p:nvSpPr>
        <p:spPr>
          <a:xfrm>
            <a:off x="8056474" y="5020733"/>
            <a:ext cx="457200" cy="338138"/>
          </a:xfrm>
          <a:prstGeom prst="rect">
            <a:avLst/>
          </a:prstGeom>
          <a:noFill/>
        </p:spPr>
        <p:txBody>
          <a:bodyPr>
            <a:spAutoFit/>
          </a:bodyPr>
          <a:lstStyle/>
          <a:p>
            <a:pPr algn="ctr" eaLnBrk="1" hangingPunct="1">
              <a:defRPr/>
            </a:pPr>
            <a:r>
              <a:rPr lang="en-US" altLang="zh-CN" sz="1600" dirty="0">
                <a:solidFill>
                  <a:schemeClr val="tx2"/>
                </a:solidFill>
                <a:latin typeface="+mj-lt"/>
              </a:rPr>
              <a:t>25</a:t>
            </a:r>
            <a:endParaRPr lang="zh-CN" altLang="en-US" sz="1600" dirty="0">
              <a:solidFill>
                <a:schemeClr val="tx2"/>
              </a:solidFill>
              <a:latin typeface="+mj-lt"/>
            </a:endParaRPr>
          </a:p>
        </p:txBody>
      </p:sp>
      <p:sp>
        <p:nvSpPr>
          <p:cNvPr id="12" name="TextBox 12"/>
          <p:cNvSpPr txBox="1"/>
          <p:nvPr/>
        </p:nvSpPr>
        <p:spPr>
          <a:xfrm>
            <a:off x="5694274" y="5020733"/>
            <a:ext cx="457200" cy="338138"/>
          </a:xfrm>
          <a:prstGeom prst="rect">
            <a:avLst/>
          </a:prstGeom>
          <a:noFill/>
        </p:spPr>
        <p:txBody>
          <a:bodyPr>
            <a:spAutoFit/>
          </a:bodyPr>
          <a:lstStyle/>
          <a:p>
            <a:pPr algn="ctr" eaLnBrk="1" hangingPunct="1">
              <a:defRPr/>
            </a:pPr>
            <a:r>
              <a:rPr lang="en-US" altLang="zh-CN" sz="1600" dirty="0">
                <a:solidFill>
                  <a:schemeClr val="tx2"/>
                </a:solidFill>
                <a:latin typeface="+mj-lt"/>
              </a:rPr>
              <a:t>20</a:t>
            </a:r>
            <a:endParaRPr lang="zh-CN" altLang="en-US" sz="1600" dirty="0">
              <a:solidFill>
                <a:schemeClr val="tx2"/>
              </a:solidFill>
              <a:latin typeface="+mj-lt"/>
            </a:endParaRPr>
          </a:p>
        </p:txBody>
      </p:sp>
      <p:sp>
        <p:nvSpPr>
          <p:cNvPr id="13" name="TextBox 13"/>
          <p:cNvSpPr txBox="1"/>
          <p:nvPr/>
        </p:nvSpPr>
        <p:spPr>
          <a:xfrm>
            <a:off x="6151474" y="5020733"/>
            <a:ext cx="457200" cy="338138"/>
          </a:xfrm>
          <a:prstGeom prst="rect">
            <a:avLst/>
          </a:prstGeom>
          <a:noFill/>
        </p:spPr>
        <p:txBody>
          <a:bodyPr>
            <a:spAutoFit/>
          </a:bodyPr>
          <a:lstStyle/>
          <a:p>
            <a:pPr algn="ctr" eaLnBrk="1" hangingPunct="1">
              <a:defRPr/>
            </a:pPr>
            <a:r>
              <a:rPr lang="en-US" altLang="zh-CN" sz="1600" dirty="0">
                <a:solidFill>
                  <a:schemeClr val="accent5">
                    <a:lumMod val="25000"/>
                  </a:schemeClr>
                </a:solidFill>
                <a:latin typeface="+mj-lt"/>
              </a:rPr>
              <a:t>33</a:t>
            </a:r>
            <a:endParaRPr lang="zh-CN" altLang="en-US" sz="1600" dirty="0">
              <a:solidFill>
                <a:schemeClr val="accent5">
                  <a:lumMod val="25000"/>
                </a:schemeClr>
              </a:solidFill>
              <a:latin typeface="+mj-lt"/>
            </a:endParaRPr>
          </a:p>
        </p:txBody>
      </p:sp>
      <p:sp>
        <p:nvSpPr>
          <p:cNvPr id="14" name="TextBox 14"/>
          <p:cNvSpPr txBox="1"/>
          <p:nvPr/>
        </p:nvSpPr>
        <p:spPr>
          <a:xfrm>
            <a:off x="6608674" y="5020733"/>
            <a:ext cx="457200" cy="338138"/>
          </a:xfrm>
          <a:prstGeom prst="rect">
            <a:avLst/>
          </a:prstGeom>
          <a:noFill/>
        </p:spPr>
        <p:txBody>
          <a:bodyPr>
            <a:spAutoFit/>
          </a:bodyPr>
          <a:lstStyle/>
          <a:p>
            <a:pPr algn="ctr" eaLnBrk="1" hangingPunct="1">
              <a:defRPr/>
            </a:pPr>
            <a:r>
              <a:rPr lang="en-US" altLang="zh-CN" sz="1600" dirty="0">
                <a:solidFill>
                  <a:schemeClr val="accent5">
                    <a:lumMod val="25000"/>
                  </a:schemeClr>
                </a:solidFill>
                <a:latin typeface="+mj-lt"/>
              </a:rPr>
              <a:t>46</a:t>
            </a:r>
            <a:endParaRPr lang="zh-CN" altLang="en-US" sz="1600" dirty="0">
              <a:solidFill>
                <a:schemeClr val="accent5">
                  <a:lumMod val="25000"/>
                </a:schemeClr>
              </a:solidFill>
              <a:latin typeface="+mj-lt"/>
            </a:endParaRPr>
          </a:p>
        </p:txBody>
      </p:sp>
      <p:sp>
        <p:nvSpPr>
          <p:cNvPr id="15" name="TextBox 15"/>
          <p:cNvSpPr txBox="1"/>
          <p:nvPr/>
        </p:nvSpPr>
        <p:spPr>
          <a:xfrm>
            <a:off x="7142074" y="5000096"/>
            <a:ext cx="457200" cy="338137"/>
          </a:xfrm>
          <a:prstGeom prst="rect">
            <a:avLst/>
          </a:prstGeom>
          <a:noFill/>
        </p:spPr>
        <p:txBody>
          <a:bodyPr>
            <a:spAutoFit/>
          </a:bodyPr>
          <a:lstStyle/>
          <a:p>
            <a:pPr algn="ctr" eaLnBrk="1" hangingPunct="1">
              <a:defRPr/>
            </a:pPr>
            <a:r>
              <a:rPr lang="en-US" altLang="zh-CN" sz="1600" dirty="0">
                <a:solidFill>
                  <a:schemeClr val="tx2"/>
                </a:solidFill>
                <a:latin typeface="+mj-lt"/>
              </a:rPr>
              <a:t>21</a:t>
            </a:r>
            <a:endParaRPr lang="zh-CN" altLang="en-US" sz="1600" dirty="0">
              <a:solidFill>
                <a:schemeClr val="tx2"/>
              </a:solidFill>
              <a:latin typeface="+mj-lt"/>
            </a:endParaRPr>
          </a:p>
        </p:txBody>
      </p:sp>
      <p:sp>
        <p:nvSpPr>
          <p:cNvPr id="16" name="TextBox 16"/>
          <p:cNvSpPr txBox="1"/>
          <p:nvPr/>
        </p:nvSpPr>
        <p:spPr>
          <a:xfrm>
            <a:off x="7675474" y="5020733"/>
            <a:ext cx="457200" cy="338138"/>
          </a:xfrm>
          <a:prstGeom prst="rect">
            <a:avLst/>
          </a:prstGeom>
          <a:noFill/>
        </p:spPr>
        <p:txBody>
          <a:bodyPr>
            <a:spAutoFit/>
          </a:bodyPr>
          <a:lstStyle/>
          <a:p>
            <a:pPr algn="ctr" eaLnBrk="1" hangingPunct="1">
              <a:defRPr/>
            </a:pPr>
            <a:r>
              <a:rPr lang="en-US" altLang="zh-CN" sz="1600" dirty="0">
                <a:solidFill>
                  <a:schemeClr val="tx2"/>
                </a:solidFill>
                <a:latin typeface="+mj-lt"/>
              </a:rPr>
              <a:t>24</a:t>
            </a:r>
            <a:endParaRPr lang="zh-CN" altLang="en-US" sz="1600" dirty="0">
              <a:solidFill>
                <a:schemeClr val="tx2"/>
              </a:solidFill>
              <a:latin typeface="+mj-lt"/>
            </a:endParaRPr>
          </a:p>
        </p:txBody>
      </p:sp>
      <p:sp>
        <p:nvSpPr>
          <p:cNvPr id="17" name="TextBox 17"/>
          <p:cNvSpPr txBox="1"/>
          <p:nvPr/>
        </p:nvSpPr>
        <p:spPr>
          <a:xfrm>
            <a:off x="5237074" y="5014383"/>
            <a:ext cx="457200" cy="338138"/>
          </a:xfrm>
          <a:prstGeom prst="rect">
            <a:avLst/>
          </a:prstGeom>
          <a:noFill/>
        </p:spPr>
        <p:txBody>
          <a:bodyPr>
            <a:spAutoFit/>
          </a:bodyPr>
          <a:lstStyle/>
          <a:p>
            <a:pPr algn="ctr" eaLnBrk="1" hangingPunct="1">
              <a:defRPr/>
            </a:pPr>
            <a:r>
              <a:rPr lang="en-US" altLang="zh-CN" sz="1600" dirty="0">
                <a:solidFill>
                  <a:schemeClr val="tx2"/>
                </a:solidFill>
                <a:latin typeface="+mj-lt"/>
              </a:rPr>
              <a:t>45</a:t>
            </a:r>
            <a:endParaRPr lang="zh-CN" altLang="en-US" sz="1600" dirty="0">
              <a:solidFill>
                <a:schemeClr val="tx2"/>
              </a:solidFill>
              <a:latin typeface="+mj-lt"/>
            </a:endParaRPr>
          </a:p>
        </p:txBody>
      </p:sp>
      <p:sp>
        <p:nvSpPr>
          <p:cNvPr id="18" name="TextBox 18"/>
          <p:cNvSpPr txBox="1"/>
          <p:nvPr/>
        </p:nvSpPr>
        <p:spPr>
          <a:xfrm>
            <a:off x="8589874" y="5020733"/>
            <a:ext cx="533400" cy="338138"/>
          </a:xfrm>
          <a:prstGeom prst="rect">
            <a:avLst/>
          </a:prstGeom>
          <a:noFill/>
        </p:spPr>
        <p:txBody>
          <a:bodyPr>
            <a:spAutoFit/>
          </a:bodyPr>
          <a:lstStyle/>
          <a:p>
            <a:pPr algn="ctr" eaLnBrk="1" hangingPunct="1">
              <a:defRPr/>
            </a:pPr>
            <a:r>
              <a:rPr lang="en-US" altLang="zh-CN" sz="1600" dirty="0">
                <a:solidFill>
                  <a:schemeClr val="tx2"/>
                </a:solidFill>
                <a:latin typeface="+mj-lt"/>
              </a:rPr>
              <a:t>204</a:t>
            </a:r>
            <a:endParaRPr lang="zh-CN" altLang="en-US" sz="1600" dirty="0">
              <a:solidFill>
                <a:schemeClr val="tx2"/>
              </a:solidFill>
              <a:latin typeface="+mj-lt"/>
            </a:endParaRPr>
          </a:p>
        </p:txBody>
      </p:sp>
      <p:sp>
        <p:nvSpPr>
          <p:cNvPr id="19" name="TextBox 19"/>
          <p:cNvSpPr txBox="1"/>
          <p:nvPr/>
        </p:nvSpPr>
        <p:spPr>
          <a:xfrm>
            <a:off x="3789274" y="5020733"/>
            <a:ext cx="457200" cy="338138"/>
          </a:xfrm>
          <a:prstGeom prst="rect">
            <a:avLst/>
          </a:prstGeom>
          <a:noFill/>
        </p:spPr>
        <p:txBody>
          <a:bodyPr>
            <a:spAutoFit/>
          </a:bodyPr>
          <a:lstStyle/>
          <a:p>
            <a:pPr algn="ctr" eaLnBrk="1" hangingPunct="1">
              <a:defRPr/>
            </a:pPr>
            <a:r>
              <a:rPr lang="en-US" altLang="zh-CN" sz="1600" dirty="0">
                <a:solidFill>
                  <a:schemeClr val="tx2"/>
                </a:solidFill>
                <a:latin typeface="+mj-lt"/>
              </a:rPr>
              <a:t>42</a:t>
            </a:r>
            <a:endParaRPr lang="zh-CN" altLang="en-US" sz="1600" dirty="0">
              <a:solidFill>
                <a:schemeClr val="tx2"/>
              </a:solidFill>
              <a:latin typeface="+mj-lt"/>
            </a:endParaRPr>
          </a:p>
        </p:txBody>
      </p:sp>
      <p:sp>
        <p:nvSpPr>
          <p:cNvPr id="20" name="TextBox 20"/>
          <p:cNvSpPr txBox="1"/>
          <p:nvPr/>
        </p:nvSpPr>
        <p:spPr>
          <a:xfrm>
            <a:off x="9047074" y="5022321"/>
            <a:ext cx="457200" cy="339725"/>
          </a:xfrm>
          <a:prstGeom prst="rect">
            <a:avLst/>
          </a:prstGeom>
          <a:noFill/>
        </p:spPr>
        <p:txBody>
          <a:bodyPr>
            <a:spAutoFit/>
          </a:bodyPr>
          <a:lstStyle/>
          <a:p>
            <a:pPr algn="ctr" eaLnBrk="1" hangingPunct="1">
              <a:defRPr/>
            </a:pPr>
            <a:r>
              <a:rPr lang="en-US" altLang="zh-CN" sz="1600" dirty="0">
                <a:solidFill>
                  <a:schemeClr val="tx2"/>
                </a:solidFill>
                <a:latin typeface="+mj-lt"/>
              </a:rPr>
              <a:t>60</a:t>
            </a:r>
            <a:endParaRPr lang="zh-CN" altLang="en-US" sz="1600" dirty="0">
              <a:solidFill>
                <a:schemeClr val="tx2"/>
              </a:solidFill>
              <a:latin typeface="+mj-lt"/>
            </a:endParaRPr>
          </a:p>
        </p:txBody>
      </p:sp>
      <p:sp>
        <p:nvSpPr>
          <p:cNvPr id="21" name="TextBox 21"/>
          <p:cNvSpPr txBox="1"/>
          <p:nvPr/>
        </p:nvSpPr>
        <p:spPr>
          <a:xfrm>
            <a:off x="2874874" y="5020733"/>
            <a:ext cx="457200" cy="338138"/>
          </a:xfrm>
          <a:prstGeom prst="rect">
            <a:avLst/>
          </a:prstGeom>
          <a:noFill/>
        </p:spPr>
        <p:txBody>
          <a:bodyPr>
            <a:spAutoFit/>
          </a:bodyPr>
          <a:lstStyle/>
          <a:p>
            <a:pPr algn="ctr" eaLnBrk="1" hangingPunct="1">
              <a:defRPr/>
            </a:pPr>
            <a:r>
              <a:rPr lang="en-US" altLang="zh-CN" sz="1600" dirty="0">
                <a:solidFill>
                  <a:schemeClr val="tx2"/>
                </a:solidFill>
                <a:latin typeface="+mj-lt"/>
              </a:rPr>
              <a:t>74</a:t>
            </a:r>
            <a:endParaRPr lang="zh-CN" altLang="en-US" sz="1600" dirty="0">
              <a:solidFill>
                <a:schemeClr val="tx2"/>
              </a:solidFill>
              <a:latin typeface="+mj-lt"/>
            </a:endParaRPr>
          </a:p>
        </p:txBody>
      </p:sp>
      <p:sp>
        <p:nvSpPr>
          <p:cNvPr id="22" name="TextBox 22"/>
          <p:cNvSpPr txBox="1">
            <a:spLocks noChangeArrowheads="1"/>
          </p:cNvSpPr>
          <p:nvPr/>
        </p:nvSpPr>
        <p:spPr bwMode="auto">
          <a:xfrm>
            <a:off x="2417674" y="5706533"/>
            <a:ext cx="723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b="0">
                <a:solidFill>
                  <a:srgbClr val="FF0000"/>
                </a:solidFill>
              </a:rPr>
              <a:t>ASL=</a:t>
            </a:r>
            <a:r>
              <a:rPr lang="zh-CN" altLang="en-US" b="0">
                <a:solidFill>
                  <a:srgbClr val="FF0000"/>
                </a:solidFill>
              </a:rPr>
              <a:t>（</a:t>
            </a:r>
            <a:r>
              <a:rPr lang="en-US" altLang="zh-CN" b="0">
                <a:solidFill>
                  <a:srgbClr val="FF0000"/>
                </a:solidFill>
              </a:rPr>
              <a:t>1+1+1+2+3+3+1+1+5+1+7+8</a:t>
            </a:r>
            <a:r>
              <a:rPr lang="zh-CN" altLang="en-US" b="0">
                <a:solidFill>
                  <a:srgbClr val="FF0000"/>
                </a:solidFill>
              </a:rPr>
              <a:t>）</a:t>
            </a:r>
            <a:r>
              <a:rPr lang="en-US" altLang="zh-CN" b="0">
                <a:solidFill>
                  <a:srgbClr val="FF0000"/>
                </a:solidFill>
              </a:rPr>
              <a:t>/12=34/12</a:t>
            </a:r>
            <a:endParaRPr lang="zh-CN" altLang="en-US" b="0">
              <a:solidFill>
                <a:srgbClr val="FF0000"/>
              </a:solidFill>
            </a:endParaRPr>
          </a:p>
        </p:txBody>
      </p:sp>
      <p:sp>
        <p:nvSpPr>
          <p:cNvPr id="23" name="椭圆形标注 23"/>
          <p:cNvSpPr>
            <a:spLocks noChangeArrowheads="1"/>
          </p:cNvSpPr>
          <p:nvPr/>
        </p:nvSpPr>
        <p:spPr bwMode="auto">
          <a:xfrm>
            <a:off x="7675474" y="3649133"/>
            <a:ext cx="2514600" cy="838200"/>
          </a:xfrm>
          <a:prstGeom prst="wedgeEllipseCallout">
            <a:avLst>
              <a:gd name="adj1" fmla="val -20833"/>
              <a:gd name="adj2" fmla="val 62500"/>
            </a:avLst>
          </a:prstGeom>
          <a:noFill/>
          <a:ln w="3175" algn="ctr">
            <a:solidFill>
              <a:schemeClr val="tx2"/>
            </a:solidFill>
            <a:round/>
          </a:ln>
          <a:extLst>
            <a:ext uri="{909E8E84-426E-40DD-AFC4-6F175D3DCCD1}">
              <a14:hiddenFill xmlns:a14="http://schemas.microsoft.com/office/drawing/2010/main">
                <a:solidFill>
                  <a:srgbClr val="FFFFFF"/>
                </a:solidFill>
              </a14:hiddenFill>
            </a:ext>
          </a:extLst>
        </p:spPr>
        <p:txBody>
          <a:bodyPr lIns="90000" tIns="46800" rIns="90000" bIns="46800" anchor="ct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dirty="0">
                <a:solidFill>
                  <a:srgbClr val="00B050"/>
                </a:solidFill>
                <a:latin typeface="微软雅黑" panose="020B0503020204020204" pitchFamily="34" charset="-122"/>
                <a:ea typeface="微软雅黑" panose="020B0503020204020204" pitchFamily="34" charset="-122"/>
              </a:rPr>
              <a:t>容易产生“堆积”</a:t>
            </a:r>
            <a:endParaRPr lang="zh-CN" altLang="en-US" dirty="0">
              <a:solidFill>
                <a:srgbClr val="00B05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ppt_x"/>
                                          </p:val>
                                        </p:tav>
                                        <p:tav tm="100000">
                                          <p:val>
                                            <p:strVal val="#ppt_x"/>
                                          </p:val>
                                        </p:tav>
                                      </p:tavLst>
                                    </p:anim>
                                    <p:anim calcmode="lin" valueType="num">
                                      <p:cBhvr additive="base">
                                        <p:cTn id="5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500" fill="hold"/>
                                        <p:tgtEl>
                                          <p:spTgt spid="16"/>
                                        </p:tgtEl>
                                        <p:attrNameLst>
                                          <p:attrName>ppt_x</p:attrName>
                                        </p:attrNameLst>
                                      </p:cBhvr>
                                      <p:tavLst>
                                        <p:tav tm="0">
                                          <p:val>
                                            <p:strVal val="#ppt_x"/>
                                          </p:val>
                                        </p:tav>
                                        <p:tav tm="100000">
                                          <p:val>
                                            <p:strVal val="#ppt_x"/>
                                          </p:val>
                                        </p:tav>
                                      </p:tavLst>
                                    </p:anim>
                                    <p:anim calcmode="lin" valueType="num">
                                      <p:cBhvr additive="base">
                                        <p:cTn id="6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500" fill="hold"/>
                                        <p:tgtEl>
                                          <p:spTgt spid="17"/>
                                        </p:tgtEl>
                                        <p:attrNameLst>
                                          <p:attrName>ppt_x</p:attrName>
                                        </p:attrNameLst>
                                      </p:cBhvr>
                                      <p:tavLst>
                                        <p:tav tm="0">
                                          <p:val>
                                            <p:strVal val="#ppt_x"/>
                                          </p:val>
                                        </p:tav>
                                        <p:tav tm="100000">
                                          <p:val>
                                            <p:strVal val="#ppt_x"/>
                                          </p:val>
                                        </p:tav>
                                      </p:tavLst>
                                    </p:anim>
                                    <p:anim calcmode="lin" valueType="num">
                                      <p:cBhvr additive="base">
                                        <p:cTn id="7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anim calcmode="lin" valueType="num">
                                      <p:cBhvr additive="base">
                                        <p:cTn id="75" dur="500" fill="hold"/>
                                        <p:tgtEl>
                                          <p:spTgt spid="18"/>
                                        </p:tgtEl>
                                        <p:attrNameLst>
                                          <p:attrName>ppt_x</p:attrName>
                                        </p:attrNameLst>
                                      </p:cBhvr>
                                      <p:tavLst>
                                        <p:tav tm="0">
                                          <p:val>
                                            <p:strVal val="#ppt_x"/>
                                          </p:val>
                                        </p:tav>
                                        <p:tav tm="100000">
                                          <p:val>
                                            <p:strVal val="#ppt_x"/>
                                          </p:val>
                                        </p:tav>
                                      </p:tavLst>
                                    </p:anim>
                                    <p:anim calcmode="lin" valueType="num">
                                      <p:cBhvr additive="base">
                                        <p:cTn id="7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500" fill="hold"/>
                                        <p:tgtEl>
                                          <p:spTgt spid="20"/>
                                        </p:tgtEl>
                                        <p:attrNameLst>
                                          <p:attrName>ppt_x</p:attrName>
                                        </p:attrNameLst>
                                      </p:cBhvr>
                                      <p:tavLst>
                                        <p:tav tm="0">
                                          <p:val>
                                            <p:strVal val="#ppt_x"/>
                                          </p:val>
                                        </p:tav>
                                        <p:tav tm="100000">
                                          <p:val>
                                            <p:strVal val="#ppt_x"/>
                                          </p:val>
                                        </p:tav>
                                      </p:tavLst>
                                    </p:anim>
                                    <p:anim calcmode="lin" valueType="num">
                                      <p:cBhvr additive="base">
                                        <p:cTn id="8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fill="hold"/>
                                        <p:tgtEl>
                                          <p:spTgt spid="21"/>
                                        </p:tgtEl>
                                        <p:attrNameLst>
                                          <p:attrName>ppt_x</p:attrName>
                                        </p:attrNameLst>
                                      </p:cBhvr>
                                      <p:tavLst>
                                        <p:tav tm="0">
                                          <p:val>
                                            <p:strVal val="#ppt_x"/>
                                          </p:val>
                                        </p:tav>
                                        <p:tav tm="100000">
                                          <p:val>
                                            <p:strVal val="#ppt_x"/>
                                          </p:val>
                                        </p:tav>
                                      </p:tavLst>
                                    </p:anim>
                                    <p:anim calcmode="lin" valueType="num">
                                      <p:cBhvr additive="base">
                                        <p:cTn id="9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2" fill="hold" grpId="0" nodeType="clickEffect">
                                  <p:stCondLst>
                                    <p:cond delay="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500" fill="hold"/>
                                        <p:tgtEl>
                                          <p:spTgt spid="23"/>
                                        </p:tgtEl>
                                        <p:attrNameLst>
                                          <p:attrName>ppt_x</p:attrName>
                                        </p:attrNameLst>
                                      </p:cBhvr>
                                      <p:tavLst>
                                        <p:tav tm="0">
                                          <p:val>
                                            <p:strVal val="1+#ppt_w/2"/>
                                          </p:val>
                                        </p:tav>
                                        <p:tav tm="100000">
                                          <p:val>
                                            <p:strVal val="#ppt_x"/>
                                          </p:val>
                                        </p:tav>
                                      </p:tavLst>
                                    </p:anim>
                                    <p:anim calcmode="lin" valueType="num">
                                      <p:cBhvr additive="base">
                                        <p:cTn id="100"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4" fill="hold" grpId="0" nodeType="clickEffect">
                                  <p:stCondLst>
                                    <p:cond delay="0"/>
                                  </p:stCondLst>
                                  <p:childTnLst>
                                    <p:set>
                                      <p:cBhvr>
                                        <p:cTn id="104" dur="1" fill="hold">
                                          <p:stCondLst>
                                            <p:cond delay="0"/>
                                          </p:stCondLst>
                                        </p:cTn>
                                        <p:tgtEl>
                                          <p:spTgt spid="22"/>
                                        </p:tgtEl>
                                        <p:attrNameLst>
                                          <p:attrName>style.visibility</p:attrName>
                                        </p:attrNameLst>
                                      </p:cBhvr>
                                      <p:to>
                                        <p:strVal val="visible"/>
                                      </p:to>
                                    </p:set>
                                    <p:anim calcmode="lin" valueType="num">
                                      <p:cBhvr additive="base">
                                        <p:cTn id="105" dur="500" fill="hold"/>
                                        <p:tgtEl>
                                          <p:spTgt spid="22"/>
                                        </p:tgtEl>
                                        <p:attrNameLst>
                                          <p:attrName>ppt_x</p:attrName>
                                        </p:attrNameLst>
                                      </p:cBhvr>
                                      <p:tavLst>
                                        <p:tav tm="0">
                                          <p:val>
                                            <p:strVal val="#ppt_x"/>
                                          </p:val>
                                        </p:tav>
                                        <p:tav tm="100000">
                                          <p:val>
                                            <p:strVal val="#ppt_x"/>
                                          </p:val>
                                        </p:tav>
                                      </p:tavLst>
                                    </p:anim>
                                    <p:anim calcmode="lin" valueType="num">
                                      <p:cBhvr additive="base">
                                        <p:cTn id="10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开放定址法例 </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a:spLocks noGrp="1"/>
          </p:cNvSpPr>
          <p:nvPr>
            <p:ph idx="1"/>
          </p:nvPr>
        </p:nvSpPr>
        <p:spPr>
          <a:xfrm>
            <a:off x="643467" y="990600"/>
            <a:ext cx="10676466" cy="4876800"/>
          </a:xfrm>
        </p:spPr>
        <p:txBody>
          <a:bodyPr>
            <a:normAutofit/>
          </a:bodyPr>
          <a:lstStyle/>
          <a:p>
            <a:r>
              <a:rPr lang="zh-CN" altLang="en-US" sz="2400" dirty="0">
                <a:latin typeface="微软雅黑" panose="020B0503020204020204" pitchFamily="34" charset="-122"/>
                <a:ea typeface="微软雅黑" panose="020B0503020204020204" pitchFamily="34" charset="-122"/>
              </a:rPr>
              <a:t>上例中</a:t>
            </a:r>
            <a:r>
              <a:rPr lang="zh-CN" altLang="zh-CN" sz="2400" dirty="0">
                <a:latin typeface="微软雅黑" panose="020B0503020204020204" pitchFamily="34" charset="-122"/>
                <a:ea typeface="微软雅黑" panose="020B0503020204020204" pitchFamily="34" charset="-122"/>
              </a:rPr>
              <a:t>用</a:t>
            </a:r>
            <a:r>
              <a:rPr lang="zh-CN" altLang="en-US" sz="2400" dirty="0">
                <a:latin typeface="微软雅黑" panose="020B0503020204020204" pitchFamily="34" charset="-122"/>
                <a:ea typeface="微软雅黑" panose="020B0503020204020204" pitchFamily="34" charset="-122"/>
              </a:rPr>
              <a:t>二次</a:t>
            </a:r>
            <a:r>
              <a:rPr lang="zh-CN" altLang="zh-CN" sz="2400" dirty="0">
                <a:latin typeface="微软雅黑" panose="020B0503020204020204" pitchFamily="34" charset="-122"/>
                <a:ea typeface="微软雅黑" panose="020B0503020204020204" pitchFamily="34" charset="-122"/>
              </a:rPr>
              <a:t>探测法解决冲突，构造出哈希表。</a:t>
            </a:r>
            <a:endParaRPr lang="zh-CN" altLang="en-US" sz="2400" dirty="0">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1981200" y="2032000"/>
          <a:ext cx="7848595" cy="741364"/>
        </p:xfrm>
        <a:graphic>
          <a:graphicData uri="http://schemas.openxmlformats.org/drawingml/2006/table">
            <a:tbl>
              <a:tblPr firstRow="1" bandRow="1">
                <a:tableStyleId>{69012ECD-51FC-41F1-AA8D-1B2483CD663E}</a:tableStyleId>
              </a:tblPr>
              <a:tblGrid>
                <a:gridCol w="764022"/>
                <a:gridCol w="531377"/>
                <a:gridCol w="515816"/>
                <a:gridCol w="603738"/>
                <a:gridCol w="603738"/>
                <a:gridCol w="603738"/>
                <a:gridCol w="603738"/>
                <a:gridCol w="603738"/>
                <a:gridCol w="603738"/>
                <a:gridCol w="603738"/>
                <a:gridCol w="603738"/>
                <a:gridCol w="603738"/>
                <a:gridCol w="603738"/>
              </a:tblGrid>
              <a:tr h="370682">
                <a:tc>
                  <a:txBody>
                    <a:bodyPr/>
                    <a:lstStyle/>
                    <a:p>
                      <a:r>
                        <a:rPr lang="en-US" altLang="zh-CN" sz="1800" b="0" dirty="0">
                          <a:solidFill>
                            <a:schemeClr val="tx1"/>
                          </a:solidFill>
                        </a:rPr>
                        <a:t>key</a:t>
                      </a:r>
                      <a:endParaRPr lang="zh-CN" altLang="en-US" sz="1800" b="0" dirty="0">
                        <a:solidFill>
                          <a:schemeClr val="tx1"/>
                        </a:solidFill>
                      </a:endParaRPr>
                    </a:p>
                  </a:txBody>
                  <a:tcPr marT="45700" marB="45700"/>
                </a:tc>
                <a:tc>
                  <a:txBody>
                    <a:bodyPr/>
                    <a:lstStyle/>
                    <a:p>
                      <a:r>
                        <a:rPr lang="en-US" altLang="zh-CN" sz="1800" dirty="0">
                          <a:solidFill>
                            <a:schemeClr val="tx1"/>
                          </a:solidFill>
                        </a:rPr>
                        <a:t>26</a:t>
                      </a:r>
                      <a:endParaRPr lang="zh-CN" altLang="en-US" sz="1800" dirty="0">
                        <a:solidFill>
                          <a:schemeClr val="tx1"/>
                        </a:solidFill>
                      </a:endParaRPr>
                    </a:p>
                  </a:txBody>
                  <a:tcPr marT="45700" marB="45700"/>
                </a:tc>
                <a:tc>
                  <a:txBody>
                    <a:bodyPr/>
                    <a:lstStyle/>
                    <a:p>
                      <a:r>
                        <a:rPr lang="en-US" altLang="zh-CN" sz="1800" dirty="0">
                          <a:solidFill>
                            <a:schemeClr val="tx1"/>
                          </a:solidFill>
                        </a:rPr>
                        <a:t>25</a:t>
                      </a:r>
                      <a:endParaRPr lang="zh-CN" altLang="en-US" sz="1800" dirty="0">
                        <a:solidFill>
                          <a:schemeClr val="tx1"/>
                        </a:solidFill>
                      </a:endParaRPr>
                    </a:p>
                  </a:txBody>
                  <a:tcPr marT="45700" marB="45700"/>
                </a:tc>
                <a:tc>
                  <a:txBody>
                    <a:bodyPr/>
                    <a:lstStyle/>
                    <a:p>
                      <a:r>
                        <a:rPr lang="en-US" altLang="zh-CN" sz="1800" dirty="0">
                          <a:solidFill>
                            <a:schemeClr val="tx1"/>
                          </a:solidFill>
                        </a:rPr>
                        <a:t>20</a:t>
                      </a:r>
                      <a:endParaRPr lang="zh-CN" altLang="en-US" sz="1800" dirty="0">
                        <a:solidFill>
                          <a:schemeClr val="tx1"/>
                        </a:solidFill>
                      </a:endParaRPr>
                    </a:p>
                  </a:txBody>
                  <a:tcPr marT="45700" marB="45700"/>
                </a:tc>
                <a:tc>
                  <a:txBody>
                    <a:bodyPr/>
                    <a:lstStyle/>
                    <a:p>
                      <a:r>
                        <a:rPr lang="en-US" altLang="zh-CN" sz="1800" dirty="0">
                          <a:solidFill>
                            <a:schemeClr val="tx1"/>
                          </a:solidFill>
                        </a:rPr>
                        <a:t>33</a:t>
                      </a:r>
                      <a:endParaRPr lang="zh-CN" altLang="en-US" sz="1800" dirty="0">
                        <a:solidFill>
                          <a:schemeClr val="tx1"/>
                        </a:solidFill>
                      </a:endParaRPr>
                    </a:p>
                  </a:txBody>
                  <a:tcPr marT="45700" marB="45700"/>
                </a:tc>
                <a:tc>
                  <a:txBody>
                    <a:bodyPr/>
                    <a:lstStyle/>
                    <a:p>
                      <a:r>
                        <a:rPr lang="en-US" altLang="zh-CN" sz="1800" dirty="0">
                          <a:solidFill>
                            <a:schemeClr val="tx1"/>
                          </a:solidFill>
                        </a:rPr>
                        <a:t>46</a:t>
                      </a:r>
                      <a:endParaRPr lang="zh-CN" altLang="en-US" sz="1800" dirty="0">
                        <a:solidFill>
                          <a:schemeClr val="tx1"/>
                        </a:solidFill>
                      </a:endParaRPr>
                    </a:p>
                  </a:txBody>
                  <a:tcPr marT="45700" marB="45700"/>
                </a:tc>
                <a:tc>
                  <a:txBody>
                    <a:bodyPr/>
                    <a:lstStyle/>
                    <a:p>
                      <a:r>
                        <a:rPr lang="en-US" altLang="zh-CN" sz="1800" dirty="0">
                          <a:solidFill>
                            <a:schemeClr val="tx1"/>
                          </a:solidFill>
                        </a:rPr>
                        <a:t>21</a:t>
                      </a:r>
                      <a:endParaRPr lang="zh-CN" altLang="en-US" sz="1800" dirty="0">
                        <a:solidFill>
                          <a:schemeClr val="tx1"/>
                        </a:solidFill>
                      </a:endParaRPr>
                    </a:p>
                  </a:txBody>
                  <a:tcPr marT="45700" marB="45700"/>
                </a:tc>
                <a:tc>
                  <a:txBody>
                    <a:bodyPr/>
                    <a:lstStyle/>
                    <a:p>
                      <a:r>
                        <a:rPr lang="en-US" altLang="zh-CN" sz="1800" dirty="0">
                          <a:solidFill>
                            <a:schemeClr val="tx1"/>
                          </a:solidFill>
                        </a:rPr>
                        <a:t>24</a:t>
                      </a:r>
                      <a:endParaRPr lang="zh-CN" altLang="en-US" sz="1800" dirty="0">
                        <a:solidFill>
                          <a:schemeClr val="tx1"/>
                        </a:solidFill>
                      </a:endParaRPr>
                    </a:p>
                  </a:txBody>
                  <a:tcPr marT="45700" marB="45700"/>
                </a:tc>
                <a:tc>
                  <a:txBody>
                    <a:bodyPr/>
                    <a:lstStyle/>
                    <a:p>
                      <a:r>
                        <a:rPr lang="en-US" altLang="zh-CN" sz="1800" dirty="0">
                          <a:solidFill>
                            <a:schemeClr val="tx1"/>
                          </a:solidFill>
                        </a:rPr>
                        <a:t>45</a:t>
                      </a:r>
                      <a:endParaRPr lang="zh-CN" altLang="en-US" sz="1800" dirty="0">
                        <a:solidFill>
                          <a:schemeClr val="tx1"/>
                        </a:solidFill>
                      </a:endParaRPr>
                    </a:p>
                  </a:txBody>
                  <a:tcPr marT="45700" marB="45700"/>
                </a:tc>
                <a:tc>
                  <a:txBody>
                    <a:bodyPr/>
                    <a:lstStyle/>
                    <a:p>
                      <a:r>
                        <a:rPr lang="en-US" altLang="zh-CN" sz="1800" dirty="0">
                          <a:solidFill>
                            <a:schemeClr val="tx1"/>
                          </a:solidFill>
                        </a:rPr>
                        <a:t>204</a:t>
                      </a:r>
                      <a:endParaRPr lang="zh-CN" altLang="en-US" sz="1800" dirty="0">
                        <a:solidFill>
                          <a:schemeClr val="tx1"/>
                        </a:solidFill>
                      </a:endParaRPr>
                    </a:p>
                  </a:txBody>
                  <a:tcPr marT="45700" marB="45700"/>
                </a:tc>
                <a:tc>
                  <a:txBody>
                    <a:bodyPr/>
                    <a:lstStyle/>
                    <a:p>
                      <a:r>
                        <a:rPr lang="en-US" altLang="zh-CN" sz="1800" dirty="0">
                          <a:solidFill>
                            <a:schemeClr val="tx1"/>
                          </a:solidFill>
                        </a:rPr>
                        <a:t>42</a:t>
                      </a:r>
                      <a:endParaRPr lang="zh-CN" altLang="en-US" sz="1800" dirty="0">
                        <a:solidFill>
                          <a:schemeClr val="tx1"/>
                        </a:solidFill>
                      </a:endParaRPr>
                    </a:p>
                  </a:txBody>
                  <a:tcPr marT="45700" marB="45700"/>
                </a:tc>
                <a:tc>
                  <a:txBody>
                    <a:bodyPr/>
                    <a:lstStyle/>
                    <a:p>
                      <a:r>
                        <a:rPr lang="en-US" altLang="zh-CN" sz="1800" dirty="0">
                          <a:solidFill>
                            <a:schemeClr val="tx1"/>
                          </a:solidFill>
                        </a:rPr>
                        <a:t>60</a:t>
                      </a:r>
                      <a:endParaRPr lang="zh-CN" altLang="en-US" sz="1800" dirty="0">
                        <a:solidFill>
                          <a:schemeClr val="tx1"/>
                        </a:solidFill>
                      </a:endParaRPr>
                    </a:p>
                  </a:txBody>
                  <a:tcPr marT="45700" marB="45700"/>
                </a:tc>
                <a:tc>
                  <a:txBody>
                    <a:bodyPr/>
                    <a:lstStyle/>
                    <a:p>
                      <a:r>
                        <a:rPr lang="en-US" altLang="zh-CN" sz="1800" dirty="0">
                          <a:solidFill>
                            <a:schemeClr val="tx1"/>
                          </a:solidFill>
                        </a:rPr>
                        <a:t>74</a:t>
                      </a:r>
                      <a:endParaRPr lang="zh-CN" altLang="en-US" sz="1800" dirty="0">
                        <a:solidFill>
                          <a:schemeClr val="tx1"/>
                        </a:solidFill>
                      </a:endParaRPr>
                    </a:p>
                  </a:txBody>
                  <a:tcPr marT="45700" marB="45700"/>
                </a:tc>
              </a:tr>
              <a:tr h="370682">
                <a:tc>
                  <a:txBody>
                    <a:bodyPr/>
                    <a:lstStyle/>
                    <a:p>
                      <a:r>
                        <a:rPr lang="en-US" altLang="zh-CN" sz="1800" dirty="0"/>
                        <a:t>H(key)</a:t>
                      </a:r>
                      <a:endParaRPr lang="zh-CN" altLang="en-US" sz="1800" dirty="0"/>
                    </a:p>
                  </a:txBody>
                  <a:tcPr marT="45700" marB="45700"/>
                </a:tc>
                <a:tc>
                  <a:txBody>
                    <a:bodyPr/>
                    <a:lstStyle/>
                    <a:p>
                      <a:r>
                        <a:rPr lang="en-US" altLang="zh-CN" sz="1800" dirty="0"/>
                        <a:t>0</a:t>
                      </a:r>
                      <a:endParaRPr lang="zh-CN" altLang="en-US" sz="1800" dirty="0"/>
                    </a:p>
                  </a:txBody>
                  <a:tcPr marT="45700" marB="45700"/>
                </a:tc>
                <a:tc>
                  <a:txBody>
                    <a:bodyPr/>
                    <a:lstStyle/>
                    <a:p>
                      <a:r>
                        <a:rPr lang="en-US" altLang="zh-CN" sz="1800" dirty="0"/>
                        <a:t>12</a:t>
                      </a:r>
                      <a:endParaRPr lang="zh-CN" altLang="en-US" sz="1800" dirty="0"/>
                    </a:p>
                  </a:txBody>
                  <a:tcPr marT="45700" marB="45700"/>
                </a:tc>
                <a:tc>
                  <a:txBody>
                    <a:bodyPr/>
                    <a:lstStyle/>
                    <a:p>
                      <a:r>
                        <a:rPr lang="en-US" altLang="zh-CN" sz="1800" dirty="0"/>
                        <a:t>7</a:t>
                      </a:r>
                      <a:endParaRPr lang="zh-CN" altLang="en-US" sz="1800" dirty="0"/>
                    </a:p>
                  </a:txBody>
                  <a:tcPr marT="45700" marB="45700"/>
                </a:tc>
                <a:tc>
                  <a:txBody>
                    <a:bodyPr/>
                    <a:lstStyle/>
                    <a:p>
                      <a:r>
                        <a:rPr lang="en-US" altLang="zh-CN" sz="1800" dirty="0"/>
                        <a:t>7</a:t>
                      </a:r>
                      <a:endParaRPr lang="zh-CN" altLang="en-US" sz="1800" dirty="0"/>
                    </a:p>
                  </a:txBody>
                  <a:tcPr marT="45700" marB="45700"/>
                </a:tc>
                <a:tc>
                  <a:txBody>
                    <a:bodyPr/>
                    <a:lstStyle/>
                    <a:p>
                      <a:r>
                        <a:rPr lang="en-US" altLang="zh-CN" sz="1800" dirty="0"/>
                        <a:t>7</a:t>
                      </a:r>
                      <a:endParaRPr lang="zh-CN" altLang="en-US" sz="1800" dirty="0"/>
                    </a:p>
                  </a:txBody>
                  <a:tcPr marT="45700" marB="45700"/>
                </a:tc>
                <a:tc>
                  <a:txBody>
                    <a:bodyPr/>
                    <a:lstStyle/>
                    <a:p>
                      <a:r>
                        <a:rPr lang="en-US" altLang="zh-CN" sz="1800" dirty="0"/>
                        <a:t>8</a:t>
                      </a:r>
                      <a:endParaRPr lang="zh-CN" altLang="en-US" sz="1800" dirty="0"/>
                    </a:p>
                  </a:txBody>
                  <a:tcPr marT="45700" marB="45700"/>
                </a:tc>
                <a:tc>
                  <a:txBody>
                    <a:bodyPr/>
                    <a:lstStyle/>
                    <a:p>
                      <a:r>
                        <a:rPr lang="en-US" altLang="zh-CN" sz="1800" dirty="0"/>
                        <a:t>11</a:t>
                      </a:r>
                      <a:endParaRPr lang="zh-CN" altLang="en-US" sz="1800" dirty="0"/>
                    </a:p>
                  </a:txBody>
                  <a:tcPr marT="45700" marB="45700"/>
                </a:tc>
                <a:tc>
                  <a:txBody>
                    <a:bodyPr/>
                    <a:lstStyle/>
                    <a:p>
                      <a:r>
                        <a:rPr lang="en-US" altLang="zh-CN" sz="1800" dirty="0"/>
                        <a:t>6</a:t>
                      </a:r>
                      <a:endParaRPr lang="zh-CN" altLang="en-US" sz="1800" dirty="0"/>
                    </a:p>
                  </a:txBody>
                  <a:tcPr marT="45700" marB="45700"/>
                </a:tc>
                <a:tc>
                  <a:txBody>
                    <a:bodyPr/>
                    <a:lstStyle/>
                    <a:p>
                      <a:r>
                        <a:rPr lang="en-US" altLang="zh-CN" sz="1800" dirty="0"/>
                        <a:t>9</a:t>
                      </a:r>
                      <a:endParaRPr lang="zh-CN" altLang="en-US" sz="1800" dirty="0"/>
                    </a:p>
                  </a:txBody>
                  <a:tcPr marT="45700" marB="45700"/>
                </a:tc>
                <a:tc>
                  <a:txBody>
                    <a:bodyPr/>
                    <a:lstStyle/>
                    <a:p>
                      <a:r>
                        <a:rPr lang="en-US" altLang="zh-CN" sz="1800" dirty="0"/>
                        <a:t>3</a:t>
                      </a:r>
                      <a:endParaRPr lang="zh-CN" altLang="en-US" sz="1800" dirty="0"/>
                    </a:p>
                  </a:txBody>
                  <a:tcPr marT="45700" marB="45700"/>
                </a:tc>
                <a:tc>
                  <a:txBody>
                    <a:bodyPr/>
                    <a:lstStyle/>
                    <a:p>
                      <a:r>
                        <a:rPr lang="en-US" altLang="zh-CN" sz="1800" dirty="0"/>
                        <a:t>8</a:t>
                      </a:r>
                      <a:endParaRPr lang="zh-CN" altLang="en-US" sz="1800" dirty="0"/>
                    </a:p>
                  </a:txBody>
                  <a:tcPr marT="45700" marB="45700"/>
                </a:tc>
                <a:tc>
                  <a:txBody>
                    <a:bodyPr/>
                    <a:lstStyle/>
                    <a:p>
                      <a:r>
                        <a:rPr lang="en-US" altLang="zh-CN" sz="1800" dirty="0"/>
                        <a:t>9</a:t>
                      </a:r>
                      <a:endParaRPr lang="zh-CN" altLang="en-US" sz="1800" dirty="0"/>
                    </a:p>
                  </a:txBody>
                  <a:tcPr marT="45700" marB="45700"/>
                </a:tc>
              </a:tr>
            </a:tbl>
          </a:graphicData>
        </a:graphic>
      </p:graphicFrame>
      <p:graphicFrame>
        <p:nvGraphicFramePr>
          <p:cNvPr id="24" name="表格 23"/>
          <p:cNvGraphicFramePr>
            <a:graphicFrameLocks noGrp="1"/>
          </p:cNvGraphicFramePr>
          <p:nvPr/>
        </p:nvGraphicFramePr>
        <p:xfrm>
          <a:off x="2209800" y="3713163"/>
          <a:ext cx="7543802" cy="741362"/>
        </p:xfrm>
        <a:graphic>
          <a:graphicData uri="http://schemas.openxmlformats.org/drawingml/2006/table">
            <a:tbl>
              <a:tblPr firstRow="1" bandRow="1">
                <a:tableStyleId>{5C22544A-7EE6-4342-B048-85BDC9FD1C3A}</a:tableStyleId>
              </a:tblPr>
              <a:tblGrid>
                <a:gridCol w="504820"/>
                <a:gridCol w="504820"/>
                <a:gridCol w="504820"/>
                <a:gridCol w="504820"/>
                <a:gridCol w="504820"/>
                <a:gridCol w="504820"/>
                <a:gridCol w="504820"/>
                <a:gridCol w="504820"/>
                <a:gridCol w="504820"/>
                <a:gridCol w="504820"/>
                <a:gridCol w="569958"/>
                <a:gridCol w="477842"/>
                <a:gridCol w="438162"/>
                <a:gridCol w="504820"/>
                <a:gridCol w="504820"/>
              </a:tblGrid>
              <a:tr h="370681">
                <a:tc>
                  <a:txBody>
                    <a:bodyPr/>
                    <a:lstStyle/>
                    <a:p>
                      <a:r>
                        <a:rPr lang="en-US" altLang="zh-CN" sz="1800" dirty="0">
                          <a:solidFill>
                            <a:schemeClr val="tx1"/>
                          </a:solidFill>
                        </a:rPr>
                        <a:t>0</a:t>
                      </a:r>
                      <a:endParaRPr lang="zh-CN" altLang="en-US" sz="1800" dirty="0">
                        <a:solidFill>
                          <a:schemeClr val="tx1"/>
                        </a:solidFill>
                      </a:endParaRPr>
                    </a:p>
                  </a:txBody>
                  <a:tcPr marT="45700" marB="45700"/>
                </a:tc>
                <a:tc>
                  <a:txBody>
                    <a:bodyPr/>
                    <a:lstStyle/>
                    <a:p>
                      <a:r>
                        <a:rPr lang="en-US" altLang="zh-CN" sz="1800" dirty="0">
                          <a:solidFill>
                            <a:schemeClr val="tx1"/>
                          </a:solidFill>
                        </a:rPr>
                        <a:t>1</a:t>
                      </a:r>
                      <a:endParaRPr lang="zh-CN" altLang="en-US" sz="1800" dirty="0">
                        <a:solidFill>
                          <a:schemeClr val="tx1"/>
                        </a:solidFill>
                      </a:endParaRPr>
                    </a:p>
                  </a:txBody>
                  <a:tcPr marT="45700" marB="45700"/>
                </a:tc>
                <a:tc>
                  <a:txBody>
                    <a:bodyPr/>
                    <a:lstStyle/>
                    <a:p>
                      <a:r>
                        <a:rPr lang="en-US" altLang="zh-CN" sz="1800" dirty="0">
                          <a:solidFill>
                            <a:schemeClr val="tx1"/>
                          </a:solidFill>
                        </a:rPr>
                        <a:t>2</a:t>
                      </a:r>
                      <a:endParaRPr lang="zh-CN" altLang="en-US" sz="1800" dirty="0">
                        <a:solidFill>
                          <a:schemeClr val="tx1"/>
                        </a:solidFill>
                      </a:endParaRPr>
                    </a:p>
                  </a:txBody>
                  <a:tcPr marT="45700" marB="45700"/>
                </a:tc>
                <a:tc>
                  <a:txBody>
                    <a:bodyPr/>
                    <a:lstStyle/>
                    <a:p>
                      <a:r>
                        <a:rPr lang="en-US" altLang="zh-CN" sz="1800" dirty="0">
                          <a:solidFill>
                            <a:schemeClr val="tx1"/>
                          </a:solidFill>
                        </a:rPr>
                        <a:t>3</a:t>
                      </a:r>
                      <a:endParaRPr lang="zh-CN" altLang="en-US" sz="1800" dirty="0">
                        <a:solidFill>
                          <a:schemeClr val="tx1"/>
                        </a:solidFill>
                      </a:endParaRPr>
                    </a:p>
                  </a:txBody>
                  <a:tcPr marT="45700" marB="45700"/>
                </a:tc>
                <a:tc>
                  <a:txBody>
                    <a:bodyPr/>
                    <a:lstStyle/>
                    <a:p>
                      <a:r>
                        <a:rPr lang="en-US" altLang="zh-CN" sz="1800" dirty="0">
                          <a:solidFill>
                            <a:schemeClr val="tx1"/>
                          </a:solidFill>
                        </a:rPr>
                        <a:t>4</a:t>
                      </a:r>
                      <a:endParaRPr lang="zh-CN" altLang="en-US" sz="1800" dirty="0">
                        <a:solidFill>
                          <a:schemeClr val="tx1"/>
                        </a:solidFill>
                      </a:endParaRPr>
                    </a:p>
                  </a:txBody>
                  <a:tcPr marT="45700" marB="45700"/>
                </a:tc>
                <a:tc>
                  <a:txBody>
                    <a:bodyPr/>
                    <a:lstStyle/>
                    <a:p>
                      <a:r>
                        <a:rPr lang="en-US" altLang="zh-CN" sz="1800" dirty="0">
                          <a:solidFill>
                            <a:schemeClr val="tx1"/>
                          </a:solidFill>
                        </a:rPr>
                        <a:t>5</a:t>
                      </a:r>
                      <a:endParaRPr lang="zh-CN" altLang="en-US" sz="1800" dirty="0">
                        <a:solidFill>
                          <a:schemeClr val="tx1"/>
                        </a:solidFill>
                      </a:endParaRPr>
                    </a:p>
                  </a:txBody>
                  <a:tcPr marT="45700" marB="45700"/>
                </a:tc>
                <a:tc>
                  <a:txBody>
                    <a:bodyPr/>
                    <a:lstStyle/>
                    <a:p>
                      <a:r>
                        <a:rPr lang="en-US" altLang="zh-CN" sz="1800" dirty="0">
                          <a:solidFill>
                            <a:schemeClr val="tx1"/>
                          </a:solidFill>
                        </a:rPr>
                        <a:t>6</a:t>
                      </a:r>
                      <a:endParaRPr lang="zh-CN" altLang="en-US" sz="1800" dirty="0">
                        <a:solidFill>
                          <a:schemeClr val="tx1"/>
                        </a:solidFill>
                      </a:endParaRPr>
                    </a:p>
                  </a:txBody>
                  <a:tcPr marT="45700" marB="45700"/>
                </a:tc>
                <a:tc>
                  <a:txBody>
                    <a:bodyPr/>
                    <a:lstStyle/>
                    <a:p>
                      <a:r>
                        <a:rPr lang="en-US" altLang="zh-CN" sz="1800" dirty="0">
                          <a:solidFill>
                            <a:schemeClr val="tx1"/>
                          </a:solidFill>
                        </a:rPr>
                        <a:t>7</a:t>
                      </a:r>
                      <a:endParaRPr lang="zh-CN" altLang="en-US" sz="1800" dirty="0">
                        <a:solidFill>
                          <a:schemeClr val="tx1"/>
                        </a:solidFill>
                      </a:endParaRPr>
                    </a:p>
                  </a:txBody>
                  <a:tcPr marT="45700" marB="45700"/>
                </a:tc>
                <a:tc>
                  <a:txBody>
                    <a:bodyPr/>
                    <a:lstStyle/>
                    <a:p>
                      <a:r>
                        <a:rPr lang="en-US" altLang="zh-CN" sz="1800" dirty="0">
                          <a:solidFill>
                            <a:schemeClr val="tx1"/>
                          </a:solidFill>
                        </a:rPr>
                        <a:t>8</a:t>
                      </a:r>
                      <a:endParaRPr lang="zh-CN" altLang="en-US" sz="1800" dirty="0">
                        <a:solidFill>
                          <a:schemeClr val="tx1"/>
                        </a:solidFill>
                      </a:endParaRPr>
                    </a:p>
                  </a:txBody>
                  <a:tcPr marT="45700" marB="45700"/>
                </a:tc>
                <a:tc>
                  <a:txBody>
                    <a:bodyPr/>
                    <a:lstStyle/>
                    <a:p>
                      <a:r>
                        <a:rPr lang="en-US" altLang="zh-CN" sz="1800" dirty="0">
                          <a:solidFill>
                            <a:schemeClr val="tx1"/>
                          </a:solidFill>
                        </a:rPr>
                        <a:t>9</a:t>
                      </a:r>
                      <a:endParaRPr lang="zh-CN" altLang="en-US" sz="1800" dirty="0">
                        <a:solidFill>
                          <a:schemeClr val="tx1"/>
                        </a:solidFill>
                      </a:endParaRPr>
                    </a:p>
                  </a:txBody>
                  <a:tcPr marT="45700" marB="45700"/>
                </a:tc>
                <a:tc>
                  <a:txBody>
                    <a:bodyPr/>
                    <a:lstStyle/>
                    <a:p>
                      <a:r>
                        <a:rPr lang="en-US" altLang="zh-CN" sz="1800" dirty="0">
                          <a:solidFill>
                            <a:schemeClr val="tx1"/>
                          </a:solidFill>
                        </a:rPr>
                        <a:t>10</a:t>
                      </a:r>
                      <a:endParaRPr lang="zh-CN" altLang="en-US" sz="1800" dirty="0">
                        <a:solidFill>
                          <a:schemeClr val="tx1"/>
                        </a:solidFill>
                      </a:endParaRPr>
                    </a:p>
                  </a:txBody>
                  <a:tcPr marT="45700" marB="45700"/>
                </a:tc>
                <a:tc>
                  <a:txBody>
                    <a:bodyPr/>
                    <a:lstStyle/>
                    <a:p>
                      <a:r>
                        <a:rPr lang="en-US" altLang="zh-CN" sz="1800" dirty="0">
                          <a:solidFill>
                            <a:schemeClr val="tx1"/>
                          </a:solidFill>
                        </a:rPr>
                        <a:t>11</a:t>
                      </a:r>
                      <a:endParaRPr lang="zh-CN" altLang="en-US" sz="1800" dirty="0">
                        <a:solidFill>
                          <a:schemeClr val="tx1"/>
                        </a:solidFill>
                      </a:endParaRPr>
                    </a:p>
                  </a:txBody>
                  <a:tcPr marT="45700" marB="45700"/>
                </a:tc>
                <a:tc>
                  <a:txBody>
                    <a:bodyPr/>
                    <a:lstStyle/>
                    <a:p>
                      <a:r>
                        <a:rPr lang="en-US" altLang="zh-CN" sz="1800" dirty="0">
                          <a:solidFill>
                            <a:schemeClr val="tx1"/>
                          </a:solidFill>
                        </a:rPr>
                        <a:t>12</a:t>
                      </a:r>
                      <a:endParaRPr lang="zh-CN" altLang="en-US" sz="1800" dirty="0">
                        <a:solidFill>
                          <a:schemeClr val="tx1"/>
                        </a:solidFill>
                      </a:endParaRPr>
                    </a:p>
                  </a:txBody>
                  <a:tcPr marT="45700" marB="45700"/>
                </a:tc>
                <a:tc>
                  <a:txBody>
                    <a:bodyPr/>
                    <a:lstStyle/>
                    <a:p>
                      <a:r>
                        <a:rPr lang="en-US" altLang="zh-CN" sz="1800" dirty="0">
                          <a:solidFill>
                            <a:schemeClr val="tx1"/>
                          </a:solidFill>
                        </a:rPr>
                        <a:t>13</a:t>
                      </a:r>
                      <a:endParaRPr lang="zh-CN" altLang="en-US" sz="1800" dirty="0">
                        <a:solidFill>
                          <a:schemeClr val="tx1"/>
                        </a:solidFill>
                      </a:endParaRPr>
                    </a:p>
                  </a:txBody>
                  <a:tcPr marT="45700" marB="45700"/>
                </a:tc>
                <a:tc>
                  <a:txBody>
                    <a:bodyPr/>
                    <a:lstStyle/>
                    <a:p>
                      <a:r>
                        <a:rPr lang="en-US" altLang="zh-CN" sz="1800" dirty="0">
                          <a:solidFill>
                            <a:schemeClr val="tx1"/>
                          </a:solidFill>
                        </a:rPr>
                        <a:t>14</a:t>
                      </a:r>
                      <a:endParaRPr lang="zh-CN" altLang="en-US" sz="1800" dirty="0">
                        <a:solidFill>
                          <a:schemeClr val="tx1"/>
                        </a:solidFill>
                      </a:endParaRPr>
                    </a:p>
                  </a:txBody>
                  <a:tcPr marT="45700" marB="45700"/>
                </a:tc>
              </a:tr>
              <a:tr h="370681">
                <a:tc>
                  <a:txBody>
                    <a:bodyPr/>
                    <a:lstStyle/>
                    <a:p>
                      <a:r>
                        <a:rPr lang="en-US" altLang="zh-CN" sz="1800" dirty="0"/>
                        <a:t>26</a:t>
                      </a:r>
                      <a:endParaRPr lang="zh-CN" altLang="en-US" sz="1800" dirty="0"/>
                    </a:p>
                  </a:txBody>
                  <a:tcPr marT="45700" marB="45700"/>
                </a:tc>
                <a:tc>
                  <a:txBody>
                    <a:bodyPr/>
                    <a:lstStyle/>
                    <a:p>
                      <a:endParaRPr lang="zh-CN" altLang="en-US" sz="1800"/>
                    </a:p>
                  </a:txBody>
                  <a:tcPr marT="45700" marB="45700"/>
                </a:tc>
                <a:tc>
                  <a:txBody>
                    <a:bodyPr/>
                    <a:lstStyle/>
                    <a:p>
                      <a:endParaRPr lang="zh-CN" altLang="en-US" sz="1800"/>
                    </a:p>
                  </a:txBody>
                  <a:tcPr marT="45700" marB="45700"/>
                </a:tc>
                <a:tc>
                  <a:txBody>
                    <a:bodyPr/>
                    <a:lstStyle/>
                    <a:p>
                      <a:r>
                        <a:rPr lang="en-US" altLang="zh-CN" sz="1800" dirty="0"/>
                        <a:t>42</a:t>
                      </a:r>
                      <a:endParaRPr lang="zh-CN" altLang="en-US" sz="1800" dirty="0"/>
                    </a:p>
                  </a:txBody>
                  <a:tcPr marT="45700" marB="45700"/>
                </a:tc>
                <a:tc>
                  <a:txBody>
                    <a:bodyPr/>
                    <a:lstStyle/>
                    <a:p>
                      <a:r>
                        <a:rPr lang="en-US" altLang="zh-CN" sz="1800" dirty="0"/>
                        <a:t>60</a:t>
                      </a:r>
                      <a:endParaRPr lang="zh-CN" altLang="en-US" sz="1800" dirty="0"/>
                    </a:p>
                  </a:txBody>
                  <a:tcPr marT="45700" marB="45700"/>
                </a:tc>
                <a:tc>
                  <a:txBody>
                    <a:bodyPr/>
                    <a:lstStyle/>
                    <a:p>
                      <a:r>
                        <a:rPr lang="en-US" altLang="zh-CN" sz="1800" dirty="0"/>
                        <a:t>45</a:t>
                      </a:r>
                      <a:endParaRPr lang="zh-CN" altLang="en-US" sz="1800" dirty="0"/>
                    </a:p>
                  </a:txBody>
                  <a:tcPr marT="45700" marB="45700"/>
                </a:tc>
                <a:tc>
                  <a:txBody>
                    <a:bodyPr/>
                    <a:lstStyle/>
                    <a:p>
                      <a:r>
                        <a:rPr lang="en-US" altLang="zh-CN" sz="1800" dirty="0"/>
                        <a:t>46</a:t>
                      </a:r>
                      <a:endParaRPr lang="zh-CN" altLang="en-US" sz="1800" dirty="0"/>
                    </a:p>
                  </a:txBody>
                  <a:tcPr marT="45700" marB="45700"/>
                </a:tc>
                <a:tc>
                  <a:txBody>
                    <a:bodyPr/>
                    <a:lstStyle/>
                    <a:p>
                      <a:r>
                        <a:rPr lang="en-US" altLang="zh-CN" sz="1800" dirty="0"/>
                        <a:t>20</a:t>
                      </a:r>
                      <a:endParaRPr lang="zh-CN" altLang="en-US" sz="1800" dirty="0"/>
                    </a:p>
                  </a:txBody>
                  <a:tcPr marT="45700" marB="45700"/>
                </a:tc>
                <a:tc>
                  <a:txBody>
                    <a:bodyPr/>
                    <a:lstStyle/>
                    <a:p>
                      <a:r>
                        <a:rPr lang="en-US" altLang="zh-CN" sz="1800" dirty="0"/>
                        <a:t>33</a:t>
                      </a:r>
                      <a:endParaRPr lang="zh-CN" altLang="en-US" sz="1800" dirty="0"/>
                    </a:p>
                  </a:txBody>
                  <a:tcPr marT="45700" marB="45700"/>
                </a:tc>
                <a:tc>
                  <a:txBody>
                    <a:bodyPr/>
                    <a:lstStyle/>
                    <a:p>
                      <a:r>
                        <a:rPr lang="en-US" altLang="zh-CN" sz="1800" dirty="0"/>
                        <a:t>21</a:t>
                      </a:r>
                      <a:endParaRPr lang="zh-CN" altLang="en-US" sz="1800" dirty="0"/>
                    </a:p>
                  </a:txBody>
                  <a:tcPr marT="45700" marB="45700"/>
                </a:tc>
                <a:tc>
                  <a:txBody>
                    <a:bodyPr/>
                    <a:lstStyle/>
                    <a:p>
                      <a:r>
                        <a:rPr lang="en-US" altLang="zh-CN" sz="1800" dirty="0"/>
                        <a:t>204</a:t>
                      </a:r>
                      <a:endParaRPr lang="zh-CN" altLang="en-US" sz="1800" dirty="0"/>
                    </a:p>
                  </a:txBody>
                  <a:tcPr marT="45700" marB="45700"/>
                </a:tc>
                <a:tc>
                  <a:txBody>
                    <a:bodyPr/>
                    <a:lstStyle/>
                    <a:p>
                      <a:r>
                        <a:rPr lang="en-US" altLang="zh-CN" sz="1800" dirty="0"/>
                        <a:t>24</a:t>
                      </a:r>
                      <a:endParaRPr lang="zh-CN" altLang="en-US" sz="1800" dirty="0"/>
                    </a:p>
                  </a:txBody>
                  <a:tcPr marT="45700" marB="45700"/>
                </a:tc>
                <a:tc>
                  <a:txBody>
                    <a:bodyPr/>
                    <a:lstStyle/>
                    <a:p>
                      <a:r>
                        <a:rPr lang="en-US" altLang="zh-CN" sz="1800" dirty="0"/>
                        <a:t>25</a:t>
                      </a:r>
                      <a:endParaRPr lang="zh-CN" altLang="en-US" sz="1800" dirty="0"/>
                    </a:p>
                  </a:txBody>
                  <a:tcPr marT="45700" marB="45700"/>
                </a:tc>
                <a:tc>
                  <a:txBody>
                    <a:bodyPr/>
                    <a:lstStyle/>
                    <a:p>
                      <a:r>
                        <a:rPr lang="en-US" altLang="zh-CN" sz="1800" dirty="0"/>
                        <a:t>74</a:t>
                      </a:r>
                      <a:endParaRPr lang="zh-CN" altLang="en-US" sz="1800" dirty="0"/>
                    </a:p>
                  </a:txBody>
                  <a:tcPr marT="45700" marB="45700"/>
                </a:tc>
                <a:tc>
                  <a:txBody>
                    <a:bodyPr/>
                    <a:lstStyle/>
                    <a:p>
                      <a:endParaRPr lang="zh-CN" altLang="en-US" sz="1800" dirty="0"/>
                    </a:p>
                  </a:txBody>
                  <a:tcPr marT="45700" marB="45700"/>
                </a:tc>
              </a:tr>
            </a:tbl>
          </a:graphicData>
        </a:graphic>
      </p:graphicFrame>
      <p:sp>
        <p:nvSpPr>
          <p:cNvPr id="25" name="TextBox 9"/>
          <p:cNvSpPr txBox="1">
            <a:spLocks noChangeArrowheads="1"/>
          </p:cNvSpPr>
          <p:nvPr/>
        </p:nvSpPr>
        <p:spPr bwMode="auto">
          <a:xfrm>
            <a:off x="2286000" y="2946400"/>
            <a:ext cx="426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en-US" b="0" dirty="0">
                <a:latin typeface="微软雅黑" panose="020B0503020204020204" pitchFamily="34" charset="-122"/>
                <a:ea typeface="微软雅黑" panose="020B0503020204020204" pitchFamily="34" charset="-122"/>
              </a:rPr>
              <a:t>构造哈希表如下：</a:t>
            </a:r>
            <a:endParaRPr lang="zh-CN" altLang="en-US" b="0" dirty="0">
              <a:latin typeface="微软雅黑" panose="020B0503020204020204" pitchFamily="34" charset="-122"/>
              <a:ea typeface="微软雅黑" panose="020B0503020204020204" pitchFamily="34" charset="-122"/>
            </a:endParaRPr>
          </a:p>
        </p:txBody>
      </p:sp>
      <p:sp>
        <p:nvSpPr>
          <p:cNvPr id="26" name="TextBox 22"/>
          <p:cNvSpPr txBox="1">
            <a:spLocks noChangeArrowheads="1"/>
          </p:cNvSpPr>
          <p:nvPr/>
        </p:nvSpPr>
        <p:spPr bwMode="auto">
          <a:xfrm>
            <a:off x="2209800" y="4779963"/>
            <a:ext cx="723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b="0">
                <a:solidFill>
                  <a:srgbClr val="FF0000"/>
                </a:solidFill>
              </a:rPr>
              <a:t>ASL=</a:t>
            </a:r>
            <a:r>
              <a:rPr lang="zh-CN" altLang="en-US" b="0">
                <a:solidFill>
                  <a:srgbClr val="FF0000"/>
                </a:solidFill>
              </a:rPr>
              <a:t>（</a:t>
            </a:r>
            <a:r>
              <a:rPr lang="en-US" altLang="zh-CN" b="0">
                <a:solidFill>
                  <a:srgbClr val="FF0000"/>
                </a:solidFill>
              </a:rPr>
              <a:t>1+1+1+2+3+2+1+3+2+1+5+4</a:t>
            </a:r>
            <a:r>
              <a:rPr lang="zh-CN" altLang="en-US" b="0">
                <a:solidFill>
                  <a:srgbClr val="FF0000"/>
                </a:solidFill>
              </a:rPr>
              <a:t>）</a:t>
            </a:r>
            <a:r>
              <a:rPr lang="en-US" altLang="zh-CN" b="0">
                <a:solidFill>
                  <a:srgbClr val="FF0000"/>
                </a:solidFill>
              </a:rPr>
              <a:t>/12=26/12</a:t>
            </a:r>
            <a:endParaRPr lang="zh-CN" altLang="en-US" b="0">
              <a:solidFill>
                <a:srgbClr val="FF0000"/>
              </a:solidFill>
            </a:endParaRPr>
          </a:p>
        </p:txBody>
      </p:sp>
      <p:sp>
        <p:nvSpPr>
          <p:cNvPr id="27" name="TextBox 24"/>
          <p:cNvSpPr txBox="1">
            <a:spLocks noChangeArrowheads="1"/>
          </p:cNvSpPr>
          <p:nvPr/>
        </p:nvSpPr>
        <p:spPr bwMode="auto">
          <a:xfrm>
            <a:off x="2552700" y="5451901"/>
            <a:ext cx="7086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zh-CN" altLang="en-US" dirty="0">
                <a:latin typeface="微软雅黑" panose="020B0503020204020204" pitchFamily="34" charset="-122"/>
                <a:ea typeface="微软雅黑" panose="020B0503020204020204" pitchFamily="34" charset="-122"/>
              </a:rPr>
              <a:t>开放定址法解决冲突构成的哈希表，不能随意删除表中的元素（关键字），否则会影响后面的查找。</a:t>
            </a:r>
            <a:endParaRPr lang="zh-CN" altLang="en-US" dirty="0">
              <a:latin typeface="微软雅黑" panose="020B0503020204020204" pitchFamily="34" charset="-122"/>
              <a:ea typeface="微软雅黑" panose="020B0503020204020204" pitchFamily="34" charset="-122"/>
            </a:endParaRPr>
          </a:p>
        </p:txBody>
      </p:sp>
      <p:sp>
        <p:nvSpPr>
          <p:cNvPr id="28" name="矩形 27"/>
          <p:cNvSpPr/>
          <p:nvPr/>
        </p:nvSpPr>
        <p:spPr bwMode="auto">
          <a:xfrm>
            <a:off x="2286000" y="4106863"/>
            <a:ext cx="304800"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29" name="矩形 28"/>
          <p:cNvSpPr/>
          <p:nvPr/>
        </p:nvSpPr>
        <p:spPr bwMode="auto">
          <a:xfrm>
            <a:off x="8382000" y="4103688"/>
            <a:ext cx="304800"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0" name="矩形 29"/>
          <p:cNvSpPr/>
          <p:nvPr/>
        </p:nvSpPr>
        <p:spPr bwMode="auto">
          <a:xfrm>
            <a:off x="5838825" y="4103688"/>
            <a:ext cx="304800"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1" name="矩形 30"/>
          <p:cNvSpPr/>
          <p:nvPr/>
        </p:nvSpPr>
        <p:spPr bwMode="auto">
          <a:xfrm>
            <a:off x="6324600" y="4102100"/>
            <a:ext cx="304800" cy="2635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2" name="矩形 31"/>
          <p:cNvSpPr/>
          <p:nvPr/>
        </p:nvSpPr>
        <p:spPr bwMode="auto">
          <a:xfrm>
            <a:off x="5303838" y="4089400"/>
            <a:ext cx="334962"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3" name="矩形 32"/>
          <p:cNvSpPr/>
          <p:nvPr/>
        </p:nvSpPr>
        <p:spPr bwMode="auto">
          <a:xfrm>
            <a:off x="6843713" y="4105275"/>
            <a:ext cx="304800"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4" name="矩形 33"/>
          <p:cNvSpPr/>
          <p:nvPr/>
        </p:nvSpPr>
        <p:spPr bwMode="auto">
          <a:xfrm>
            <a:off x="4814888" y="4122738"/>
            <a:ext cx="304800"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5" name="矩形 34"/>
          <p:cNvSpPr/>
          <p:nvPr/>
        </p:nvSpPr>
        <p:spPr bwMode="auto">
          <a:xfrm>
            <a:off x="7362825" y="4089400"/>
            <a:ext cx="441325" cy="2762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6" name="矩形 35"/>
          <p:cNvSpPr/>
          <p:nvPr/>
        </p:nvSpPr>
        <p:spPr bwMode="auto">
          <a:xfrm>
            <a:off x="3776663" y="4105275"/>
            <a:ext cx="304800"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7" name="矩形 36"/>
          <p:cNvSpPr/>
          <p:nvPr/>
        </p:nvSpPr>
        <p:spPr bwMode="auto">
          <a:xfrm>
            <a:off x="4343400" y="4089400"/>
            <a:ext cx="304800"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8" name="矩形 37"/>
          <p:cNvSpPr/>
          <p:nvPr/>
        </p:nvSpPr>
        <p:spPr bwMode="auto">
          <a:xfrm>
            <a:off x="8839200" y="4103688"/>
            <a:ext cx="304800"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
        <p:nvSpPr>
          <p:cNvPr id="39" name="矩形 38"/>
          <p:cNvSpPr/>
          <p:nvPr/>
        </p:nvSpPr>
        <p:spPr bwMode="auto">
          <a:xfrm>
            <a:off x="7924800" y="4089400"/>
            <a:ext cx="304800" cy="288925"/>
          </a:xfrm>
          <a:prstGeom prst="rect">
            <a:avLst/>
          </a:prstGeom>
          <a:solidFill>
            <a:schemeClr val="accent1">
              <a:lumMod val="40000"/>
              <a:lumOff val="60000"/>
            </a:schemeClr>
          </a:solidFill>
          <a:ln w="3175" cap="flat" cmpd="sng" algn="ctr">
            <a:noFill/>
            <a:prstDash val="solid"/>
            <a:round/>
            <a:headEnd type="none" w="med" len="med"/>
            <a:tailEnd type="none" w="med" len="med"/>
          </a:ln>
          <a:effectLst/>
        </p:spPr>
        <p:txBody>
          <a:bodyPr lIns="90000" tIns="46800" rIns="90000" bIns="46800" anchor="ctr"/>
          <a:lstStyle/>
          <a:p>
            <a:pPr algn="ctr" eaLnBrk="1" hangingPunct="1">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ppt_x"/>
                                          </p:val>
                                        </p:tav>
                                        <p:tav tm="100000">
                                          <p:val>
                                            <p:strVal val="#ppt_x"/>
                                          </p:val>
                                        </p:tav>
                                      </p:tavLst>
                                    </p:anim>
                                    <p:anim calcmode="lin" valueType="num">
                                      <p:cBhvr additive="base">
                                        <p:cTn id="13"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blinds(horizontal)">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1000"/>
                                        <p:tgtEl>
                                          <p:spTgt spid="26"/>
                                        </p:tgtEl>
                                      </p:cBhvr>
                                    </p:animEffect>
                                    <p:anim calcmode="lin" valueType="num">
                                      <p:cBhvr>
                                        <p:cTn id="24" dur="1000" fill="hold"/>
                                        <p:tgtEl>
                                          <p:spTgt spid="26"/>
                                        </p:tgtEl>
                                        <p:attrNameLst>
                                          <p:attrName>ppt_x</p:attrName>
                                        </p:attrNameLst>
                                      </p:cBhvr>
                                      <p:tavLst>
                                        <p:tav tm="0">
                                          <p:val>
                                            <p:strVal val="#ppt_x"/>
                                          </p:val>
                                        </p:tav>
                                        <p:tav tm="100000">
                                          <p:val>
                                            <p:strVal val="#ppt_x"/>
                                          </p:val>
                                        </p:tav>
                                      </p:tavLst>
                                    </p:anim>
                                    <p:anim calcmode="lin" valueType="num">
                                      <p:cBhvr>
                                        <p:cTn id="25"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0"/>
                                  </p:stCondLst>
                                  <p:childTnLst>
                                    <p:animEffect transition="out" filter="fade">
                                      <p:cBhvr>
                                        <p:cTn id="29" dur="500"/>
                                        <p:tgtEl>
                                          <p:spTgt spid="28"/>
                                        </p:tgtEl>
                                      </p:cBhvr>
                                    </p:animEffect>
                                    <p:set>
                                      <p:cBhvr>
                                        <p:cTn id="30" dur="1" fill="hold">
                                          <p:stCondLst>
                                            <p:cond delay="499"/>
                                          </p:stCondLst>
                                        </p:cTn>
                                        <p:tgtEl>
                                          <p:spTgt spid="2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0" nodeType="clickEffect">
                                  <p:stCondLst>
                                    <p:cond delay="0"/>
                                  </p:stCondLst>
                                  <p:childTnLst>
                                    <p:animEffect transition="out" filter="fade">
                                      <p:cBhvr>
                                        <p:cTn id="34" dur="500"/>
                                        <p:tgtEl>
                                          <p:spTgt spid="29"/>
                                        </p:tgtEl>
                                      </p:cBhvr>
                                    </p:animEffect>
                                    <p:set>
                                      <p:cBhvr>
                                        <p:cTn id="35" dur="1" fill="hold">
                                          <p:stCondLst>
                                            <p:cond delay="499"/>
                                          </p:stCondLst>
                                        </p:cTn>
                                        <p:tgtEl>
                                          <p:spTgt spid="29"/>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0" nodeType="clickEffect">
                                  <p:stCondLst>
                                    <p:cond delay="0"/>
                                  </p:stCondLst>
                                  <p:childTnLst>
                                    <p:animEffect transition="out" filter="fade">
                                      <p:cBhvr>
                                        <p:cTn id="39" dur="500"/>
                                        <p:tgtEl>
                                          <p:spTgt spid="30"/>
                                        </p:tgtEl>
                                      </p:cBhvr>
                                    </p:animEffect>
                                    <p:set>
                                      <p:cBhvr>
                                        <p:cTn id="40" dur="1" fill="hold">
                                          <p:stCondLst>
                                            <p:cond delay="499"/>
                                          </p:stCondLst>
                                        </p:cTn>
                                        <p:tgtEl>
                                          <p:spTgt spid="3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0" nodeType="clickEffect">
                                  <p:stCondLst>
                                    <p:cond delay="0"/>
                                  </p:stCondLst>
                                  <p:childTnLst>
                                    <p:animEffect transition="out" filter="fade">
                                      <p:cBhvr>
                                        <p:cTn id="44" dur="500"/>
                                        <p:tgtEl>
                                          <p:spTgt spid="31"/>
                                        </p:tgtEl>
                                      </p:cBhvr>
                                    </p:animEffect>
                                    <p:set>
                                      <p:cBhvr>
                                        <p:cTn id="45" dur="1" fill="hold">
                                          <p:stCondLst>
                                            <p:cond delay="499"/>
                                          </p:stCondLst>
                                        </p:cTn>
                                        <p:tgtEl>
                                          <p:spTgt spid="31"/>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grpId="0" nodeType="clickEffect">
                                  <p:stCondLst>
                                    <p:cond delay="0"/>
                                  </p:stCondLst>
                                  <p:childTnLst>
                                    <p:animEffect transition="out" filter="fade">
                                      <p:cBhvr>
                                        <p:cTn id="49" dur="500"/>
                                        <p:tgtEl>
                                          <p:spTgt spid="32"/>
                                        </p:tgtEl>
                                      </p:cBhvr>
                                    </p:animEffect>
                                    <p:set>
                                      <p:cBhvr>
                                        <p:cTn id="50" dur="1" fill="hold">
                                          <p:stCondLst>
                                            <p:cond delay="499"/>
                                          </p:stCondLst>
                                        </p:cTn>
                                        <p:tgtEl>
                                          <p:spTgt spid="3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0" nodeType="clickEffect">
                                  <p:stCondLst>
                                    <p:cond delay="0"/>
                                  </p:stCondLst>
                                  <p:childTnLst>
                                    <p:animEffect transition="out" filter="fade">
                                      <p:cBhvr>
                                        <p:cTn id="54" dur="500"/>
                                        <p:tgtEl>
                                          <p:spTgt spid="33"/>
                                        </p:tgtEl>
                                      </p:cBhvr>
                                    </p:animEffect>
                                    <p:set>
                                      <p:cBhvr>
                                        <p:cTn id="55" dur="1" fill="hold">
                                          <p:stCondLst>
                                            <p:cond delay="499"/>
                                          </p:stCondLst>
                                        </p:cTn>
                                        <p:tgtEl>
                                          <p:spTgt spid="33"/>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0" nodeType="clickEffect">
                                  <p:stCondLst>
                                    <p:cond delay="0"/>
                                  </p:stCondLst>
                                  <p:childTnLst>
                                    <p:animEffect transition="out" filter="fade">
                                      <p:cBhvr>
                                        <p:cTn id="59" dur="500"/>
                                        <p:tgtEl>
                                          <p:spTgt spid="39"/>
                                        </p:tgtEl>
                                      </p:cBhvr>
                                    </p:animEffect>
                                    <p:set>
                                      <p:cBhvr>
                                        <p:cTn id="60" dur="1" fill="hold">
                                          <p:stCondLst>
                                            <p:cond delay="499"/>
                                          </p:stCondLst>
                                        </p:cTn>
                                        <p:tgtEl>
                                          <p:spTgt spid="39"/>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0" nodeType="clickEffect">
                                  <p:stCondLst>
                                    <p:cond delay="0"/>
                                  </p:stCondLst>
                                  <p:childTnLst>
                                    <p:animEffect transition="out" filter="fade">
                                      <p:cBhvr>
                                        <p:cTn id="64" dur="500"/>
                                        <p:tgtEl>
                                          <p:spTgt spid="34"/>
                                        </p:tgtEl>
                                      </p:cBhvr>
                                    </p:animEffect>
                                    <p:set>
                                      <p:cBhvr>
                                        <p:cTn id="65" dur="1" fill="hold">
                                          <p:stCondLst>
                                            <p:cond delay="499"/>
                                          </p:stCondLst>
                                        </p:cTn>
                                        <p:tgtEl>
                                          <p:spTgt spid="34"/>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0" nodeType="clickEffect">
                                  <p:stCondLst>
                                    <p:cond delay="0"/>
                                  </p:stCondLst>
                                  <p:childTnLst>
                                    <p:animEffect transition="out" filter="fade">
                                      <p:cBhvr>
                                        <p:cTn id="69" dur="500"/>
                                        <p:tgtEl>
                                          <p:spTgt spid="35"/>
                                        </p:tgtEl>
                                      </p:cBhvr>
                                    </p:animEffect>
                                    <p:set>
                                      <p:cBhvr>
                                        <p:cTn id="70" dur="1" fill="hold">
                                          <p:stCondLst>
                                            <p:cond delay="499"/>
                                          </p:stCondLst>
                                        </p:cTn>
                                        <p:tgtEl>
                                          <p:spTgt spid="35"/>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grpId="0" nodeType="clickEffect">
                                  <p:stCondLst>
                                    <p:cond delay="0"/>
                                  </p:stCondLst>
                                  <p:childTnLst>
                                    <p:animEffect transition="out" filter="fade">
                                      <p:cBhvr>
                                        <p:cTn id="74" dur="500"/>
                                        <p:tgtEl>
                                          <p:spTgt spid="36"/>
                                        </p:tgtEl>
                                      </p:cBhvr>
                                    </p:animEffect>
                                    <p:set>
                                      <p:cBhvr>
                                        <p:cTn id="75" dur="1" fill="hold">
                                          <p:stCondLst>
                                            <p:cond delay="499"/>
                                          </p:stCondLst>
                                        </p:cTn>
                                        <p:tgtEl>
                                          <p:spTgt spid="36"/>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grpId="0" nodeType="clickEffect">
                                  <p:stCondLst>
                                    <p:cond delay="0"/>
                                  </p:stCondLst>
                                  <p:childTnLst>
                                    <p:animEffect transition="out" filter="fade">
                                      <p:cBhvr>
                                        <p:cTn id="79" dur="500"/>
                                        <p:tgtEl>
                                          <p:spTgt spid="37"/>
                                        </p:tgtEl>
                                      </p:cBhvr>
                                    </p:animEffect>
                                    <p:set>
                                      <p:cBhvr>
                                        <p:cTn id="80" dur="1" fill="hold">
                                          <p:stCondLst>
                                            <p:cond delay="499"/>
                                          </p:stCondLst>
                                        </p:cTn>
                                        <p:tgtEl>
                                          <p:spTgt spid="37"/>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0" presetClass="exit" presetSubtype="0" fill="hold" grpId="0" nodeType="clickEffect">
                                  <p:stCondLst>
                                    <p:cond delay="0"/>
                                  </p:stCondLst>
                                  <p:childTnLst>
                                    <p:animEffect transition="out" filter="fade">
                                      <p:cBhvr>
                                        <p:cTn id="84" dur="500"/>
                                        <p:tgtEl>
                                          <p:spTgt spid="38"/>
                                        </p:tgtEl>
                                      </p:cBhvr>
                                    </p:animEffect>
                                    <p:set>
                                      <p:cBhvr>
                                        <p:cTn id="85" dur="1" fill="hold">
                                          <p:stCondLst>
                                            <p:cond delay="499"/>
                                          </p:stCondLst>
                                        </p:cTn>
                                        <p:tgtEl>
                                          <p:spTgt spid="38"/>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grpId="0"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box(in)">
                                      <p:cBhvr>
                                        <p:cTn id="9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处理冲突的办法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 name="内容占位符 2"/>
          <p:cNvSpPr>
            <a:spLocks noGrp="1"/>
          </p:cNvSpPr>
          <p:nvPr>
            <p:ph idx="1"/>
          </p:nvPr>
        </p:nvSpPr>
        <p:spPr>
          <a:xfrm>
            <a:off x="694266" y="990600"/>
            <a:ext cx="10735733" cy="4876800"/>
          </a:xfrm>
        </p:spPr>
        <p:txBody>
          <a:bodyPr>
            <a:normAutofit/>
          </a:bodyPr>
          <a:lstStyle/>
          <a:p>
            <a:pPr>
              <a:lnSpc>
                <a:spcPct val="125000"/>
              </a:lnSpc>
            </a:pPr>
            <a:r>
              <a:rPr lang="zh-CN" altLang="en-US" sz="2400" b="1" u="sng" dirty="0">
                <a:latin typeface="微软雅黑" panose="020B0503020204020204" pitchFamily="34" charset="-122"/>
                <a:ea typeface="微软雅黑" panose="020B0503020204020204" pitchFamily="34" charset="-122"/>
              </a:rPr>
              <a:t>再哈希法</a:t>
            </a:r>
            <a:endParaRPr lang="en-US" altLang="zh-CN" sz="2400" b="1" u="sng"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方法</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构造若干个哈希函数，当发生冲突时，计算下一个哈希地址，即：</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180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err="1">
                <a:latin typeface="Times New Roman" panose="02020603050405020304" pitchFamily="18" charset="0"/>
                <a:ea typeface="微软雅黑" panose="020B0503020204020204" pitchFamily="34" charset="-122"/>
                <a:cs typeface="Times New Roman" panose="02020603050405020304" pitchFamily="18" charset="0"/>
              </a:rPr>
              <a:t>Rh</a:t>
            </a:r>
            <a:r>
              <a:rPr lang="en-US" altLang="zh-CN" sz="1800" i="1"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key</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=1,2,……</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k</a:t>
            </a:r>
            <a:b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br>
            <a:r>
              <a:rPr lang="zh-CN" altLang="en-US" sz="1800" dirty="0">
                <a:latin typeface="微软雅黑" panose="020B0503020204020204" pitchFamily="34" charset="-122"/>
                <a:ea typeface="微软雅黑" panose="020B0503020204020204" pitchFamily="34" charset="-122"/>
              </a:rPr>
              <a:t>其中：</a:t>
            </a:r>
            <a:r>
              <a:rPr lang="en-US" altLang="zh-CN" sz="18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i="1" dirty="0" err="1">
                <a:latin typeface="Times New Roman" panose="02020603050405020304" pitchFamily="18" charset="0"/>
                <a:ea typeface="微软雅黑" panose="020B0503020204020204" pitchFamily="34" charset="-122"/>
                <a:cs typeface="Times New Roman" panose="02020603050405020304" pitchFamily="18" charset="0"/>
              </a:rPr>
              <a:t>Rh</a:t>
            </a:r>
            <a:r>
              <a:rPr lang="en-US" altLang="zh-CN" sz="1800" i="1" baseline="-25000"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dirty="0">
                <a:latin typeface="微软雅黑" panose="020B0503020204020204" pitchFamily="34" charset="-122"/>
                <a:ea typeface="微软雅黑" panose="020B0503020204020204" pitchFamily="34" charset="-122"/>
              </a:rPr>
              <a:t>为不同的哈希函数</a:t>
            </a:r>
            <a:endParaRPr lang="en-US" altLang="zh-CN" sz="18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特点</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计算时间增加</a:t>
            </a:r>
            <a:endParaRPr lang="zh-CN" altLang="en-US" sz="1800" dirty="0">
              <a:latin typeface="微软雅黑" panose="020B0503020204020204" pitchFamily="34" charset="-122"/>
              <a:ea typeface="微软雅黑" panose="020B0503020204020204" pitchFamily="34" charset="-122"/>
            </a:endParaRPr>
          </a:p>
          <a:p>
            <a:pPr>
              <a:lnSpc>
                <a:spcPct val="125000"/>
              </a:lnSpc>
            </a:pPr>
            <a:r>
              <a:rPr lang="zh-CN" altLang="en-US" sz="2400" b="1" u="sng" dirty="0">
                <a:latin typeface="微软雅黑" panose="020B0503020204020204" pitchFamily="34" charset="-122"/>
                <a:ea typeface="微软雅黑" panose="020B0503020204020204" pitchFamily="34" charset="-122"/>
              </a:rPr>
              <a:t>链地址法</a:t>
            </a:r>
            <a:endParaRPr lang="en-US" altLang="zh-CN" sz="2400" b="1" u="sng"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方法</a:t>
            </a:r>
            <a:endParaRPr lang="en-US" altLang="zh-CN" sz="2000" dirty="0">
              <a:latin typeface="微软雅黑" panose="020B0503020204020204" pitchFamily="34" charset="-122"/>
              <a:ea typeface="微软雅黑" panose="020B0503020204020204" pitchFamily="34" charset="-122"/>
            </a:endParaRPr>
          </a:p>
          <a:p>
            <a:pPr lvl="2">
              <a:lnSpc>
                <a:spcPct val="125000"/>
              </a:lnSpc>
            </a:pPr>
            <a:r>
              <a:rPr lang="zh-CN" altLang="en-US" sz="1800" dirty="0">
                <a:latin typeface="微软雅黑" panose="020B0503020204020204" pitchFamily="34" charset="-122"/>
                <a:ea typeface="微软雅黑" panose="020B0503020204020204" pitchFamily="34" charset="-122"/>
              </a:rPr>
              <a:t>将所有关键字为同义词的记录存储在一个单链表中，并用一维数组存放头指针</a:t>
            </a:r>
            <a:endParaRPr lang="zh-CN" altLang="en-US" sz="18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处理冲突的办法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 name="Object 1"/>
          <p:cNvGraphicFramePr>
            <a:graphicFrameLocks noChangeAspect="1"/>
          </p:cNvGraphicFramePr>
          <p:nvPr/>
        </p:nvGraphicFramePr>
        <p:xfrm>
          <a:off x="581025" y="1295400"/>
          <a:ext cx="4611688" cy="5410200"/>
        </p:xfrm>
        <a:graphic>
          <a:graphicData uri="http://schemas.openxmlformats.org/presentationml/2006/ole">
            <mc:AlternateContent xmlns:mc="http://schemas.openxmlformats.org/markup-compatibility/2006">
              <mc:Choice xmlns:v="urn:schemas-microsoft-com:vml" Requires="v">
                <p:oleObj spid="_x0000_s3077" name="Visio" r:id="rId1" imgW="3403600" imgH="3822700" progId="Visio.Drawing.11">
                  <p:embed/>
                </p:oleObj>
              </mc:Choice>
              <mc:Fallback>
                <p:oleObj name="Visio" r:id="rId1" imgW="3403600" imgH="38227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1295400"/>
                        <a:ext cx="4611688"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p:cNvSpPr txBox="1"/>
          <p:nvPr/>
        </p:nvSpPr>
        <p:spPr>
          <a:xfrm>
            <a:off x="4428069" y="1600200"/>
            <a:ext cx="5562600" cy="1570038"/>
          </a:xfrm>
          <a:prstGeom prst="rect">
            <a:avLst/>
          </a:prstGeom>
          <a:noFill/>
        </p:spPr>
        <p:txBody>
          <a:bodyPr>
            <a:spAutoFit/>
          </a:bodyPr>
          <a:lstStyle/>
          <a:p>
            <a:pPr eaLnBrk="1" hangingPunct="1">
              <a:defRPr/>
            </a:pPr>
            <a:r>
              <a:rPr lang="zh-CN" altLang="en-US" sz="2400" b="0" dirty="0">
                <a:solidFill>
                  <a:schemeClr val="tx1"/>
                </a:solidFill>
                <a:latin typeface="微软雅黑" panose="020B0503020204020204" pitchFamily="34" charset="-122"/>
                <a:ea typeface="微软雅黑" panose="020B0503020204020204" pitchFamily="34" charset="-122"/>
              </a:rPr>
              <a:t>关键字序列为</a:t>
            </a:r>
            <a:r>
              <a:rPr lang="en-US" altLang="zh-CN" sz="2400" b="0" dirty="0">
                <a:solidFill>
                  <a:schemeClr val="tx1"/>
                </a:solidFill>
                <a:latin typeface="微软雅黑" panose="020B0503020204020204" pitchFamily="34" charset="-122"/>
                <a:ea typeface="微软雅黑" panose="020B0503020204020204" pitchFamily="34" charset="-122"/>
              </a:rPr>
              <a:t>{26, 25, 20, 33, 46, 21, 24, 45, 204, 42, 60, 74},</a:t>
            </a:r>
            <a:endParaRPr lang="en-US" altLang="zh-CN" sz="2400" b="0" dirty="0">
              <a:solidFill>
                <a:schemeClr val="tx1"/>
              </a:solidFill>
              <a:latin typeface="微软雅黑" panose="020B0503020204020204" pitchFamily="34" charset="-122"/>
              <a:ea typeface="微软雅黑" panose="020B0503020204020204" pitchFamily="34" charset="-122"/>
            </a:endParaRPr>
          </a:p>
          <a:p>
            <a:pPr eaLnBrk="1" hangingPunct="1">
              <a:defRPr/>
            </a:pPr>
            <a:r>
              <a:rPr lang="zh-CN" altLang="en-US" sz="2400" b="0" dirty="0">
                <a:solidFill>
                  <a:schemeClr val="tx1"/>
                </a:solidFill>
                <a:latin typeface="微软雅黑" panose="020B0503020204020204" pitchFamily="34" charset="-122"/>
                <a:ea typeface="微软雅黑" panose="020B0503020204020204" pitchFamily="34" charset="-122"/>
              </a:rPr>
              <a:t>哈希函数为：</a:t>
            </a:r>
            <a:r>
              <a:rPr lang="en-US" altLang="zh-CN" sz="2400" b="0" dirty="0">
                <a:solidFill>
                  <a:schemeClr val="tx1"/>
                </a:solidFill>
                <a:latin typeface="微软雅黑" panose="020B0503020204020204" pitchFamily="34" charset="-122"/>
                <a:ea typeface="微软雅黑" panose="020B0503020204020204" pitchFamily="34" charset="-122"/>
              </a:rPr>
              <a:t>H(key)=key mod 13</a:t>
            </a:r>
            <a:endParaRPr lang="en-US" altLang="zh-CN" sz="2400" b="0" dirty="0">
              <a:solidFill>
                <a:schemeClr val="tx1"/>
              </a:solidFill>
              <a:latin typeface="微软雅黑" panose="020B0503020204020204" pitchFamily="34" charset="-122"/>
              <a:ea typeface="微软雅黑" panose="020B0503020204020204" pitchFamily="34" charset="-122"/>
            </a:endParaRPr>
          </a:p>
          <a:p>
            <a:pPr algn="ctr" eaLnBrk="1" hangingPunct="1">
              <a:defRPr/>
            </a:pPr>
            <a:endParaRPr lang="zh-CN" altLang="en-US" sz="2400" dirty="0">
              <a:solidFill>
                <a:schemeClr val="tx1"/>
              </a:solidFill>
              <a:latin typeface="+mn-ea"/>
              <a:ea typeface="+mn-ea"/>
            </a:endParaRPr>
          </a:p>
        </p:txBody>
      </p:sp>
      <p:sp>
        <p:nvSpPr>
          <p:cNvPr id="7" name="TextBox 6"/>
          <p:cNvSpPr txBox="1">
            <a:spLocks noChangeArrowheads="1"/>
          </p:cNvSpPr>
          <p:nvPr/>
        </p:nvSpPr>
        <p:spPr bwMode="auto">
          <a:xfrm>
            <a:off x="4999569" y="533400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algn="ctr" eaLnBrk="1" hangingPunct="1">
              <a:spcBef>
                <a:spcPct val="0"/>
              </a:spcBef>
              <a:buFontTx/>
              <a:buNone/>
            </a:pPr>
            <a:r>
              <a:rPr lang="en-US" altLang="zh-CN" b="0" dirty="0">
                <a:solidFill>
                  <a:srgbClr val="FF0000"/>
                </a:solidFill>
              </a:rPr>
              <a:t>ASL=</a:t>
            </a:r>
            <a:r>
              <a:rPr lang="zh-CN" altLang="en-US" b="0" dirty="0">
                <a:solidFill>
                  <a:srgbClr val="FF0000"/>
                </a:solidFill>
              </a:rPr>
              <a:t>（</a:t>
            </a:r>
            <a:r>
              <a:rPr lang="en-US" altLang="zh-CN" b="0" dirty="0">
                <a:solidFill>
                  <a:srgbClr val="FF0000"/>
                </a:solidFill>
              </a:rPr>
              <a:t>1</a:t>
            </a:r>
            <a:r>
              <a:rPr lang="en-US" altLang="zh-CN" b="0" dirty="0">
                <a:solidFill>
                  <a:srgbClr val="FF0000"/>
                </a:solidFill>
                <a:sym typeface="Symbol" panose="05050102010706020507" pitchFamily="18" charset="2"/>
              </a:rPr>
              <a:t>8+2</a:t>
            </a:r>
            <a:r>
              <a:rPr lang="en-US" altLang="zh-CN" b="0" dirty="0">
                <a:solidFill>
                  <a:srgbClr val="FF0000"/>
                </a:solidFill>
                <a:latin typeface="Consolas" panose="020B0609020204030204" pitchFamily="49" charset="0"/>
                <a:sym typeface="Symbol" panose="05050102010706020507" pitchFamily="18" charset="2"/>
              </a:rPr>
              <a:t></a:t>
            </a:r>
            <a:r>
              <a:rPr lang="en-US" altLang="zh-CN" b="0" dirty="0">
                <a:solidFill>
                  <a:srgbClr val="FF0000"/>
                </a:solidFill>
                <a:sym typeface="Symbol" panose="05050102010706020507" pitchFamily="18" charset="2"/>
              </a:rPr>
              <a:t>3+3 1</a:t>
            </a:r>
            <a:r>
              <a:rPr lang="zh-CN" altLang="en-US" b="0" dirty="0">
                <a:solidFill>
                  <a:srgbClr val="FF0000"/>
                </a:solidFill>
              </a:rPr>
              <a:t>）</a:t>
            </a:r>
            <a:r>
              <a:rPr lang="en-US" altLang="zh-CN" b="0" dirty="0">
                <a:solidFill>
                  <a:srgbClr val="FF0000"/>
                </a:solidFill>
              </a:rPr>
              <a:t>=17/12</a:t>
            </a:r>
            <a:endParaRPr lang="zh-CN" altLang="en-US" b="0" dirty="0">
              <a:solidFill>
                <a:srgbClr val="FF0000"/>
              </a:solidFill>
            </a:endParaRPr>
          </a:p>
        </p:txBody>
      </p:sp>
      <p:graphicFrame>
        <p:nvGraphicFramePr>
          <p:cNvPr id="8" name="表格 6"/>
          <p:cNvGraphicFramePr>
            <a:graphicFrameLocks noGrp="1"/>
          </p:cNvGraphicFramePr>
          <p:nvPr/>
        </p:nvGraphicFramePr>
        <p:xfrm>
          <a:off x="533399" y="373558"/>
          <a:ext cx="9406470" cy="769442"/>
        </p:xfrm>
        <a:graphic>
          <a:graphicData uri="http://schemas.openxmlformats.org/drawingml/2006/table">
            <a:tbl>
              <a:tblPr/>
              <a:tblGrid>
                <a:gridCol w="915153"/>
                <a:gridCol w="637371"/>
                <a:gridCol w="618347"/>
                <a:gridCol w="722989"/>
                <a:gridCol w="724892"/>
                <a:gridCol w="722989"/>
                <a:gridCol w="722989"/>
                <a:gridCol w="722989"/>
                <a:gridCol w="724892"/>
                <a:gridCol w="722989"/>
                <a:gridCol w="722989"/>
                <a:gridCol w="724892"/>
                <a:gridCol w="722989"/>
              </a:tblGrid>
              <a:tr h="385544">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key</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9525" cap="flat" cmpd="sng" algn="ctr">
                      <a:solidFill>
                        <a:srgbClr val="56ADFC"/>
                      </a:solidFill>
                      <a:prstDash val="solid"/>
                      <a:round/>
                      <a:headEnd type="none" w="med" len="med"/>
                      <a:tailEnd type="none" w="med" len="med"/>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26</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25</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20</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33</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46</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21</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24</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45</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204</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42</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60</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74</a:t>
                      </a:r>
                      <a:endParaRPr kumimoji="0" lang="zh-CN" altLang="en-US" sz="1800" b="1"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w="9525" cap="flat" cmpd="sng" algn="ctr">
                      <a:solidFill>
                        <a:srgbClr val="56ADFC"/>
                      </a:solidFill>
                      <a:prstDash val="solid"/>
                      <a:round/>
                      <a:headEnd type="none" w="med" len="med"/>
                      <a:tailEnd type="none" w="med" len="med"/>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solidFill>
                      <a:schemeClr val="accent1"/>
                    </a:solidFill>
                  </a:tcPr>
                </a:tc>
              </a:tr>
              <a:tr h="38389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H(key)</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w="9525" cap="flat" cmpd="sng" algn="ctr">
                      <a:solidFill>
                        <a:srgbClr val="56ADFC"/>
                      </a:solidFill>
                      <a:prstDash val="solid"/>
                      <a:round/>
                      <a:headEnd type="none" w="med" len="med"/>
                      <a:tailEnd type="none" w="med" len="med"/>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0</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12</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7</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7</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7</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8</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11</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6</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9</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3</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rPr>
                        <a:t>8</a:t>
                      </a: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a:noFill/>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rPr>
                        <a:t>9</a:t>
                      </a: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anose="02010609030101010101" pitchFamily="49" charset="-122"/>
                      </a:endParaRPr>
                    </a:p>
                  </a:txBody>
                  <a:tcPr horzOverflow="overflow">
                    <a:lnL>
                      <a:noFill/>
                    </a:lnL>
                    <a:lnR w="9525" cap="flat" cmpd="sng" algn="ctr">
                      <a:solidFill>
                        <a:srgbClr val="56ADFC"/>
                      </a:solidFill>
                      <a:prstDash val="solid"/>
                      <a:round/>
                      <a:headEnd type="none" w="med" len="med"/>
                      <a:tailEnd type="none" w="med" len="med"/>
                    </a:lnR>
                    <a:lnT w="9525" cap="flat" cmpd="sng" algn="ctr">
                      <a:solidFill>
                        <a:srgbClr val="56ADFC"/>
                      </a:solidFill>
                      <a:prstDash val="solid"/>
                      <a:round/>
                      <a:headEnd type="none" w="med" len="med"/>
                      <a:tailEnd type="none" w="med" len="med"/>
                    </a:lnT>
                    <a:lnB w="9525" cap="flat" cmpd="sng" algn="ctr">
                      <a:solidFill>
                        <a:srgbClr val="56ADFC"/>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哈希表的查找</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内容占位符 2"/>
          <p:cNvSpPr>
            <a:spLocks noGrp="1"/>
          </p:cNvSpPr>
          <p:nvPr>
            <p:ph idx="1"/>
          </p:nvPr>
        </p:nvSpPr>
        <p:spPr>
          <a:xfrm>
            <a:off x="626533" y="990600"/>
            <a:ext cx="10972800" cy="4876800"/>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查找过程和造表过程一致。假设采用开放定址处理冲突，则查找过程为：对于给定值 </a:t>
            </a:r>
            <a:r>
              <a:rPr lang="en-US" altLang="zh-CN" sz="2400" i="1"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 计算哈希地址 </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若 </a:t>
            </a:r>
            <a:r>
              <a:rPr lang="en-US" altLang="zh-CN" sz="2000" dirty="0">
                <a:latin typeface="微软雅黑" panose="020B0503020204020204" pitchFamily="34" charset="-122"/>
                <a:ea typeface="微软雅黑" panose="020B0503020204020204" pitchFamily="34" charset="-122"/>
              </a:rPr>
              <a:t>r[</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 = NULL  </a:t>
            </a:r>
            <a:r>
              <a:rPr lang="zh-CN" altLang="en-US" sz="2000" dirty="0">
                <a:latin typeface="微软雅黑" panose="020B0503020204020204" pitchFamily="34" charset="-122"/>
                <a:ea typeface="微软雅黑" panose="020B0503020204020204" pitchFamily="34" charset="-122"/>
              </a:rPr>
              <a:t>则查找不成功</a:t>
            </a:r>
            <a:endParaRPr lang="zh-CN" altLang="en-US"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若 </a:t>
            </a:r>
            <a:r>
              <a:rPr lang="en-US" altLang="zh-CN" sz="2000" dirty="0">
                <a:latin typeface="微软雅黑" panose="020B0503020204020204" pitchFamily="34" charset="-122"/>
                <a:ea typeface="微软雅黑" panose="020B0503020204020204" pitchFamily="34" charset="-122"/>
              </a:rPr>
              <a:t>r[</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].key = K  </a:t>
            </a:r>
            <a:r>
              <a:rPr lang="zh-CN" altLang="en-US" sz="2000" dirty="0">
                <a:latin typeface="微软雅黑" panose="020B0503020204020204" pitchFamily="34" charset="-122"/>
                <a:ea typeface="微软雅黑" panose="020B0503020204020204" pitchFamily="34" charset="-122"/>
              </a:rPr>
              <a:t>则查找成功</a:t>
            </a:r>
            <a:endParaRPr lang="zh-CN" altLang="en-US" sz="2000" dirty="0">
              <a:latin typeface="微软雅黑" panose="020B0503020204020204" pitchFamily="34" charset="-122"/>
              <a:ea typeface="微软雅黑" panose="020B0503020204020204" pitchFamily="34" charset="-122"/>
            </a:endParaRPr>
          </a:p>
          <a:p>
            <a:pPr marL="457200" lvl="1" indent="0">
              <a:lnSpc>
                <a:spcPct val="125000"/>
              </a:lnSpc>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否则 “求下一地址 </a:t>
            </a:r>
            <a:r>
              <a:rPr lang="en-US" altLang="zh-CN" sz="2000" dirty="0">
                <a:latin typeface="微软雅黑" panose="020B0503020204020204" pitchFamily="34" charset="-122"/>
                <a:ea typeface="微软雅黑" panose="020B0503020204020204" pitchFamily="34" charset="-122"/>
              </a:rPr>
              <a:t>Hi” </a:t>
            </a:r>
            <a:r>
              <a:rPr lang="zh-CN" altLang="en-US" sz="2000" dirty="0">
                <a:latin typeface="微软雅黑" panose="020B0503020204020204" pitchFamily="34" charset="-122"/>
                <a:ea typeface="微软雅黑" panose="020B0503020204020204" pitchFamily="34" charset="-122"/>
              </a:rPr>
              <a:t>，直至</a:t>
            </a:r>
            <a:endParaRPr lang="zh-CN" altLang="en-US" sz="2000" dirty="0">
              <a:latin typeface="微软雅黑" panose="020B0503020204020204" pitchFamily="34" charset="-122"/>
              <a:ea typeface="微软雅黑" panose="020B0503020204020204" pitchFamily="34" charset="-122"/>
            </a:endParaRPr>
          </a:p>
          <a:p>
            <a:pPr>
              <a:lnSpc>
                <a:spcPct val="125000"/>
              </a:lnSpc>
              <a:buFontTx/>
              <a:buNone/>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r[Hi] = NULL  (</a:t>
            </a:r>
            <a:r>
              <a:rPr lang="zh-CN" altLang="en-US" sz="2000" dirty="0">
                <a:latin typeface="微软雅黑" panose="020B0503020204020204" pitchFamily="34" charset="-122"/>
                <a:ea typeface="微软雅黑" panose="020B0503020204020204" pitchFamily="34" charset="-122"/>
              </a:rPr>
              <a:t>查找不成功</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25000"/>
              </a:lnSpc>
              <a:buFontTx/>
              <a:buNone/>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或    </a:t>
            </a:r>
            <a:r>
              <a:rPr lang="en-US" altLang="zh-CN" sz="2000" dirty="0">
                <a:latin typeface="微软雅黑" panose="020B0503020204020204" pitchFamily="34" charset="-122"/>
                <a:ea typeface="微软雅黑" panose="020B0503020204020204" pitchFamily="34" charset="-122"/>
              </a:rPr>
              <a:t>r[Hi].key = K  (</a:t>
            </a:r>
            <a:r>
              <a:rPr lang="zh-CN" altLang="en-US" sz="2000" dirty="0">
                <a:latin typeface="微软雅黑" panose="020B0503020204020204" pitchFamily="34" charset="-122"/>
                <a:ea typeface="微软雅黑" panose="020B0503020204020204" pitchFamily="34" charset="-122"/>
              </a:rPr>
              <a:t>查找成功</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为止。</a:t>
            </a:r>
            <a:endParaRPr lang="zh-CN" altLang="en-US" sz="20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哈希表的查找</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 name="Object 1"/>
          <p:cNvGraphicFramePr>
            <a:graphicFrameLocks noChangeAspect="1"/>
          </p:cNvGraphicFramePr>
          <p:nvPr/>
        </p:nvGraphicFramePr>
        <p:xfrm>
          <a:off x="1074024" y="965082"/>
          <a:ext cx="4764088" cy="5562600"/>
        </p:xfrm>
        <a:graphic>
          <a:graphicData uri="http://schemas.openxmlformats.org/presentationml/2006/ole">
            <mc:AlternateContent xmlns:mc="http://schemas.openxmlformats.org/markup-compatibility/2006">
              <mc:Choice xmlns:v="urn:schemas-microsoft-com:vml" Requires="v">
                <p:oleObj spid="_x0000_s3077" name="Visio" r:id="rId1" imgW="1881505" imgH="2315845" progId="Visio.Drawing.11">
                  <p:embed/>
                </p:oleObj>
              </mc:Choice>
              <mc:Fallback>
                <p:oleObj name="Visio" r:id="rId1" imgW="1881505" imgH="2315845"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024" y="965082"/>
                        <a:ext cx="4764088"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决定哈希表查找的</a:t>
            </a:r>
            <a:r>
              <a:rPr lang="en-US" altLang="zh-CN"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ASL</a:t>
            </a:r>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的因素</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内容占位符 2"/>
          <p:cNvSpPr>
            <a:spLocks noGrp="1"/>
          </p:cNvSpPr>
          <p:nvPr>
            <p:ph idx="1"/>
          </p:nvPr>
        </p:nvSpPr>
        <p:spPr>
          <a:xfrm>
            <a:off x="677332" y="990600"/>
            <a:ext cx="10854267" cy="4876800"/>
          </a:xfrm>
        </p:spPr>
        <p:txBody>
          <a:bodyPr/>
          <a:lstStyle/>
          <a:p>
            <a:pPr>
              <a:lnSpc>
                <a:spcPct val="125000"/>
              </a:lnSpc>
            </a:pPr>
            <a:r>
              <a:rPr lang="zh-CN" altLang="en-US" sz="2400" dirty="0">
                <a:latin typeface="微软雅黑" panose="020B0503020204020204" pitchFamily="34" charset="-122"/>
                <a:ea typeface="微软雅黑" panose="020B0503020204020204" pitchFamily="34" charset="-122"/>
              </a:rPr>
              <a:t>选用的哈希函数；</a:t>
            </a:r>
            <a:endParaRPr lang="zh-CN" altLang="en-US"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选用的处理冲突的方法；</a:t>
            </a:r>
            <a:endParaRPr lang="zh-CN" altLang="en-US" sz="2400" dirty="0">
              <a:latin typeface="微软雅黑" panose="020B0503020204020204" pitchFamily="34" charset="-122"/>
              <a:ea typeface="微软雅黑" panose="020B0503020204020204" pitchFamily="34" charset="-122"/>
            </a:endParaRPr>
          </a:p>
          <a:p>
            <a:pPr>
              <a:lnSpc>
                <a:spcPct val="125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哈希表饱和的程度，装载因子 </a:t>
            </a:r>
            <a:endParaRPr lang="en-US" altLang="zh-CN" sz="2400" dirty="0">
              <a:latin typeface="微软雅黑" panose="020B0503020204020204" pitchFamily="34" charset="-122"/>
              <a:ea typeface="微软雅黑" panose="020B0503020204020204" pitchFamily="34" charset="-122"/>
            </a:endParaRPr>
          </a:p>
          <a:p>
            <a:pPr>
              <a:lnSpc>
                <a:spcPct val="125000"/>
              </a:lnSpc>
              <a:buFontTx/>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α=n/m </a:t>
            </a:r>
            <a:r>
              <a:rPr lang="zh-CN" altLang="en-US" sz="2400" dirty="0">
                <a:latin typeface="微软雅黑" panose="020B0503020204020204" pitchFamily="34" charset="-122"/>
                <a:ea typeface="微软雅黑" panose="020B0503020204020204" pitchFamily="34" charset="-122"/>
              </a:rPr>
              <a:t>值的大小（</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记录数，</a:t>
            </a:r>
            <a:r>
              <a:rPr lang="en-US" altLang="zh-CN" sz="2400" dirty="0">
                <a:latin typeface="微软雅黑" panose="020B0503020204020204" pitchFamily="34" charset="-122"/>
                <a:ea typeface="微软雅黑" panose="020B0503020204020204" pitchFamily="34" charset="-122"/>
              </a:rPr>
              <a:t>m—</a:t>
            </a:r>
            <a:r>
              <a:rPr lang="zh-CN" altLang="en-US" sz="2400" dirty="0">
                <a:latin typeface="微软雅黑" panose="020B0503020204020204" pitchFamily="34" charset="-122"/>
                <a:ea typeface="微软雅黑" panose="020B0503020204020204" pitchFamily="34" charset="-122"/>
              </a:rPr>
              <a:t>表的长度）</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哈希表模板类</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Rectangle 4"/>
          <p:cNvSpPr>
            <a:spLocks noChangeArrowheads="1"/>
          </p:cNvSpPr>
          <p:nvPr/>
        </p:nvSpPr>
        <p:spPr bwMode="auto">
          <a:xfrm>
            <a:off x="854075" y="1552344"/>
            <a:ext cx="7848600" cy="17145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Times New Roman" panose="02020603050405020304" pitchFamily="18" charset="0"/>
                <a:cs typeface="Times New Roman" panose="02020603050405020304" pitchFamily="18" charset="0"/>
              </a:rPr>
              <a:t>#define SEARCH_KEY_NOT_FOUND -1</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err="1">
                <a:latin typeface="Times New Roman" panose="02020603050405020304" pitchFamily="18" charset="0"/>
                <a:cs typeface="Times New Roman" panose="02020603050405020304" pitchFamily="18" charset="0"/>
              </a:rPr>
              <a:t>enum</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FlagType</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哈希表元素标记</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FLAG_WITH_DATA,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已经有元素</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FLAG_WITH_DELETED,</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该元素被删除</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FLAG_WITH_EMPTY,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没有元素，空地址</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p:txBody>
      </p:sp>
      <p:sp>
        <p:nvSpPr>
          <p:cNvPr id="6" name="TextBox 3"/>
          <p:cNvSpPr txBox="1">
            <a:spLocks noChangeArrowheads="1"/>
          </p:cNvSpPr>
          <p:nvPr/>
        </p:nvSpPr>
        <p:spPr bwMode="auto">
          <a:xfrm>
            <a:off x="584200" y="965082"/>
            <a:ext cx="8458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Times New Roman" panose="02020603050405020304" pitchFamily="18" charset="0"/>
                <a:ea typeface="楷体_GB2312" panose="02010609030101010101" pitchFamily="49" charset="-122"/>
              </a:defRPr>
            </a:lvl1pPr>
            <a:lvl2pPr marL="742950" indent="-285750">
              <a:spcBef>
                <a:spcPct val="20000"/>
              </a:spcBef>
              <a:buChar char="–"/>
              <a:defRPr sz="2400">
                <a:solidFill>
                  <a:schemeClr val="tx1"/>
                </a:solidFill>
                <a:latin typeface="Times New Roman" panose="02020603050405020304" pitchFamily="18" charset="0"/>
                <a:ea typeface="楷体_GB2312" panose="02010609030101010101" pitchFamily="49" charset="-122"/>
              </a:defRPr>
            </a:lvl2pPr>
            <a:lvl3pPr marL="11430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3pPr>
            <a:lvl4pPr marL="16002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4pPr>
            <a:lvl5pPr marL="2057400" indent="-228600">
              <a:spcBef>
                <a:spcPct val="20000"/>
              </a:spcBef>
              <a:buChar char="»"/>
              <a:defRPr sz="2400">
                <a:solidFill>
                  <a:schemeClr val="tx1"/>
                </a:solidFill>
                <a:latin typeface="Times New Roman" panose="02020603050405020304" pitchFamily="18" charset="0"/>
                <a:ea typeface="楷体_GB2312" panose="02010609030101010101" pitchFamily="49" charset="-122"/>
              </a:defRPr>
            </a:lvl5pPr>
            <a:lvl6pPr marL="25146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6pPr>
            <a:lvl7pPr marL="29718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7pPr>
            <a:lvl8pPr marL="34290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8pPr>
            <a:lvl9pPr marL="3886200" indent="-228600" eaLnBrk="0" fontAlgn="base" hangingPunct="0">
              <a:spcBef>
                <a:spcPct val="20000"/>
              </a:spcBef>
              <a:spcAft>
                <a:spcPct val="0"/>
              </a:spcAft>
              <a:buChar char="»"/>
              <a:defRPr sz="2400">
                <a:solidFill>
                  <a:schemeClr val="tx1"/>
                </a:solidFill>
                <a:latin typeface="Times New Roman" panose="02020603050405020304" pitchFamily="18" charset="0"/>
                <a:ea typeface="楷体_GB2312" panose="02010609030101010101" pitchFamily="49" charset="-122"/>
              </a:defRPr>
            </a:lvl9pPr>
          </a:lstStyle>
          <a:p>
            <a:pPr eaLnBrk="1" hangingPunct="1">
              <a:spcBef>
                <a:spcPct val="0"/>
              </a:spcBef>
              <a:buFontTx/>
              <a:buNone/>
            </a:pPr>
            <a:r>
              <a:rPr lang="zh-CN" altLang="en-US" b="0" dirty="0">
                <a:latin typeface="微软雅黑" panose="020B0503020204020204" pitchFamily="34" charset="-122"/>
                <a:ea typeface="微软雅黑" panose="020B0503020204020204" pitchFamily="34" charset="-122"/>
              </a:rPr>
              <a:t>下面算法中以除留余数法作为哈希函数，线性探测法处理冲突。</a:t>
            </a:r>
            <a:endParaRPr lang="zh-CN" altLang="en-US"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哈希表模板类</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4"/>
          <p:cNvSpPr>
            <a:spLocks noChangeArrowheads="1"/>
          </p:cNvSpPr>
          <p:nvPr/>
        </p:nvSpPr>
        <p:spPr bwMode="auto">
          <a:xfrm>
            <a:off x="670536" y="965082"/>
            <a:ext cx="10850928" cy="4256381"/>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哈希表模板类</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class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class </a:t>
            </a:r>
            <a:r>
              <a:rPr lang="en-US" altLang="zh-CN" b="0" dirty="0" err="1">
                <a:latin typeface="Times New Roman" panose="02020603050405020304" pitchFamily="18" charset="0"/>
                <a:cs typeface="Times New Roman" panose="02020603050405020304" pitchFamily="18" charset="0"/>
              </a:rPr>
              <a:t>HashTable</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public:</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构造哈希表</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参数为表长和哈希函数用质数</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HashTable</a:t>
            </a:r>
            <a:r>
              <a:rPr lang="en-US" altLang="zh-CN" b="0" dirty="0">
                <a:latin typeface="Times New Roman" panose="02020603050405020304" pitchFamily="18" charset="0"/>
                <a:cs typeface="Times New Roman" panose="02020603050405020304" pitchFamily="18" charset="0"/>
              </a:rPr>
              <a:t> (int </a:t>
            </a:r>
            <a:r>
              <a:rPr lang="en-US" altLang="zh-CN" b="0" dirty="0" err="1">
                <a:latin typeface="Times New Roman" panose="02020603050405020304" pitchFamily="18" charset="0"/>
                <a:cs typeface="Times New Roman" panose="02020603050405020304" pitchFamily="18" charset="0"/>
              </a:rPr>
              <a:t>tableSize</a:t>
            </a:r>
            <a:r>
              <a:rPr lang="en-US" altLang="zh-CN" b="0" dirty="0">
                <a:latin typeface="Times New Roman" panose="02020603050405020304" pitchFamily="18" charset="0"/>
                <a:cs typeface="Times New Roman" panose="02020603050405020304" pitchFamily="18" charset="0"/>
              </a:rPr>
              <a:t>, int prime</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HashTable</a:t>
            </a:r>
            <a:r>
              <a:rPr lang="en-US" altLang="zh-CN" b="0" dirty="0">
                <a:latin typeface="Times New Roman" panose="02020603050405020304" pitchFamily="18" charset="0"/>
                <a:cs typeface="Times New Roman" panose="02020603050405020304" pitchFamily="18" charset="0"/>
              </a:rPr>
              <a:t> (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销毁表</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void Clear();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清空哈希表</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Search(const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&amp; key);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查找元素</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插入关键字为</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的元素</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e</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bool Insert(const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&amp; e,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 key);</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bool Delete(const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&amp; key);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删除元素</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GetElementCount</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当前元素个数</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GetSize</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表长</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void Display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显示哈希表</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哈希表模板类</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4"/>
          <p:cNvSpPr>
            <a:spLocks noChangeArrowheads="1"/>
          </p:cNvSpPr>
          <p:nvPr/>
        </p:nvSpPr>
        <p:spPr bwMode="auto">
          <a:xfrm>
            <a:off x="670536" y="965082"/>
            <a:ext cx="10850928" cy="2865731"/>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Times New Roman" panose="02020603050405020304" pitchFamily="18" charset="0"/>
                <a:cs typeface="Times New Roman" panose="02020603050405020304" pitchFamily="18" charset="0"/>
              </a:rPr>
              <a:t>private: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m_HT</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保存哈希表的数组</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FlagType</a:t>
            </a: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m_pFlags</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元素标志</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m_size</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哈希表大小</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m_elementCount</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哈希表中已用单元个数</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m_prime</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质数</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m_current</a:t>
            </a: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当前地址</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线性探测再哈希用</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_Hash(const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key);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哈希函数</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_</a:t>
            </a:r>
            <a:r>
              <a:rPr lang="en-US" altLang="zh-CN" b="0" dirty="0" err="1">
                <a:latin typeface="Times New Roman" panose="02020603050405020304" pitchFamily="18" charset="0"/>
                <a:cs typeface="Times New Roman" panose="02020603050405020304" pitchFamily="18" charset="0"/>
              </a:rPr>
              <a:t>LinearProbe</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线性探测再散列获得下一地址</a:t>
            </a:r>
            <a:endParaRPr lang="zh-CN" altLang="en-US"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哈希表的查找算法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4"/>
          <p:cNvSpPr>
            <a:spLocks noChangeArrowheads="1"/>
          </p:cNvSpPr>
          <p:nvPr/>
        </p:nvSpPr>
        <p:spPr bwMode="auto">
          <a:xfrm>
            <a:off x="646805" y="998831"/>
            <a:ext cx="10850928" cy="54102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初始条件：给定待查找元素的关键字</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返回结果：查找该元素在哈希表中是否存在，若存在返回地址，否则返回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class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HashTable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&gt;::Search (const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&amp; key)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int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_Hash(key);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根据</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获得初始哈希地址</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firstIndex</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while (1)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(FLAG_WITH_EMPTY == </a:t>
            </a:r>
            <a:r>
              <a:rPr lang="en-US" altLang="zh-CN" b="0" dirty="0" err="1">
                <a:latin typeface="Times New Roman" panose="02020603050405020304" pitchFamily="18" charset="0"/>
                <a:cs typeface="Times New Roman" panose="02020603050405020304" pitchFamily="18" charset="0"/>
              </a:rPr>
              <a:t>m_pFlags</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该地址为空，查找失败</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return SEARCH_KEY_NOT_FOUND;</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该地址正在使用且存放元素值为给定值，查找成功</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if (FLAG_WITH_DATA == </a:t>
            </a:r>
            <a:r>
              <a:rPr lang="en-US" altLang="zh-CN" b="0" dirty="0" err="1">
                <a:latin typeface="Times New Roman" panose="02020603050405020304" pitchFamily="18" charset="0"/>
                <a:cs typeface="Times New Roman" panose="02020603050405020304" pitchFamily="18" charset="0"/>
              </a:rPr>
              <a:t>m_pFlags</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&amp;&amp; </a:t>
            </a:r>
            <a:r>
              <a:rPr lang="en-US" altLang="zh-CN" b="0" dirty="0" err="1">
                <a:latin typeface="Times New Roman" panose="02020603050405020304" pitchFamily="18" charset="0"/>
                <a:cs typeface="Times New Roman" panose="02020603050405020304" pitchFamily="18" charset="0"/>
              </a:rPr>
              <a:t>m_HT</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key)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_</a:t>
            </a:r>
            <a:r>
              <a:rPr lang="en-US" altLang="zh-CN" b="0" dirty="0" err="1">
                <a:latin typeface="Times New Roman" panose="02020603050405020304" pitchFamily="18" charset="0"/>
                <a:cs typeface="Times New Roman" panose="02020603050405020304" pitchFamily="18" charset="0"/>
              </a:rPr>
              <a:t>LinearProbe</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线性探测再散列获得下一地址</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if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firstIndex</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break;</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SEARCH_KEY_NOT_FOUND;</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哈希表的插入算法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4"/>
          <p:cNvSpPr>
            <a:spLocks noChangeArrowheads="1"/>
          </p:cNvSpPr>
          <p:nvPr/>
        </p:nvSpPr>
        <p:spPr bwMode="auto">
          <a:xfrm>
            <a:off x="670536" y="868170"/>
            <a:ext cx="10850928" cy="6014514"/>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初始条件：插入关键字为</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的元素</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e</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返回结果：若成功插入哈希表则返回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否则返回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False</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class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bool </a:t>
            </a:r>
            <a:r>
              <a:rPr lang="en-US" altLang="zh-CN" b="0" dirty="0" err="1">
                <a:latin typeface="Times New Roman" panose="02020603050405020304" pitchFamily="18" charset="0"/>
                <a:cs typeface="Times New Roman" panose="02020603050405020304" pitchFamily="18" charset="0"/>
              </a:rPr>
              <a:t>HashTable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&gt;::Insert(const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&amp; e,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 key)</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int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_Hash(key);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根据</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key</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获得初始哈希地址</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int	</a:t>
            </a:r>
            <a:r>
              <a:rPr lang="en-US" altLang="zh-CN" b="0" dirty="0" err="1">
                <a:latin typeface="Times New Roman" panose="02020603050405020304" pitchFamily="18" charset="0"/>
                <a:cs typeface="Times New Roman" panose="02020603050405020304" pitchFamily="18" charset="0"/>
              </a:rPr>
              <a:t>firstIndex</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while (1)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(FLAG_WITH_EMPTY == </a:t>
            </a:r>
            <a:r>
              <a:rPr lang="en-US" altLang="zh-CN" b="0" dirty="0" err="1">
                <a:latin typeface="Times New Roman" panose="02020603050405020304" pitchFamily="18" charset="0"/>
                <a:cs typeface="Times New Roman" panose="02020603050405020304" pitchFamily="18" charset="0"/>
              </a:rPr>
              <a:t>m_pFlags</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该地址为空</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FLAG_WITH_DELETED == </a:t>
            </a:r>
            <a:r>
              <a:rPr lang="en-US" altLang="zh-CN" b="0" dirty="0" err="1">
                <a:latin typeface="Times New Roman" panose="02020603050405020304" pitchFamily="18" charset="0"/>
                <a:cs typeface="Times New Roman" panose="02020603050405020304" pitchFamily="18" charset="0"/>
              </a:rPr>
              <a:t>m_pFlags</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或该位置元素已删除</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m_pFlags</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FLAG_WITH_DATA;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m_HT</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m_elementCount</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true;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_</a:t>
            </a:r>
            <a:r>
              <a:rPr lang="en-US" altLang="zh-CN" b="0" dirty="0" err="1">
                <a:latin typeface="Times New Roman" panose="02020603050405020304" pitchFamily="18" charset="0"/>
                <a:cs typeface="Times New Roman" panose="02020603050405020304" pitchFamily="18" charset="0"/>
              </a:rPr>
              <a:t>LinearProbe</a:t>
            </a:r>
            <a:r>
              <a:rPr lang="en-US" altLang="zh-CN" b="0" dirty="0">
                <a:latin typeface="Times New Roman" panose="02020603050405020304" pitchFamily="18" charset="0"/>
                <a:cs typeface="Times New Roman" panose="02020603050405020304" pitchFamily="18" charset="0"/>
              </a:rPr>
              <a:t> ();               </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线性探测再散列获得下一地址</a:t>
            </a:r>
            <a:endParaRPr lang="zh-CN" altLang="en-US" b="0" dirty="0">
              <a:latin typeface="Times New Roman" panose="02020603050405020304" pitchFamily="18" charset="0"/>
              <a:cs typeface="Times New Roman" panose="02020603050405020304" pitchFamily="18" charset="0"/>
            </a:endParaRPr>
          </a:p>
          <a:p>
            <a:pPr eaLnBrk="1" hangingPunct="1">
              <a:defRPr/>
            </a:pPr>
            <a:r>
              <a:rPr lang="zh-CN" altLang="en-US" b="0" dirty="0">
                <a:latin typeface="Times New Roman" panose="02020603050405020304" pitchFamily="18" charset="0"/>
                <a:cs typeface="Times New Roman" panose="02020603050405020304" pitchFamily="18" charset="0"/>
              </a:rPr>
              <a:t>       </a:t>
            </a:r>
            <a:r>
              <a:rPr lang="en-US" altLang="zh-CN" b="0" dirty="0">
                <a:latin typeface="Times New Roman" panose="02020603050405020304" pitchFamily="18" charset="0"/>
                <a:cs typeface="Times New Roman" panose="02020603050405020304" pitchFamily="18" charset="0"/>
              </a:rPr>
              <a:t>if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a:t>
            </a:r>
            <a:r>
              <a:rPr lang="en-US" altLang="zh-CN" b="0" dirty="0" err="1">
                <a:latin typeface="Times New Roman" panose="02020603050405020304" pitchFamily="18" charset="0"/>
                <a:cs typeface="Times New Roman" panose="02020603050405020304" pitchFamily="18" charset="0"/>
              </a:rPr>
              <a:t>firstIndex</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break;</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false;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哈希表的删除算法</a:t>
            </a:r>
            <a:endParaRPr lang="zh-CN" altLang="en-US" sz="36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Rectangle 4"/>
          <p:cNvSpPr>
            <a:spLocks noChangeArrowheads="1"/>
          </p:cNvSpPr>
          <p:nvPr/>
        </p:nvSpPr>
        <p:spPr bwMode="auto">
          <a:xfrm>
            <a:off x="670536" y="965082"/>
            <a:ext cx="10850928" cy="3644900"/>
          </a:xfrm>
          <a:prstGeom prst="rect">
            <a:avLst/>
          </a:prstGeom>
          <a:solidFill>
            <a:schemeClr val="accent1">
              <a:lumMod val="20000"/>
              <a:lumOff val="80000"/>
            </a:schemeClr>
          </a:solidFill>
          <a:ln w="3175" algn="ctr">
            <a:solidFill>
              <a:schemeClr val="tx2"/>
            </a:solidFill>
            <a:miter lim="800000"/>
          </a:ln>
          <a:effectLst>
            <a:outerShdw blurRad="50800" dist="50800" dir="2700000" algn="tl" rotWithShape="0">
              <a:prstClr val="black">
                <a:alpha val="40000"/>
              </a:prstClr>
            </a:outerShdw>
          </a:effectLst>
        </p:spPr>
        <p:txBody>
          <a:bodyPr wrap="none" lIns="90000" tIns="46800" rIns="90000" bIns="46800" anchor="ctr"/>
          <a:lstStyle/>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初始条件：给定待删除元素</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key</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返回结果：若成功删除，返回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，否则返回</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False</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defRPr/>
            </a:pPr>
            <a:r>
              <a:rPr lang="en-US" altLang="zh-CN" b="0" dirty="0">
                <a:latin typeface="Times New Roman" panose="02020603050405020304" pitchFamily="18" charset="0"/>
                <a:cs typeface="Times New Roman" panose="02020603050405020304" pitchFamily="18" charset="0"/>
              </a:rPr>
              <a:t>template&lt; class </a:t>
            </a:r>
            <a:r>
              <a:rPr lang="en-US" altLang="zh-CN" b="0" dirty="0" err="1">
                <a:latin typeface="Times New Roman" panose="02020603050405020304" pitchFamily="18" charset="0"/>
                <a:cs typeface="Times New Roman" panose="02020603050405020304" pitchFamily="18" charset="0"/>
              </a:rPr>
              <a:t>ElemType</a:t>
            </a:r>
            <a:r>
              <a:rPr lang="en-US" altLang="zh-CN" b="0" dirty="0">
                <a:latin typeface="Times New Roman" panose="02020603050405020304" pitchFamily="18" charset="0"/>
                <a:cs typeface="Times New Roman" panose="02020603050405020304" pitchFamily="18" charset="0"/>
              </a:rPr>
              <a:t>, class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&gt;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bool </a:t>
            </a:r>
            <a:r>
              <a:rPr lang="en-US" altLang="zh-CN" b="0" dirty="0" err="1">
                <a:latin typeface="Times New Roman" panose="02020603050405020304" pitchFamily="18" charset="0"/>
                <a:cs typeface="Times New Roman" panose="02020603050405020304" pitchFamily="18" charset="0"/>
              </a:rPr>
              <a:t>HashTable</a:t>
            </a:r>
            <a:r>
              <a:rPr lang="en-US" altLang="zh-CN" b="0" dirty="0">
                <a:latin typeface="Times New Roman" panose="02020603050405020304" pitchFamily="18" charset="0"/>
                <a:cs typeface="Times New Roman" panose="02020603050405020304" pitchFamily="18" charset="0"/>
              </a:rPr>
              <a:t>&lt;</a:t>
            </a:r>
            <a:r>
              <a:rPr lang="en-US" altLang="zh-CN" b="0" dirty="0" err="1">
                <a:latin typeface="Times New Roman" panose="02020603050405020304" pitchFamily="18" charset="0"/>
                <a:cs typeface="Times New Roman" panose="02020603050405020304" pitchFamily="18" charset="0"/>
              </a:rPr>
              <a:t>ElemType,KeyType</a:t>
            </a:r>
            <a:r>
              <a:rPr lang="en-US" altLang="zh-CN" b="0" dirty="0">
                <a:latin typeface="Times New Roman" panose="02020603050405020304" pitchFamily="18" charset="0"/>
                <a:cs typeface="Times New Roman" panose="02020603050405020304" pitchFamily="18" charset="0"/>
              </a:rPr>
              <a:t>&gt;::Delete(const </a:t>
            </a:r>
            <a:r>
              <a:rPr lang="en-US" altLang="zh-CN" b="0" dirty="0" err="1">
                <a:latin typeface="Times New Roman" panose="02020603050405020304" pitchFamily="18" charset="0"/>
                <a:cs typeface="Times New Roman" panose="02020603050405020304" pitchFamily="18" charset="0"/>
              </a:rPr>
              <a:t>KeyType</a:t>
            </a:r>
            <a:r>
              <a:rPr lang="en-US" altLang="zh-CN" b="0" dirty="0">
                <a:latin typeface="Times New Roman" panose="02020603050405020304" pitchFamily="18" charset="0"/>
                <a:cs typeface="Times New Roman" panose="02020603050405020304" pitchFamily="18" charset="0"/>
              </a:rPr>
              <a:t>&amp; key)</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int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Search(key);</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if (SEARCH_KEY_NOT_FOUND != </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m_pFlags</a:t>
            </a:r>
            <a:r>
              <a:rPr lang="en-US" altLang="zh-CN" b="0" dirty="0">
                <a:latin typeface="Times New Roman" panose="02020603050405020304" pitchFamily="18" charset="0"/>
                <a:cs typeface="Times New Roman" panose="02020603050405020304" pitchFamily="18" charset="0"/>
              </a:rPr>
              <a:t>[</a:t>
            </a:r>
            <a:r>
              <a:rPr lang="en-US" altLang="zh-CN" b="0" dirty="0" err="1">
                <a:latin typeface="Times New Roman" panose="02020603050405020304" pitchFamily="18" charset="0"/>
                <a:cs typeface="Times New Roman" panose="02020603050405020304" pitchFamily="18" charset="0"/>
              </a:rPr>
              <a:t>i</a:t>
            </a:r>
            <a:r>
              <a:rPr lang="en-US" altLang="zh-CN" b="0" dirty="0">
                <a:latin typeface="Times New Roman" panose="02020603050405020304" pitchFamily="18" charset="0"/>
                <a:cs typeface="Times New Roman" panose="02020603050405020304" pitchFamily="18" charset="0"/>
              </a:rPr>
              <a:t>] = FLAG_WITH_DELETED;</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r>
              <a:rPr lang="en-US" altLang="zh-CN" b="0" dirty="0" err="1">
                <a:latin typeface="Times New Roman" panose="02020603050405020304" pitchFamily="18" charset="0"/>
                <a:cs typeface="Times New Roman" panose="02020603050405020304" pitchFamily="18" charset="0"/>
              </a:rPr>
              <a:t>m_elementCount</a:t>
            </a: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true;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    return false;</a:t>
            </a:r>
            <a:endParaRPr lang="en-US" altLang="zh-CN" b="0" dirty="0">
              <a:latin typeface="Times New Roman" panose="02020603050405020304" pitchFamily="18" charset="0"/>
              <a:cs typeface="Times New Roman" panose="02020603050405020304" pitchFamily="18" charset="0"/>
            </a:endParaRPr>
          </a:p>
          <a:p>
            <a:pPr eaLnBrk="1" hangingPunct="1">
              <a:defRPr/>
            </a:pPr>
            <a:r>
              <a:rPr lang="en-US" altLang="zh-CN" b="0" dirty="0">
                <a:latin typeface="Times New Roman" panose="02020603050405020304" pitchFamily="18" charset="0"/>
                <a:cs typeface="Times New Roman" panose="02020603050405020304" pitchFamily="18" charset="0"/>
              </a:rPr>
              <a:t>}</a:t>
            </a:r>
            <a:endParaRPr lang="en-US" altLang="zh-CN"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矩形 179"/>
          <p:cNvSpPr/>
          <p:nvPr/>
        </p:nvSpPr>
        <p:spPr>
          <a:xfrm>
            <a:off x="1" y="1"/>
            <a:ext cx="12191999" cy="858831"/>
          </a:xfrm>
          <a:prstGeom prst="rect">
            <a:avLst/>
          </a:prstGeom>
          <a:gradFill>
            <a:gsLst>
              <a:gs pos="76000">
                <a:srgbClr val="609CC5"/>
              </a:gs>
              <a:gs pos="0">
                <a:srgbClr val="005A9E"/>
              </a:gs>
              <a:gs pos="100000">
                <a:srgbClr val="DEF1F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B" panose="00020600040101010101" pitchFamily="18" charset="-122"/>
            </a:endParaRPr>
          </a:p>
        </p:txBody>
      </p:sp>
      <p:sp>
        <p:nvSpPr>
          <p:cNvPr id="181" name="文本框 180"/>
          <p:cNvSpPr txBox="1"/>
          <p:nvPr/>
        </p:nvSpPr>
        <p:spPr>
          <a:xfrm>
            <a:off x="10190074" y="49365"/>
            <a:ext cx="1748334" cy="769441"/>
          </a:xfrm>
          <a:prstGeom prst="rect">
            <a:avLst/>
          </a:prstGeom>
          <a:noFill/>
        </p:spPr>
        <p:txBody>
          <a:bodyPr wrap="square" rtlCol="0">
            <a:spAutoFit/>
          </a:bodyPr>
          <a:lstStyle/>
          <a:p>
            <a:pPr algn="dist"/>
            <a:r>
              <a:rPr lang="zh-CN" altLang="en-US" sz="2800" b="1" dirty="0">
                <a:solidFill>
                  <a:srgbClr val="005A9E"/>
                </a:solidFill>
                <a:latin typeface="华文行楷" panose="02010800040101010101" pitchFamily="2" charset="-122"/>
                <a:ea typeface="华文行楷" panose="02010800040101010101" pitchFamily="2" charset="-122"/>
              </a:rPr>
              <a:t>数据结构</a:t>
            </a:r>
            <a:endParaRPr lang="en-US" altLang="zh-CN" sz="2800" b="1" dirty="0">
              <a:solidFill>
                <a:srgbClr val="005A9E"/>
              </a:solidFill>
              <a:latin typeface="华文行楷" panose="02010800040101010101" pitchFamily="2" charset="-122"/>
              <a:ea typeface="华文行楷" panose="02010800040101010101" pitchFamily="2" charset="-122"/>
            </a:endParaRPr>
          </a:p>
          <a:p>
            <a:pPr algn="dist"/>
            <a:r>
              <a:rPr lang="en-US" altLang="zh-CN" sz="1600" dirty="0">
                <a:solidFill>
                  <a:srgbClr val="005A9E"/>
                </a:solidFill>
                <a:latin typeface="+mj-lt"/>
                <a:ea typeface="华文行楷" panose="02010800040101010101" pitchFamily="2" charset="-122"/>
              </a:rPr>
              <a:t>Data Structures</a:t>
            </a:r>
            <a:endParaRPr lang="zh-CN" altLang="en-US" sz="1600" dirty="0">
              <a:solidFill>
                <a:srgbClr val="005A9E"/>
              </a:solidFill>
              <a:latin typeface="+mj-lt"/>
              <a:ea typeface="华文行楷" panose="02010800040101010101" pitchFamily="2" charset="-122"/>
            </a:endParaRPr>
          </a:p>
        </p:txBody>
      </p:sp>
      <p:sp>
        <p:nvSpPr>
          <p:cNvPr id="188" name="文本框 187"/>
          <p:cNvSpPr txBox="1"/>
          <p:nvPr/>
        </p:nvSpPr>
        <p:spPr>
          <a:xfrm>
            <a:off x="392805" y="106251"/>
            <a:ext cx="6126527" cy="646331"/>
          </a:xfrm>
          <a:prstGeom prst="rect">
            <a:avLst/>
          </a:prstGeom>
          <a:noFill/>
        </p:spPr>
        <p:txBody>
          <a:bodyPr wrap="square" rtlCol="0">
            <a:spAutoFit/>
          </a:bodyPr>
          <a:lstStyle/>
          <a:p>
            <a:r>
              <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本章小结</a:t>
            </a:r>
            <a:endParaRPr lang="zh-CN" altLang="en-US" sz="36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 name="内容占位符 2"/>
          <p:cNvSpPr>
            <a:spLocks noGrp="1"/>
          </p:cNvSpPr>
          <p:nvPr>
            <p:ph idx="1"/>
          </p:nvPr>
        </p:nvSpPr>
        <p:spPr>
          <a:xfrm>
            <a:off x="643466" y="990600"/>
            <a:ext cx="10786533" cy="4876800"/>
          </a:xfrm>
        </p:spPr>
        <p:txBody>
          <a:bodyPr/>
          <a:lstStyle/>
          <a:p>
            <a:pPr>
              <a:lnSpc>
                <a:spcPct val="125000"/>
              </a:lnSpc>
            </a:pPr>
            <a:r>
              <a:rPr lang="zh-CN" altLang="zh-CN" sz="2400" dirty="0">
                <a:latin typeface="微软雅黑" panose="020B0503020204020204" pitchFamily="34" charset="-122"/>
                <a:ea typeface="微软雅黑" panose="020B0503020204020204" pitchFamily="34" charset="-122"/>
              </a:rPr>
              <a:t>理解静态查找表和动态查找表的区别，能够灵活应用顺序查找、折半查找和分块查找的方法；</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zh-CN" sz="2400" dirty="0">
                <a:latin typeface="微软雅黑" panose="020B0503020204020204" pitchFamily="34" charset="-122"/>
                <a:ea typeface="微软雅黑" panose="020B0503020204020204" pitchFamily="34" charset="-122"/>
              </a:rPr>
              <a:t>熟练掌握二叉排序树的插入、删除和查找操作；</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zh-CN" sz="2400" dirty="0">
                <a:latin typeface="微软雅黑" panose="020B0503020204020204" pitchFamily="34" charset="-122"/>
                <a:ea typeface="微软雅黑" panose="020B0503020204020204" pitchFamily="34" charset="-122"/>
              </a:rPr>
              <a:t>了解平衡二叉排序树建树过程，了解</a:t>
            </a:r>
            <a:r>
              <a:rPr lang="en-US" altLang="zh-CN" sz="2400" dirty="0">
                <a:latin typeface="微软雅黑" panose="020B0503020204020204" pitchFamily="34" charset="-122"/>
                <a:ea typeface="微软雅黑" panose="020B0503020204020204" pitchFamily="34" charset="-122"/>
              </a:rPr>
              <a:t>B-</a:t>
            </a:r>
            <a:r>
              <a:rPr lang="zh-CN" altLang="zh-CN" sz="2400" dirty="0">
                <a:latin typeface="微软雅黑" panose="020B0503020204020204" pitchFamily="34" charset="-122"/>
                <a:ea typeface="微软雅黑" panose="020B0503020204020204" pitchFamily="34" charset="-122"/>
              </a:rPr>
              <a:t>树的含义及其插入、删除和查找操作；</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熟练掌握哈希表的构造方法及查找过程，深刻理解哈希表与其它结构的表的实质性的差别。</a:t>
            </a:r>
            <a:endParaRPr lang="en-US" altLang="zh-CN" sz="2400" dirty="0">
              <a:latin typeface="微软雅黑" panose="020B0503020204020204" pitchFamily="34" charset="-122"/>
              <a:ea typeface="微软雅黑" panose="020B0503020204020204" pitchFamily="34" charset="-122"/>
            </a:endParaRPr>
          </a:p>
          <a:p>
            <a:pPr>
              <a:lnSpc>
                <a:spcPct val="125000"/>
              </a:lnSpc>
            </a:pPr>
            <a:r>
              <a:rPr lang="zh-CN" altLang="en-US" sz="2400" dirty="0">
                <a:latin typeface="微软雅黑" panose="020B0503020204020204" pitchFamily="34" charset="-122"/>
                <a:ea typeface="微软雅黑" panose="020B0503020204020204" pitchFamily="34" charset="-122"/>
              </a:rPr>
              <a:t>掌握各种查找方法平均查找长度的计算方法。</a:t>
            </a:r>
            <a:endParaRPr lang="en-US" altLang="zh-CN" sz="2400" dirty="0">
              <a:latin typeface="微软雅黑" panose="020B0503020204020204" pitchFamily="34" charset="-122"/>
              <a:ea typeface="微软雅黑" panose="020B0503020204020204" pitchFamily="34" charset="-122"/>
            </a:endParaRPr>
          </a:p>
          <a:p>
            <a:pPr>
              <a:lnSpc>
                <a:spcPct val="125000"/>
              </a:lnSpc>
              <a:buFontTx/>
              <a:buNone/>
            </a:pPr>
            <a:r>
              <a:rPr lang="en-US" altLang="zh-CN"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a:p>
            <a:pPr>
              <a:buFontTx/>
              <a:buNone/>
            </a:pPr>
            <a:endParaRPr lang="zh-CN" altLang="en-US" dirty="0"/>
          </a:p>
          <a:p>
            <a:endParaRPr lang="zh-CN" altLang="en-US" dirty="0"/>
          </a:p>
        </p:txBody>
      </p:sp>
    </p:spTree>
  </p:cSld>
  <p:clrMapOvr>
    <a:masterClrMapping/>
  </p:clrMapOvr>
</p:sld>
</file>

<file path=ppt/tags/tag1.xml><?xml version="1.0" encoding="utf-8"?>
<p:tagLst xmlns:p="http://schemas.openxmlformats.org/presentationml/2006/main">
  <p:tag name="ISLIDE.ICON" val="#404870;#405337;#404870;#393849;#394159;#171092;#134425;#37043;#393940;"/>
</p:tagLst>
</file>

<file path=ppt/tags/tag2.xml><?xml version="1.0" encoding="utf-8"?>
<p:tagLst xmlns:p="http://schemas.openxmlformats.org/presentationml/2006/main">
  <p:tag name="commondata" val="eyJoZGlkIjoiZjQ4NDFjNWE2YjY1NTA0MjhjMmU2NTU4MDRhMDIxYjgifQ=="/>
</p:tagLst>
</file>

<file path=ppt/theme/theme1.xml><?xml version="1.0" encoding="utf-8"?>
<a:theme xmlns:a="http://schemas.openxmlformats.org/drawingml/2006/main" name="办公资源网：www.bangongziyuan.com">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fontScheme name="自定义 1">
      <a:majorFont>
        <a:latin typeface="Calibri"/>
        <a:ea typeface="阿里巴巴普惠体 B"/>
        <a:cs typeface=""/>
      </a:majorFont>
      <a:minorFont>
        <a:latin typeface="Calibri"/>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1">
    <a:dk1>
      <a:srgbClr val="000000"/>
    </a:dk1>
    <a:lt1>
      <a:srgbClr val="FFFFFF"/>
    </a:lt1>
    <a:dk2>
      <a:srgbClr val="778495"/>
    </a:dk2>
    <a:lt2>
      <a:srgbClr val="F0F0F0"/>
    </a:lt2>
    <a:accent1>
      <a:srgbClr val="005A9E"/>
    </a:accent1>
    <a:accent2>
      <a:srgbClr val="7F7F7F"/>
    </a:accent2>
    <a:accent3>
      <a:srgbClr val="45546B"/>
    </a:accent3>
    <a:accent4>
      <a:srgbClr val="E5EAF0"/>
    </a:accent4>
    <a:accent5>
      <a:srgbClr val="A5A5A5"/>
    </a:accent5>
    <a:accent6>
      <a:srgbClr val="C9C9C9"/>
    </a:accent6>
    <a:hlink>
      <a:srgbClr val="49738F"/>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19377</Words>
  <Application>WPS 演示</Application>
  <PresentationFormat>宽屏</PresentationFormat>
  <Paragraphs>3049</Paragraphs>
  <Slides>93</Slides>
  <Notes>93</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14</vt:i4>
      </vt:variant>
      <vt:variant>
        <vt:lpstr>幻灯片标题</vt:lpstr>
      </vt:variant>
      <vt:variant>
        <vt:i4>93</vt:i4>
      </vt:variant>
    </vt:vector>
  </HeadingPairs>
  <TitlesOfParts>
    <vt:vector size="126" baseType="lpstr">
      <vt:lpstr>Arial</vt:lpstr>
      <vt:lpstr>宋体</vt:lpstr>
      <vt:lpstr>Wingdings</vt:lpstr>
      <vt:lpstr>OPPOSans R</vt:lpstr>
      <vt:lpstr>OPPOSans B</vt:lpstr>
      <vt:lpstr>微软雅黑</vt:lpstr>
      <vt:lpstr>Times New Roman</vt:lpstr>
      <vt:lpstr>华文行楷</vt:lpstr>
      <vt:lpstr>楷体_GB2312</vt:lpstr>
      <vt:lpstr>Consolas</vt:lpstr>
      <vt:lpstr>Arial Unicode MS</vt:lpstr>
      <vt:lpstr>Arial Narrow</vt:lpstr>
      <vt:lpstr>Symbol</vt:lpstr>
      <vt:lpstr>Symbol</vt:lpstr>
      <vt:lpstr>思源黑体 CN Regular</vt:lpstr>
      <vt:lpstr>黑体</vt:lpstr>
      <vt:lpstr>Calibri</vt:lpstr>
      <vt:lpstr>办公资源网：www.bangongziyuan.com</vt:lpstr>
      <vt:lpstr>自定义设计方案</vt:lpstr>
      <vt:lpstr>Equation.3</vt:lpstr>
      <vt:lpstr>Visio.Drawing.11</vt:lpstr>
      <vt:lpstr>Visio.Drawing.11</vt:lpstr>
      <vt:lpstr>Visio.Drawing.11</vt:lpstr>
      <vt:lpstr>Visio.Drawing.11</vt:lpstr>
      <vt:lpstr>Visio.Drawing.11</vt:lpstr>
      <vt:lpstr>Equation.3</vt:lpstr>
      <vt:lpstr>Equation.3</vt:lpstr>
      <vt:lpstr>Equation.3</vt:lpstr>
      <vt:lpstr>Word.Document.8</vt:lpstr>
      <vt:lpstr>Equation.3</vt:lpstr>
      <vt:lpstr>Equation.DSMT4</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刘雅茜</cp:lastModifiedBy>
  <cp:revision>3288</cp:revision>
  <dcterms:created xsi:type="dcterms:W3CDTF">2020-11-24T06:30:00Z</dcterms:created>
  <dcterms:modified xsi:type="dcterms:W3CDTF">2024-10-31T03:53:43Z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6874BE538F3744CA9418A636EFAD093E_12</vt:lpwstr>
  </property>
  <property fmtid="{D5CDD505-2E9C-101B-9397-08002B2CF9AE}" pid="3" name="KSOProductBuildVer">
    <vt:lpwstr>2052-12.1.0.18608</vt:lpwstr>
  </property>
</Properties>
</file>