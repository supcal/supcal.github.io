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  <p:sldMasterId id="2147483671" r:id="rId2"/>
  </p:sldMasterIdLst>
  <p:notesMasterIdLst>
    <p:notesMasterId r:id="rId19"/>
  </p:notesMasterIdLst>
  <p:handoutMasterIdLst>
    <p:handoutMasterId r:id="rId20"/>
  </p:handoutMasterIdLst>
  <p:sldIdLst>
    <p:sldId id="377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27" r:id="rId16"/>
    <p:sldId id="328" r:id="rId17"/>
    <p:sldId id="404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005A9E"/>
    <a:srgbClr val="000000"/>
    <a:srgbClr val="ADA19D"/>
    <a:srgbClr val="F0ECF2"/>
    <a:srgbClr val="494958"/>
    <a:srgbClr val="484C58"/>
    <a:srgbClr val="A8A8A8"/>
    <a:srgbClr val="015B9F"/>
    <a:srgbClr val="0291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01" autoAdjust="0"/>
    <p:restoredTop sz="94660"/>
  </p:normalViewPr>
  <p:slideViewPr>
    <p:cSldViewPr snapToGrid="0">
      <p:cViewPr varScale="1">
        <p:scale>
          <a:sx n="86" d="100"/>
          <a:sy n="86" d="100"/>
        </p:scale>
        <p:origin x="442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42"/>
    </p:cViewPr>
  </p:sorterViewPr>
  <p:notesViewPr>
    <p:cSldViewPr snapToGrid="0">
      <p:cViewPr varScale="1">
        <p:scale>
          <a:sx n="60" d="100"/>
          <a:sy n="60" d="100"/>
        </p:scale>
        <p:origin x="101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2FB8E2F-A5DF-4E66-89AE-5886BDFA4F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F4D85A-3E6B-451E-90A4-35F8488680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5C2F0C-902B-40A3-A4BD-4EF077EA43A2}" type="datetimeFigureOut">
              <a:rPr lang="zh-CN" altLang="en-US" smtClean="0">
                <a:latin typeface="OPPOSans R" panose="00020600040101010101" pitchFamily="18" charset="-122"/>
                <a:ea typeface="OPPOSans R" panose="00020600040101010101" pitchFamily="18" charset="-122"/>
              </a:rPr>
              <a:t>2024/11/1</a:t>
            </a:fld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878C91-8783-4606-9D54-5F31466B8E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C150B9-F696-4102-93DF-EE07843073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2C1B7-04C4-46E7-9BAA-4B759B4AC2C1}" type="slidenum">
              <a:rPr lang="zh-CN" altLang="en-US" smtClean="0">
                <a:latin typeface="OPPOSans R" panose="00020600040101010101" pitchFamily="18" charset="-122"/>
                <a:ea typeface="OPPOSans R" panose="00020600040101010101" pitchFamily="18" charset="-122"/>
              </a:rPr>
              <a:t>‹#›</a:t>
            </a:fld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12087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3C9F0365-6E51-42DF-A7F1-912A2B6B56F1}" type="datetimeFigureOut">
              <a:rPr lang="zh-CN" altLang="en-US" smtClean="0"/>
              <a:pPr/>
              <a:t>2024/11/1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830FE25F-8BC0-4BE2-A57A-787CA670B11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348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R" panose="00020600040101010101" pitchFamily="18" charset="-122"/>
        <a:ea typeface="OPPOSans R" panose="00020600040101010101" pitchFamily="18" charset="-122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6AFA38-627E-4F7B-BEA5-CF626F25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69137F2-6A37-4ADB-BF7C-8C4101C65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A83C16-FB74-4338-8858-39E1EAB00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7AAF03-BE0A-4DEA-A05E-06FF7665A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DA7360-FBBC-4ED8-AE18-E0EFDA9B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40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003844-FC03-47DE-B229-1F3765BD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A02712-6BFF-4093-8A80-E9501331F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909443-1096-43EE-A4A2-EDB352AC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3040E1-8914-4B73-913D-54BC000D4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847222-8B7D-4607-9C90-FC087C5B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1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2872D-5617-4456-9660-051020383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27F9B6-D488-40F8-B129-AFE4F4EC1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2B530E-E53D-4D77-BD0E-21F40AC8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48A13D-08F8-4ED3-86C2-C9890E9B5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C21B38-87B6-4C0A-87EE-0B66BBD9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553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E5D05-3637-4A33-82F1-4622ECE2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06EAC3-3F4B-4256-98C1-BA9211FC9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42EB53-9566-4336-985C-6D6918301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831B25-6B82-464F-BBAC-7B461AAF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EF524F-DA37-41AA-B3B1-D7D90E38D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7488DD-0E70-4197-AA74-B18179B3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67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FAE2C-937B-401E-8C4E-1B840B46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72746B-7744-4748-BFC2-78AE71813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3E1AE7-4A76-4C93-9C6C-FBDD0AF70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315032-A34A-4483-9DD8-3EA36457F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91E8B5-0AEE-4F03-ACAF-30CC58A4C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53C842-B293-4BDC-9B3C-9A40F174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158690-01BB-4521-AA37-9A500D652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67E8A8E-C4D8-43A9-BF18-B0A344C6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001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28ED3-6AAC-45CD-BC01-DCABC39D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1280777-2281-4D53-A34B-2010532D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5A28D7-2590-4880-8E81-C65D2F7EF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586DE0-7F6B-447E-B471-A0C5D0BCF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56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BA8348-CD47-49E9-B2AB-CC9626E8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6BDBE1-AD78-49C9-81C3-88431C8B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DB748E-92D3-4F9B-A150-AA1EB7666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63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71E2C-B013-4C1B-A136-29EEB552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7D1C9-773A-4AFE-BBE7-584EDFA0C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5B80D2-5E0E-46BF-9A71-2D23489C5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EEB044-EF57-48D1-B1F3-BFC4DFEDA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A53B1E-3A41-4C9C-B7C2-B2CDFCE9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99D22B-0518-4154-AA49-DDC777374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21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DA30C-388B-477D-AD78-0A55B7795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0493FBE-F48E-4E0B-BA63-006EA5E7BD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52955F-B1C6-41FB-B489-474C5D51E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04B7AE-8F62-4BC3-93E5-EE903F4B5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865E28-AF62-40AD-A6DD-BB717201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227F69-28EA-4258-B6E8-49224B6A1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965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4A543-9B39-429D-82D0-F009B2468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3FC344-FACD-44C2-B4F5-931AB6C48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EECC51-547E-4E0E-A7B8-46DADCCC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A6FA4E-9C79-4D6D-95CC-4F6F384C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CB6C09-C337-4F39-8858-A2DDAC8E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24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12131D-EE71-41FE-8C14-A0A12CBCE2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D62D55-D380-4C75-A2DB-B4BB75ADC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21ED18-BD91-4631-B03C-2A8335065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27E53-8393-4364-8F27-75C13D97A0E8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95DB2B-7326-4E3D-A296-24F356E5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DF1D20-2B75-44C9-BC19-6B80B209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D2807F-E77D-47AF-BE97-7F279468F5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964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847FC-CB4F-9F04-2B43-D7A2943AB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65ED7689-5614-BAEE-F20A-BD4B4AABFEF5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B5DE25-3F76-6A3D-58D6-1370753AD3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22EBA4-B19B-76E7-88C7-D966189E9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BDA6DC-F193-5803-F20B-BF78BB9C4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33795D96-239A-4E42-BFBB-62A4DCDF55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361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5D244-BCDE-41CC-A65C-D24A9E5F1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96AD3-9217-4C73-8E14-774B7EEF0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705334-0718-4678-90F8-072254A4D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117834-2F47-4907-B04F-437841464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0E9D3-BB6D-4AE9-A795-7E424EDA2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4426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D99D4-81E2-4592-A3EB-B270B656A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6C68D6-6266-4426-AA7A-DD7D500CB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3E81F0-8659-4F42-BB30-4A66211D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04C79-175D-4D38-BA45-1D05AAA46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9A8E35-3036-49CF-B23C-4221396F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56779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83D61-63A8-4124-8A72-22440747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9DB9F-DF63-42F0-8A2E-3FB049997A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7F52A1-764A-4424-A5F4-000F5B0EE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4E75AD-43B8-42E1-9D51-9A30D62C2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B804CF-3148-4F27-BB31-6B6AF4EB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91A2DE-6774-4105-8DA3-1378F803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706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A9360-C6B8-4B28-82FD-E9C7B9985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57AF6A-0E5F-4488-8641-4D70A85F6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AA46E8-2891-464C-B80A-C07A0CBC3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7B71AD-2AE5-415D-9CCC-055CE03045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7A6F69-979B-47E1-BC65-FFCDBE985F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18FD03-D2C6-4D45-914D-5FA35C6D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DE71421-52E9-4800-8607-135390D86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1298AE3-5B74-418F-AAB3-8EED14AA6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604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06C037-8327-4219-8BB9-89E26B46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8C6762-5BEE-4647-9C0A-50B0BEBD5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65789A-8426-4161-9CAD-61EFDAF74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5DCB82-FDB8-40AF-BE3D-A71114BB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6228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F7B5CE4-FDA6-4734-9395-E4E9ADB0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91BD10-1EDA-4DB4-8D6F-BFEBEEBD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EDB813-CC17-43B2-81FF-76DA91F2A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386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7DA81-9F35-4343-A405-5DB4FBD13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7C6FC1-D949-404E-9E4E-EA9C5316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E3D51B-8EC7-4F32-9C79-38AF4DC671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E26E90-6430-4610-A100-C712B04A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D9C2A2-9F1F-47F0-94AF-E4E17DB9C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894D03-2A3B-4FCA-A989-4FBD996BA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5934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DBC59-B128-4618-85EC-A0F9FB690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D0730C0-772C-4F4D-81FE-175E3C44D4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19F30A-4738-4738-854C-69B912501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ECC440-FF31-4ACA-BF11-BBB3A6AF9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91992B-C496-4B30-93FE-1BF7FDD7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2FD2A6-7923-4DE5-89DE-B8707E18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0179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8A145-C3E6-4AFE-9F54-6C86EEEE2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7ECE10-8C1E-4097-AC1F-A6FA6DB20F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836C3-6D53-4706-8563-41C2D79B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A7960D-E182-4A0F-A9D0-E16CB937E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DB853C-78C5-4D4A-87AD-5FB415857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8493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8CD7066-C8BA-4CA4-BE09-4CA04616BD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40BE54-8D3B-433D-8B63-DDAE4873A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B6223A-CA97-4789-AB6E-DF3254E3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674D8-D595-481B-98B3-1F39AF99B99A}" type="datetimeFigureOut">
              <a:rPr lang="zh-CN" altLang="en-US" smtClean="0"/>
              <a:t>2024/11/1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97BF1-1B3B-4357-A3ED-3E0A90D4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B521D3-C256-45A3-A6E0-10F7383CD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DD3EC-14B0-476A-A7B6-2379185BAD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522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3D0BCA-C16D-4306-A795-6A715CD91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F5D44D-22CC-49AD-8D5B-39E6D2A8E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2BBA4C-DBCC-4996-970B-53F7D8603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07C27E53-8393-4364-8F27-75C13D97A0E8}" type="datetimeFigureOut">
              <a:rPr lang="zh-CN" altLang="en-US" smtClean="0"/>
              <a:pPr/>
              <a:t>2024/11/1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2EF46F-AE67-4CCB-8C3C-F13C32770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DE7BE9-0396-45A4-B420-454185119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93D2807F-E77D-47AF-BE97-7F279468F5B6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2653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A38F4A-CD86-4D85-B769-84A13412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85E8B6-5E71-41D4-A78F-9E362AAB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C73B5A-3C2A-41D0-9710-50C836924F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65A674D8-D595-481B-98B3-1F39AF99B99A}" type="datetimeFigureOut">
              <a:rPr lang="zh-CN" altLang="en-US" smtClean="0"/>
              <a:pPr/>
              <a:t>2024/11/1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C0C24F-3BC4-45D8-A22C-ADE4ACFE5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9AF3A3-4D41-4E21-A8D1-DB359598E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</a:defRPr>
            </a:lvl1pPr>
          </a:lstStyle>
          <a:p>
            <a:fld id="{B35DD3EC-14B0-476A-A7B6-2379185BAD1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2220991-5AEB-4C3B-8A05-33998EA4EB07}"/>
              </a:ext>
            </a:extLst>
          </p:cNvPr>
          <p:cNvCxnSpPr>
            <a:cxnSpLocks/>
          </p:cNvCxnSpPr>
          <p:nvPr userDrawn="1"/>
        </p:nvCxnSpPr>
        <p:spPr>
          <a:xfrm>
            <a:off x="527050" y="923086"/>
            <a:ext cx="111379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EE6DF22C-0C3D-4391-A682-D78EBF6C8B4B}"/>
              </a:ext>
            </a:extLst>
          </p:cNvPr>
          <p:cNvSpPr/>
          <p:nvPr userDrawn="1"/>
        </p:nvSpPr>
        <p:spPr>
          <a:xfrm rot="5400000">
            <a:off x="478876" y="414720"/>
            <a:ext cx="441960" cy="267628"/>
          </a:xfrm>
          <a:prstGeom prst="triangle">
            <a:avLst/>
          </a:prstGeom>
          <a:solidFill>
            <a:srgbClr val="005A9E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5" rIns="91428" bIns="45715" rtlCol="0" anchor="ctr"/>
          <a:lstStyle/>
          <a:p>
            <a:pPr algn="ctr"/>
            <a:endParaRPr lang="zh-CN" altLang="en-US" sz="2400" dirty="0">
              <a:latin typeface="OPPOSans B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655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OPPOSans R" panose="00020600040101010101" pitchFamily="18" charset="-122"/>
          <a:ea typeface="OPPOSans R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9" name="Text Box 3">
            <a:extLst>
              <a:ext uri="{FF2B5EF4-FFF2-40B4-BE49-F238E27FC236}">
                <a16:creationId xmlns:a16="http://schemas.microsoft.com/office/drawing/2014/main" id="{2BFF1B4B-B115-711A-D690-1C78709D9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599" y="944668"/>
            <a:ext cx="104956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5334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128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92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对于前面介绍的单链表，仔细研究你会发现它有一个明显的缺点，这就是它的单向性。</a:t>
            </a:r>
          </a:p>
        </p:txBody>
      </p:sp>
      <p:sp>
        <p:nvSpPr>
          <p:cNvPr id="193540" name="Rectangle 4">
            <a:extLst>
              <a:ext uri="{FF2B5EF4-FFF2-40B4-BE49-F238E27FC236}">
                <a16:creationId xmlns:a16="http://schemas.microsoft.com/office/drawing/2014/main" id="{D3C90577-AC7C-0CDB-00C6-7C4D058EB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4606923"/>
            <a:ext cx="874014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533400">
              <a:lnSpc>
                <a:spcPct val="90000"/>
              </a:lnSpc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为了克服这种局限性，人们想了两种办法：</a:t>
            </a:r>
          </a:p>
          <a:p>
            <a:pPr marL="0" lvl="2" indent="533400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建环路</a:t>
            </a:r>
          </a:p>
          <a:p>
            <a:pPr marL="0" lvl="2" indent="533400">
              <a:lnSpc>
                <a:spcPct val="9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建双向路</a:t>
            </a:r>
          </a:p>
          <a:p>
            <a:pPr indent="533400">
              <a:lnSpc>
                <a:spcPct val="90000"/>
              </a:lnSpc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这就引出了表示线性表的另外两种链式存储结构：循环链表和双向链表。</a:t>
            </a:r>
          </a:p>
        </p:txBody>
      </p:sp>
      <p:sp>
        <p:nvSpPr>
          <p:cNvPr id="193541" name="Rectangle 5">
            <a:extLst>
              <a:ext uri="{FF2B5EF4-FFF2-40B4-BE49-F238E27FC236}">
                <a16:creationId xmlns:a16="http://schemas.microsoft.com/office/drawing/2014/main" id="{7D101C85-ECD5-4962-1704-9FBAB9251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662113"/>
            <a:ext cx="8153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334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4863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42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我们知道，在单链表中，从头结点出发顺链可以到达任一结点。</a:t>
            </a:r>
          </a:p>
        </p:txBody>
      </p:sp>
      <p:grpSp>
        <p:nvGrpSpPr>
          <p:cNvPr id="193542" name="Group 6">
            <a:extLst>
              <a:ext uri="{FF2B5EF4-FFF2-40B4-BE49-F238E27FC236}">
                <a16:creationId xmlns:a16="http://schemas.microsoft.com/office/drawing/2014/main" id="{39F81384-6A78-09C7-0AC5-0DB36E5F33EC}"/>
              </a:ext>
            </a:extLst>
          </p:cNvPr>
          <p:cNvGrpSpPr>
            <a:grpSpLocks/>
          </p:cNvGrpSpPr>
          <p:nvPr/>
        </p:nvGrpSpPr>
        <p:grpSpPr bwMode="auto">
          <a:xfrm>
            <a:off x="1828801" y="1828800"/>
            <a:ext cx="1693863" cy="793750"/>
            <a:chOff x="528" y="1632"/>
            <a:chExt cx="1067" cy="500"/>
          </a:xfrm>
        </p:grpSpPr>
        <p:grpSp>
          <p:nvGrpSpPr>
            <p:cNvPr id="193543" name="Group 7">
              <a:extLst>
                <a:ext uri="{FF2B5EF4-FFF2-40B4-BE49-F238E27FC236}">
                  <a16:creationId xmlns:a16="http://schemas.microsoft.com/office/drawing/2014/main" id="{99C188A5-4C4B-D18C-615D-BC3FB404A2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632"/>
              <a:ext cx="971" cy="500"/>
              <a:chOff x="624" y="1632"/>
              <a:chExt cx="971" cy="500"/>
            </a:xfrm>
          </p:grpSpPr>
          <p:sp>
            <p:nvSpPr>
              <p:cNvPr id="193544" name="Rectangle 8">
                <a:extLst>
                  <a:ext uri="{FF2B5EF4-FFF2-40B4-BE49-F238E27FC236}">
                    <a16:creationId xmlns:a16="http://schemas.microsoft.com/office/drawing/2014/main" id="{B0CC730E-19A0-A478-ADBD-1C00F12317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" y="1796"/>
                <a:ext cx="576" cy="336"/>
              </a:xfrm>
              <a:prstGeom prst="rect">
                <a:avLst/>
              </a:prstGeom>
              <a:solidFill>
                <a:srgbClr val="CCFFFF">
                  <a:alpha val="50000"/>
                </a:srgbClr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endParaRPr kumimoji="1" lang="zh-CN" altLang="zh-CN" sz="36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3545" name="Line 9">
                <a:extLst>
                  <a:ext uri="{FF2B5EF4-FFF2-40B4-BE49-F238E27FC236}">
                    <a16:creationId xmlns:a16="http://schemas.microsoft.com/office/drawing/2014/main" id="{654A3A86-068A-94C5-F7EC-BBA2B22F52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3" y="179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3546" name="Text Box 10">
                <a:extLst>
                  <a:ext uri="{FF2B5EF4-FFF2-40B4-BE49-F238E27FC236}">
                    <a16:creationId xmlns:a16="http://schemas.microsoft.com/office/drawing/2014/main" id="{17DE1B57-6FEB-F1C2-E0CC-914CC5757E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632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193547" name="Line 11">
              <a:extLst>
                <a:ext uri="{FF2B5EF4-FFF2-40B4-BE49-F238E27FC236}">
                  <a16:creationId xmlns:a16="http://schemas.microsoft.com/office/drawing/2014/main" id="{D7CDE7DF-3CF3-B8C5-9A6E-F7601C3AE0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968"/>
              <a:ext cx="4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3548" name="Group 12">
            <a:extLst>
              <a:ext uri="{FF2B5EF4-FFF2-40B4-BE49-F238E27FC236}">
                <a16:creationId xmlns:a16="http://schemas.microsoft.com/office/drawing/2014/main" id="{43576CA2-3A56-767C-7F5A-F02B1F3216A8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089150"/>
            <a:ext cx="1371600" cy="533400"/>
            <a:chOff x="768" y="2544"/>
            <a:chExt cx="864" cy="336"/>
          </a:xfrm>
        </p:grpSpPr>
        <p:sp>
          <p:nvSpPr>
            <p:cNvPr id="193549" name="Rectangle 13">
              <a:extLst>
                <a:ext uri="{FF2B5EF4-FFF2-40B4-BE49-F238E27FC236}">
                  <a16:creationId xmlns:a16="http://schemas.microsoft.com/office/drawing/2014/main" id="{8391772F-B68A-687A-5FED-85B26C0EC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44"/>
              <a:ext cx="576" cy="336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kumimoji="1" lang="en-US" altLang="zh-CN" sz="32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200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3550" name="Line 14">
              <a:extLst>
                <a:ext uri="{FF2B5EF4-FFF2-40B4-BE49-F238E27FC236}">
                  <a16:creationId xmlns:a16="http://schemas.microsoft.com/office/drawing/2014/main" id="{97DD6836-AB4C-7E7A-A42E-086AE4CF5D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54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551" name="Line 15">
              <a:extLst>
                <a:ext uri="{FF2B5EF4-FFF2-40B4-BE49-F238E27FC236}">
                  <a16:creationId xmlns:a16="http://schemas.microsoft.com/office/drawing/2014/main" id="{DD542F0B-B463-6229-016D-3FE162CBF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oval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3552" name="Group 16">
            <a:extLst>
              <a:ext uri="{FF2B5EF4-FFF2-40B4-BE49-F238E27FC236}">
                <a16:creationId xmlns:a16="http://schemas.microsoft.com/office/drawing/2014/main" id="{B9EDCD7E-1EB1-513C-C4A9-2BF84D58A752}"/>
              </a:ext>
            </a:extLst>
          </p:cNvPr>
          <p:cNvGrpSpPr>
            <a:grpSpLocks/>
          </p:cNvGrpSpPr>
          <p:nvPr/>
        </p:nvGrpSpPr>
        <p:grpSpPr bwMode="auto">
          <a:xfrm>
            <a:off x="5427663" y="2089150"/>
            <a:ext cx="1371600" cy="533400"/>
            <a:chOff x="2267" y="1796"/>
            <a:chExt cx="864" cy="336"/>
          </a:xfrm>
        </p:grpSpPr>
        <p:sp>
          <p:nvSpPr>
            <p:cNvPr id="193553" name="Rectangle 17">
              <a:extLst>
                <a:ext uri="{FF2B5EF4-FFF2-40B4-BE49-F238E27FC236}">
                  <a16:creationId xmlns:a16="http://schemas.microsoft.com/office/drawing/2014/main" id="{B37DF13C-0105-9293-6C05-75E95F429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" y="1796"/>
              <a:ext cx="576" cy="336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kumimoji="1"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2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i-1</a:t>
              </a:r>
            </a:p>
          </p:txBody>
        </p:sp>
        <p:sp>
          <p:nvSpPr>
            <p:cNvPr id="193554" name="Line 18">
              <a:extLst>
                <a:ext uri="{FF2B5EF4-FFF2-40B4-BE49-F238E27FC236}">
                  <a16:creationId xmlns:a16="http://schemas.microsoft.com/office/drawing/2014/main" id="{734B5D84-D2D8-FAF2-6853-D77872E8D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9" y="1796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555" name="Line 19">
              <a:extLst>
                <a:ext uri="{FF2B5EF4-FFF2-40B4-BE49-F238E27FC236}">
                  <a16:creationId xmlns:a16="http://schemas.microsoft.com/office/drawing/2014/main" id="{803E5A8D-A573-5E09-857F-92048B867D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" y="1988"/>
              <a:ext cx="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oval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3556" name="Rectangle 20">
            <a:extLst>
              <a:ext uri="{FF2B5EF4-FFF2-40B4-BE49-F238E27FC236}">
                <a16:creationId xmlns:a16="http://schemas.microsoft.com/office/drawing/2014/main" id="{96D36923-C101-D9B4-F987-6BEADC3C3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3" y="2089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32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32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93557" name="Line 21">
            <a:extLst>
              <a:ext uri="{FF2B5EF4-FFF2-40B4-BE49-F238E27FC236}">
                <a16:creationId xmlns:a16="http://schemas.microsoft.com/office/drawing/2014/main" id="{A85A7819-59B6-D75D-DFE1-9FFEF2F53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3663" y="2089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58" name="Line 22">
            <a:extLst>
              <a:ext uri="{FF2B5EF4-FFF2-40B4-BE49-F238E27FC236}">
                <a16:creationId xmlns:a16="http://schemas.microsoft.com/office/drawing/2014/main" id="{356DB70B-07DA-D46C-6F99-F101BB25F6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6863" y="2393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3559" name="Group 23">
            <a:extLst>
              <a:ext uri="{FF2B5EF4-FFF2-40B4-BE49-F238E27FC236}">
                <a16:creationId xmlns:a16="http://schemas.microsoft.com/office/drawing/2014/main" id="{A5D71AD8-C07E-FAD0-51CA-5302031BE698}"/>
              </a:ext>
            </a:extLst>
          </p:cNvPr>
          <p:cNvGrpSpPr>
            <a:grpSpLocks/>
          </p:cNvGrpSpPr>
          <p:nvPr/>
        </p:nvGrpSpPr>
        <p:grpSpPr bwMode="auto">
          <a:xfrm>
            <a:off x="8780466" y="2044700"/>
            <a:ext cx="1371600" cy="533400"/>
            <a:chOff x="4667" y="1652"/>
            <a:chExt cx="864" cy="336"/>
          </a:xfrm>
        </p:grpSpPr>
        <p:sp>
          <p:nvSpPr>
            <p:cNvPr id="193560" name="Rectangle 24">
              <a:extLst>
                <a:ext uri="{FF2B5EF4-FFF2-40B4-BE49-F238E27FC236}">
                  <a16:creationId xmlns:a16="http://schemas.microsoft.com/office/drawing/2014/main" id="{250C67FC-FDBF-3694-D23B-09EB57AF8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5" y="1652"/>
              <a:ext cx="576" cy="336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kumimoji="1"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2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193561" name="Line 25">
              <a:extLst>
                <a:ext uri="{FF2B5EF4-FFF2-40B4-BE49-F238E27FC236}">
                  <a16:creationId xmlns:a16="http://schemas.microsoft.com/office/drawing/2014/main" id="{055DAB20-77A8-C517-2669-D005E0D26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9" y="1652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562" name="Rectangle 26">
              <a:extLst>
                <a:ext uri="{FF2B5EF4-FFF2-40B4-BE49-F238E27FC236}">
                  <a16:creationId xmlns:a16="http://schemas.microsoft.com/office/drawing/2014/main" id="{17805749-1129-0721-EE39-3FDB0818F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1" y="1700"/>
              <a:ext cx="233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>
                  <a:solidFill>
                    <a:srgbClr val="000000"/>
                  </a:solidFill>
                </a:rPr>
                <a:t>∧</a:t>
              </a:r>
            </a:p>
          </p:txBody>
        </p:sp>
        <p:sp>
          <p:nvSpPr>
            <p:cNvPr id="193563" name="Line 27">
              <a:extLst>
                <a:ext uri="{FF2B5EF4-FFF2-40B4-BE49-F238E27FC236}">
                  <a16:creationId xmlns:a16="http://schemas.microsoft.com/office/drawing/2014/main" id="{BD6603BF-1E3F-6427-99C1-7C3BD73A93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7" y="1844"/>
              <a:ext cx="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oval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3564" name="Line 28">
            <a:extLst>
              <a:ext uri="{FF2B5EF4-FFF2-40B4-BE49-F238E27FC236}">
                <a16:creationId xmlns:a16="http://schemas.microsoft.com/office/drawing/2014/main" id="{76A10D6A-B61A-4D90-7B62-EAE04EDF32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36220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65" name="Text Box 29">
            <a:extLst>
              <a:ext uri="{FF2B5EF4-FFF2-40B4-BE49-F238E27FC236}">
                <a16:creationId xmlns:a16="http://schemas.microsoft.com/office/drawing/2014/main" id="{B399B18B-EE3A-389A-6106-200A43E6E4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1936750"/>
            <a:ext cx="60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3566" name="Line 30">
            <a:extLst>
              <a:ext uri="{FF2B5EF4-FFF2-40B4-BE49-F238E27FC236}">
                <a16:creationId xmlns:a16="http://schemas.microsoft.com/office/drawing/2014/main" id="{8E2F5D20-62FB-B7E4-42E4-9B27502EA0C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393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3567" name="Text Box 31">
            <a:extLst>
              <a:ext uri="{FF2B5EF4-FFF2-40B4-BE49-F238E27FC236}">
                <a16:creationId xmlns:a16="http://schemas.microsoft.com/office/drawing/2014/main" id="{5A37D584-895A-EA4B-C400-EE41A93CB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966914"/>
            <a:ext cx="609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</a:rPr>
              <a:t>…</a:t>
            </a:r>
          </a:p>
        </p:txBody>
      </p:sp>
      <p:grpSp>
        <p:nvGrpSpPr>
          <p:cNvPr id="193568" name="Group 32">
            <a:extLst>
              <a:ext uri="{FF2B5EF4-FFF2-40B4-BE49-F238E27FC236}">
                <a16:creationId xmlns:a16="http://schemas.microsoft.com/office/drawing/2014/main" id="{7750C62A-0EAF-FC29-5084-09674A8D9DB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667000"/>
            <a:ext cx="609600" cy="533400"/>
            <a:chOff x="3264" y="1488"/>
            <a:chExt cx="384" cy="336"/>
          </a:xfrm>
        </p:grpSpPr>
        <p:sp>
          <p:nvSpPr>
            <p:cNvPr id="193569" name="Text Box 33">
              <a:extLst>
                <a:ext uri="{FF2B5EF4-FFF2-40B4-BE49-F238E27FC236}">
                  <a16:creationId xmlns:a16="http://schemas.microsoft.com/office/drawing/2014/main" id="{8EFD6533-A0CF-E5FC-C74B-61CA07C3D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193570" name="Line 34">
              <a:extLst>
                <a:ext uri="{FF2B5EF4-FFF2-40B4-BE49-F238E27FC236}">
                  <a16:creationId xmlns:a16="http://schemas.microsoft.com/office/drawing/2014/main" id="{D150998E-35B5-8726-A922-E8C6BC8D1E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3571" name="Group 35">
            <a:extLst>
              <a:ext uri="{FF2B5EF4-FFF2-40B4-BE49-F238E27FC236}">
                <a16:creationId xmlns:a16="http://schemas.microsoft.com/office/drawing/2014/main" id="{C9704E83-23B4-5C9A-F7AB-A8152B2D8C96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2667000"/>
            <a:ext cx="609600" cy="533400"/>
            <a:chOff x="3264" y="1488"/>
            <a:chExt cx="384" cy="336"/>
          </a:xfrm>
        </p:grpSpPr>
        <p:sp>
          <p:nvSpPr>
            <p:cNvPr id="193572" name="Text Box 36">
              <a:extLst>
                <a:ext uri="{FF2B5EF4-FFF2-40B4-BE49-F238E27FC236}">
                  <a16:creationId xmlns:a16="http://schemas.microsoft.com/office/drawing/2014/main" id="{AE1AEABB-4A86-945A-E020-B5D47F7DB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193573" name="Line 37">
              <a:extLst>
                <a:ext uri="{FF2B5EF4-FFF2-40B4-BE49-F238E27FC236}">
                  <a16:creationId xmlns:a16="http://schemas.microsoft.com/office/drawing/2014/main" id="{5455A18D-9B20-E9ED-EFE4-8C4EB0E3BC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3574" name="Group 38">
            <a:extLst>
              <a:ext uri="{FF2B5EF4-FFF2-40B4-BE49-F238E27FC236}">
                <a16:creationId xmlns:a16="http://schemas.microsoft.com/office/drawing/2014/main" id="{31493663-B211-DF7A-8115-1AFD1612441C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2667000"/>
            <a:ext cx="609600" cy="533400"/>
            <a:chOff x="3264" y="1488"/>
            <a:chExt cx="384" cy="336"/>
          </a:xfrm>
        </p:grpSpPr>
        <p:sp>
          <p:nvSpPr>
            <p:cNvPr id="193575" name="Text Box 39">
              <a:extLst>
                <a:ext uri="{FF2B5EF4-FFF2-40B4-BE49-F238E27FC236}">
                  <a16:creationId xmlns:a16="http://schemas.microsoft.com/office/drawing/2014/main" id="{214A7401-0328-25E3-522B-328641D63F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193576" name="Line 40">
              <a:extLst>
                <a:ext uri="{FF2B5EF4-FFF2-40B4-BE49-F238E27FC236}">
                  <a16:creationId xmlns:a16="http://schemas.microsoft.com/office/drawing/2014/main" id="{FB310220-0E3F-F57F-6874-A2A6196496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3577" name="Group 41">
            <a:extLst>
              <a:ext uri="{FF2B5EF4-FFF2-40B4-BE49-F238E27FC236}">
                <a16:creationId xmlns:a16="http://schemas.microsoft.com/office/drawing/2014/main" id="{21832F8C-CAA1-8EA8-2E90-4156EA6241FA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667000"/>
            <a:ext cx="609600" cy="533400"/>
            <a:chOff x="3264" y="1488"/>
            <a:chExt cx="384" cy="336"/>
          </a:xfrm>
        </p:grpSpPr>
        <p:sp>
          <p:nvSpPr>
            <p:cNvPr id="193578" name="Text Box 42">
              <a:extLst>
                <a:ext uri="{FF2B5EF4-FFF2-40B4-BE49-F238E27FC236}">
                  <a16:creationId xmlns:a16="http://schemas.microsoft.com/office/drawing/2014/main" id="{C890747A-DED6-F88E-10F5-CAC908048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193579" name="Line 43">
              <a:extLst>
                <a:ext uri="{FF2B5EF4-FFF2-40B4-BE49-F238E27FC236}">
                  <a16:creationId xmlns:a16="http://schemas.microsoft.com/office/drawing/2014/main" id="{76092AC2-25BF-2FDF-39E0-997D123180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93580" name="Rectangle 44">
            <a:extLst>
              <a:ext uri="{FF2B5EF4-FFF2-40B4-BE49-F238E27FC236}">
                <a16:creationId xmlns:a16="http://schemas.microsoft.com/office/drawing/2014/main" id="{82937E92-899F-2BF6-CF55-EFBDCA2BA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899" y="3440112"/>
            <a:ext cx="1119807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441325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27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533400"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但是，在到达某个结点后，只能顺链向后寻查其他结点。此时，若想访问该结点的前驱，只能由头结点从头再来。因此，单链表就像一条单行路一样。</a:t>
            </a:r>
          </a:p>
        </p:txBody>
      </p:sp>
      <p:grpSp>
        <p:nvGrpSpPr>
          <p:cNvPr id="193581" name="Group 45">
            <a:extLst>
              <a:ext uri="{FF2B5EF4-FFF2-40B4-BE49-F238E27FC236}">
                <a16:creationId xmlns:a16="http://schemas.microsoft.com/office/drawing/2014/main" id="{02856B97-7390-89AC-9484-919A80A8E596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667000"/>
            <a:ext cx="609600" cy="533400"/>
            <a:chOff x="3264" y="1488"/>
            <a:chExt cx="384" cy="336"/>
          </a:xfrm>
        </p:grpSpPr>
        <p:sp>
          <p:nvSpPr>
            <p:cNvPr id="193582" name="Text Box 46">
              <a:extLst>
                <a:ext uri="{FF2B5EF4-FFF2-40B4-BE49-F238E27FC236}">
                  <a16:creationId xmlns:a16="http://schemas.microsoft.com/office/drawing/2014/main" id="{F10E2E58-03B9-14ED-9279-0EB4E2061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00"/>
                  </a:solidFill>
                </a:rPr>
                <a:t>p</a:t>
              </a:r>
            </a:p>
          </p:txBody>
        </p:sp>
        <p:sp>
          <p:nvSpPr>
            <p:cNvPr id="193583" name="Line 47">
              <a:extLst>
                <a:ext uri="{FF2B5EF4-FFF2-40B4-BE49-F238E27FC236}">
                  <a16:creationId xmlns:a16="http://schemas.microsoft.com/office/drawing/2014/main" id="{BD938B6D-BEF0-DA82-E7F8-6DCE38B73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762B53BE-6816-D56E-2384-D3BD5DDA1DF7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8CC14D-BD28-B2F5-DA30-F1CD8F487394}"/>
              </a:ext>
            </a:extLst>
          </p:cNvPr>
          <p:cNvSpPr txBox="1"/>
          <p:nvPr/>
        </p:nvSpPr>
        <p:spPr>
          <a:xfrm>
            <a:off x="392806" y="106251"/>
            <a:ext cx="6617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四、循环链表和双向链表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BFA70C-DAD2-1F7A-E608-1FD46F47136B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xit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" dur="500"/>
                                        <p:tgtEl>
                                          <p:spTgt spid="1935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9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xit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1935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9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xit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193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9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xit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1935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9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41" presetID="18" presetClass="entr" presetSubtype="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1000"/>
                                        <p:tgtEl>
                                          <p:spTgt spid="19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0" grpId="0"/>
      <p:bldP spid="19358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Text Box 3">
            <a:extLst>
              <a:ext uri="{FF2B5EF4-FFF2-40B4-BE49-F238E27FC236}">
                <a16:creationId xmlns:a16="http://schemas.microsoft.com/office/drawing/2014/main" id="{4D97B6B5-7E51-1E03-EB57-7C40BDBB5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1" y="959342"/>
            <a:ext cx="830580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128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92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ea typeface="黑体" panose="02010609060101010101" pitchFamily="49" charset="-122"/>
              </a:rPr>
              <a:t>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一）、循环链表</a:t>
            </a:r>
          </a:p>
          <a:p>
            <a:pPr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对于线性表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L=(a1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ai-1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，其循环链表如下图所示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</p:txBody>
      </p:sp>
      <p:sp>
        <p:nvSpPr>
          <p:cNvPr id="194564" name="Rectangle 4">
            <a:extLst>
              <a:ext uri="{FF2B5EF4-FFF2-40B4-BE49-F238E27FC236}">
                <a16:creationId xmlns:a16="http://schemas.microsoft.com/office/drawing/2014/main" id="{32DDD63F-38E1-0B92-5419-E70B6370C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63875"/>
            <a:ext cx="5791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334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4863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842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循环链表与单链表的差别在于：</a:t>
            </a:r>
          </a:p>
        </p:txBody>
      </p:sp>
      <p:grpSp>
        <p:nvGrpSpPr>
          <p:cNvPr id="194565" name="Group 5">
            <a:extLst>
              <a:ext uri="{FF2B5EF4-FFF2-40B4-BE49-F238E27FC236}">
                <a16:creationId xmlns:a16="http://schemas.microsoft.com/office/drawing/2014/main" id="{F8A1F2EF-0777-14D9-9473-B922EBF724F3}"/>
              </a:ext>
            </a:extLst>
          </p:cNvPr>
          <p:cNvGrpSpPr>
            <a:grpSpLocks/>
          </p:cNvGrpSpPr>
          <p:nvPr/>
        </p:nvGrpSpPr>
        <p:grpSpPr bwMode="auto">
          <a:xfrm>
            <a:off x="1828801" y="1752600"/>
            <a:ext cx="1693863" cy="793750"/>
            <a:chOff x="528" y="1632"/>
            <a:chExt cx="1067" cy="500"/>
          </a:xfrm>
        </p:grpSpPr>
        <p:grpSp>
          <p:nvGrpSpPr>
            <p:cNvPr id="194566" name="Group 6">
              <a:extLst>
                <a:ext uri="{FF2B5EF4-FFF2-40B4-BE49-F238E27FC236}">
                  <a16:creationId xmlns:a16="http://schemas.microsoft.com/office/drawing/2014/main" id="{3FE0C39F-12FF-E974-8C91-EE0F339ACE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632"/>
              <a:ext cx="971" cy="500"/>
              <a:chOff x="624" y="1632"/>
              <a:chExt cx="971" cy="500"/>
            </a:xfrm>
          </p:grpSpPr>
          <p:sp>
            <p:nvSpPr>
              <p:cNvPr id="194567" name="Rectangle 7">
                <a:extLst>
                  <a:ext uri="{FF2B5EF4-FFF2-40B4-BE49-F238E27FC236}">
                    <a16:creationId xmlns:a16="http://schemas.microsoft.com/office/drawing/2014/main" id="{94786054-1A3C-F91F-4326-78DC463AFF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" y="1796"/>
                <a:ext cx="576" cy="336"/>
              </a:xfrm>
              <a:prstGeom prst="rect">
                <a:avLst/>
              </a:prstGeom>
              <a:solidFill>
                <a:srgbClr val="CCFFFF">
                  <a:alpha val="50000"/>
                </a:srgbClr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endParaRPr kumimoji="1" lang="zh-CN" altLang="zh-CN" sz="36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568" name="Line 8">
                <a:extLst>
                  <a:ext uri="{FF2B5EF4-FFF2-40B4-BE49-F238E27FC236}">
                    <a16:creationId xmlns:a16="http://schemas.microsoft.com/office/drawing/2014/main" id="{7B3BA157-E729-15B1-AD89-56302457B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3" y="179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69" name="Text Box 9">
                <a:extLst>
                  <a:ext uri="{FF2B5EF4-FFF2-40B4-BE49-F238E27FC236}">
                    <a16:creationId xmlns:a16="http://schemas.microsoft.com/office/drawing/2014/main" id="{EE7988B9-D9EB-DDF6-4FD2-0F33A75A6F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632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194570" name="Line 10">
              <a:extLst>
                <a:ext uri="{FF2B5EF4-FFF2-40B4-BE49-F238E27FC236}">
                  <a16:creationId xmlns:a16="http://schemas.microsoft.com/office/drawing/2014/main" id="{9BFE67E6-28CC-14CD-935B-0F98B5735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968"/>
              <a:ext cx="4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4571" name="Group 11">
            <a:extLst>
              <a:ext uri="{FF2B5EF4-FFF2-40B4-BE49-F238E27FC236}">
                <a16:creationId xmlns:a16="http://schemas.microsoft.com/office/drawing/2014/main" id="{18350055-9E9F-95A6-5B85-6E76AA669907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012950"/>
            <a:ext cx="1371600" cy="533400"/>
            <a:chOff x="768" y="2544"/>
            <a:chExt cx="864" cy="336"/>
          </a:xfrm>
        </p:grpSpPr>
        <p:sp>
          <p:nvSpPr>
            <p:cNvPr id="194572" name="Rectangle 12">
              <a:extLst>
                <a:ext uri="{FF2B5EF4-FFF2-40B4-BE49-F238E27FC236}">
                  <a16:creationId xmlns:a16="http://schemas.microsoft.com/office/drawing/2014/main" id="{7721898F-A42C-CD2D-ED4F-FD7AF3980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44"/>
              <a:ext cx="576" cy="336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kumimoji="1"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2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4573" name="Line 13">
              <a:extLst>
                <a:ext uri="{FF2B5EF4-FFF2-40B4-BE49-F238E27FC236}">
                  <a16:creationId xmlns:a16="http://schemas.microsoft.com/office/drawing/2014/main" id="{C427E3E2-87C2-E2C5-A19B-5ECC6C9BE5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54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574" name="Line 14">
              <a:extLst>
                <a:ext uri="{FF2B5EF4-FFF2-40B4-BE49-F238E27FC236}">
                  <a16:creationId xmlns:a16="http://schemas.microsoft.com/office/drawing/2014/main" id="{A52D3A70-329B-9A93-B6B6-D7C13340C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oval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4575" name="Group 15">
            <a:extLst>
              <a:ext uri="{FF2B5EF4-FFF2-40B4-BE49-F238E27FC236}">
                <a16:creationId xmlns:a16="http://schemas.microsoft.com/office/drawing/2014/main" id="{660796DC-F9BD-1C38-ED92-2FA1E8FC56C6}"/>
              </a:ext>
            </a:extLst>
          </p:cNvPr>
          <p:cNvGrpSpPr>
            <a:grpSpLocks/>
          </p:cNvGrpSpPr>
          <p:nvPr/>
        </p:nvGrpSpPr>
        <p:grpSpPr bwMode="auto">
          <a:xfrm>
            <a:off x="5427663" y="2012950"/>
            <a:ext cx="1371600" cy="533400"/>
            <a:chOff x="2267" y="1796"/>
            <a:chExt cx="864" cy="336"/>
          </a:xfrm>
        </p:grpSpPr>
        <p:sp>
          <p:nvSpPr>
            <p:cNvPr id="194576" name="Rectangle 16">
              <a:extLst>
                <a:ext uri="{FF2B5EF4-FFF2-40B4-BE49-F238E27FC236}">
                  <a16:creationId xmlns:a16="http://schemas.microsoft.com/office/drawing/2014/main" id="{A4E3D36F-DD20-372D-242B-FA182B813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" y="1796"/>
              <a:ext cx="576" cy="336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kumimoji="1"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2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i-1</a:t>
              </a:r>
            </a:p>
          </p:txBody>
        </p:sp>
        <p:sp>
          <p:nvSpPr>
            <p:cNvPr id="194577" name="Line 17">
              <a:extLst>
                <a:ext uri="{FF2B5EF4-FFF2-40B4-BE49-F238E27FC236}">
                  <a16:creationId xmlns:a16="http://schemas.microsoft.com/office/drawing/2014/main" id="{9A6B0DBA-AD00-9C4F-ABCB-090DEAA4C0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9" y="1796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578" name="Line 18">
              <a:extLst>
                <a:ext uri="{FF2B5EF4-FFF2-40B4-BE49-F238E27FC236}">
                  <a16:creationId xmlns:a16="http://schemas.microsoft.com/office/drawing/2014/main" id="{06B06A47-883F-2664-E94A-FA3360722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" y="1988"/>
              <a:ext cx="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oval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4579" name="Rectangle 19">
            <a:extLst>
              <a:ext uri="{FF2B5EF4-FFF2-40B4-BE49-F238E27FC236}">
                <a16:creationId xmlns:a16="http://schemas.microsoft.com/office/drawing/2014/main" id="{39595BFC-F3FA-4FD8-DBE3-F15CF131E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3" y="20129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32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32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94580" name="Line 20">
            <a:extLst>
              <a:ext uri="{FF2B5EF4-FFF2-40B4-BE49-F238E27FC236}">
                <a16:creationId xmlns:a16="http://schemas.microsoft.com/office/drawing/2014/main" id="{49B5571C-F3A0-1DD2-F8FB-5FA0828E9AE1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3663" y="20129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81" name="Line 21">
            <a:extLst>
              <a:ext uri="{FF2B5EF4-FFF2-40B4-BE49-F238E27FC236}">
                <a16:creationId xmlns:a16="http://schemas.microsoft.com/office/drawing/2014/main" id="{2D35C632-BF50-E0B8-36C6-6D569F4ECA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6863" y="23177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82" name="Rectangle 22">
            <a:extLst>
              <a:ext uri="{FF2B5EF4-FFF2-40B4-BE49-F238E27FC236}">
                <a16:creationId xmlns:a16="http://schemas.microsoft.com/office/drawing/2014/main" id="{434D193B-F95C-CF12-58AC-DBE360DAE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7663" y="19685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32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32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194583" name="Line 23">
            <a:extLst>
              <a:ext uri="{FF2B5EF4-FFF2-40B4-BE49-F238E27FC236}">
                <a16:creationId xmlns:a16="http://schemas.microsoft.com/office/drawing/2014/main" id="{C0C3F483-E855-0CD2-5719-179C00A7E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9847263" y="19685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84" name="Line 24">
            <a:extLst>
              <a:ext uri="{FF2B5EF4-FFF2-40B4-BE49-F238E27FC236}">
                <a16:creationId xmlns:a16="http://schemas.microsoft.com/office/drawing/2014/main" id="{5DFD34CF-1525-4002-E117-EB5BF2880B9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80463" y="227330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85" name="Line 25">
            <a:extLst>
              <a:ext uri="{FF2B5EF4-FFF2-40B4-BE49-F238E27FC236}">
                <a16:creationId xmlns:a16="http://schemas.microsoft.com/office/drawing/2014/main" id="{B0C07E1E-7EEB-0EAF-9C32-8F8C7F589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228600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86" name="Text Box 26">
            <a:extLst>
              <a:ext uri="{FF2B5EF4-FFF2-40B4-BE49-F238E27FC236}">
                <a16:creationId xmlns:a16="http://schemas.microsoft.com/office/drawing/2014/main" id="{E6F5CC45-C5F1-1BA2-5D61-80B6A97AC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1860550"/>
            <a:ext cx="60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4587" name="Line 27">
            <a:extLst>
              <a:ext uri="{FF2B5EF4-FFF2-40B4-BE49-F238E27FC236}">
                <a16:creationId xmlns:a16="http://schemas.microsoft.com/office/drawing/2014/main" id="{B3A608BF-3146-2BA1-6150-34B970828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3177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588" name="Text Box 28">
            <a:extLst>
              <a:ext uri="{FF2B5EF4-FFF2-40B4-BE49-F238E27FC236}">
                <a16:creationId xmlns:a16="http://schemas.microsoft.com/office/drawing/2014/main" id="{6086996E-17A2-CDC6-5BED-3FA6A2DF3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890714"/>
            <a:ext cx="609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4589" name="Rectangle 29">
            <a:extLst>
              <a:ext uri="{FF2B5EF4-FFF2-40B4-BE49-F238E27FC236}">
                <a16:creationId xmlns:a16="http://schemas.microsoft.com/office/drawing/2014/main" id="{0F127F06-0789-8098-8BF4-36458A164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4" y="3535363"/>
            <a:ext cx="82931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533400">
              <a:spcBef>
                <a:spcPct val="3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⑴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尾结点中的指针指向头结点，整个链表形成一个环。 </a:t>
            </a:r>
          </a:p>
        </p:txBody>
      </p:sp>
      <p:sp>
        <p:nvSpPr>
          <p:cNvPr id="194590" name="Line 30">
            <a:extLst>
              <a:ext uri="{FF2B5EF4-FFF2-40B4-BE49-F238E27FC236}">
                <a16:creationId xmlns:a16="http://schemas.microsoft.com/office/drawing/2014/main" id="{301DDBED-9668-7A49-A177-40114BE06CAA}"/>
              </a:ext>
            </a:extLst>
          </p:cNvPr>
          <p:cNvSpPr>
            <a:spLocks noChangeShapeType="1"/>
          </p:cNvSpPr>
          <p:nvPr/>
        </p:nvSpPr>
        <p:spPr bwMode="auto">
          <a:xfrm>
            <a:off x="9982200" y="2228850"/>
            <a:ext cx="3048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591" name="Line 31">
            <a:extLst>
              <a:ext uri="{FF2B5EF4-FFF2-40B4-BE49-F238E27FC236}">
                <a16:creationId xmlns:a16="http://schemas.microsoft.com/office/drawing/2014/main" id="{BEFB1F61-4426-03BE-4378-A750801530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87000" y="1771650"/>
            <a:ext cx="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592" name="Line 32">
            <a:extLst>
              <a:ext uri="{FF2B5EF4-FFF2-40B4-BE49-F238E27FC236}">
                <a16:creationId xmlns:a16="http://schemas.microsoft.com/office/drawing/2014/main" id="{04649DCA-A099-9DAC-9F3C-8814A129A5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1771650"/>
            <a:ext cx="7315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593" name="Line 33">
            <a:extLst>
              <a:ext uri="{FF2B5EF4-FFF2-40B4-BE49-F238E27FC236}">
                <a16:creationId xmlns:a16="http://schemas.microsoft.com/office/drawing/2014/main" id="{354637A7-31EA-6B68-AE1F-45975BB5B2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1771650"/>
            <a:ext cx="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594" name="Rectangle 34">
            <a:extLst>
              <a:ext uri="{FF2B5EF4-FFF2-40B4-BE49-F238E27FC236}">
                <a16:creationId xmlns:a16="http://schemas.microsoft.com/office/drawing/2014/main" id="{F7927660-65CF-2F26-9818-612B0E33C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4" y="3957579"/>
            <a:ext cx="8293100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44513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indent="533400">
              <a:spcBef>
                <a:spcPct val="3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⑵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特别地，当线性表为空表时，其循环链表如右图所示。</a:t>
            </a:r>
          </a:p>
          <a:p>
            <a:pPr indent="533400"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此时满足条件：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L-&gt;next==L </a:t>
            </a:r>
          </a:p>
        </p:txBody>
      </p:sp>
      <p:grpSp>
        <p:nvGrpSpPr>
          <p:cNvPr id="194595" name="Group 35">
            <a:extLst>
              <a:ext uri="{FF2B5EF4-FFF2-40B4-BE49-F238E27FC236}">
                <a16:creationId xmlns:a16="http://schemas.microsoft.com/office/drawing/2014/main" id="{A4D32162-73DB-C423-478B-C425071DD5BF}"/>
              </a:ext>
            </a:extLst>
          </p:cNvPr>
          <p:cNvGrpSpPr>
            <a:grpSpLocks/>
          </p:cNvGrpSpPr>
          <p:nvPr/>
        </p:nvGrpSpPr>
        <p:grpSpPr bwMode="auto">
          <a:xfrm>
            <a:off x="8458201" y="3778250"/>
            <a:ext cx="1693863" cy="793750"/>
            <a:chOff x="528" y="1632"/>
            <a:chExt cx="1067" cy="500"/>
          </a:xfrm>
        </p:grpSpPr>
        <p:grpSp>
          <p:nvGrpSpPr>
            <p:cNvPr id="194596" name="Group 36">
              <a:extLst>
                <a:ext uri="{FF2B5EF4-FFF2-40B4-BE49-F238E27FC236}">
                  <a16:creationId xmlns:a16="http://schemas.microsoft.com/office/drawing/2014/main" id="{953034F3-3DB0-A5A0-9E9F-4B73A71C13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632"/>
              <a:ext cx="971" cy="500"/>
              <a:chOff x="624" y="1632"/>
              <a:chExt cx="971" cy="500"/>
            </a:xfrm>
          </p:grpSpPr>
          <p:sp>
            <p:nvSpPr>
              <p:cNvPr id="194597" name="Rectangle 37">
                <a:extLst>
                  <a:ext uri="{FF2B5EF4-FFF2-40B4-BE49-F238E27FC236}">
                    <a16:creationId xmlns:a16="http://schemas.microsoft.com/office/drawing/2014/main" id="{649CBB79-9A27-E691-34FC-871BD0356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" y="1796"/>
                <a:ext cx="576" cy="336"/>
              </a:xfrm>
              <a:prstGeom prst="rect">
                <a:avLst/>
              </a:prstGeom>
              <a:solidFill>
                <a:srgbClr val="CCFFFF">
                  <a:alpha val="50000"/>
                </a:srgbClr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endParaRPr kumimoji="1" lang="zh-CN" altLang="zh-CN" sz="36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598" name="Line 38">
                <a:extLst>
                  <a:ext uri="{FF2B5EF4-FFF2-40B4-BE49-F238E27FC236}">
                    <a16:creationId xmlns:a16="http://schemas.microsoft.com/office/drawing/2014/main" id="{7BCEC19B-8F63-D7B0-FB77-BD6230951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3" y="179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599" name="Text Box 39">
                <a:extLst>
                  <a:ext uri="{FF2B5EF4-FFF2-40B4-BE49-F238E27FC236}">
                    <a16:creationId xmlns:a16="http://schemas.microsoft.com/office/drawing/2014/main" id="{FF3D08F5-9A4A-0F91-3C95-D820BBFD25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632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194600" name="Line 40">
              <a:extLst>
                <a:ext uri="{FF2B5EF4-FFF2-40B4-BE49-F238E27FC236}">
                  <a16:creationId xmlns:a16="http://schemas.microsoft.com/office/drawing/2014/main" id="{FC6F69D0-0BA6-8596-6E20-25909B5885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968"/>
              <a:ext cx="4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94601" name="Line 41">
            <a:extLst>
              <a:ext uri="{FF2B5EF4-FFF2-40B4-BE49-F238E27FC236}">
                <a16:creationId xmlns:a16="http://schemas.microsoft.com/office/drawing/2014/main" id="{29E8DB29-C052-E2D4-3EF2-5342B81A7E49}"/>
              </a:ext>
            </a:extLst>
          </p:cNvPr>
          <p:cNvSpPr>
            <a:spLocks noChangeShapeType="1"/>
          </p:cNvSpPr>
          <p:nvPr/>
        </p:nvSpPr>
        <p:spPr bwMode="auto">
          <a:xfrm>
            <a:off x="9542463" y="3810000"/>
            <a:ext cx="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602" name="Line 42">
            <a:extLst>
              <a:ext uri="{FF2B5EF4-FFF2-40B4-BE49-F238E27FC236}">
                <a16:creationId xmlns:a16="http://schemas.microsoft.com/office/drawing/2014/main" id="{91703FD9-88E0-9201-23FD-BC7A7978B96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99663" y="4267200"/>
            <a:ext cx="3048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603" name="Line 43">
            <a:extLst>
              <a:ext uri="{FF2B5EF4-FFF2-40B4-BE49-F238E27FC236}">
                <a16:creationId xmlns:a16="http://schemas.microsoft.com/office/drawing/2014/main" id="{989E5261-94ED-9BCD-91FC-7C2D373B3E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04463" y="3810000"/>
            <a:ext cx="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604" name="Line 44">
            <a:extLst>
              <a:ext uri="{FF2B5EF4-FFF2-40B4-BE49-F238E27FC236}">
                <a16:creationId xmlns:a16="http://schemas.microsoft.com/office/drawing/2014/main" id="{B1737807-703A-5A19-4A8C-B853D1E883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542463" y="3810000"/>
            <a:ext cx="7620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4605" name="Rectangle 45">
            <a:extLst>
              <a:ext uri="{FF2B5EF4-FFF2-40B4-BE49-F238E27FC236}">
                <a16:creationId xmlns:a16="http://schemas.microsoft.com/office/drawing/2014/main" id="{2694FEED-1749-F4B3-EB76-8C8C9125D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380" y="4662487"/>
            <a:ext cx="8382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274638" indent="-27463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27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533400">
              <a:spcBef>
                <a:spcPct val="3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⑶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从某结点出发，可寻查到表中任意结点，不论是前驱还是后继。 </a:t>
            </a:r>
          </a:p>
        </p:txBody>
      </p:sp>
      <p:grpSp>
        <p:nvGrpSpPr>
          <p:cNvPr id="194606" name="Group 46">
            <a:extLst>
              <a:ext uri="{FF2B5EF4-FFF2-40B4-BE49-F238E27FC236}">
                <a16:creationId xmlns:a16="http://schemas.microsoft.com/office/drawing/2014/main" id="{261272F2-49B6-F1D4-388D-A57E0B13EF3D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590800"/>
            <a:ext cx="609600" cy="533400"/>
            <a:chOff x="3264" y="1488"/>
            <a:chExt cx="384" cy="336"/>
          </a:xfrm>
        </p:grpSpPr>
        <p:sp>
          <p:nvSpPr>
            <p:cNvPr id="194607" name="Text Box 47">
              <a:extLst>
                <a:ext uri="{FF2B5EF4-FFF2-40B4-BE49-F238E27FC236}">
                  <a16:creationId xmlns:a16="http://schemas.microsoft.com/office/drawing/2014/main" id="{570450DC-AFBF-3A2B-E7D9-F6A0D47FCE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00"/>
                  </a:solidFill>
                </a:rPr>
                <a:t>q</a:t>
              </a:r>
            </a:p>
          </p:txBody>
        </p:sp>
        <p:sp>
          <p:nvSpPr>
            <p:cNvPr id="194608" name="Line 48">
              <a:extLst>
                <a:ext uri="{FF2B5EF4-FFF2-40B4-BE49-F238E27FC236}">
                  <a16:creationId xmlns:a16="http://schemas.microsoft.com/office/drawing/2014/main" id="{7B14B7F6-F237-3751-D424-FEB963A5C3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4609" name="Group 49">
            <a:extLst>
              <a:ext uri="{FF2B5EF4-FFF2-40B4-BE49-F238E27FC236}">
                <a16:creationId xmlns:a16="http://schemas.microsoft.com/office/drawing/2014/main" id="{BE820708-951E-2003-A320-6C0C1C664FF3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2590800"/>
            <a:ext cx="609600" cy="533400"/>
            <a:chOff x="3264" y="1488"/>
            <a:chExt cx="384" cy="336"/>
          </a:xfrm>
        </p:grpSpPr>
        <p:sp>
          <p:nvSpPr>
            <p:cNvPr id="194610" name="Text Box 50">
              <a:extLst>
                <a:ext uri="{FF2B5EF4-FFF2-40B4-BE49-F238E27FC236}">
                  <a16:creationId xmlns:a16="http://schemas.microsoft.com/office/drawing/2014/main" id="{3A0E4E74-5E74-9561-9BD5-8069A7E0EA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4611" name="Line 51">
              <a:extLst>
                <a:ext uri="{FF2B5EF4-FFF2-40B4-BE49-F238E27FC236}">
                  <a16:creationId xmlns:a16="http://schemas.microsoft.com/office/drawing/2014/main" id="{0DB3FA64-F99C-F16E-3001-8BE785F82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4612" name="Group 52">
            <a:extLst>
              <a:ext uri="{FF2B5EF4-FFF2-40B4-BE49-F238E27FC236}">
                <a16:creationId xmlns:a16="http://schemas.microsoft.com/office/drawing/2014/main" id="{19BF4C7E-C015-7DA5-2D9E-D46E30525423}"/>
              </a:ext>
            </a:extLst>
          </p:cNvPr>
          <p:cNvGrpSpPr>
            <a:grpSpLocks/>
          </p:cNvGrpSpPr>
          <p:nvPr/>
        </p:nvGrpSpPr>
        <p:grpSpPr bwMode="auto">
          <a:xfrm>
            <a:off x="8915400" y="2590800"/>
            <a:ext cx="609600" cy="533400"/>
            <a:chOff x="3264" y="1488"/>
            <a:chExt cx="384" cy="336"/>
          </a:xfrm>
        </p:grpSpPr>
        <p:sp>
          <p:nvSpPr>
            <p:cNvPr id="194613" name="Text Box 53">
              <a:extLst>
                <a:ext uri="{FF2B5EF4-FFF2-40B4-BE49-F238E27FC236}">
                  <a16:creationId xmlns:a16="http://schemas.microsoft.com/office/drawing/2014/main" id="{2F5D8E5B-B932-70C1-BEDD-04387305F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4614" name="Line 54">
              <a:extLst>
                <a:ext uri="{FF2B5EF4-FFF2-40B4-BE49-F238E27FC236}">
                  <a16:creationId xmlns:a16="http://schemas.microsoft.com/office/drawing/2014/main" id="{A7F8FE63-1585-9A47-FA20-836496F70B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4615" name="Group 55">
            <a:extLst>
              <a:ext uri="{FF2B5EF4-FFF2-40B4-BE49-F238E27FC236}">
                <a16:creationId xmlns:a16="http://schemas.microsoft.com/office/drawing/2014/main" id="{0057C64C-48BE-1E35-46DD-0C59E5AA4FE9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2590800"/>
            <a:ext cx="609600" cy="533400"/>
            <a:chOff x="3264" y="1488"/>
            <a:chExt cx="384" cy="336"/>
          </a:xfrm>
        </p:grpSpPr>
        <p:sp>
          <p:nvSpPr>
            <p:cNvPr id="194616" name="Text Box 56">
              <a:extLst>
                <a:ext uri="{FF2B5EF4-FFF2-40B4-BE49-F238E27FC236}">
                  <a16:creationId xmlns:a16="http://schemas.microsoft.com/office/drawing/2014/main" id="{F0CC0365-C948-54F9-F6CC-B1B8E075E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4617" name="Line 57">
              <a:extLst>
                <a:ext uri="{FF2B5EF4-FFF2-40B4-BE49-F238E27FC236}">
                  <a16:creationId xmlns:a16="http://schemas.microsoft.com/office/drawing/2014/main" id="{361538E4-1587-E793-EA2E-298C2F87F4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4618" name="Group 58">
            <a:extLst>
              <a:ext uri="{FF2B5EF4-FFF2-40B4-BE49-F238E27FC236}">
                <a16:creationId xmlns:a16="http://schemas.microsoft.com/office/drawing/2014/main" id="{7884E001-CD74-A872-7F7D-E2BA2520BE57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590800"/>
            <a:ext cx="609600" cy="533400"/>
            <a:chOff x="3264" y="1488"/>
            <a:chExt cx="384" cy="336"/>
          </a:xfrm>
        </p:grpSpPr>
        <p:sp>
          <p:nvSpPr>
            <p:cNvPr id="194619" name="Text Box 59">
              <a:extLst>
                <a:ext uri="{FF2B5EF4-FFF2-40B4-BE49-F238E27FC236}">
                  <a16:creationId xmlns:a16="http://schemas.microsoft.com/office/drawing/2014/main" id="{C13880B9-B5BC-4333-8222-8AD4E4A4F7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4620" name="Line 60">
              <a:extLst>
                <a:ext uri="{FF2B5EF4-FFF2-40B4-BE49-F238E27FC236}">
                  <a16:creationId xmlns:a16="http://schemas.microsoft.com/office/drawing/2014/main" id="{EFBD62E0-CCF4-5AC5-3FDE-4E48539BEE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4621" name="Group 61">
            <a:extLst>
              <a:ext uri="{FF2B5EF4-FFF2-40B4-BE49-F238E27FC236}">
                <a16:creationId xmlns:a16="http://schemas.microsoft.com/office/drawing/2014/main" id="{AEB7E76E-1C93-A488-7131-76ADC6193AE1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2590800"/>
            <a:ext cx="609600" cy="533400"/>
            <a:chOff x="3264" y="1488"/>
            <a:chExt cx="384" cy="336"/>
          </a:xfrm>
        </p:grpSpPr>
        <p:sp>
          <p:nvSpPr>
            <p:cNvPr id="194622" name="Text Box 62">
              <a:extLst>
                <a:ext uri="{FF2B5EF4-FFF2-40B4-BE49-F238E27FC236}">
                  <a16:creationId xmlns:a16="http://schemas.microsoft.com/office/drawing/2014/main" id="{71E75FBD-4CAB-71B5-C5E5-8A9EAD2A1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4623" name="Line 63">
              <a:extLst>
                <a:ext uri="{FF2B5EF4-FFF2-40B4-BE49-F238E27FC236}">
                  <a16:creationId xmlns:a16="http://schemas.microsoft.com/office/drawing/2014/main" id="{D072A65B-1C7F-AE12-9461-3F3ABAE1B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4624" name="Group 64">
            <a:extLst>
              <a:ext uri="{FF2B5EF4-FFF2-40B4-BE49-F238E27FC236}">
                <a16:creationId xmlns:a16="http://schemas.microsoft.com/office/drawing/2014/main" id="{455C3A99-1C21-4F70-0073-5BB3EB14C534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2590800"/>
            <a:ext cx="609600" cy="533400"/>
            <a:chOff x="3264" y="1488"/>
            <a:chExt cx="384" cy="336"/>
          </a:xfrm>
        </p:grpSpPr>
        <p:sp>
          <p:nvSpPr>
            <p:cNvPr id="194625" name="Text Box 65">
              <a:extLst>
                <a:ext uri="{FF2B5EF4-FFF2-40B4-BE49-F238E27FC236}">
                  <a16:creationId xmlns:a16="http://schemas.microsoft.com/office/drawing/2014/main" id="{4B0EF85D-ECDB-CEA5-A41B-34E1ABEDF6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4626" name="Line 66">
              <a:extLst>
                <a:ext uri="{FF2B5EF4-FFF2-40B4-BE49-F238E27FC236}">
                  <a16:creationId xmlns:a16="http://schemas.microsoft.com/office/drawing/2014/main" id="{0160C755-4829-3FCA-F3AF-B852B195E0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4627" name="Group 67">
            <a:extLst>
              <a:ext uri="{FF2B5EF4-FFF2-40B4-BE49-F238E27FC236}">
                <a16:creationId xmlns:a16="http://schemas.microsoft.com/office/drawing/2014/main" id="{EDD03DFC-E4CC-C89A-14AE-AE7AD08DC152}"/>
              </a:ext>
            </a:extLst>
          </p:cNvPr>
          <p:cNvGrpSpPr>
            <a:grpSpLocks/>
          </p:cNvGrpSpPr>
          <p:nvPr/>
        </p:nvGrpSpPr>
        <p:grpSpPr bwMode="auto">
          <a:xfrm>
            <a:off x="7162800" y="2590800"/>
            <a:ext cx="609600" cy="533400"/>
            <a:chOff x="3264" y="1488"/>
            <a:chExt cx="384" cy="336"/>
          </a:xfrm>
        </p:grpSpPr>
        <p:sp>
          <p:nvSpPr>
            <p:cNvPr id="194628" name="Text Box 68">
              <a:extLst>
                <a:ext uri="{FF2B5EF4-FFF2-40B4-BE49-F238E27FC236}">
                  <a16:creationId xmlns:a16="http://schemas.microsoft.com/office/drawing/2014/main" id="{EE8E7E17-F55B-508E-0BEC-B745D9E2B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4629" name="Line 69">
              <a:extLst>
                <a:ext uri="{FF2B5EF4-FFF2-40B4-BE49-F238E27FC236}">
                  <a16:creationId xmlns:a16="http://schemas.microsoft.com/office/drawing/2014/main" id="{8B4E54BF-13E2-BE0D-EF39-5C98A7D5CB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94630" name="Text Box 70">
            <a:extLst>
              <a:ext uri="{FF2B5EF4-FFF2-40B4-BE49-F238E27FC236}">
                <a16:creationId xmlns:a16="http://schemas.microsoft.com/office/drawing/2014/main" id="{F0A252FB-8986-B37C-7BF8-29C9B22E8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604" y="5044439"/>
            <a:ext cx="830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</a:rPr>
              <a:t>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例如，从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指向的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结点出发，寻查其前驱结点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ai-1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</p:txBody>
      </p:sp>
      <p:sp>
        <p:nvSpPr>
          <p:cNvPr id="194631" name="Text Box 71">
            <a:extLst>
              <a:ext uri="{FF2B5EF4-FFF2-40B4-BE49-F238E27FC236}">
                <a16:creationId xmlns:a16="http://schemas.microsoft.com/office/drawing/2014/main" id="{66D8C84A-954D-8F19-F35B-91CCF60EF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521094"/>
            <a:ext cx="8305800" cy="638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p=q;</a:t>
            </a:r>
          </a:p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while(p-&gt;next!=q)p=p-&gt;next;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6F0242-2ABE-9518-E26B-8E40BD5B5E0B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F4B5778-4420-7F64-F4F0-BC65BC25B55D}"/>
              </a:ext>
            </a:extLst>
          </p:cNvPr>
          <p:cNvSpPr txBox="1"/>
          <p:nvPr/>
        </p:nvSpPr>
        <p:spPr>
          <a:xfrm>
            <a:off x="392806" y="106251"/>
            <a:ext cx="6617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四、循环链表和双向链表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B0A823-8F7A-1C03-141A-6F18089B7CE1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9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9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19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1000"/>
                                        <p:tgtEl>
                                          <p:spTgt spid="19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19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4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4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4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4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9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9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4" dur="500"/>
                                        <p:tgtEl>
                                          <p:spTgt spid="1946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9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1" presetID="2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2" dur="500"/>
                                        <p:tgtEl>
                                          <p:spTgt spid="1946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9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79" presetID="2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0" dur="500"/>
                                        <p:tgtEl>
                                          <p:spTgt spid="1946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19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87" presetID="2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8" dur="500"/>
                                        <p:tgtEl>
                                          <p:spTgt spid="1946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1000"/>
                                        <p:tgtEl>
                                          <p:spTgt spid="19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95" presetID="2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6" dur="500"/>
                                        <p:tgtEl>
                                          <p:spTgt spid="1946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194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03" presetID="2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4" dur="500"/>
                                        <p:tgtEl>
                                          <p:spTgt spid="1946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1000"/>
                                        <p:tgtEl>
                                          <p:spTgt spid="194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4" dur="500"/>
                                        <p:tgtEl>
                                          <p:spTgt spid="19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4" grpId="0"/>
      <p:bldP spid="194589" grpId="0"/>
      <p:bldP spid="194594" grpId="0"/>
      <p:bldP spid="194605" grpId="0"/>
      <p:bldP spid="194630" grpId="0"/>
      <p:bldP spid="1946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586" name="Group 2">
            <a:extLst>
              <a:ext uri="{FF2B5EF4-FFF2-40B4-BE49-F238E27FC236}">
                <a16:creationId xmlns:a16="http://schemas.microsoft.com/office/drawing/2014/main" id="{334568A7-1F96-6E54-FD64-8CB95528ADA8}"/>
              </a:ext>
            </a:extLst>
          </p:cNvPr>
          <p:cNvGrpSpPr>
            <a:grpSpLocks/>
          </p:cNvGrpSpPr>
          <p:nvPr/>
        </p:nvGrpSpPr>
        <p:grpSpPr bwMode="auto">
          <a:xfrm>
            <a:off x="1830343" y="882650"/>
            <a:ext cx="1693863" cy="793750"/>
            <a:chOff x="528" y="1632"/>
            <a:chExt cx="1067" cy="500"/>
          </a:xfrm>
        </p:grpSpPr>
        <p:grpSp>
          <p:nvGrpSpPr>
            <p:cNvPr id="195587" name="Group 3">
              <a:extLst>
                <a:ext uri="{FF2B5EF4-FFF2-40B4-BE49-F238E27FC236}">
                  <a16:creationId xmlns:a16="http://schemas.microsoft.com/office/drawing/2014/main" id="{1156846E-45DD-30BB-4510-AD70F53090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632"/>
              <a:ext cx="971" cy="500"/>
              <a:chOff x="624" y="1632"/>
              <a:chExt cx="971" cy="500"/>
            </a:xfrm>
          </p:grpSpPr>
          <p:sp>
            <p:nvSpPr>
              <p:cNvPr id="195588" name="Rectangle 4">
                <a:extLst>
                  <a:ext uri="{FF2B5EF4-FFF2-40B4-BE49-F238E27FC236}">
                    <a16:creationId xmlns:a16="http://schemas.microsoft.com/office/drawing/2014/main" id="{ACE5877A-35DD-93BC-264A-784252EF7D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9" y="1796"/>
                <a:ext cx="576" cy="336"/>
              </a:xfrm>
              <a:prstGeom prst="rect">
                <a:avLst/>
              </a:prstGeom>
              <a:solidFill>
                <a:srgbClr val="CCFFFF">
                  <a:alpha val="50000"/>
                </a:srgbClr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endParaRPr kumimoji="1" lang="zh-CN" altLang="zh-CN" sz="3600">
                  <a:solidFill>
                    <a:srgbClr val="0000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589" name="Line 5">
                <a:extLst>
                  <a:ext uri="{FF2B5EF4-FFF2-40B4-BE49-F238E27FC236}">
                    <a16:creationId xmlns:a16="http://schemas.microsoft.com/office/drawing/2014/main" id="{D4418CE8-4E96-C5D8-1F2D-66556DD991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3" y="179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590" name="Text Box 6">
                <a:extLst>
                  <a:ext uri="{FF2B5EF4-FFF2-40B4-BE49-F238E27FC236}">
                    <a16:creationId xmlns:a16="http://schemas.microsoft.com/office/drawing/2014/main" id="{081EA9A1-F7BE-9C14-6161-B182CB68CF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632"/>
                <a:ext cx="255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kumimoji="1" lang="en-US" altLang="zh-CN" sz="28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L</a:t>
                </a:r>
              </a:p>
            </p:txBody>
          </p:sp>
        </p:grpSp>
        <p:sp>
          <p:nvSpPr>
            <p:cNvPr id="195591" name="Line 7">
              <a:extLst>
                <a:ext uri="{FF2B5EF4-FFF2-40B4-BE49-F238E27FC236}">
                  <a16:creationId xmlns:a16="http://schemas.microsoft.com/office/drawing/2014/main" id="{B174CBA3-A3B0-F105-48EE-8D8CEBE44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968"/>
              <a:ext cx="4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5592" name="Group 8">
            <a:extLst>
              <a:ext uri="{FF2B5EF4-FFF2-40B4-BE49-F238E27FC236}">
                <a16:creationId xmlns:a16="http://schemas.microsoft.com/office/drawing/2014/main" id="{A32BFDB1-E984-5278-96ED-D2D78C3ED29F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143794"/>
            <a:ext cx="1371600" cy="533400"/>
            <a:chOff x="768" y="2544"/>
            <a:chExt cx="864" cy="336"/>
          </a:xfrm>
        </p:grpSpPr>
        <p:sp>
          <p:nvSpPr>
            <p:cNvPr id="195593" name="Rectangle 9">
              <a:extLst>
                <a:ext uri="{FF2B5EF4-FFF2-40B4-BE49-F238E27FC236}">
                  <a16:creationId xmlns:a16="http://schemas.microsoft.com/office/drawing/2014/main" id="{2016B291-EBC2-95AA-1C7F-66CE6C093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44"/>
              <a:ext cx="576" cy="336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kumimoji="1"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2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5594" name="Line 10">
              <a:extLst>
                <a:ext uri="{FF2B5EF4-FFF2-40B4-BE49-F238E27FC236}">
                  <a16:creationId xmlns:a16="http://schemas.microsoft.com/office/drawing/2014/main" id="{77D21C3B-3EA8-AFCA-A82C-BFD7C992D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544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95" name="Line 11">
              <a:extLst>
                <a:ext uri="{FF2B5EF4-FFF2-40B4-BE49-F238E27FC236}">
                  <a16:creationId xmlns:a16="http://schemas.microsoft.com/office/drawing/2014/main" id="{202598DA-1D5D-7D2C-4EF6-9CA0A0F4E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736"/>
              <a:ext cx="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oval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5596" name="Group 12">
            <a:extLst>
              <a:ext uri="{FF2B5EF4-FFF2-40B4-BE49-F238E27FC236}">
                <a16:creationId xmlns:a16="http://schemas.microsoft.com/office/drawing/2014/main" id="{6DCAECFE-B8B9-0B8C-470F-FA6FF241161E}"/>
              </a:ext>
            </a:extLst>
          </p:cNvPr>
          <p:cNvGrpSpPr>
            <a:grpSpLocks/>
          </p:cNvGrpSpPr>
          <p:nvPr/>
        </p:nvGrpSpPr>
        <p:grpSpPr bwMode="auto">
          <a:xfrm>
            <a:off x="5427663" y="1143794"/>
            <a:ext cx="1371600" cy="533400"/>
            <a:chOff x="2267" y="1796"/>
            <a:chExt cx="864" cy="336"/>
          </a:xfrm>
        </p:grpSpPr>
        <p:sp>
          <p:nvSpPr>
            <p:cNvPr id="195597" name="Rectangle 13">
              <a:extLst>
                <a:ext uri="{FF2B5EF4-FFF2-40B4-BE49-F238E27FC236}">
                  <a16:creationId xmlns:a16="http://schemas.microsoft.com/office/drawing/2014/main" id="{7CFA2437-28F4-1998-1FBC-6A0DBCF09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" y="1796"/>
              <a:ext cx="576" cy="336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kumimoji="1"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32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i-1</a:t>
              </a:r>
            </a:p>
          </p:txBody>
        </p:sp>
        <p:sp>
          <p:nvSpPr>
            <p:cNvPr id="195598" name="Line 14">
              <a:extLst>
                <a:ext uri="{FF2B5EF4-FFF2-40B4-BE49-F238E27FC236}">
                  <a16:creationId xmlns:a16="http://schemas.microsoft.com/office/drawing/2014/main" id="{79441666-1934-EE56-DA95-2288BE47F6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9" y="1796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99" name="Line 15">
              <a:extLst>
                <a:ext uri="{FF2B5EF4-FFF2-40B4-BE49-F238E27FC236}">
                  <a16:creationId xmlns:a16="http://schemas.microsoft.com/office/drawing/2014/main" id="{772F3DC0-9C0D-92F6-0912-4AB6615C64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" y="1988"/>
              <a:ext cx="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oval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5600" name="Rectangle 16">
            <a:extLst>
              <a:ext uri="{FF2B5EF4-FFF2-40B4-BE49-F238E27FC236}">
                <a16:creationId xmlns:a16="http://schemas.microsoft.com/office/drawing/2014/main" id="{53EFF86C-02D5-9A59-3ECF-F1E9E3D7E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3" y="1159669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320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32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95601" name="Line 17">
            <a:extLst>
              <a:ext uri="{FF2B5EF4-FFF2-40B4-BE49-F238E27FC236}">
                <a16:creationId xmlns:a16="http://schemas.microsoft.com/office/drawing/2014/main" id="{86F77DC1-0EA9-C7F6-2732-C3DA11773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3663" y="10223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02" name="Line 18">
            <a:extLst>
              <a:ext uri="{FF2B5EF4-FFF2-40B4-BE49-F238E27FC236}">
                <a16:creationId xmlns:a16="http://schemas.microsoft.com/office/drawing/2014/main" id="{0068C822-6E21-6F51-2F6D-8B8702AFFA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46863" y="13271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03" name="Rectangle 19">
            <a:extLst>
              <a:ext uri="{FF2B5EF4-FFF2-40B4-BE49-F238E27FC236}">
                <a16:creationId xmlns:a16="http://schemas.microsoft.com/office/drawing/2014/main" id="{53B8B85D-C089-8FCE-BF14-EF3D842EF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7662" y="1084262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3200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195604" name="Line 20">
            <a:extLst>
              <a:ext uri="{FF2B5EF4-FFF2-40B4-BE49-F238E27FC236}">
                <a16:creationId xmlns:a16="http://schemas.microsoft.com/office/drawing/2014/main" id="{897EEC2D-A4E5-0D79-873C-D3303C0FA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47263" y="9779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05" name="Line 21">
            <a:extLst>
              <a:ext uri="{FF2B5EF4-FFF2-40B4-BE49-F238E27FC236}">
                <a16:creationId xmlns:a16="http://schemas.microsoft.com/office/drawing/2014/main" id="{4CA140CF-D08B-129C-7C6D-466D449BE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80463" y="128270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06" name="Line 22">
            <a:extLst>
              <a:ext uri="{FF2B5EF4-FFF2-40B4-BE49-F238E27FC236}">
                <a16:creationId xmlns:a16="http://schemas.microsoft.com/office/drawing/2014/main" id="{8CA72AB7-01F6-C6EF-B41C-06E4355226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129540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07" name="Text Box 23">
            <a:extLst>
              <a:ext uri="{FF2B5EF4-FFF2-40B4-BE49-F238E27FC236}">
                <a16:creationId xmlns:a16="http://schemas.microsoft.com/office/drawing/2014/main" id="{6F4A982F-8B1D-6FF6-9BD3-0876E6481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869950"/>
            <a:ext cx="609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5608" name="Line 24">
            <a:extLst>
              <a:ext uri="{FF2B5EF4-FFF2-40B4-BE49-F238E27FC236}">
                <a16:creationId xmlns:a16="http://schemas.microsoft.com/office/drawing/2014/main" id="{4264D9C0-3D70-191F-908C-DEE184E7BF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3271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5609" name="Text Box 25">
            <a:extLst>
              <a:ext uri="{FF2B5EF4-FFF2-40B4-BE49-F238E27FC236}">
                <a16:creationId xmlns:a16="http://schemas.microsoft.com/office/drawing/2014/main" id="{1945C89B-6DD6-DED3-5B94-6C2B831CB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900114"/>
            <a:ext cx="609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5610" name="Line 26">
            <a:extLst>
              <a:ext uri="{FF2B5EF4-FFF2-40B4-BE49-F238E27FC236}">
                <a16:creationId xmlns:a16="http://schemas.microsoft.com/office/drawing/2014/main" id="{54CF25FC-F0AF-9557-B59D-2D080941B78D}"/>
              </a:ext>
            </a:extLst>
          </p:cNvPr>
          <p:cNvSpPr>
            <a:spLocks noChangeShapeType="1"/>
          </p:cNvSpPr>
          <p:nvPr/>
        </p:nvSpPr>
        <p:spPr bwMode="auto">
          <a:xfrm>
            <a:off x="9999662" y="1354772"/>
            <a:ext cx="3048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5611" name="Line 27">
            <a:extLst>
              <a:ext uri="{FF2B5EF4-FFF2-40B4-BE49-F238E27FC236}">
                <a16:creationId xmlns:a16="http://schemas.microsoft.com/office/drawing/2014/main" id="{D5089896-84F5-D56A-D5E4-A82F53514D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89222" y="914400"/>
            <a:ext cx="0" cy="4572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5612" name="Line 28">
            <a:extLst>
              <a:ext uri="{FF2B5EF4-FFF2-40B4-BE49-F238E27FC236}">
                <a16:creationId xmlns:a16="http://schemas.microsoft.com/office/drawing/2014/main" id="{665E868F-F04D-4E58-C9A1-F8D1A47E88A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918210"/>
            <a:ext cx="7315200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 dirty="0"/>
          </a:p>
        </p:txBody>
      </p:sp>
      <p:sp>
        <p:nvSpPr>
          <p:cNvPr id="195613" name="Line 29">
            <a:extLst>
              <a:ext uri="{FF2B5EF4-FFF2-40B4-BE49-F238E27FC236}">
                <a16:creationId xmlns:a16="http://schemas.microsoft.com/office/drawing/2014/main" id="{AFA0E951-966A-67AD-7CB4-A5A6DF9BB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902970"/>
            <a:ext cx="0" cy="2286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5614" name="Rectangle 30">
            <a:extLst>
              <a:ext uri="{FF2B5EF4-FFF2-40B4-BE49-F238E27FC236}">
                <a16:creationId xmlns:a16="http://schemas.microsoft.com/office/drawing/2014/main" id="{2F38DB70-DC09-743D-7E18-8E50109BC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805" y="2112714"/>
            <a:ext cx="82931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solidFill>
                  <a:srgbClr val="800080"/>
                </a:solidFill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我们可以基于循环链表写出线性表基本操作的实现算法，这些算法和基于单链表的算法基本一致，差别在于算法中的循环条件。</a:t>
            </a:r>
          </a:p>
        </p:txBody>
      </p:sp>
      <p:grpSp>
        <p:nvGrpSpPr>
          <p:cNvPr id="195615" name="Group 31">
            <a:extLst>
              <a:ext uri="{FF2B5EF4-FFF2-40B4-BE49-F238E27FC236}">
                <a16:creationId xmlns:a16="http://schemas.microsoft.com/office/drawing/2014/main" id="{E72134D1-B4D0-78F0-8FD3-187FD10C9EE9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1600200"/>
            <a:ext cx="609600" cy="533400"/>
            <a:chOff x="3264" y="1488"/>
            <a:chExt cx="384" cy="336"/>
          </a:xfrm>
        </p:grpSpPr>
        <p:sp>
          <p:nvSpPr>
            <p:cNvPr id="195616" name="Text Box 32">
              <a:extLst>
                <a:ext uri="{FF2B5EF4-FFF2-40B4-BE49-F238E27FC236}">
                  <a16:creationId xmlns:a16="http://schemas.microsoft.com/office/drawing/2014/main" id="{88A2D905-7E37-801E-CB92-5E5FAECE87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5617" name="Line 33">
              <a:extLst>
                <a:ext uri="{FF2B5EF4-FFF2-40B4-BE49-F238E27FC236}">
                  <a16:creationId xmlns:a16="http://schemas.microsoft.com/office/drawing/2014/main" id="{2315A576-7749-751F-E37E-41FC01A0A2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5618" name="Group 34">
            <a:extLst>
              <a:ext uri="{FF2B5EF4-FFF2-40B4-BE49-F238E27FC236}">
                <a16:creationId xmlns:a16="http://schemas.microsoft.com/office/drawing/2014/main" id="{C7691B89-F6E4-3EDA-585B-119BD9F683F0}"/>
              </a:ext>
            </a:extLst>
          </p:cNvPr>
          <p:cNvGrpSpPr>
            <a:grpSpLocks/>
          </p:cNvGrpSpPr>
          <p:nvPr/>
        </p:nvGrpSpPr>
        <p:grpSpPr bwMode="auto">
          <a:xfrm>
            <a:off x="8915400" y="1600200"/>
            <a:ext cx="609600" cy="533400"/>
            <a:chOff x="3264" y="1488"/>
            <a:chExt cx="384" cy="336"/>
          </a:xfrm>
        </p:grpSpPr>
        <p:sp>
          <p:nvSpPr>
            <p:cNvPr id="195619" name="Text Box 35">
              <a:extLst>
                <a:ext uri="{FF2B5EF4-FFF2-40B4-BE49-F238E27FC236}">
                  <a16:creationId xmlns:a16="http://schemas.microsoft.com/office/drawing/2014/main" id="{A432C1EA-F61E-FFED-31AF-6D9C9F91E3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5620" name="Line 36">
              <a:extLst>
                <a:ext uri="{FF2B5EF4-FFF2-40B4-BE49-F238E27FC236}">
                  <a16:creationId xmlns:a16="http://schemas.microsoft.com/office/drawing/2014/main" id="{8B4F6BE0-E590-0A52-E275-04B8D02BF1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5621" name="Group 37">
            <a:extLst>
              <a:ext uri="{FF2B5EF4-FFF2-40B4-BE49-F238E27FC236}">
                <a16:creationId xmlns:a16="http://schemas.microsoft.com/office/drawing/2014/main" id="{2FA94F86-49AB-A6F7-C89D-40E6EDD5E2FB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600200"/>
            <a:ext cx="609600" cy="533400"/>
            <a:chOff x="3264" y="1488"/>
            <a:chExt cx="384" cy="336"/>
          </a:xfrm>
        </p:grpSpPr>
        <p:sp>
          <p:nvSpPr>
            <p:cNvPr id="195622" name="Text Box 38">
              <a:extLst>
                <a:ext uri="{FF2B5EF4-FFF2-40B4-BE49-F238E27FC236}">
                  <a16:creationId xmlns:a16="http://schemas.microsoft.com/office/drawing/2014/main" id="{183B0A48-EB82-65A9-3282-405A52BF7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5623" name="Line 39">
              <a:extLst>
                <a:ext uri="{FF2B5EF4-FFF2-40B4-BE49-F238E27FC236}">
                  <a16:creationId xmlns:a16="http://schemas.microsoft.com/office/drawing/2014/main" id="{750FA2C8-5D40-4A4D-9E38-12B63522E9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5624" name="Group 40">
            <a:extLst>
              <a:ext uri="{FF2B5EF4-FFF2-40B4-BE49-F238E27FC236}">
                <a16:creationId xmlns:a16="http://schemas.microsoft.com/office/drawing/2014/main" id="{F6557AB6-0891-512E-8F01-EB49A826D4C0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1600200"/>
            <a:ext cx="609600" cy="533400"/>
            <a:chOff x="3264" y="1488"/>
            <a:chExt cx="384" cy="336"/>
          </a:xfrm>
        </p:grpSpPr>
        <p:sp>
          <p:nvSpPr>
            <p:cNvPr id="195625" name="Text Box 41">
              <a:extLst>
                <a:ext uri="{FF2B5EF4-FFF2-40B4-BE49-F238E27FC236}">
                  <a16:creationId xmlns:a16="http://schemas.microsoft.com/office/drawing/2014/main" id="{F387A76C-115B-E408-1AE7-2C9F31D6D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5626" name="Line 42">
              <a:extLst>
                <a:ext uri="{FF2B5EF4-FFF2-40B4-BE49-F238E27FC236}">
                  <a16:creationId xmlns:a16="http://schemas.microsoft.com/office/drawing/2014/main" id="{C516DAAD-2EF1-1248-C099-53736CCCAE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5627" name="Group 43">
            <a:extLst>
              <a:ext uri="{FF2B5EF4-FFF2-40B4-BE49-F238E27FC236}">
                <a16:creationId xmlns:a16="http://schemas.microsoft.com/office/drawing/2014/main" id="{E5D94067-3B24-F19D-332F-4A9717067CA8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600200"/>
            <a:ext cx="609600" cy="533400"/>
            <a:chOff x="3264" y="1488"/>
            <a:chExt cx="384" cy="336"/>
          </a:xfrm>
        </p:grpSpPr>
        <p:sp>
          <p:nvSpPr>
            <p:cNvPr id="195628" name="Text Box 44">
              <a:extLst>
                <a:ext uri="{FF2B5EF4-FFF2-40B4-BE49-F238E27FC236}">
                  <a16:creationId xmlns:a16="http://schemas.microsoft.com/office/drawing/2014/main" id="{D975BC77-1556-BD65-B4A9-235827DDC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5629" name="Line 45">
              <a:extLst>
                <a:ext uri="{FF2B5EF4-FFF2-40B4-BE49-F238E27FC236}">
                  <a16:creationId xmlns:a16="http://schemas.microsoft.com/office/drawing/2014/main" id="{F7977743-3EE3-9C49-3D10-8ED523B438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5630" name="Group 46">
            <a:extLst>
              <a:ext uri="{FF2B5EF4-FFF2-40B4-BE49-F238E27FC236}">
                <a16:creationId xmlns:a16="http://schemas.microsoft.com/office/drawing/2014/main" id="{9BFB9C36-AAA9-E27E-5899-E48DAA63492B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600200"/>
            <a:ext cx="609600" cy="533400"/>
            <a:chOff x="3264" y="1488"/>
            <a:chExt cx="384" cy="336"/>
          </a:xfrm>
        </p:grpSpPr>
        <p:sp>
          <p:nvSpPr>
            <p:cNvPr id="195631" name="Text Box 47">
              <a:extLst>
                <a:ext uri="{FF2B5EF4-FFF2-40B4-BE49-F238E27FC236}">
                  <a16:creationId xmlns:a16="http://schemas.microsoft.com/office/drawing/2014/main" id="{71C0D099-CB9C-771A-F03D-14892C314A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5632" name="Line 48">
              <a:extLst>
                <a:ext uri="{FF2B5EF4-FFF2-40B4-BE49-F238E27FC236}">
                  <a16:creationId xmlns:a16="http://schemas.microsoft.com/office/drawing/2014/main" id="{17553DCD-B3D0-1706-1764-C0EB0579AD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grpSp>
        <p:nvGrpSpPr>
          <p:cNvPr id="195633" name="Group 49">
            <a:extLst>
              <a:ext uri="{FF2B5EF4-FFF2-40B4-BE49-F238E27FC236}">
                <a16:creationId xmlns:a16="http://schemas.microsoft.com/office/drawing/2014/main" id="{E4AF334D-F0DB-D9E4-5C27-4A0B6E10B17A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600200"/>
            <a:ext cx="609600" cy="533400"/>
            <a:chOff x="3264" y="1488"/>
            <a:chExt cx="384" cy="336"/>
          </a:xfrm>
        </p:grpSpPr>
        <p:sp>
          <p:nvSpPr>
            <p:cNvPr id="195634" name="Text Box 50">
              <a:extLst>
                <a:ext uri="{FF2B5EF4-FFF2-40B4-BE49-F238E27FC236}">
                  <a16:creationId xmlns:a16="http://schemas.microsoft.com/office/drawing/2014/main" id="{8EBB22BA-F996-2204-7A7A-324C2CFEF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5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  <p:sp>
          <p:nvSpPr>
            <p:cNvPr id="195635" name="Line 51">
              <a:extLst>
                <a:ext uri="{FF2B5EF4-FFF2-40B4-BE49-F238E27FC236}">
                  <a16:creationId xmlns:a16="http://schemas.microsoft.com/office/drawing/2014/main" id="{257AE8D4-564B-04D4-518E-F46B9568C7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1488"/>
              <a:ext cx="192" cy="24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  <p:sp>
        <p:nvSpPr>
          <p:cNvPr id="195636" name="Rectangle 52">
            <a:extLst>
              <a:ext uri="{FF2B5EF4-FFF2-40B4-BE49-F238E27FC236}">
                <a16:creationId xmlns:a16="http://schemas.microsoft.com/office/drawing/2014/main" id="{1985BFD0-A581-7B19-580C-873236EA6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863852"/>
            <a:ext cx="7772400" cy="681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单链表：  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p!=NULL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p-&gt;next!=NULL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循环链表：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p!=L  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或者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p-&gt;next!=L </a:t>
            </a:r>
          </a:p>
        </p:txBody>
      </p:sp>
      <p:sp>
        <p:nvSpPr>
          <p:cNvPr id="195637" name="Text Box 53">
            <a:extLst>
              <a:ext uri="{FF2B5EF4-FFF2-40B4-BE49-F238E27FC236}">
                <a16:creationId xmlns:a16="http://schemas.microsoft.com/office/drawing/2014/main" id="{DFB274F1-45E9-4DD6-9498-74F721593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650900"/>
            <a:ext cx="7772400" cy="2799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GetElem_LL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LinkList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L,int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i,ElemType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&amp;e){</a:t>
            </a:r>
          </a:p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if(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&lt;1)return ERROR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位序合法性检查</a:t>
            </a:r>
          </a:p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p=L-&gt;next;  j=1;</a:t>
            </a:r>
          </a:p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while(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p!=L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&amp;&amp; j&lt;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){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查找第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结点</a:t>
            </a:r>
          </a:p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p=p-&gt;next; 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if(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p==L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)return ERROR;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查找第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结点失败</a:t>
            </a:r>
          </a:p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e=p-&gt;data;</a:t>
            </a:r>
          </a:p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return OK;</a:t>
            </a:r>
          </a:p>
          <a:p>
            <a:pPr algn="l"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}//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GetElem_LL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090127-B706-ADEB-8370-D39ACE6DB0D8}"/>
              </a:ext>
            </a:extLst>
          </p:cNvPr>
          <p:cNvSpPr/>
          <p:nvPr/>
        </p:nvSpPr>
        <p:spPr>
          <a:xfrm>
            <a:off x="1" y="-285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EE3C0E-E5E8-B4FC-9388-4A53EF29CCAA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5A884FB-209F-FE40-E2AC-1CC778B48287}"/>
              </a:ext>
            </a:extLst>
          </p:cNvPr>
          <p:cNvSpPr txBox="1"/>
          <p:nvPr/>
        </p:nvSpPr>
        <p:spPr>
          <a:xfrm>
            <a:off x="392806" y="106251"/>
            <a:ext cx="6617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四、循环链表和双向链表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19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9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9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1956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9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" dur="500"/>
                                        <p:tgtEl>
                                          <p:spTgt spid="1956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9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" dur="1000"/>
                                        <p:tgtEl>
                                          <p:spTgt spid="1956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9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44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1000"/>
                                        <p:tgtEl>
                                          <p:spTgt spid="1956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9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52" presetID="2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1000"/>
                                        <p:tgtEl>
                                          <p:spTgt spid="1956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9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60" presetID="22" presetClass="exit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1000"/>
                                        <p:tgtEl>
                                          <p:spTgt spid="1956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9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36" grpId="0"/>
      <p:bldP spid="1956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1" name="Text Box 3">
            <a:extLst>
              <a:ext uri="{FF2B5EF4-FFF2-40B4-BE49-F238E27FC236}">
                <a16:creationId xmlns:a16="http://schemas.microsoft.com/office/drawing/2014/main" id="{B3DA9DE3-33BD-4E18-E25B-F66C678D0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914400"/>
            <a:ext cx="83058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128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92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（二）、双向链表</a:t>
            </a:r>
          </a:p>
          <a:p>
            <a:pPr>
              <a:spcBef>
                <a:spcPct val="30000"/>
              </a:spcBef>
            </a:pPr>
            <a:r>
              <a:rPr lang="zh-CN" altLang="en-US" sz="200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对于线性表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L=(a1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ai-1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ai+1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，其双向链表如下图所示。</a:t>
            </a:r>
          </a:p>
        </p:txBody>
      </p:sp>
      <p:sp>
        <p:nvSpPr>
          <p:cNvPr id="196612" name="Text Box 4">
            <a:extLst>
              <a:ext uri="{FF2B5EF4-FFF2-40B4-BE49-F238E27FC236}">
                <a16:creationId xmlns:a16="http://schemas.microsoft.com/office/drawing/2014/main" id="{9D138E83-BF82-8B40-EA3F-BFB9E58E8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2743200"/>
            <a:ext cx="404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96613" name="Rectangle 5">
            <a:extLst>
              <a:ext uri="{FF2B5EF4-FFF2-40B4-BE49-F238E27FC236}">
                <a16:creationId xmlns:a16="http://schemas.microsoft.com/office/drawing/2014/main" id="{B03A7C24-30BD-7C7D-23E1-00A887377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kumimoji="1" lang="en-US" altLang="zh-CN" sz="2400" baseline="-25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6614" name="Line 6">
            <a:extLst>
              <a:ext uri="{FF2B5EF4-FFF2-40B4-BE49-F238E27FC236}">
                <a16:creationId xmlns:a16="http://schemas.microsoft.com/office/drawing/2014/main" id="{7A1CF102-925C-E3A8-14E3-85BF008DE68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15" name="Line 7">
            <a:extLst>
              <a:ext uri="{FF2B5EF4-FFF2-40B4-BE49-F238E27FC236}">
                <a16:creationId xmlns:a16="http://schemas.microsoft.com/office/drawing/2014/main" id="{1F3A9D28-AE98-987F-3851-B86E61D9BE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16" name="Rectangle 8">
            <a:extLst>
              <a:ext uri="{FF2B5EF4-FFF2-40B4-BE49-F238E27FC236}">
                <a16:creationId xmlns:a16="http://schemas.microsoft.com/office/drawing/2014/main" id="{37B3EFF1-34F4-652D-275F-8571D4CE1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6617" name="Line 9">
            <a:extLst>
              <a:ext uri="{FF2B5EF4-FFF2-40B4-BE49-F238E27FC236}">
                <a16:creationId xmlns:a16="http://schemas.microsoft.com/office/drawing/2014/main" id="{1234D027-8795-B5CA-0F6F-46CE48BB1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18" name="Line 10">
            <a:extLst>
              <a:ext uri="{FF2B5EF4-FFF2-40B4-BE49-F238E27FC236}">
                <a16:creationId xmlns:a16="http://schemas.microsoft.com/office/drawing/2014/main" id="{FF743A78-8AA1-1F32-99DB-1997556FB31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36220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19" name="Line 11">
            <a:extLst>
              <a:ext uri="{FF2B5EF4-FFF2-40B4-BE49-F238E27FC236}">
                <a16:creationId xmlns:a16="http://schemas.microsoft.com/office/drawing/2014/main" id="{21418564-C2DB-30E6-DBA9-4923CCF53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20" name="Line 12">
            <a:extLst>
              <a:ext uri="{FF2B5EF4-FFF2-40B4-BE49-F238E27FC236}">
                <a16:creationId xmlns:a16="http://schemas.microsoft.com/office/drawing/2014/main" id="{A81640C6-3E48-DF6D-09F7-7157F6C93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362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21" name="Line 13">
            <a:extLst>
              <a:ext uri="{FF2B5EF4-FFF2-40B4-BE49-F238E27FC236}">
                <a16:creationId xmlns:a16="http://schemas.microsoft.com/office/drawing/2014/main" id="{798132F6-0DDC-EB03-261E-ABF7B3A9B1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274320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22" name="Line 14">
            <a:extLst>
              <a:ext uri="{FF2B5EF4-FFF2-40B4-BE49-F238E27FC236}">
                <a16:creationId xmlns:a16="http://schemas.microsoft.com/office/drawing/2014/main" id="{E96F2539-7459-866E-1E5B-85FF87957E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2590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23" name="Rectangle 15">
            <a:extLst>
              <a:ext uri="{FF2B5EF4-FFF2-40B4-BE49-F238E27FC236}">
                <a16:creationId xmlns:a16="http://schemas.microsoft.com/office/drawing/2014/main" id="{AC3C688C-80A4-E719-E856-8665FFCFB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i-1</a:t>
            </a:r>
          </a:p>
        </p:txBody>
      </p:sp>
      <p:sp>
        <p:nvSpPr>
          <p:cNvPr id="196624" name="Line 16">
            <a:extLst>
              <a:ext uri="{FF2B5EF4-FFF2-40B4-BE49-F238E27FC236}">
                <a16:creationId xmlns:a16="http://schemas.microsoft.com/office/drawing/2014/main" id="{F2FA3908-8DC9-858C-1261-B2689A41B6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25" name="Line 17">
            <a:extLst>
              <a:ext uri="{FF2B5EF4-FFF2-40B4-BE49-F238E27FC236}">
                <a16:creationId xmlns:a16="http://schemas.microsoft.com/office/drawing/2014/main" id="{ED9A077F-F635-00A4-5D63-ED43EE949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36220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26" name="Line 18">
            <a:extLst>
              <a:ext uri="{FF2B5EF4-FFF2-40B4-BE49-F238E27FC236}">
                <a16:creationId xmlns:a16="http://schemas.microsoft.com/office/drawing/2014/main" id="{A87ED484-F694-C3FF-A09F-1FC538FA16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27" name="Line 19">
            <a:extLst>
              <a:ext uri="{FF2B5EF4-FFF2-40B4-BE49-F238E27FC236}">
                <a16:creationId xmlns:a16="http://schemas.microsoft.com/office/drawing/2014/main" id="{CFFD89A8-28AE-76BB-4FFC-7A1B670EA4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362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28" name="Line 20">
            <a:extLst>
              <a:ext uri="{FF2B5EF4-FFF2-40B4-BE49-F238E27FC236}">
                <a16:creationId xmlns:a16="http://schemas.microsoft.com/office/drawing/2014/main" id="{772F25FE-0A42-3047-C5EB-C6D0476FEA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743200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29" name="Line 21">
            <a:extLst>
              <a:ext uri="{FF2B5EF4-FFF2-40B4-BE49-F238E27FC236}">
                <a16:creationId xmlns:a16="http://schemas.microsoft.com/office/drawing/2014/main" id="{65997530-9B69-5097-BB9F-C8DD1E406A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2590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30" name="Line 22">
            <a:extLst>
              <a:ext uri="{FF2B5EF4-FFF2-40B4-BE49-F238E27FC236}">
                <a16:creationId xmlns:a16="http://schemas.microsoft.com/office/drawing/2014/main" id="{693D2D79-94C9-3E6C-E028-9C09EBCD47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36220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31" name="Line 23">
            <a:extLst>
              <a:ext uri="{FF2B5EF4-FFF2-40B4-BE49-F238E27FC236}">
                <a16:creationId xmlns:a16="http://schemas.microsoft.com/office/drawing/2014/main" id="{2A00B1F2-52B4-AECA-6C61-99484B243F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274320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32" name="Rectangle 24">
            <a:extLst>
              <a:ext uri="{FF2B5EF4-FFF2-40B4-BE49-F238E27FC236}">
                <a16:creationId xmlns:a16="http://schemas.microsoft.com/office/drawing/2014/main" id="{0A1E8724-8444-D075-6CEF-84EC41B7A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96633" name="Line 25">
            <a:extLst>
              <a:ext uri="{FF2B5EF4-FFF2-40B4-BE49-F238E27FC236}">
                <a16:creationId xmlns:a16="http://schemas.microsoft.com/office/drawing/2014/main" id="{93D649A4-ADEB-3AAC-429D-616763CF2E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34" name="Line 26">
            <a:extLst>
              <a:ext uri="{FF2B5EF4-FFF2-40B4-BE49-F238E27FC236}">
                <a16:creationId xmlns:a16="http://schemas.microsoft.com/office/drawing/2014/main" id="{3A64C69D-91D1-02B3-A9F3-69290B4CA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36220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35" name="Line 27">
            <a:extLst>
              <a:ext uri="{FF2B5EF4-FFF2-40B4-BE49-F238E27FC236}">
                <a16:creationId xmlns:a16="http://schemas.microsoft.com/office/drawing/2014/main" id="{38FA8335-FC8F-35C4-C372-295BB226C9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36" name="Line 28">
            <a:extLst>
              <a:ext uri="{FF2B5EF4-FFF2-40B4-BE49-F238E27FC236}">
                <a16:creationId xmlns:a16="http://schemas.microsoft.com/office/drawing/2014/main" id="{4555E1D2-F8B3-A50D-B701-BAD7D3E9377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362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37" name="Line 29">
            <a:extLst>
              <a:ext uri="{FF2B5EF4-FFF2-40B4-BE49-F238E27FC236}">
                <a16:creationId xmlns:a16="http://schemas.microsoft.com/office/drawing/2014/main" id="{E68488AC-4D19-9E5D-917D-32B9405173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2743200"/>
            <a:ext cx="914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38" name="Line 30">
            <a:extLst>
              <a:ext uri="{FF2B5EF4-FFF2-40B4-BE49-F238E27FC236}">
                <a16:creationId xmlns:a16="http://schemas.microsoft.com/office/drawing/2014/main" id="{636BD798-2515-1A71-B6A0-267F7544A8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2590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39" name="Rectangle 31">
            <a:extLst>
              <a:ext uri="{FF2B5EF4-FFF2-40B4-BE49-F238E27FC236}">
                <a16:creationId xmlns:a16="http://schemas.microsoft.com/office/drawing/2014/main" id="{570DDC8E-1193-CEE1-93F6-4E6FEBCE9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i+1</a:t>
            </a:r>
          </a:p>
        </p:txBody>
      </p:sp>
      <p:sp>
        <p:nvSpPr>
          <p:cNvPr id="196640" name="Line 32">
            <a:extLst>
              <a:ext uri="{FF2B5EF4-FFF2-40B4-BE49-F238E27FC236}">
                <a16:creationId xmlns:a16="http://schemas.microsoft.com/office/drawing/2014/main" id="{16EBC249-736E-3F59-C249-B1F5F6277A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41" name="Line 33">
            <a:extLst>
              <a:ext uri="{FF2B5EF4-FFF2-40B4-BE49-F238E27FC236}">
                <a16:creationId xmlns:a16="http://schemas.microsoft.com/office/drawing/2014/main" id="{3FDA8529-BA78-5CFD-7431-C90FC4BBE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36220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42" name="Line 34">
            <a:extLst>
              <a:ext uri="{FF2B5EF4-FFF2-40B4-BE49-F238E27FC236}">
                <a16:creationId xmlns:a16="http://schemas.microsoft.com/office/drawing/2014/main" id="{8AEB35D3-7A13-213E-9880-9FF79F20B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43" name="Line 35">
            <a:extLst>
              <a:ext uri="{FF2B5EF4-FFF2-40B4-BE49-F238E27FC236}">
                <a16:creationId xmlns:a16="http://schemas.microsoft.com/office/drawing/2014/main" id="{A9D3C7E4-0838-1216-AA07-DE4F26472C8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362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44" name="Line 36">
            <a:extLst>
              <a:ext uri="{FF2B5EF4-FFF2-40B4-BE49-F238E27FC236}">
                <a16:creationId xmlns:a16="http://schemas.microsoft.com/office/drawing/2014/main" id="{FCA171DC-A8DF-AE90-4ED7-C81F0502E1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2743200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45" name="Line 37">
            <a:extLst>
              <a:ext uri="{FF2B5EF4-FFF2-40B4-BE49-F238E27FC236}">
                <a16:creationId xmlns:a16="http://schemas.microsoft.com/office/drawing/2014/main" id="{788DBA50-8853-8970-F7E1-B8558CA462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2590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46" name="Line 38">
            <a:extLst>
              <a:ext uri="{FF2B5EF4-FFF2-40B4-BE49-F238E27FC236}">
                <a16:creationId xmlns:a16="http://schemas.microsoft.com/office/drawing/2014/main" id="{F9376DA5-D418-4682-122A-6F8AE9FCE67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236220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47" name="Text Box 39">
            <a:extLst>
              <a:ext uri="{FF2B5EF4-FFF2-40B4-BE49-F238E27FC236}">
                <a16:creationId xmlns:a16="http://schemas.microsoft.com/office/drawing/2014/main" id="{75512EEF-D6BF-45A6-6B65-DE8570641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243840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6648" name="Line 40">
            <a:extLst>
              <a:ext uri="{FF2B5EF4-FFF2-40B4-BE49-F238E27FC236}">
                <a16:creationId xmlns:a16="http://schemas.microsoft.com/office/drawing/2014/main" id="{D1A045BF-FCC4-BC0A-D45C-97D301ABA8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2743200"/>
            <a:ext cx="914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49" name="Line 41">
            <a:extLst>
              <a:ext uri="{FF2B5EF4-FFF2-40B4-BE49-F238E27FC236}">
                <a16:creationId xmlns:a16="http://schemas.microsoft.com/office/drawing/2014/main" id="{FDA317FE-F0A2-30B2-763A-16115D428C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2590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50" name="Rectangle 42">
            <a:extLst>
              <a:ext uri="{FF2B5EF4-FFF2-40B4-BE49-F238E27FC236}">
                <a16:creationId xmlns:a16="http://schemas.microsoft.com/office/drawing/2014/main" id="{652EBE82-5E27-5BED-9364-86040C9D3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196651" name="Line 43">
            <a:extLst>
              <a:ext uri="{FF2B5EF4-FFF2-40B4-BE49-F238E27FC236}">
                <a16:creationId xmlns:a16="http://schemas.microsoft.com/office/drawing/2014/main" id="{C9E0E39A-681A-B7C0-1DE5-34262C2662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08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52" name="Line 44">
            <a:extLst>
              <a:ext uri="{FF2B5EF4-FFF2-40B4-BE49-F238E27FC236}">
                <a16:creationId xmlns:a16="http://schemas.microsoft.com/office/drawing/2014/main" id="{E52D1B5C-5928-87DB-ED13-2976B69E125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0" y="2362200"/>
            <a:ext cx="3810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53" name="Line 45">
            <a:extLst>
              <a:ext uri="{FF2B5EF4-FFF2-40B4-BE49-F238E27FC236}">
                <a16:creationId xmlns:a16="http://schemas.microsoft.com/office/drawing/2014/main" id="{4E64A6C2-F910-38E9-4A3C-2528443C3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36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54" name="Line 46">
            <a:extLst>
              <a:ext uri="{FF2B5EF4-FFF2-40B4-BE49-F238E27FC236}">
                <a16:creationId xmlns:a16="http://schemas.microsoft.com/office/drawing/2014/main" id="{059CC70F-17B1-5CB4-0A04-68370411C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7400" y="2362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55" name="Line 47">
            <a:extLst>
              <a:ext uri="{FF2B5EF4-FFF2-40B4-BE49-F238E27FC236}">
                <a16:creationId xmlns:a16="http://schemas.microsoft.com/office/drawing/2014/main" id="{F0969112-9A96-202C-81F8-546D02ACFB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67800" y="274320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6656" name="Text Box 48">
            <a:extLst>
              <a:ext uri="{FF2B5EF4-FFF2-40B4-BE49-F238E27FC236}">
                <a16:creationId xmlns:a16="http://schemas.microsoft.com/office/drawing/2014/main" id="{F70E9AC4-3599-99FE-44F4-068CCE5FD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205740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6657" name="Text Box 49">
            <a:extLst>
              <a:ext uri="{FF2B5EF4-FFF2-40B4-BE49-F238E27FC236}">
                <a16:creationId xmlns:a16="http://schemas.microsoft.com/office/drawing/2014/main" id="{BEC17125-B0BA-F47C-ED3A-2C04228E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43840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6658" name="Text Box 50">
            <a:extLst>
              <a:ext uri="{FF2B5EF4-FFF2-40B4-BE49-F238E27FC236}">
                <a16:creationId xmlns:a16="http://schemas.microsoft.com/office/drawing/2014/main" id="{9400A445-CE01-3522-F61E-30C9BFA23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05740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6659" name="Rectangle 51">
            <a:extLst>
              <a:ext uri="{FF2B5EF4-FFF2-40B4-BE49-F238E27FC236}">
                <a16:creationId xmlns:a16="http://schemas.microsoft.com/office/drawing/2014/main" id="{1B8C02CD-BF19-7F73-2637-8B2A90316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813" y="2117725"/>
            <a:ext cx="1859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</a:rPr>
              <a:t>∧</a:t>
            </a:r>
          </a:p>
        </p:txBody>
      </p:sp>
      <p:sp>
        <p:nvSpPr>
          <p:cNvPr id="196660" name="Rectangle 52">
            <a:extLst>
              <a:ext uri="{FF2B5EF4-FFF2-40B4-BE49-F238E27FC236}">
                <a16:creationId xmlns:a16="http://schemas.microsoft.com/office/drawing/2014/main" id="{CC3C6544-E6FB-295C-8A01-AB9548D2B0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133600"/>
            <a:ext cx="1859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</a:rPr>
              <a:t>∧</a:t>
            </a:r>
          </a:p>
        </p:txBody>
      </p:sp>
      <p:sp>
        <p:nvSpPr>
          <p:cNvPr id="196661" name="Arc 53">
            <a:extLst>
              <a:ext uri="{FF2B5EF4-FFF2-40B4-BE49-F238E27FC236}">
                <a16:creationId xmlns:a16="http://schemas.microsoft.com/office/drawing/2014/main" id="{373E3BE2-08BD-D6C1-A6EB-1317B591334C}"/>
              </a:ext>
            </a:extLst>
          </p:cNvPr>
          <p:cNvSpPr>
            <a:spLocks/>
          </p:cNvSpPr>
          <p:nvPr/>
        </p:nvSpPr>
        <p:spPr bwMode="auto">
          <a:xfrm flipH="1" flipV="1">
            <a:off x="1597025" y="2289175"/>
            <a:ext cx="255588" cy="730250"/>
          </a:xfrm>
          <a:custGeom>
            <a:avLst/>
            <a:gdLst>
              <a:gd name="G0" fmla="+- 0 0 0"/>
              <a:gd name="G1" fmla="+- 19774 0 0"/>
              <a:gd name="G2" fmla="+- 21600 0 0"/>
              <a:gd name="T0" fmla="*/ 8691 w 21600"/>
              <a:gd name="T1" fmla="*/ 0 h 41305"/>
              <a:gd name="T2" fmla="*/ 1730 w 21600"/>
              <a:gd name="T3" fmla="*/ 41305 h 41305"/>
              <a:gd name="T4" fmla="*/ 0 w 21600"/>
              <a:gd name="T5" fmla="*/ 19774 h 41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305" fill="none" extrusionOk="0">
                <a:moveTo>
                  <a:pt x="8691" y="-1"/>
                </a:moveTo>
                <a:cubicBezTo>
                  <a:pt x="16535" y="3447"/>
                  <a:pt x="21600" y="11205"/>
                  <a:pt x="21600" y="19774"/>
                </a:cubicBezTo>
                <a:cubicBezTo>
                  <a:pt x="21600" y="31032"/>
                  <a:pt x="12952" y="40402"/>
                  <a:pt x="1729" y="41304"/>
                </a:cubicBezTo>
              </a:path>
              <a:path w="21600" h="41305" stroke="0" extrusionOk="0">
                <a:moveTo>
                  <a:pt x="8691" y="-1"/>
                </a:moveTo>
                <a:cubicBezTo>
                  <a:pt x="16535" y="3447"/>
                  <a:pt x="21600" y="11205"/>
                  <a:pt x="21600" y="19774"/>
                </a:cubicBezTo>
                <a:cubicBezTo>
                  <a:pt x="21600" y="31032"/>
                  <a:pt x="12952" y="40402"/>
                  <a:pt x="1729" y="41304"/>
                </a:cubicBezTo>
                <a:lnTo>
                  <a:pt x="0" y="19774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6662" name="AutoShape 54">
            <a:extLst>
              <a:ext uri="{FF2B5EF4-FFF2-40B4-BE49-F238E27FC236}">
                <a16:creationId xmlns:a16="http://schemas.microsoft.com/office/drawing/2014/main" id="{22EA8C7F-9431-0386-61D6-192520A20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971800"/>
            <a:ext cx="1143000" cy="381000"/>
          </a:xfrm>
          <a:prstGeom prst="wedgeRoundRectCallout">
            <a:avLst>
              <a:gd name="adj1" fmla="val -21806"/>
              <a:gd name="adj2" fmla="val -153333"/>
              <a:gd name="adj3" fmla="val 16667"/>
            </a:avLst>
          </a:prstGeom>
          <a:noFill/>
          <a:ln w="9525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0000"/>
                </a:solidFill>
              </a:rPr>
              <a:t>首结点</a:t>
            </a:r>
          </a:p>
        </p:txBody>
      </p:sp>
      <p:sp>
        <p:nvSpPr>
          <p:cNvPr id="196663" name="AutoShape 55">
            <a:extLst>
              <a:ext uri="{FF2B5EF4-FFF2-40B4-BE49-F238E27FC236}">
                <a16:creationId xmlns:a16="http://schemas.microsoft.com/office/drawing/2014/main" id="{3CF777B6-6ABB-14C9-D40C-B20DDA4CE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2971800"/>
            <a:ext cx="1143000" cy="381000"/>
          </a:xfrm>
          <a:prstGeom prst="wedgeRoundRectCallout">
            <a:avLst>
              <a:gd name="adj1" fmla="val 18056"/>
              <a:gd name="adj2" fmla="val -153750"/>
              <a:gd name="adj3" fmla="val 16667"/>
            </a:avLst>
          </a:prstGeom>
          <a:noFill/>
          <a:ln w="9525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0000"/>
                </a:solidFill>
              </a:rPr>
              <a:t>尾结点</a:t>
            </a:r>
          </a:p>
        </p:txBody>
      </p:sp>
      <p:sp>
        <p:nvSpPr>
          <p:cNvPr id="196664" name="AutoShape 56">
            <a:extLst>
              <a:ext uri="{FF2B5EF4-FFF2-40B4-BE49-F238E27FC236}">
                <a16:creationId xmlns:a16="http://schemas.microsoft.com/office/drawing/2014/main" id="{4F7399DE-B01D-8888-4504-AEA49EE73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971800"/>
            <a:ext cx="1143000" cy="381000"/>
          </a:xfrm>
          <a:prstGeom prst="wedgeRoundRectCallout">
            <a:avLst>
              <a:gd name="adj1" fmla="val -28472"/>
              <a:gd name="adj2" fmla="val -149583"/>
              <a:gd name="adj3" fmla="val 16667"/>
            </a:avLst>
          </a:prstGeom>
          <a:noFill/>
          <a:ln w="9525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0000"/>
                </a:solidFill>
              </a:rPr>
              <a:t>头结点</a:t>
            </a:r>
          </a:p>
        </p:txBody>
      </p:sp>
      <p:sp>
        <p:nvSpPr>
          <p:cNvPr id="196665" name="Rectangle 57">
            <a:extLst>
              <a:ext uri="{FF2B5EF4-FFF2-40B4-BE49-F238E27FC236}">
                <a16:creationId xmlns:a16="http://schemas.microsoft.com/office/drawing/2014/main" id="{2045FC3E-7300-21FA-0C10-33DFC9B33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" y="3441701"/>
            <a:ext cx="5283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5334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27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在双向链表中，每个结点由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个域组成。</a:t>
            </a:r>
          </a:p>
        </p:txBody>
      </p:sp>
      <p:sp>
        <p:nvSpPr>
          <p:cNvPr id="196666" name="Rectangle 58">
            <a:extLst>
              <a:ext uri="{FF2B5EF4-FFF2-40B4-BE49-F238E27FC236}">
                <a16:creationId xmlns:a16="http://schemas.microsoft.com/office/drawing/2014/main" id="{827BD355-3FB2-A56D-E193-85EC0D266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7300" y="4546087"/>
            <a:ext cx="5105400" cy="1969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DuLNode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ElemType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data;</a:t>
            </a:r>
          </a:p>
          <a:p>
            <a:pPr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struct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DuLNode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*prior;</a:t>
            </a:r>
          </a:p>
          <a:p>
            <a:pPr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struct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DuLNode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*next;</a:t>
            </a:r>
          </a:p>
          <a:p>
            <a:pPr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 struct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DuLNode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DuLNode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7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typedef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DuLNode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altLang="zh-CN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DuLinkList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96667" name="Rectangle 59">
            <a:extLst>
              <a:ext uri="{FF2B5EF4-FFF2-40B4-BE49-F238E27FC236}">
                <a16:creationId xmlns:a16="http://schemas.microsoft.com/office/drawing/2014/main" id="{A7BF65A8-0709-3CD3-33C8-B316A5F89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60" y="3962399"/>
            <a:ext cx="617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为描述结点的组成，定义结构体类型如下： </a:t>
            </a:r>
          </a:p>
        </p:txBody>
      </p:sp>
      <p:sp>
        <p:nvSpPr>
          <p:cNvPr id="196668" name="AutoShape 60">
            <a:extLst>
              <a:ext uri="{FF2B5EF4-FFF2-40B4-BE49-F238E27FC236}">
                <a16:creationId xmlns:a16="http://schemas.microsoft.com/office/drawing/2014/main" id="{5AD12610-E80F-EF6D-154D-6426DED87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4495800"/>
            <a:ext cx="457200" cy="914400"/>
          </a:xfrm>
          <a:prstGeom prst="wedgeRoundRectCallout">
            <a:avLst>
              <a:gd name="adj1" fmla="val -29514"/>
              <a:gd name="adj2" fmla="val -76389"/>
              <a:gd name="adj3" fmla="val 16667"/>
            </a:avLst>
          </a:prstGeom>
          <a:noFill/>
          <a:ln w="9525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0000"/>
                </a:solidFill>
              </a:rPr>
              <a:t>数据域</a:t>
            </a:r>
          </a:p>
        </p:txBody>
      </p:sp>
      <p:sp>
        <p:nvSpPr>
          <p:cNvPr id="196669" name="AutoShape 61">
            <a:extLst>
              <a:ext uri="{FF2B5EF4-FFF2-40B4-BE49-F238E27FC236}">
                <a16:creationId xmlns:a16="http://schemas.microsoft.com/office/drawing/2014/main" id="{75EF7BEF-63BA-A028-D4E5-DA8F8F022F6F}"/>
              </a:ext>
            </a:extLst>
          </p:cNvPr>
          <p:cNvSpPr>
            <a:spLocks noChangeArrowheads="1"/>
          </p:cNvSpPr>
          <p:nvPr/>
        </p:nvSpPr>
        <p:spPr bwMode="auto">
          <a:xfrm rot="574106">
            <a:off x="7543800" y="4495800"/>
            <a:ext cx="457200" cy="914400"/>
          </a:xfrm>
          <a:prstGeom prst="wedgeRoundRectCallout">
            <a:avLst>
              <a:gd name="adj1" fmla="val -12847"/>
              <a:gd name="adj2" fmla="val -76389"/>
              <a:gd name="adj3" fmla="val 16667"/>
            </a:avLst>
          </a:prstGeom>
          <a:noFill/>
          <a:ln w="9525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0000"/>
                </a:solidFill>
              </a:rPr>
              <a:t>指针域</a:t>
            </a:r>
          </a:p>
        </p:txBody>
      </p:sp>
      <p:sp>
        <p:nvSpPr>
          <p:cNvPr id="196670" name="AutoShape 62">
            <a:extLst>
              <a:ext uri="{FF2B5EF4-FFF2-40B4-BE49-F238E27FC236}">
                <a16:creationId xmlns:a16="http://schemas.microsoft.com/office/drawing/2014/main" id="{96718560-7E34-4EF1-DE9C-6C22E7FF5CA3}"/>
              </a:ext>
            </a:extLst>
          </p:cNvPr>
          <p:cNvSpPr>
            <a:spLocks noChangeArrowheads="1"/>
          </p:cNvSpPr>
          <p:nvPr/>
        </p:nvSpPr>
        <p:spPr bwMode="auto">
          <a:xfrm rot="21167485">
            <a:off x="8763000" y="4495800"/>
            <a:ext cx="457200" cy="914400"/>
          </a:xfrm>
          <a:prstGeom prst="wedgeRoundRectCallout">
            <a:avLst>
              <a:gd name="adj1" fmla="val -319"/>
              <a:gd name="adj2" fmla="val -77741"/>
              <a:gd name="adj3" fmla="val 16667"/>
            </a:avLst>
          </a:prstGeom>
          <a:noFill/>
          <a:ln w="9525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0000"/>
                </a:solidFill>
              </a:rPr>
              <a:t>指针域</a:t>
            </a:r>
          </a:p>
        </p:txBody>
      </p:sp>
      <p:sp>
        <p:nvSpPr>
          <p:cNvPr id="196671" name="Text Box 63">
            <a:extLst>
              <a:ext uri="{FF2B5EF4-FFF2-40B4-BE49-F238E27FC236}">
                <a16:creationId xmlns:a16="http://schemas.microsoft.com/office/drawing/2014/main" id="{94AF5335-8B57-E730-0408-98039D611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34290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196672" name="Text Box 64">
            <a:extLst>
              <a:ext uri="{FF2B5EF4-FFF2-40B4-BE49-F238E27FC236}">
                <a16:creationId xmlns:a16="http://schemas.microsoft.com/office/drawing/2014/main" id="{7382786F-8B4D-F315-E043-D6F3DB4C7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4290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prior</a:t>
            </a:r>
          </a:p>
        </p:txBody>
      </p:sp>
      <p:sp>
        <p:nvSpPr>
          <p:cNvPr id="196673" name="Text Box 65">
            <a:extLst>
              <a:ext uri="{FF2B5EF4-FFF2-40B4-BE49-F238E27FC236}">
                <a16:creationId xmlns:a16="http://schemas.microsoft.com/office/drawing/2014/main" id="{BC6FB4D6-8EC8-A458-02E6-1EEE14493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3429000"/>
            <a:ext cx="60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next</a:t>
            </a:r>
          </a:p>
        </p:txBody>
      </p:sp>
      <p:grpSp>
        <p:nvGrpSpPr>
          <p:cNvPr id="196674" name="Group 66">
            <a:extLst>
              <a:ext uri="{FF2B5EF4-FFF2-40B4-BE49-F238E27FC236}">
                <a16:creationId xmlns:a16="http://schemas.microsoft.com/office/drawing/2014/main" id="{3B066236-9C3F-3E0D-B26D-9ED7AFE98F1E}"/>
              </a:ext>
            </a:extLst>
          </p:cNvPr>
          <p:cNvGrpSpPr>
            <a:grpSpLocks/>
          </p:cNvGrpSpPr>
          <p:nvPr/>
        </p:nvGrpSpPr>
        <p:grpSpPr bwMode="auto">
          <a:xfrm>
            <a:off x="7315200" y="3733800"/>
            <a:ext cx="2133600" cy="533400"/>
            <a:chOff x="4080" y="2352"/>
            <a:chExt cx="1296" cy="336"/>
          </a:xfrm>
        </p:grpSpPr>
        <p:sp>
          <p:nvSpPr>
            <p:cNvPr id="196675" name="Rectangle 67">
              <a:extLst>
                <a:ext uri="{FF2B5EF4-FFF2-40B4-BE49-F238E27FC236}">
                  <a16:creationId xmlns:a16="http://schemas.microsoft.com/office/drawing/2014/main" id="{00B55C40-38DA-4A24-49BA-08BB80E41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352"/>
              <a:ext cx="1008" cy="336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kumimoji="1"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</a:rPr>
                <a:t>     a</a:t>
              </a:r>
              <a:r>
                <a:rPr kumimoji="1" lang="en-US" altLang="zh-CN" sz="32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96676" name="Line 68">
              <a:extLst>
                <a:ext uri="{FF2B5EF4-FFF2-40B4-BE49-F238E27FC236}">
                  <a16:creationId xmlns:a16="http://schemas.microsoft.com/office/drawing/2014/main" id="{F5AD6050-F92A-EAA9-8550-DE0676B92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352"/>
              <a:ext cx="2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77" name="Line 69">
              <a:extLst>
                <a:ext uri="{FF2B5EF4-FFF2-40B4-BE49-F238E27FC236}">
                  <a16:creationId xmlns:a16="http://schemas.microsoft.com/office/drawing/2014/main" id="{336FDC51-6FCB-B2B2-0204-31D0E0B96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2" y="2352"/>
              <a:ext cx="2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78" name="Line 70">
              <a:extLst>
                <a:ext uri="{FF2B5EF4-FFF2-40B4-BE49-F238E27FC236}">
                  <a16:creationId xmlns:a16="http://schemas.microsoft.com/office/drawing/2014/main" id="{66D45BA5-EDAB-CDD6-E0D9-6694958C2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2544"/>
              <a:ext cx="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oval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679" name="Line 71">
              <a:extLst>
                <a:ext uri="{FF2B5EF4-FFF2-40B4-BE49-F238E27FC236}">
                  <a16:creationId xmlns:a16="http://schemas.microsoft.com/office/drawing/2014/main" id="{D31E9651-A575-A491-5FC6-C5D9BD1A8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2544"/>
              <a:ext cx="288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triangl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6680" name="AutoShape 72">
            <a:extLst>
              <a:ext uri="{FF2B5EF4-FFF2-40B4-BE49-F238E27FC236}">
                <a16:creationId xmlns:a16="http://schemas.microsoft.com/office/drawing/2014/main" id="{BEA847EF-A6E9-A158-19D7-56E07EC33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343400"/>
            <a:ext cx="1143000" cy="381000"/>
          </a:xfrm>
          <a:prstGeom prst="wedgeRoundRectCallout">
            <a:avLst>
              <a:gd name="adj1" fmla="val 52222"/>
              <a:gd name="adj2" fmla="val -130000"/>
              <a:gd name="adj3" fmla="val 16667"/>
            </a:avLst>
          </a:prstGeom>
          <a:noFill/>
          <a:ln w="9525" algn="ctr">
            <a:solidFill>
              <a:srgbClr val="0000CC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0000"/>
                </a:solidFill>
              </a:rPr>
              <a:t>指向前驱</a:t>
            </a:r>
          </a:p>
        </p:txBody>
      </p:sp>
      <p:sp>
        <p:nvSpPr>
          <p:cNvPr id="196681" name="AutoShape 73">
            <a:extLst>
              <a:ext uri="{FF2B5EF4-FFF2-40B4-BE49-F238E27FC236}">
                <a16:creationId xmlns:a16="http://schemas.microsoft.com/office/drawing/2014/main" id="{267D5592-6BB7-9AEF-EBE2-362300051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4267200"/>
            <a:ext cx="1143000" cy="381000"/>
          </a:xfrm>
          <a:prstGeom prst="wedgeRoundRectCallout">
            <a:avLst>
              <a:gd name="adj1" fmla="val -59583"/>
              <a:gd name="adj2" fmla="val -110000"/>
              <a:gd name="adj3" fmla="val 16667"/>
            </a:avLst>
          </a:prstGeom>
          <a:noFill/>
          <a:ln w="9525" algn="ctr">
            <a:solidFill>
              <a:srgbClr val="0000CC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000000"/>
                </a:solidFill>
              </a:rPr>
              <a:t>指向后继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27873F8-84C5-28CA-53EF-48154774A34C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78644A-5F81-DD1C-6F93-45B6C377E0DF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2EE297-9A17-05ED-724C-E88282EC532A}"/>
              </a:ext>
            </a:extLst>
          </p:cNvPr>
          <p:cNvSpPr txBox="1"/>
          <p:nvPr/>
        </p:nvSpPr>
        <p:spPr>
          <a:xfrm>
            <a:off x="392806" y="106251"/>
            <a:ext cx="6617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四、循环链表和双向链表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96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2000"/>
                                        <p:tgtEl>
                                          <p:spTgt spid="19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2000"/>
                                        <p:tgtEl>
                                          <p:spTgt spid="19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1000"/>
                                        <p:tgtEl>
                                          <p:spTgt spid="196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1000"/>
                                        <p:tgtEl>
                                          <p:spTgt spid="196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2000"/>
                                        <p:tgtEl>
                                          <p:spTgt spid="196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2" dur="2000"/>
                                        <p:tgtEl>
                                          <p:spTgt spid="196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34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2000"/>
                                        <p:tgtEl>
                                          <p:spTgt spid="196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9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9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196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19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6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6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6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6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66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66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62" grpId="0" animBg="1"/>
      <p:bldP spid="196663" grpId="0" animBg="1"/>
      <p:bldP spid="196664" grpId="0" animBg="1"/>
      <p:bldP spid="196665" grpId="0"/>
      <p:bldP spid="196666" grpId="0"/>
      <p:bldP spid="196667" grpId="0"/>
      <p:bldP spid="196668" grpId="0" animBg="1"/>
      <p:bldP spid="196669" grpId="0" animBg="1"/>
      <p:bldP spid="196670" grpId="0" animBg="1"/>
      <p:bldP spid="196671" grpId="0"/>
      <p:bldP spid="196672" grpId="0"/>
      <p:bldP spid="196673" grpId="0"/>
      <p:bldP spid="196680" grpId="0" animBg="1"/>
      <p:bldP spid="19668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5" name="Text Box 3">
            <a:extLst>
              <a:ext uri="{FF2B5EF4-FFF2-40B4-BE49-F238E27FC236}">
                <a16:creationId xmlns:a16="http://schemas.microsoft.com/office/drawing/2014/main" id="{2005C17E-82D7-794D-31F3-1DD32F268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1004888"/>
            <a:ext cx="1007911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441325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128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92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在双向链表中，如果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，那么用指针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很容易访问结点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的前驱和后继。</a:t>
            </a:r>
          </a:p>
        </p:txBody>
      </p:sp>
      <p:grpSp>
        <p:nvGrpSpPr>
          <p:cNvPr id="197636" name="Group 4">
            <a:extLst>
              <a:ext uri="{FF2B5EF4-FFF2-40B4-BE49-F238E27FC236}">
                <a16:creationId xmlns:a16="http://schemas.microsoft.com/office/drawing/2014/main" id="{AB0BED78-9046-D1A6-995B-1DD0E2B25452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2057400"/>
            <a:ext cx="8001000" cy="1828800"/>
            <a:chOff x="384" y="1296"/>
            <a:chExt cx="5040" cy="1152"/>
          </a:xfrm>
        </p:grpSpPr>
        <p:grpSp>
          <p:nvGrpSpPr>
            <p:cNvPr id="197637" name="Group 5">
              <a:extLst>
                <a:ext uri="{FF2B5EF4-FFF2-40B4-BE49-F238E27FC236}">
                  <a16:creationId xmlns:a16="http://schemas.microsoft.com/office/drawing/2014/main" id="{BAAA390F-5C4E-EDA7-6406-EBDDCE19BF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1536"/>
              <a:ext cx="5040" cy="912"/>
              <a:chOff x="1968" y="1296"/>
              <a:chExt cx="2592" cy="432"/>
            </a:xfrm>
          </p:grpSpPr>
          <p:sp>
            <p:nvSpPr>
              <p:cNvPr id="197638" name="Rectangle 6">
                <a:extLst>
                  <a:ext uri="{FF2B5EF4-FFF2-40B4-BE49-F238E27FC236}">
                    <a16:creationId xmlns:a16="http://schemas.microsoft.com/office/drawing/2014/main" id="{11EC8606-723B-065F-B7C8-8722FA5A10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1296"/>
                <a:ext cx="576" cy="336"/>
              </a:xfrm>
              <a:prstGeom prst="rect">
                <a:avLst/>
              </a:prstGeom>
              <a:solidFill>
                <a:srgbClr val="CCFFFF">
                  <a:alpha val="50000"/>
                </a:srgbClr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r>
                  <a:rPr kumimoji="1"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     </a:t>
                </a:r>
                <a:r>
                  <a:rPr kumimoji="1" lang="en-US" altLang="zh-CN" sz="32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kumimoji="1" lang="en-US" altLang="zh-CN" sz="3200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i-1</a:t>
                </a:r>
              </a:p>
            </p:txBody>
          </p:sp>
          <p:sp>
            <p:nvSpPr>
              <p:cNvPr id="197639" name="Line 7">
                <a:extLst>
                  <a:ext uri="{FF2B5EF4-FFF2-40B4-BE49-F238E27FC236}">
                    <a16:creationId xmlns:a16="http://schemas.microsoft.com/office/drawing/2014/main" id="{04090E80-17EB-C5FA-9080-40C62A1197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129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640" name="Line 8">
                <a:extLst>
                  <a:ext uri="{FF2B5EF4-FFF2-40B4-BE49-F238E27FC236}">
                    <a16:creationId xmlns:a16="http://schemas.microsoft.com/office/drawing/2014/main" id="{9D9C3FCA-5975-282C-182A-80EA7CC0A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488"/>
                <a:ext cx="28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oval" w="sm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641" name="Line 9">
                <a:extLst>
                  <a:ext uri="{FF2B5EF4-FFF2-40B4-BE49-F238E27FC236}">
                    <a16:creationId xmlns:a16="http://schemas.microsoft.com/office/drawing/2014/main" id="{4AE3B043-ADD9-E525-9332-A0CB36387A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129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642" name="Line 10">
                <a:extLst>
                  <a:ext uri="{FF2B5EF4-FFF2-40B4-BE49-F238E27FC236}">
                    <a16:creationId xmlns:a16="http://schemas.microsoft.com/office/drawing/2014/main" id="{92222CD9-A95C-A4A9-C46E-A7FAC3012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148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97643" name="Line 11">
                <a:extLst>
                  <a:ext uri="{FF2B5EF4-FFF2-40B4-BE49-F238E27FC236}">
                    <a16:creationId xmlns:a16="http://schemas.microsoft.com/office/drawing/2014/main" id="{FC6579D0-A1C9-2798-79BF-FBC69B1BEB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68" y="1728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97644" name="Rectangle 12">
                <a:extLst>
                  <a:ext uri="{FF2B5EF4-FFF2-40B4-BE49-F238E27FC236}">
                    <a16:creationId xmlns:a16="http://schemas.microsoft.com/office/drawing/2014/main" id="{3F623D74-5F7B-1BA6-A9D2-EA51CF9CF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296"/>
                <a:ext cx="576" cy="336"/>
              </a:xfrm>
              <a:prstGeom prst="rect">
                <a:avLst/>
              </a:prstGeom>
              <a:solidFill>
                <a:srgbClr val="CCFFFF">
                  <a:alpha val="50000"/>
                </a:srgbClr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r>
                  <a:rPr kumimoji="1"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      </a:t>
                </a:r>
                <a:r>
                  <a:rPr kumimoji="1" lang="en-US" altLang="zh-CN" sz="32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kumimoji="1" lang="en-US" altLang="zh-CN" sz="3200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</a:t>
                </a:r>
              </a:p>
            </p:txBody>
          </p:sp>
          <p:sp>
            <p:nvSpPr>
              <p:cNvPr id="197645" name="Line 13">
                <a:extLst>
                  <a:ext uri="{FF2B5EF4-FFF2-40B4-BE49-F238E27FC236}">
                    <a16:creationId xmlns:a16="http://schemas.microsoft.com/office/drawing/2014/main" id="{D1178159-9E69-BA4D-DE05-C9A11BE47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129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646" name="Line 14">
                <a:extLst>
                  <a:ext uri="{FF2B5EF4-FFF2-40B4-BE49-F238E27FC236}">
                    <a16:creationId xmlns:a16="http://schemas.microsoft.com/office/drawing/2014/main" id="{198FF0B5-559D-1772-0AAB-C81C8C0DEC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488"/>
                <a:ext cx="28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oval" w="sm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647" name="Line 15">
                <a:extLst>
                  <a:ext uri="{FF2B5EF4-FFF2-40B4-BE49-F238E27FC236}">
                    <a16:creationId xmlns:a16="http://schemas.microsoft.com/office/drawing/2014/main" id="{7B9F6505-D7D2-3DD0-943B-8030507E3E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29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648" name="Line 16">
                <a:extLst>
                  <a:ext uri="{FF2B5EF4-FFF2-40B4-BE49-F238E27FC236}">
                    <a16:creationId xmlns:a16="http://schemas.microsoft.com/office/drawing/2014/main" id="{9376F7FF-9A40-227D-C5B5-25239A31A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148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97649" name="Line 17">
                <a:extLst>
                  <a:ext uri="{FF2B5EF4-FFF2-40B4-BE49-F238E27FC236}">
                    <a16:creationId xmlns:a16="http://schemas.microsoft.com/office/drawing/2014/main" id="{E5D7D162-FB82-A5A8-D017-723A20F75D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4" y="1728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97650" name="Line 18">
                <a:extLst>
                  <a:ext uri="{FF2B5EF4-FFF2-40B4-BE49-F238E27FC236}">
                    <a16:creationId xmlns:a16="http://schemas.microsoft.com/office/drawing/2014/main" id="{C26F2450-17FF-A0E6-458C-1D496813EF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44" y="1632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97651" name="Rectangle 19">
                <a:extLst>
                  <a:ext uri="{FF2B5EF4-FFF2-40B4-BE49-F238E27FC236}">
                    <a16:creationId xmlns:a16="http://schemas.microsoft.com/office/drawing/2014/main" id="{311A85DD-E09A-5AB4-85E1-B3EC3A3A7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2" y="1296"/>
                <a:ext cx="576" cy="336"/>
              </a:xfrm>
              <a:prstGeom prst="rect">
                <a:avLst/>
              </a:prstGeom>
              <a:solidFill>
                <a:srgbClr val="CCFFFF">
                  <a:alpha val="50000"/>
                </a:srgbClr>
              </a:solidFill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/>
                <a:r>
                  <a:rPr kumimoji="1" lang="en-US" altLang="zh-CN" sz="24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      </a:t>
                </a:r>
                <a:r>
                  <a:rPr kumimoji="1" lang="en-US" altLang="zh-CN" sz="32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kumimoji="1" lang="en-US" altLang="zh-CN" sz="3200" baseline="-2500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i+1</a:t>
                </a:r>
              </a:p>
            </p:txBody>
          </p:sp>
          <p:sp>
            <p:nvSpPr>
              <p:cNvPr id="197652" name="Line 20">
                <a:extLst>
                  <a:ext uri="{FF2B5EF4-FFF2-40B4-BE49-F238E27FC236}">
                    <a16:creationId xmlns:a16="http://schemas.microsoft.com/office/drawing/2014/main" id="{50F70A17-6E67-FCD6-D882-3A2837794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129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653" name="Line 21">
                <a:extLst>
                  <a:ext uri="{FF2B5EF4-FFF2-40B4-BE49-F238E27FC236}">
                    <a16:creationId xmlns:a16="http://schemas.microsoft.com/office/drawing/2014/main" id="{D0DFFC3E-CCE9-2FB7-DCF3-587D84F25D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488"/>
                <a:ext cx="28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oval" w="sm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654" name="Line 22">
                <a:extLst>
                  <a:ext uri="{FF2B5EF4-FFF2-40B4-BE49-F238E27FC236}">
                    <a16:creationId xmlns:a16="http://schemas.microsoft.com/office/drawing/2014/main" id="{96C0BA4F-7E5A-A5E0-75C2-129687058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1296"/>
                <a:ext cx="0" cy="33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655" name="Line 23">
                <a:extLst>
                  <a:ext uri="{FF2B5EF4-FFF2-40B4-BE49-F238E27FC236}">
                    <a16:creationId xmlns:a16="http://schemas.microsoft.com/office/drawing/2014/main" id="{B877EDAB-F250-94B5-A409-1A0022B2C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48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97656" name="Line 24">
                <a:extLst>
                  <a:ext uri="{FF2B5EF4-FFF2-40B4-BE49-F238E27FC236}">
                    <a16:creationId xmlns:a16="http://schemas.microsoft.com/office/drawing/2014/main" id="{D0677C1C-A0FF-F6F1-5838-C8C4CFDF6B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80" y="1728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97657" name="Line 25">
                <a:extLst>
                  <a:ext uri="{FF2B5EF4-FFF2-40B4-BE49-F238E27FC236}">
                    <a16:creationId xmlns:a16="http://schemas.microsoft.com/office/drawing/2014/main" id="{033B3993-C337-F303-DCE1-85B2F9C6A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0" y="1632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97658" name="Line 26">
                <a:extLst>
                  <a:ext uri="{FF2B5EF4-FFF2-40B4-BE49-F238E27FC236}">
                    <a16:creationId xmlns:a16="http://schemas.microsoft.com/office/drawing/2014/main" id="{754FEB4C-E26A-FE36-EE50-D19ACBB2CA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488"/>
                <a:ext cx="288" cy="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oval" w="sm" len="sm"/>
                <a:tailEnd type="triangle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7659" name="Line 27">
                <a:extLst>
                  <a:ext uri="{FF2B5EF4-FFF2-40B4-BE49-F238E27FC236}">
                    <a16:creationId xmlns:a16="http://schemas.microsoft.com/office/drawing/2014/main" id="{302940CB-B465-6BB9-89C0-F788D3C6FC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12" y="1728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197660" name="Line 28">
                <a:extLst>
                  <a:ext uri="{FF2B5EF4-FFF2-40B4-BE49-F238E27FC236}">
                    <a16:creationId xmlns:a16="http://schemas.microsoft.com/office/drawing/2014/main" id="{DFF4D0F8-D619-407D-8187-BF637D815D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12" y="1632"/>
                <a:ext cx="0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197661" name="Text Box 29">
              <a:extLst>
                <a:ext uri="{FF2B5EF4-FFF2-40B4-BE49-F238E27FC236}">
                  <a16:creationId xmlns:a16="http://schemas.microsoft.com/office/drawing/2014/main" id="{E971EA76-0721-F8DF-DF3D-55D8056C1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296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000000"/>
                  </a:solidFill>
                </a:rPr>
                <a:t>data</a:t>
              </a:r>
            </a:p>
          </p:txBody>
        </p:sp>
        <p:sp>
          <p:nvSpPr>
            <p:cNvPr id="197662" name="Text Box 30">
              <a:extLst>
                <a:ext uri="{FF2B5EF4-FFF2-40B4-BE49-F238E27FC236}">
                  <a16:creationId xmlns:a16="http://schemas.microsoft.com/office/drawing/2014/main" id="{F8CD3DAE-6105-1F4E-04C2-9ED95837A8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296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000000"/>
                  </a:solidFill>
                </a:rPr>
                <a:t>prior</a:t>
              </a:r>
            </a:p>
          </p:txBody>
        </p:sp>
        <p:sp>
          <p:nvSpPr>
            <p:cNvPr id="197663" name="Text Box 31">
              <a:extLst>
                <a:ext uri="{FF2B5EF4-FFF2-40B4-BE49-F238E27FC236}">
                  <a16:creationId xmlns:a16="http://schemas.microsoft.com/office/drawing/2014/main" id="{0372B5AC-95EA-6470-6718-55AE83C1B4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1296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000000"/>
                  </a:solidFill>
                </a:rPr>
                <a:t>next</a:t>
              </a:r>
            </a:p>
          </p:txBody>
        </p:sp>
        <p:sp>
          <p:nvSpPr>
            <p:cNvPr id="197664" name="Text Box 32">
              <a:extLst>
                <a:ext uri="{FF2B5EF4-FFF2-40B4-BE49-F238E27FC236}">
                  <a16:creationId xmlns:a16="http://schemas.microsoft.com/office/drawing/2014/main" id="{C9311062-0647-557D-180D-AA7D527235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96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000000"/>
                  </a:solidFill>
                </a:rPr>
                <a:t>data</a:t>
              </a:r>
            </a:p>
          </p:txBody>
        </p:sp>
        <p:sp>
          <p:nvSpPr>
            <p:cNvPr id="197665" name="Text Box 33">
              <a:extLst>
                <a:ext uri="{FF2B5EF4-FFF2-40B4-BE49-F238E27FC236}">
                  <a16:creationId xmlns:a16="http://schemas.microsoft.com/office/drawing/2014/main" id="{B830792D-CD90-DF86-3986-8D943FAFF4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296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000000"/>
                  </a:solidFill>
                </a:rPr>
                <a:t>prior</a:t>
              </a:r>
            </a:p>
          </p:txBody>
        </p:sp>
        <p:sp>
          <p:nvSpPr>
            <p:cNvPr id="197666" name="Text Box 34">
              <a:extLst>
                <a:ext uri="{FF2B5EF4-FFF2-40B4-BE49-F238E27FC236}">
                  <a16:creationId xmlns:a16="http://schemas.microsoft.com/office/drawing/2014/main" id="{E43BC611-F7BE-3061-E4D8-CE2832E14A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296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000000"/>
                  </a:solidFill>
                </a:rPr>
                <a:t>next</a:t>
              </a:r>
            </a:p>
          </p:txBody>
        </p:sp>
        <p:sp>
          <p:nvSpPr>
            <p:cNvPr id="197667" name="Text Box 35">
              <a:extLst>
                <a:ext uri="{FF2B5EF4-FFF2-40B4-BE49-F238E27FC236}">
                  <a16:creationId xmlns:a16="http://schemas.microsoft.com/office/drawing/2014/main" id="{FEA4DBFF-DB35-DDAD-36D4-4CA15CF5D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296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000000"/>
                  </a:solidFill>
                </a:rPr>
                <a:t>data</a:t>
              </a:r>
            </a:p>
          </p:txBody>
        </p:sp>
        <p:sp>
          <p:nvSpPr>
            <p:cNvPr id="197668" name="Text Box 36">
              <a:extLst>
                <a:ext uri="{FF2B5EF4-FFF2-40B4-BE49-F238E27FC236}">
                  <a16:creationId xmlns:a16="http://schemas.microsoft.com/office/drawing/2014/main" id="{57C7277E-B893-EBED-BE48-A63317AE36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296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000000"/>
                  </a:solidFill>
                </a:rPr>
                <a:t>prior</a:t>
              </a:r>
            </a:p>
          </p:txBody>
        </p:sp>
        <p:sp>
          <p:nvSpPr>
            <p:cNvPr id="197669" name="Text Box 37">
              <a:extLst>
                <a:ext uri="{FF2B5EF4-FFF2-40B4-BE49-F238E27FC236}">
                  <a16:creationId xmlns:a16="http://schemas.microsoft.com/office/drawing/2014/main" id="{E1AFB732-F3F1-6B95-1C4D-3226C16C63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296"/>
              <a:ext cx="3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>
                  <a:solidFill>
                    <a:srgbClr val="000000"/>
                  </a:solidFill>
                </a:rPr>
                <a:t>next</a:t>
              </a:r>
            </a:p>
          </p:txBody>
        </p:sp>
      </p:grpSp>
      <p:grpSp>
        <p:nvGrpSpPr>
          <p:cNvPr id="197670" name="Group 38">
            <a:extLst>
              <a:ext uri="{FF2B5EF4-FFF2-40B4-BE49-F238E27FC236}">
                <a16:creationId xmlns:a16="http://schemas.microsoft.com/office/drawing/2014/main" id="{0B7398EC-3473-7E07-37A7-473771352D79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524000"/>
            <a:ext cx="685800" cy="914400"/>
            <a:chOff x="2400" y="480"/>
            <a:chExt cx="432" cy="576"/>
          </a:xfrm>
        </p:grpSpPr>
        <p:sp>
          <p:nvSpPr>
            <p:cNvPr id="197671" name="Line 39">
              <a:extLst>
                <a:ext uri="{FF2B5EF4-FFF2-40B4-BE49-F238E27FC236}">
                  <a16:creationId xmlns:a16="http://schemas.microsoft.com/office/drawing/2014/main" id="{13ED2EE9-DA95-2B9A-E488-278120FD1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576"/>
              <a:ext cx="432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7672" name="Text Box 40">
              <a:extLst>
                <a:ext uri="{FF2B5EF4-FFF2-40B4-BE49-F238E27FC236}">
                  <a16:creationId xmlns:a16="http://schemas.microsoft.com/office/drawing/2014/main" id="{6498A859-4236-013A-2B92-8BA1441316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48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</a:t>
              </a:r>
            </a:p>
          </p:txBody>
        </p:sp>
      </p:grpSp>
      <p:grpSp>
        <p:nvGrpSpPr>
          <p:cNvPr id="197673" name="Group 41">
            <a:extLst>
              <a:ext uri="{FF2B5EF4-FFF2-40B4-BE49-F238E27FC236}">
                <a16:creationId xmlns:a16="http://schemas.microsoft.com/office/drawing/2014/main" id="{0151D75F-E5EB-2D9F-E19C-6FA2C26C901C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1447800"/>
            <a:ext cx="1524000" cy="914400"/>
            <a:chOff x="3888" y="432"/>
            <a:chExt cx="960" cy="576"/>
          </a:xfrm>
        </p:grpSpPr>
        <p:sp>
          <p:nvSpPr>
            <p:cNvPr id="197674" name="Line 42">
              <a:extLst>
                <a:ext uri="{FF2B5EF4-FFF2-40B4-BE49-F238E27FC236}">
                  <a16:creationId xmlns:a16="http://schemas.microsoft.com/office/drawing/2014/main" id="{0EB950BD-35FC-2F1D-85B8-240756A8C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528"/>
              <a:ext cx="432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7675" name="Text Box 43">
              <a:extLst>
                <a:ext uri="{FF2B5EF4-FFF2-40B4-BE49-F238E27FC236}">
                  <a16:creationId xmlns:a16="http://schemas.microsoft.com/office/drawing/2014/main" id="{C0A08C58-3478-AC3A-73D0-CD0FC63A8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432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p-&gt;next</a:t>
              </a:r>
            </a:p>
          </p:txBody>
        </p:sp>
      </p:grpSp>
      <p:grpSp>
        <p:nvGrpSpPr>
          <p:cNvPr id="197676" name="Group 44">
            <a:extLst>
              <a:ext uri="{FF2B5EF4-FFF2-40B4-BE49-F238E27FC236}">
                <a16:creationId xmlns:a16="http://schemas.microsoft.com/office/drawing/2014/main" id="{CD9C11B0-9F3C-D1BF-99A7-39AA622F327B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524000"/>
            <a:ext cx="1676400" cy="914400"/>
            <a:chOff x="912" y="480"/>
            <a:chExt cx="1056" cy="576"/>
          </a:xfrm>
        </p:grpSpPr>
        <p:sp>
          <p:nvSpPr>
            <p:cNvPr id="197677" name="Line 45">
              <a:extLst>
                <a:ext uri="{FF2B5EF4-FFF2-40B4-BE49-F238E27FC236}">
                  <a16:creationId xmlns:a16="http://schemas.microsoft.com/office/drawing/2014/main" id="{BD1F8B10-0201-467B-29C5-9E909E9C1C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576"/>
              <a:ext cx="432" cy="480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7678" name="Text Box 46">
              <a:extLst>
                <a:ext uri="{FF2B5EF4-FFF2-40B4-BE49-F238E27FC236}">
                  <a16:creationId xmlns:a16="http://schemas.microsoft.com/office/drawing/2014/main" id="{F0E70B6A-C2BA-D381-B71C-B188939944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480"/>
              <a:ext cx="9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>
                  <a:solidFill>
                    <a:srgbClr val="0000CC"/>
                  </a:solidFill>
                </a:rPr>
                <a:t>p-&gt;prior</a:t>
              </a:r>
            </a:p>
          </p:txBody>
        </p:sp>
      </p:grpSp>
      <p:sp>
        <p:nvSpPr>
          <p:cNvPr id="197679" name="Text Box 47">
            <a:extLst>
              <a:ext uri="{FF2B5EF4-FFF2-40B4-BE49-F238E27FC236}">
                <a16:creationId xmlns:a16="http://schemas.microsoft.com/office/drawing/2014/main" id="{EFF0B3B5-94DE-2ACD-13C7-E5EDD1677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098925"/>
            <a:ext cx="8229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p-&gt;next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指向后继结点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ai+1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p-&gt;prior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指向前驱结点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ai-1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97680" name="Text Box 48">
            <a:extLst>
              <a:ext uri="{FF2B5EF4-FFF2-40B4-BE49-F238E27FC236}">
                <a16:creationId xmlns:a16="http://schemas.microsoft.com/office/drawing/2014/main" id="{6A3446FC-81DA-622E-1565-75AF16BCC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479925"/>
            <a:ext cx="8229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p-&gt;next-&gt;data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ai+1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p-&gt;prior-&gt;data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ai-1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97681" name="Text Box 49">
            <a:extLst>
              <a:ext uri="{FF2B5EF4-FFF2-40B4-BE49-F238E27FC236}">
                <a16:creationId xmlns:a16="http://schemas.microsoft.com/office/drawing/2014/main" id="{8E41A55D-26DC-F98F-D50C-DDE45098C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432" y="5497617"/>
            <a:ext cx="10612475" cy="1211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5334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27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在双向链表中，有些操作如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GetElem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(L,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,&amp;e)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仅涉及一个方向的指针，他们的实现算法和在单链表中一样。但是，有些操作则差别较大，如插入和删除操作，需要修改两个方向上的指针。 </a:t>
            </a:r>
          </a:p>
        </p:txBody>
      </p:sp>
      <p:sp>
        <p:nvSpPr>
          <p:cNvPr id="197682" name="Text Box 50">
            <a:extLst>
              <a:ext uri="{FF2B5EF4-FFF2-40B4-BE49-F238E27FC236}">
                <a16:creationId xmlns:a16="http://schemas.microsoft.com/office/drawing/2014/main" id="{4CCF1B1D-CA8D-8286-DAF2-1A91FA278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813" y="4861983"/>
            <a:ext cx="7086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p-&gt;prior-&gt;next=p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p-&gt;next-&gt;prior=p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CCF003-0083-0D63-AE4F-6F250A11C3A2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FA7F58F-292B-7296-B794-BCC339E34A27}"/>
              </a:ext>
            </a:extLst>
          </p:cNvPr>
          <p:cNvSpPr txBox="1"/>
          <p:nvPr/>
        </p:nvSpPr>
        <p:spPr>
          <a:xfrm>
            <a:off x="392806" y="106251"/>
            <a:ext cx="2994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双向链表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E5D5AC-6731-552C-A2B2-8B086CA1813C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9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9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7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7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7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7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3" dur="1000"/>
                                        <p:tgtEl>
                                          <p:spTgt spid="19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79" grpId="0"/>
      <p:bldP spid="197680" grpId="0"/>
      <p:bldP spid="197681" grpId="0"/>
      <p:bldP spid="1976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9" name="Text Box 3">
            <a:extLst>
              <a:ext uri="{FF2B5EF4-FFF2-40B4-BE49-F238E27FC236}">
                <a16:creationId xmlns:a16="http://schemas.microsoft.com/office/drawing/2014/main" id="{1CAB789C-B577-61FA-77CA-B553C0274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13" y="915667"/>
            <a:ext cx="487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插入操作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ListInsert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(&amp;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L,i,e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</a:p>
        </p:txBody>
      </p:sp>
      <p:sp>
        <p:nvSpPr>
          <p:cNvPr id="198660" name="Text Box 4">
            <a:extLst>
              <a:ext uri="{FF2B5EF4-FFF2-40B4-BE49-F238E27FC236}">
                <a16:creationId xmlns:a16="http://schemas.microsoft.com/office/drawing/2014/main" id="{6C29A46C-FB4D-E7FA-56DA-811F6E228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1325020"/>
            <a:ext cx="8534400" cy="132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85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CC"/>
                </a:solidFill>
              </a:rPr>
              <a:t>  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对于线性表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L=(a1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ai-1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，其双向链表如下图所示。在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的第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个元素前插入新的元素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algn="l">
              <a:lnSpc>
                <a:spcPct val="85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      L=(a1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ai-1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an)</a:t>
            </a:r>
          </a:p>
          <a:p>
            <a:pPr algn="l">
              <a:lnSpc>
                <a:spcPct val="8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如何在双向链表中反映这种变化呢？ </a:t>
            </a:r>
          </a:p>
        </p:txBody>
      </p:sp>
      <p:sp>
        <p:nvSpPr>
          <p:cNvPr id="198661" name="Text Box 5">
            <a:extLst>
              <a:ext uri="{FF2B5EF4-FFF2-40B4-BE49-F238E27FC236}">
                <a16:creationId xmlns:a16="http://schemas.microsoft.com/office/drawing/2014/main" id="{76E518A1-5AFB-BE72-4B12-EA3872532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968751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p</a:t>
            </a:r>
          </a:p>
        </p:txBody>
      </p:sp>
      <p:sp>
        <p:nvSpPr>
          <p:cNvPr id="198662" name="Text Box 6">
            <a:extLst>
              <a:ext uri="{FF2B5EF4-FFF2-40B4-BE49-F238E27FC236}">
                <a16:creationId xmlns:a16="http://schemas.microsoft.com/office/drawing/2014/main" id="{4F687072-2ADB-6604-5D11-21BDD2437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578351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j</a:t>
            </a:r>
          </a:p>
        </p:txBody>
      </p:sp>
      <p:sp>
        <p:nvSpPr>
          <p:cNvPr id="198663" name="Text Box 7">
            <a:extLst>
              <a:ext uri="{FF2B5EF4-FFF2-40B4-BE49-F238E27FC236}">
                <a16:creationId xmlns:a16="http://schemas.microsoft.com/office/drawing/2014/main" id="{8FBCE1CA-63C0-C40C-CD24-9F36A90401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044950"/>
            <a:ext cx="381000" cy="4064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000">
              <a:solidFill>
                <a:srgbClr val="800080"/>
              </a:solidFill>
            </a:endParaRPr>
          </a:p>
        </p:txBody>
      </p:sp>
      <p:sp>
        <p:nvSpPr>
          <p:cNvPr id="198664" name="Text Box 8">
            <a:extLst>
              <a:ext uri="{FF2B5EF4-FFF2-40B4-BE49-F238E27FC236}">
                <a16:creationId xmlns:a16="http://schemas.microsoft.com/office/drawing/2014/main" id="{B0B46BAE-60FA-F5C9-5BC1-A02599B3B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629150"/>
            <a:ext cx="381000" cy="4064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198665" name="Arc 9">
            <a:extLst>
              <a:ext uri="{FF2B5EF4-FFF2-40B4-BE49-F238E27FC236}">
                <a16:creationId xmlns:a16="http://schemas.microsoft.com/office/drawing/2014/main" id="{743EA4CC-E0A9-FE25-20FF-F486FF18AB95}"/>
              </a:ext>
            </a:extLst>
          </p:cNvPr>
          <p:cNvSpPr>
            <a:spLocks/>
          </p:cNvSpPr>
          <p:nvPr/>
        </p:nvSpPr>
        <p:spPr bwMode="auto">
          <a:xfrm flipH="1" flipV="1">
            <a:off x="2132014" y="3503613"/>
            <a:ext cx="452437" cy="696912"/>
          </a:xfrm>
          <a:custGeom>
            <a:avLst/>
            <a:gdLst>
              <a:gd name="G0" fmla="+- 3971 0 0"/>
              <a:gd name="G1" fmla="+- 21600 0 0"/>
              <a:gd name="G2" fmla="+- 21600 0 0"/>
              <a:gd name="T0" fmla="*/ 0 w 25571"/>
              <a:gd name="T1" fmla="*/ 368 h 21851"/>
              <a:gd name="T2" fmla="*/ 25570 w 25571"/>
              <a:gd name="T3" fmla="*/ 21851 h 21851"/>
              <a:gd name="T4" fmla="*/ 3971 w 25571"/>
              <a:gd name="T5" fmla="*/ 21600 h 21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571" h="21851" fill="none" extrusionOk="0">
                <a:moveTo>
                  <a:pt x="0" y="368"/>
                </a:moveTo>
                <a:cubicBezTo>
                  <a:pt x="1309" y="123"/>
                  <a:pt x="2638" y="0"/>
                  <a:pt x="3971" y="0"/>
                </a:cubicBezTo>
                <a:cubicBezTo>
                  <a:pt x="15900" y="0"/>
                  <a:pt x="25571" y="9670"/>
                  <a:pt x="25571" y="21600"/>
                </a:cubicBezTo>
                <a:cubicBezTo>
                  <a:pt x="25571" y="21683"/>
                  <a:pt x="25570" y="21767"/>
                  <a:pt x="25569" y="21850"/>
                </a:cubicBezTo>
              </a:path>
              <a:path w="25571" h="21851" stroke="0" extrusionOk="0">
                <a:moveTo>
                  <a:pt x="0" y="368"/>
                </a:moveTo>
                <a:cubicBezTo>
                  <a:pt x="1309" y="123"/>
                  <a:pt x="2638" y="0"/>
                  <a:pt x="3971" y="0"/>
                </a:cubicBezTo>
                <a:cubicBezTo>
                  <a:pt x="15900" y="0"/>
                  <a:pt x="25571" y="9670"/>
                  <a:pt x="25571" y="21600"/>
                </a:cubicBezTo>
                <a:cubicBezTo>
                  <a:pt x="25571" y="21683"/>
                  <a:pt x="25570" y="21767"/>
                  <a:pt x="25569" y="21850"/>
                </a:cubicBezTo>
                <a:lnTo>
                  <a:pt x="3971" y="21600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6" name="Arc 10">
            <a:extLst>
              <a:ext uri="{FF2B5EF4-FFF2-40B4-BE49-F238E27FC236}">
                <a16:creationId xmlns:a16="http://schemas.microsoft.com/office/drawing/2014/main" id="{08692303-D39B-35F8-DB7E-351B0A29541B}"/>
              </a:ext>
            </a:extLst>
          </p:cNvPr>
          <p:cNvSpPr>
            <a:spLocks/>
          </p:cNvSpPr>
          <p:nvPr/>
        </p:nvSpPr>
        <p:spPr bwMode="auto">
          <a:xfrm flipV="1">
            <a:off x="2590800" y="3511550"/>
            <a:ext cx="762000" cy="685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67" name="Text Box 11">
            <a:extLst>
              <a:ext uri="{FF2B5EF4-FFF2-40B4-BE49-F238E27FC236}">
                <a16:creationId xmlns:a16="http://schemas.microsoft.com/office/drawing/2014/main" id="{9EB16D5C-C805-AD6C-3BB9-CA1C8B8EA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629150"/>
            <a:ext cx="381000" cy="4064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98668" name="Text Box 12">
            <a:extLst>
              <a:ext uri="{FF2B5EF4-FFF2-40B4-BE49-F238E27FC236}">
                <a16:creationId xmlns:a16="http://schemas.microsoft.com/office/drawing/2014/main" id="{AE50B1B3-22FE-F36C-726B-D88B1D6F4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629150"/>
            <a:ext cx="381000" cy="4064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</a:rPr>
              <a:t>i-1</a:t>
            </a:r>
          </a:p>
        </p:txBody>
      </p:sp>
      <p:sp>
        <p:nvSpPr>
          <p:cNvPr id="198669" name="Arc 13">
            <a:extLst>
              <a:ext uri="{FF2B5EF4-FFF2-40B4-BE49-F238E27FC236}">
                <a16:creationId xmlns:a16="http://schemas.microsoft.com/office/drawing/2014/main" id="{32C2B8F7-491B-CB44-D88D-8DFA77F4E532}"/>
              </a:ext>
            </a:extLst>
          </p:cNvPr>
          <p:cNvSpPr>
            <a:spLocks/>
          </p:cNvSpPr>
          <p:nvPr/>
        </p:nvSpPr>
        <p:spPr bwMode="auto">
          <a:xfrm flipV="1">
            <a:off x="2590800" y="3359150"/>
            <a:ext cx="2895600" cy="838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322"/>
              <a:gd name="T1" fmla="*/ 0 h 21600"/>
              <a:gd name="T2" fmla="*/ 21322 w 21322"/>
              <a:gd name="T3" fmla="*/ 18146 h 21600"/>
              <a:gd name="T4" fmla="*/ 0 w 21322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322" h="21600" fill="none" extrusionOk="0">
                <a:moveTo>
                  <a:pt x="0" y="0"/>
                </a:moveTo>
                <a:cubicBezTo>
                  <a:pt x="10596" y="0"/>
                  <a:pt x="19627" y="7686"/>
                  <a:pt x="21322" y="18145"/>
                </a:cubicBezTo>
              </a:path>
              <a:path w="21322" h="21600" stroke="0" extrusionOk="0">
                <a:moveTo>
                  <a:pt x="0" y="0"/>
                </a:moveTo>
                <a:cubicBezTo>
                  <a:pt x="10596" y="0"/>
                  <a:pt x="19627" y="7686"/>
                  <a:pt x="21322" y="18145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0" name="Text Box 14">
            <a:extLst>
              <a:ext uri="{FF2B5EF4-FFF2-40B4-BE49-F238E27FC236}">
                <a16:creationId xmlns:a16="http://schemas.microsoft.com/office/drawing/2014/main" id="{DC141495-DFF5-22E3-3048-2DD801CBC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" y="5076190"/>
            <a:ext cx="830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27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⑴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从头指针出发，顺链找到第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i-1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个元素。</a:t>
            </a:r>
          </a:p>
        </p:txBody>
      </p:sp>
      <p:sp>
        <p:nvSpPr>
          <p:cNvPr id="198671" name="Text Box 15">
            <a:extLst>
              <a:ext uri="{FF2B5EF4-FFF2-40B4-BE49-F238E27FC236}">
                <a16:creationId xmlns:a16="http://schemas.microsoft.com/office/drawing/2014/main" id="{2BF36F39-869F-62DE-A9BB-7553E1FB7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" y="5516070"/>
            <a:ext cx="830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27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⑵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生成一个新结点用来存储元素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98672" name="Text Box 16">
            <a:extLst>
              <a:ext uri="{FF2B5EF4-FFF2-40B4-BE49-F238E27FC236}">
                <a16:creationId xmlns:a16="http://schemas.microsoft.com/office/drawing/2014/main" id="{9D5EE0D3-86A0-C3E7-7324-4FEC743C9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" y="5960427"/>
            <a:ext cx="830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27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⑶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改变指针以反映新的逻辑关系。 </a:t>
            </a:r>
          </a:p>
        </p:txBody>
      </p:sp>
      <p:sp>
        <p:nvSpPr>
          <p:cNvPr id="198673" name="Line 17">
            <a:extLst>
              <a:ext uri="{FF2B5EF4-FFF2-40B4-BE49-F238E27FC236}">
                <a16:creationId xmlns:a16="http://schemas.microsoft.com/office/drawing/2014/main" id="{0A7479B3-77E2-4982-D04B-A411988781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45021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4" name="Text Box 18">
            <a:extLst>
              <a:ext uri="{FF2B5EF4-FFF2-40B4-BE49-F238E27FC236}">
                <a16:creationId xmlns:a16="http://schemas.microsoft.com/office/drawing/2014/main" id="{046FE061-0069-E5E7-4EB2-77DCA941AC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486276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s</a:t>
            </a:r>
          </a:p>
        </p:txBody>
      </p:sp>
      <p:sp>
        <p:nvSpPr>
          <p:cNvPr id="198675" name="Rectangle 19">
            <a:extLst>
              <a:ext uri="{FF2B5EF4-FFF2-40B4-BE49-F238E27FC236}">
                <a16:creationId xmlns:a16="http://schemas.microsoft.com/office/drawing/2014/main" id="{258A3272-A9C7-1E42-1B36-7A80E7323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kumimoji="1" lang="en-US" altLang="zh-CN" sz="2400" baseline="-25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8676" name="Line 20">
            <a:extLst>
              <a:ext uri="{FF2B5EF4-FFF2-40B4-BE49-F238E27FC236}">
                <a16:creationId xmlns:a16="http://schemas.microsoft.com/office/drawing/2014/main" id="{AA8CD8F3-F46D-B9F8-3728-BC023591E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7" name="Line 21">
            <a:extLst>
              <a:ext uri="{FF2B5EF4-FFF2-40B4-BE49-F238E27FC236}">
                <a16:creationId xmlns:a16="http://schemas.microsoft.com/office/drawing/2014/main" id="{C393E628-B39E-1A10-D9D7-90C0D1762A1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78" name="Rectangle 22">
            <a:extLst>
              <a:ext uri="{FF2B5EF4-FFF2-40B4-BE49-F238E27FC236}">
                <a16:creationId xmlns:a16="http://schemas.microsoft.com/office/drawing/2014/main" id="{F100BA59-51BC-1790-F55D-5687AE3F2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98679" name="Line 23">
            <a:extLst>
              <a:ext uri="{FF2B5EF4-FFF2-40B4-BE49-F238E27FC236}">
                <a16:creationId xmlns:a16="http://schemas.microsoft.com/office/drawing/2014/main" id="{33F44567-A5CB-B6B3-1CEA-D111885B6F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80" name="Line 24">
            <a:extLst>
              <a:ext uri="{FF2B5EF4-FFF2-40B4-BE49-F238E27FC236}">
                <a16:creationId xmlns:a16="http://schemas.microsoft.com/office/drawing/2014/main" id="{C3DDB549-20EA-3392-5E1D-3AF07CA822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81" name="Line 25">
            <a:extLst>
              <a:ext uri="{FF2B5EF4-FFF2-40B4-BE49-F238E27FC236}">
                <a16:creationId xmlns:a16="http://schemas.microsoft.com/office/drawing/2014/main" id="{847B4186-8711-7ECE-D68E-96CFFF8751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82" name="Line 26">
            <a:extLst>
              <a:ext uri="{FF2B5EF4-FFF2-40B4-BE49-F238E27FC236}">
                <a16:creationId xmlns:a16="http://schemas.microsoft.com/office/drawing/2014/main" id="{ACF6B54C-A31C-7EF9-8D5E-8E6943F44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28295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683" name="Line 27">
            <a:extLst>
              <a:ext uri="{FF2B5EF4-FFF2-40B4-BE49-F238E27FC236}">
                <a16:creationId xmlns:a16="http://schemas.microsoft.com/office/drawing/2014/main" id="{42084ECF-CB13-D550-394A-D5A352B6B0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36639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684" name="Line 28">
            <a:extLst>
              <a:ext uri="{FF2B5EF4-FFF2-40B4-BE49-F238E27FC236}">
                <a16:creationId xmlns:a16="http://schemas.microsoft.com/office/drawing/2014/main" id="{418D937F-A8F8-B12C-0F90-0F5D947537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351155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685" name="Rectangle 29">
            <a:extLst>
              <a:ext uri="{FF2B5EF4-FFF2-40B4-BE49-F238E27FC236}">
                <a16:creationId xmlns:a16="http://schemas.microsoft.com/office/drawing/2014/main" id="{CDF0D740-6CFB-6CFC-4AD1-5D29DFEBE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i-1</a:t>
            </a:r>
          </a:p>
        </p:txBody>
      </p:sp>
      <p:sp>
        <p:nvSpPr>
          <p:cNvPr id="198686" name="Line 30">
            <a:extLst>
              <a:ext uri="{FF2B5EF4-FFF2-40B4-BE49-F238E27FC236}">
                <a16:creationId xmlns:a16="http://schemas.microsoft.com/office/drawing/2014/main" id="{952FB5E7-7BCF-B036-F14B-D4D2173DB0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87" name="Line 31">
            <a:extLst>
              <a:ext uri="{FF2B5EF4-FFF2-40B4-BE49-F238E27FC236}">
                <a16:creationId xmlns:a16="http://schemas.microsoft.com/office/drawing/2014/main" id="{D0A0E8F1-02BD-F560-87B6-1778AED5A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88" name="Line 32">
            <a:extLst>
              <a:ext uri="{FF2B5EF4-FFF2-40B4-BE49-F238E27FC236}">
                <a16:creationId xmlns:a16="http://schemas.microsoft.com/office/drawing/2014/main" id="{3A99DC50-2064-D9C7-EB61-B20D9E4685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89" name="Line 33">
            <a:extLst>
              <a:ext uri="{FF2B5EF4-FFF2-40B4-BE49-F238E27FC236}">
                <a16:creationId xmlns:a16="http://schemas.microsoft.com/office/drawing/2014/main" id="{BB5C7F75-0287-82EE-A132-0027F0BD02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28295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690" name="Line 34">
            <a:extLst>
              <a:ext uri="{FF2B5EF4-FFF2-40B4-BE49-F238E27FC236}">
                <a16:creationId xmlns:a16="http://schemas.microsoft.com/office/drawing/2014/main" id="{C02CDF8B-337D-8E18-BAB5-EAED58EE920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3663950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691" name="Line 35">
            <a:extLst>
              <a:ext uri="{FF2B5EF4-FFF2-40B4-BE49-F238E27FC236}">
                <a16:creationId xmlns:a16="http://schemas.microsoft.com/office/drawing/2014/main" id="{006AEDB6-C98E-6301-272F-E88E43F7545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51155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692" name="Line 36">
            <a:extLst>
              <a:ext uri="{FF2B5EF4-FFF2-40B4-BE49-F238E27FC236}">
                <a16:creationId xmlns:a16="http://schemas.microsoft.com/office/drawing/2014/main" id="{3843A91A-177C-58E2-F3B6-3B0F4B9CD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93" name="Line 37">
            <a:extLst>
              <a:ext uri="{FF2B5EF4-FFF2-40B4-BE49-F238E27FC236}">
                <a16:creationId xmlns:a16="http://schemas.microsoft.com/office/drawing/2014/main" id="{5098E36F-82B1-06B9-3E83-A50D2B4C0B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366395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694" name="Rectangle 38">
            <a:extLst>
              <a:ext uri="{FF2B5EF4-FFF2-40B4-BE49-F238E27FC236}">
                <a16:creationId xmlns:a16="http://schemas.microsoft.com/office/drawing/2014/main" id="{CA2479A0-E181-CB6D-7161-330EE6EE5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98695" name="Line 39">
            <a:extLst>
              <a:ext uri="{FF2B5EF4-FFF2-40B4-BE49-F238E27FC236}">
                <a16:creationId xmlns:a16="http://schemas.microsoft.com/office/drawing/2014/main" id="{14242C6A-D0EB-F559-9CE6-779959F4C48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96" name="Line 40">
            <a:extLst>
              <a:ext uri="{FF2B5EF4-FFF2-40B4-BE49-F238E27FC236}">
                <a16:creationId xmlns:a16="http://schemas.microsoft.com/office/drawing/2014/main" id="{F76BF9B2-AA62-8611-2A33-2ADA405E62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97" name="Line 41">
            <a:extLst>
              <a:ext uri="{FF2B5EF4-FFF2-40B4-BE49-F238E27FC236}">
                <a16:creationId xmlns:a16="http://schemas.microsoft.com/office/drawing/2014/main" id="{5C65A0CD-54F2-1588-A6D9-E3998C7897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698" name="Line 42">
            <a:extLst>
              <a:ext uri="{FF2B5EF4-FFF2-40B4-BE49-F238E27FC236}">
                <a16:creationId xmlns:a16="http://schemas.microsoft.com/office/drawing/2014/main" id="{249F4F7C-9770-0CE9-1B3B-8FDBBAFF0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28295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699" name="Line 43">
            <a:extLst>
              <a:ext uri="{FF2B5EF4-FFF2-40B4-BE49-F238E27FC236}">
                <a16:creationId xmlns:a16="http://schemas.microsoft.com/office/drawing/2014/main" id="{7191F1E9-E639-801A-5C9B-46E256719B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3663950"/>
            <a:ext cx="914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700" name="Line 44">
            <a:extLst>
              <a:ext uri="{FF2B5EF4-FFF2-40B4-BE49-F238E27FC236}">
                <a16:creationId xmlns:a16="http://schemas.microsoft.com/office/drawing/2014/main" id="{41D81354-7C2F-8C6B-9039-E807B0E137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351155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701" name="Rectangle 45">
            <a:extLst>
              <a:ext uri="{FF2B5EF4-FFF2-40B4-BE49-F238E27FC236}">
                <a16:creationId xmlns:a16="http://schemas.microsoft.com/office/drawing/2014/main" id="{BADBCBFD-B0D5-5FF2-EEFB-F6CBB937C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i+1</a:t>
            </a:r>
          </a:p>
        </p:txBody>
      </p:sp>
      <p:sp>
        <p:nvSpPr>
          <p:cNvPr id="198702" name="Line 46">
            <a:extLst>
              <a:ext uri="{FF2B5EF4-FFF2-40B4-BE49-F238E27FC236}">
                <a16:creationId xmlns:a16="http://schemas.microsoft.com/office/drawing/2014/main" id="{F639C010-24F7-BBC9-2A24-C06F1EA475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03" name="Line 47">
            <a:extLst>
              <a:ext uri="{FF2B5EF4-FFF2-40B4-BE49-F238E27FC236}">
                <a16:creationId xmlns:a16="http://schemas.microsoft.com/office/drawing/2014/main" id="{A7A53F55-CC32-9942-CD43-A92617BCE0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04" name="Line 48">
            <a:extLst>
              <a:ext uri="{FF2B5EF4-FFF2-40B4-BE49-F238E27FC236}">
                <a16:creationId xmlns:a16="http://schemas.microsoft.com/office/drawing/2014/main" id="{D26D24C5-E046-B8F9-F5EF-FEBDD858E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05" name="Line 49">
            <a:extLst>
              <a:ext uri="{FF2B5EF4-FFF2-40B4-BE49-F238E27FC236}">
                <a16:creationId xmlns:a16="http://schemas.microsoft.com/office/drawing/2014/main" id="{83CBB5E5-E824-2840-4482-A2A385A2F3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328295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706" name="Line 50">
            <a:extLst>
              <a:ext uri="{FF2B5EF4-FFF2-40B4-BE49-F238E27FC236}">
                <a16:creationId xmlns:a16="http://schemas.microsoft.com/office/drawing/2014/main" id="{9016ABA3-AF9A-0C04-9DA5-E483FFE93F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3663950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707" name="Line 51">
            <a:extLst>
              <a:ext uri="{FF2B5EF4-FFF2-40B4-BE49-F238E27FC236}">
                <a16:creationId xmlns:a16="http://schemas.microsoft.com/office/drawing/2014/main" id="{821A2A10-2AF9-0CD7-F991-8FFE25811C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351155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708" name="Line 52">
            <a:extLst>
              <a:ext uri="{FF2B5EF4-FFF2-40B4-BE49-F238E27FC236}">
                <a16:creationId xmlns:a16="http://schemas.microsoft.com/office/drawing/2014/main" id="{70BB0E1E-00EC-FD5F-F82B-0C231AEC5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09" name="Text Box 53">
            <a:extLst>
              <a:ext uri="{FF2B5EF4-FFF2-40B4-BE49-F238E27FC236}">
                <a16:creationId xmlns:a16="http://schemas.microsoft.com/office/drawing/2014/main" id="{A452A825-E893-4675-B709-CB896EDE3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335915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8710" name="Line 54">
            <a:extLst>
              <a:ext uri="{FF2B5EF4-FFF2-40B4-BE49-F238E27FC236}">
                <a16:creationId xmlns:a16="http://schemas.microsoft.com/office/drawing/2014/main" id="{FFB151CB-8923-0BF8-EA93-82C4FDD9F8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663950"/>
            <a:ext cx="914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711" name="Line 55">
            <a:extLst>
              <a:ext uri="{FF2B5EF4-FFF2-40B4-BE49-F238E27FC236}">
                <a16:creationId xmlns:a16="http://schemas.microsoft.com/office/drawing/2014/main" id="{2E1D2C53-1AC5-4930-B887-0D43732B2A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351155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712" name="Rectangle 56">
            <a:extLst>
              <a:ext uri="{FF2B5EF4-FFF2-40B4-BE49-F238E27FC236}">
                <a16:creationId xmlns:a16="http://schemas.microsoft.com/office/drawing/2014/main" id="{C90546AF-218B-EBB8-0A3D-A898BED56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198713" name="Line 57">
            <a:extLst>
              <a:ext uri="{FF2B5EF4-FFF2-40B4-BE49-F238E27FC236}">
                <a16:creationId xmlns:a16="http://schemas.microsoft.com/office/drawing/2014/main" id="{E46E934E-0F9D-2FAA-EE71-3E8B3D0500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08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14" name="Line 58">
            <a:extLst>
              <a:ext uri="{FF2B5EF4-FFF2-40B4-BE49-F238E27FC236}">
                <a16:creationId xmlns:a16="http://schemas.microsoft.com/office/drawing/2014/main" id="{41A0D1D8-1A71-89EF-A92F-7DF4212DA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0" y="3282950"/>
            <a:ext cx="3810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15" name="Line 59">
            <a:extLst>
              <a:ext uri="{FF2B5EF4-FFF2-40B4-BE49-F238E27FC236}">
                <a16:creationId xmlns:a16="http://schemas.microsoft.com/office/drawing/2014/main" id="{D5DD0C09-1C22-6B6F-8BBF-5FBF428C7F9C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36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16" name="Line 60">
            <a:extLst>
              <a:ext uri="{FF2B5EF4-FFF2-40B4-BE49-F238E27FC236}">
                <a16:creationId xmlns:a16="http://schemas.microsoft.com/office/drawing/2014/main" id="{E29E9A7C-C759-BFB6-3962-3916671FD8CE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7400" y="328295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717" name="Line 61">
            <a:extLst>
              <a:ext uri="{FF2B5EF4-FFF2-40B4-BE49-F238E27FC236}">
                <a16:creationId xmlns:a16="http://schemas.microsoft.com/office/drawing/2014/main" id="{E8259B36-EB46-FA00-9086-874922AABD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67800" y="366395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98718" name="Text Box 62">
            <a:extLst>
              <a:ext uri="{FF2B5EF4-FFF2-40B4-BE49-F238E27FC236}">
                <a16:creationId xmlns:a16="http://schemas.microsoft.com/office/drawing/2014/main" id="{567B2E57-2F3C-0634-FC37-1523AF60B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297815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8719" name="Text Box 63">
            <a:extLst>
              <a:ext uri="{FF2B5EF4-FFF2-40B4-BE49-F238E27FC236}">
                <a16:creationId xmlns:a16="http://schemas.microsoft.com/office/drawing/2014/main" id="{3510B527-76F7-4D0B-B1A8-107B2DE04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35915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8720" name="Text Box 64">
            <a:extLst>
              <a:ext uri="{FF2B5EF4-FFF2-40B4-BE49-F238E27FC236}">
                <a16:creationId xmlns:a16="http://schemas.microsoft.com/office/drawing/2014/main" id="{DF335A41-07B7-397C-CFB6-B488C823B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97815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198721" name="Rectangle 65">
            <a:extLst>
              <a:ext uri="{FF2B5EF4-FFF2-40B4-BE49-F238E27FC236}">
                <a16:creationId xmlns:a16="http://schemas.microsoft.com/office/drawing/2014/main" id="{A4B9D9EA-A21A-F070-9ACE-D5E5CC9D0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813" y="3038475"/>
            <a:ext cx="1859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</a:rPr>
              <a:t>∧</a:t>
            </a:r>
          </a:p>
        </p:txBody>
      </p:sp>
      <p:sp>
        <p:nvSpPr>
          <p:cNvPr id="198722" name="Rectangle 66">
            <a:extLst>
              <a:ext uri="{FF2B5EF4-FFF2-40B4-BE49-F238E27FC236}">
                <a16:creationId xmlns:a16="http://schemas.microsoft.com/office/drawing/2014/main" id="{E2F3DAA5-59DE-5354-308C-D354285B1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54350"/>
            <a:ext cx="1859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</a:rPr>
              <a:t>∧</a:t>
            </a:r>
          </a:p>
        </p:txBody>
      </p:sp>
      <p:sp>
        <p:nvSpPr>
          <p:cNvPr id="198723" name="Arc 67">
            <a:extLst>
              <a:ext uri="{FF2B5EF4-FFF2-40B4-BE49-F238E27FC236}">
                <a16:creationId xmlns:a16="http://schemas.microsoft.com/office/drawing/2014/main" id="{6B9955EC-4FE2-E6CF-FECE-35E44D528440}"/>
              </a:ext>
            </a:extLst>
          </p:cNvPr>
          <p:cNvSpPr>
            <a:spLocks/>
          </p:cNvSpPr>
          <p:nvPr/>
        </p:nvSpPr>
        <p:spPr bwMode="auto">
          <a:xfrm rot="11718498">
            <a:off x="1633539" y="2590800"/>
            <a:ext cx="320675" cy="527050"/>
          </a:xfrm>
          <a:custGeom>
            <a:avLst/>
            <a:gdLst>
              <a:gd name="G0" fmla="+- 0 0 0"/>
              <a:gd name="G1" fmla="+- 21096 0 0"/>
              <a:gd name="G2" fmla="+- 21600 0 0"/>
              <a:gd name="T0" fmla="*/ 4640 w 21600"/>
              <a:gd name="T1" fmla="*/ 0 h 21096"/>
              <a:gd name="T2" fmla="*/ 21600 w 21600"/>
              <a:gd name="T3" fmla="*/ 21096 h 21096"/>
              <a:gd name="T4" fmla="*/ 0 w 21600"/>
              <a:gd name="T5" fmla="*/ 21096 h 2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096" fill="none" extrusionOk="0">
                <a:moveTo>
                  <a:pt x="4639" y="0"/>
                </a:moveTo>
                <a:cubicBezTo>
                  <a:pt x="14544" y="2178"/>
                  <a:pt x="21600" y="10954"/>
                  <a:pt x="21600" y="21096"/>
                </a:cubicBezTo>
              </a:path>
              <a:path w="21600" h="21096" stroke="0" extrusionOk="0">
                <a:moveTo>
                  <a:pt x="4639" y="0"/>
                </a:moveTo>
                <a:cubicBezTo>
                  <a:pt x="14544" y="2178"/>
                  <a:pt x="21600" y="10954"/>
                  <a:pt x="21600" y="21096"/>
                </a:cubicBezTo>
                <a:lnTo>
                  <a:pt x="0" y="21096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24" name="Text Box 68">
            <a:extLst>
              <a:ext uri="{FF2B5EF4-FFF2-40B4-BE49-F238E27FC236}">
                <a16:creationId xmlns:a16="http://schemas.microsoft.com/office/drawing/2014/main" id="{98F3C21B-C5BA-D19D-DF92-AF5E371FA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452688"/>
            <a:ext cx="404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</a:p>
        </p:txBody>
      </p:sp>
      <p:grpSp>
        <p:nvGrpSpPr>
          <p:cNvPr id="198725" name="Group 69">
            <a:extLst>
              <a:ext uri="{FF2B5EF4-FFF2-40B4-BE49-F238E27FC236}">
                <a16:creationId xmlns:a16="http://schemas.microsoft.com/office/drawing/2014/main" id="{34C597E8-FF77-647D-A463-EC412F5F1D0C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4197350"/>
            <a:ext cx="914400" cy="533400"/>
            <a:chOff x="2640" y="2448"/>
            <a:chExt cx="576" cy="336"/>
          </a:xfrm>
        </p:grpSpPr>
        <p:sp>
          <p:nvSpPr>
            <p:cNvPr id="198726" name="Rectangle 70">
              <a:extLst>
                <a:ext uri="{FF2B5EF4-FFF2-40B4-BE49-F238E27FC236}">
                  <a16:creationId xmlns:a16="http://schemas.microsoft.com/office/drawing/2014/main" id="{49C1A5C9-153F-CECC-14BF-0C82C22FD3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448"/>
              <a:ext cx="576" cy="336"/>
            </a:xfrm>
            <a:prstGeom prst="rect">
              <a:avLst/>
            </a:prstGeom>
            <a:solidFill>
              <a:srgbClr val="CCFFFF">
                <a:alpha val="50000"/>
              </a:srgbClr>
            </a:solidFill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   e</a:t>
              </a:r>
              <a:endPara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8727" name="Line 71">
              <a:extLst>
                <a:ext uri="{FF2B5EF4-FFF2-40B4-BE49-F238E27FC236}">
                  <a16:creationId xmlns:a16="http://schemas.microsoft.com/office/drawing/2014/main" id="{CD05C05F-7E70-324D-0F31-B226065CD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44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728" name="Line 72">
              <a:extLst>
                <a:ext uri="{FF2B5EF4-FFF2-40B4-BE49-F238E27FC236}">
                  <a16:creationId xmlns:a16="http://schemas.microsoft.com/office/drawing/2014/main" id="{C44B2841-792D-F6D3-19AE-92ACC994AE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448"/>
              <a:ext cx="0" cy="3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8729" name="Arc 73">
            <a:extLst>
              <a:ext uri="{FF2B5EF4-FFF2-40B4-BE49-F238E27FC236}">
                <a16:creationId xmlns:a16="http://schemas.microsoft.com/office/drawing/2014/main" id="{B31C4C14-85A4-623A-52A9-3D1935D93E4C}"/>
              </a:ext>
            </a:extLst>
          </p:cNvPr>
          <p:cNvSpPr>
            <a:spLocks/>
          </p:cNvSpPr>
          <p:nvPr/>
        </p:nvSpPr>
        <p:spPr bwMode="auto">
          <a:xfrm flipV="1">
            <a:off x="6172200" y="3206750"/>
            <a:ext cx="304800" cy="9906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576"/>
              <a:gd name="T1" fmla="*/ 0 h 21600"/>
              <a:gd name="T2" fmla="*/ 21576 w 21576"/>
              <a:gd name="T3" fmla="*/ 20592 h 21600"/>
              <a:gd name="T4" fmla="*/ 0 w 21576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576" h="21600" fill="none" extrusionOk="0">
                <a:moveTo>
                  <a:pt x="0" y="0"/>
                </a:moveTo>
                <a:cubicBezTo>
                  <a:pt x="11537" y="0"/>
                  <a:pt x="21038" y="9067"/>
                  <a:pt x="21576" y="20591"/>
                </a:cubicBezTo>
              </a:path>
              <a:path w="21576" h="21600" stroke="0" extrusionOk="0">
                <a:moveTo>
                  <a:pt x="0" y="0"/>
                </a:moveTo>
                <a:cubicBezTo>
                  <a:pt x="11537" y="0"/>
                  <a:pt x="21038" y="9067"/>
                  <a:pt x="21576" y="20591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30" name="Arc 74">
            <a:extLst>
              <a:ext uri="{FF2B5EF4-FFF2-40B4-BE49-F238E27FC236}">
                <a16:creationId xmlns:a16="http://schemas.microsoft.com/office/drawing/2014/main" id="{8E4250EA-4D48-6BC4-7F75-0343ACF140B6}"/>
              </a:ext>
            </a:extLst>
          </p:cNvPr>
          <p:cNvSpPr>
            <a:spLocks/>
          </p:cNvSpPr>
          <p:nvPr/>
        </p:nvSpPr>
        <p:spPr bwMode="auto">
          <a:xfrm flipV="1">
            <a:off x="6477000" y="3511550"/>
            <a:ext cx="304800" cy="914400"/>
          </a:xfrm>
          <a:custGeom>
            <a:avLst/>
            <a:gdLst>
              <a:gd name="G0" fmla="+- 0 0 0"/>
              <a:gd name="G1" fmla="+- 21585 0 0"/>
              <a:gd name="G2" fmla="+- 21600 0 0"/>
              <a:gd name="T0" fmla="*/ 808 w 21600"/>
              <a:gd name="T1" fmla="*/ 0 h 39791"/>
              <a:gd name="T2" fmla="*/ 11623 w 21600"/>
              <a:gd name="T3" fmla="*/ 39791 h 39791"/>
              <a:gd name="T4" fmla="*/ 0 w 21600"/>
              <a:gd name="T5" fmla="*/ 21585 h 397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9791" fill="none" extrusionOk="0">
                <a:moveTo>
                  <a:pt x="807" y="0"/>
                </a:moveTo>
                <a:cubicBezTo>
                  <a:pt x="12414" y="434"/>
                  <a:pt x="21600" y="9970"/>
                  <a:pt x="21600" y="21585"/>
                </a:cubicBezTo>
                <a:cubicBezTo>
                  <a:pt x="21600" y="28958"/>
                  <a:pt x="17838" y="35823"/>
                  <a:pt x="11623" y="39791"/>
                </a:cubicBezTo>
              </a:path>
              <a:path w="21600" h="39791" stroke="0" extrusionOk="0">
                <a:moveTo>
                  <a:pt x="807" y="0"/>
                </a:moveTo>
                <a:cubicBezTo>
                  <a:pt x="12414" y="434"/>
                  <a:pt x="21600" y="9970"/>
                  <a:pt x="21600" y="21585"/>
                </a:cubicBezTo>
                <a:cubicBezTo>
                  <a:pt x="21600" y="28958"/>
                  <a:pt x="17838" y="35823"/>
                  <a:pt x="11623" y="39791"/>
                </a:cubicBezTo>
                <a:lnTo>
                  <a:pt x="0" y="21585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31" name="Arc 75">
            <a:extLst>
              <a:ext uri="{FF2B5EF4-FFF2-40B4-BE49-F238E27FC236}">
                <a16:creationId xmlns:a16="http://schemas.microsoft.com/office/drawing/2014/main" id="{ADE45D99-BECD-B94F-9B6F-A827F078346C}"/>
              </a:ext>
            </a:extLst>
          </p:cNvPr>
          <p:cNvSpPr>
            <a:spLocks/>
          </p:cNvSpPr>
          <p:nvPr/>
        </p:nvSpPr>
        <p:spPr bwMode="auto">
          <a:xfrm flipH="1">
            <a:off x="5411788" y="3525838"/>
            <a:ext cx="381000" cy="900112"/>
          </a:xfrm>
          <a:custGeom>
            <a:avLst/>
            <a:gdLst>
              <a:gd name="G0" fmla="+- 5433 0 0"/>
              <a:gd name="G1" fmla="+- 20998 0 0"/>
              <a:gd name="G2" fmla="+- 21600 0 0"/>
              <a:gd name="T0" fmla="*/ 10496 w 27033"/>
              <a:gd name="T1" fmla="*/ 0 h 42598"/>
              <a:gd name="T2" fmla="*/ 0 w 27033"/>
              <a:gd name="T3" fmla="*/ 41904 h 42598"/>
              <a:gd name="T4" fmla="*/ 5433 w 27033"/>
              <a:gd name="T5" fmla="*/ 20998 h 42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7033" h="42598" fill="none" extrusionOk="0">
                <a:moveTo>
                  <a:pt x="10496" y="-1"/>
                </a:moveTo>
                <a:cubicBezTo>
                  <a:pt x="20197" y="2338"/>
                  <a:pt x="27033" y="11018"/>
                  <a:pt x="27033" y="20998"/>
                </a:cubicBezTo>
                <a:cubicBezTo>
                  <a:pt x="27033" y="32927"/>
                  <a:pt x="17362" y="42598"/>
                  <a:pt x="5433" y="42598"/>
                </a:cubicBezTo>
                <a:cubicBezTo>
                  <a:pt x="3599" y="42597"/>
                  <a:pt x="1774" y="42364"/>
                  <a:pt x="0" y="41903"/>
                </a:cubicBezTo>
              </a:path>
              <a:path w="27033" h="42598" stroke="0" extrusionOk="0">
                <a:moveTo>
                  <a:pt x="10496" y="-1"/>
                </a:moveTo>
                <a:cubicBezTo>
                  <a:pt x="20197" y="2338"/>
                  <a:pt x="27033" y="11018"/>
                  <a:pt x="27033" y="20998"/>
                </a:cubicBezTo>
                <a:cubicBezTo>
                  <a:pt x="27033" y="32927"/>
                  <a:pt x="17362" y="42598"/>
                  <a:pt x="5433" y="42598"/>
                </a:cubicBezTo>
                <a:cubicBezTo>
                  <a:pt x="3599" y="42597"/>
                  <a:pt x="1774" y="42364"/>
                  <a:pt x="0" y="41903"/>
                </a:cubicBezTo>
                <a:lnTo>
                  <a:pt x="5433" y="20998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8732" name="Arc 76">
            <a:extLst>
              <a:ext uri="{FF2B5EF4-FFF2-40B4-BE49-F238E27FC236}">
                <a16:creationId xmlns:a16="http://schemas.microsoft.com/office/drawing/2014/main" id="{2E264134-F7B3-F110-ED9F-2DDEA6F7B6AA}"/>
              </a:ext>
            </a:extLst>
          </p:cNvPr>
          <p:cNvSpPr>
            <a:spLocks/>
          </p:cNvSpPr>
          <p:nvPr/>
        </p:nvSpPr>
        <p:spPr bwMode="auto">
          <a:xfrm flipH="1" flipV="1">
            <a:off x="5867400" y="3282950"/>
            <a:ext cx="152400" cy="9144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8733" name="Group 77">
            <a:extLst>
              <a:ext uri="{FF2B5EF4-FFF2-40B4-BE49-F238E27FC236}">
                <a16:creationId xmlns:a16="http://schemas.microsoft.com/office/drawing/2014/main" id="{1BBCE013-2EBB-7057-623F-796BDA963995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2362200"/>
            <a:ext cx="2057400" cy="609600"/>
            <a:chOff x="3216" y="1488"/>
            <a:chExt cx="1296" cy="384"/>
          </a:xfrm>
        </p:grpSpPr>
        <p:sp>
          <p:nvSpPr>
            <p:cNvPr id="198734" name="Line 78">
              <a:extLst>
                <a:ext uri="{FF2B5EF4-FFF2-40B4-BE49-F238E27FC236}">
                  <a16:creationId xmlns:a16="http://schemas.microsoft.com/office/drawing/2014/main" id="{92CDE5D9-6BBC-820A-F73D-C7121ED9E5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1536"/>
              <a:ext cx="576" cy="336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8735" name="Text Box 79">
              <a:extLst>
                <a:ext uri="{FF2B5EF4-FFF2-40B4-BE49-F238E27FC236}">
                  <a16:creationId xmlns:a16="http://schemas.microsoft.com/office/drawing/2014/main" id="{AEDEF6FC-1798-4077-95F1-A34E7C65F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488"/>
              <a:ext cx="8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>
                  <a:solidFill>
                    <a:srgbClr val="0000CC"/>
                  </a:solidFill>
                </a:rPr>
                <a:t>p-&gt;next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EBA7AF4-ED5D-96D9-3E6D-E232947ABF36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EEDD3C2-2D31-F715-F0FF-B212BB7AA692}"/>
              </a:ext>
            </a:extLst>
          </p:cNvPr>
          <p:cNvSpPr txBox="1"/>
          <p:nvPr/>
        </p:nvSpPr>
        <p:spPr>
          <a:xfrm>
            <a:off x="392806" y="106251"/>
            <a:ext cx="87892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基于双向链表的基本操作的实现算法</a:t>
            </a: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10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198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98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" dur="1000"/>
                                        <p:tgtEl>
                                          <p:spTgt spid="1986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198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98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1000"/>
                                        <p:tgtEl>
                                          <p:spTgt spid="19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19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98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9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9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198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85" dur="2000"/>
                                        <p:tgtEl>
                                          <p:spTgt spid="1987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9" dur="1000"/>
                                        <p:tgtEl>
                                          <p:spTgt spid="1986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2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3" dur="1000"/>
                                        <p:tgtEl>
                                          <p:spTgt spid="1986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96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1000"/>
                                        <p:tgtEl>
                                          <p:spTgt spid="19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1000"/>
                                        <p:tgtEl>
                                          <p:spTgt spid="19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1000"/>
                                        <p:tgtEl>
                                          <p:spTgt spid="19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2" dur="2000"/>
                                        <p:tgtEl>
                                          <p:spTgt spid="1986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1000"/>
                                        <p:tgtEl>
                                          <p:spTgt spid="19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1" grpId="0"/>
      <p:bldP spid="198662" grpId="0"/>
      <p:bldP spid="198663" grpId="0" animBg="1"/>
      <p:bldP spid="198664" grpId="0" animBg="1"/>
      <p:bldP spid="198664" grpId="1" animBg="1"/>
      <p:bldP spid="198667" grpId="0" animBg="1"/>
      <p:bldP spid="198667" grpId="1" animBg="1"/>
      <p:bldP spid="198668" grpId="0" animBg="1"/>
      <p:bldP spid="198670" grpId="0"/>
      <p:bldP spid="198671" grpId="0"/>
      <p:bldP spid="198672" grpId="0"/>
      <p:bldP spid="1986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3" name="Text Box 3">
            <a:extLst>
              <a:ext uri="{FF2B5EF4-FFF2-40B4-BE49-F238E27FC236}">
                <a16:creationId xmlns:a16="http://schemas.microsoft.com/office/drawing/2014/main" id="{66F20CBC-678C-AD12-9789-EA7FCE0D7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65082"/>
            <a:ext cx="830580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CC"/>
                </a:solidFill>
              </a:rPr>
              <a:t>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插入操作的算法如下： </a:t>
            </a:r>
          </a:p>
        </p:txBody>
      </p:sp>
      <p:sp>
        <p:nvSpPr>
          <p:cNvPr id="199684" name="Text Box 4">
            <a:extLst>
              <a:ext uri="{FF2B5EF4-FFF2-40B4-BE49-F238E27FC236}">
                <a16:creationId xmlns:a16="http://schemas.microsoft.com/office/drawing/2014/main" id="{E35714C9-C63C-67A4-2E0A-E284AC210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806" y="1366949"/>
            <a:ext cx="8305800" cy="4884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ListInsert_DuL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DuLinkList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L,int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i,ElemType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e){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if(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&lt;1)return ERROR;	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位序合法性检查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p=L; j=0;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while(p!=NULL &amp;&amp; j&lt;i-1){	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查找第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结点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p=p-&gt;next; 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if(p==NULL)return ERROR; 	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查找第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结点失败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s=(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DuLNode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*)malloc(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DuLNode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));	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生成新结点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if(s==NULL)return ERROR;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s-&gt;data=e;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p-&gt;next-&gt;prior=s;	 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改变指针以反映新的逻辑关系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s-&gt;next=p-&gt;next;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s-&gt;prior=p;</a:t>
            </a:r>
            <a:endParaRPr lang="en-US" altLang="zh-CN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p-&gt;next=s;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return OK;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}//</a:t>
            </a:r>
            <a:r>
              <a:rPr lang="en-US" altLang="zh-CN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ListInsert_DuL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3694A8-7E05-4797-FE8B-0EFF4EAC6524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590A60-3866-22F5-7D62-DF327E46F247}"/>
              </a:ext>
            </a:extLst>
          </p:cNvPr>
          <p:cNvSpPr txBox="1"/>
          <p:nvPr/>
        </p:nvSpPr>
        <p:spPr>
          <a:xfrm>
            <a:off x="392806" y="106251"/>
            <a:ext cx="10092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插入操作的实现算法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928AA5-5575-71AF-0648-B692CDC094FD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7" name="Text Box 3">
            <a:extLst>
              <a:ext uri="{FF2B5EF4-FFF2-40B4-BE49-F238E27FC236}">
                <a16:creationId xmlns:a16="http://schemas.microsoft.com/office/drawing/2014/main" id="{2BB6EC2F-1EF2-9439-40A0-756760103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" y="901383"/>
            <a:ext cx="4876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删除操作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ListDelete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(&amp;L,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,&amp;e) </a:t>
            </a:r>
          </a:p>
        </p:txBody>
      </p:sp>
      <p:sp>
        <p:nvSpPr>
          <p:cNvPr id="200708" name="Text Box 4">
            <a:extLst>
              <a:ext uri="{FF2B5EF4-FFF2-40B4-BE49-F238E27FC236}">
                <a16:creationId xmlns:a16="http://schemas.microsoft.com/office/drawing/2014/main" id="{970F19B4-2225-09BD-C678-F63EF790DB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93019"/>
            <a:ext cx="8305800" cy="137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对于线性表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L=(a1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ai-1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ai+1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an)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，其双向链表如下图所示。把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的第 </a:t>
            </a:r>
            <a:r>
              <a:rPr lang="en-US" altLang="zh-CN" sz="2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个元素删除后，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            L=(a1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ai-1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ai+1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an)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如何在双向链表中反映这种变化呢？ </a:t>
            </a:r>
          </a:p>
        </p:txBody>
      </p:sp>
      <p:sp>
        <p:nvSpPr>
          <p:cNvPr id="200709" name="Text Box 5">
            <a:extLst>
              <a:ext uri="{FF2B5EF4-FFF2-40B4-BE49-F238E27FC236}">
                <a16:creationId xmlns:a16="http://schemas.microsoft.com/office/drawing/2014/main" id="{052E8371-3F6D-9921-D5BA-612E9052C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102225"/>
            <a:ext cx="830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27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⑴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从头指针出发，顺链找到第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i-1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个元素。</a:t>
            </a:r>
          </a:p>
        </p:txBody>
      </p:sp>
      <p:sp>
        <p:nvSpPr>
          <p:cNvPr id="200710" name="Text Box 6">
            <a:extLst>
              <a:ext uri="{FF2B5EF4-FFF2-40B4-BE49-F238E27FC236}">
                <a16:creationId xmlns:a16="http://schemas.microsoft.com/office/drawing/2014/main" id="{572BB3F3-D5A6-4726-86ED-64D885297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514976"/>
            <a:ext cx="830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27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⑵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改变指针以反映新的逻辑关系。</a:t>
            </a:r>
          </a:p>
        </p:txBody>
      </p:sp>
      <p:sp>
        <p:nvSpPr>
          <p:cNvPr id="200711" name="Text Box 7">
            <a:extLst>
              <a:ext uri="{FF2B5EF4-FFF2-40B4-BE49-F238E27FC236}">
                <a16:creationId xmlns:a16="http://schemas.microsoft.com/office/drawing/2014/main" id="{9BAD2342-1BA4-AA41-0CCA-D8EA6BB1D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956617"/>
            <a:ext cx="8305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127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⑶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释放被删除结点 。 </a:t>
            </a:r>
          </a:p>
        </p:txBody>
      </p:sp>
      <p:sp>
        <p:nvSpPr>
          <p:cNvPr id="200712" name="Text Box 8">
            <a:extLst>
              <a:ext uri="{FF2B5EF4-FFF2-40B4-BE49-F238E27FC236}">
                <a16:creationId xmlns:a16="http://schemas.microsoft.com/office/drawing/2014/main" id="{FB34E05C-A992-56A9-3691-123DF4F61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3968751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p</a:t>
            </a:r>
          </a:p>
        </p:txBody>
      </p:sp>
      <p:sp>
        <p:nvSpPr>
          <p:cNvPr id="200713" name="Text Box 9">
            <a:extLst>
              <a:ext uri="{FF2B5EF4-FFF2-40B4-BE49-F238E27FC236}">
                <a16:creationId xmlns:a16="http://schemas.microsoft.com/office/drawing/2014/main" id="{32E5FB64-4B71-7A03-1F31-61361DB44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578351"/>
            <a:ext cx="304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j</a:t>
            </a:r>
          </a:p>
        </p:txBody>
      </p:sp>
      <p:sp>
        <p:nvSpPr>
          <p:cNvPr id="200714" name="Text Box 10">
            <a:extLst>
              <a:ext uri="{FF2B5EF4-FFF2-40B4-BE49-F238E27FC236}">
                <a16:creationId xmlns:a16="http://schemas.microsoft.com/office/drawing/2014/main" id="{978EDCDE-281E-D682-F2D2-3CE1E77BF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044950"/>
            <a:ext cx="381000" cy="4064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zh-CN" altLang="zh-CN" sz="2000">
              <a:solidFill>
                <a:srgbClr val="800080"/>
              </a:solidFill>
            </a:endParaRPr>
          </a:p>
        </p:txBody>
      </p:sp>
      <p:sp>
        <p:nvSpPr>
          <p:cNvPr id="200715" name="Text Box 11">
            <a:extLst>
              <a:ext uri="{FF2B5EF4-FFF2-40B4-BE49-F238E27FC236}">
                <a16:creationId xmlns:a16="http://schemas.microsoft.com/office/drawing/2014/main" id="{499F3ADC-77AA-90BF-1AB9-C4F63FC52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629150"/>
            <a:ext cx="381000" cy="4064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00716" name="Arc 12">
            <a:extLst>
              <a:ext uri="{FF2B5EF4-FFF2-40B4-BE49-F238E27FC236}">
                <a16:creationId xmlns:a16="http://schemas.microsoft.com/office/drawing/2014/main" id="{332D71D7-CF7B-12B0-9395-A0DD6EF0D42B}"/>
              </a:ext>
            </a:extLst>
          </p:cNvPr>
          <p:cNvSpPr>
            <a:spLocks/>
          </p:cNvSpPr>
          <p:nvPr/>
        </p:nvSpPr>
        <p:spPr bwMode="auto">
          <a:xfrm flipH="1" flipV="1">
            <a:off x="2132014" y="3503613"/>
            <a:ext cx="452437" cy="696912"/>
          </a:xfrm>
          <a:custGeom>
            <a:avLst/>
            <a:gdLst>
              <a:gd name="G0" fmla="+- 3971 0 0"/>
              <a:gd name="G1" fmla="+- 21600 0 0"/>
              <a:gd name="G2" fmla="+- 21600 0 0"/>
              <a:gd name="T0" fmla="*/ 0 w 25571"/>
              <a:gd name="T1" fmla="*/ 368 h 21851"/>
              <a:gd name="T2" fmla="*/ 25570 w 25571"/>
              <a:gd name="T3" fmla="*/ 21851 h 21851"/>
              <a:gd name="T4" fmla="*/ 3971 w 25571"/>
              <a:gd name="T5" fmla="*/ 21600 h 218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571" h="21851" fill="none" extrusionOk="0">
                <a:moveTo>
                  <a:pt x="0" y="368"/>
                </a:moveTo>
                <a:cubicBezTo>
                  <a:pt x="1309" y="123"/>
                  <a:pt x="2638" y="0"/>
                  <a:pt x="3971" y="0"/>
                </a:cubicBezTo>
                <a:cubicBezTo>
                  <a:pt x="15900" y="0"/>
                  <a:pt x="25571" y="9670"/>
                  <a:pt x="25571" y="21600"/>
                </a:cubicBezTo>
                <a:cubicBezTo>
                  <a:pt x="25571" y="21683"/>
                  <a:pt x="25570" y="21767"/>
                  <a:pt x="25569" y="21850"/>
                </a:cubicBezTo>
              </a:path>
              <a:path w="25571" h="21851" stroke="0" extrusionOk="0">
                <a:moveTo>
                  <a:pt x="0" y="368"/>
                </a:moveTo>
                <a:cubicBezTo>
                  <a:pt x="1309" y="123"/>
                  <a:pt x="2638" y="0"/>
                  <a:pt x="3971" y="0"/>
                </a:cubicBezTo>
                <a:cubicBezTo>
                  <a:pt x="15900" y="0"/>
                  <a:pt x="25571" y="9670"/>
                  <a:pt x="25571" y="21600"/>
                </a:cubicBezTo>
                <a:cubicBezTo>
                  <a:pt x="25571" y="21683"/>
                  <a:pt x="25570" y="21767"/>
                  <a:pt x="25569" y="21850"/>
                </a:cubicBezTo>
                <a:lnTo>
                  <a:pt x="3971" y="21600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17" name="Arc 13">
            <a:extLst>
              <a:ext uri="{FF2B5EF4-FFF2-40B4-BE49-F238E27FC236}">
                <a16:creationId xmlns:a16="http://schemas.microsoft.com/office/drawing/2014/main" id="{C27C8FF8-C166-A423-45D3-7982F08CB005}"/>
              </a:ext>
            </a:extLst>
          </p:cNvPr>
          <p:cNvSpPr>
            <a:spLocks/>
          </p:cNvSpPr>
          <p:nvPr/>
        </p:nvSpPr>
        <p:spPr bwMode="auto">
          <a:xfrm flipV="1">
            <a:off x="2590800" y="3511550"/>
            <a:ext cx="762000" cy="685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18" name="Text Box 14">
            <a:extLst>
              <a:ext uri="{FF2B5EF4-FFF2-40B4-BE49-F238E27FC236}">
                <a16:creationId xmlns:a16="http://schemas.microsoft.com/office/drawing/2014/main" id="{D489E0B9-D247-501C-21D3-E1232ED06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629150"/>
            <a:ext cx="381000" cy="4064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200719" name="Text Box 15">
            <a:extLst>
              <a:ext uri="{FF2B5EF4-FFF2-40B4-BE49-F238E27FC236}">
                <a16:creationId xmlns:a16="http://schemas.microsoft.com/office/drawing/2014/main" id="{7747338F-2909-7C3F-13AF-FA9BB14C23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4629150"/>
            <a:ext cx="381000" cy="40640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>
                <a:solidFill>
                  <a:srgbClr val="000000"/>
                </a:solidFill>
              </a:rPr>
              <a:t>i-1</a:t>
            </a:r>
          </a:p>
        </p:txBody>
      </p:sp>
      <p:sp>
        <p:nvSpPr>
          <p:cNvPr id="200720" name="Arc 16">
            <a:extLst>
              <a:ext uri="{FF2B5EF4-FFF2-40B4-BE49-F238E27FC236}">
                <a16:creationId xmlns:a16="http://schemas.microsoft.com/office/drawing/2014/main" id="{97E0EA00-551C-1B8A-9F9E-7326A9011E1F}"/>
              </a:ext>
            </a:extLst>
          </p:cNvPr>
          <p:cNvSpPr>
            <a:spLocks/>
          </p:cNvSpPr>
          <p:nvPr/>
        </p:nvSpPr>
        <p:spPr bwMode="auto">
          <a:xfrm flipV="1">
            <a:off x="2590800" y="3359150"/>
            <a:ext cx="2895600" cy="8382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322"/>
              <a:gd name="T1" fmla="*/ 0 h 21600"/>
              <a:gd name="T2" fmla="*/ 21322 w 21322"/>
              <a:gd name="T3" fmla="*/ 18146 h 21600"/>
              <a:gd name="T4" fmla="*/ 0 w 21322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322" h="21600" fill="none" extrusionOk="0">
                <a:moveTo>
                  <a:pt x="0" y="0"/>
                </a:moveTo>
                <a:cubicBezTo>
                  <a:pt x="10596" y="0"/>
                  <a:pt x="19627" y="7686"/>
                  <a:pt x="21322" y="18145"/>
                </a:cubicBezTo>
              </a:path>
              <a:path w="21322" h="21600" stroke="0" extrusionOk="0">
                <a:moveTo>
                  <a:pt x="0" y="0"/>
                </a:moveTo>
                <a:cubicBezTo>
                  <a:pt x="10596" y="0"/>
                  <a:pt x="19627" y="7686"/>
                  <a:pt x="21322" y="18145"/>
                </a:cubicBezTo>
                <a:lnTo>
                  <a:pt x="0" y="21600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21" name="Rectangle 17">
            <a:extLst>
              <a:ext uri="{FF2B5EF4-FFF2-40B4-BE49-F238E27FC236}">
                <a16:creationId xmlns:a16="http://schemas.microsoft.com/office/drawing/2014/main" id="{5B0D2735-CE0C-3C64-5DC7-C9C14E30D7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kumimoji="1" lang="en-US" altLang="zh-CN" sz="2400" baseline="-25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0722" name="Line 18">
            <a:extLst>
              <a:ext uri="{FF2B5EF4-FFF2-40B4-BE49-F238E27FC236}">
                <a16:creationId xmlns:a16="http://schemas.microsoft.com/office/drawing/2014/main" id="{2CF64BC8-B5F4-BCE6-CDE4-03C48493AA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23" name="Line 19">
            <a:extLst>
              <a:ext uri="{FF2B5EF4-FFF2-40B4-BE49-F238E27FC236}">
                <a16:creationId xmlns:a16="http://schemas.microsoft.com/office/drawing/2014/main" id="{0F86673F-60F9-DFD6-8209-C9AC3F69B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24" name="Rectangle 20">
            <a:extLst>
              <a:ext uri="{FF2B5EF4-FFF2-40B4-BE49-F238E27FC236}">
                <a16:creationId xmlns:a16="http://schemas.microsoft.com/office/drawing/2014/main" id="{36A91E6E-526A-33E3-E9E2-0FBA12173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0725" name="Line 21">
            <a:extLst>
              <a:ext uri="{FF2B5EF4-FFF2-40B4-BE49-F238E27FC236}">
                <a16:creationId xmlns:a16="http://schemas.microsoft.com/office/drawing/2014/main" id="{CDD37421-B98D-52B5-9EDD-4FF34540732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26" name="Line 22">
            <a:extLst>
              <a:ext uri="{FF2B5EF4-FFF2-40B4-BE49-F238E27FC236}">
                <a16:creationId xmlns:a16="http://schemas.microsoft.com/office/drawing/2014/main" id="{BD244CDE-0647-34ED-BE11-337A11137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27" name="Line 23">
            <a:extLst>
              <a:ext uri="{FF2B5EF4-FFF2-40B4-BE49-F238E27FC236}">
                <a16:creationId xmlns:a16="http://schemas.microsoft.com/office/drawing/2014/main" id="{8380A79C-8A59-D36F-50F9-0B2301F4C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28" name="Line 24">
            <a:extLst>
              <a:ext uri="{FF2B5EF4-FFF2-40B4-BE49-F238E27FC236}">
                <a16:creationId xmlns:a16="http://schemas.microsoft.com/office/drawing/2014/main" id="{8D1847BB-8101-A182-423E-D9D935239C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28295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29" name="Line 25">
            <a:extLst>
              <a:ext uri="{FF2B5EF4-FFF2-40B4-BE49-F238E27FC236}">
                <a16:creationId xmlns:a16="http://schemas.microsoft.com/office/drawing/2014/main" id="{F2A7574B-39E6-FA35-6EA2-50690E73B1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366395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30" name="Line 26">
            <a:extLst>
              <a:ext uri="{FF2B5EF4-FFF2-40B4-BE49-F238E27FC236}">
                <a16:creationId xmlns:a16="http://schemas.microsoft.com/office/drawing/2014/main" id="{8247E07D-5C10-3C9F-04F9-7BAFC3E4C3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351155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31" name="Rectangle 27">
            <a:extLst>
              <a:ext uri="{FF2B5EF4-FFF2-40B4-BE49-F238E27FC236}">
                <a16:creationId xmlns:a16="http://schemas.microsoft.com/office/drawing/2014/main" id="{A730C4B9-FD60-760A-8797-473E89B4F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i-1</a:t>
            </a:r>
          </a:p>
        </p:txBody>
      </p:sp>
      <p:sp>
        <p:nvSpPr>
          <p:cNvPr id="200732" name="Line 28">
            <a:extLst>
              <a:ext uri="{FF2B5EF4-FFF2-40B4-BE49-F238E27FC236}">
                <a16:creationId xmlns:a16="http://schemas.microsoft.com/office/drawing/2014/main" id="{9937F407-26B7-9716-1B04-3897CC45D7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33" name="Line 29">
            <a:extLst>
              <a:ext uri="{FF2B5EF4-FFF2-40B4-BE49-F238E27FC236}">
                <a16:creationId xmlns:a16="http://schemas.microsoft.com/office/drawing/2014/main" id="{22583257-289A-F450-6B7C-19FC519BB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34" name="Line 30">
            <a:extLst>
              <a:ext uri="{FF2B5EF4-FFF2-40B4-BE49-F238E27FC236}">
                <a16:creationId xmlns:a16="http://schemas.microsoft.com/office/drawing/2014/main" id="{9FA5445E-BEE8-AF83-D9C5-3442995BEDF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35" name="Line 31">
            <a:extLst>
              <a:ext uri="{FF2B5EF4-FFF2-40B4-BE49-F238E27FC236}">
                <a16:creationId xmlns:a16="http://schemas.microsoft.com/office/drawing/2014/main" id="{DDFE0221-8138-490A-CD32-7777BC6ED2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328295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36" name="Line 32">
            <a:extLst>
              <a:ext uri="{FF2B5EF4-FFF2-40B4-BE49-F238E27FC236}">
                <a16:creationId xmlns:a16="http://schemas.microsoft.com/office/drawing/2014/main" id="{E538FE04-5957-250B-5579-B75968ABA5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3663950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37" name="Line 33">
            <a:extLst>
              <a:ext uri="{FF2B5EF4-FFF2-40B4-BE49-F238E27FC236}">
                <a16:creationId xmlns:a16="http://schemas.microsoft.com/office/drawing/2014/main" id="{9FD158C7-5323-5B55-5E93-6E06C88EAF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51155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38" name="Line 34">
            <a:extLst>
              <a:ext uri="{FF2B5EF4-FFF2-40B4-BE49-F238E27FC236}">
                <a16:creationId xmlns:a16="http://schemas.microsoft.com/office/drawing/2014/main" id="{A6207209-EF89-F274-FE7E-A275AAF62D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39" name="Line 35">
            <a:extLst>
              <a:ext uri="{FF2B5EF4-FFF2-40B4-BE49-F238E27FC236}">
                <a16:creationId xmlns:a16="http://schemas.microsoft.com/office/drawing/2014/main" id="{E2C5E41C-C45D-67A7-2344-1C8E7161B30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366395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40" name="Rectangle 36">
            <a:extLst>
              <a:ext uri="{FF2B5EF4-FFF2-40B4-BE49-F238E27FC236}">
                <a16:creationId xmlns:a16="http://schemas.microsoft.com/office/drawing/2014/main" id="{5A1CD7B5-1C71-EF1F-215F-D8DC85639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00741" name="Line 37">
            <a:extLst>
              <a:ext uri="{FF2B5EF4-FFF2-40B4-BE49-F238E27FC236}">
                <a16:creationId xmlns:a16="http://schemas.microsoft.com/office/drawing/2014/main" id="{89AFBB5A-4426-058A-5E52-6EA4D4900D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42" name="Line 38">
            <a:extLst>
              <a:ext uri="{FF2B5EF4-FFF2-40B4-BE49-F238E27FC236}">
                <a16:creationId xmlns:a16="http://schemas.microsoft.com/office/drawing/2014/main" id="{A94CA793-D598-6F15-B595-860546D1156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43" name="Line 39">
            <a:extLst>
              <a:ext uri="{FF2B5EF4-FFF2-40B4-BE49-F238E27FC236}">
                <a16:creationId xmlns:a16="http://schemas.microsoft.com/office/drawing/2014/main" id="{8B7C58DE-35FA-1E9D-3E67-96CD0B4EA21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44" name="Line 40">
            <a:extLst>
              <a:ext uri="{FF2B5EF4-FFF2-40B4-BE49-F238E27FC236}">
                <a16:creationId xmlns:a16="http://schemas.microsoft.com/office/drawing/2014/main" id="{E1CFA1A4-C7C0-FCBE-1C41-82D6F327E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28295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45" name="Line 41">
            <a:extLst>
              <a:ext uri="{FF2B5EF4-FFF2-40B4-BE49-F238E27FC236}">
                <a16:creationId xmlns:a16="http://schemas.microsoft.com/office/drawing/2014/main" id="{74FFDFEF-D132-86AE-196D-5DBBABCA490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38800" y="3657600"/>
            <a:ext cx="838200" cy="63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46" name="Line 42">
            <a:extLst>
              <a:ext uri="{FF2B5EF4-FFF2-40B4-BE49-F238E27FC236}">
                <a16:creationId xmlns:a16="http://schemas.microsoft.com/office/drawing/2014/main" id="{A7CF2D8D-A30D-CC53-493B-87633DD3353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351155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47" name="Rectangle 43">
            <a:extLst>
              <a:ext uri="{FF2B5EF4-FFF2-40B4-BE49-F238E27FC236}">
                <a16:creationId xmlns:a16="http://schemas.microsoft.com/office/drawing/2014/main" id="{2E4DD6F7-6DCB-2432-57CB-C1E0756F0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i+1</a:t>
            </a:r>
          </a:p>
        </p:txBody>
      </p:sp>
      <p:sp>
        <p:nvSpPr>
          <p:cNvPr id="200748" name="Line 44">
            <a:extLst>
              <a:ext uri="{FF2B5EF4-FFF2-40B4-BE49-F238E27FC236}">
                <a16:creationId xmlns:a16="http://schemas.microsoft.com/office/drawing/2014/main" id="{A09DE728-3593-9E83-2069-A8F226F4CBB8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49" name="Line 45">
            <a:extLst>
              <a:ext uri="{FF2B5EF4-FFF2-40B4-BE49-F238E27FC236}">
                <a16:creationId xmlns:a16="http://schemas.microsoft.com/office/drawing/2014/main" id="{22351B82-9F6C-3F79-5C08-FDF0A8F9C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50" name="Line 46">
            <a:extLst>
              <a:ext uri="{FF2B5EF4-FFF2-40B4-BE49-F238E27FC236}">
                <a16:creationId xmlns:a16="http://schemas.microsoft.com/office/drawing/2014/main" id="{5D090681-A7A6-FEFF-65AC-86CB4836E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51" name="Line 47">
            <a:extLst>
              <a:ext uri="{FF2B5EF4-FFF2-40B4-BE49-F238E27FC236}">
                <a16:creationId xmlns:a16="http://schemas.microsoft.com/office/drawing/2014/main" id="{5D5FCA2D-92E9-541E-BB8A-A81A460E5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328295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52" name="Line 48">
            <a:extLst>
              <a:ext uri="{FF2B5EF4-FFF2-40B4-BE49-F238E27FC236}">
                <a16:creationId xmlns:a16="http://schemas.microsoft.com/office/drawing/2014/main" id="{A3DA092E-429E-F250-6BC0-5301A386D3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3663950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53" name="Line 49">
            <a:extLst>
              <a:ext uri="{FF2B5EF4-FFF2-40B4-BE49-F238E27FC236}">
                <a16:creationId xmlns:a16="http://schemas.microsoft.com/office/drawing/2014/main" id="{A7B2348C-FC53-F0D6-C080-EA68AA1F26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351155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54" name="Line 50">
            <a:extLst>
              <a:ext uri="{FF2B5EF4-FFF2-40B4-BE49-F238E27FC236}">
                <a16:creationId xmlns:a16="http://schemas.microsoft.com/office/drawing/2014/main" id="{DAD15C3D-F540-48A6-5BC6-315E9670E4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3282950"/>
            <a:ext cx="4572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55" name="Text Box 51">
            <a:extLst>
              <a:ext uri="{FF2B5EF4-FFF2-40B4-BE49-F238E27FC236}">
                <a16:creationId xmlns:a16="http://schemas.microsoft.com/office/drawing/2014/main" id="{C500F3EB-56FA-038A-20AC-9C403D926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335915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00756" name="Line 52">
            <a:extLst>
              <a:ext uri="{FF2B5EF4-FFF2-40B4-BE49-F238E27FC236}">
                <a16:creationId xmlns:a16="http://schemas.microsoft.com/office/drawing/2014/main" id="{0A36E927-B062-DBBC-0054-B153813EC8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3663950"/>
            <a:ext cx="914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57" name="Line 53">
            <a:extLst>
              <a:ext uri="{FF2B5EF4-FFF2-40B4-BE49-F238E27FC236}">
                <a16:creationId xmlns:a16="http://schemas.microsoft.com/office/drawing/2014/main" id="{4671B1A6-595B-8BA5-CC0E-21818D8D53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351155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58" name="Rectangle 54">
            <a:extLst>
              <a:ext uri="{FF2B5EF4-FFF2-40B4-BE49-F238E27FC236}">
                <a16:creationId xmlns:a16="http://schemas.microsoft.com/office/drawing/2014/main" id="{16AEA39A-282A-8E71-4DF9-55F8A3C32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297815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200759" name="Line 55">
            <a:extLst>
              <a:ext uri="{FF2B5EF4-FFF2-40B4-BE49-F238E27FC236}">
                <a16:creationId xmlns:a16="http://schemas.microsoft.com/office/drawing/2014/main" id="{689314D0-CCBB-E60A-8D05-6F446EC89B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08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60" name="Line 56">
            <a:extLst>
              <a:ext uri="{FF2B5EF4-FFF2-40B4-BE49-F238E27FC236}">
                <a16:creationId xmlns:a16="http://schemas.microsoft.com/office/drawing/2014/main" id="{9A6C0C47-C109-49C3-4CAD-2DF8240A0D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0" y="3282950"/>
            <a:ext cx="3810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61" name="Line 57">
            <a:extLst>
              <a:ext uri="{FF2B5EF4-FFF2-40B4-BE49-F238E27FC236}">
                <a16:creationId xmlns:a16="http://schemas.microsoft.com/office/drawing/2014/main" id="{B40B5157-F7A1-AAFF-288B-4A057425A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3600" y="297815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62" name="Line 58">
            <a:extLst>
              <a:ext uri="{FF2B5EF4-FFF2-40B4-BE49-F238E27FC236}">
                <a16:creationId xmlns:a16="http://schemas.microsoft.com/office/drawing/2014/main" id="{72FC3036-BDF1-9DFD-11C4-6549F5AAA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7400" y="328295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63" name="Line 59">
            <a:extLst>
              <a:ext uri="{FF2B5EF4-FFF2-40B4-BE49-F238E27FC236}">
                <a16:creationId xmlns:a16="http://schemas.microsoft.com/office/drawing/2014/main" id="{54F68C36-C319-B32F-7EFF-230A961B56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67800" y="366395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0764" name="Text Box 60">
            <a:extLst>
              <a:ext uri="{FF2B5EF4-FFF2-40B4-BE49-F238E27FC236}">
                <a16:creationId xmlns:a16="http://schemas.microsoft.com/office/drawing/2014/main" id="{98ECE987-B07B-4E9E-EA23-F8F4D4D18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297815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00765" name="Text Box 61">
            <a:extLst>
              <a:ext uri="{FF2B5EF4-FFF2-40B4-BE49-F238E27FC236}">
                <a16:creationId xmlns:a16="http://schemas.microsoft.com/office/drawing/2014/main" id="{EF84ECC0-F900-1CE5-1331-9EB2AC823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35915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00766" name="Text Box 62">
            <a:extLst>
              <a:ext uri="{FF2B5EF4-FFF2-40B4-BE49-F238E27FC236}">
                <a16:creationId xmlns:a16="http://schemas.microsoft.com/office/drawing/2014/main" id="{35290628-9AEF-8ECD-3153-918179055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97815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00767" name="Rectangle 63">
            <a:extLst>
              <a:ext uri="{FF2B5EF4-FFF2-40B4-BE49-F238E27FC236}">
                <a16:creationId xmlns:a16="http://schemas.microsoft.com/office/drawing/2014/main" id="{40C8E6B8-C826-A18F-61CF-30426738F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813" y="3038475"/>
            <a:ext cx="1859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</a:rPr>
              <a:t>∧</a:t>
            </a:r>
          </a:p>
        </p:txBody>
      </p:sp>
      <p:sp>
        <p:nvSpPr>
          <p:cNvPr id="200768" name="Rectangle 64">
            <a:extLst>
              <a:ext uri="{FF2B5EF4-FFF2-40B4-BE49-F238E27FC236}">
                <a16:creationId xmlns:a16="http://schemas.microsoft.com/office/drawing/2014/main" id="{0C662B1A-8E5C-733D-46C5-0C4C63A5D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54350"/>
            <a:ext cx="18594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000">
                <a:solidFill>
                  <a:srgbClr val="000000"/>
                </a:solidFill>
              </a:rPr>
              <a:t>∧</a:t>
            </a:r>
          </a:p>
        </p:txBody>
      </p:sp>
      <p:sp>
        <p:nvSpPr>
          <p:cNvPr id="200769" name="Arc 65">
            <a:extLst>
              <a:ext uri="{FF2B5EF4-FFF2-40B4-BE49-F238E27FC236}">
                <a16:creationId xmlns:a16="http://schemas.microsoft.com/office/drawing/2014/main" id="{01711B71-B533-62DB-F04D-E1B6CB519F24}"/>
              </a:ext>
            </a:extLst>
          </p:cNvPr>
          <p:cNvSpPr>
            <a:spLocks/>
          </p:cNvSpPr>
          <p:nvPr/>
        </p:nvSpPr>
        <p:spPr bwMode="auto">
          <a:xfrm rot="11718498">
            <a:off x="1633539" y="2590800"/>
            <a:ext cx="320675" cy="527050"/>
          </a:xfrm>
          <a:custGeom>
            <a:avLst/>
            <a:gdLst>
              <a:gd name="G0" fmla="+- 0 0 0"/>
              <a:gd name="G1" fmla="+- 21096 0 0"/>
              <a:gd name="G2" fmla="+- 21600 0 0"/>
              <a:gd name="T0" fmla="*/ 4640 w 21600"/>
              <a:gd name="T1" fmla="*/ 0 h 21096"/>
              <a:gd name="T2" fmla="*/ 21600 w 21600"/>
              <a:gd name="T3" fmla="*/ 21096 h 21096"/>
              <a:gd name="T4" fmla="*/ 0 w 21600"/>
              <a:gd name="T5" fmla="*/ 21096 h 2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096" fill="none" extrusionOk="0">
                <a:moveTo>
                  <a:pt x="4639" y="0"/>
                </a:moveTo>
                <a:cubicBezTo>
                  <a:pt x="14544" y="2178"/>
                  <a:pt x="21600" y="10954"/>
                  <a:pt x="21600" y="21096"/>
                </a:cubicBezTo>
              </a:path>
              <a:path w="21600" h="21096" stroke="0" extrusionOk="0">
                <a:moveTo>
                  <a:pt x="4639" y="0"/>
                </a:moveTo>
                <a:cubicBezTo>
                  <a:pt x="14544" y="2178"/>
                  <a:pt x="21600" y="10954"/>
                  <a:pt x="21600" y="21096"/>
                </a:cubicBezTo>
                <a:lnTo>
                  <a:pt x="0" y="21096"/>
                </a:lnTo>
                <a:close/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70" name="Text Box 66">
            <a:extLst>
              <a:ext uri="{FF2B5EF4-FFF2-40B4-BE49-F238E27FC236}">
                <a16:creationId xmlns:a16="http://schemas.microsoft.com/office/drawing/2014/main" id="{AA2DE9FA-C0B7-5EE9-5F16-A0A68D243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452688"/>
            <a:ext cx="404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</a:p>
        </p:txBody>
      </p:sp>
      <p:grpSp>
        <p:nvGrpSpPr>
          <p:cNvPr id="200771" name="Group 67">
            <a:extLst>
              <a:ext uri="{FF2B5EF4-FFF2-40B4-BE49-F238E27FC236}">
                <a16:creationId xmlns:a16="http://schemas.microsoft.com/office/drawing/2014/main" id="{C243A0CB-3983-2D53-12D3-29099A988450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362200"/>
            <a:ext cx="2209800" cy="609600"/>
            <a:chOff x="3216" y="1488"/>
            <a:chExt cx="1392" cy="384"/>
          </a:xfrm>
        </p:grpSpPr>
        <p:sp>
          <p:nvSpPr>
            <p:cNvPr id="200772" name="Line 68">
              <a:extLst>
                <a:ext uri="{FF2B5EF4-FFF2-40B4-BE49-F238E27FC236}">
                  <a16:creationId xmlns:a16="http://schemas.microsoft.com/office/drawing/2014/main" id="{B4FC21A1-65FD-06DE-EB32-036B979E86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1536"/>
              <a:ext cx="576" cy="336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0773" name="Text Box 69">
              <a:extLst>
                <a:ext uri="{FF2B5EF4-FFF2-40B4-BE49-F238E27FC236}">
                  <a16:creationId xmlns:a16="http://schemas.microsoft.com/office/drawing/2014/main" id="{8E194837-D99E-B8CE-8381-EA21D48C6F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488"/>
              <a:ext cx="9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>
                  <a:solidFill>
                    <a:srgbClr val="0000CC"/>
                  </a:solidFill>
                </a:rPr>
                <a:t>q=p-&gt;next</a:t>
              </a:r>
            </a:p>
          </p:txBody>
        </p:sp>
      </p:grpSp>
      <p:sp>
        <p:nvSpPr>
          <p:cNvPr id="200774" name="Arc 70">
            <a:extLst>
              <a:ext uri="{FF2B5EF4-FFF2-40B4-BE49-F238E27FC236}">
                <a16:creationId xmlns:a16="http://schemas.microsoft.com/office/drawing/2014/main" id="{A4ED69B2-9617-1222-5792-AF0EB876099C}"/>
              </a:ext>
            </a:extLst>
          </p:cNvPr>
          <p:cNvSpPr>
            <a:spLocks/>
          </p:cNvSpPr>
          <p:nvPr/>
        </p:nvSpPr>
        <p:spPr bwMode="auto">
          <a:xfrm flipV="1">
            <a:off x="5508626" y="3279776"/>
            <a:ext cx="2187575" cy="758825"/>
          </a:xfrm>
          <a:custGeom>
            <a:avLst/>
            <a:gdLst>
              <a:gd name="G0" fmla="+- 20544 0 0"/>
              <a:gd name="G1" fmla="+- 21600 0 0"/>
              <a:gd name="G2" fmla="+- 21600 0 0"/>
              <a:gd name="T0" fmla="*/ 0 w 42130"/>
              <a:gd name="T1" fmla="*/ 14929 h 21600"/>
              <a:gd name="T2" fmla="*/ 42130 w 42130"/>
              <a:gd name="T3" fmla="*/ 20832 h 21600"/>
              <a:gd name="T4" fmla="*/ 20544 w 4213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130" h="21600" fill="none" extrusionOk="0">
                <a:moveTo>
                  <a:pt x="-1" y="14928"/>
                </a:moveTo>
                <a:cubicBezTo>
                  <a:pt x="2890" y="6027"/>
                  <a:pt x="11184" y="0"/>
                  <a:pt x="20544" y="0"/>
                </a:cubicBezTo>
                <a:cubicBezTo>
                  <a:pt x="32174" y="0"/>
                  <a:pt x="41716" y="9208"/>
                  <a:pt x="42130" y="20831"/>
                </a:cubicBezTo>
              </a:path>
              <a:path w="42130" h="21600" stroke="0" extrusionOk="0">
                <a:moveTo>
                  <a:pt x="-1" y="14928"/>
                </a:moveTo>
                <a:cubicBezTo>
                  <a:pt x="2890" y="6027"/>
                  <a:pt x="11184" y="0"/>
                  <a:pt x="20544" y="0"/>
                </a:cubicBezTo>
                <a:cubicBezTo>
                  <a:pt x="32174" y="0"/>
                  <a:pt x="41716" y="9208"/>
                  <a:pt x="42130" y="20831"/>
                </a:cubicBezTo>
                <a:lnTo>
                  <a:pt x="20544" y="21600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0775" name="Arc 71">
            <a:extLst>
              <a:ext uri="{FF2B5EF4-FFF2-40B4-BE49-F238E27FC236}">
                <a16:creationId xmlns:a16="http://schemas.microsoft.com/office/drawing/2014/main" id="{FBFF1892-B6C3-F246-DF81-5777C72EE98E}"/>
              </a:ext>
            </a:extLst>
          </p:cNvPr>
          <p:cNvSpPr>
            <a:spLocks/>
          </p:cNvSpPr>
          <p:nvPr/>
        </p:nvSpPr>
        <p:spPr bwMode="auto">
          <a:xfrm rot="8506713">
            <a:off x="6107114" y="2797176"/>
            <a:ext cx="1220787" cy="1171575"/>
          </a:xfrm>
          <a:custGeom>
            <a:avLst/>
            <a:gdLst>
              <a:gd name="G0" fmla="+- 9418 0 0"/>
              <a:gd name="G1" fmla="+- 21600 0 0"/>
              <a:gd name="G2" fmla="+- 21600 0 0"/>
              <a:gd name="T0" fmla="*/ 0 w 31018"/>
              <a:gd name="T1" fmla="*/ 2162 h 25908"/>
              <a:gd name="T2" fmla="*/ 30584 w 31018"/>
              <a:gd name="T3" fmla="*/ 25908 h 25908"/>
              <a:gd name="T4" fmla="*/ 9418 w 31018"/>
              <a:gd name="T5" fmla="*/ 21600 h 259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1018" h="25908" fill="none" extrusionOk="0">
                <a:moveTo>
                  <a:pt x="-1" y="2161"/>
                </a:moveTo>
                <a:cubicBezTo>
                  <a:pt x="2935" y="738"/>
                  <a:pt x="6155" y="0"/>
                  <a:pt x="9418" y="0"/>
                </a:cubicBezTo>
                <a:cubicBezTo>
                  <a:pt x="21347" y="0"/>
                  <a:pt x="31018" y="9670"/>
                  <a:pt x="31018" y="21600"/>
                </a:cubicBezTo>
                <a:cubicBezTo>
                  <a:pt x="31018" y="23046"/>
                  <a:pt x="30872" y="24490"/>
                  <a:pt x="30584" y="25908"/>
                </a:cubicBezTo>
              </a:path>
              <a:path w="31018" h="25908" stroke="0" extrusionOk="0">
                <a:moveTo>
                  <a:pt x="-1" y="2161"/>
                </a:moveTo>
                <a:cubicBezTo>
                  <a:pt x="2935" y="738"/>
                  <a:pt x="6155" y="0"/>
                  <a:pt x="9418" y="0"/>
                </a:cubicBezTo>
                <a:cubicBezTo>
                  <a:pt x="21347" y="0"/>
                  <a:pt x="31018" y="9670"/>
                  <a:pt x="31018" y="21600"/>
                </a:cubicBezTo>
                <a:cubicBezTo>
                  <a:pt x="31018" y="23046"/>
                  <a:pt x="30872" y="24490"/>
                  <a:pt x="30584" y="25908"/>
                </a:cubicBezTo>
                <a:lnTo>
                  <a:pt x="9418" y="21600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0776" name="Group 72">
            <a:extLst>
              <a:ext uri="{FF2B5EF4-FFF2-40B4-BE49-F238E27FC236}">
                <a16:creationId xmlns:a16="http://schemas.microsoft.com/office/drawing/2014/main" id="{A79878E2-966E-99D1-9508-99858302A1E7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2362200"/>
            <a:ext cx="2209800" cy="609600"/>
            <a:chOff x="3216" y="1488"/>
            <a:chExt cx="1392" cy="384"/>
          </a:xfrm>
        </p:grpSpPr>
        <p:sp>
          <p:nvSpPr>
            <p:cNvPr id="200777" name="Line 73">
              <a:extLst>
                <a:ext uri="{FF2B5EF4-FFF2-40B4-BE49-F238E27FC236}">
                  <a16:creationId xmlns:a16="http://schemas.microsoft.com/office/drawing/2014/main" id="{ED13F703-91E3-8854-68DA-97B214082B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6" y="1536"/>
              <a:ext cx="576" cy="336"/>
            </a:xfrm>
            <a:prstGeom prst="line">
              <a:avLst/>
            </a:prstGeom>
            <a:noFill/>
            <a:ln w="28575">
              <a:solidFill>
                <a:srgbClr val="0000CC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200778" name="Text Box 74">
              <a:extLst>
                <a:ext uri="{FF2B5EF4-FFF2-40B4-BE49-F238E27FC236}">
                  <a16:creationId xmlns:a16="http://schemas.microsoft.com/office/drawing/2014/main" id="{84AEAA01-896B-86F7-EDD1-B2BD26686E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488"/>
              <a:ext cx="91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CC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000">
                  <a:solidFill>
                    <a:srgbClr val="0000CC"/>
                  </a:solidFill>
                </a:rPr>
                <a:t>q-&gt;next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499C2E12-FC59-202C-25F6-F7F8F327DA56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208DAE-65A5-47D1-F0BA-D2AAA467DF0A}"/>
              </a:ext>
            </a:extLst>
          </p:cNvPr>
          <p:cNvSpPr txBox="1"/>
          <p:nvPr/>
        </p:nvSpPr>
        <p:spPr>
          <a:xfrm>
            <a:off x="392806" y="106251"/>
            <a:ext cx="8979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基于双向链表的基本操作的实现算法</a:t>
            </a: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0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200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7" dur="1000"/>
                                        <p:tgtEl>
                                          <p:spTgt spid="2007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200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00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" dur="1000"/>
                                        <p:tgtEl>
                                          <p:spTgt spid="2007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200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00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1000"/>
                                        <p:tgtEl>
                                          <p:spTgt spid="20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20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200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2" dur="2000"/>
                                        <p:tgtEl>
                                          <p:spTgt spid="2007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0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6" dur="1000"/>
                                        <p:tgtEl>
                                          <p:spTgt spid="2007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0" dur="1000"/>
                                        <p:tgtEl>
                                          <p:spTgt spid="2007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83" presetID="2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1000"/>
                                        <p:tgtEl>
                                          <p:spTgt spid="20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89" dur="2000"/>
                                        <p:tgtEl>
                                          <p:spTgt spid="2007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20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200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9" grpId="0"/>
      <p:bldP spid="200710" grpId="0"/>
      <p:bldP spid="200711" grpId="0"/>
      <p:bldP spid="200712" grpId="0"/>
      <p:bldP spid="200713" grpId="0"/>
      <p:bldP spid="200714" grpId="0" animBg="1"/>
      <p:bldP spid="200715" grpId="0" animBg="1"/>
      <p:bldP spid="200715" grpId="1" animBg="1"/>
      <p:bldP spid="200718" grpId="0" animBg="1"/>
      <p:bldP spid="200718" grpId="1" animBg="1"/>
      <p:bldP spid="200719" grpId="0" animBg="1"/>
      <p:bldP spid="2007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1" name="Text Box 3">
            <a:extLst>
              <a:ext uri="{FF2B5EF4-FFF2-40B4-BE49-F238E27FC236}">
                <a16:creationId xmlns:a16="http://schemas.microsoft.com/office/drawing/2014/main" id="{3AB7CBDD-C6CE-7CB4-902D-4EA882F12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28687"/>
            <a:ext cx="830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删除操作的算法如下： </a:t>
            </a:r>
          </a:p>
        </p:txBody>
      </p:sp>
      <p:sp>
        <p:nvSpPr>
          <p:cNvPr id="201732" name="Text Box 4">
            <a:extLst>
              <a:ext uri="{FF2B5EF4-FFF2-40B4-BE49-F238E27FC236}">
                <a16:creationId xmlns:a16="http://schemas.microsoft.com/office/drawing/2014/main" id="{0814F25E-A658-152C-E213-76AE68ACA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806" y="1365255"/>
            <a:ext cx="8305800" cy="471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ListDelete_DuL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DuLinkList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L,int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i,ElemType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&amp;e){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&lt;1 || L-&gt;next==NULL)return ERROR;  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位序合法性和空表检查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p=L; j=0;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while(p!=NULL &amp;&amp; j&lt;i-1){	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查找第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结点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	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p=p-&gt;next; 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j++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if(p==NULL)return ERROR; 	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查找第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i-1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结点失败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q=p-&gt;next;	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暂存被删结点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的地址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q-&gt;next-&gt;prior=p;	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改变指针以反映新的逻辑关系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p-&gt;next=q-&gt;next;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e=q-&gt;data;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free(q);		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释放被删结点</a:t>
            </a:r>
            <a:r>
              <a:rPr lang="en-US" altLang="zh-CN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baseline="-25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CN" sz="2000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OK;</a:t>
            </a:r>
          </a:p>
          <a:p>
            <a:pPr algn="l">
              <a:lnSpc>
                <a:spcPct val="8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//</a:t>
            </a:r>
            <a:r>
              <a:rPr lang="en-US" altLang="zh-CN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ListDelete_DuL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4D9E34-9FD0-8944-69C9-669397C9815E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B6C467-F8C6-D5B6-2905-64EA4B3C7094}"/>
              </a:ext>
            </a:extLst>
          </p:cNvPr>
          <p:cNvSpPr txBox="1"/>
          <p:nvPr/>
        </p:nvSpPr>
        <p:spPr>
          <a:xfrm>
            <a:off x="392806" y="106251"/>
            <a:ext cx="9741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删除操作的实现算法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00D57E-0A14-5A38-4523-8C7FB22713FF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1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5" name="Text Box 3">
            <a:extLst>
              <a:ext uri="{FF2B5EF4-FFF2-40B4-BE49-F238E27FC236}">
                <a16:creationId xmlns:a16="http://schemas.microsoft.com/office/drawing/2014/main" id="{F5D0E87A-2CD6-4A2A-0E1D-A64EEB106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928688"/>
            <a:ext cx="830580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27463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128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92188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en-US" altLang="zh-CN" sz="2000" dirty="0">
                <a:solidFill>
                  <a:srgbClr val="0000CC"/>
                </a:solidFill>
              </a:rPr>
              <a:t>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和单链表的循环链表相似，双向链表也有循环链表。对于线性表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L=(a1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ai-1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an)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，其双向循环链表如下图所示。 </a:t>
            </a:r>
          </a:p>
        </p:txBody>
      </p:sp>
      <p:sp>
        <p:nvSpPr>
          <p:cNvPr id="202756" name="Text Box 4">
            <a:extLst>
              <a:ext uri="{FF2B5EF4-FFF2-40B4-BE49-F238E27FC236}">
                <a16:creationId xmlns:a16="http://schemas.microsoft.com/office/drawing/2014/main" id="{EACFD07A-376A-B4CC-37FD-EB3EAC491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913" y="2743200"/>
            <a:ext cx="404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>
                <a:solidFill>
                  <a:srgbClr val="0000CC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202757" name="Rectangle 5">
            <a:extLst>
              <a:ext uri="{FF2B5EF4-FFF2-40B4-BE49-F238E27FC236}">
                <a16:creationId xmlns:a16="http://schemas.microsoft.com/office/drawing/2014/main" id="{1FD3620C-1747-6C19-88AF-E950BC10C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kumimoji="1" lang="en-US" altLang="zh-CN" sz="2400" baseline="-25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758" name="Line 6">
            <a:extLst>
              <a:ext uri="{FF2B5EF4-FFF2-40B4-BE49-F238E27FC236}">
                <a16:creationId xmlns:a16="http://schemas.microsoft.com/office/drawing/2014/main" id="{9E510283-6EDF-441C-5B47-E3D013EC1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59" name="Line 7">
            <a:extLst>
              <a:ext uri="{FF2B5EF4-FFF2-40B4-BE49-F238E27FC236}">
                <a16:creationId xmlns:a16="http://schemas.microsoft.com/office/drawing/2014/main" id="{7EE377DC-2DDA-75EB-0FD0-A7AE4B8807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60" name="Rectangle 8">
            <a:extLst>
              <a:ext uri="{FF2B5EF4-FFF2-40B4-BE49-F238E27FC236}">
                <a16:creationId xmlns:a16="http://schemas.microsoft.com/office/drawing/2014/main" id="{B7F92E74-AD61-F2A2-D821-112B2BEC2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2761" name="Line 9">
            <a:extLst>
              <a:ext uri="{FF2B5EF4-FFF2-40B4-BE49-F238E27FC236}">
                <a16:creationId xmlns:a16="http://schemas.microsoft.com/office/drawing/2014/main" id="{DCEFF86C-172C-1877-D7B1-A87A543440E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62" name="Line 10">
            <a:extLst>
              <a:ext uri="{FF2B5EF4-FFF2-40B4-BE49-F238E27FC236}">
                <a16:creationId xmlns:a16="http://schemas.microsoft.com/office/drawing/2014/main" id="{CDF64ABE-FC2D-3059-6754-FB03548131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362200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63" name="Line 11">
            <a:extLst>
              <a:ext uri="{FF2B5EF4-FFF2-40B4-BE49-F238E27FC236}">
                <a16:creationId xmlns:a16="http://schemas.microsoft.com/office/drawing/2014/main" id="{5E85FE5D-0794-071F-FC42-D850E8E94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64" name="Line 12">
            <a:extLst>
              <a:ext uri="{FF2B5EF4-FFF2-40B4-BE49-F238E27FC236}">
                <a16:creationId xmlns:a16="http://schemas.microsoft.com/office/drawing/2014/main" id="{1B23C0C3-A736-F2E1-3ADF-0DB13E7A2E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362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65" name="Line 13">
            <a:extLst>
              <a:ext uri="{FF2B5EF4-FFF2-40B4-BE49-F238E27FC236}">
                <a16:creationId xmlns:a16="http://schemas.microsoft.com/office/drawing/2014/main" id="{221C5331-A23A-E889-0ADA-EAE2A4EEC55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09800" y="2743200"/>
            <a:ext cx="990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66" name="Line 14">
            <a:extLst>
              <a:ext uri="{FF2B5EF4-FFF2-40B4-BE49-F238E27FC236}">
                <a16:creationId xmlns:a16="http://schemas.microsoft.com/office/drawing/2014/main" id="{E8331216-F33B-6DEC-17D0-7E9F297133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2590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67" name="Rectangle 15">
            <a:extLst>
              <a:ext uri="{FF2B5EF4-FFF2-40B4-BE49-F238E27FC236}">
                <a16:creationId xmlns:a16="http://schemas.microsoft.com/office/drawing/2014/main" id="{A988EB77-819A-3E2C-CF0E-476CA397A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i-1</a:t>
            </a:r>
          </a:p>
        </p:txBody>
      </p:sp>
      <p:sp>
        <p:nvSpPr>
          <p:cNvPr id="202768" name="Line 16">
            <a:extLst>
              <a:ext uri="{FF2B5EF4-FFF2-40B4-BE49-F238E27FC236}">
                <a16:creationId xmlns:a16="http://schemas.microsoft.com/office/drawing/2014/main" id="{E65418A8-8137-87AB-24A1-6F6F2363F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69" name="Line 17">
            <a:extLst>
              <a:ext uri="{FF2B5EF4-FFF2-40B4-BE49-F238E27FC236}">
                <a16:creationId xmlns:a16="http://schemas.microsoft.com/office/drawing/2014/main" id="{FDDFCD16-FEBF-13B8-F3E2-0726ADC901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362200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70" name="Line 18">
            <a:extLst>
              <a:ext uri="{FF2B5EF4-FFF2-40B4-BE49-F238E27FC236}">
                <a16:creationId xmlns:a16="http://schemas.microsoft.com/office/drawing/2014/main" id="{520D112B-EC69-E1CB-75EB-EE9D1922DF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71" name="Line 19">
            <a:extLst>
              <a:ext uri="{FF2B5EF4-FFF2-40B4-BE49-F238E27FC236}">
                <a16:creationId xmlns:a16="http://schemas.microsoft.com/office/drawing/2014/main" id="{0EBE6B83-EFC0-280A-C133-4EABB83E1B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362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72" name="Line 20">
            <a:extLst>
              <a:ext uri="{FF2B5EF4-FFF2-40B4-BE49-F238E27FC236}">
                <a16:creationId xmlns:a16="http://schemas.microsoft.com/office/drawing/2014/main" id="{CF4AE60D-2F8D-1068-BDD7-6DBC0380D6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743200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73" name="Line 21">
            <a:extLst>
              <a:ext uri="{FF2B5EF4-FFF2-40B4-BE49-F238E27FC236}">
                <a16:creationId xmlns:a16="http://schemas.microsoft.com/office/drawing/2014/main" id="{F3BEC451-9B5F-2960-639C-91ABAD717D6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2590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74" name="Line 22">
            <a:extLst>
              <a:ext uri="{FF2B5EF4-FFF2-40B4-BE49-F238E27FC236}">
                <a16:creationId xmlns:a16="http://schemas.microsoft.com/office/drawing/2014/main" id="{5AF2E852-B227-001E-8FB8-3B5ADC5072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362200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75" name="Line 23">
            <a:extLst>
              <a:ext uri="{FF2B5EF4-FFF2-40B4-BE49-F238E27FC236}">
                <a16:creationId xmlns:a16="http://schemas.microsoft.com/office/drawing/2014/main" id="{F1A2D187-609C-72A7-809F-C0CBE0D514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274320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76" name="Rectangle 24">
            <a:extLst>
              <a:ext uri="{FF2B5EF4-FFF2-40B4-BE49-F238E27FC236}">
                <a16:creationId xmlns:a16="http://schemas.microsoft.com/office/drawing/2014/main" id="{A950F026-0051-698F-5892-72FCCDE8A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02777" name="Line 25">
            <a:extLst>
              <a:ext uri="{FF2B5EF4-FFF2-40B4-BE49-F238E27FC236}">
                <a16:creationId xmlns:a16="http://schemas.microsoft.com/office/drawing/2014/main" id="{B2FD9882-8F55-0C32-54B4-B453538300E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78" name="Line 26">
            <a:extLst>
              <a:ext uri="{FF2B5EF4-FFF2-40B4-BE49-F238E27FC236}">
                <a16:creationId xmlns:a16="http://schemas.microsoft.com/office/drawing/2014/main" id="{148280D3-27B8-A3E5-C015-1A1E6954A9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2362200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79" name="Line 27">
            <a:extLst>
              <a:ext uri="{FF2B5EF4-FFF2-40B4-BE49-F238E27FC236}">
                <a16:creationId xmlns:a16="http://schemas.microsoft.com/office/drawing/2014/main" id="{B6F6171C-18F5-BB4A-B6FB-8750A52C79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80" name="Line 28">
            <a:extLst>
              <a:ext uri="{FF2B5EF4-FFF2-40B4-BE49-F238E27FC236}">
                <a16:creationId xmlns:a16="http://schemas.microsoft.com/office/drawing/2014/main" id="{34A6419B-50D8-6C41-2223-1CFC9D2BCF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2362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81" name="Line 29">
            <a:extLst>
              <a:ext uri="{FF2B5EF4-FFF2-40B4-BE49-F238E27FC236}">
                <a16:creationId xmlns:a16="http://schemas.microsoft.com/office/drawing/2014/main" id="{5E721928-9551-7558-4B66-A09637E0A9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2743200"/>
            <a:ext cx="914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82" name="Line 30">
            <a:extLst>
              <a:ext uri="{FF2B5EF4-FFF2-40B4-BE49-F238E27FC236}">
                <a16:creationId xmlns:a16="http://schemas.microsoft.com/office/drawing/2014/main" id="{59FEEF05-6B81-54C5-304E-16DA07A66E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2590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83" name="Rectangle 31">
            <a:extLst>
              <a:ext uri="{FF2B5EF4-FFF2-40B4-BE49-F238E27FC236}">
                <a16:creationId xmlns:a16="http://schemas.microsoft.com/office/drawing/2014/main" id="{30B7E869-11E0-06E5-B867-988E2645A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i+1</a:t>
            </a:r>
          </a:p>
        </p:txBody>
      </p:sp>
      <p:sp>
        <p:nvSpPr>
          <p:cNvPr id="202784" name="Line 32">
            <a:extLst>
              <a:ext uri="{FF2B5EF4-FFF2-40B4-BE49-F238E27FC236}">
                <a16:creationId xmlns:a16="http://schemas.microsoft.com/office/drawing/2014/main" id="{D6AE29C4-13C9-E9EB-8EC7-1B66B2D9F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296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85" name="Line 33">
            <a:extLst>
              <a:ext uri="{FF2B5EF4-FFF2-40B4-BE49-F238E27FC236}">
                <a16:creationId xmlns:a16="http://schemas.microsoft.com/office/drawing/2014/main" id="{2560A107-4EB0-4099-DCAD-CDC03490071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6600" y="2362200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86" name="Line 34">
            <a:extLst>
              <a:ext uri="{FF2B5EF4-FFF2-40B4-BE49-F238E27FC236}">
                <a16:creationId xmlns:a16="http://schemas.microsoft.com/office/drawing/2014/main" id="{77E4F7BD-449B-68CA-6B84-6C56B449B9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87" name="Line 35">
            <a:extLst>
              <a:ext uri="{FF2B5EF4-FFF2-40B4-BE49-F238E27FC236}">
                <a16:creationId xmlns:a16="http://schemas.microsoft.com/office/drawing/2014/main" id="{F0F47FFA-41B1-4C74-371E-2B4415C55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362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88" name="Line 36">
            <a:extLst>
              <a:ext uri="{FF2B5EF4-FFF2-40B4-BE49-F238E27FC236}">
                <a16:creationId xmlns:a16="http://schemas.microsoft.com/office/drawing/2014/main" id="{BEDA6DA6-732C-ED61-91B1-47D3631602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2743200"/>
            <a:ext cx="685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89" name="Line 37">
            <a:extLst>
              <a:ext uri="{FF2B5EF4-FFF2-40B4-BE49-F238E27FC236}">
                <a16:creationId xmlns:a16="http://schemas.microsoft.com/office/drawing/2014/main" id="{4AC4F84F-C689-EC37-7AB9-9F677B601F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2590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90" name="Line 38">
            <a:extLst>
              <a:ext uri="{FF2B5EF4-FFF2-40B4-BE49-F238E27FC236}">
                <a16:creationId xmlns:a16="http://schemas.microsoft.com/office/drawing/2014/main" id="{D1D6F01F-FC3C-00F8-DF58-3E6DFED66A5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2362200"/>
            <a:ext cx="457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91" name="Text Box 39">
            <a:extLst>
              <a:ext uri="{FF2B5EF4-FFF2-40B4-BE49-F238E27FC236}">
                <a16:creationId xmlns:a16="http://schemas.microsoft.com/office/drawing/2014/main" id="{83F54F77-1017-D484-B9A0-A32A5F82C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243840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02792" name="Line 40">
            <a:extLst>
              <a:ext uri="{FF2B5EF4-FFF2-40B4-BE49-F238E27FC236}">
                <a16:creationId xmlns:a16="http://schemas.microsoft.com/office/drawing/2014/main" id="{791087D1-11FB-28CD-6CC0-FC325EE9EF5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1800" y="2743200"/>
            <a:ext cx="914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93" name="Line 41">
            <a:extLst>
              <a:ext uri="{FF2B5EF4-FFF2-40B4-BE49-F238E27FC236}">
                <a16:creationId xmlns:a16="http://schemas.microsoft.com/office/drawing/2014/main" id="{B3A209B7-DD2C-0E9E-38D3-B88798E48E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1800" y="2590800"/>
            <a:ext cx="0" cy="152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94" name="Rectangle 42">
            <a:extLst>
              <a:ext uri="{FF2B5EF4-FFF2-40B4-BE49-F238E27FC236}">
                <a16:creationId xmlns:a16="http://schemas.microsoft.com/office/drawing/2014/main" id="{3163851B-6EE3-37AD-4BD6-6A9DD1458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5000" y="20574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a</a:t>
            </a:r>
            <a:r>
              <a:rPr kumimoji="1" lang="en-US" altLang="zh-CN" sz="24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</a:p>
        </p:txBody>
      </p:sp>
      <p:sp>
        <p:nvSpPr>
          <p:cNvPr id="202795" name="Line 43">
            <a:extLst>
              <a:ext uri="{FF2B5EF4-FFF2-40B4-BE49-F238E27FC236}">
                <a16:creationId xmlns:a16="http://schemas.microsoft.com/office/drawing/2014/main" id="{9695C221-5969-B4D6-4887-7E42164EFA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108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96" name="Line 44">
            <a:extLst>
              <a:ext uri="{FF2B5EF4-FFF2-40B4-BE49-F238E27FC236}">
                <a16:creationId xmlns:a16="http://schemas.microsoft.com/office/drawing/2014/main" id="{72A31222-6577-6B44-ACAA-9675658C0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0" y="2362200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oval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97" name="Line 45">
            <a:extLst>
              <a:ext uri="{FF2B5EF4-FFF2-40B4-BE49-F238E27FC236}">
                <a16:creationId xmlns:a16="http://schemas.microsoft.com/office/drawing/2014/main" id="{181D89F3-BDD0-F080-83D6-15FA34A5D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9753600" y="20574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798" name="Line 46">
            <a:extLst>
              <a:ext uri="{FF2B5EF4-FFF2-40B4-BE49-F238E27FC236}">
                <a16:creationId xmlns:a16="http://schemas.microsoft.com/office/drawing/2014/main" id="{56AAC305-F44A-1819-887B-E0E093F13A08}"/>
              </a:ext>
            </a:extLst>
          </p:cNvPr>
          <p:cNvSpPr>
            <a:spLocks noChangeShapeType="1"/>
          </p:cNvSpPr>
          <p:nvPr/>
        </p:nvSpPr>
        <p:spPr bwMode="auto">
          <a:xfrm>
            <a:off x="9677400" y="2362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799" name="Line 47">
            <a:extLst>
              <a:ext uri="{FF2B5EF4-FFF2-40B4-BE49-F238E27FC236}">
                <a16:creationId xmlns:a16="http://schemas.microsoft.com/office/drawing/2014/main" id="{E8872102-3A41-7AB4-403F-7CB96884C9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67800" y="274320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00" name="Text Box 48">
            <a:extLst>
              <a:ext uri="{FF2B5EF4-FFF2-40B4-BE49-F238E27FC236}">
                <a16:creationId xmlns:a16="http://schemas.microsoft.com/office/drawing/2014/main" id="{71CFA0C1-747F-7EEE-26E5-99FD48C2D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0" y="205740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02801" name="Text Box 49">
            <a:extLst>
              <a:ext uri="{FF2B5EF4-FFF2-40B4-BE49-F238E27FC236}">
                <a16:creationId xmlns:a16="http://schemas.microsoft.com/office/drawing/2014/main" id="{96614562-3081-C26D-ECCE-ABE795E9A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43840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000000"/>
                </a:solidFill>
              </a:rPr>
              <a:t>…</a:t>
            </a:r>
          </a:p>
        </p:txBody>
      </p:sp>
      <p:sp>
        <p:nvSpPr>
          <p:cNvPr id="202802" name="Text Box 50">
            <a:extLst>
              <a:ext uri="{FF2B5EF4-FFF2-40B4-BE49-F238E27FC236}">
                <a16:creationId xmlns:a16="http://schemas.microsoft.com/office/drawing/2014/main" id="{5226D35E-CE69-5B88-3EA7-415C315A2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057400"/>
            <a:ext cx="22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>
                <a:solidFill>
                  <a:srgbClr val="FF0000"/>
                </a:solidFill>
              </a:rPr>
              <a:t>…</a:t>
            </a:r>
          </a:p>
        </p:txBody>
      </p:sp>
      <p:sp>
        <p:nvSpPr>
          <p:cNvPr id="202803" name="Arc 51">
            <a:extLst>
              <a:ext uri="{FF2B5EF4-FFF2-40B4-BE49-F238E27FC236}">
                <a16:creationId xmlns:a16="http://schemas.microsoft.com/office/drawing/2014/main" id="{FB094A73-D2BD-AEBE-97A2-A4C24ADC43ED}"/>
              </a:ext>
            </a:extLst>
          </p:cNvPr>
          <p:cNvSpPr>
            <a:spLocks/>
          </p:cNvSpPr>
          <p:nvPr/>
        </p:nvSpPr>
        <p:spPr bwMode="auto">
          <a:xfrm flipH="1" flipV="1">
            <a:off x="1597025" y="2289175"/>
            <a:ext cx="255588" cy="730250"/>
          </a:xfrm>
          <a:custGeom>
            <a:avLst/>
            <a:gdLst>
              <a:gd name="G0" fmla="+- 0 0 0"/>
              <a:gd name="G1" fmla="+- 19774 0 0"/>
              <a:gd name="G2" fmla="+- 21600 0 0"/>
              <a:gd name="T0" fmla="*/ 8691 w 21600"/>
              <a:gd name="T1" fmla="*/ 0 h 41305"/>
              <a:gd name="T2" fmla="*/ 1730 w 21600"/>
              <a:gd name="T3" fmla="*/ 41305 h 41305"/>
              <a:gd name="T4" fmla="*/ 0 w 21600"/>
              <a:gd name="T5" fmla="*/ 19774 h 41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41305" fill="none" extrusionOk="0">
                <a:moveTo>
                  <a:pt x="8691" y="-1"/>
                </a:moveTo>
                <a:cubicBezTo>
                  <a:pt x="16535" y="3447"/>
                  <a:pt x="21600" y="11205"/>
                  <a:pt x="21600" y="19774"/>
                </a:cubicBezTo>
                <a:cubicBezTo>
                  <a:pt x="21600" y="31032"/>
                  <a:pt x="12952" y="40402"/>
                  <a:pt x="1729" y="41304"/>
                </a:cubicBezTo>
              </a:path>
              <a:path w="21600" h="41305" stroke="0" extrusionOk="0">
                <a:moveTo>
                  <a:pt x="8691" y="-1"/>
                </a:moveTo>
                <a:cubicBezTo>
                  <a:pt x="16535" y="3447"/>
                  <a:pt x="21600" y="11205"/>
                  <a:pt x="21600" y="19774"/>
                </a:cubicBezTo>
                <a:cubicBezTo>
                  <a:pt x="21600" y="31032"/>
                  <a:pt x="12952" y="40402"/>
                  <a:pt x="1729" y="41304"/>
                </a:cubicBezTo>
                <a:lnTo>
                  <a:pt x="0" y="19774"/>
                </a:lnTo>
                <a:close/>
              </a:path>
            </a:pathLst>
          </a:custGeom>
          <a:noFill/>
          <a:ln w="38100">
            <a:solidFill>
              <a:srgbClr val="0000CC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04" name="Line 52">
            <a:extLst>
              <a:ext uri="{FF2B5EF4-FFF2-40B4-BE49-F238E27FC236}">
                <a16:creationId xmlns:a16="http://schemas.microsoft.com/office/drawing/2014/main" id="{CF462EE4-32D4-4648-2A31-632D7E6759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363200" y="1905000"/>
            <a:ext cx="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05" name="Line 53">
            <a:extLst>
              <a:ext uri="{FF2B5EF4-FFF2-40B4-BE49-F238E27FC236}">
                <a16:creationId xmlns:a16="http://schemas.microsoft.com/office/drawing/2014/main" id="{183577D7-C9B9-FFDA-F7C8-BBD9DE1878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1905000"/>
            <a:ext cx="807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06" name="Line 54">
            <a:extLst>
              <a:ext uri="{FF2B5EF4-FFF2-40B4-BE49-F238E27FC236}">
                <a16:creationId xmlns:a16="http://schemas.microsoft.com/office/drawing/2014/main" id="{E6E05F54-FD87-6B59-E4BB-54C38F3E3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1905000"/>
            <a:ext cx="0" cy="152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07" name="Line 55">
            <a:extLst>
              <a:ext uri="{FF2B5EF4-FFF2-40B4-BE49-F238E27FC236}">
                <a16:creationId xmlns:a16="http://schemas.microsoft.com/office/drawing/2014/main" id="{CAA9A80C-2BCC-BFC8-8775-CE8A395C25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362200"/>
            <a:ext cx="0" cy="533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08" name="Line 56">
            <a:extLst>
              <a:ext uri="{FF2B5EF4-FFF2-40B4-BE49-F238E27FC236}">
                <a16:creationId xmlns:a16="http://schemas.microsoft.com/office/drawing/2014/main" id="{16C69086-7F2D-AC83-A585-D0215F4AED6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2895600"/>
            <a:ext cx="80010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09" name="Line 57">
            <a:extLst>
              <a:ext uri="{FF2B5EF4-FFF2-40B4-BE49-F238E27FC236}">
                <a16:creationId xmlns:a16="http://schemas.microsoft.com/office/drawing/2014/main" id="{680789D5-A0FC-92EC-5930-D4954028DE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982200" y="2590800"/>
            <a:ext cx="0" cy="304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10" name="Text Box 58">
            <a:extLst>
              <a:ext uri="{FF2B5EF4-FFF2-40B4-BE49-F238E27FC236}">
                <a16:creationId xmlns:a16="http://schemas.microsoft.com/office/drawing/2014/main" id="{3779D5FB-972B-2D9A-6A38-6A8B9276B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" y="3290251"/>
            <a:ext cx="853440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30000"/>
              </a:spcBef>
            </a:pPr>
            <a:r>
              <a:rPr lang="en-US" altLang="zh-CN" sz="2000" dirty="0">
                <a:solidFill>
                  <a:srgbClr val="800080"/>
                </a:solidFill>
              </a:rPr>
              <a:t> 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可以看出，在双向循环链表中，有两个环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lvl="2" algn="l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直接后继环</a:t>
            </a:r>
          </a:p>
          <a:p>
            <a:pPr lvl="2" algn="l">
              <a:spcBef>
                <a:spcPct val="300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直接前驱环</a:t>
            </a:r>
          </a:p>
          <a:p>
            <a:pPr algn="l"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从任意结点出发，顺哪个环都可寻查到表中其它结点。</a:t>
            </a:r>
          </a:p>
        </p:txBody>
      </p:sp>
      <p:sp>
        <p:nvSpPr>
          <p:cNvPr id="202811" name="Text Box 59">
            <a:extLst>
              <a:ext uri="{FF2B5EF4-FFF2-40B4-BE49-F238E27FC236}">
                <a16:creationId xmlns:a16="http://schemas.microsoft.com/office/drawing/2014/main" id="{DCBFC9DF-9AC7-9B6E-9191-E9BD0E68CB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1" y="4842095"/>
            <a:ext cx="5562600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365125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44513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对于空表，其双向循环链表如右图所示。</a:t>
            </a:r>
            <a:b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因此，双向循环链表为空表的条件是：</a:t>
            </a:r>
          </a:p>
          <a:p>
            <a:pPr>
              <a:spcBef>
                <a:spcPct val="3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L-&gt;next=L</a:t>
            </a:r>
          </a:p>
          <a:p>
            <a:pPr>
              <a:spcBef>
                <a:spcPct val="3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L-&gt;prior=L </a:t>
            </a:r>
          </a:p>
        </p:txBody>
      </p:sp>
      <p:sp>
        <p:nvSpPr>
          <p:cNvPr id="202812" name="Rectangle 60">
            <a:extLst>
              <a:ext uri="{FF2B5EF4-FFF2-40B4-BE49-F238E27FC236}">
                <a16:creationId xmlns:a16="http://schemas.microsoft.com/office/drawing/2014/main" id="{07EADCE9-5DF4-B49B-2146-423F35758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5029200"/>
            <a:ext cx="914400" cy="533400"/>
          </a:xfrm>
          <a:prstGeom prst="rect">
            <a:avLst/>
          </a:prstGeom>
          <a:solidFill>
            <a:srgbClr val="CCFFFF">
              <a:alpha val="50000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/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</a:rPr>
              <a:t>  </a:t>
            </a:r>
            <a:endParaRPr kumimoji="1" lang="en-US" altLang="zh-CN" sz="2400" baseline="-25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813" name="Line 61">
            <a:extLst>
              <a:ext uri="{FF2B5EF4-FFF2-40B4-BE49-F238E27FC236}">
                <a16:creationId xmlns:a16="http://schemas.microsoft.com/office/drawing/2014/main" id="{50A458DE-1BFF-504C-AFC0-AA3D630DA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839200" y="50292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14" name="Line 62">
            <a:extLst>
              <a:ext uri="{FF2B5EF4-FFF2-40B4-BE49-F238E27FC236}">
                <a16:creationId xmlns:a16="http://schemas.microsoft.com/office/drawing/2014/main" id="{C9B8FD4E-2017-02AE-623B-102ADAD58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5029200"/>
            <a:ext cx="0" cy="533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2815" name="Line 63">
            <a:extLst>
              <a:ext uri="{FF2B5EF4-FFF2-40B4-BE49-F238E27FC236}">
                <a16:creationId xmlns:a16="http://schemas.microsoft.com/office/drawing/2014/main" id="{32DBEC09-6436-620F-E1DC-63A57E72263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648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16" name="Line 64">
            <a:extLst>
              <a:ext uri="{FF2B5EF4-FFF2-40B4-BE49-F238E27FC236}">
                <a16:creationId xmlns:a16="http://schemas.microsoft.com/office/drawing/2014/main" id="{054D1C36-7338-9EFC-9E3A-E8706A287AA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5334000"/>
            <a:ext cx="6096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17" name="Text Box 65">
            <a:extLst>
              <a:ext uri="{FF2B5EF4-FFF2-40B4-BE49-F238E27FC236}">
                <a16:creationId xmlns:a16="http://schemas.microsoft.com/office/drawing/2014/main" id="{967BF2A6-DEC8-E158-012F-DC9C71A73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0313" y="4814888"/>
            <a:ext cx="4042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202818" name="Line 66">
            <a:extLst>
              <a:ext uri="{FF2B5EF4-FFF2-40B4-BE49-F238E27FC236}">
                <a16:creationId xmlns:a16="http://schemas.microsoft.com/office/drawing/2014/main" id="{85324447-1766-158D-8915-D198B96ED6A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5400" y="53340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19" name="Line 67">
            <a:extLst>
              <a:ext uri="{FF2B5EF4-FFF2-40B4-BE49-F238E27FC236}">
                <a16:creationId xmlns:a16="http://schemas.microsoft.com/office/drawing/2014/main" id="{C6C393DE-E6BF-16E7-5110-53ACDC2833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20200" y="4648200"/>
            <a:ext cx="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20" name="Line 68">
            <a:extLst>
              <a:ext uri="{FF2B5EF4-FFF2-40B4-BE49-F238E27FC236}">
                <a16:creationId xmlns:a16="http://schemas.microsoft.com/office/drawing/2014/main" id="{62393CD7-588F-FEC8-FEA5-4211E9EA6F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86800" y="4648200"/>
            <a:ext cx="533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21" name="Line 69">
            <a:extLst>
              <a:ext uri="{FF2B5EF4-FFF2-40B4-BE49-F238E27FC236}">
                <a16:creationId xmlns:a16="http://schemas.microsoft.com/office/drawing/2014/main" id="{54513EC8-F8EE-7996-2D8D-5FFA4F8E6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01000" y="5181600"/>
            <a:ext cx="3048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22" name="Line 70">
            <a:extLst>
              <a:ext uri="{FF2B5EF4-FFF2-40B4-BE49-F238E27FC236}">
                <a16:creationId xmlns:a16="http://schemas.microsoft.com/office/drawing/2014/main" id="{91215052-5DBA-BFD3-A322-EBFFBE7580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4648200"/>
            <a:ext cx="0" cy="533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23" name="Line 71">
            <a:extLst>
              <a:ext uri="{FF2B5EF4-FFF2-40B4-BE49-F238E27FC236}">
                <a16:creationId xmlns:a16="http://schemas.microsoft.com/office/drawing/2014/main" id="{00344825-EF9C-5233-1A12-C8D79DBED568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1000" y="4648200"/>
            <a:ext cx="5334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02824" name="Line 72">
            <a:extLst>
              <a:ext uri="{FF2B5EF4-FFF2-40B4-BE49-F238E27FC236}">
                <a16:creationId xmlns:a16="http://schemas.microsoft.com/office/drawing/2014/main" id="{7CAD4664-7E34-DCF3-0E36-0555785AC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4400" y="4648200"/>
            <a:ext cx="0" cy="381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A1029D-9F2A-53D2-9126-0A14E293A1C6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2991E0-E8CD-871C-D7C1-0E23A93C8FB6}"/>
              </a:ext>
            </a:extLst>
          </p:cNvPr>
          <p:cNvSpPr txBox="1"/>
          <p:nvPr/>
        </p:nvSpPr>
        <p:spPr>
          <a:xfrm>
            <a:off x="392805" y="106251"/>
            <a:ext cx="7531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五、双向循环链表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6EFE26-7C39-3AE3-7756-A0357E37E3D7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Text Box 3">
            <a:extLst>
              <a:ext uri="{FF2B5EF4-FFF2-40B4-BE49-F238E27FC236}">
                <a16:creationId xmlns:a16="http://schemas.microsoft.com/office/drawing/2014/main" id="{48E6C0B7-CCB0-EC2B-7496-720303950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806" y="1006475"/>
            <a:ext cx="5257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一、空表的图示和条件 </a:t>
            </a:r>
          </a:p>
        </p:txBody>
      </p:sp>
      <p:sp>
        <p:nvSpPr>
          <p:cNvPr id="203780" name="Text Box 4">
            <a:extLst>
              <a:ext uri="{FF2B5EF4-FFF2-40B4-BE49-F238E27FC236}">
                <a16:creationId xmlns:a16="http://schemas.microsoft.com/office/drawing/2014/main" id="{BFCA5788-2BB9-E24D-0252-01407739EF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787520"/>
            <a:ext cx="1447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．单链表 </a:t>
            </a:r>
          </a:p>
        </p:txBody>
      </p:sp>
      <p:grpSp>
        <p:nvGrpSpPr>
          <p:cNvPr id="203781" name="Group 5">
            <a:extLst>
              <a:ext uri="{FF2B5EF4-FFF2-40B4-BE49-F238E27FC236}">
                <a16:creationId xmlns:a16="http://schemas.microsoft.com/office/drawing/2014/main" id="{3FDF9591-AC63-DD3E-B42D-9E8FD7DA7664}"/>
              </a:ext>
            </a:extLst>
          </p:cNvPr>
          <p:cNvGrpSpPr>
            <a:grpSpLocks/>
          </p:cNvGrpSpPr>
          <p:nvPr/>
        </p:nvGrpSpPr>
        <p:grpSpPr bwMode="auto">
          <a:xfrm>
            <a:off x="3017838" y="1638300"/>
            <a:ext cx="1600200" cy="609600"/>
            <a:chOff x="1536" y="1056"/>
            <a:chExt cx="1008" cy="384"/>
          </a:xfrm>
        </p:grpSpPr>
        <p:sp>
          <p:nvSpPr>
            <p:cNvPr id="203782" name="Line 6">
              <a:extLst>
                <a:ext uri="{FF2B5EF4-FFF2-40B4-BE49-F238E27FC236}">
                  <a16:creationId xmlns:a16="http://schemas.microsoft.com/office/drawing/2014/main" id="{9FF4D974-957D-A97D-22D3-FF2939444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296"/>
              <a:ext cx="38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783" name="Text Box 7">
              <a:extLst>
                <a:ext uri="{FF2B5EF4-FFF2-40B4-BE49-F238E27FC236}">
                  <a16:creationId xmlns:a16="http://schemas.microsoft.com/office/drawing/2014/main" id="{CC3DC98F-AD36-13BD-CDA9-B0947B352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056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/>
                <a:t>L</a:t>
              </a:r>
            </a:p>
          </p:txBody>
        </p:sp>
        <p:sp>
          <p:nvSpPr>
            <p:cNvPr id="203784" name="Rectangle 8">
              <a:extLst>
                <a:ext uri="{FF2B5EF4-FFF2-40B4-BE49-F238E27FC236}">
                  <a16:creationId xmlns:a16="http://schemas.microsoft.com/office/drawing/2014/main" id="{0F280C72-E788-ACAB-10E3-BE6384E0DC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152"/>
              <a:ext cx="576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 sz="2400" baseline="-25000"/>
                <a:t>         </a:t>
              </a:r>
              <a:r>
                <a:rPr lang="en-US" altLang="zh-CN"/>
                <a:t>∧</a:t>
              </a:r>
            </a:p>
          </p:txBody>
        </p:sp>
        <p:sp>
          <p:nvSpPr>
            <p:cNvPr id="203785" name="Line 9">
              <a:extLst>
                <a:ext uri="{FF2B5EF4-FFF2-40B4-BE49-F238E27FC236}">
                  <a16:creationId xmlns:a16="http://schemas.microsoft.com/office/drawing/2014/main" id="{2CA58724-C802-A2EE-0601-672C830DD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152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3786" name="Text Box 10">
            <a:extLst>
              <a:ext uri="{FF2B5EF4-FFF2-40B4-BE49-F238E27FC236}">
                <a16:creationId xmlns:a16="http://schemas.microsoft.com/office/drawing/2014/main" id="{3D93D497-AB4A-EAAE-9AD1-B6EED0EBF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5676" y="1812926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L-&gt;next==NULL</a:t>
            </a:r>
          </a:p>
        </p:txBody>
      </p:sp>
      <p:sp>
        <p:nvSpPr>
          <p:cNvPr id="203787" name="Text Box 11">
            <a:extLst>
              <a:ext uri="{FF2B5EF4-FFF2-40B4-BE49-F238E27FC236}">
                <a16:creationId xmlns:a16="http://schemas.microsoft.com/office/drawing/2014/main" id="{316AC133-CD2B-AA09-BAF9-6E65A397B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708281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．循环链表 </a:t>
            </a:r>
          </a:p>
        </p:txBody>
      </p:sp>
      <p:grpSp>
        <p:nvGrpSpPr>
          <p:cNvPr id="203788" name="Group 12">
            <a:extLst>
              <a:ext uri="{FF2B5EF4-FFF2-40B4-BE49-F238E27FC236}">
                <a16:creationId xmlns:a16="http://schemas.microsoft.com/office/drawing/2014/main" id="{B611F34C-96C0-F35D-1672-BC36256F9CA7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593976"/>
            <a:ext cx="1600200" cy="609600"/>
            <a:chOff x="1536" y="1632"/>
            <a:chExt cx="1008" cy="384"/>
          </a:xfrm>
        </p:grpSpPr>
        <p:sp>
          <p:nvSpPr>
            <p:cNvPr id="203789" name="Line 13">
              <a:extLst>
                <a:ext uri="{FF2B5EF4-FFF2-40B4-BE49-F238E27FC236}">
                  <a16:creationId xmlns:a16="http://schemas.microsoft.com/office/drawing/2014/main" id="{71F2FE11-BADC-B8C6-30A6-15EB72B65F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872"/>
              <a:ext cx="38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790" name="Text Box 14">
              <a:extLst>
                <a:ext uri="{FF2B5EF4-FFF2-40B4-BE49-F238E27FC236}">
                  <a16:creationId xmlns:a16="http://schemas.microsoft.com/office/drawing/2014/main" id="{2AFA802B-087D-80D6-A469-16E4BAA2C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632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/>
                <a:t>L</a:t>
              </a:r>
            </a:p>
          </p:txBody>
        </p:sp>
        <p:sp>
          <p:nvSpPr>
            <p:cNvPr id="203791" name="Rectangle 15">
              <a:extLst>
                <a:ext uri="{FF2B5EF4-FFF2-40B4-BE49-F238E27FC236}">
                  <a16:creationId xmlns:a16="http://schemas.microsoft.com/office/drawing/2014/main" id="{E5482A4B-7E90-51D0-3130-780F8D85E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1728"/>
              <a:ext cx="576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 sz="2400" baseline="-25000"/>
                <a:t>         </a:t>
              </a:r>
              <a:endParaRPr lang="en-US" altLang="zh-CN"/>
            </a:p>
          </p:txBody>
        </p:sp>
        <p:sp>
          <p:nvSpPr>
            <p:cNvPr id="203792" name="Line 16">
              <a:extLst>
                <a:ext uri="{FF2B5EF4-FFF2-40B4-BE49-F238E27FC236}">
                  <a16:creationId xmlns:a16="http://schemas.microsoft.com/office/drawing/2014/main" id="{37733F3B-70C4-DE78-E750-AE0900F10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728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793" name="Line 17">
              <a:extLst>
                <a:ext uri="{FF2B5EF4-FFF2-40B4-BE49-F238E27FC236}">
                  <a16:creationId xmlns:a16="http://schemas.microsoft.com/office/drawing/2014/main" id="{2D532CE8-3110-AF3B-6351-F3758F0FE1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163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794" name="Line 18">
              <a:extLst>
                <a:ext uri="{FF2B5EF4-FFF2-40B4-BE49-F238E27FC236}">
                  <a16:creationId xmlns:a16="http://schemas.microsoft.com/office/drawing/2014/main" id="{0B6AB4C1-422C-F2C9-61DB-71C9B50023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1632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795" name="Line 19">
              <a:extLst>
                <a:ext uri="{FF2B5EF4-FFF2-40B4-BE49-F238E27FC236}">
                  <a16:creationId xmlns:a16="http://schemas.microsoft.com/office/drawing/2014/main" id="{63EF38DE-F1E5-2856-F01D-AD0272983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63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3796" name="Text Box 20">
            <a:extLst>
              <a:ext uri="{FF2B5EF4-FFF2-40B4-BE49-F238E27FC236}">
                <a16:creationId xmlns:a16="http://schemas.microsoft.com/office/drawing/2014/main" id="{936F7018-0CAC-E471-6B3C-DB2CB2A3D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76" y="2608582"/>
            <a:ext cx="236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L-&gt;next==L</a:t>
            </a:r>
          </a:p>
        </p:txBody>
      </p:sp>
      <p:sp>
        <p:nvSpPr>
          <p:cNvPr id="203797" name="Text Box 21">
            <a:extLst>
              <a:ext uri="{FF2B5EF4-FFF2-40B4-BE49-F238E27FC236}">
                <a16:creationId xmlns:a16="http://schemas.microsoft.com/office/drawing/2014/main" id="{0D948CE2-2608-F182-9A7A-E4FB182FD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" y="3611563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．双向链表 </a:t>
            </a:r>
          </a:p>
        </p:txBody>
      </p:sp>
      <p:grpSp>
        <p:nvGrpSpPr>
          <p:cNvPr id="203798" name="Group 22">
            <a:extLst>
              <a:ext uri="{FF2B5EF4-FFF2-40B4-BE49-F238E27FC236}">
                <a16:creationId xmlns:a16="http://schemas.microsoft.com/office/drawing/2014/main" id="{ADCA2733-8A4B-CFF2-3B98-12F3B0722458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551237"/>
            <a:ext cx="1828800" cy="609600"/>
            <a:chOff x="1584" y="2208"/>
            <a:chExt cx="1152" cy="384"/>
          </a:xfrm>
        </p:grpSpPr>
        <p:sp>
          <p:nvSpPr>
            <p:cNvPr id="203799" name="Line 23">
              <a:extLst>
                <a:ext uri="{FF2B5EF4-FFF2-40B4-BE49-F238E27FC236}">
                  <a16:creationId xmlns:a16="http://schemas.microsoft.com/office/drawing/2014/main" id="{F43384C6-176C-2C66-4A63-75745093F0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2448"/>
              <a:ext cx="38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800" name="Text Box 24">
              <a:extLst>
                <a:ext uri="{FF2B5EF4-FFF2-40B4-BE49-F238E27FC236}">
                  <a16:creationId xmlns:a16="http://schemas.microsoft.com/office/drawing/2014/main" id="{E7DC552B-C6F7-A333-33EE-10ECFFACC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208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/>
                <a:t>L</a:t>
              </a:r>
            </a:p>
          </p:txBody>
        </p:sp>
        <p:sp>
          <p:nvSpPr>
            <p:cNvPr id="203801" name="Rectangle 25">
              <a:extLst>
                <a:ext uri="{FF2B5EF4-FFF2-40B4-BE49-F238E27FC236}">
                  <a16:creationId xmlns:a16="http://schemas.microsoft.com/office/drawing/2014/main" id="{7923CBD9-F420-76B4-9CE2-CD429E5BA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304"/>
              <a:ext cx="720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/>
                <a:t>∧        ∧</a:t>
              </a:r>
            </a:p>
          </p:txBody>
        </p:sp>
        <p:sp>
          <p:nvSpPr>
            <p:cNvPr id="203802" name="Line 26">
              <a:extLst>
                <a:ext uri="{FF2B5EF4-FFF2-40B4-BE49-F238E27FC236}">
                  <a16:creationId xmlns:a16="http://schemas.microsoft.com/office/drawing/2014/main" id="{62C15EB7-9578-B771-6081-2C595F9BB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304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803" name="Line 27">
              <a:extLst>
                <a:ext uri="{FF2B5EF4-FFF2-40B4-BE49-F238E27FC236}">
                  <a16:creationId xmlns:a16="http://schemas.microsoft.com/office/drawing/2014/main" id="{247D2887-7B80-F8C9-D26B-37AE359A5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304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3804" name="Text Box 28">
            <a:extLst>
              <a:ext uri="{FF2B5EF4-FFF2-40B4-BE49-F238E27FC236}">
                <a16:creationId xmlns:a16="http://schemas.microsoft.com/office/drawing/2014/main" id="{C7FDAC87-6C8E-DCFA-50A8-01FCCF14B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76" y="3494087"/>
            <a:ext cx="25146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L-&gt;next==NULL</a:t>
            </a:r>
          </a:p>
          <a:p>
            <a:pPr algn="l"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L-&gt;prior==NULL</a:t>
            </a:r>
          </a:p>
        </p:txBody>
      </p:sp>
      <p:sp>
        <p:nvSpPr>
          <p:cNvPr id="203805" name="Text Box 29">
            <a:extLst>
              <a:ext uri="{FF2B5EF4-FFF2-40B4-BE49-F238E27FC236}">
                <a16:creationId xmlns:a16="http://schemas.microsoft.com/office/drawing/2014/main" id="{40DC5ABB-6B8B-596B-53D9-816336085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" y="4725990"/>
            <a:ext cx="2286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．双向循环链表 </a:t>
            </a:r>
          </a:p>
        </p:txBody>
      </p:sp>
      <p:grpSp>
        <p:nvGrpSpPr>
          <p:cNvPr id="203806" name="Group 30">
            <a:extLst>
              <a:ext uri="{FF2B5EF4-FFF2-40B4-BE49-F238E27FC236}">
                <a16:creationId xmlns:a16="http://schemas.microsoft.com/office/drawing/2014/main" id="{23F8626D-E6FA-6F2F-FB29-E18231840801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4610101"/>
            <a:ext cx="1828800" cy="914400"/>
            <a:chOff x="1584" y="3216"/>
            <a:chExt cx="1152" cy="576"/>
          </a:xfrm>
        </p:grpSpPr>
        <p:sp>
          <p:nvSpPr>
            <p:cNvPr id="203807" name="Line 31">
              <a:extLst>
                <a:ext uri="{FF2B5EF4-FFF2-40B4-BE49-F238E27FC236}">
                  <a16:creationId xmlns:a16="http://schemas.microsoft.com/office/drawing/2014/main" id="{9EE08351-D01B-DB73-7F89-5C7231C2E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504"/>
              <a:ext cx="384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808" name="Text Box 32">
              <a:extLst>
                <a:ext uri="{FF2B5EF4-FFF2-40B4-BE49-F238E27FC236}">
                  <a16:creationId xmlns:a16="http://schemas.microsoft.com/office/drawing/2014/main" id="{6CFF8B4B-389E-184E-E4F2-15DCDFFF6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264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 dirty="0"/>
                <a:t>L</a:t>
              </a:r>
            </a:p>
          </p:txBody>
        </p:sp>
        <p:sp>
          <p:nvSpPr>
            <p:cNvPr id="203809" name="Rectangle 33">
              <a:extLst>
                <a:ext uri="{FF2B5EF4-FFF2-40B4-BE49-F238E27FC236}">
                  <a16:creationId xmlns:a16="http://schemas.microsoft.com/office/drawing/2014/main" id="{C5746632-7238-5C26-3B32-FEA7CD675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360"/>
              <a:ext cx="720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endParaRPr lang="zh-CN" altLang="zh-CN"/>
            </a:p>
          </p:txBody>
        </p:sp>
        <p:sp>
          <p:nvSpPr>
            <p:cNvPr id="203810" name="Line 34">
              <a:extLst>
                <a:ext uri="{FF2B5EF4-FFF2-40B4-BE49-F238E27FC236}">
                  <a16:creationId xmlns:a16="http://schemas.microsoft.com/office/drawing/2014/main" id="{82FAFE36-EFBA-B799-1D2C-E43727104D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360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811" name="Line 35">
              <a:extLst>
                <a:ext uri="{FF2B5EF4-FFF2-40B4-BE49-F238E27FC236}">
                  <a16:creationId xmlns:a16="http://schemas.microsoft.com/office/drawing/2014/main" id="{EDF21111-D773-B434-0DDF-4C7BDD6D6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360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812" name="Line 36">
              <a:extLst>
                <a:ext uri="{FF2B5EF4-FFF2-40B4-BE49-F238E27FC236}">
                  <a16:creationId xmlns:a16="http://schemas.microsoft.com/office/drawing/2014/main" id="{AAD96EDB-0C27-EA83-37B7-384282F6D1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321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813" name="Line 37">
              <a:extLst>
                <a:ext uri="{FF2B5EF4-FFF2-40B4-BE49-F238E27FC236}">
                  <a16:creationId xmlns:a16="http://schemas.microsoft.com/office/drawing/2014/main" id="{8ADBD496-287F-34C0-5D76-B31A25B1E8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321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814" name="Line 38">
              <a:extLst>
                <a:ext uri="{FF2B5EF4-FFF2-40B4-BE49-F238E27FC236}">
                  <a16:creationId xmlns:a16="http://schemas.microsoft.com/office/drawing/2014/main" id="{387CEEFB-529F-309E-8285-9B0165812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21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815" name="Line 39">
              <a:extLst>
                <a:ext uri="{FF2B5EF4-FFF2-40B4-BE49-F238E27FC236}">
                  <a16:creationId xmlns:a16="http://schemas.microsoft.com/office/drawing/2014/main" id="{90FDEB41-E94F-921C-46C1-23B99C9283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55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816" name="Line 40">
              <a:extLst>
                <a:ext uri="{FF2B5EF4-FFF2-40B4-BE49-F238E27FC236}">
                  <a16:creationId xmlns:a16="http://schemas.microsoft.com/office/drawing/2014/main" id="{3D3E1A81-661A-BAC5-CA0B-B06A10E5B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7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817" name="Line 41">
              <a:extLst>
                <a:ext uri="{FF2B5EF4-FFF2-40B4-BE49-F238E27FC236}">
                  <a16:creationId xmlns:a16="http://schemas.microsoft.com/office/drawing/2014/main" id="{B69FA63A-13C5-67F3-7670-71EAFA9D79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48" y="364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3818" name="Text Box 42">
            <a:extLst>
              <a:ext uri="{FF2B5EF4-FFF2-40B4-BE49-F238E27FC236}">
                <a16:creationId xmlns:a16="http://schemas.microsoft.com/office/drawing/2014/main" id="{E1A3915E-E84B-29FD-DE4D-30DA67BF4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76" y="4695827"/>
            <a:ext cx="25146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L-&gt;next==L</a:t>
            </a:r>
          </a:p>
          <a:p>
            <a:pPr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L-&gt;prior==L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F095F3-4FAF-2C33-B7DF-28A86D9DDCD9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6B3551-B453-BA46-3507-CE477F29A2B6}"/>
              </a:ext>
            </a:extLst>
          </p:cNvPr>
          <p:cNvSpPr txBox="1"/>
          <p:nvPr/>
        </p:nvSpPr>
        <p:spPr>
          <a:xfrm>
            <a:off x="392806" y="106251"/>
            <a:ext cx="5809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几种链表的对比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00D756-08C9-DD8E-925D-B6F239196BFE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03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03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03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203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5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37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0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0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65" dur="1000"/>
                                        <p:tgtEl>
                                          <p:spTgt spid="203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03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000"/>
                                        <p:tgtEl>
                                          <p:spTgt spid="20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4" dur="1000"/>
                                        <p:tgtEl>
                                          <p:spTgt spid="203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0" grpId="0"/>
      <p:bldP spid="203786" grpId="0"/>
      <p:bldP spid="203787" grpId="0"/>
      <p:bldP spid="203796" grpId="0"/>
      <p:bldP spid="203797" grpId="0"/>
      <p:bldP spid="203804" grpId="0"/>
      <p:bldP spid="203805" grpId="0"/>
      <p:bldP spid="2038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3" name="Text Box 3">
            <a:extLst>
              <a:ext uri="{FF2B5EF4-FFF2-40B4-BE49-F238E27FC236}">
                <a16:creationId xmlns:a16="http://schemas.microsoft.com/office/drawing/2014/main" id="{E49B1D83-D710-CAB5-68BE-448B037ED9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052027"/>
            <a:ext cx="5257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二、尾结点的条件 </a:t>
            </a:r>
          </a:p>
        </p:txBody>
      </p:sp>
      <p:sp>
        <p:nvSpPr>
          <p:cNvPr id="204804" name="Text Box 4">
            <a:extLst>
              <a:ext uri="{FF2B5EF4-FFF2-40B4-BE49-F238E27FC236}">
                <a16:creationId xmlns:a16="http://schemas.microsoft.com/office/drawing/2014/main" id="{FDDC876D-EC97-6779-261B-3CEE5F6CE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4" y="1859281"/>
            <a:ext cx="1447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．单链表 </a:t>
            </a:r>
          </a:p>
        </p:txBody>
      </p:sp>
      <p:sp>
        <p:nvSpPr>
          <p:cNvPr id="204805" name="Text Box 5">
            <a:extLst>
              <a:ext uri="{FF2B5EF4-FFF2-40B4-BE49-F238E27FC236}">
                <a16:creationId xmlns:a16="http://schemas.microsoft.com/office/drawing/2014/main" id="{8D760470-16E5-58A6-312A-B7F40A542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1828801"/>
            <a:ext cx="2286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p-&gt;next==NULL</a:t>
            </a:r>
          </a:p>
        </p:txBody>
      </p:sp>
      <p:sp>
        <p:nvSpPr>
          <p:cNvPr id="204806" name="Text Box 6">
            <a:extLst>
              <a:ext uri="{FF2B5EF4-FFF2-40B4-BE49-F238E27FC236}">
                <a16:creationId xmlns:a16="http://schemas.microsoft.com/office/drawing/2014/main" id="{690FC2C8-AA3C-15E1-93DD-87C9B4284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2651443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．循环链表 </a:t>
            </a:r>
          </a:p>
        </p:txBody>
      </p:sp>
      <p:sp>
        <p:nvSpPr>
          <p:cNvPr id="204807" name="Text Box 7">
            <a:extLst>
              <a:ext uri="{FF2B5EF4-FFF2-40B4-BE49-F238E27FC236}">
                <a16:creationId xmlns:a16="http://schemas.microsoft.com/office/drawing/2014/main" id="{87F0C163-2C6A-3382-EDA9-EA277E543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2667001"/>
            <a:ext cx="2362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p-&gt;next==L</a:t>
            </a:r>
          </a:p>
        </p:txBody>
      </p:sp>
      <p:sp>
        <p:nvSpPr>
          <p:cNvPr id="204808" name="Text Box 8">
            <a:extLst>
              <a:ext uri="{FF2B5EF4-FFF2-40B4-BE49-F238E27FC236}">
                <a16:creationId xmlns:a16="http://schemas.microsoft.com/office/drawing/2014/main" id="{995C4B6E-C720-7BAB-C5BB-775460DB4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779352"/>
            <a:ext cx="1676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．双向链表 </a:t>
            </a:r>
          </a:p>
        </p:txBody>
      </p:sp>
      <p:sp>
        <p:nvSpPr>
          <p:cNvPr id="204809" name="Text Box 9">
            <a:extLst>
              <a:ext uri="{FF2B5EF4-FFF2-40B4-BE49-F238E27FC236}">
                <a16:creationId xmlns:a16="http://schemas.microsoft.com/office/drawing/2014/main" id="{A133336A-AC71-089D-4A5D-7BD8D2F9B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4038601"/>
            <a:ext cx="251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p-&gt;next==NULL</a:t>
            </a:r>
          </a:p>
        </p:txBody>
      </p:sp>
      <p:sp>
        <p:nvSpPr>
          <p:cNvPr id="204810" name="Text Box 10">
            <a:extLst>
              <a:ext uri="{FF2B5EF4-FFF2-40B4-BE49-F238E27FC236}">
                <a16:creationId xmlns:a16="http://schemas.microsoft.com/office/drawing/2014/main" id="{0A5E7E35-23E1-FBDE-0DF4-FE1A0DAA1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4" y="5041742"/>
            <a:ext cx="2286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．双向循环链表 </a:t>
            </a:r>
          </a:p>
        </p:txBody>
      </p:sp>
      <p:sp>
        <p:nvSpPr>
          <p:cNvPr id="204811" name="Text Box 11">
            <a:extLst>
              <a:ext uri="{FF2B5EF4-FFF2-40B4-BE49-F238E27FC236}">
                <a16:creationId xmlns:a16="http://schemas.microsoft.com/office/drawing/2014/main" id="{E0C19C08-C027-F32D-DDA3-E82C1FAF8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5181601"/>
            <a:ext cx="25146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p-&gt;next==L</a:t>
            </a:r>
          </a:p>
          <a:p>
            <a:pPr algn="l">
              <a:spcBef>
                <a:spcPct val="50000"/>
              </a:spcBef>
            </a:pP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L-&gt;prior==p</a:t>
            </a:r>
          </a:p>
        </p:txBody>
      </p:sp>
      <p:grpSp>
        <p:nvGrpSpPr>
          <p:cNvPr id="204812" name="Group 12">
            <a:extLst>
              <a:ext uri="{FF2B5EF4-FFF2-40B4-BE49-F238E27FC236}">
                <a16:creationId xmlns:a16="http://schemas.microsoft.com/office/drawing/2014/main" id="{40203F00-BE1E-1A35-17A4-A2F9BF932509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676400"/>
            <a:ext cx="3276600" cy="685800"/>
            <a:chOff x="1248" y="1056"/>
            <a:chExt cx="2064" cy="432"/>
          </a:xfrm>
        </p:grpSpPr>
        <p:sp>
          <p:nvSpPr>
            <p:cNvPr id="204813" name="Line 13">
              <a:extLst>
                <a:ext uri="{FF2B5EF4-FFF2-40B4-BE49-F238E27FC236}">
                  <a16:creationId xmlns:a16="http://schemas.microsoft.com/office/drawing/2014/main" id="{F733729F-1BA6-2832-553E-D35F97CF9B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34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14" name="Text Box 14">
              <a:extLst>
                <a:ext uri="{FF2B5EF4-FFF2-40B4-BE49-F238E27FC236}">
                  <a16:creationId xmlns:a16="http://schemas.microsoft.com/office/drawing/2014/main" id="{231FC164-8073-0679-2515-E45BCF3AE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056"/>
              <a:ext cx="14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/>
                <a:t>p</a:t>
              </a:r>
            </a:p>
          </p:txBody>
        </p:sp>
        <p:sp>
          <p:nvSpPr>
            <p:cNvPr id="204815" name="Rectangle 15">
              <a:extLst>
                <a:ext uri="{FF2B5EF4-FFF2-40B4-BE49-F238E27FC236}">
                  <a16:creationId xmlns:a16="http://schemas.microsoft.com/office/drawing/2014/main" id="{83230960-E79C-E5AB-BE75-4360424BC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200"/>
              <a:ext cx="528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/>
                <a:t>a</a:t>
              </a:r>
              <a:r>
                <a:rPr lang="en-US" altLang="zh-CN" baseline="-25000"/>
                <a:t>n</a:t>
              </a:r>
              <a:r>
                <a:rPr lang="en-US" altLang="zh-CN" sz="2400" baseline="-25000"/>
                <a:t>    </a:t>
              </a:r>
              <a:r>
                <a:rPr lang="en-US" altLang="zh-CN"/>
                <a:t>∧</a:t>
              </a:r>
            </a:p>
          </p:txBody>
        </p:sp>
        <p:sp>
          <p:nvSpPr>
            <p:cNvPr id="204816" name="Line 16">
              <a:extLst>
                <a:ext uri="{FF2B5EF4-FFF2-40B4-BE49-F238E27FC236}">
                  <a16:creationId xmlns:a16="http://schemas.microsoft.com/office/drawing/2014/main" id="{ED8BFF3A-7267-EFBE-F056-9A19C38F6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44"/>
              <a:ext cx="336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17" name="Text Box 17">
              <a:extLst>
                <a:ext uri="{FF2B5EF4-FFF2-40B4-BE49-F238E27FC236}">
                  <a16:creationId xmlns:a16="http://schemas.microsoft.com/office/drawing/2014/main" id="{D18D4577-4A16-7DE3-386E-D09062728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056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/>
                <a:t>L</a:t>
              </a:r>
            </a:p>
          </p:txBody>
        </p:sp>
        <p:sp>
          <p:nvSpPr>
            <p:cNvPr id="204818" name="Rectangle 18">
              <a:extLst>
                <a:ext uri="{FF2B5EF4-FFF2-40B4-BE49-F238E27FC236}">
                  <a16:creationId xmlns:a16="http://schemas.microsoft.com/office/drawing/2014/main" id="{57558280-9426-1B9B-7354-C9DDFBC3F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200"/>
              <a:ext cx="384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 sz="2400" baseline="-25000"/>
                <a:t>         </a:t>
              </a:r>
              <a:endParaRPr lang="en-US" altLang="zh-CN"/>
            </a:p>
          </p:txBody>
        </p:sp>
        <p:sp>
          <p:nvSpPr>
            <p:cNvPr id="204819" name="Line 19">
              <a:extLst>
                <a:ext uri="{FF2B5EF4-FFF2-40B4-BE49-F238E27FC236}">
                  <a16:creationId xmlns:a16="http://schemas.microsoft.com/office/drawing/2014/main" id="{4391CEF4-DD6E-F73B-01EE-415C863D6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200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20" name="Line 20">
              <a:extLst>
                <a:ext uri="{FF2B5EF4-FFF2-40B4-BE49-F238E27FC236}">
                  <a16:creationId xmlns:a16="http://schemas.microsoft.com/office/drawing/2014/main" id="{47D960A3-10DF-66EC-043D-40BD4164C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200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21" name="Line 21">
              <a:extLst>
                <a:ext uri="{FF2B5EF4-FFF2-40B4-BE49-F238E27FC236}">
                  <a16:creationId xmlns:a16="http://schemas.microsoft.com/office/drawing/2014/main" id="{95FE2B7E-123E-D083-FE04-BB66E9804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1344"/>
              <a:ext cx="240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22" name="Line 22">
              <a:extLst>
                <a:ext uri="{FF2B5EF4-FFF2-40B4-BE49-F238E27FC236}">
                  <a16:creationId xmlns:a16="http://schemas.microsoft.com/office/drawing/2014/main" id="{8564F7EE-2AEF-44F1-EB6F-9A2E13F2A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823" name="Group 23">
            <a:extLst>
              <a:ext uri="{FF2B5EF4-FFF2-40B4-BE49-F238E27FC236}">
                <a16:creationId xmlns:a16="http://schemas.microsoft.com/office/drawing/2014/main" id="{14645AC3-5F71-E772-8EA0-84E50A8931FE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590800"/>
            <a:ext cx="3276600" cy="762000"/>
            <a:chOff x="1392" y="1632"/>
            <a:chExt cx="2064" cy="480"/>
          </a:xfrm>
        </p:grpSpPr>
        <p:sp>
          <p:nvSpPr>
            <p:cNvPr id="204824" name="Line 24">
              <a:extLst>
                <a:ext uri="{FF2B5EF4-FFF2-40B4-BE49-F238E27FC236}">
                  <a16:creationId xmlns:a16="http://schemas.microsoft.com/office/drawing/2014/main" id="{1AE33F5A-DDC5-3425-E415-DB222469D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6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25" name="Text Box 25">
              <a:extLst>
                <a:ext uri="{FF2B5EF4-FFF2-40B4-BE49-F238E27FC236}">
                  <a16:creationId xmlns:a16="http://schemas.microsoft.com/office/drawing/2014/main" id="{0F1754A3-3575-E416-641B-E7EAFBF34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632"/>
              <a:ext cx="14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/>
                <a:t>p</a:t>
              </a:r>
            </a:p>
          </p:txBody>
        </p:sp>
        <p:sp>
          <p:nvSpPr>
            <p:cNvPr id="204826" name="Rectangle 26">
              <a:extLst>
                <a:ext uri="{FF2B5EF4-FFF2-40B4-BE49-F238E27FC236}">
                  <a16:creationId xmlns:a16="http://schemas.microsoft.com/office/drawing/2014/main" id="{35AB6079-5ABF-0348-8DE9-2BF6A0E51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824"/>
              <a:ext cx="528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/>
                <a:t>a</a:t>
              </a:r>
              <a:r>
                <a:rPr lang="en-US" altLang="zh-CN" baseline="-25000"/>
                <a:t>n</a:t>
              </a:r>
              <a:r>
                <a:rPr lang="en-US" altLang="zh-CN" sz="2400" baseline="-25000"/>
                <a:t> </a:t>
              </a:r>
            </a:p>
          </p:txBody>
        </p:sp>
        <p:sp>
          <p:nvSpPr>
            <p:cNvPr id="204827" name="Line 27">
              <a:extLst>
                <a:ext uri="{FF2B5EF4-FFF2-40B4-BE49-F238E27FC236}">
                  <a16:creationId xmlns:a16="http://schemas.microsoft.com/office/drawing/2014/main" id="{DD64BAAA-F7F3-7B3B-1E21-9D3CF19AA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968"/>
              <a:ext cx="336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28" name="Text Box 28">
              <a:extLst>
                <a:ext uri="{FF2B5EF4-FFF2-40B4-BE49-F238E27FC236}">
                  <a16:creationId xmlns:a16="http://schemas.microsoft.com/office/drawing/2014/main" id="{C6ED8ED4-C43C-5CFC-DCC1-C4C8527135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1680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/>
                <a:t>L</a:t>
              </a:r>
            </a:p>
          </p:txBody>
        </p:sp>
        <p:sp>
          <p:nvSpPr>
            <p:cNvPr id="204829" name="Rectangle 29">
              <a:extLst>
                <a:ext uri="{FF2B5EF4-FFF2-40B4-BE49-F238E27FC236}">
                  <a16:creationId xmlns:a16="http://schemas.microsoft.com/office/drawing/2014/main" id="{2698503D-006C-2B5D-6E39-0145A4A7B8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824"/>
              <a:ext cx="384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 sz="2400" baseline="-25000"/>
                <a:t>         </a:t>
              </a:r>
              <a:endParaRPr lang="en-US" altLang="zh-CN"/>
            </a:p>
          </p:txBody>
        </p:sp>
        <p:sp>
          <p:nvSpPr>
            <p:cNvPr id="204830" name="Line 30">
              <a:extLst>
                <a:ext uri="{FF2B5EF4-FFF2-40B4-BE49-F238E27FC236}">
                  <a16:creationId xmlns:a16="http://schemas.microsoft.com/office/drawing/2014/main" id="{9E8B0703-105D-7DB9-D748-6A730DF38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824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1" name="Line 31">
              <a:extLst>
                <a:ext uri="{FF2B5EF4-FFF2-40B4-BE49-F238E27FC236}">
                  <a16:creationId xmlns:a16="http://schemas.microsoft.com/office/drawing/2014/main" id="{7AA6ED95-41B3-57F9-3605-D8FA04E84E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824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2" name="Line 32">
              <a:extLst>
                <a:ext uri="{FF2B5EF4-FFF2-40B4-BE49-F238E27FC236}">
                  <a16:creationId xmlns:a16="http://schemas.microsoft.com/office/drawing/2014/main" id="{334EF65A-727A-2B37-51A0-0CACC5A9F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968"/>
              <a:ext cx="240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3" name="Line 33">
              <a:extLst>
                <a:ext uri="{FF2B5EF4-FFF2-40B4-BE49-F238E27FC236}">
                  <a16:creationId xmlns:a16="http://schemas.microsoft.com/office/drawing/2014/main" id="{EF8A2A7F-29BC-9174-586F-A9B5E812E5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96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4" name="Line 34">
              <a:extLst>
                <a:ext uri="{FF2B5EF4-FFF2-40B4-BE49-F238E27FC236}">
                  <a16:creationId xmlns:a16="http://schemas.microsoft.com/office/drawing/2014/main" id="{5841597E-046B-CF35-34CD-121F3F78F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0" y="1632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5" name="Line 35">
              <a:extLst>
                <a:ext uri="{FF2B5EF4-FFF2-40B4-BE49-F238E27FC236}">
                  <a16:creationId xmlns:a16="http://schemas.microsoft.com/office/drawing/2014/main" id="{5D780E4F-60C2-4B40-077A-252355F28B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4" y="1632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6" name="Line 36">
              <a:extLst>
                <a:ext uri="{FF2B5EF4-FFF2-40B4-BE49-F238E27FC236}">
                  <a16:creationId xmlns:a16="http://schemas.microsoft.com/office/drawing/2014/main" id="{00019355-9FC5-DCF6-35F2-F16DC75CE6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63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837" name="Group 37">
            <a:extLst>
              <a:ext uri="{FF2B5EF4-FFF2-40B4-BE49-F238E27FC236}">
                <a16:creationId xmlns:a16="http://schemas.microsoft.com/office/drawing/2014/main" id="{DD6EBCDF-7CA0-3E11-42CC-A272CE7D4784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3810000"/>
            <a:ext cx="3733800" cy="990600"/>
            <a:chOff x="1392" y="2400"/>
            <a:chExt cx="2352" cy="624"/>
          </a:xfrm>
        </p:grpSpPr>
        <p:sp>
          <p:nvSpPr>
            <p:cNvPr id="204838" name="Line 38">
              <a:extLst>
                <a:ext uri="{FF2B5EF4-FFF2-40B4-BE49-F238E27FC236}">
                  <a16:creationId xmlns:a16="http://schemas.microsoft.com/office/drawing/2014/main" id="{BF9A643A-C5C0-9F8D-F4E6-3AF1E099A1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7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39" name="Rectangle 39">
              <a:extLst>
                <a:ext uri="{FF2B5EF4-FFF2-40B4-BE49-F238E27FC236}">
                  <a16:creationId xmlns:a16="http://schemas.microsoft.com/office/drawing/2014/main" id="{F1DA42EC-3A8D-8AE9-ED65-CC2EAFEE8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592"/>
              <a:ext cx="672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/>
                <a:t>    </a:t>
              </a:r>
              <a:r>
                <a:rPr lang="en-US" altLang="zh-CN" sz="2000"/>
                <a:t>a</a:t>
              </a:r>
              <a:r>
                <a:rPr lang="en-US" altLang="zh-CN" sz="2000" baseline="-25000"/>
                <a:t>n</a:t>
              </a:r>
              <a:r>
                <a:rPr lang="en-US" altLang="zh-CN"/>
                <a:t>   ∧</a:t>
              </a:r>
            </a:p>
          </p:txBody>
        </p:sp>
        <p:sp>
          <p:nvSpPr>
            <p:cNvPr id="204840" name="Line 40">
              <a:extLst>
                <a:ext uri="{FF2B5EF4-FFF2-40B4-BE49-F238E27FC236}">
                  <a16:creationId xmlns:a16="http://schemas.microsoft.com/office/drawing/2014/main" id="{1C6FD9EB-4C4F-4417-8EEF-2552F7AE99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736"/>
              <a:ext cx="336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41" name="Text Box 41">
              <a:extLst>
                <a:ext uri="{FF2B5EF4-FFF2-40B4-BE49-F238E27FC236}">
                  <a16:creationId xmlns:a16="http://schemas.microsoft.com/office/drawing/2014/main" id="{F8EF7B9B-3833-E9E2-F0CE-9DBBD9D136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448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/>
                <a:t>L</a:t>
              </a:r>
            </a:p>
          </p:txBody>
        </p:sp>
        <p:sp>
          <p:nvSpPr>
            <p:cNvPr id="204842" name="Rectangle 42">
              <a:extLst>
                <a:ext uri="{FF2B5EF4-FFF2-40B4-BE49-F238E27FC236}">
                  <a16:creationId xmlns:a16="http://schemas.microsoft.com/office/drawing/2014/main" id="{95F1F4A8-A3AE-299C-D2F9-83C0EAC0B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592"/>
              <a:ext cx="576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/>
                <a:t>∧</a:t>
              </a:r>
              <a:r>
                <a:rPr lang="en-US" altLang="zh-CN" sz="2400" baseline="-25000"/>
                <a:t>         </a:t>
              </a:r>
            </a:p>
          </p:txBody>
        </p:sp>
        <p:sp>
          <p:nvSpPr>
            <p:cNvPr id="204843" name="Line 43">
              <a:extLst>
                <a:ext uri="{FF2B5EF4-FFF2-40B4-BE49-F238E27FC236}">
                  <a16:creationId xmlns:a16="http://schemas.microsoft.com/office/drawing/2014/main" id="{86A6A1B5-B09F-DD8C-89BC-B52F7238B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592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44" name="Line 44">
              <a:extLst>
                <a:ext uri="{FF2B5EF4-FFF2-40B4-BE49-F238E27FC236}">
                  <a16:creationId xmlns:a16="http://schemas.microsoft.com/office/drawing/2014/main" id="{60E62FB8-42FD-0A57-071A-FC34D96236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592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45" name="Line 45">
              <a:extLst>
                <a:ext uri="{FF2B5EF4-FFF2-40B4-BE49-F238E27FC236}">
                  <a16:creationId xmlns:a16="http://schemas.microsoft.com/office/drawing/2014/main" id="{3A4F76E9-BC81-598D-B71C-85F491C34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736"/>
              <a:ext cx="240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46" name="Line 46">
              <a:extLst>
                <a:ext uri="{FF2B5EF4-FFF2-40B4-BE49-F238E27FC236}">
                  <a16:creationId xmlns:a16="http://schemas.microsoft.com/office/drawing/2014/main" id="{36199404-3364-ED3A-BF45-30083EE87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7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47" name="Text Box 47">
              <a:extLst>
                <a:ext uri="{FF2B5EF4-FFF2-40B4-BE49-F238E27FC236}">
                  <a16:creationId xmlns:a16="http://schemas.microsoft.com/office/drawing/2014/main" id="{7005626F-1D3B-13A5-785C-90955EEAEE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400"/>
              <a:ext cx="1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/>
                <a:t>p</a:t>
              </a:r>
            </a:p>
          </p:txBody>
        </p:sp>
        <p:sp>
          <p:nvSpPr>
            <p:cNvPr id="204848" name="Line 48">
              <a:extLst>
                <a:ext uri="{FF2B5EF4-FFF2-40B4-BE49-F238E27FC236}">
                  <a16:creationId xmlns:a16="http://schemas.microsoft.com/office/drawing/2014/main" id="{1B3D19B7-44AE-C9BF-49CE-C0C2DE84E3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592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49" name="Line 49">
              <a:extLst>
                <a:ext uri="{FF2B5EF4-FFF2-40B4-BE49-F238E27FC236}">
                  <a16:creationId xmlns:a16="http://schemas.microsoft.com/office/drawing/2014/main" id="{BDCE0635-518A-EB62-59A8-80E3B0DEA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592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0" name="Line 50">
              <a:extLst>
                <a:ext uri="{FF2B5EF4-FFF2-40B4-BE49-F238E27FC236}">
                  <a16:creationId xmlns:a16="http://schemas.microsoft.com/office/drawing/2014/main" id="{E0ACB215-34C1-F175-D5B5-F4BB365AD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273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1" name="Line 51">
              <a:extLst>
                <a:ext uri="{FF2B5EF4-FFF2-40B4-BE49-F238E27FC236}">
                  <a16:creationId xmlns:a16="http://schemas.microsoft.com/office/drawing/2014/main" id="{605DB379-5ADD-26F8-1837-F495FC470E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02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2" name="Line 52">
              <a:extLst>
                <a:ext uri="{FF2B5EF4-FFF2-40B4-BE49-F238E27FC236}">
                  <a16:creationId xmlns:a16="http://schemas.microsoft.com/office/drawing/2014/main" id="{ECAE7F18-4956-CEA9-3138-E5F40E0A61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02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3" name="Line 53">
              <a:extLst>
                <a:ext uri="{FF2B5EF4-FFF2-40B4-BE49-F238E27FC236}">
                  <a16:creationId xmlns:a16="http://schemas.microsoft.com/office/drawing/2014/main" id="{8C6DFB38-ED81-5E07-3D75-5B5DDB7776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288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4" name="Line 54">
              <a:extLst>
                <a:ext uri="{FF2B5EF4-FFF2-40B4-BE49-F238E27FC236}">
                  <a16:creationId xmlns:a16="http://schemas.microsoft.com/office/drawing/2014/main" id="{D2F07B23-45D1-F912-A26E-F7C8404C62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024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855" name="Group 55">
            <a:extLst>
              <a:ext uri="{FF2B5EF4-FFF2-40B4-BE49-F238E27FC236}">
                <a16:creationId xmlns:a16="http://schemas.microsoft.com/office/drawing/2014/main" id="{02379C76-865B-4AE0-B2D2-8121FA1A7199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5257800"/>
            <a:ext cx="3733800" cy="1143000"/>
            <a:chOff x="1392" y="3312"/>
            <a:chExt cx="2352" cy="720"/>
          </a:xfrm>
        </p:grpSpPr>
        <p:sp>
          <p:nvSpPr>
            <p:cNvPr id="204856" name="Line 56">
              <a:extLst>
                <a:ext uri="{FF2B5EF4-FFF2-40B4-BE49-F238E27FC236}">
                  <a16:creationId xmlns:a16="http://schemas.microsoft.com/office/drawing/2014/main" id="{34413F69-CC23-0E19-BF43-4C0FF7FFA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364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7" name="Rectangle 57">
              <a:extLst>
                <a:ext uri="{FF2B5EF4-FFF2-40B4-BE49-F238E27FC236}">
                  <a16:creationId xmlns:a16="http://schemas.microsoft.com/office/drawing/2014/main" id="{0A8C5A99-82F1-AE9D-3BA5-97225E490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504"/>
              <a:ext cx="672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/>
                <a:t>    </a:t>
              </a:r>
              <a:r>
                <a:rPr lang="en-US" altLang="zh-CN" sz="2000"/>
                <a:t>a</a:t>
              </a:r>
              <a:r>
                <a:rPr lang="en-US" altLang="zh-CN" sz="2000" baseline="-25000"/>
                <a:t>n</a:t>
              </a:r>
              <a:r>
                <a:rPr lang="en-US" altLang="zh-CN"/>
                <a:t>   </a:t>
              </a:r>
            </a:p>
          </p:txBody>
        </p:sp>
        <p:sp>
          <p:nvSpPr>
            <p:cNvPr id="204858" name="Line 58">
              <a:extLst>
                <a:ext uri="{FF2B5EF4-FFF2-40B4-BE49-F238E27FC236}">
                  <a16:creationId xmlns:a16="http://schemas.microsoft.com/office/drawing/2014/main" id="{B2DB1F36-F1F5-CAC2-619C-6816B78BA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3648"/>
              <a:ext cx="336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59" name="Text Box 59">
              <a:extLst>
                <a:ext uri="{FF2B5EF4-FFF2-40B4-BE49-F238E27FC236}">
                  <a16:creationId xmlns:a16="http://schemas.microsoft.com/office/drawing/2014/main" id="{330DFD0F-CADD-897D-8E69-A0E8A158F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3360"/>
              <a:ext cx="24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/>
                <a:t>L</a:t>
              </a:r>
            </a:p>
          </p:txBody>
        </p:sp>
        <p:sp>
          <p:nvSpPr>
            <p:cNvPr id="204860" name="Rectangle 60">
              <a:extLst>
                <a:ext uri="{FF2B5EF4-FFF2-40B4-BE49-F238E27FC236}">
                  <a16:creationId xmlns:a16="http://schemas.microsoft.com/office/drawing/2014/main" id="{04B3342C-E1E1-D2E4-368A-B7EDC2F0C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504"/>
              <a:ext cx="576" cy="288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/>
              <a:r>
                <a:rPr lang="en-US" altLang="zh-CN" sz="2400" baseline="-25000"/>
                <a:t>         </a:t>
              </a:r>
            </a:p>
          </p:txBody>
        </p:sp>
        <p:sp>
          <p:nvSpPr>
            <p:cNvPr id="204861" name="Line 61">
              <a:extLst>
                <a:ext uri="{FF2B5EF4-FFF2-40B4-BE49-F238E27FC236}">
                  <a16:creationId xmlns:a16="http://schemas.microsoft.com/office/drawing/2014/main" id="{62E97045-01E4-49EA-4282-CFF9D848F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3504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2" name="Line 62">
              <a:extLst>
                <a:ext uri="{FF2B5EF4-FFF2-40B4-BE49-F238E27FC236}">
                  <a16:creationId xmlns:a16="http://schemas.microsoft.com/office/drawing/2014/main" id="{2C99A4D1-F87C-467A-882D-0B768B64F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504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3" name="Line 63">
              <a:extLst>
                <a:ext uri="{FF2B5EF4-FFF2-40B4-BE49-F238E27FC236}">
                  <a16:creationId xmlns:a16="http://schemas.microsoft.com/office/drawing/2014/main" id="{1F559E7F-C22B-1094-47BC-A24403B9AE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648"/>
              <a:ext cx="240" cy="0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4" name="Line 64">
              <a:extLst>
                <a:ext uri="{FF2B5EF4-FFF2-40B4-BE49-F238E27FC236}">
                  <a16:creationId xmlns:a16="http://schemas.microsoft.com/office/drawing/2014/main" id="{769A6985-55BA-70BF-7310-1ED8CFB45B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64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5" name="Text Box 65">
              <a:extLst>
                <a:ext uri="{FF2B5EF4-FFF2-40B4-BE49-F238E27FC236}">
                  <a16:creationId xmlns:a16="http://schemas.microsoft.com/office/drawing/2014/main" id="{3490D09C-3EC3-7E25-9AA2-07A266D5D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3312"/>
              <a:ext cx="19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zh-CN" sz="2400"/>
                <a:t>p</a:t>
              </a:r>
            </a:p>
          </p:txBody>
        </p:sp>
        <p:sp>
          <p:nvSpPr>
            <p:cNvPr id="204866" name="Line 66">
              <a:extLst>
                <a:ext uri="{FF2B5EF4-FFF2-40B4-BE49-F238E27FC236}">
                  <a16:creationId xmlns:a16="http://schemas.microsoft.com/office/drawing/2014/main" id="{9AE8C073-5F1C-9F76-65E1-CC8D3E802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504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7" name="Line 67">
              <a:extLst>
                <a:ext uri="{FF2B5EF4-FFF2-40B4-BE49-F238E27FC236}">
                  <a16:creationId xmlns:a16="http://schemas.microsoft.com/office/drawing/2014/main" id="{639F5293-A66F-E79B-95E5-627155AD04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504"/>
              <a:ext cx="1" cy="288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8" name="Line 68">
              <a:extLst>
                <a:ext uri="{FF2B5EF4-FFF2-40B4-BE49-F238E27FC236}">
                  <a16:creationId xmlns:a16="http://schemas.microsoft.com/office/drawing/2014/main" id="{277E3AE8-5D79-B388-B37B-C096AB125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364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69" name="Line 69">
              <a:extLst>
                <a:ext uri="{FF2B5EF4-FFF2-40B4-BE49-F238E27FC236}">
                  <a16:creationId xmlns:a16="http://schemas.microsoft.com/office/drawing/2014/main" id="{C2DA11CE-90A8-0A13-FD53-B6DDB2E7A5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3936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0" name="Line 70">
              <a:extLst>
                <a:ext uri="{FF2B5EF4-FFF2-40B4-BE49-F238E27FC236}">
                  <a16:creationId xmlns:a16="http://schemas.microsoft.com/office/drawing/2014/main" id="{699186C7-A56F-EF1D-97BB-6096A67EEF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93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1" name="Line 71">
              <a:extLst>
                <a:ext uri="{FF2B5EF4-FFF2-40B4-BE49-F238E27FC236}">
                  <a16:creationId xmlns:a16="http://schemas.microsoft.com/office/drawing/2014/main" id="{0962AB17-306A-A460-8052-3324D042D6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64" y="379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2" name="Line 72">
              <a:extLst>
                <a:ext uri="{FF2B5EF4-FFF2-40B4-BE49-F238E27FC236}">
                  <a16:creationId xmlns:a16="http://schemas.microsoft.com/office/drawing/2014/main" id="{526EE987-0C83-983E-DDC0-BF234E5AEF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93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3" name="Line 73">
              <a:extLst>
                <a:ext uri="{FF2B5EF4-FFF2-40B4-BE49-F238E27FC236}">
                  <a16:creationId xmlns:a16="http://schemas.microsoft.com/office/drawing/2014/main" id="{4D3EE379-E913-E877-1FFD-BE60EDFC3F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336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4" name="Line 74">
              <a:extLst>
                <a:ext uri="{FF2B5EF4-FFF2-40B4-BE49-F238E27FC236}">
                  <a16:creationId xmlns:a16="http://schemas.microsoft.com/office/drawing/2014/main" id="{3FE21AE3-A151-7CC7-B9D5-90F8AC343B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360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5" name="Line 75">
              <a:extLst>
                <a:ext uri="{FF2B5EF4-FFF2-40B4-BE49-F238E27FC236}">
                  <a16:creationId xmlns:a16="http://schemas.microsoft.com/office/drawing/2014/main" id="{6DF4D740-E144-3198-0896-2F8FCAA83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336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6" name="Line 76">
              <a:extLst>
                <a:ext uri="{FF2B5EF4-FFF2-40B4-BE49-F238E27FC236}">
                  <a16:creationId xmlns:a16="http://schemas.microsoft.com/office/drawing/2014/main" id="{C8D3776B-3B4C-6E3D-9C24-52ABE2CEA7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696"/>
              <a:ext cx="0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7" name="Line 77">
              <a:extLst>
                <a:ext uri="{FF2B5EF4-FFF2-40B4-BE49-F238E27FC236}">
                  <a16:creationId xmlns:a16="http://schemas.microsoft.com/office/drawing/2014/main" id="{D473097D-427F-C429-87A4-799C58688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4032"/>
              <a:ext cx="15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878" name="Line 78">
              <a:extLst>
                <a:ext uri="{FF2B5EF4-FFF2-40B4-BE49-F238E27FC236}">
                  <a16:creationId xmlns:a16="http://schemas.microsoft.com/office/drawing/2014/main" id="{1B99B14E-5C6F-1122-D9CA-9AD3F739B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3792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DA817ECA-49C7-C48B-210F-A8119404E9AB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9E3DC99-BE16-F6CB-BA03-7E51C92A5062}"/>
              </a:ext>
            </a:extLst>
          </p:cNvPr>
          <p:cNvSpPr txBox="1"/>
          <p:nvPr/>
        </p:nvSpPr>
        <p:spPr>
          <a:xfrm>
            <a:off x="393065" y="106045"/>
            <a:ext cx="8004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几种链表的对比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4F70D2-200E-392F-58E3-02B70A5CC291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04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04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0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1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04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0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41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42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4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04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0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62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63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6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6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04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04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83" dur="1000"/>
                                        <p:tgtEl>
                                          <p:spTgt spid="204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4" grpId="0"/>
      <p:bldP spid="204805" grpId="0"/>
      <p:bldP spid="204806" grpId="0"/>
      <p:bldP spid="204807" grpId="0"/>
      <p:bldP spid="204808" grpId="0"/>
      <p:bldP spid="204809" grpId="0"/>
      <p:bldP spid="204810" grpId="0"/>
      <p:bldP spid="2048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7" name="Text Box 3">
            <a:extLst>
              <a:ext uri="{FF2B5EF4-FFF2-40B4-BE49-F238E27FC236}">
                <a16:creationId xmlns:a16="http://schemas.microsoft.com/office/drawing/2014/main" id="{242345E7-4E0B-E735-1E73-62421B20A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" y="1157571"/>
            <a:ext cx="86106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530225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09613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到目前为止，为了在内存中表示一个线性表，我们介绍了两类存储结构：</a:t>
            </a:r>
          </a:p>
        </p:txBody>
      </p:sp>
      <p:sp>
        <p:nvSpPr>
          <p:cNvPr id="205828" name="Text Box 4">
            <a:extLst>
              <a:ext uri="{FF2B5EF4-FFF2-40B4-BE49-F238E27FC236}">
                <a16:creationId xmlns:a16="http://schemas.microsoft.com/office/drawing/2014/main" id="{A52FE571-3299-3424-9C14-E4DF497510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828801"/>
            <a:ext cx="53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顺序表</a:t>
            </a:r>
          </a:p>
        </p:txBody>
      </p:sp>
      <p:sp>
        <p:nvSpPr>
          <p:cNvPr id="205829" name="Text Box 5">
            <a:extLst>
              <a:ext uri="{FF2B5EF4-FFF2-40B4-BE49-F238E27FC236}">
                <a16:creationId xmlns:a16="http://schemas.microsoft.com/office/drawing/2014/main" id="{192A74DE-4347-FF2F-ABCB-B7CA0D61A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1828801"/>
            <a:ext cx="53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    表</a:t>
            </a:r>
          </a:p>
        </p:txBody>
      </p:sp>
      <p:sp>
        <p:nvSpPr>
          <p:cNvPr id="205830" name="AutoShape 6">
            <a:extLst>
              <a:ext uri="{FF2B5EF4-FFF2-40B4-BE49-F238E27FC236}">
                <a16:creationId xmlns:a16="http://schemas.microsoft.com/office/drawing/2014/main" id="{A75B8F00-A677-B679-1576-C73A4DF782A8}"/>
              </a:ext>
            </a:extLst>
          </p:cNvPr>
          <p:cNvSpPr>
            <a:spLocks/>
          </p:cNvSpPr>
          <p:nvPr/>
        </p:nvSpPr>
        <p:spPr bwMode="auto">
          <a:xfrm rot="5400000">
            <a:off x="5905500" y="952500"/>
            <a:ext cx="304800" cy="1447800"/>
          </a:xfrm>
          <a:prstGeom prst="leftBrace">
            <a:avLst>
              <a:gd name="adj1" fmla="val 39583"/>
              <a:gd name="adj2" fmla="val 50000"/>
            </a:avLst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831" name="AutoShape 7">
            <a:extLst>
              <a:ext uri="{FF2B5EF4-FFF2-40B4-BE49-F238E27FC236}">
                <a16:creationId xmlns:a16="http://schemas.microsoft.com/office/drawing/2014/main" id="{AE0E5412-0122-9563-1853-E164E95453F5}"/>
              </a:ext>
            </a:extLst>
          </p:cNvPr>
          <p:cNvSpPr>
            <a:spLocks/>
          </p:cNvSpPr>
          <p:nvPr/>
        </p:nvSpPr>
        <p:spPr bwMode="auto">
          <a:xfrm rot="5400000">
            <a:off x="6667500" y="2400300"/>
            <a:ext cx="304800" cy="1447800"/>
          </a:xfrm>
          <a:prstGeom prst="leftBrace">
            <a:avLst>
              <a:gd name="adj1" fmla="val 39583"/>
              <a:gd name="adj2" fmla="val 50000"/>
            </a:avLst>
          </a:prstGeom>
          <a:noFill/>
          <a:ln w="9525">
            <a:solidFill>
              <a:srgbClr val="800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5832" name="Text Box 8">
            <a:extLst>
              <a:ext uri="{FF2B5EF4-FFF2-40B4-BE49-F238E27FC236}">
                <a16:creationId xmlns:a16="http://schemas.microsoft.com/office/drawing/2014/main" id="{78C7ABC4-4F0E-BA34-46AB-60186CFD5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295651"/>
            <a:ext cx="3810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单链表</a:t>
            </a:r>
          </a:p>
        </p:txBody>
      </p:sp>
      <p:sp>
        <p:nvSpPr>
          <p:cNvPr id="205833" name="Text Box 9">
            <a:extLst>
              <a:ext uri="{FF2B5EF4-FFF2-40B4-BE49-F238E27FC236}">
                <a16:creationId xmlns:a16="http://schemas.microsoft.com/office/drawing/2014/main" id="{E3A73137-C1C1-BC83-8811-6AE16EC4C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295650"/>
            <a:ext cx="457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双向链表</a:t>
            </a:r>
          </a:p>
        </p:txBody>
      </p:sp>
      <p:sp>
        <p:nvSpPr>
          <p:cNvPr id="205834" name="Text Box 10">
            <a:extLst>
              <a:ext uri="{FF2B5EF4-FFF2-40B4-BE49-F238E27FC236}">
                <a16:creationId xmlns:a16="http://schemas.microsoft.com/office/drawing/2014/main" id="{312C12C9-AC9C-D82A-0D24-D3488665F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279775"/>
            <a:ext cx="457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循环链表</a:t>
            </a:r>
          </a:p>
        </p:txBody>
      </p:sp>
      <p:sp>
        <p:nvSpPr>
          <p:cNvPr id="205835" name="Text Box 11">
            <a:extLst>
              <a:ext uri="{FF2B5EF4-FFF2-40B4-BE49-F238E27FC236}">
                <a16:creationId xmlns:a16="http://schemas.microsoft.com/office/drawing/2014/main" id="{8855F98C-3F5E-8DAC-B0A8-977D013B42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279775"/>
            <a:ext cx="3810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800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双向循环链表</a:t>
            </a:r>
          </a:p>
        </p:txBody>
      </p:sp>
      <p:sp>
        <p:nvSpPr>
          <p:cNvPr id="205836" name="AutoShape 12">
            <a:extLst>
              <a:ext uri="{FF2B5EF4-FFF2-40B4-BE49-F238E27FC236}">
                <a16:creationId xmlns:a16="http://schemas.microsoft.com/office/drawing/2014/main" id="{8837A368-DBF0-D00F-22D7-19E772639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905000"/>
            <a:ext cx="2743200" cy="1295400"/>
          </a:xfrm>
          <a:prstGeom prst="wedgeRoundRectCallout">
            <a:avLst>
              <a:gd name="adj1" fmla="val 68810"/>
              <a:gd name="adj2" fmla="val -35907"/>
              <a:gd name="adj3" fmla="val 16667"/>
            </a:avLst>
          </a:prstGeom>
          <a:noFill/>
          <a:ln w="9525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>
              <a:lnSpc>
                <a:spcPct val="8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预分配空间</a:t>
            </a:r>
          </a:p>
          <a:p>
            <a:pPr algn="l">
              <a:lnSpc>
                <a:spcPct val="8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支持随机存取</a:t>
            </a:r>
          </a:p>
          <a:p>
            <a:pPr algn="l">
              <a:lnSpc>
                <a:spcPct val="8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插入删除需移动大量元素</a:t>
            </a:r>
          </a:p>
        </p:txBody>
      </p:sp>
      <p:sp>
        <p:nvSpPr>
          <p:cNvPr id="205837" name="AutoShape 13">
            <a:extLst>
              <a:ext uri="{FF2B5EF4-FFF2-40B4-BE49-F238E27FC236}">
                <a16:creationId xmlns:a16="http://schemas.microsoft.com/office/drawing/2014/main" id="{C6D081D2-AA58-65B6-FECC-6075EA092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828800"/>
            <a:ext cx="2743200" cy="1447800"/>
          </a:xfrm>
          <a:prstGeom prst="wedgeRoundRectCallout">
            <a:avLst>
              <a:gd name="adj1" fmla="val -69389"/>
              <a:gd name="adj2" fmla="val -29935"/>
              <a:gd name="adj3" fmla="val 16667"/>
            </a:avLst>
          </a:prstGeom>
          <a:noFill/>
          <a:ln w="9525" algn="ctr">
            <a:solidFill>
              <a:srgbClr val="0000CC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>
              <a:lnSpc>
                <a:spcPct val="8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按需分配空间</a:t>
            </a:r>
          </a:p>
          <a:p>
            <a:pPr algn="l">
              <a:lnSpc>
                <a:spcPct val="8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不支持随机存取</a:t>
            </a:r>
          </a:p>
          <a:p>
            <a:pPr algn="l">
              <a:lnSpc>
                <a:spcPct val="8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插入删除不需移动大量元素</a:t>
            </a:r>
          </a:p>
        </p:txBody>
      </p:sp>
      <p:sp>
        <p:nvSpPr>
          <p:cNvPr id="205838" name="Text Box 14">
            <a:extLst>
              <a:ext uri="{FF2B5EF4-FFF2-40B4-BE49-F238E27FC236}">
                <a16:creationId xmlns:a16="http://schemas.microsoft.com/office/drawing/2014/main" id="{38FB98A3-3238-F93E-7B9E-12C79109B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5715001"/>
            <a:ext cx="8534400" cy="354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通过学习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一元多项式的表示及相加 可以有更深入的体会。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44CFDD-67A2-3B43-1116-D097EC881AA6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64DFC7-0B1D-5588-4709-4C9D606BF9C4}"/>
              </a:ext>
            </a:extLst>
          </p:cNvPr>
          <p:cNvSpPr txBox="1"/>
          <p:nvPr/>
        </p:nvSpPr>
        <p:spPr>
          <a:xfrm>
            <a:off x="393065" y="106045"/>
            <a:ext cx="8004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BF4C62-B4CD-067C-8752-1F7EDBEB860F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05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205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0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0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20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1000"/>
                                        <p:tgtEl>
                                          <p:spTgt spid="205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5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5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32" grpId="0"/>
      <p:bldP spid="205833" grpId="0"/>
      <p:bldP spid="205834" grpId="0"/>
      <p:bldP spid="205835" grpId="0"/>
      <p:bldP spid="205836" grpId="0" animBg="1"/>
      <p:bldP spid="205837" grpId="0" animBg="1"/>
      <p:bldP spid="2058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3">
            <a:extLst>
              <a:ext uri="{FF2B5EF4-FFF2-40B4-BE49-F238E27FC236}">
                <a16:creationId xmlns:a16="http://schemas.microsoft.com/office/drawing/2014/main" id="{2B4C58DE-5DE5-6555-3F73-801654C7F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" y="1249997"/>
            <a:ext cx="11317954" cy="3698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6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．判断下列概念的正确性：</a:t>
            </a:r>
          </a:p>
          <a:p>
            <a:pPr algn="l">
              <a:lnSpc>
                <a:spcPct val="16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线性表在物理存储空间中也一定是连续的。</a:t>
            </a:r>
          </a:p>
          <a:p>
            <a:pPr algn="l">
              <a:lnSpc>
                <a:spcPct val="16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链表的物理存储结构具有与链表一样的顺序。</a:t>
            </a:r>
          </a:p>
          <a:p>
            <a:pPr algn="l">
              <a:lnSpc>
                <a:spcPct val="16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链表的删除算法很简单，因为当删去链表中某个结点后，计算机会自动地将后继的各个单元向前移动。</a:t>
            </a:r>
          </a:p>
          <a:p>
            <a:pPr algn="l">
              <a:lnSpc>
                <a:spcPct val="16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．试比较顺序存储结构和链式存储结构的优缺点。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06075C-BC92-60E2-2692-5D46FCCC3E9E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793CD8-03B4-8796-BB13-D9EC7E1D5E2C}"/>
              </a:ext>
            </a:extLst>
          </p:cNvPr>
          <p:cNvSpPr txBox="1"/>
          <p:nvPr/>
        </p:nvSpPr>
        <p:spPr>
          <a:xfrm>
            <a:off x="393065" y="106045"/>
            <a:ext cx="8004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本章练习</a:t>
            </a:r>
            <a:endParaRPr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BD8351-06D2-8902-3DFD-1EDC6D903308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>
            <a:extLst>
              <a:ext uri="{FF2B5EF4-FFF2-40B4-BE49-F238E27FC236}">
                <a16:creationId xmlns:a16="http://schemas.microsoft.com/office/drawing/2014/main" id="{C46863AD-00BA-9D44-2027-EE0B654A0E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64" y="1303338"/>
            <a:ext cx="10943719" cy="290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dirty="0">
                <a:latin typeface="Times New Roman" panose="02020603050405020304" pitchFamily="18" charset="0"/>
              </a:rPr>
              <a:t>   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．试写出一个计算链表中数据元素结点个数的算法，其中指针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指向该链表的第一个结点。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．试设计实现在单链表中删去值相同的多余结点的算法。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．有一个性表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kumimoji="1"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en-US" altLang="zh-CN" sz="20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，它存储在有附加表头结点的单链表中，写一个算法，求出该线性表中值为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的元素的序号。如果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不存在，则输出序号为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l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kumimoji="1"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 </a:t>
            </a:r>
            <a:r>
              <a:rPr kumimoji="1"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写一个算法将一单链表逆置。要求操作在原链表上进行。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7E2A78-94DD-35BF-4C49-6E9B8B914AB9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13F746-0B38-149D-6AC2-CE23239E0603}"/>
              </a:ext>
            </a:extLst>
          </p:cNvPr>
          <p:cNvSpPr txBox="1"/>
          <p:nvPr/>
        </p:nvSpPr>
        <p:spPr>
          <a:xfrm>
            <a:off x="393065" y="106045"/>
            <a:ext cx="8004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本章练习</a:t>
            </a:r>
            <a:endParaRPr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36E380-B677-8BD8-FBEB-C2416B4A45A5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7" name="Text Box 3">
            <a:extLst>
              <a:ext uri="{FF2B5EF4-FFF2-40B4-BE49-F238E27FC236}">
                <a16:creationId xmlns:a16="http://schemas.microsoft.com/office/drawing/2014/main" id="{41CB9801-C4FF-59BB-DCEA-2878487F88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" y="1081205"/>
            <a:ext cx="1042416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．试写一算法，实现顺序表的就地逆置，即利用原表的存储空间将线性表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逆置为</a:t>
            </a:r>
          </a:p>
          <a:p>
            <a:pPr algn="l">
              <a:lnSpc>
                <a:spcPct val="90000"/>
              </a:lnSpc>
              <a:spcBef>
                <a:spcPct val="3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sz="20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221188" name="Text Box 4">
            <a:extLst>
              <a:ext uri="{FF2B5EF4-FFF2-40B4-BE49-F238E27FC236}">
                <a16:creationId xmlns:a16="http://schemas.microsoft.com/office/drawing/2014/main" id="{D6196E20-ACD2-B42F-C2B5-A97EE229F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39" y="3945525"/>
            <a:ext cx="10654979" cy="82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65125" indent="-365125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44513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．假设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指向循环链表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中某一结点（简称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结点），试写出删除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结点的直接前驱（假设存在）的算法。</a:t>
            </a:r>
          </a:p>
        </p:txBody>
      </p:sp>
      <p:sp>
        <p:nvSpPr>
          <p:cNvPr id="221189" name="Text Box 5">
            <a:extLst>
              <a:ext uri="{FF2B5EF4-FFF2-40B4-BE49-F238E27FC236}">
                <a16:creationId xmlns:a16="http://schemas.microsoft.com/office/drawing/2014/main" id="{095F40B4-3080-3F46-1872-4F51413DB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" y="3067363"/>
            <a:ext cx="8229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．试写一算法，实现单链表的就地逆置。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EF88D9-5F88-FAD6-CAB9-BE514681F952}"/>
              </a:ext>
            </a:extLst>
          </p:cNvPr>
          <p:cNvSpPr/>
          <p:nvPr/>
        </p:nvSpPr>
        <p:spPr>
          <a:xfrm>
            <a:off x="1" y="1"/>
            <a:ext cx="12191999" cy="858831"/>
          </a:xfrm>
          <a:prstGeom prst="rect">
            <a:avLst/>
          </a:prstGeom>
          <a:gradFill>
            <a:gsLst>
              <a:gs pos="76000">
                <a:srgbClr val="609CC5"/>
              </a:gs>
              <a:gs pos="0">
                <a:srgbClr val="005A9E"/>
              </a:gs>
              <a:gs pos="100000">
                <a:srgbClr val="DEF1F9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OPPOSans B" panose="00020600040101010101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204549-BFD4-6AA5-BC05-58E96B4373CD}"/>
              </a:ext>
            </a:extLst>
          </p:cNvPr>
          <p:cNvSpPr txBox="1"/>
          <p:nvPr/>
        </p:nvSpPr>
        <p:spPr>
          <a:xfrm>
            <a:off x="393065" y="106045"/>
            <a:ext cx="80041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本章练习</a:t>
            </a:r>
            <a:endParaRPr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9FF4647-07D0-248A-7EFE-21D44A60F02C}"/>
              </a:ext>
            </a:extLst>
          </p:cNvPr>
          <p:cNvSpPr txBox="1"/>
          <p:nvPr/>
        </p:nvSpPr>
        <p:spPr>
          <a:xfrm>
            <a:off x="10190074" y="49365"/>
            <a:ext cx="17483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b="1" dirty="0">
                <a:solidFill>
                  <a:srgbClr val="005A9E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数据结构</a:t>
            </a:r>
            <a:endParaRPr lang="en-US" altLang="zh-CN" sz="2800" b="1" dirty="0">
              <a:solidFill>
                <a:srgbClr val="005A9E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dist"/>
            <a:r>
              <a:rPr lang="en-US" altLang="zh-CN" sz="1600" dirty="0">
                <a:solidFill>
                  <a:srgbClr val="005A9E"/>
                </a:solidFill>
                <a:latin typeface="+mj-lt"/>
                <a:ea typeface="华文行楷" panose="02010800040101010101" pitchFamily="2" charset="-122"/>
              </a:rPr>
              <a:t>Data Structures</a:t>
            </a:r>
            <a:endParaRPr lang="zh-CN" altLang="en-US" sz="1600" dirty="0">
              <a:solidFill>
                <a:srgbClr val="005A9E"/>
              </a:solidFill>
              <a:latin typeface="+mj-lt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办公资源网：www.bangongziyuan.com">
  <a:themeElements>
    <a:clrScheme name="自定义 1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A9E"/>
      </a:accent1>
      <a:accent2>
        <a:srgbClr val="7F7F7F"/>
      </a:accent2>
      <a:accent3>
        <a:srgbClr val="45546B"/>
      </a:accent3>
      <a:accent4>
        <a:srgbClr val="E5EAF0"/>
      </a:accent4>
      <a:accent5>
        <a:srgbClr val="A5A5A5"/>
      </a:accent5>
      <a:accent6>
        <a:srgbClr val="C9C9C9"/>
      </a:accent6>
      <a:hlink>
        <a:srgbClr val="49738F"/>
      </a:hlink>
      <a:folHlink>
        <a:srgbClr val="BFBFBF"/>
      </a:folHlink>
    </a:clrScheme>
    <a:fontScheme name="自定义 1">
      <a:majorFont>
        <a:latin typeface="Calibri"/>
        <a:ea typeface="阿里巴巴普惠体 B"/>
        <a:cs typeface=""/>
      </a:majorFont>
      <a:minorFont>
        <a:latin typeface="Calibri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 1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5A9E"/>
      </a:accent1>
      <a:accent2>
        <a:srgbClr val="7F7F7F"/>
      </a:accent2>
      <a:accent3>
        <a:srgbClr val="45546B"/>
      </a:accent3>
      <a:accent4>
        <a:srgbClr val="E5EAF0"/>
      </a:accent4>
      <a:accent5>
        <a:srgbClr val="A5A5A5"/>
      </a:accent5>
      <a:accent6>
        <a:srgbClr val="C9C9C9"/>
      </a:accent6>
      <a:hlink>
        <a:srgbClr val="49738F"/>
      </a:hlink>
      <a:folHlink>
        <a:srgbClr val="BFBFBF"/>
      </a:folHlink>
    </a:clrScheme>
    <a:fontScheme name="自定义 1">
      <a:majorFont>
        <a:latin typeface="Calibri"/>
        <a:ea typeface="阿里巴巴普惠体 B"/>
        <a:cs typeface=""/>
      </a:majorFont>
      <a:minorFont>
        <a:latin typeface="Calibri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21577</TotalTime>
  <Words>2183</Words>
  <Application>Microsoft Office PowerPoint</Application>
  <PresentationFormat>宽屏</PresentationFormat>
  <Paragraphs>354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OPPOSans B</vt:lpstr>
      <vt:lpstr>OPPOSans R</vt:lpstr>
      <vt:lpstr>黑体</vt:lpstr>
      <vt:lpstr>华文行楷</vt:lpstr>
      <vt:lpstr>微软雅黑</vt:lpstr>
      <vt:lpstr>Arial</vt:lpstr>
      <vt:lpstr>Courier New</vt:lpstr>
      <vt:lpstr>Times New Roman</vt:lpstr>
      <vt:lpstr>Wingdings</vt:lpstr>
      <vt:lpstr>办公资源网：www.bangongziyuan.com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雅静 闫</cp:lastModifiedBy>
  <cp:revision>3298</cp:revision>
  <dcterms:created xsi:type="dcterms:W3CDTF">2020-11-24T06:30:03Z</dcterms:created>
  <dcterms:modified xsi:type="dcterms:W3CDTF">2024-11-01T15:25:38Z</dcterms:modified>
</cp:coreProperties>
</file>